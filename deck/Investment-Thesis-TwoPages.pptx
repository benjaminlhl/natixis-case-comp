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Global 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Index level, end-2021 = 100</a:t>
            </a:r>
          </a:p>
        </c:rich>
      </c:tx>
      <c:layout/>
      <c:overlay val="0"/>
    </c:title>
    <c:autoTitleDeleted val="0"/>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Income on USD 100, % a year</a:t>
            </a:r>
          </a:p>
        </c:rich>
      </c:tx>
      <c:layout/>
      <c:overlay val="0"/>
    </c:title>
    <c:autoTitleDeleted val="0"/>
    <c:plotArea>
      <c:layout/>
      <c:barChart>
        <c:barDir val="col"/>
        <c:grouping val="clustered"/>
        <c:varyColors val="0"/>
        <c:ser>
          <c:idx val="0"/>
          <c:order val="0"/>
          <c:tx>
            <c:strRef>
              <c:f>Sheet1!$B$1</c:f>
              <c:strCache>
                <c:ptCount val="1"/>
                <c:pt idx="0">
                  <c:v>% a year</c:v>
                </c:pt>
              </c:strCache>
            </c:strRef>
          </c:tx>
          <c:spPr>
            <a:solidFill>
              <a:srgbClr val="A6A6A6"/>
            </a:solidFill>
            <a:effectLst/>
          </c:spPr>
          <c:invertIfNegative val="0"/>
          <c:dLbls>
            <c:numFmt formatCode="0.00&quot;%&quot;" sourceLinked="0"/>
            <c:txPr>
              <a:bodyPr/>
              <a:lstStyle/>
              <a:p>
                <a:pPr>
                  <a:defRPr b="0" i="0" strike="noStrike" sz="85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2C5F82"/>
              </a:solidFill>
              <a:effectLst/>
            </c:spPr>
          </c:dPt>
          <c:dPt>
            <c:idx val="2"/>
            <c:invertIfNegative val="0"/>
            <c:bubble3D val="0"/>
            <c:spPr>
              <a:solidFill>
                <a:srgbClr val="8DB3D1"/>
              </a:solidFill>
              <a:effectLst/>
            </c:spPr>
          </c:dPt>
          <c:cat>
            <c:multiLvlStrRef>
              <c:f>Sheet1!$A$2:$A$4</c:f>
              <c:multiLvlStrCache>
                <c:ptCount val="3"/>
                <c:lvl>
                  <c:pt idx="0">
                    <c:v>5Y USD rate</c:v>
                  </c:pt>
                  <c:pt idx="1">
                    <c:v>Client coupon</c:v>
                  </c:pt>
                  <c:pt idx="2">
                    <c:v>Fair coupon</c:v>
                  </c:pt>
                </c:lvl>
              </c:multiLvlStrCache>
            </c:multiLvlStrRef>
          </c:cat>
          <c:val>
            <c:numRef>
              <c:f>Sheet1!$B$2:$B$4</c:f>
              <c:numCache>
                <c:formatCode>General</c:formatCode>
                <c:ptCount val="3"/>
                <c:pt idx="0">
                  <c:v>5.69</c:v>
                </c:pt>
                <c:pt idx="1">
                  <c:v>10</c:v>
                </c:pt>
                <c:pt idx="2">
                  <c:v>13.75</c:v>
                </c:pt>
              </c:numCache>
            </c:numRef>
          </c:val>
        </c:ser>
        <c:dLbls>
          <c:numFmt formatCode="0.00&quot;%&quot;" sourceLinked="0"/>
          <c:txPr>
            <a:bodyPr/>
            <a:lstStyle/>
            <a:p>
              <a:pPr>
                <a:defRPr b="0" i="0" strike="noStrike" sz="85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what we own. AI spending is a hardware boom and Asia holds the three bottlenecks: Taiwan's foundries, Korea's high-bandwidth memory, Japan's chip-making tools; each maps to an ETF in the basket. The demand is structural, but the memory cycle is maturing and the indices that hold the theme move violently: KOSPI lost about a quarter between June and August. Returns are concentrated in a few names and valuations are full, which is why we hold a diversified basket and take the return as coupons rather than buying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why an autocall now. The Fed's dot plot keeps the median at 4.125% to end-2027 with cuts only from 2028, and it has just hiked, so a long bond carries real rate risk (about 4.0% per 1% rise). The autocall can redeem from year 1, so its duration is short. Volatility is at records, and in an autocall the client sells options on the basket, so rich option premium plus high rates fund a fair coupon of 13.75% a year. We pay the client 10% and keep 3.75%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74552" cy="548640"/>
          </a:xfrm>
          <a:prstGeom prst="rect">
            <a:avLst/>
          </a:prstGeom>
          <a:noFill/>
          <a:ln/>
        </p:spPr>
        <p:txBody>
          <a:bodyPr wrap="square" lIns="0" tIns="0" rIns="0" bIns="0" rtlCol="0" anchor="ctr"/>
          <a:lstStyle/>
          <a:p>
            <a:pPr indent="0" marL="0">
              <a:buNone/>
            </a:pPr>
            <a:r>
              <a:rPr lang="en-US" sz="2200" dirty="0">
                <a:solidFill>
                  <a:srgbClr val="262626"/>
                </a:solidFill>
                <a:latin typeface="Arial" pitchFamily="34" charset="0"/>
                <a:ea typeface="Arial" pitchFamily="34" charset="-122"/>
                <a:cs typeface="Arial" pitchFamily="34" charset="-120"/>
              </a:rPr>
              <a:t>Investment thesis 1: Asia controls AI's hardware bottlenecks</a:t>
            </a:r>
            <a:endParaRPr lang="en-US" sz="22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50976"/>
            <a:ext cx="11274552" cy="274320"/>
          </a:xfrm>
          <a:prstGeom prst="rect">
            <a:avLst/>
          </a:prstGeom>
          <a:noFill/>
          <a:ln/>
        </p:spPr>
        <p:txBody>
          <a:bodyPr wrap="square" lIns="0" tIns="0" rIns="0" bIns="0" rtlCol="0" anchor="t"/>
          <a:lstStyle/>
          <a:p>
            <a:pPr indent="0" marL="0">
              <a:buNone/>
            </a:pPr>
            <a:r>
              <a:rPr lang="en-US" sz="1050" i="1" dirty="0">
                <a:solidFill>
                  <a:srgbClr val="595959"/>
                </a:solidFill>
                <a:latin typeface="Arial" pitchFamily="34" charset="0"/>
                <a:ea typeface="Arial" pitchFamily="34" charset="-122"/>
                <a:cs typeface="Arial" pitchFamily="34" charset="-120"/>
              </a:rPr>
              <a:t>What we own: structural demand for Asian chips, memory and tools, bought in markets that are concentrated, fully priced and violent</a:t>
            </a:r>
            <a:endParaRPr lang="en-US" sz="1050" dirty="0"/>
          </a:p>
        </p:txBody>
      </p:sp>
      <p:sp>
        <p:nvSpPr>
          <p:cNvPr id="10" name="Shape 8"/>
          <p:cNvSpPr/>
          <p:nvPr/>
        </p:nvSpPr>
        <p:spPr>
          <a:xfrm>
            <a:off x="457200" y="1298448"/>
            <a:ext cx="5486400" cy="384048"/>
          </a:xfrm>
          <a:prstGeom prst="rect">
            <a:avLst/>
          </a:prstGeom>
          <a:solidFill>
            <a:srgbClr val="2C5F82"/>
          </a:solidFill>
          <a:ln w="12700">
            <a:solidFill>
              <a:srgbClr val="2C5F82"/>
            </a:solidFill>
            <a:prstDash val="solid"/>
          </a:ln>
        </p:spPr>
      </p:sp>
      <p:sp>
        <p:nvSpPr>
          <p:cNvPr id="11" name="Text 9"/>
          <p:cNvSpPr txBox="1"/>
          <p:nvPr/>
        </p:nvSpPr>
        <p:spPr>
          <a:xfrm>
            <a:off x="594360" y="1298448"/>
            <a:ext cx="5212080" cy="384048"/>
          </a:xfrm>
          <a:prstGeom prst="rect">
            <a:avLst/>
          </a:prstGeom>
          <a:noFill/>
          <a:ln/>
        </p:spPr>
        <p:txBody>
          <a:bodyPr wrap="square" lIns="0" tIns="0" rIns="0" bIns="0" rtlCol="0" anchor="ctr"/>
          <a:lstStyle/>
          <a:p>
            <a:pPr indent="0" marL="0">
              <a:buNone/>
            </a:pPr>
            <a:r>
              <a:rPr lang="en-US" sz="1250" b="1" dirty="0">
                <a:solidFill>
                  <a:srgbClr val="8DB3D1"/>
                </a:solidFill>
                <a:latin typeface="Arial" pitchFamily="34" charset="0"/>
                <a:ea typeface="Arial" pitchFamily="34" charset="-122"/>
                <a:cs typeface="Arial" pitchFamily="34" charset="-120"/>
              </a:rPr>
              <a:t>1a  </a:t>
            </a:r>
            <a:pPr indent="0" marL="0">
              <a:buNone/>
            </a:pPr>
            <a:r>
              <a:rPr lang="en-US" sz="1250" b="1" dirty="0">
                <a:solidFill>
                  <a:srgbClr val="FFFFFF"/>
                </a:solidFill>
                <a:latin typeface="Arial" pitchFamily="34" charset="0"/>
                <a:ea typeface="Arial" pitchFamily="34" charset="-122"/>
                <a:cs typeface="Arial" pitchFamily="34" charset="-120"/>
              </a:rPr>
              <a:t>Demand is structural, and it runs through Asia</a:t>
            </a:r>
            <a:endParaRPr lang="en-US" sz="1250" dirty="0"/>
          </a:p>
        </p:txBody>
      </p:sp>
      <p:graphicFrame>
        <p:nvGraphicFramePr>
          <p:cNvPr id="12" name="Chart 0" descr=""/>
          <p:cNvGraphicFramePr/>
          <p:nvPr/>
        </p:nvGraphicFramePr>
        <p:xfrm>
          <a:off x="457200" y="1783080"/>
          <a:ext cx="2560320" cy="18745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154680" y="1828800"/>
            <a:ext cx="2788920" cy="1828800"/>
          </a:xfrm>
          <a:prstGeom prst="rect">
            <a:avLst/>
          </a:prstGeom>
          <a:noFill/>
          <a:ln/>
        </p:spPr>
        <p:txBody>
          <a:bodyPr wrap="square" lIns="0" tIns="0" rIns="0" bIns="0" rtlCol="0" anchor="t"/>
          <a:lstStyle/>
          <a:p>
            <a:pPr indent="0" marL="0">
              <a:spcAft>
                <a:spcPts val="200"/>
              </a:spcAft>
              <a:buNone/>
            </a:pPr>
            <a:r>
              <a:rPr lang="en-US" sz="950" b="1" dirty="0">
                <a:solidFill>
                  <a:srgbClr val="2C5F82"/>
                </a:solidFill>
                <a:latin typeface="Arial" pitchFamily="34" charset="0"/>
                <a:ea typeface="Arial" pitchFamily="34" charset="-122"/>
                <a:cs typeface="Arial" pitchFamily="34" charset="-120"/>
              </a:rPr>
              <a:t>Demand is structural</a:t>
            </a:r>
            <a:endParaRPr lang="en-US" sz="950" dirty="0"/>
          </a:p>
          <a:p>
            <a:pPr indent="0" marL="0">
              <a:spcAft>
                <a:spcPts val="200"/>
              </a:spcAft>
              <a:buNone/>
            </a:pPr>
            <a:r>
              <a:rPr lang="en-US" sz="950" dirty="0">
                <a:solidFill>
                  <a:srgbClr val="262626"/>
                </a:solidFill>
                <a:latin typeface="Arial" pitchFamily="34" charset="0"/>
                <a:ea typeface="Arial" pitchFamily="34" charset="-122"/>
                <a:cs typeface="Arial" pitchFamily="34" charset="-120"/>
              </a:rPr>
              <a:t>Hyperscaler capex ~US$725bn in 2026 (+77%); the chip market nearly doubles to ~US$1.5trn.</a:t>
            </a:r>
            <a:endParaRPr lang="en-US" sz="950" dirty="0"/>
          </a:p>
          <a:p>
            <a:pPr indent="0" marL="0">
              <a:spcAft>
                <a:spcPts val="200"/>
              </a:spcAft>
              <a:buNone/>
            </a:pPr>
            <a:r>
              <a:rPr lang="en-US" sz="950" b="1" dirty="0">
                <a:solidFill>
                  <a:srgbClr val="2C5F82"/>
                </a:solidFill>
                <a:latin typeface="Arial" pitchFamily="34" charset="0"/>
                <a:ea typeface="Arial" pitchFamily="34" charset="-122"/>
                <a:cs typeface="Arial" pitchFamily="34" charset="-120"/>
              </a:rPr>
              <a:t>The moat runs through Asia</a:t>
            </a:r>
            <a:endParaRPr lang="en-US" sz="950" dirty="0"/>
          </a:p>
          <a:p>
            <a:pPr indent="0" marL="0">
              <a:spcAft>
                <a:spcPts val="200"/>
              </a:spcAft>
              <a:buNone/>
            </a:pPr>
            <a:r>
              <a:rPr lang="en-US" sz="950" dirty="0">
                <a:solidFill>
                  <a:srgbClr val="262626"/>
                </a:solidFill>
                <a:latin typeface="Arial" pitchFamily="34" charset="0"/>
                <a:ea typeface="Arial" pitchFamily="34" charset="-122"/>
                <a:cs typeface="Arial" pitchFamily="34" charset="-120"/>
              </a:rPr>
              <a:t>8 of the world's 10 largest companies depend on TSMC (J.P. Morgan).</a:t>
            </a:r>
            <a:endParaRPr lang="en-US" sz="950" dirty="0"/>
          </a:p>
          <a:p>
            <a:pPr indent="0" marL="0">
              <a:spcAft>
                <a:spcPts val="200"/>
              </a:spcAft>
              <a:buNone/>
            </a:pPr>
            <a:r>
              <a:rPr lang="en-US" sz="950" b="1" dirty="0">
                <a:solidFill>
                  <a:srgbClr val="B23B3B"/>
                </a:solidFill>
                <a:latin typeface="Arial" pitchFamily="34" charset="0"/>
                <a:ea typeface="Arial" pitchFamily="34" charset="-122"/>
                <a:cs typeface="Arial" pitchFamily="34" charset="-120"/>
              </a:rPr>
              <a:t>…but the cycle is maturing</a:t>
            </a:r>
            <a:endParaRPr lang="en-US" sz="950" dirty="0"/>
          </a:p>
          <a:p>
            <a:pPr indent="0" marL="0">
              <a:spcAft>
                <a:spcPts val="200"/>
              </a:spcAft>
              <a:buNone/>
            </a:pPr>
            <a:r>
              <a:rPr lang="en-US" sz="950" dirty="0">
                <a:solidFill>
                  <a:srgbClr val="262626"/>
                </a:solidFill>
                <a:latin typeface="Arial" pitchFamily="34" charset="0"/>
                <a:ea typeface="Arial" pitchFamily="34" charset="-122"/>
                <a:cs typeface="Arial" pitchFamily="34" charset="-120"/>
              </a:rPr>
              <a:t>DRAM price gains slowing: +48% in Q2, ~+13% expected in Q4 2026.</a:t>
            </a:r>
            <a:endParaRPr lang="en-US" sz="950" dirty="0"/>
          </a:p>
        </p:txBody>
      </p:sp>
      <p:sp>
        <p:nvSpPr>
          <p:cNvPr id="14" name="Shape 11"/>
          <p:cNvSpPr/>
          <p:nvPr/>
        </p:nvSpPr>
        <p:spPr>
          <a:xfrm>
            <a:off x="457200" y="3767328"/>
            <a:ext cx="5486400" cy="548640"/>
          </a:xfrm>
          <a:prstGeom prst="rect">
            <a:avLst/>
          </a:prstGeom>
          <a:solidFill>
            <a:srgbClr val="F2F2F2"/>
          </a:solidFill>
          <a:ln w="12700">
            <a:solidFill>
              <a:srgbClr val="F2F2F2"/>
            </a:solidFill>
            <a:prstDash val="solid"/>
          </a:ln>
        </p:spPr>
      </p:sp>
      <p:sp>
        <p:nvSpPr>
          <p:cNvPr id="15" name="Shape 12"/>
          <p:cNvSpPr/>
          <p:nvPr/>
        </p:nvSpPr>
        <p:spPr>
          <a:xfrm>
            <a:off x="457200" y="3767328"/>
            <a:ext cx="64008" cy="548640"/>
          </a:xfrm>
          <a:prstGeom prst="rect">
            <a:avLst/>
          </a:prstGeom>
          <a:solidFill>
            <a:srgbClr val="2C5F82"/>
          </a:solidFill>
          <a:ln w="12700">
            <a:solidFill>
              <a:srgbClr val="2C5F82"/>
            </a:solidFill>
            <a:prstDash val="solid"/>
          </a:ln>
        </p:spPr>
      </p:sp>
      <p:sp>
        <p:nvSpPr>
          <p:cNvPr id="16" name="Text 13"/>
          <p:cNvSpPr txBox="1"/>
          <p:nvPr/>
        </p:nvSpPr>
        <p:spPr>
          <a:xfrm>
            <a:off x="566928" y="3767328"/>
            <a:ext cx="1051560" cy="548640"/>
          </a:xfrm>
          <a:prstGeom prst="rect">
            <a:avLst/>
          </a:prstGeom>
          <a:noFill/>
          <a:ln/>
        </p:spPr>
        <p:txBody>
          <a:bodyPr wrap="square" lIns="0" tIns="0" rIns="0" bIns="0" rtlCol="0" anchor="ctr"/>
          <a:lstStyle/>
          <a:p>
            <a:pPr algn="ctr" indent="0" marL="0">
              <a:buNone/>
            </a:pPr>
            <a:r>
              <a:rPr lang="en-US" sz="1700" b="1" dirty="0">
                <a:solidFill>
                  <a:srgbClr val="2C5F82"/>
                </a:solidFill>
                <a:latin typeface="Arial" pitchFamily="34" charset="0"/>
                <a:ea typeface="Arial" pitchFamily="34" charset="-122"/>
                <a:cs typeface="Arial" pitchFamily="34" charset="-120"/>
              </a:rPr>
              <a:t>~70%</a:t>
            </a:r>
            <a:endParaRPr lang="en-US" sz="1700" dirty="0"/>
          </a:p>
        </p:txBody>
      </p:sp>
      <p:sp>
        <p:nvSpPr>
          <p:cNvPr id="17" name="Text 14"/>
          <p:cNvSpPr txBox="1"/>
          <p:nvPr/>
        </p:nvSpPr>
        <p:spPr>
          <a:xfrm>
            <a:off x="1691640" y="3767328"/>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Taiwan makes the chips: </a:t>
            </a:r>
            <a:pPr indent="0" marL="0">
              <a:spcAft>
                <a:spcPts val="100"/>
              </a:spcAft>
              <a:buNone/>
            </a:pPr>
            <a:r>
              <a:rPr lang="en-US" sz="900" dirty="0">
                <a:solidFill>
                  <a:srgbClr val="595959"/>
                </a:solidFill>
                <a:latin typeface="Arial" pitchFamily="34" charset="0"/>
                <a:ea typeface="Arial" pitchFamily="34" charset="-122"/>
                <a:cs typeface="Arial" pitchFamily="34" charset="-120"/>
              </a:rPr>
              <a:t>TSMC's share of global foundry revenue; TSMC is &gt;40% of TAIEX.</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EWT 15% and 00878 TT 15%</a:t>
            </a:r>
            <a:endParaRPr lang="en-US" sz="900" dirty="0"/>
          </a:p>
        </p:txBody>
      </p:sp>
      <p:sp>
        <p:nvSpPr>
          <p:cNvPr id="18" name="Shape 15"/>
          <p:cNvSpPr/>
          <p:nvPr/>
        </p:nvSpPr>
        <p:spPr>
          <a:xfrm>
            <a:off x="457200" y="4370832"/>
            <a:ext cx="5486400" cy="548640"/>
          </a:xfrm>
          <a:prstGeom prst="rect">
            <a:avLst/>
          </a:prstGeom>
          <a:solidFill>
            <a:srgbClr val="FFFFFF"/>
          </a:solidFill>
          <a:ln w="12700">
            <a:solidFill>
              <a:srgbClr val="F2F2F2"/>
            </a:solidFill>
            <a:prstDash val="solid"/>
          </a:ln>
        </p:spPr>
      </p:sp>
      <p:sp>
        <p:nvSpPr>
          <p:cNvPr id="19" name="Shape 16"/>
          <p:cNvSpPr/>
          <p:nvPr/>
        </p:nvSpPr>
        <p:spPr>
          <a:xfrm>
            <a:off x="457200" y="4370832"/>
            <a:ext cx="64008" cy="548640"/>
          </a:xfrm>
          <a:prstGeom prst="rect">
            <a:avLst/>
          </a:prstGeom>
          <a:solidFill>
            <a:srgbClr val="2C5F82"/>
          </a:solidFill>
          <a:ln w="12700">
            <a:solidFill>
              <a:srgbClr val="2C5F82"/>
            </a:solidFill>
            <a:prstDash val="solid"/>
          </a:ln>
        </p:spPr>
      </p:sp>
      <p:sp>
        <p:nvSpPr>
          <p:cNvPr id="20" name="Text 17"/>
          <p:cNvSpPr txBox="1"/>
          <p:nvPr/>
        </p:nvSpPr>
        <p:spPr>
          <a:xfrm>
            <a:off x="566928" y="4370832"/>
            <a:ext cx="1051560" cy="548640"/>
          </a:xfrm>
          <a:prstGeom prst="rect">
            <a:avLst/>
          </a:prstGeom>
          <a:noFill/>
          <a:ln/>
        </p:spPr>
        <p:txBody>
          <a:bodyPr wrap="square" lIns="0" tIns="0" rIns="0" bIns="0" rtlCol="0" anchor="ctr"/>
          <a:lstStyle/>
          <a:p>
            <a:pPr algn="ctr" indent="0" marL="0">
              <a:buNone/>
            </a:pPr>
            <a:r>
              <a:rPr lang="en-US" sz="1700" b="1" dirty="0">
                <a:solidFill>
                  <a:srgbClr val="2C5F82"/>
                </a:solidFill>
                <a:latin typeface="Arial" pitchFamily="34" charset="0"/>
                <a:ea typeface="Arial" pitchFamily="34" charset="-122"/>
                <a:cs typeface="Arial" pitchFamily="34" charset="-120"/>
              </a:rPr>
              <a:t>83%</a:t>
            </a:r>
            <a:endParaRPr lang="en-US" sz="1700" dirty="0"/>
          </a:p>
        </p:txBody>
      </p:sp>
      <p:sp>
        <p:nvSpPr>
          <p:cNvPr id="21" name="Text 18"/>
          <p:cNvSpPr txBox="1"/>
          <p:nvPr/>
        </p:nvSpPr>
        <p:spPr>
          <a:xfrm>
            <a:off x="1691640" y="4370832"/>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Korea makes the memory: </a:t>
            </a:r>
            <a:pPr indent="0" marL="0">
              <a:spcAft>
                <a:spcPts val="100"/>
              </a:spcAft>
              <a:buNone/>
            </a:pPr>
            <a:r>
              <a:rPr lang="en-US" sz="900" dirty="0">
                <a:solidFill>
                  <a:srgbClr val="595959"/>
                </a:solidFill>
                <a:latin typeface="Arial" pitchFamily="34" charset="0"/>
                <a:ea typeface="Arial" pitchFamily="34" charset="-122"/>
                <a:cs typeface="Arial" pitchFamily="34" charset="-120"/>
              </a:rPr>
              <a:t>SK hynix + Samsung share of HBM, the memory every AI accelerator needs.</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EWY 20%</a:t>
            </a:r>
            <a:endParaRPr lang="en-US" sz="900" dirty="0"/>
          </a:p>
        </p:txBody>
      </p:sp>
      <p:sp>
        <p:nvSpPr>
          <p:cNvPr id="22" name="Shape 19"/>
          <p:cNvSpPr/>
          <p:nvPr/>
        </p:nvSpPr>
        <p:spPr>
          <a:xfrm>
            <a:off x="457200" y="4974336"/>
            <a:ext cx="5486400" cy="548640"/>
          </a:xfrm>
          <a:prstGeom prst="rect">
            <a:avLst/>
          </a:prstGeom>
          <a:solidFill>
            <a:srgbClr val="F2F2F2"/>
          </a:solidFill>
          <a:ln w="12700">
            <a:solidFill>
              <a:srgbClr val="F2F2F2"/>
            </a:solidFill>
            <a:prstDash val="solid"/>
          </a:ln>
        </p:spPr>
      </p:sp>
      <p:sp>
        <p:nvSpPr>
          <p:cNvPr id="23" name="Shape 20"/>
          <p:cNvSpPr/>
          <p:nvPr/>
        </p:nvSpPr>
        <p:spPr>
          <a:xfrm>
            <a:off x="457200" y="4974336"/>
            <a:ext cx="64008" cy="548640"/>
          </a:xfrm>
          <a:prstGeom prst="rect">
            <a:avLst/>
          </a:prstGeom>
          <a:solidFill>
            <a:srgbClr val="2C5F82"/>
          </a:solidFill>
          <a:ln w="12700">
            <a:solidFill>
              <a:srgbClr val="2C5F82"/>
            </a:solidFill>
            <a:prstDash val="solid"/>
          </a:ln>
        </p:spPr>
      </p:sp>
      <p:sp>
        <p:nvSpPr>
          <p:cNvPr id="24" name="Text 21"/>
          <p:cNvSpPr txBox="1"/>
          <p:nvPr/>
        </p:nvSpPr>
        <p:spPr>
          <a:xfrm>
            <a:off x="566928" y="4974336"/>
            <a:ext cx="1051560" cy="548640"/>
          </a:xfrm>
          <a:prstGeom prst="rect">
            <a:avLst/>
          </a:prstGeom>
          <a:noFill/>
          <a:ln/>
        </p:spPr>
        <p:txBody>
          <a:bodyPr wrap="square" lIns="0" tIns="0" rIns="0" bIns="0" rtlCol="0" anchor="ctr"/>
          <a:lstStyle/>
          <a:p>
            <a:pPr algn="ctr" indent="0" marL="0">
              <a:buNone/>
            </a:pPr>
            <a:r>
              <a:rPr lang="en-US" sz="1700" b="1" dirty="0">
                <a:solidFill>
                  <a:srgbClr val="2C5F82"/>
                </a:solidFill>
                <a:latin typeface="Arial" pitchFamily="34" charset="0"/>
                <a:ea typeface="Arial" pitchFamily="34" charset="-122"/>
                <a:cs typeface="Arial" pitchFamily="34" charset="-120"/>
              </a:rPr>
              <a:t>~55%</a:t>
            </a:r>
            <a:endParaRPr lang="en-US" sz="1700" dirty="0"/>
          </a:p>
        </p:txBody>
      </p:sp>
      <p:sp>
        <p:nvSpPr>
          <p:cNvPr id="25" name="Text 22"/>
          <p:cNvSpPr txBox="1"/>
          <p:nvPr/>
        </p:nvSpPr>
        <p:spPr>
          <a:xfrm>
            <a:off x="1691640" y="4974336"/>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Japan makes the tools: </a:t>
            </a:r>
            <a:pPr indent="0" marL="0">
              <a:spcAft>
                <a:spcPts val="100"/>
              </a:spcAft>
              <a:buNone/>
            </a:pPr>
            <a:r>
              <a:rPr lang="en-US" sz="900" dirty="0">
                <a:solidFill>
                  <a:srgbClr val="595959"/>
                </a:solidFill>
                <a:latin typeface="Arial" pitchFamily="34" charset="0"/>
                <a:ea typeface="Arial" pitchFamily="34" charset="-122"/>
                <a:cs typeface="Arial" pitchFamily="34" charset="-120"/>
              </a:rPr>
              <a:t>Advantest's share of chip test equipment; with Tokyo Electron ≈ 20% of the Nikkei.</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2644 JP 15%; 3119 HK 35% spans the region</a:t>
            </a:r>
            <a:endParaRPr lang="en-US" sz="900" dirty="0"/>
          </a:p>
        </p:txBody>
      </p:sp>
      <p:sp>
        <p:nvSpPr>
          <p:cNvPr id="26" name="Shape 23"/>
          <p:cNvSpPr/>
          <p:nvPr/>
        </p:nvSpPr>
        <p:spPr>
          <a:xfrm>
            <a:off x="6245352" y="1298448"/>
            <a:ext cx="5486400" cy="384048"/>
          </a:xfrm>
          <a:prstGeom prst="rect">
            <a:avLst/>
          </a:prstGeom>
          <a:solidFill>
            <a:srgbClr val="2C5F82"/>
          </a:solidFill>
          <a:ln w="12700">
            <a:solidFill>
              <a:srgbClr val="2C5F82"/>
            </a:solidFill>
            <a:prstDash val="solid"/>
          </a:ln>
        </p:spPr>
      </p:sp>
      <p:sp>
        <p:nvSpPr>
          <p:cNvPr id="27" name="Text 24"/>
          <p:cNvSpPr txBox="1"/>
          <p:nvPr/>
        </p:nvSpPr>
        <p:spPr>
          <a:xfrm>
            <a:off x="6382512" y="1298448"/>
            <a:ext cx="5212080" cy="384048"/>
          </a:xfrm>
          <a:prstGeom prst="rect">
            <a:avLst/>
          </a:prstGeom>
          <a:noFill/>
          <a:ln/>
        </p:spPr>
        <p:txBody>
          <a:bodyPr wrap="square" lIns="0" tIns="0" rIns="0" bIns="0" rtlCol="0" anchor="ctr"/>
          <a:lstStyle/>
          <a:p>
            <a:pPr indent="0" marL="0">
              <a:buNone/>
            </a:pPr>
            <a:r>
              <a:rPr lang="en-US" sz="1250" b="1" dirty="0">
                <a:solidFill>
                  <a:srgbClr val="8DB3D1"/>
                </a:solidFill>
                <a:latin typeface="Arial" pitchFamily="34" charset="0"/>
                <a:ea typeface="Arial" pitchFamily="34" charset="-122"/>
                <a:cs typeface="Arial" pitchFamily="34" charset="-120"/>
              </a:rPr>
              <a:t>1b  </a:t>
            </a:r>
            <a:pPr indent="0" marL="0">
              <a:buNone/>
            </a:pPr>
            <a:r>
              <a:rPr lang="en-US" sz="1250" b="1" dirty="0">
                <a:solidFill>
                  <a:srgbClr val="FFFFFF"/>
                </a:solidFill>
                <a:latin typeface="Arial" pitchFamily="34" charset="0"/>
                <a:ea typeface="Arial" pitchFamily="34" charset="-122"/>
                <a:cs typeface="Arial" pitchFamily="34" charset="-120"/>
              </a:rPr>
              <a:t>A strong theme on a violent path</a:t>
            </a:r>
            <a:endParaRPr lang="en-US" sz="1250" dirty="0"/>
          </a:p>
        </p:txBody>
      </p:sp>
      <p:graphicFrame>
        <p:nvGraphicFramePr>
          <p:cNvPr id="28" name="Chart 1" descr=""/>
          <p:cNvGraphicFramePr/>
          <p:nvPr/>
        </p:nvGraphicFramePr>
        <p:xfrm>
          <a:off x="6245352" y="1783080"/>
          <a:ext cx="3291840" cy="1874520"/>
        </p:xfrm>
        <a:graphic xmlns:a="http://schemas.openxmlformats.org/drawingml/2006/main">
          <a:graphicData uri="http://schemas.openxmlformats.org/drawingml/2006/chart">
            <c:chart xmlns:c="http://schemas.openxmlformats.org/drawingml/2006/chart" r:id="rId2"/>
          </a:graphicData>
        </a:graphic>
      </p:graphicFrame>
      <p:sp>
        <p:nvSpPr>
          <p:cNvPr id="29" name="Text 25"/>
          <p:cNvSpPr txBox="1"/>
          <p:nvPr/>
        </p:nvSpPr>
        <p:spPr>
          <a:xfrm>
            <a:off x="9674352" y="1828800"/>
            <a:ext cx="2057400" cy="1828800"/>
          </a:xfrm>
          <a:prstGeom prst="rect">
            <a:avLst/>
          </a:prstGeom>
          <a:noFill/>
          <a:ln/>
        </p:spPr>
        <p:txBody>
          <a:bodyPr wrap="square" lIns="0" tIns="0" rIns="0" bIns="0" rtlCol="0" anchor="t"/>
          <a:lstStyle/>
          <a:p>
            <a:pPr indent="0" marL="0">
              <a:spcAft>
                <a:spcPts val="200"/>
              </a:spcAft>
              <a:buNone/>
            </a:pPr>
            <a:r>
              <a:rPr lang="en-US" sz="950" b="1" dirty="0">
                <a:solidFill>
                  <a:srgbClr val="2C5F82"/>
                </a:solidFill>
                <a:latin typeface="Arial" pitchFamily="34" charset="0"/>
                <a:ea typeface="Arial" pitchFamily="34" charset="-122"/>
                <a:cs typeface="Arial" pitchFamily="34" charset="-120"/>
              </a:rPr>
              <a:t>Growth is structural…</a:t>
            </a:r>
            <a:endParaRPr lang="en-US" sz="950" dirty="0"/>
          </a:p>
          <a:p>
            <a:pPr indent="0" marL="0">
              <a:spcAft>
                <a:spcPts val="200"/>
              </a:spcAft>
              <a:buNone/>
            </a:pPr>
            <a:r>
              <a:rPr lang="en-US" sz="950" dirty="0">
                <a:solidFill>
                  <a:srgbClr val="262626"/>
                </a:solidFill>
                <a:latin typeface="Arial" pitchFamily="34" charset="0"/>
                <a:ea typeface="Arial" pitchFamily="34" charset="-122"/>
                <a:cs typeface="Arial" pitchFamily="34" charset="-120"/>
              </a:rPr>
              <a:t>TAIEX and KOSPI are 2–3× their end-2022 levels on AI demand.</a:t>
            </a:r>
            <a:endParaRPr lang="en-US" sz="950" dirty="0"/>
          </a:p>
          <a:p>
            <a:pPr indent="0" marL="0">
              <a:spcAft>
                <a:spcPts val="200"/>
              </a:spcAft>
              <a:buNone/>
            </a:pPr>
            <a:r>
              <a:rPr lang="en-US" sz="950" b="1" dirty="0">
                <a:solidFill>
                  <a:srgbClr val="B23B3B"/>
                </a:solidFill>
                <a:latin typeface="Arial" pitchFamily="34" charset="0"/>
                <a:ea typeface="Arial" pitchFamily="34" charset="-122"/>
                <a:cs typeface="Arial" pitchFamily="34" charset="-120"/>
              </a:rPr>
              <a:t>…but the path is violent</a:t>
            </a:r>
            <a:endParaRPr lang="en-US" sz="950" dirty="0"/>
          </a:p>
          <a:p>
            <a:pPr indent="0" marL="0">
              <a:spcAft>
                <a:spcPts val="200"/>
              </a:spcAft>
              <a:buNone/>
            </a:pPr>
            <a:r>
              <a:rPr lang="en-US" sz="950" dirty="0">
                <a:solidFill>
                  <a:srgbClr val="262626"/>
                </a:solidFill>
                <a:latin typeface="Arial" pitchFamily="34" charset="0"/>
                <a:ea typeface="Arial" pitchFamily="34" charset="-122"/>
                <a:cs typeface="Arial" pitchFamily="34" charset="-120"/>
              </a:rPr>
              <a:t>Down 10–25% in 2022; KOSPI fell 8.95% in a single day (13 Jul 2026).</a:t>
            </a:r>
            <a:endParaRPr lang="en-US" sz="950" dirty="0"/>
          </a:p>
        </p:txBody>
      </p:sp>
      <p:sp>
        <p:nvSpPr>
          <p:cNvPr id="30" name="Shape 26"/>
          <p:cNvSpPr/>
          <p:nvPr/>
        </p:nvSpPr>
        <p:spPr>
          <a:xfrm>
            <a:off x="6245352" y="3767328"/>
            <a:ext cx="5486400" cy="548640"/>
          </a:xfrm>
          <a:prstGeom prst="rect">
            <a:avLst/>
          </a:prstGeom>
          <a:solidFill>
            <a:srgbClr val="F2F2F2"/>
          </a:solidFill>
          <a:ln w="12700">
            <a:solidFill>
              <a:srgbClr val="F2F2F2"/>
            </a:solidFill>
            <a:prstDash val="solid"/>
          </a:ln>
        </p:spPr>
      </p:sp>
      <p:sp>
        <p:nvSpPr>
          <p:cNvPr id="31" name="Shape 27"/>
          <p:cNvSpPr/>
          <p:nvPr/>
        </p:nvSpPr>
        <p:spPr>
          <a:xfrm>
            <a:off x="6245352" y="3767328"/>
            <a:ext cx="64008" cy="548640"/>
          </a:xfrm>
          <a:prstGeom prst="rect">
            <a:avLst/>
          </a:prstGeom>
          <a:solidFill>
            <a:srgbClr val="B23B3B"/>
          </a:solidFill>
          <a:ln w="12700">
            <a:solidFill>
              <a:srgbClr val="B23B3B"/>
            </a:solidFill>
            <a:prstDash val="solid"/>
          </a:ln>
        </p:spPr>
      </p:sp>
      <p:sp>
        <p:nvSpPr>
          <p:cNvPr id="32" name="Text 28"/>
          <p:cNvSpPr txBox="1"/>
          <p:nvPr/>
        </p:nvSpPr>
        <p:spPr>
          <a:xfrm>
            <a:off x="6355080" y="3767328"/>
            <a:ext cx="1051560" cy="548640"/>
          </a:xfrm>
          <a:prstGeom prst="rect">
            <a:avLst/>
          </a:prstGeom>
          <a:noFill/>
          <a:ln/>
        </p:spPr>
        <p:txBody>
          <a:bodyPr wrap="square" lIns="0" tIns="0" rIns="0" bIns="0" rtlCol="0" anchor="ctr"/>
          <a:lstStyle/>
          <a:p>
            <a:pPr algn="ctr" indent="0" marL="0">
              <a:buNone/>
            </a:pPr>
            <a:r>
              <a:rPr lang="en-US" sz="1700" b="1" dirty="0">
                <a:solidFill>
                  <a:srgbClr val="B23B3B"/>
                </a:solidFill>
                <a:latin typeface="Arial" pitchFamily="34" charset="0"/>
                <a:ea typeface="Arial" pitchFamily="34" charset="-122"/>
                <a:cs typeface="Arial" pitchFamily="34" charset="-120"/>
              </a:rPr>
              <a:t>−25%</a:t>
            </a:r>
            <a:endParaRPr lang="en-US" sz="1700" dirty="0"/>
          </a:p>
        </p:txBody>
      </p:sp>
      <p:sp>
        <p:nvSpPr>
          <p:cNvPr id="33" name="Text 29"/>
          <p:cNvSpPr txBox="1"/>
          <p:nvPr/>
        </p:nvSpPr>
        <p:spPr>
          <a:xfrm>
            <a:off x="7479792" y="3767328"/>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Round trips happen fast: </a:t>
            </a:r>
            <a:pPr indent="0" marL="0">
              <a:spcAft>
                <a:spcPts val="100"/>
              </a:spcAft>
              <a:buNone/>
            </a:pPr>
            <a:r>
              <a:rPr lang="en-US" sz="900" dirty="0">
                <a:solidFill>
                  <a:srgbClr val="595959"/>
                </a:solidFill>
                <a:latin typeface="Arial" pitchFamily="34" charset="0"/>
                <a:ea typeface="Arial" pitchFamily="34" charset="-122"/>
                <a:cs typeface="Arial" pitchFamily="34" charset="-120"/>
              </a:rPr>
              <a:t>KOSPI went from 9,000+ in June to 6,789 on 28 Aug; J.P. Morgan expects a 10–15% correction in 2026.</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Buying in one go is risky: the note pays on recovery, no timing needed</a:t>
            </a:r>
            <a:endParaRPr lang="en-US" sz="900" dirty="0"/>
          </a:p>
        </p:txBody>
      </p:sp>
      <p:sp>
        <p:nvSpPr>
          <p:cNvPr id="34" name="Shape 30"/>
          <p:cNvSpPr/>
          <p:nvPr/>
        </p:nvSpPr>
        <p:spPr>
          <a:xfrm>
            <a:off x="6245352" y="4370832"/>
            <a:ext cx="5486400" cy="548640"/>
          </a:xfrm>
          <a:prstGeom prst="rect">
            <a:avLst/>
          </a:prstGeom>
          <a:solidFill>
            <a:srgbClr val="FFFFFF"/>
          </a:solidFill>
          <a:ln w="12700">
            <a:solidFill>
              <a:srgbClr val="F2F2F2"/>
            </a:solidFill>
            <a:prstDash val="solid"/>
          </a:ln>
        </p:spPr>
      </p:sp>
      <p:sp>
        <p:nvSpPr>
          <p:cNvPr id="35" name="Shape 31"/>
          <p:cNvSpPr/>
          <p:nvPr/>
        </p:nvSpPr>
        <p:spPr>
          <a:xfrm>
            <a:off x="6245352" y="4370832"/>
            <a:ext cx="64008" cy="548640"/>
          </a:xfrm>
          <a:prstGeom prst="rect">
            <a:avLst/>
          </a:prstGeom>
          <a:solidFill>
            <a:srgbClr val="B23B3B"/>
          </a:solidFill>
          <a:ln w="12700">
            <a:solidFill>
              <a:srgbClr val="B23B3B"/>
            </a:solidFill>
            <a:prstDash val="solid"/>
          </a:ln>
        </p:spPr>
      </p:sp>
      <p:sp>
        <p:nvSpPr>
          <p:cNvPr id="36" name="Text 32"/>
          <p:cNvSpPr txBox="1"/>
          <p:nvPr/>
        </p:nvSpPr>
        <p:spPr>
          <a:xfrm>
            <a:off x="6355080" y="4370832"/>
            <a:ext cx="1051560" cy="548640"/>
          </a:xfrm>
          <a:prstGeom prst="rect">
            <a:avLst/>
          </a:prstGeom>
          <a:noFill/>
          <a:ln/>
        </p:spPr>
        <p:txBody>
          <a:bodyPr wrap="square" lIns="0" tIns="0" rIns="0" bIns="0" rtlCol="0" anchor="ctr"/>
          <a:lstStyle/>
          <a:p>
            <a:pPr algn="ctr" indent="0" marL="0">
              <a:buNone/>
            </a:pPr>
            <a:r>
              <a:rPr lang="en-US" sz="1700" b="1" dirty="0">
                <a:solidFill>
                  <a:srgbClr val="B23B3B"/>
                </a:solidFill>
                <a:latin typeface="Arial" pitchFamily="34" charset="0"/>
                <a:ea typeface="Arial" pitchFamily="34" charset="-122"/>
                <a:cs typeface="Arial" pitchFamily="34" charset="-120"/>
              </a:rPr>
              <a:t>&gt;40%</a:t>
            </a:r>
            <a:endParaRPr lang="en-US" sz="1700" dirty="0"/>
          </a:p>
        </p:txBody>
      </p:sp>
      <p:sp>
        <p:nvSpPr>
          <p:cNvPr id="37" name="Text 33"/>
          <p:cNvSpPr txBox="1"/>
          <p:nvPr/>
        </p:nvSpPr>
        <p:spPr>
          <a:xfrm>
            <a:off x="7479792" y="4370832"/>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Returns hinge on a few names: </a:t>
            </a:r>
            <a:pPr indent="0" marL="0">
              <a:spcAft>
                <a:spcPts val="100"/>
              </a:spcAft>
              <a:buNone/>
            </a:pPr>
            <a:r>
              <a:rPr lang="en-US" sz="900" dirty="0">
                <a:solidFill>
                  <a:srgbClr val="595959"/>
                </a:solidFill>
                <a:latin typeface="Arial" pitchFamily="34" charset="0"/>
                <a:ea typeface="Arial" pitchFamily="34" charset="-122"/>
                <a:cs typeface="Arial" pitchFamily="34" charset="-120"/>
              </a:rPr>
              <a:t>TSMC &gt;40% of TAIEX; Samsung + SK hynix ~48% of KOSPI; ~92% of advanced chips from Taiwan.</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Diversified five-ETF basket, not a worst-of on single names</a:t>
            </a:r>
            <a:endParaRPr lang="en-US" sz="900" dirty="0"/>
          </a:p>
        </p:txBody>
      </p:sp>
      <p:sp>
        <p:nvSpPr>
          <p:cNvPr id="38" name="Shape 34"/>
          <p:cNvSpPr/>
          <p:nvPr/>
        </p:nvSpPr>
        <p:spPr>
          <a:xfrm>
            <a:off x="6245352" y="4974336"/>
            <a:ext cx="5486400" cy="548640"/>
          </a:xfrm>
          <a:prstGeom prst="rect">
            <a:avLst/>
          </a:prstGeom>
          <a:solidFill>
            <a:srgbClr val="F2F2F2"/>
          </a:solidFill>
          <a:ln w="12700">
            <a:solidFill>
              <a:srgbClr val="F2F2F2"/>
            </a:solidFill>
            <a:prstDash val="solid"/>
          </a:ln>
        </p:spPr>
      </p:sp>
      <p:sp>
        <p:nvSpPr>
          <p:cNvPr id="39" name="Shape 35"/>
          <p:cNvSpPr/>
          <p:nvPr/>
        </p:nvSpPr>
        <p:spPr>
          <a:xfrm>
            <a:off x="6245352" y="4974336"/>
            <a:ext cx="64008" cy="548640"/>
          </a:xfrm>
          <a:prstGeom prst="rect">
            <a:avLst/>
          </a:prstGeom>
          <a:solidFill>
            <a:srgbClr val="B23B3B"/>
          </a:solidFill>
          <a:ln w="12700">
            <a:solidFill>
              <a:srgbClr val="B23B3B"/>
            </a:solidFill>
            <a:prstDash val="solid"/>
          </a:ln>
        </p:spPr>
      </p:sp>
      <p:sp>
        <p:nvSpPr>
          <p:cNvPr id="40" name="Text 36"/>
          <p:cNvSpPr txBox="1"/>
          <p:nvPr/>
        </p:nvSpPr>
        <p:spPr>
          <a:xfrm>
            <a:off x="6355080" y="4974336"/>
            <a:ext cx="1051560" cy="548640"/>
          </a:xfrm>
          <a:prstGeom prst="rect">
            <a:avLst/>
          </a:prstGeom>
          <a:noFill/>
          <a:ln/>
        </p:spPr>
        <p:txBody>
          <a:bodyPr wrap="square" lIns="0" tIns="0" rIns="0" bIns="0" rtlCol="0" anchor="ctr"/>
          <a:lstStyle/>
          <a:p>
            <a:pPr algn="ctr" indent="0" marL="0">
              <a:buNone/>
            </a:pPr>
            <a:r>
              <a:rPr lang="en-US" sz="1700" b="1" dirty="0">
                <a:solidFill>
                  <a:srgbClr val="B23B3B"/>
                </a:solidFill>
                <a:latin typeface="Arial" pitchFamily="34" charset="0"/>
                <a:ea typeface="Arial" pitchFamily="34" charset="-122"/>
                <a:cs typeface="Arial" pitchFamily="34" charset="-120"/>
              </a:rPr>
              <a:t>38.6×</a:t>
            </a:r>
            <a:endParaRPr lang="en-US" sz="1700" dirty="0"/>
          </a:p>
        </p:txBody>
      </p:sp>
      <p:sp>
        <p:nvSpPr>
          <p:cNvPr id="41" name="Text 37"/>
          <p:cNvSpPr txBox="1"/>
          <p:nvPr/>
        </p:nvSpPr>
        <p:spPr>
          <a:xfrm>
            <a:off x="7479792" y="4974336"/>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Valuations price in a lot: </a:t>
            </a:r>
            <a:pPr indent="0" marL="0">
              <a:spcAft>
                <a:spcPts val="100"/>
              </a:spcAft>
              <a:buNone/>
            </a:pPr>
            <a:r>
              <a:rPr lang="en-US" sz="900" dirty="0">
                <a:solidFill>
                  <a:srgbClr val="595959"/>
                </a:solidFill>
                <a:latin typeface="Arial" pitchFamily="34" charset="0"/>
                <a:ea typeface="Arial" pitchFamily="34" charset="-122"/>
                <a:cs typeface="Arial" pitchFamily="34" charset="-120"/>
              </a:rPr>
              <a:t>Nikkei CAPE 38.6×; Taiwan among the most expensive markets; DRAM gains slowing.</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Coupons lock in gains if the rally stalls</a:t>
            </a:r>
            <a:endParaRPr lang="en-US" sz="900" dirty="0"/>
          </a:p>
        </p:txBody>
      </p:sp>
      <p:sp>
        <p:nvSpPr>
          <p:cNvPr id="42" name="Shape 38"/>
          <p:cNvSpPr/>
          <p:nvPr/>
        </p:nvSpPr>
        <p:spPr>
          <a:xfrm>
            <a:off x="457200" y="5577840"/>
            <a:ext cx="11274552" cy="420624"/>
          </a:xfrm>
          <a:prstGeom prst="rect">
            <a:avLst/>
          </a:prstGeom>
          <a:solidFill>
            <a:srgbClr val="2C5F82"/>
          </a:solidFill>
          <a:ln w="12700">
            <a:solidFill>
              <a:srgbClr val="2C5F82"/>
            </a:solidFill>
            <a:prstDash val="solid"/>
          </a:ln>
        </p:spPr>
      </p:sp>
      <p:sp>
        <p:nvSpPr>
          <p:cNvPr id="43" name="Text 39"/>
          <p:cNvSpPr txBox="1"/>
          <p:nvPr/>
        </p:nvSpPr>
        <p:spPr>
          <a:xfrm>
            <a:off x="594360" y="5577840"/>
            <a:ext cx="11000232" cy="42062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Whichever AI company wins, it needs Asia's chips, memory and tools, but the path to owning them is violent.</a:t>
            </a:r>
            <a:endParaRPr lang="en-US" sz="1150" dirty="0"/>
          </a:p>
        </p:txBody>
      </p:sp>
      <p:sp>
        <p:nvSpPr>
          <p:cNvPr id="44" name="Text 40"/>
          <p:cNvSpPr txBox="1"/>
          <p:nvPr/>
        </p:nvSpPr>
        <p:spPr>
          <a:xfrm>
            <a:off x="457200" y="6053328"/>
            <a:ext cx="11274552" cy="292608"/>
          </a:xfrm>
          <a:prstGeom prst="rect">
            <a:avLst/>
          </a:prstGeom>
          <a:noFill/>
          <a:ln/>
        </p:spPr>
        <p:txBody>
          <a:bodyPr wrap="square" lIns="0" tIns="0" rIns="0" bIns="0" rtlCol="0" anchor="t"/>
          <a:lstStyle/>
          <a:p>
            <a:pPr indent="0" marL="0">
              <a:buNone/>
            </a:pPr>
            <a:r>
              <a:rPr lang="en-US" sz="750" i="1" dirty="0">
                <a:solidFill>
                  <a:srgbClr val="595959"/>
                </a:solidFill>
                <a:latin typeface="Arial" pitchFamily="34" charset="0"/>
                <a:ea typeface="Arial" pitchFamily="34" charset="-122"/>
                <a:cs typeface="Arial" pitchFamily="34" charset="-120"/>
              </a:rPr>
              <a:t>Sources: WSTS; company capex guidance; Counterpoint (foundry, HBM); TrendForce (DRAM); industry research (test equipment); J.P. Morgan AWM 2026 Outlook; TWSE, KRX, Nikkei (index levels); FN News, BIT Research (KOSPI); Siblis (CAPE). Full list: deck/thesis_sources.md.</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74552" cy="548640"/>
          </a:xfrm>
          <a:prstGeom prst="rect">
            <a:avLst/>
          </a:prstGeom>
          <a:noFill/>
          <a:ln/>
        </p:spPr>
        <p:txBody>
          <a:bodyPr wrap="square" lIns="0" tIns="0" rIns="0" bIns="0" rtlCol="0" anchor="ctr"/>
          <a:lstStyle/>
          <a:p>
            <a:pPr indent="0" marL="0">
              <a:buNone/>
            </a:pPr>
            <a:r>
              <a:rPr lang="en-US" sz="2200" dirty="0">
                <a:solidFill>
                  <a:srgbClr val="262626"/>
                </a:solidFill>
                <a:latin typeface="Arial" pitchFamily="34" charset="0"/>
                <a:ea typeface="Arial" pitchFamily="34" charset="-122"/>
                <a:cs typeface="Arial" pitchFamily="34" charset="-120"/>
              </a:rPr>
              <a:t>Investment thesis 2: High rates and record volatility favour an autocall</a:t>
            </a:r>
            <a:endParaRPr lang="en-US" sz="22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50976"/>
            <a:ext cx="11274552" cy="274320"/>
          </a:xfrm>
          <a:prstGeom prst="rect">
            <a:avLst/>
          </a:prstGeom>
          <a:noFill/>
          <a:ln/>
        </p:spPr>
        <p:txBody>
          <a:bodyPr wrap="square" lIns="0" tIns="0" rIns="0" bIns="0" rtlCol="0" anchor="t"/>
          <a:lstStyle/>
          <a:p>
            <a:pPr indent="0" marL="0">
              <a:buNone/>
            </a:pPr>
            <a:r>
              <a:rPr lang="en-US" sz="1050" i="1" dirty="0">
                <a:solidFill>
                  <a:srgbClr val="595959"/>
                </a:solidFill>
                <a:latin typeface="Arial" pitchFamily="34" charset="0"/>
                <a:ea typeface="Arial" pitchFamily="34" charset="-122"/>
                <a:cs typeface="Arial" pitchFamily="34" charset="-120"/>
              </a:rPr>
              <a:t>Why we wrap it: rates stay high, so bonds carry rate risk; volatility is at records, so the option the client sells is worth more than ever</a:t>
            </a:r>
            <a:endParaRPr lang="en-US" sz="1050" dirty="0"/>
          </a:p>
        </p:txBody>
      </p:sp>
      <p:sp>
        <p:nvSpPr>
          <p:cNvPr id="10" name="Shape 8"/>
          <p:cNvSpPr/>
          <p:nvPr/>
        </p:nvSpPr>
        <p:spPr>
          <a:xfrm>
            <a:off x="457200" y="1298448"/>
            <a:ext cx="5486400" cy="384048"/>
          </a:xfrm>
          <a:prstGeom prst="rect">
            <a:avLst/>
          </a:prstGeom>
          <a:solidFill>
            <a:srgbClr val="2C5F82"/>
          </a:solidFill>
          <a:ln w="12700">
            <a:solidFill>
              <a:srgbClr val="2C5F82"/>
            </a:solidFill>
            <a:prstDash val="solid"/>
          </a:ln>
        </p:spPr>
      </p:sp>
      <p:sp>
        <p:nvSpPr>
          <p:cNvPr id="11" name="Text 9"/>
          <p:cNvSpPr txBox="1"/>
          <p:nvPr/>
        </p:nvSpPr>
        <p:spPr>
          <a:xfrm>
            <a:off x="594360" y="1298448"/>
            <a:ext cx="5212080" cy="384048"/>
          </a:xfrm>
          <a:prstGeom prst="rect">
            <a:avLst/>
          </a:prstGeom>
          <a:noFill/>
          <a:ln/>
        </p:spPr>
        <p:txBody>
          <a:bodyPr wrap="square" lIns="0" tIns="0" rIns="0" bIns="0" rtlCol="0" anchor="ctr"/>
          <a:lstStyle/>
          <a:p>
            <a:pPr indent="0" marL="0">
              <a:buNone/>
            </a:pPr>
            <a:r>
              <a:rPr lang="en-US" sz="1250" b="1" dirty="0">
                <a:solidFill>
                  <a:srgbClr val="8DB3D1"/>
                </a:solidFill>
                <a:latin typeface="Arial" pitchFamily="34" charset="0"/>
                <a:ea typeface="Arial" pitchFamily="34" charset="-122"/>
                <a:cs typeface="Arial" pitchFamily="34" charset="-120"/>
              </a:rPr>
              <a:t>2a  </a:t>
            </a:r>
            <a:pPr indent="0" marL="0">
              <a:buNone/>
            </a:pPr>
            <a:r>
              <a:rPr lang="en-US" sz="1250" b="1" dirty="0">
                <a:solidFill>
                  <a:srgbClr val="FFFFFF"/>
                </a:solidFill>
                <a:latin typeface="Arial" pitchFamily="34" charset="0"/>
                <a:ea typeface="Arial" pitchFamily="34" charset="-122"/>
                <a:cs typeface="Arial" pitchFamily="34" charset="-120"/>
              </a:rPr>
              <a:t>Rates stay high for longer</a:t>
            </a:r>
            <a:endParaRPr lang="en-US" sz="1250" dirty="0"/>
          </a:p>
        </p:txBody>
      </p:sp>
      <p:pic>
        <p:nvPicPr>
          <p:cNvPr id="12" name="Image 0" descr="/home/user/natixis-case-comp/deck/fomc_dot_plot_compact.png">    </p:cNvPr>
          <p:cNvPicPr>
            <a:picLocks noChangeAspect="1"/>
          </p:cNvPicPr>
          <p:nvPr/>
        </p:nvPicPr>
        <p:blipFill>
          <a:blip r:embed="rId1"/>
          <a:stretch>
            <a:fillRect/>
          </a:stretch>
        </p:blipFill>
        <p:spPr>
          <a:xfrm>
            <a:off x="662940" y="1755648"/>
            <a:ext cx="5074920" cy="1794789"/>
          </a:xfrm>
          <a:prstGeom prst="rect">
            <a:avLst/>
          </a:prstGeom>
        </p:spPr>
      </p:pic>
      <p:sp>
        <p:nvSpPr>
          <p:cNvPr id="13" name="Text 10"/>
          <p:cNvSpPr txBox="1"/>
          <p:nvPr/>
        </p:nvSpPr>
        <p:spPr>
          <a:xfrm>
            <a:off x="457200" y="3568725"/>
            <a:ext cx="5486400" cy="164592"/>
          </a:xfrm>
          <a:prstGeom prst="rect">
            <a:avLst/>
          </a:prstGeom>
          <a:noFill/>
          <a:ln/>
        </p:spPr>
        <p:txBody>
          <a:bodyPr wrap="square" lIns="0" tIns="0" rIns="0" bIns="0" rtlCol="0" anchor="t"/>
          <a:lstStyle/>
          <a:p>
            <a:pPr indent="0" marL="0">
              <a:buNone/>
            </a:pPr>
            <a:r>
              <a:rPr lang="en-US" sz="750" i="1" dirty="0">
                <a:solidFill>
                  <a:srgbClr val="595959"/>
                </a:solidFill>
                <a:latin typeface="Arial" pitchFamily="34" charset="0"/>
                <a:ea typeface="Arial" pitchFamily="34" charset="-122"/>
                <a:cs typeface="Arial" pitchFamily="34" charset="-120"/>
              </a:rPr>
              <a:t>FOMC dot plot, 16 Sep 2026 (shaded: today's 3.75–4.00%). Dots read from the Fed's chart.</a:t>
            </a:r>
            <a:endParaRPr lang="en-US" sz="750" dirty="0"/>
          </a:p>
        </p:txBody>
      </p:sp>
      <p:sp>
        <p:nvSpPr>
          <p:cNvPr id="14" name="Shape 11"/>
          <p:cNvSpPr/>
          <p:nvPr/>
        </p:nvSpPr>
        <p:spPr>
          <a:xfrm>
            <a:off x="457200" y="3767328"/>
            <a:ext cx="5486400" cy="548640"/>
          </a:xfrm>
          <a:prstGeom prst="rect">
            <a:avLst/>
          </a:prstGeom>
          <a:solidFill>
            <a:srgbClr val="F2F2F2"/>
          </a:solidFill>
          <a:ln w="12700">
            <a:solidFill>
              <a:srgbClr val="F2F2F2"/>
            </a:solidFill>
            <a:prstDash val="solid"/>
          </a:ln>
        </p:spPr>
      </p:sp>
      <p:sp>
        <p:nvSpPr>
          <p:cNvPr id="15" name="Shape 12"/>
          <p:cNvSpPr/>
          <p:nvPr/>
        </p:nvSpPr>
        <p:spPr>
          <a:xfrm>
            <a:off x="457200" y="3767328"/>
            <a:ext cx="64008" cy="548640"/>
          </a:xfrm>
          <a:prstGeom prst="rect">
            <a:avLst/>
          </a:prstGeom>
          <a:solidFill>
            <a:srgbClr val="2C5F82"/>
          </a:solidFill>
          <a:ln w="12700">
            <a:solidFill>
              <a:srgbClr val="2C5F82"/>
            </a:solidFill>
            <a:prstDash val="solid"/>
          </a:ln>
        </p:spPr>
      </p:sp>
      <p:sp>
        <p:nvSpPr>
          <p:cNvPr id="16" name="Text 13"/>
          <p:cNvSpPr txBox="1"/>
          <p:nvPr/>
        </p:nvSpPr>
        <p:spPr>
          <a:xfrm>
            <a:off x="566928" y="3767328"/>
            <a:ext cx="1051560" cy="548640"/>
          </a:xfrm>
          <a:prstGeom prst="rect">
            <a:avLst/>
          </a:prstGeom>
          <a:noFill/>
          <a:ln/>
        </p:spPr>
        <p:txBody>
          <a:bodyPr wrap="square" lIns="0" tIns="0" rIns="0" bIns="0" rtlCol="0" anchor="ctr"/>
          <a:lstStyle/>
          <a:p>
            <a:pPr algn="ctr" indent="0" marL="0">
              <a:buNone/>
            </a:pPr>
            <a:r>
              <a:rPr lang="en-US" sz="1700" b="1" dirty="0">
                <a:solidFill>
                  <a:srgbClr val="2C5F82"/>
                </a:solidFill>
                <a:latin typeface="Arial" pitchFamily="34" charset="0"/>
                <a:ea typeface="Arial" pitchFamily="34" charset="-122"/>
                <a:cs typeface="Arial" pitchFamily="34" charset="-120"/>
              </a:rPr>
              <a:t>4.125%</a:t>
            </a:r>
            <a:endParaRPr lang="en-US" sz="1700" dirty="0"/>
          </a:p>
        </p:txBody>
      </p:sp>
      <p:sp>
        <p:nvSpPr>
          <p:cNvPr id="17" name="Text 14"/>
          <p:cNvSpPr txBox="1"/>
          <p:nvPr/>
        </p:nvSpPr>
        <p:spPr>
          <a:xfrm>
            <a:off x="1691640" y="3767328"/>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FOMC median to end-2027, cuts deferred to 2028: </a:t>
            </a:r>
            <a:pPr indent="0" marL="0">
              <a:spcAft>
                <a:spcPts val="100"/>
              </a:spcAft>
              <a:buNone/>
            </a:pPr>
            <a:r>
              <a:rPr lang="en-US" sz="900" dirty="0">
                <a:solidFill>
                  <a:srgbClr val="595959"/>
                </a:solidFill>
                <a:latin typeface="Arial" pitchFamily="34" charset="0"/>
                <a:ea typeface="Arial" pitchFamily="34" charset="-122"/>
                <a:cs typeface="Arial" pitchFamily="34" charset="-120"/>
              </a:rPr>
              <a:t>12 of 18 dots at 4.125% for 2026; 4.375% seen by 4 for 2026 and 8 for 2027.</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Rate risk is structural, not a one-off</a:t>
            </a:r>
            <a:endParaRPr lang="en-US" sz="900" dirty="0"/>
          </a:p>
        </p:txBody>
      </p:sp>
      <p:sp>
        <p:nvSpPr>
          <p:cNvPr id="18" name="Shape 15"/>
          <p:cNvSpPr/>
          <p:nvPr/>
        </p:nvSpPr>
        <p:spPr>
          <a:xfrm>
            <a:off x="457200" y="4370832"/>
            <a:ext cx="5486400" cy="548640"/>
          </a:xfrm>
          <a:prstGeom prst="rect">
            <a:avLst/>
          </a:prstGeom>
          <a:solidFill>
            <a:srgbClr val="FFFFFF"/>
          </a:solidFill>
          <a:ln w="12700">
            <a:solidFill>
              <a:srgbClr val="F2F2F2"/>
            </a:solidFill>
            <a:prstDash val="solid"/>
          </a:ln>
        </p:spPr>
      </p:sp>
      <p:sp>
        <p:nvSpPr>
          <p:cNvPr id="19" name="Shape 16"/>
          <p:cNvSpPr/>
          <p:nvPr/>
        </p:nvSpPr>
        <p:spPr>
          <a:xfrm>
            <a:off x="457200" y="4370832"/>
            <a:ext cx="64008" cy="548640"/>
          </a:xfrm>
          <a:prstGeom prst="rect">
            <a:avLst/>
          </a:prstGeom>
          <a:solidFill>
            <a:srgbClr val="2C5F82"/>
          </a:solidFill>
          <a:ln w="12700">
            <a:solidFill>
              <a:srgbClr val="2C5F82"/>
            </a:solidFill>
            <a:prstDash val="solid"/>
          </a:ln>
        </p:spPr>
      </p:sp>
      <p:sp>
        <p:nvSpPr>
          <p:cNvPr id="20" name="Text 17"/>
          <p:cNvSpPr txBox="1"/>
          <p:nvPr/>
        </p:nvSpPr>
        <p:spPr>
          <a:xfrm>
            <a:off x="566928" y="4370832"/>
            <a:ext cx="1051560" cy="548640"/>
          </a:xfrm>
          <a:prstGeom prst="rect">
            <a:avLst/>
          </a:prstGeom>
          <a:noFill/>
          <a:ln/>
        </p:spPr>
        <p:txBody>
          <a:bodyPr wrap="square" lIns="0" tIns="0" rIns="0" bIns="0" rtlCol="0" anchor="ctr"/>
          <a:lstStyle/>
          <a:p>
            <a:pPr algn="ctr" indent="0" marL="0">
              <a:buNone/>
            </a:pPr>
            <a:r>
              <a:rPr lang="en-US" sz="1700" b="1" dirty="0">
                <a:solidFill>
                  <a:srgbClr val="2C5F82"/>
                </a:solidFill>
                <a:latin typeface="Arial" pitchFamily="34" charset="0"/>
                <a:ea typeface="Arial" pitchFamily="34" charset="-122"/>
                <a:cs typeface="Arial" pitchFamily="34" charset="-120"/>
              </a:rPr>
              <a:t>+0.25%</a:t>
            </a:r>
            <a:endParaRPr lang="en-US" sz="1700" dirty="0"/>
          </a:p>
        </p:txBody>
      </p:sp>
      <p:sp>
        <p:nvSpPr>
          <p:cNvPr id="21" name="Text 18"/>
          <p:cNvSpPr txBox="1"/>
          <p:nvPr/>
        </p:nvSpPr>
        <p:spPr>
          <a:xfrm>
            <a:off x="1691640" y="4370832"/>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The Fed is hiking again: </a:t>
            </a:r>
            <a:pPr indent="0" marL="0">
              <a:spcAft>
                <a:spcPts val="100"/>
              </a:spcAft>
              <a:buNone/>
            </a:pPr>
            <a:r>
              <a:rPr lang="en-US" sz="900" dirty="0">
                <a:solidFill>
                  <a:srgbClr val="595959"/>
                </a:solidFill>
                <a:latin typeface="Arial" pitchFamily="34" charset="0"/>
                <a:ea typeface="Arial" pitchFamily="34" charset="-122"/>
                <a:cs typeface="Arial" pitchFamily="34" charset="-120"/>
              </a:rPr>
              <a:t>16 Sep 2026: to 3.75–4.00%, the first hike since 2023; futures price ~87% odds of at least one more.</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Locking in a long fixed rate now is not attractive</a:t>
            </a:r>
            <a:endParaRPr lang="en-US" sz="900" dirty="0"/>
          </a:p>
        </p:txBody>
      </p:sp>
      <p:sp>
        <p:nvSpPr>
          <p:cNvPr id="22" name="Shape 19"/>
          <p:cNvSpPr/>
          <p:nvPr/>
        </p:nvSpPr>
        <p:spPr>
          <a:xfrm>
            <a:off x="457200" y="4974336"/>
            <a:ext cx="5486400" cy="548640"/>
          </a:xfrm>
          <a:prstGeom prst="rect">
            <a:avLst/>
          </a:prstGeom>
          <a:solidFill>
            <a:srgbClr val="F2F2F2"/>
          </a:solidFill>
          <a:ln w="12700">
            <a:solidFill>
              <a:srgbClr val="F2F2F2"/>
            </a:solidFill>
            <a:prstDash val="solid"/>
          </a:ln>
        </p:spPr>
      </p:sp>
      <p:sp>
        <p:nvSpPr>
          <p:cNvPr id="23" name="Shape 20"/>
          <p:cNvSpPr/>
          <p:nvPr/>
        </p:nvSpPr>
        <p:spPr>
          <a:xfrm>
            <a:off x="457200" y="4974336"/>
            <a:ext cx="64008" cy="548640"/>
          </a:xfrm>
          <a:prstGeom prst="rect">
            <a:avLst/>
          </a:prstGeom>
          <a:solidFill>
            <a:srgbClr val="2C5F82"/>
          </a:solidFill>
          <a:ln w="12700">
            <a:solidFill>
              <a:srgbClr val="2C5F82"/>
            </a:solidFill>
            <a:prstDash val="solid"/>
          </a:ln>
        </p:spPr>
      </p:sp>
      <p:sp>
        <p:nvSpPr>
          <p:cNvPr id="24" name="Text 21"/>
          <p:cNvSpPr txBox="1"/>
          <p:nvPr/>
        </p:nvSpPr>
        <p:spPr>
          <a:xfrm>
            <a:off x="566928" y="4974336"/>
            <a:ext cx="1051560" cy="548640"/>
          </a:xfrm>
          <a:prstGeom prst="rect">
            <a:avLst/>
          </a:prstGeom>
          <a:noFill/>
          <a:ln/>
        </p:spPr>
        <p:txBody>
          <a:bodyPr wrap="square" lIns="0" tIns="0" rIns="0" bIns="0" rtlCol="0" anchor="ctr"/>
          <a:lstStyle/>
          <a:p>
            <a:pPr algn="ctr" indent="0" marL="0">
              <a:buNone/>
            </a:pPr>
            <a:r>
              <a:rPr lang="en-US" sz="1700" b="1" dirty="0">
                <a:solidFill>
                  <a:srgbClr val="2C5F82"/>
                </a:solidFill>
                <a:latin typeface="Arial" pitchFamily="34" charset="0"/>
                <a:ea typeface="Arial" pitchFamily="34" charset="-122"/>
                <a:cs typeface="Arial" pitchFamily="34" charset="-120"/>
              </a:rPr>
              <a:t>−4.0%</a:t>
            </a:r>
            <a:endParaRPr lang="en-US" sz="1700" dirty="0"/>
          </a:p>
        </p:txBody>
      </p:sp>
      <p:sp>
        <p:nvSpPr>
          <p:cNvPr id="25" name="Text 22"/>
          <p:cNvSpPr txBox="1"/>
          <p:nvPr/>
        </p:nvSpPr>
        <p:spPr>
          <a:xfrm>
            <a:off x="1691640" y="4974336"/>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Long bonds carry rate risk: </a:t>
            </a:r>
            <a:pPr indent="0" marL="0">
              <a:spcAft>
                <a:spcPts val="100"/>
              </a:spcAft>
              <a:buNone/>
            </a:pPr>
            <a:r>
              <a:rPr lang="en-US" sz="900" dirty="0">
                <a:solidFill>
                  <a:srgbClr val="595959"/>
                </a:solidFill>
                <a:latin typeface="Arial" pitchFamily="34" charset="0"/>
                <a:ea typeface="Arial" pitchFamily="34" charset="-122"/>
                <a:cs typeface="Arial" pitchFamily="34" charset="-120"/>
              </a:rPr>
              <a:t>a 5-year bond loses ~4.0% per 1% rise in rates.</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The note can redeem from year 1: short duration, cash back to reinvest higher</a:t>
            </a:r>
            <a:endParaRPr lang="en-US" sz="900" dirty="0"/>
          </a:p>
        </p:txBody>
      </p:sp>
      <p:sp>
        <p:nvSpPr>
          <p:cNvPr id="26" name="Shape 23"/>
          <p:cNvSpPr/>
          <p:nvPr/>
        </p:nvSpPr>
        <p:spPr>
          <a:xfrm>
            <a:off x="6245352" y="1298448"/>
            <a:ext cx="5486400" cy="384048"/>
          </a:xfrm>
          <a:prstGeom prst="rect">
            <a:avLst/>
          </a:prstGeom>
          <a:solidFill>
            <a:srgbClr val="2C5F82"/>
          </a:solidFill>
          <a:ln w="12700">
            <a:solidFill>
              <a:srgbClr val="2C5F82"/>
            </a:solidFill>
            <a:prstDash val="solid"/>
          </a:ln>
        </p:spPr>
      </p:sp>
      <p:sp>
        <p:nvSpPr>
          <p:cNvPr id="27" name="Text 24"/>
          <p:cNvSpPr txBox="1"/>
          <p:nvPr/>
        </p:nvSpPr>
        <p:spPr>
          <a:xfrm>
            <a:off x="6382512" y="1298448"/>
            <a:ext cx="5212080" cy="384048"/>
          </a:xfrm>
          <a:prstGeom prst="rect">
            <a:avLst/>
          </a:prstGeom>
          <a:noFill/>
          <a:ln/>
        </p:spPr>
        <p:txBody>
          <a:bodyPr wrap="square" lIns="0" tIns="0" rIns="0" bIns="0" rtlCol="0" anchor="ctr"/>
          <a:lstStyle/>
          <a:p>
            <a:pPr indent="0" marL="0">
              <a:buNone/>
            </a:pPr>
            <a:r>
              <a:rPr lang="en-US" sz="1250" b="1" dirty="0">
                <a:solidFill>
                  <a:srgbClr val="8DB3D1"/>
                </a:solidFill>
                <a:latin typeface="Arial" pitchFamily="34" charset="0"/>
                <a:ea typeface="Arial" pitchFamily="34" charset="-122"/>
                <a:cs typeface="Arial" pitchFamily="34" charset="-120"/>
              </a:rPr>
              <a:t>2b  </a:t>
            </a:r>
            <a:pPr indent="0" marL="0">
              <a:buNone/>
            </a:pPr>
            <a:r>
              <a:rPr lang="en-US" sz="1250" b="1" dirty="0">
                <a:solidFill>
                  <a:srgbClr val="FFFFFF"/>
                </a:solidFill>
                <a:latin typeface="Arial" pitchFamily="34" charset="0"/>
                <a:ea typeface="Arial" pitchFamily="34" charset="-122"/>
                <a:cs typeface="Arial" pitchFamily="34" charset="-120"/>
              </a:rPr>
              <a:t>Record volatility pays the coupon</a:t>
            </a:r>
            <a:endParaRPr lang="en-US" sz="1250" dirty="0"/>
          </a:p>
        </p:txBody>
      </p:sp>
      <p:graphicFrame>
        <p:nvGraphicFramePr>
          <p:cNvPr id="28" name="Chart 0" descr=""/>
          <p:cNvGraphicFramePr/>
          <p:nvPr/>
        </p:nvGraphicFramePr>
        <p:xfrm>
          <a:off x="6245352" y="1783080"/>
          <a:ext cx="3017520" cy="1874520"/>
        </p:xfrm>
        <a:graphic xmlns:a="http://schemas.openxmlformats.org/drawingml/2006/main">
          <a:graphicData uri="http://schemas.openxmlformats.org/drawingml/2006/chart">
            <c:chart xmlns:c="http://schemas.openxmlformats.org/drawingml/2006/chart" r:id="rId2"/>
          </a:graphicData>
        </a:graphic>
      </p:graphicFrame>
      <p:sp>
        <p:nvSpPr>
          <p:cNvPr id="29" name="Text 25"/>
          <p:cNvSpPr txBox="1"/>
          <p:nvPr/>
        </p:nvSpPr>
        <p:spPr>
          <a:xfrm>
            <a:off x="9400032" y="1828800"/>
            <a:ext cx="2331720" cy="1828800"/>
          </a:xfrm>
          <a:prstGeom prst="rect">
            <a:avLst/>
          </a:prstGeom>
          <a:noFill/>
          <a:ln/>
        </p:spPr>
        <p:txBody>
          <a:bodyPr wrap="square" lIns="0" tIns="0" rIns="0" bIns="0" rtlCol="0" anchor="t"/>
          <a:lstStyle/>
          <a:p>
            <a:pPr indent="0" marL="0">
              <a:spcAft>
                <a:spcPts val="200"/>
              </a:spcAft>
              <a:buNone/>
            </a:pPr>
            <a:r>
              <a:rPr lang="en-US" sz="950" b="1" dirty="0">
                <a:solidFill>
                  <a:srgbClr val="2C5F82"/>
                </a:solidFill>
                <a:latin typeface="Arial" pitchFamily="34" charset="0"/>
                <a:ea typeface="Arial" pitchFamily="34" charset="-122"/>
                <a:cs typeface="Arial" pitchFamily="34" charset="-120"/>
              </a:rPr>
              <a:t>Volatility is the client's to sell</a:t>
            </a:r>
            <a:endParaRPr lang="en-US" sz="950" dirty="0"/>
          </a:p>
          <a:p>
            <a:pPr indent="0" marL="0">
              <a:spcAft>
                <a:spcPts val="200"/>
              </a:spcAft>
              <a:buNone/>
            </a:pPr>
            <a:r>
              <a:rPr lang="en-US" sz="950" dirty="0">
                <a:solidFill>
                  <a:srgbClr val="262626"/>
                </a:solidFill>
                <a:latin typeface="Arial" pitchFamily="34" charset="0"/>
                <a:ea typeface="Arial" pitchFamily="34" charset="-122"/>
                <a:cs typeface="Arial" pitchFamily="34" charset="-120"/>
              </a:rPr>
              <a:t>In an autocall the client sells options on the basket; the higher the volatility, the more they are worth.</a:t>
            </a:r>
            <a:endParaRPr lang="en-US" sz="950" dirty="0"/>
          </a:p>
          <a:p>
            <a:pPr indent="0" marL="0">
              <a:spcAft>
                <a:spcPts val="200"/>
              </a:spcAft>
              <a:buNone/>
            </a:pPr>
            <a:r>
              <a:rPr lang="en-US" sz="950" b="1" dirty="0">
                <a:solidFill>
                  <a:srgbClr val="2C5F82"/>
                </a:solidFill>
                <a:latin typeface="Arial" pitchFamily="34" charset="0"/>
                <a:ea typeface="Arial" pitchFamily="34" charset="-122"/>
                <a:cs typeface="Arial" pitchFamily="34" charset="-120"/>
              </a:rPr>
              <a:t>High rates add to it</a:t>
            </a:r>
            <a:endParaRPr lang="en-US" sz="950" dirty="0"/>
          </a:p>
          <a:p>
            <a:pPr indent="0" marL="0">
              <a:spcAft>
                <a:spcPts val="200"/>
              </a:spcAft>
              <a:buNone/>
            </a:pPr>
            <a:r>
              <a:rPr lang="en-US" sz="950" dirty="0">
                <a:solidFill>
                  <a:srgbClr val="262626"/>
                </a:solidFill>
                <a:latin typeface="Arial" pitchFamily="34" charset="0"/>
                <a:ea typeface="Arial" pitchFamily="34" charset="-122"/>
                <a:cs typeface="Arial" pitchFamily="34" charset="-120"/>
              </a:rPr>
              <a:t>At 5.69% 5Y USD funding, the forward drift and discounting raise the coupon the note can pay.</a:t>
            </a:r>
            <a:endParaRPr lang="en-US" sz="950" dirty="0"/>
          </a:p>
        </p:txBody>
      </p:sp>
      <p:sp>
        <p:nvSpPr>
          <p:cNvPr id="30" name="Shape 26"/>
          <p:cNvSpPr/>
          <p:nvPr/>
        </p:nvSpPr>
        <p:spPr>
          <a:xfrm>
            <a:off x="6245352" y="3767328"/>
            <a:ext cx="5486400" cy="548640"/>
          </a:xfrm>
          <a:prstGeom prst="rect">
            <a:avLst/>
          </a:prstGeom>
          <a:solidFill>
            <a:srgbClr val="F2F2F2"/>
          </a:solidFill>
          <a:ln w="12700">
            <a:solidFill>
              <a:srgbClr val="F2F2F2"/>
            </a:solidFill>
            <a:prstDash val="solid"/>
          </a:ln>
        </p:spPr>
      </p:sp>
      <p:sp>
        <p:nvSpPr>
          <p:cNvPr id="31" name="Shape 27"/>
          <p:cNvSpPr/>
          <p:nvPr/>
        </p:nvSpPr>
        <p:spPr>
          <a:xfrm>
            <a:off x="6245352" y="3767328"/>
            <a:ext cx="64008" cy="548640"/>
          </a:xfrm>
          <a:prstGeom prst="rect">
            <a:avLst/>
          </a:prstGeom>
          <a:solidFill>
            <a:srgbClr val="B23B3B"/>
          </a:solidFill>
          <a:ln w="12700">
            <a:solidFill>
              <a:srgbClr val="B23B3B"/>
            </a:solidFill>
            <a:prstDash val="solid"/>
          </a:ln>
        </p:spPr>
      </p:sp>
      <p:sp>
        <p:nvSpPr>
          <p:cNvPr id="32" name="Text 28"/>
          <p:cNvSpPr txBox="1"/>
          <p:nvPr/>
        </p:nvSpPr>
        <p:spPr>
          <a:xfrm>
            <a:off x="6355080" y="3767328"/>
            <a:ext cx="1051560" cy="548640"/>
          </a:xfrm>
          <a:prstGeom prst="rect">
            <a:avLst/>
          </a:prstGeom>
          <a:noFill/>
          <a:ln/>
        </p:spPr>
        <p:txBody>
          <a:bodyPr wrap="square" lIns="0" tIns="0" rIns="0" bIns="0" rtlCol="0" anchor="ctr"/>
          <a:lstStyle/>
          <a:p>
            <a:pPr algn="ctr" indent="0" marL="0">
              <a:buNone/>
            </a:pPr>
            <a:r>
              <a:rPr lang="en-US" sz="1700" b="1" dirty="0">
                <a:solidFill>
                  <a:srgbClr val="B23B3B"/>
                </a:solidFill>
                <a:latin typeface="Arial" pitchFamily="34" charset="0"/>
                <a:ea typeface="Arial" pitchFamily="34" charset="-122"/>
                <a:cs typeface="Arial" pitchFamily="34" charset="-120"/>
              </a:rPr>
              <a:t>91.2</a:t>
            </a:r>
            <a:endParaRPr lang="en-US" sz="1700" dirty="0"/>
          </a:p>
        </p:txBody>
      </p:sp>
      <p:sp>
        <p:nvSpPr>
          <p:cNvPr id="33" name="Text 29"/>
          <p:cNvSpPr txBox="1"/>
          <p:nvPr/>
        </p:nvSpPr>
        <p:spPr>
          <a:xfrm>
            <a:off x="7479792" y="3767328"/>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Volatility is at records: </a:t>
            </a:r>
            <a:pPr indent="0" marL="0">
              <a:spcAft>
                <a:spcPts val="100"/>
              </a:spcAft>
              <a:buNone/>
            </a:pPr>
            <a:r>
              <a:rPr lang="en-US" sz="900" dirty="0">
                <a:solidFill>
                  <a:srgbClr val="595959"/>
                </a:solidFill>
                <a:latin typeface="Arial" pitchFamily="34" charset="0"/>
                <a:ea typeface="Arial" pitchFamily="34" charset="-122"/>
                <a:cs typeface="Arial" pitchFamily="34" charset="-120"/>
              </a:rPr>
              <a:t>VKOSPI closed at an all-time high of 91.2 (9 Jun 2026), above the 2008 peak.</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Rich option premium funds a coupon well above bonds</a:t>
            </a:r>
            <a:endParaRPr lang="en-US" sz="900" dirty="0"/>
          </a:p>
        </p:txBody>
      </p:sp>
      <p:sp>
        <p:nvSpPr>
          <p:cNvPr id="34" name="Shape 30"/>
          <p:cNvSpPr/>
          <p:nvPr/>
        </p:nvSpPr>
        <p:spPr>
          <a:xfrm>
            <a:off x="6245352" y="4370832"/>
            <a:ext cx="5486400" cy="548640"/>
          </a:xfrm>
          <a:prstGeom prst="rect">
            <a:avLst/>
          </a:prstGeom>
          <a:solidFill>
            <a:srgbClr val="FFFFFF"/>
          </a:solidFill>
          <a:ln w="12700">
            <a:solidFill>
              <a:srgbClr val="F2F2F2"/>
            </a:solidFill>
            <a:prstDash val="solid"/>
          </a:ln>
        </p:spPr>
      </p:sp>
      <p:sp>
        <p:nvSpPr>
          <p:cNvPr id="35" name="Shape 31"/>
          <p:cNvSpPr/>
          <p:nvPr/>
        </p:nvSpPr>
        <p:spPr>
          <a:xfrm>
            <a:off x="6245352" y="4370832"/>
            <a:ext cx="64008" cy="548640"/>
          </a:xfrm>
          <a:prstGeom prst="rect">
            <a:avLst/>
          </a:prstGeom>
          <a:solidFill>
            <a:srgbClr val="2C5F82"/>
          </a:solidFill>
          <a:ln w="12700">
            <a:solidFill>
              <a:srgbClr val="2C5F82"/>
            </a:solidFill>
            <a:prstDash val="solid"/>
          </a:ln>
        </p:spPr>
      </p:sp>
      <p:sp>
        <p:nvSpPr>
          <p:cNvPr id="36" name="Text 32"/>
          <p:cNvSpPr txBox="1"/>
          <p:nvPr/>
        </p:nvSpPr>
        <p:spPr>
          <a:xfrm>
            <a:off x="6355080" y="4370832"/>
            <a:ext cx="1051560" cy="548640"/>
          </a:xfrm>
          <a:prstGeom prst="rect">
            <a:avLst/>
          </a:prstGeom>
          <a:noFill/>
          <a:ln/>
        </p:spPr>
        <p:txBody>
          <a:bodyPr wrap="square" lIns="0" tIns="0" rIns="0" bIns="0" rtlCol="0" anchor="ctr"/>
          <a:lstStyle/>
          <a:p>
            <a:pPr algn="ctr" indent="0" marL="0">
              <a:buNone/>
            </a:pPr>
            <a:r>
              <a:rPr lang="en-US" sz="1700" b="1" dirty="0">
                <a:solidFill>
                  <a:srgbClr val="2C5F82"/>
                </a:solidFill>
                <a:latin typeface="Arial" pitchFamily="34" charset="0"/>
                <a:ea typeface="Arial" pitchFamily="34" charset="-122"/>
                <a:cs typeface="Arial" pitchFamily="34" charset="-120"/>
              </a:rPr>
              <a:t>13.75%</a:t>
            </a:r>
            <a:endParaRPr lang="en-US" sz="1700" dirty="0"/>
          </a:p>
        </p:txBody>
      </p:sp>
      <p:sp>
        <p:nvSpPr>
          <p:cNvPr id="37" name="Text 33"/>
          <p:cNvSpPr txBox="1"/>
          <p:nvPr/>
        </p:nvSpPr>
        <p:spPr>
          <a:xfrm>
            <a:off x="7479792" y="4370832"/>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Fair coupon a year: </a:t>
            </a:r>
            <a:pPr indent="0" marL="0">
              <a:spcAft>
                <a:spcPts val="100"/>
              </a:spcAft>
              <a:buNone/>
            </a:pPr>
            <a:r>
              <a:rPr lang="en-US" sz="900" dirty="0">
                <a:solidFill>
                  <a:srgbClr val="595959"/>
                </a:solidFill>
                <a:latin typeface="Arial" pitchFamily="34" charset="0"/>
                <a:ea typeface="Arial" pitchFamily="34" charset="-122"/>
                <a:cs typeface="Arial" pitchFamily="34" charset="-120"/>
              </a:rPr>
              <a:t>Monte Carlo value of the five-ETF annual step-down autocall at today's rates, vols and correlations.</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Natixis keeps 3.75% a year for structuring and hedging</a:t>
            </a:r>
            <a:endParaRPr lang="en-US" sz="900" dirty="0"/>
          </a:p>
        </p:txBody>
      </p:sp>
      <p:sp>
        <p:nvSpPr>
          <p:cNvPr id="38" name="Shape 34"/>
          <p:cNvSpPr/>
          <p:nvPr/>
        </p:nvSpPr>
        <p:spPr>
          <a:xfrm>
            <a:off x="6245352" y="4974336"/>
            <a:ext cx="5486400" cy="548640"/>
          </a:xfrm>
          <a:prstGeom prst="rect">
            <a:avLst/>
          </a:prstGeom>
          <a:solidFill>
            <a:srgbClr val="F2F2F2"/>
          </a:solidFill>
          <a:ln w="12700">
            <a:solidFill>
              <a:srgbClr val="F2F2F2"/>
            </a:solidFill>
            <a:prstDash val="solid"/>
          </a:ln>
        </p:spPr>
      </p:sp>
      <p:sp>
        <p:nvSpPr>
          <p:cNvPr id="39" name="Shape 35"/>
          <p:cNvSpPr/>
          <p:nvPr/>
        </p:nvSpPr>
        <p:spPr>
          <a:xfrm>
            <a:off x="6245352" y="4974336"/>
            <a:ext cx="64008" cy="548640"/>
          </a:xfrm>
          <a:prstGeom prst="rect">
            <a:avLst/>
          </a:prstGeom>
          <a:solidFill>
            <a:srgbClr val="2C5F82"/>
          </a:solidFill>
          <a:ln w="12700">
            <a:solidFill>
              <a:srgbClr val="2C5F82"/>
            </a:solidFill>
            <a:prstDash val="solid"/>
          </a:ln>
        </p:spPr>
      </p:sp>
      <p:sp>
        <p:nvSpPr>
          <p:cNvPr id="40" name="Text 36"/>
          <p:cNvSpPr txBox="1"/>
          <p:nvPr/>
        </p:nvSpPr>
        <p:spPr>
          <a:xfrm>
            <a:off x="6355080" y="4974336"/>
            <a:ext cx="1051560" cy="548640"/>
          </a:xfrm>
          <a:prstGeom prst="rect">
            <a:avLst/>
          </a:prstGeom>
          <a:noFill/>
          <a:ln/>
        </p:spPr>
        <p:txBody>
          <a:bodyPr wrap="square" lIns="0" tIns="0" rIns="0" bIns="0" rtlCol="0" anchor="ctr"/>
          <a:lstStyle/>
          <a:p>
            <a:pPr algn="ctr" indent="0" marL="0">
              <a:buNone/>
            </a:pPr>
            <a:r>
              <a:rPr lang="en-US" sz="1700" b="1" dirty="0">
                <a:solidFill>
                  <a:srgbClr val="2C5F82"/>
                </a:solidFill>
                <a:latin typeface="Arial" pitchFamily="34" charset="0"/>
                <a:ea typeface="Arial" pitchFamily="34" charset="-122"/>
                <a:cs typeface="Arial" pitchFamily="34" charset="-120"/>
              </a:rPr>
              <a:t>10%</a:t>
            </a:r>
            <a:endParaRPr lang="en-US" sz="1700" dirty="0"/>
          </a:p>
        </p:txBody>
      </p:sp>
      <p:sp>
        <p:nvSpPr>
          <p:cNvPr id="41" name="Text 37"/>
          <p:cNvSpPr txBox="1"/>
          <p:nvPr/>
        </p:nvSpPr>
        <p:spPr>
          <a:xfrm>
            <a:off x="7479792" y="4974336"/>
            <a:ext cx="4160520" cy="548640"/>
          </a:xfrm>
          <a:prstGeom prst="rect">
            <a:avLst/>
          </a:prstGeom>
          <a:noFill/>
          <a:ln/>
        </p:spPr>
        <p:txBody>
          <a:bodyPr wrap="square" lIns="0" tIns="0" rIns="0" bIns="0" rtlCol="0" anchor="ctr"/>
          <a:lstStyle/>
          <a:p>
            <a:pPr indent="0" marL="0">
              <a:spcAft>
                <a:spcPts val="100"/>
              </a:spcAft>
              <a:buNone/>
            </a:pPr>
            <a:r>
              <a:rPr lang="en-US" sz="900" b="1" dirty="0">
                <a:solidFill>
                  <a:srgbClr val="262626"/>
                </a:solidFill>
                <a:latin typeface="Arial" pitchFamily="34" charset="0"/>
                <a:ea typeface="Arial" pitchFamily="34" charset="-122"/>
                <a:cs typeface="Arial" pitchFamily="34" charset="-120"/>
              </a:rPr>
              <a:t>Client coupon a year: </a:t>
            </a:r>
            <a:pPr indent="0" marL="0">
              <a:spcAft>
                <a:spcPts val="100"/>
              </a:spcAft>
              <a:buNone/>
            </a:pPr>
            <a:r>
              <a:rPr lang="en-US" sz="900" dirty="0">
                <a:solidFill>
                  <a:srgbClr val="595959"/>
                </a:solidFill>
                <a:latin typeface="Arial" pitchFamily="34" charset="0"/>
                <a:ea typeface="Arial" pitchFamily="34" charset="-122"/>
                <a:cs typeface="Arial" pitchFamily="34" charset="-120"/>
              </a:rPr>
              <a:t>Paid when the basket is at or above the call level (102.5% in year 1, stepping down to 92.5% in year 5).</a:t>
            </a:r>
            <a:endParaRPr lang="en-US" sz="900" dirty="0"/>
          </a:p>
          <a:p>
            <a:pPr indent="0" marL="0">
              <a:spcAft>
                <a:spcPts val="100"/>
              </a:spcAft>
              <a:buNone/>
            </a:pPr>
            <a:r>
              <a:rPr lang="en-US" sz="900" b="1" dirty="0">
                <a:solidFill>
                  <a:srgbClr val="2C5F82"/>
                </a:solidFill>
                <a:latin typeface="Arial" pitchFamily="34" charset="0"/>
                <a:ea typeface="Arial" pitchFamily="34" charset="-122"/>
                <a:cs typeface="Arial" pitchFamily="34" charset="-120"/>
              </a:rPr>
              <a:t>→ Coupons pay while the market swings; 70% barrier checked at maturity only</a:t>
            </a:r>
            <a:endParaRPr lang="en-US" sz="900" dirty="0"/>
          </a:p>
        </p:txBody>
      </p:sp>
      <p:sp>
        <p:nvSpPr>
          <p:cNvPr id="42" name="Shape 38"/>
          <p:cNvSpPr/>
          <p:nvPr/>
        </p:nvSpPr>
        <p:spPr>
          <a:xfrm>
            <a:off x="457200" y="5577840"/>
            <a:ext cx="11274552" cy="420624"/>
          </a:xfrm>
          <a:prstGeom prst="rect">
            <a:avLst/>
          </a:prstGeom>
          <a:solidFill>
            <a:srgbClr val="2C5F82"/>
          </a:solidFill>
          <a:ln w="12700">
            <a:solidFill>
              <a:srgbClr val="2C5F82"/>
            </a:solidFill>
            <a:prstDash val="solid"/>
          </a:ln>
        </p:spPr>
      </p:sp>
      <p:sp>
        <p:nvSpPr>
          <p:cNvPr id="43" name="Text 39"/>
          <p:cNvSpPr txBox="1"/>
          <p:nvPr/>
        </p:nvSpPr>
        <p:spPr>
          <a:xfrm>
            <a:off x="594360" y="5577840"/>
            <a:ext cx="11000232" cy="420624"/>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Rates and volatility make the option the client sells valuable: we turn it into a 10% coupon on Asia's AI hardware.</a:t>
            </a:r>
            <a:endParaRPr lang="en-US" sz="1150" dirty="0"/>
          </a:p>
        </p:txBody>
      </p:sp>
      <p:sp>
        <p:nvSpPr>
          <p:cNvPr id="44" name="Text 40"/>
          <p:cNvSpPr txBox="1"/>
          <p:nvPr/>
        </p:nvSpPr>
        <p:spPr>
          <a:xfrm>
            <a:off x="457200" y="6053328"/>
            <a:ext cx="11274552" cy="292608"/>
          </a:xfrm>
          <a:prstGeom prst="rect">
            <a:avLst/>
          </a:prstGeom>
          <a:noFill/>
          <a:ln/>
        </p:spPr>
        <p:txBody>
          <a:bodyPr wrap="square" lIns="0" tIns="0" rIns="0" bIns="0" rtlCol="0" anchor="t"/>
          <a:lstStyle/>
          <a:p>
            <a:pPr indent="0" marL="0">
              <a:buNone/>
            </a:pPr>
            <a:r>
              <a:rPr lang="en-US" sz="750" i="1" dirty="0">
                <a:solidFill>
                  <a:srgbClr val="595959"/>
                </a:solidFill>
                <a:latin typeface="Arial" pitchFamily="34" charset="0"/>
                <a:ea typeface="Arial" pitchFamily="34" charset="-122"/>
                <a:cs typeface="Arial" pitchFamily="34" charset="-120"/>
              </a:rPr>
              <a:t>Sources: Federal Reserve SEP (16 Sep 2026, dots read from chart); Federal Reserve via Advisor Perspectives; fed funds futures; Herald / SBS (VKOSPI); case USD funding grid (5Y 5.69%); standard bond maths; team Monte Carlo pricing (Appendix E: fair coupon 13.752219%).</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on two pages</dc:title>
  <dc:subject>PptxGenJS Presentation</dc:subject>
  <dc:creator>PptxGenJS</dc:creator>
  <cp:lastModifiedBy>PptxGenJS</cp:lastModifiedBy>
  <cp:revision>1</cp:revision>
  <dcterms:created xsi:type="dcterms:W3CDTF">2026-10-09T16:27:05Z</dcterms:created>
  <dcterms:modified xsi:type="dcterms:W3CDTF">2026-10-09T16:27:05Z</dcterms:modified>
</cp:coreProperties>
</file>