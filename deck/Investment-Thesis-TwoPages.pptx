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Arial"/>
              </a:defRPr>
            </a:pPr>
            <a:r>
              <a:rPr sz="950" b="0" i="0" u="none" strike="noStrike">
                <a:solidFill>
                  <a:srgbClr val="262626"/>
                </a:solidFill>
                <a:latin typeface="Arial"/>
              </a:rPr>
              <a:t>Global chip market, US$bn (WSTS)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Chip market</c:v>
                </c:pt>
              </c:strCache>
            </c:strRef>
          </c:tx>
          <c:spPr>
            <a:solidFill>
              <a:srgbClr val="2C5F82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B3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B3D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2026F</c:v>
                  </c:pt>
                  <c:pt idx="3">
                    <c:v>2027F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630</c:v>
                </c:pt>
                <c:pt idx="1">
                  <c:v>795.6</c:v>
                </c:pt>
                <c:pt idx="2">
                  <c:v>1510</c:v>
                </c:pt>
                <c:pt idx="3">
                  <c:v>1900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8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Arial"/>
              </a:defRPr>
            </a:pPr>
            <a:r>
              <a:rPr sz="950" b="0" i="0" u="none" strike="noStrike">
                <a:solidFill>
                  <a:srgbClr val="262626"/>
                </a:solidFill>
                <a:latin typeface="Arial"/>
              </a:rPr>
              <a:t>Index level, end-2021 = 100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TAIEX</c:v>
                </c:pt>
              </c:strCache>
            </c:strRef>
          </c:tx>
          <c:spPr>
            <a:solidFill>
              <a:srgbClr val="2C5F82"/>
            </a:solidFill>
            <a:ln w="25400" cap="flat">
              <a:solidFill>
                <a:srgbClr val="2C5F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2C5F82"/>
              </a:solidFill>
              <a:ln w="9525" cap="flat">
                <a:solidFill>
                  <a:srgbClr val="2C5F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YE2021</c:v>
                  </c:pt>
                  <c:pt idx="1">
                    <c:v>YE2022</c:v>
                  </c:pt>
                  <c:pt idx="2">
                    <c:v>YE2023</c:v>
                  </c:pt>
                  <c:pt idx="3">
                    <c:v>YE2024</c:v>
                  </c:pt>
                  <c:pt idx="4">
                    <c:v>YE2025</c:v>
                  </c:pt>
                  <c:pt idx="5">
                    <c:v>Jun-26 peak</c:v>
                  </c:pt>
                  <c:pt idx="6">
                    <c:v>Latest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77.6</c:v>
                </c:pt>
                <c:pt idx="2">
                  <c:v>98.4</c:v>
                </c:pt>
                <c:pt idx="3">
                  <c:v>126.4</c:v>
                </c:pt>
                <c:pt idx="4">
                  <c:v>159</c:v>
                </c:pt>
                <c:pt idx="5">
                  <c:v>262.1</c:v>
                </c:pt>
                <c:pt idx="6">
                  <c:v>266.1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KOSPI</c:v>
                </c:pt>
              </c:strCache>
            </c:strRef>
          </c:tx>
          <c:spPr>
            <a:solidFill>
              <a:srgbClr val="B23B3B"/>
            </a:solidFill>
            <a:ln w="25400" cap="flat">
              <a:solidFill>
                <a:srgbClr val="B2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B23B3B"/>
              </a:solidFill>
              <a:ln w="9525" cap="flat">
                <a:solidFill>
                  <a:srgbClr val="B2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YE2021</c:v>
                  </c:pt>
                  <c:pt idx="1">
                    <c:v>YE2022</c:v>
                  </c:pt>
                  <c:pt idx="2">
                    <c:v>YE2023</c:v>
                  </c:pt>
                  <c:pt idx="3">
                    <c:v>YE2024</c:v>
                  </c:pt>
                  <c:pt idx="4">
                    <c:v>YE2025</c:v>
                  </c:pt>
                  <c:pt idx="5">
                    <c:v>Jun-26 peak</c:v>
                  </c:pt>
                  <c:pt idx="6">
                    <c:v>Latest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100</c:v>
                </c:pt>
                <c:pt idx="1">
                  <c:v>75.1</c:v>
                </c:pt>
                <c:pt idx="2">
                  <c:v>89.2</c:v>
                </c:pt>
                <c:pt idx="3">
                  <c:v>80.6</c:v>
                </c:pt>
                <c:pt idx="4">
                  <c:v>141.5</c:v>
                </c:pt>
                <c:pt idx="5">
                  <c:v>302.3</c:v>
                </c:pt>
                <c:pt idx="6">
                  <c:v>237.8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Nikkei 225</c:v>
                </c:pt>
              </c:strCache>
            </c:strRef>
          </c:tx>
          <c:spPr>
            <a:solidFill>
              <a:srgbClr val="A6A6A6"/>
            </a:solidFill>
            <a:ln w="25400" cap="flat">
              <a:solidFill>
                <a:srgbClr val="A6A6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A6A6A6"/>
              </a:solidFill>
              <a:ln w="9525" cap="flat">
                <a:solidFill>
                  <a:srgbClr val="A6A6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YE2021</c:v>
                  </c:pt>
                  <c:pt idx="1">
                    <c:v>YE2022</c:v>
                  </c:pt>
                  <c:pt idx="2">
                    <c:v>YE2023</c:v>
                  </c:pt>
                  <c:pt idx="3">
                    <c:v>YE2024</c:v>
                  </c:pt>
                  <c:pt idx="4">
                    <c:v>YE2025</c:v>
                  </c:pt>
                  <c:pt idx="5">
                    <c:v>Jun-26 peak</c:v>
                  </c:pt>
                  <c:pt idx="6">
                    <c:v>Latest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100</c:v>
                </c:pt>
                <c:pt idx="1">
                  <c:v>90.6</c:v>
                </c:pt>
                <c:pt idx="2">
                  <c:v>116.2</c:v>
                </c:pt>
                <c:pt idx="3">
                  <c:v>138.6</c:v>
                </c:pt>
                <c:pt idx="4">
                  <c:v>174.8</c:v>
                </c:pt>
                <c:pt idx="5">
                  <c:v>231</c:v>
                </c:pt>
                <c:pt idx="6">
                  <c:v>222.8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5"/>
          <c:min val="50"/>
        </c:scaling>
        <c:delete val="0"/>
        <c:axPos val="l"/>
        <c:majorGridlines>
          <c:spPr>
            <a:ln w="6350" cap="flat">
              <a:solidFill>
                <a:srgbClr val="E3E3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5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Arial"/>
              </a:defRPr>
            </a:pPr>
            <a:r>
              <a:rPr sz="950" b="0" i="0" u="none" strike="noStrike">
                <a:solidFill>
                  <a:srgbClr val="262626"/>
                </a:solidFill>
                <a:latin typeface="Arial"/>
              </a:rPr>
              <a:t>5Y USD bond price change vs rate move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5Y USD bond</c:v>
                </c:pt>
              </c:strCache>
            </c:strRef>
          </c:tx>
          <c:spPr>
            <a:solidFill>
              <a:srgbClr val="2C5F82"/>
            </a:solidFill>
            <a:effectLst/>
          </c:spPr>
          <c:invertIfNegative val="0"/>
          <c:dLbls>
            <c:numFmt formatCode="+0.0&quot;%&quot;;−0.0&quot;%&quot;;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−2%</c:v>
                  </c:pt>
                  <c:pt idx="1">
                    <c:v>−1%</c:v>
                  </c:pt>
                  <c:pt idx="2">
                    <c:v>0</c:v>
                  </c:pt>
                  <c:pt idx="3">
                    <c:v>+1%</c:v>
                  </c:pt>
                  <c:pt idx="4">
                    <c:v>+2%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9.1</c:v>
                </c:pt>
                <c:pt idx="1">
                  <c:v>4.5</c:v>
                </c:pt>
                <c:pt idx="2">
                  <c:v>0</c:v>
                </c:pt>
                <c:pt idx="3">
                  <c:v>-4</c:v>
                </c:pt>
                <c:pt idx="4">
                  <c:v>-7.9</c:v>
                </c:pt>
              </c:numCache>
            </c:numRef>
          </c:val>
        </c:ser>
        <c:dLbls>
          <c:numFmt formatCode="+0.0&quot;%&quot;;−0.0&quot;%&quot;;0" sourceLinked="0"/>
          <c:txPr>
            <a:bodyPr/>
            <a:lstStyle/>
            <a:p>
              <a:pPr>
                <a:defRPr b="0" i="0" strike="noStrike" sz="8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-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1, the theme. AI spending is a hardware boom and Asia holds the three bottlenecks: Taiwan's foundries, Korea's high-bandwidth memory, Japan's chip-making tools. The demand is structural, but the memory cycle is maturing and the indices that hold the theme move violently: KOSPI lost about a quarter between June and August. Returns are concentrated in a few names and valuations are full.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2, the backdrop. The Fed's dot plot keeps the median at 4.125% to end-2027 with cuts only from 2028; it has just hiked and futures price more. Yields are high, but a long bond loses about 4.0% per 1% rise, so duration is a risk. Asian equity volatility is at records: VKOSPI hit 91.2 and KOSPI fell nearly 9% in one day. Both bonds and buy-and-hold carry more risk than usual.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1: Asia controls AI's hardware bottlenecks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509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theme: structural demand for Asian chips, memory and tools, traded in markets that are concentrated, fully priced and violent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1a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structural, and it runs through Asia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783080"/>
          <a:ext cx="25603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3154680" y="18288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structural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capex ~US$725bn in 2026 (+77%); the chip market nearly doubles to ~US$1.5trn.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runs through Asia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the world's 10 largest companies depend on TSMC (J.P. Morgan).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the cycle is maturing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 price gains slowing: +48% in Q2, ~+13% expected in Q4 2026.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767328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767328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3767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 makes the chips: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TSMC's share of global foundry revenue; TSMC is &gt;40% of TAIEX.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Taiwan is the single largest AI chokepoint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4370832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370832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43708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691640" y="4370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makes the memory: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 hynix + Samsung share of HBM, the memory every AI accelerator needs.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 AI accelerator ships without Korean memory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974336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4974336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497433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691640" y="49743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makes the tools: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Advantest's share of chip test equipment; with Tokyo Electron ≈ 20% of the Nikkei.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Every new fab needs Japanese tools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45352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82512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strong theme on a violent path</a:t>
            </a:r>
            <a:endParaRPr lang="en-US" sz="125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6245352" y="1783080"/>
          <a:ext cx="329184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9674352" y="18288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structural…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TAIEX and KOSPI are 2–3× their end-2022 levels on AI demand.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the path is violent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10–25% in 2022; records in June 2026, then sharp falls within weeks.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245352" y="3767328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45352" y="3767328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55080" y="3767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−25%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7479792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trips happen fast: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KOSPI went from 9,000+ in June to 6,789 on 28 Aug 2026, in about ten weeks.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Entry timing is hard; drawdowns are deep and quick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245352" y="4370832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45352" y="4370832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55080" y="43708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7479792" y="4370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hinge on a few names: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&gt;40% of TAIEX; Samsung + SK hynix ~48% of KOSPI; ~92% of advanced chips from Taiwan.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Single-name risk is high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245352" y="4974336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245352" y="4974336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355080" y="497433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38.6×</a:t>
            </a:r>
            <a:endParaRPr lang="en-US" sz="1700" dirty="0"/>
          </a:p>
        </p:txBody>
      </p:sp>
      <p:sp>
        <p:nvSpPr>
          <p:cNvPr id="41" name="Text 37"/>
          <p:cNvSpPr txBox="1"/>
          <p:nvPr/>
        </p:nvSpPr>
        <p:spPr>
          <a:xfrm>
            <a:off x="7479792" y="49743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Valuations price in a lot: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Nikkei CAPE 38.6×; Taiwan among the most expensive markets; DRAM gains slowing.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Upside from here is less certain than the theme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57200" y="5577840"/>
            <a:ext cx="11274552" cy="42062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94360" y="5577840"/>
            <a:ext cx="1100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Whichever AI company wins, it needs Asia's chips, memory and tools, but the path to owning them is violent.</a:t>
            </a:r>
            <a:endParaRPr lang="en-US" sz="1150" dirty="0"/>
          </a:p>
        </p:txBody>
      </p:sp>
      <p:sp>
        <p:nvSpPr>
          <p:cNvPr id="44" name="Text 40"/>
          <p:cNvSpPr txBox="1"/>
          <p:nvPr/>
        </p:nvSpPr>
        <p:spPr>
          <a:xfrm>
            <a:off x="457200" y="605332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WSTS; company capex guidance; Counterpoint (foundry, HBM); TrendForce (DRAM); industry research (test equipment); J.P. Morgan AWM 2026 Outlook; TWSE, KRX, Nikkei (index levels); FN News, BIT Research (KOSPI); Siblis (CAPE). Full list: deck/thesis_sources.md.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 2: Rates stay high and volatility is at records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509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backdrop for the next five years: the Fed holds rates high, bonds carry rate risk, and Asian equities swing harder than ever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 holds rates high for longer</a:t>
            </a:r>
            <a:endParaRPr lang="en-US" sz="1250" dirty="0"/>
          </a:p>
        </p:txBody>
      </p:sp>
      <p:pic>
        <p:nvPicPr>
          <p:cNvPr id="12" name="Image 0" descr="/home/user/natixis-case-comp/deck/fomc_dot_plot_co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755648"/>
            <a:ext cx="5074920" cy="179478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3568725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FOMC dot plot, 16 Sep 2026 (shaded: today's 3.75–4.00%). Dots read from the Fed's chart.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57200" y="3767328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767328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3767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4.125%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FOMC median to end-2027, cuts deferred to 2028: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of 18 dots at 4.125% for 2026; 4.375% seen by 4 for 2026 and 8 for 2027.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Rate risk is structural, not a one-off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4370832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370832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43708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+0.25%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691640" y="4370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 is hiking again: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Sep 2026: to 3.75–4.00%, the first hike since 2023.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easing cycle is over for now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4974336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4974336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497433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~87%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1691640" y="49743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price more: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of at least one further hike priced by fed funds futures.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Risk to rates is still to the upside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45352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82512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Bonds carry rate risk, equities swing hard</a:t>
            </a:r>
            <a:endParaRPr lang="en-US" sz="12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245352" y="1783080"/>
          <a:ext cx="301752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9400032" y="182880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Yields are high…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5Y USD at 5.69%: high income on offer.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prices are exposed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hikes back on the table, a fixed rate locked in today loses value if rates rise further.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245352" y="3767328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245352" y="3767328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355080" y="3767328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−4.0%</a:t>
            </a:r>
            <a:endParaRPr lang="en-US" sz="1700" dirty="0"/>
          </a:p>
        </p:txBody>
      </p:sp>
      <p:sp>
        <p:nvSpPr>
          <p:cNvPr id="33" name="Text 29"/>
          <p:cNvSpPr txBox="1"/>
          <p:nvPr/>
        </p:nvSpPr>
        <p:spPr>
          <a:xfrm>
            <a:off x="7479792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bonds carry rate risk: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5-year bond loses ~4.0% per 1% rise in rates.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Duration is a risk, not a hedge, in this cycle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245352" y="4370832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45352" y="4370832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6355080" y="437083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</a:t>
            </a:r>
            <a:endParaRPr lang="en-US" sz="1700" dirty="0"/>
          </a:p>
        </p:txBody>
      </p:sp>
      <p:sp>
        <p:nvSpPr>
          <p:cNvPr id="37" name="Text 33"/>
          <p:cNvSpPr txBox="1"/>
          <p:nvPr/>
        </p:nvSpPr>
        <p:spPr>
          <a:xfrm>
            <a:off x="7479792" y="437083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is at records: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VKOSPI closed at an all-time high of 91.2 (9 Jun 2026), above the 2008 peak.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Option-implied risk in Asian equities is extreme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6245352" y="4974336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245352" y="4974336"/>
            <a:ext cx="64008" cy="548640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6355080" y="497433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−8.95%</a:t>
            </a:r>
            <a:endParaRPr lang="en-US" sz="1700" dirty="0"/>
          </a:p>
        </p:txBody>
      </p:sp>
      <p:sp>
        <p:nvSpPr>
          <p:cNvPr id="41" name="Text 37"/>
          <p:cNvSpPr txBox="1"/>
          <p:nvPr/>
        </p:nvSpPr>
        <p:spPr>
          <a:xfrm>
            <a:off x="7479792" y="497433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days move markets: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KOSPI's one-day fall on 13 Jul 2026; J.P. Morgan expects a 10–15% correction in 2026.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Buy-and-hold must sit through deep drawdowns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457200" y="5577840"/>
            <a:ext cx="11274552" cy="420624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594360" y="5577840"/>
            <a:ext cx="11000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stay high for longer and Asian equity volatility is at records: neither bonds nor buy-and-hold are a comfortable place to sit.</a:t>
            </a:r>
            <a:endParaRPr lang="en-US" sz="1150" dirty="0"/>
          </a:p>
        </p:txBody>
      </p:sp>
      <p:sp>
        <p:nvSpPr>
          <p:cNvPr id="44" name="Text 40"/>
          <p:cNvSpPr txBox="1"/>
          <p:nvPr/>
        </p:nvSpPr>
        <p:spPr>
          <a:xfrm>
            <a:off x="457200" y="6053328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Federal Reserve SEP (16 Sep 2026, dots read from chart); Federal Reserve via Advisor Perspectives; fed funds futures; case USD funding grid (5Y 5.69%); standard bond maths; Herald / SBS (VKOSPI); FN News, BIT Research (KOSPI); J.P. Morgan AWM 2026 Outlook.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thesis on two pages</dc:title>
  <dc:subject>PptxGenJS Presentation</dc:subject>
  <dc:creator>PptxGenJS</dc:creator>
  <cp:lastModifiedBy>PptxGenJS</cp:lastModifiedBy>
  <cp:revision>1</cp:revision>
  <dcterms:created xsi:type="dcterms:W3CDTF">2026-10-09T16:32:03Z</dcterms:created>
  <dcterms:modified xsi:type="dcterms:W3CDTF">2026-10-09T16:32:03Z</dcterms:modified>
</cp:coreProperties>
</file>