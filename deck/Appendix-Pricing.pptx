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we priced the note. A: annual rates from the case grid are turned into continuous rates and discount factors. B: we simulate each ETF one year at a time with correlated geometric Brownian motion, using the implied-volatility term structure through interval variances and the correlation matrix through its Cholesky factor. C: the basket is the weighted sum of the five ETFs; the note is called at the first year the basket reaches that year's barrier, which steps down from 102.5% to 92.5%. D: if never called, the family gets 100% back unless the basket is below 70% at Year 5. E: the fair coupon is the value of y that makes the expected discounted payoff equal 1. Result: 13.752219% with a standard error of 2.236 basis points. We pay the client a 10% coupon and collect the remaining 3.752219%.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inputs to the simulation. Term structure: the case USD grid, with Year 4 interpolated between 3 and 5 years, converted to continuous rates and discount factors. Correlations: pairwise correlations between the five ETFs. Implied volatilities: a term structure for each ETF over five years. Interval variances: the variance used for each one-year step in the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E: how we priced the note, and why the fair coupon is 13.75%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2C5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926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 simulation of the five-ETF basket (1,000,000 paths); the fair coupon makes the note worth exactly its issue price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77656" y="6364224"/>
            <a:ext cx="2514600" cy="457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2901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7315200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499616"/>
            <a:ext cx="402336" cy="402336"/>
          </a:xfrm>
          <a:prstGeom prst="ellipse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499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137160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structure &amp; discount factors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rates are converted to continuous rates; each cash flow is discounted at its own tenor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13807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ln(1 + R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   (1)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170078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exp(−r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t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   (2)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7315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322576"/>
            <a:ext cx="402336" cy="402336"/>
          </a:xfrm>
          <a:prstGeom prst="ellipse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322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1945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paths (correlated geometric Brownian motion)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ETF moves one year at a time with its own interval variance ΔV; shocks are correlated through the Cholesky factor L of ρ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22037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i,j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X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i,j−1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exp( (r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− q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i,j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− ½ΔV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i,j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+ √ΔV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i,j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Z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i,j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)     (3)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25237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 = ε · L</a:t>
            </a:r>
            <a:pPr indent="0" marL="0">
              <a:buNone/>
            </a:pPr>
            <a:r>
              <a:rPr lang="en-US" sz="1200" baseline="3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  ρ = L · L</a:t>
            </a:r>
            <a:pPr indent="0" marL="0">
              <a:buNone/>
            </a:pPr>
            <a:r>
              <a:rPr lang="en-US" sz="1200" baseline="3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(4)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7315200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145536"/>
            <a:ext cx="402336" cy="402336"/>
          </a:xfrm>
          <a:prstGeom prst="ellipse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145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0175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Basket &amp; autocall trigger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basket is the weighted sum of normalised ETF prices; the note ends at the first year it reaches that year's barrier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30266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Σ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i=1..5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w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X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i,j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(5)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33467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call at first k with  B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≥ H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(6)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7315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968496"/>
            <a:ext cx="402336" cy="402336"/>
          </a:xfrm>
          <a:prstGeom prst="ellipse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38404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payout (never called)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70% barrier observed only at Year 5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384962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1.0  if B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≥ 0.70;   R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B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if B</a:t>
            </a:r>
            <a:pPr indent="0" marL="0">
              <a:buNone/>
            </a:pPr>
            <a:r>
              <a:rPr lang="en-US" sz="1200" baseline="-400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&lt; 0.70     (7)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7315200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791456"/>
            <a:ext cx="402336" cy="402336"/>
          </a:xfrm>
          <a:prstGeom prst="ellipse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4791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46634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coupon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discounted principal repaid, b = discounted years of coupon (Case A: no coupon on never-called paths)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206240" y="467258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1.0 = E[a + y · b]     (8)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206240" y="499262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(1.0 − E[a]) / E[b]     (9)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001000" y="1325880"/>
            <a:ext cx="3730752" cy="310896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92440" y="1325880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priced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1664208"/>
          <a:ext cx="37307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4963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Basket weights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3119.HK 35% · EWY 20% · EWT 15% · 2644.T 15% · 00878.TW 15%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Autocall barrier 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Y1 102.5% · Y2 100% · Y3 97.5% · Y4 95% · Y5 92.5%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Called in year 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× (1 + k × 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called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R₅ as in (7)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1,000,000 paths, annual steps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2" name="Shape 39"/>
          <p:cNvSpPr/>
          <p:nvPr/>
        </p:nvSpPr>
        <p:spPr>
          <a:xfrm>
            <a:off x="8001000" y="3429000"/>
            <a:ext cx="3730752" cy="310896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092440" y="3429000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results (Case A)</a:t>
            </a:r>
            <a:endParaRPr lang="en-US" sz="11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3767328"/>
          <a:ext cx="37307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5915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Fair coupon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13.752219%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error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2.236 bp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Approx. 95% CI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[13.708396%, 13.796041%]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1"/>
          <p:cNvSpPr/>
          <p:nvPr/>
        </p:nvSpPr>
        <p:spPr>
          <a:xfrm>
            <a:off x="8001000" y="4846320"/>
            <a:ext cx="3730752" cy="621792"/>
          </a:xfrm>
          <a:prstGeom prst="rect">
            <a:avLst/>
          </a:prstGeom>
          <a:solidFill>
            <a:srgbClr val="E8EFF5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8092440" y="484632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13.752219% = </a:t>
            </a:r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coupon to the client + 3.752219% kept by Natixis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594360" y="55778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collecting 3.752219% from the customer and give them a 10% coupon</a:t>
            </a:r>
            <a:endParaRPr lang="en-US" sz="1300" dirty="0"/>
          </a:p>
        </p:txBody>
      </p:sp>
      <p:sp>
        <p:nvSpPr>
          <p:cNvPr id="49" name="Text 45"/>
          <p:cNvSpPr txBox="1"/>
          <p:nvPr/>
        </p:nvSpPr>
        <p:spPr>
          <a:xfrm>
            <a:off x="457200" y="60899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team write-up 'Derivation of Fair Coupon Rate for Autocallable Structured Product' (8 Oct 2026), sections 2–3. Excludes issuer credit, fees and hedging costs.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F: pricing inputs, grids and matrices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2C5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926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input used in the Monte Carlo simulation (team write-up, section 4)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77656" y="6364224"/>
            <a:ext cx="2514600" cy="457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2901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5486400" cy="310896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3258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 Term structure of interest rates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5486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34440"/>
                <a:gridCol w="178308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(t)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Risk-free rate (R)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 rate r = ln(1 + 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Discount factor (D)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4.671%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0.9544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5.166%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5.375%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0.8466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(interpolated)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5.605%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0.7981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5.534%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245352" y="1325880"/>
            <a:ext cx="5486400" cy="310896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36792" y="13258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 Correlation matrix (ρ)</a:t>
            </a:r>
            <a:endParaRPr lang="en-US" sz="11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45920"/>
          <a:ext cx="54864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3119.HK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2644.T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00878.TW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3119.HK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2644.T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00878.TW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457200" y="3520440"/>
            <a:ext cx="5486400" cy="310896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35204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 Implied volatility grid (σ), annualised</a:t>
            </a:r>
            <a:endParaRPr lang="en-US" sz="110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54864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/ Year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3119.HK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30.45%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32.34%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33.50%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36.70%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37.50%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41.50%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42.70%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44.50%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44.50%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44.50%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32.40%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35.80%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36.30%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36.30%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36.30%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2644.T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25.60%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25.60%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25.90%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00878.TW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6245352" y="3520440"/>
            <a:ext cx="5486400" cy="310896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36792" y="35204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 Interval variances (ΔV), drive each year's diffusion step</a:t>
            </a:r>
            <a:endParaRPr lang="en-US" sz="1100" dirty="0"/>
          </a:p>
        </p:txBody>
      </p:sp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40480"/>
          <a:ext cx="54864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/ Interval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3119.HK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0.1177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0.1633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0.1744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0.1868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0.2078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0.2078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0.2078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0.1384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0.1384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0.1406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2644.T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0.0529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0.0655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0.0655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0.0689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00878.TW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0.0049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0.0081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6"/>
          <p:cNvSpPr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94360" y="55778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Basket weights 3119.HK 35% · EWY 20% · EWT 15% · 2644.T 15% · 00878.TW 15%   |   Autocall barriers 102.5% / 100% / 97.5% / 95% / 92.5%   |   Maturity barrier 70%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0899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team write-up, section 4. Rates: case USD funding grid (Year 4 interpolated). Correlation matrix checked positive definite before the Cholesky decomposition.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Appendix: pricing the fair coupon</dc:title>
  <dc:subject>PptxGenJS Presentation</dc:subject>
  <dc:creator>PptxGenJS</dc:creator>
  <cp:lastModifiedBy>PptxGenJS</cp:lastModifiedBy>
  <cp:revision>1</cp:revision>
  <dcterms:created xsi:type="dcterms:W3CDTF">2026-10-09T07:57:13Z</dcterms:created>
  <dcterms:modified xsi:type="dcterms:W3CDTF">2026-10-09T07:57:13Z</dcterms:modified>
</cp:coreProperties>
</file>