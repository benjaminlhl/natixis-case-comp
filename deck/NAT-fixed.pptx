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dia/image12.svg" ContentType="image/svg+xml"/>
  <Override PartName="/ppt/media/image1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85" r:id="rId5"/>
    <p:sldId id="286" r:id="rId6"/>
    <p:sldId id="281" r:id="rId7"/>
    <p:sldId id="280" r:id="rId8"/>
    <p:sldId id="267" r:id="rId9"/>
    <p:sldId id="284" r:id="rId10"/>
    <p:sldId id="272" r:id="rId11"/>
    <p:sldId id="273" r:id="rId12"/>
    <p:sldId id="274" r:id="rId13"/>
    <p:sldId id="275" r:id="rId14"/>
    <p:sldId id="276" r:id="rId15"/>
    <p:sldId id="279" r:id="rId16"/>
    <p:sldId id="278" r:id="rId17"/>
    <p:sldId id="28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7899"/>
    <a:srgbClr val="499AC5"/>
    <a:srgbClr val="93C4D5"/>
    <a:srgbClr val="E3E8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88" dt="2026-10-09T10:45:36.674"/>
    <p1510:client id="{30D345CF-1C58-4C3E-3134-563CB7C8644B}" v="937" dt="2026-10-09T16:36:29.347"/>
    <p1510:client id="{37A4172D-72D8-7D4F-B3D7-4371E159EDF4}" v="660" dt="2026-10-09T16:50:52.245"/>
    <p1510:client id="{C8CF1BC7-B0BF-B216-F450-24A8CCECC1F5}" v="154" dt="2026-10-09T16:46:19.8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37"/>
  </p:normalViewPr>
  <p:slideViewPr>
    <p:cSldViewPr snapToGrid="0">
      <p:cViewPr>
        <p:scale>
          <a:sx n="119" d="100"/>
          <a:sy n="119" d="100"/>
        </p:scale>
        <p:origin x="1296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5/10/relationships/revisionInfo" Target="revisionInfo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Arial"/>
              </a:defRPr>
            </a:pPr>
            <a:r>
              <a:rPr lang="en-US" sz="950" b="0" i="0" u="none" strike="noStrike">
                <a:solidFill>
                  <a:srgbClr val="262626"/>
                </a:solidFill>
                <a:latin typeface="Arial"/>
              </a:rPr>
              <a:t>Global chip market, US$bn (WSTS)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Chip market</c:v>
                </c:pt>
              </c:strCache>
            </c:strRef>
          </c:tx>
          <c:spPr>
            <a:solidFill>
              <a:srgbClr val="2C5F8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C5F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E60-2C48-9BCE-4771F1287C6C}"/>
              </c:ext>
            </c:extLst>
          </c:dPt>
          <c:dPt>
            <c:idx val="1"/>
            <c:invertIfNegative val="0"/>
            <c:bubble3D val="0"/>
            <c:spPr>
              <a:solidFill>
                <a:srgbClr val="2C5F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E60-2C48-9BCE-4771F1287C6C}"/>
              </c:ext>
            </c:extLst>
          </c:dPt>
          <c:dPt>
            <c:idx val="2"/>
            <c:invertIfNegative val="0"/>
            <c:bubble3D val="0"/>
            <c:spPr>
              <a:solidFill>
                <a:srgbClr val="8DB3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E60-2C48-9BCE-4771F1287C6C}"/>
              </c:ext>
            </c:extLst>
          </c:dPt>
          <c:dPt>
            <c:idx val="3"/>
            <c:invertIfNegative val="0"/>
            <c:bubble3D val="0"/>
            <c:spPr>
              <a:solidFill>
                <a:srgbClr val="8DB3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E60-2C48-9BCE-4771F1287C6C}"/>
              </c:ext>
            </c:extLst>
          </c:dPt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2026F</c:v>
                </c:pt>
                <c:pt idx="3">
                  <c:v>2027F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630</c:v>
                </c:pt>
                <c:pt idx="1">
                  <c:v>795.6</c:v>
                </c:pt>
                <c:pt idx="2">
                  <c:v>1510</c:v>
                </c:pt>
                <c:pt idx="3">
                  <c:v>1900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60-2C48-9BCE-4771F1287C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Arial"/>
              </a:defRPr>
            </a:pPr>
            <a:r>
              <a:rPr lang="en-US" sz="950" b="0" i="0" u="none" strike="noStrike">
                <a:solidFill>
                  <a:srgbClr val="262626"/>
                </a:solidFill>
                <a:latin typeface="Arial"/>
              </a:rPr>
              <a:t>Index level, end-2021 = 100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TAIEX</c:v>
                </c:pt>
              </c:strCache>
            </c:strRef>
          </c:tx>
          <c:spPr>
            <a:ln w="25400" cap="flat">
              <a:solidFill>
                <a:srgbClr val="2C5F8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C5F82"/>
              </a:solidFill>
              <a:ln w="9525" cap="flat">
                <a:solidFill>
                  <a:srgbClr val="2C5F8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YE2021</c:v>
                </c:pt>
                <c:pt idx="1">
                  <c:v>YE2022</c:v>
                </c:pt>
                <c:pt idx="2">
                  <c:v>YE2023</c:v>
                </c:pt>
                <c:pt idx="3">
                  <c:v>YE2024</c:v>
                </c:pt>
                <c:pt idx="4">
                  <c:v>YE2025</c:v>
                </c:pt>
                <c:pt idx="5">
                  <c:v>Jun-26 peak</c:v>
                </c:pt>
                <c:pt idx="6">
                  <c:v>Latest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77.599999999999994</c:v>
                </c:pt>
                <c:pt idx="2">
                  <c:v>98.4</c:v>
                </c:pt>
                <c:pt idx="3">
                  <c:v>126.4</c:v>
                </c:pt>
                <c:pt idx="4">
                  <c:v>159</c:v>
                </c:pt>
                <c:pt idx="5">
                  <c:v>262.10000000000002</c:v>
                </c:pt>
                <c:pt idx="6">
                  <c:v>266.10000000000002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B5-4B49-A53D-59E0134CDF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KOSPI</c:v>
                </c:pt>
              </c:strCache>
            </c:strRef>
          </c:tx>
          <c:spPr>
            <a:ln w="25400" cap="flat">
              <a:solidFill>
                <a:srgbClr val="B23B3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B23B3B"/>
              </a:solidFill>
              <a:ln w="9525" cap="flat">
                <a:solidFill>
                  <a:srgbClr val="B23B3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YE2021</c:v>
                </c:pt>
                <c:pt idx="1">
                  <c:v>YE2022</c:v>
                </c:pt>
                <c:pt idx="2">
                  <c:v>YE2023</c:v>
                </c:pt>
                <c:pt idx="3">
                  <c:v>YE2024</c:v>
                </c:pt>
                <c:pt idx="4">
                  <c:v>YE2025</c:v>
                </c:pt>
                <c:pt idx="5">
                  <c:v>Jun-26 peak</c:v>
                </c:pt>
                <c:pt idx="6">
                  <c:v>Latest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75.099999999999994</c:v>
                </c:pt>
                <c:pt idx="2">
                  <c:v>89.2</c:v>
                </c:pt>
                <c:pt idx="3">
                  <c:v>80.599999999999994</c:v>
                </c:pt>
                <c:pt idx="4">
                  <c:v>141.5</c:v>
                </c:pt>
                <c:pt idx="5">
                  <c:v>302.3</c:v>
                </c:pt>
                <c:pt idx="6">
                  <c:v>237.8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B5-4B49-A53D-59E0134CDFA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Nikkei 225</c:v>
                </c:pt>
              </c:strCache>
            </c:strRef>
          </c:tx>
          <c:spPr>
            <a:ln w="25400" cap="flat">
              <a:solidFill>
                <a:srgbClr val="A6A6A6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A6A6A6"/>
              </a:solidFill>
              <a:ln w="9525" cap="flat">
                <a:solidFill>
                  <a:srgbClr val="A6A6A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YE2021</c:v>
                </c:pt>
                <c:pt idx="1">
                  <c:v>YE2022</c:v>
                </c:pt>
                <c:pt idx="2">
                  <c:v>YE2023</c:v>
                </c:pt>
                <c:pt idx="3">
                  <c:v>YE2024</c:v>
                </c:pt>
                <c:pt idx="4">
                  <c:v>YE2025</c:v>
                </c:pt>
                <c:pt idx="5">
                  <c:v>Jun-26 peak</c:v>
                </c:pt>
                <c:pt idx="6">
                  <c:v>Latest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100</c:v>
                </c:pt>
                <c:pt idx="1">
                  <c:v>90.6</c:v>
                </c:pt>
                <c:pt idx="2">
                  <c:v>116.2</c:v>
                </c:pt>
                <c:pt idx="3">
                  <c:v>138.6</c:v>
                </c:pt>
                <c:pt idx="4">
                  <c:v>174.8</c:v>
                </c:pt>
                <c:pt idx="5">
                  <c:v>231</c:v>
                </c:pt>
                <c:pt idx="6">
                  <c:v>222.8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1B5-4B49-A53D-59E0134CD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5"/>
          <c:min val="5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Arial"/>
              </a:defRPr>
            </a:pPr>
            <a:r>
              <a:rPr lang="en-US" sz="950" b="0" i="0" u="none" strike="noStrike">
                <a:solidFill>
                  <a:srgbClr val="262626"/>
                </a:solidFill>
                <a:latin typeface="Arial"/>
              </a:rPr>
              <a:t>5Y USD bond price change vs rate move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5Y USD bond</c:v>
                </c:pt>
              </c:strCache>
            </c:strRef>
          </c:tx>
          <c:spPr>
            <a:solidFill>
              <a:srgbClr val="2C5F82"/>
            </a:solidFill>
            <a:effectLst/>
          </c:spPr>
          <c:invertIfNegative val="0"/>
          <c:dLbls>
            <c:numFmt formatCode="\+0.0&quot;%&quot;;\−0.0&quot;%&quot;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−2%</c:v>
                </c:pt>
                <c:pt idx="1">
                  <c:v>−1%</c:v>
                </c:pt>
                <c:pt idx="2">
                  <c:v>0</c:v>
                </c:pt>
                <c:pt idx="3">
                  <c:v>+1%</c:v>
                </c:pt>
                <c:pt idx="4">
                  <c:v>+2%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9.1</c:v>
                </c:pt>
                <c:pt idx="1">
                  <c:v>4.5</c:v>
                </c:pt>
                <c:pt idx="2">
                  <c:v>0</c:v>
                </c:pt>
                <c:pt idx="3">
                  <c:v>-4</c:v>
                </c:pt>
                <c:pt idx="4">
                  <c:v>-7.9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64-6F4A-97AB-19D99D8DF3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-12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EFB-469F-8FED-5DEF4659595C}"/>
              </c:ext>
            </c:extLst>
          </c:dPt>
          <c:dPt>
            <c:idx val="1"/>
            <c:bubble3D val="0"/>
            <c:spPr>
              <a:solidFill>
                <a:srgbClr val="4F86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EFB-469F-8FED-5DEF4659595C}"/>
              </c:ext>
            </c:extLst>
          </c:dPt>
          <c:dPt>
            <c:idx val="2"/>
            <c:bubble3D val="0"/>
            <c:spPr>
              <a:solidFill>
                <a:srgbClr val="8DB3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EFB-469F-8FED-5DEF4659595C}"/>
              </c:ext>
            </c:extLst>
          </c:dPt>
          <c:dPt>
            <c:idx val="3"/>
            <c:bubble3D val="0"/>
            <c:spPr>
              <a:solidFill>
                <a:srgbClr val="A6A6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EFB-469F-8FED-5DEF4659595C}"/>
              </c:ext>
            </c:extLst>
          </c:dPt>
          <c:dPt>
            <c:idx val="4"/>
            <c:bubble3D val="0"/>
            <c:spPr>
              <a:solidFill>
                <a:srgbClr val="2E9E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EFB-469F-8FED-5DEF4659595C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92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EFB-469F-8FED-5DEF4659595C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92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EFB-469F-8FED-5DEF4659595C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92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EFB-469F-8FED-5DEF4659595C}"/>
                </c:ext>
              </c:extLst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92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EFB-469F-8FED-5DEF4659595C}"/>
                </c:ext>
              </c:extLst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92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EFB-469F-8FED-5DEF4659595C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Asia Semiconductor (3119 HK)</c:v>
                </c:pt>
                <c:pt idx="1">
                  <c:v>iShares MSCI South Korea (EWY)</c:v>
                </c:pt>
                <c:pt idx="2">
                  <c:v>iShares MSCI Taiwan (EWT)</c:v>
                </c:pt>
                <c:pt idx="3">
                  <c:v>Japan Semiconductor (2644 JP)</c:v>
                </c:pt>
                <c:pt idx="4">
                  <c:v>Taiwan ESG High Dividend (00878 TT)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EFB-469F-8FED-5DEF465959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870" b="0" i="0" u="none" strike="noStrike">
                <a:solidFill>
                  <a:srgbClr val="262626"/>
                </a:solidFill>
                <a:latin typeface="Arial"/>
              </a:defRPr>
            </a:pPr>
            <a:r>
              <a:rPr lang="en-US" sz="870" b="0" i="0" u="none" strike="noStrike">
                <a:solidFill>
                  <a:srgbClr val="262626"/>
                </a:solidFill>
                <a:latin typeface="Arial"/>
              </a:rPr>
              <a:t>Cumulative autocall probability (team outlook)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call probability</c:v>
                </c:pt>
              </c:strCache>
            </c:strRef>
          </c:tx>
          <c:spPr>
            <a:solidFill>
              <a:srgbClr val="2C5F82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3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78.099999999999994</c:v>
                </c:pt>
                <c:pt idx="1">
                  <c:v>93</c:v>
                </c:pt>
                <c:pt idx="2">
                  <c:v>96.9</c:v>
                </c:pt>
                <c:pt idx="3">
                  <c:v>98.5</c:v>
                </c:pt>
                <c:pt idx="4">
                  <c:v>99.3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C6-439A-B1D0-4B75EF3563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83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3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870" b="0" i="0" u="none" strike="noStrike">
                <a:solidFill>
                  <a:srgbClr val="262626"/>
                </a:solidFill>
                <a:latin typeface="Arial"/>
              </a:defRPr>
            </a:pPr>
            <a:r>
              <a:rPr lang="en-US" sz="870" b="0" i="0" u="none" strike="noStrike">
                <a:solidFill>
                  <a:srgbClr val="262626"/>
                </a:solidFill>
                <a:latin typeface="Arial"/>
              </a:rPr>
              <a:t>Basket level (% of initial); call levels 102.5% → 92.5%, 70% barrier at Y5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capex boom</c:v>
                </c:pt>
              </c:strCache>
            </c:strRef>
          </c:tx>
          <c:spPr>
            <a:ln w="25400" cap="flat">
              <a:solidFill>
                <a:srgbClr val="2C5F8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Y0</c:v>
                </c:pt>
                <c:pt idx="4">
                  <c:v>Y1</c:v>
                </c:pt>
                <c:pt idx="8">
                  <c:v>Y2</c:v>
                </c:pt>
                <c:pt idx="12">
                  <c:v>Y3</c:v>
                </c:pt>
                <c:pt idx="16">
                  <c:v>Y4</c:v>
                </c:pt>
                <c:pt idx="20">
                  <c:v>Y5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100</c:v>
                </c:pt>
                <c:pt idx="1">
                  <c:v>104.5</c:v>
                </c:pt>
                <c:pt idx="2">
                  <c:v>109</c:v>
                </c:pt>
                <c:pt idx="3">
                  <c:v>113.5</c:v>
                </c:pt>
                <c:pt idx="4">
                  <c:v>118</c:v>
                </c:pt>
                <c:pt idx="5">
                  <c:v>121.9</c:v>
                </c:pt>
                <c:pt idx="6">
                  <c:v>125.7</c:v>
                </c:pt>
                <c:pt idx="7">
                  <c:v>129.6</c:v>
                </c:pt>
                <c:pt idx="8">
                  <c:v>133.5</c:v>
                </c:pt>
                <c:pt idx="9">
                  <c:v>137.4</c:v>
                </c:pt>
                <c:pt idx="10">
                  <c:v>141.30000000000001</c:v>
                </c:pt>
                <c:pt idx="11">
                  <c:v>145.1</c:v>
                </c:pt>
                <c:pt idx="12">
                  <c:v>149</c:v>
                </c:pt>
                <c:pt idx="13">
                  <c:v>152.9</c:v>
                </c:pt>
                <c:pt idx="14">
                  <c:v>156.69999999999999</c:v>
                </c:pt>
                <c:pt idx="15">
                  <c:v>160.6</c:v>
                </c:pt>
                <c:pt idx="16">
                  <c:v>164.5</c:v>
                </c:pt>
                <c:pt idx="17">
                  <c:v>168.4</c:v>
                </c:pt>
                <c:pt idx="18">
                  <c:v>172.3</c:v>
                </c:pt>
                <c:pt idx="19">
                  <c:v>176.1</c:v>
                </c:pt>
                <c:pt idx="20">
                  <c:v>180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E9-E94D-B8B9-20DC2456DB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Range-bound Asia</c:v>
                </c:pt>
              </c:strCache>
            </c:strRef>
          </c:tx>
          <c:spPr>
            <a:ln w="25400" cap="flat">
              <a:solidFill>
                <a:srgbClr val="E67E2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Y0</c:v>
                </c:pt>
                <c:pt idx="4">
                  <c:v>Y1</c:v>
                </c:pt>
                <c:pt idx="8">
                  <c:v>Y2</c:v>
                </c:pt>
                <c:pt idx="12">
                  <c:v>Y3</c:v>
                </c:pt>
                <c:pt idx="16">
                  <c:v>Y4</c:v>
                </c:pt>
                <c:pt idx="20">
                  <c:v>Y5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98.5</c:v>
                </c:pt>
                <c:pt idx="6">
                  <c:v>101</c:v>
                </c:pt>
                <c:pt idx="7">
                  <c:v>101.1</c:v>
                </c:pt>
                <c:pt idx="8">
                  <c:v>101.3</c:v>
                </c:pt>
                <c:pt idx="9">
                  <c:v>101.4</c:v>
                </c:pt>
                <c:pt idx="10">
                  <c:v>101.6</c:v>
                </c:pt>
                <c:pt idx="11">
                  <c:v>101.7</c:v>
                </c:pt>
                <c:pt idx="12">
                  <c:v>101.9</c:v>
                </c:pt>
                <c:pt idx="13">
                  <c:v>102</c:v>
                </c:pt>
                <c:pt idx="14">
                  <c:v>102.1</c:v>
                </c:pt>
                <c:pt idx="15">
                  <c:v>102.3</c:v>
                </c:pt>
                <c:pt idx="16">
                  <c:v>102.4</c:v>
                </c:pt>
                <c:pt idx="17">
                  <c:v>102.6</c:v>
                </c:pt>
                <c:pt idx="18">
                  <c:v>102.7</c:v>
                </c:pt>
                <c:pt idx="19">
                  <c:v>102.9</c:v>
                </c:pt>
                <c:pt idx="20">
                  <c:v>103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E9-E94D-B8B9-20DC2456DB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2022-style tech drawdown, slow recovery</c:v>
                </c:pt>
              </c:strCache>
            </c:strRef>
          </c:tx>
          <c:spPr>
            <a:ln w="25400" cap="flat">
              <a:solidFill>
                <a:srgbClr val="1F3B5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Y0</c:v>
                </c:pt>
                <c:pt idx="4">
                  <c:v>Y1</c:v>
                </c:pt>
                <c:pt idx="8">
                  <c:v>Y2</c:v>
                </c:pt>
                <c:pt idx="12">
                  <c:v>Y3</c:v>
                </c:pt>
                <c:pt idx="16">
                  <c:v>Y4</c:v>
                </c:pt>
                <c:pt idx="20">
                  <c:v>Y5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100</c:v>
                </c:pt>
                <c:pt idx="1">
                  <c:v>90</c:v>
                </c:pt>
                <c:pt idx="2">
                  <c:v>80</c:v>
                </c:pt>
                <c:pt idx="3">
                  <c:v>70</c:v>
                </c:pt>
                <c:pt idx="4">
                  <c:v>71.599999999999994</c:v>
                </c:pt>
                <c:pt idx="5">
                  <c:v>73.2</c:v>
                </c:pt>
                <c:pt idx="6">
                  <c:v>74.8</c:v>
                </c:pt>
                <c:pt idx="7">
                  <c:v>76.400000000000006</c:v>
                </c:pt>
                <c:pt idx="8">
                  <c:v>78</c:v>
                </c:pt>
                <c:pt idx="9">
                  <c:v>80.8</c:v>
                </c:pt>
                <c:pt idx="10">
                  <c:v>83.7</c:v>
                </c:pt>
                <c:pt idx="11">
                  <c:v>86.5</c:v>
                </c:pt>
                <c:pt idx="12">
                  <c:v>89.3</c:v>
                </c:pt>
                <c:pt idx="13">
                  <c:v>92.2</c:v>
                </c:pt>
                <c:pt idx="14">
                  <c:v>95</c:v>
                </c:pt>
                <c:pt idx="15">
                  <c:v>102</c:v>
                </c:pt>
                <c:pt idx="16">
                  <c:v>103.6</c:v>
                </c:pt>
                <c:pt idx="17">
                  <c:v>105.2</c:v>
                </c:pt>
                <c:pt idx="18">
                  <c:v>106.8</c:v>
                </c:pt>
                <c:pt idx="19">
                  <c:v>108.4</c:v>
                </c:pt>
                <c:pt idx="20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E9-E94D-B8B9-20DC2456DB3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Lost decade (sideways below par)</c:v>
                </c:pt>
              </c:strCache>
            </c:strRef>
          </c:tx>
          <c:spPr>
            <a:ln w="25400" cap="flat">
              <a:solidFill>
                <a:srgbClr val="A6A6A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Y0</c:v>
                </c:pt>
                <c:pt idx="4">
                  <c:v>Y1</c:v>
                </c:pt>
                <c:pt idx="8">
                  <c:v>Y2</c:v>
                </c:pt>
                <c:pt idx="12">
                  <c:v>Y3</c:v>
                </c:pt>
                <c:pt idx="16">
                  <c:v>Y4</c:v>
                </c:pt>
                <c:pt idx="20">
                  <c:v>Y5</c:v>
                </c:pt>
              </c:strCache>
            </c: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100</c:v>
                </c:pt>
                <c:pt idx="1">
                  <c:v>96.3</c:v>
                </c:pt>
                <c:pt idx="2">
                  <c:v>92.5</c:v>
                </c:pt>
                <c:pt idx="3">
                  <c:v>88.7</c:v>
                </c:pt>
                <c:pt idx="4">
                  <c:v>85</c:v>
                </c:pt>
                <c:pt idx="5">
                  <c:v>84.2</c:v>
                </c:pt>
                <c:pt idx="6">
                  <c:v>83.3</c:v>
                </c:pt>
                <c:pt idx="7">
                  <c:v>82.5</c:v>
                </c:pt>
                <c:pt idx="8">
                  <c:v>81.7</c:v>
                </c:pt>
                <c:pt idx="9">
                  <c:v>80.8</c:v>
                </c:pt>
                <c:pt idx="10">
                  <c:v>80</c:v>
                </c:pt>
                <c:pt idx="11">
                  <c:v>80.8</c:v>
                </c:pt>
                <c:pt idx="12">
                  <c:v>81.599999999999994</c:v>
                </c:pt>
                <c:pt idx="13">
                  <c:v>82.4</c:v>
                </c:pt>
                <c:pt idx="14">
                  <c:v>83.2</c:v>
                </c:pt>
                <c:pt idx="15">
                  <c:v>84</c:v>
                </c:pt>
                <c:pt idx="16">
                  <c:v>84.8</c:v>
                </c:pt>
                <c:pt idx="17">
                  <c:v>85.6</c:v>
                </c:pt>
                <c:pt idx="18">
                  <c:v>86.4</c:v>
                </c:pt>
                <c:pt idx="19">
                  <c:v>87.2</c:v>
                </c:pt>
                <c:pt idx="20">
                  <c:v>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BE9-E94D-B8B9-20DC2456DB3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Geopolitical shock, no recovery</c:v>
                </c:pt>
              </c:strCache>
            </c:strRef>
          </c:tx>
          <c:spPr>
            <a:ln w="25400" cap="flat">
              <a:solidFill>
                <a:srgbClr val="B23B3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Y0</c:v>
                </c:pt>
                <c:pt idx="4">
                  <c:v>Y1</c:v>
                </c:pt>
                <c:pt idx="8">
                  <c:v>Y2</c:v>
                </c:pt>
                <c:pt idx="12">
                  <c:v>Y3</c:v>
                </c:pt>
                <c:pt idx="16">
                  <c:v>Y4</c:v>
                </c:pt>
                <c:pt idx="20">
                  <c:v>Y5</c:v>
                </c:pt>
              </c:strCache>
            </c:strRef>
          </c:cat>
          <c:val>
            <c:numRef>
              <c:f>Sheet1!$F$2:$F$22</c:f>
              <c:numCache>
                <c:formatCode>General</c:formatCode>
                <c:ptCount val="21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  <c:pt idx="3">
                  <c:v>58.3</c:v>
                </c:pt>
                <c:pt idx="4">
                  <c:v>56.7</c:v>
                </c:pt>
                <c:pt idx="5">
                  <c:v>55</c:v>
                </c:pt>
                <c:pt idx="6">
                  <c:v>53.3</c:v>
                </c:pt>
                <c:pt idx="7">
                  <c:v>51.7</c:v>
                </c:pt>
                <c:pt idx="8">
                  <c:v>50</c:v>
                </c:pt>
                <c:pt idx="9">
                  <c:v>50.4</c:v>
                </c:pt>
                <c:pt idx="10">
                  <c:v>50.8</c:v>
                </c:pt>
                <c:pt idx="11">
                  <c:v>51.2</c:v>
                </c:pt>
                <c:pt idx="12">
                  <c:v>51.7</c:v>
                </c:pt>
                <c:pt idx="13">
                  <c:v>52.1</c:v>
                </c:pt>
                <c:pt idx="14">
                  <c:v>52.5</c:v>
                </c:pt>
                <c:pt idx="15">
                  <c:v>52.9</c:v>
                </c:pt>
                <c:pt idx="16">
                  <c:v>53.3</c:v>
                </c:pt>
                <c:pt idx="17">
                  <c:v>53.8</c:v>
                </c:pt>
                <c:pt idx="18">
                  <c:v>54.2</c:v>
                </c:pt>
                <c:pt idx="19">
                  <c:v>54.6</c:v>
                </c:pt>
                <c:pt idx="20">
                  <c:v>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BE9-E94D-B8B9-20DC2456DB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83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0"/>
          <c:min val="4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3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Principal</c:v>
                </c:pt>
              </c:strCache>
            </c:strRef>
          </c:tx>
          <c:spPr>
            <a:ln w="25400" cap="flat">
              <a:solidFill>
                <a:srgbClr val="2C5F82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Sheet1!$A$2:$A$122</c:f>
              <c:numCache>
                <c:formatCode>General</c:formatCode>
                <c:ptCount val="12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</c:numCache>
            </c:numRef>
          </c:xVal>
          <c:yVal>
            <c:numRef>
              <c:f>Sheet1!$B$2:$B$122</c:f>
              <c:numCache>
                <c:formatCode>General</c:formatCode>
                <c:ptCount val="12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72">
                  <c:v>100</c:v>
                </c:pt>
                <c:pt idx="73">
                  <c:v>100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100</c:v>
                </c:pt>
                <c:pt idx="78">
                  <c:v>100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61C-204F-AD1A-BA941BCACA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60"/>
          <c:min val="40"/>
        </c:scaling>
        <c:delete val="0"/>
        <c:axPos val="b"/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lang="en-US" sz="640" b="0" i="0" u="none" strike="noStrike">
                    <a:solidFill>
                      <a:srgbClr val="595959"/>
                    </a:solidFill>
                    <a:latin typeface="Arial"/>
                  </a:rPr>
                  <a:t>Basket on any date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64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  <c:majorUnit val="40"/>
      </c:valAx>
      <c:valAx>
        <c:axId val="2094734552"/>
        <c:scaling>
          <c:orientation val="minMax"/>
          <c:max val="120"/>
          <c:min val="0"/>
        </c:scaling>
        <c:delete val="1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Coupon digitals</c:v>
                </c:pt>
              </c:strCache>
            </c:strRef>
          </c:tx>
          <c:spPr>
            <a:ln w="25400" cap="flat">
              <a:solidFill>
                <a:srgbClr val="2C5F82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Sheet1!$A$2:$A$122</c:f>
              <c:numCache>
                <c:formatCode>General</c:formatCode>
                <c:ptCount val="12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</c:numCache>
            </c:numRef>
          </c:xVal>
          <c:yVal>
            <c:numRef>
              <c:f>Sheet1!$B$2:$B$122</c:f>
              <c:numCache>
                <c:formatCode>General</c:formatCode>
                <c:ptCount val="1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12.75</c:v>
                </c:pt>
                <c:pt idx="64">
                  <c:v>12.75</c:v>
                </c:pt>
                <c:pt idx="65">
                  <c:v>12.75</c:v>
                </c:pt>
                <c:pt idx="66">
                  <c:v>12.75</c:v>
                </c:pt>
                <c:pt idx="67">
                  <c:v>12.75</c:v>
                </c:pt>
                <c:pt idx="68">
                  <c:v>12.75</c:v>
                </c:pt>
                <c:pt idx="69">
                  <c:v>12.75</c:v>
                </c:pt>
                <c:pt idx="70">
                  <c:v>12.75</c:v>
                </c:pt>
                <c:pt idx="71">
                  <c:v>12.75</c:v>
                </c:pt>
                <c:pt idx="72">
                  <c:v>12.75</c:v>
                </c:pt>
                <c:pt idx="73">
                  <c:v>12.75</c:v>
                </c:pt>
                <c:pt idx="74">
                  <c:v>12.75</c:v>
                </c:pt>
                <c:pt idx="75">
                  <c:v>12.75</c:v>
                </c:pt>
                <c:pt idx="76">
                  <c:v>12.75</c:v>
                </c:pt>
                <c:pt idx="77">
                  <c:v>12.75</c:v>
                </c:pt>
                <c:pt idx="78">
                  <c:v>12.75</c:v>
                </c:pt>
                <c:pt idx="79">
                  <c:v>12.75</c:v>
                </c:pt>
                <c:pt idx="80">
                  <c:v>12.75</c:v>
                </c:pt>
                <c:pt idx="81">
                  <c:v>12.75</c:v>
                </c:pt>
                <c:pt idx="82">
                  <c:v>12.75</c:v>
                </c:pt>
                <c:pt idx="83">
                  <c:v>12.75</c:v>
                </c:pt>
                <c:pt idx="84">
                  <c:v>12.75</c:v>
                </c:pt>
                <c:pt idx="85">
                  <c:v>12.75</c:v>
                </c:pt>
                <c:pt idx="86">
                  <c:v>12.75</c:v>
                </c:pt>
                <c:pt idx="87">
                  <c:v>12.75</c:v>
                </c:pt>
                <c:pt idx="88">
                  <c:v>12.75</c:v>
                </c:pt>
                <c:pt idx="89">
                  <c:v>12.75</c:v>
                </c:pt>
                <c:pt idx="90">
                  <c:v>12.75</c:v>
                </c:pt>
                <c:pt idx="91">
                  <c:v>12.75</c:v>
                </c:pt>
                <c:pt idx="92">
                  <c:v>12.75</c:v>
                </c:pt>
                <c:pt idx="93">
                  <c:v>12.75</c:v>
                </c:pt>
                <c:pt idx="94">
                  <c:v>12.75</c:v>
                </c:pt>
                <c:pt idx="95">
                  <c:v>12.75</c:v>
                </c:pt>
                <c:pt idx="96">
                  <c:v>12.75</c:v>
                </c:pt>
                <c:pt idx="97">
                  <c:v>12.75</c:v>
                </c:pt>
                <c:pt idx="98">
                  <c:v>12.75</c:v>
                </c:pt>
                <c:pt idx="99">
                  <c:v>12.75</c:v>
                </c:pt>
                <c:pt idx="100">
                  <c:v>12.75</c:v>
                </c:pt>
                <c:pt idx="101">
                  <c:v>12.75</c:v>
                </c:pt>
                <c:pt idx="102">
                  <c:v>12.75</c:v>
                </c:pt>
                <c:pt idx="103">
                  <c:v>12.75</c:v>
                </c:pt>
                <c:pt idx="104">
                  <c:v>12.75</c:v>
                </c:pt>
                <c:pt idx="105">
                  <c:v>12.75</c:v>
                </c:pt>
                <c:pt idx="106">
                  <c:v>12.75</c:v>
                </c:pt>
                <c:pt idx="107">
                  <c:v>12.75</c:v>
                </c:pt>
                <c:pt idx="108">
                  <c:v>12.75</c:v>
                </c:pt>
                <c:pt idx="109">
                  <c:v>12.75</c:v>
                </c:pt>
                <c:pt idx="110">
                  <c:v>12.75</c:v>
                </c:pt>
                <c:pt idx="111">
                  <c:v>12.75</c:v>
                </c:pt>
                <c:pt idx="112">
                  <c:v>12.75</c:v>
                </c:pt>
                <c:pt idx="113">
                  <c:v>12.75</c:v>
                </c:pt>
                <c:pt idx="114">
                  <c:v>12.75</c:v>
                </c:pt>
                <c:pt idx="115">
                  <c:v>12.75</c:v>
                </c:pt>
                <c:pt idx="116">
                  <c:v>12.75</c:v>
                </c:pt>
                <c:pt idx="117">
                  <c:v>12.75</c:v>
                </c:pt>
                <c:pt idx="118">
                  <c:v>12.75</c:v>
                </c:pt>
                <c:pt idx="119">
                  <c:v>12.75</c:v>
                </c:pt>
                <c:pt idx="120">
                  <c:v>12.75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8DB-9844-A359-FFD791CF4C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60"/>
          <c:min val="40"/>
        </c:scaling>
        <c:delete val="0"/>
        <c:axPos val="b"/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lang="en-US" sz="640" b="0" i="0" u="none" strike="noStrike">
                    <a:solidFill>
                      <a:srgbClr val="595959"/>
                    </a:solidFill>
                    <a:latin typeface="Arial"/>
                  </a:rPr>
                  <a:t>Basket on any date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64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  <c:majorUnit val="40"/>
      </c:valAx>
      <c:valAx>
        <c:axId val="2094734552"/>
        <c:scaling>
          <c:orientation val="minMax"/>
          <c:max val="15.0"/>
          <c:min val="0.0"/>
        </c:scaling>
        <c:delete val="1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Autocall (Natixis)</c:v>
                </c:pt>
              </c:strCache>
            </c:strRef>
          </c:tx>
          <c:spPr>
            <a:ln w="25400" cap="flat">
              <a:solidFill>
                <a:srgbClr val="A6A6A6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Sheet1!$A$2:$A$122</c:f>
              <c:numCache>
                <c:formatCode>General</c:formatCode>
                <c:ptCount val="12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</c:numCache>
            </c:numRef>
          </c:xVal>
          <c:yVal>
            <c:numRef>
              <c:f>Sheet1!$B$2:$B$122</c:f>
              <c:numCache>
                <c:formatCode>General</c:formatCode>
                <c:ptCount val="12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1F4-4540-9433-8EAE6E50F8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60"/>
          <c:min val="40"/>
        </c:scaling>
        <c:delete val="0"/>
        <c:axPos val="b"/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lang="en-US" sz="640" b="0" i="0" u="none" strike="noStrike">
                    <a:solidFill>
                      <a:srgbClr val="595959"/>
                    </a:solidFill>
                    <a:latin typeface="Arial"/>
                  </a:rPr>
                  <a:t>Basket on any date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64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  <c:majorUnit val="40"/>
      </c:valAx>
      <c:valAx>
        <c:axId val="2094734552"/>
        <c:scaling>
          <c:orientation val="minMax"/>
          <c:max val="1.4"/>
          <c:min val="-0.3"/>
        </c:scaling>
        <c:delete val="1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 put (client)</c:v>
                </c:pt>
              </c:strCache>
            </c:strRef>
          </c:tx>
          <c:spPr>
            <a:ln w="25400" cap="flat">
              <a:solidFill>
                <a:srgbClr val="B23B3B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Sheet1!$A$2:$A$122</c:f>
              <c:numCache>
                <c:formatCode>General</c:formatCode>
                <c:ptCount val="12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</c:numCache>
            </c:numRef>
          </c:xVal>
          <c:yVal>
            <c:numRef>
              <c:f>Sheet1!$B$2:$B$122</c:f>
              <c:numCache>
                <c:formatCode>General</c:formatCode>
                <c:ptCount val="121"/>
                <c:pt idx="0">
                  <c:v>-60</c:v>
                </c:pt>
                <c:pt idx="1">
                  <c:v>-59</c:v>
                </c:pt>
                <c:pt idx="2">
                  <c:v>-58</c:v>
                </c:pt>
                <c:pt idx="3">
                  <c:v>-57</c:v>
                </c:pt>
                <c:pt idx="4">
                  <c:v>-56</c:v>
                </c:pt>
                <c:pt idx="5">
                  <c:v>-55</c:v>
                </c:pt>
                <c:pt idx="6">
                  <c:v>-54</c:v>
                </c:pt>
                <c:pt idx="7">
                  <c:v>-53</c:v>
                </c:pt>
                <c:pt idx="8">
                  <c:v>-52</c:v>
                </c:pt>
                <c:pt idx="9">
                  <c:v>-51</c:v>
                </c:pt>
                <c:pt idx="10">
                  <c:v>-50</c:v>
                </c:pt>
                <c:pt idx="11">
                  <c:v>-49</c:v>
                </c:pt>
                <c:pt idx="12">
                  <c:v>-48</c:v>
                </c:pt>
                <c:pt idx="13">
                  <c:v>-47</c:v>
                </c:pt>
                <c:pt idx="14">
                  <c:v>-46</c:v>
                </c:pt>
                <c:pt idx="15">
                  <c:v>-45</c:v>
                </c:pt>
                <c:pt idx="16">
                  <c:v>-44</c:v>
                </c:pt>
                <c:pt idx="17">
                  <c:v>-43</c:v>
                </c:pt>
                <c:pt idx="18">
                  <c:v>-42</c:v>
                </c:pt>
                <c:pt idx="19">
                  <c:v>-41</c:v>
                </c:pt>
                <c:pt idx="20">
                  <c:v>-40</c:v>
                </c:pt>
                <c:pt idx="21">
                  <c:v>-39</c:v>
                </c:pt>
                <c:pt idx="22">
                  <c:v>-38</c:v>
                </c:pt>
                <c:pt idx="23">
                  <c:v>-37</c:v>
                </c:pt>
                <c:pt idx="24">
                  <c:v>-36</c:v>
                </c:pt>
                <c:pt idx="25">
                  <c:v>-35</c:v>
                </c:pt>
                <c:pt idx="26">
                  <c:v>-34</c:v>
                </c:pt>
                <c:pt idx="27">
                  <c:v>-33</c:v>
                </c:pt>
                <c:pt idx="28">
                  <c:v>-32</c:v>
                </c:pt>
                <c:pt idx="29">
                  <c:v>-31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4D3-7C42-86E6-A9F6E7DC2E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60"/>
          <c:min val="40"/>
        </c:scaling>
        <c:delete val="0"/>
        <c:axPos val="b"/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lang="en-US" sz="640" b="0" i="0" u="none" strike="noStrike">
                    <a:solidFill>
                      <a:srgbClr val="595959"/>
                    </a:solidFill>
                    <a:latin typeface="Arial"/>
                  </a:rPr>
                  <a:t>Basket at Y5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64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  <c:majorUnit val="40"/>
      </c:valAx>
      <c:valAx>
        <c:axId val="2094734552"/>
        <c:scaling>
          <c:orientation val="minMax"/>
          <c:max val="6"/>
          <c:min val="-66"/>
        </c:scaling>
        <c:delete val="1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870" b="0" i="0" u="none" strike="noStrike">
                <a:solidFill>
                  <a:srgbClr val="262626"/>
                </a:solidFill>
                <a:latin typeface="Arial"/>
              </a:defRPr>
            </a:pPr>
            <a:r>
              <a:rPr lang="en-US" sz="870" b="0" i="0" u="none" strike="noStrike">
                <a:solidFill>
                  <a:srgbClr val="262626"/>
                </a:solidFill>
                <a:latin typeface="Arial"/>
              </a:rPr>
              <a:t>Total received at Y5 (not called earlier) vs final basket level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note (12.75%)</c:v>
                </c:pt>
              </c:strCache>
            </c:strRef>
          </c:tx>
          <c:spPr>
            <a:ln w="25400" cap="flat">
              <a:solidFill>
                <a:srgbClr val="2C5F82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Sheet1!$A$2:$A$142</c:f>
              <c:numCache>
                <c:formatCode>General</c:formatCode>
                <c:ptCount val="14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  <c:pt idx="121">
                  <c:v>161</c:v>
                </c:pt>
                <c:pt idx="122">
                  <c:v>162</c:v>
                </c:pt>
                <c:pt idx="123">
                  <c:v>163</c:v>
                </c:pt>
                <c:pt idx="124">
                  <c:v>164</c:v>
                </c:pt>
                <c:pt idx="125">
                  <c:v>165</c:v>
                </c:pt>
                <c:pt idx="126">
                  <c:v>166</c:v>
                </c:pt>
                <c:pt idx="127">
                  <c:v>167</c:v>
                </c:pt>
                <c:pt idx="128">
                  <c:v>168</c:v>
                </c:pt>
                <c:pt idx="129">
                  <c:v>169</c:v>
                </c:pt>
                <c:pt idx="130">
                  <c:v>170</c:v>
                </c:pt>
                <c:pt idx="131">
                  <c:v>171</c:v>
                </c:pt>
                <c:pt idx="132">
                  <c:v>172</c:v>
                </c:pt>
                <c:pt idx="133">
                  <c:v>173</c:v>
                </c:pt>
                <c:pt idx="134">
                  <c:v>174</c:v>
                </c:pt>
                <c:pt idx="135">
                  <c:v>175</c:v>
                </c:pt>
                <c:pt idx="136">
                  <c:v>176</c:v>
                </c:pt>
                <c:pt idx="137">
                  <c:v>177</c:v>
                </c:pt>
                <c:pt idx="138">
                  <c:v>178</c:v>
                </c:pt>
                <c:pt idx="139">
                  <c:v>179</c:v>
                </c:pt>
                <c:pt idx="140">
                  <c:v>180</c:v>
                </c:pt>
              </c:numCache>
            </c:numRef>
          </c:xVal>
          <c:yVal>
            <c:numRef>
              <c:f>Sheet1!$B$2:$B$142</c:f>
              <c:numCache>
                <c:formatCode>General</c:formatCode>
                <c:ptCount val="14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163.75</c:v>
                </c:pt>
                <c:pt idx="54">
                  <c:v>163.75</c:v>
                </c:pt>
                <c:pt idx="55">
                  <c:v>163.75</c:v>
                </c:pt>
                <c:pt idx="56">
                  <c:v>163.75</c:v>
                </c:pt>
                <c:pt idx="57">
                  <c:v>163.75</c:v>
                </c:pt>
                <c:pt idx="58">
                  <c:v>163.75</c:v>
                </c:pt>
                <c:pt idx="59">
                  <c:v>163.75</c:v>
                </c:pt>
                <c:pt idx="60">
                  <c:v>163.75</c:v>
                </c:pt>
                <c:pt idx="61">
                  <c:v>163.75</c:v>
                </c:pt>
                <c:pt idx="62">
                  <c:v>163.75</c:v>
                </c:pt>
                <c:pt idx="63">
                  <c:v>163.75</c:v>
                </c:pt>
                <c:pt idx="64">
                  <c:v>163.75</c:v>
                </c:pt>
                <c:pt idx="65">
                  <c:v>163.75</c:v>
                </c:pt>
                <c:pt idx="66">
                  <c:v>163.75</c:v>
                </c:pt>
                <c:pt idx="67">
                  <c:v>163.75</c:v>
                </c:pt>
                <c:pt idx="68">
                  <c:v>163.75</c:v>
                </c:pt>
                <c:pt idx="69">
                  <c:v>163.75</c:v>
                </c:pt>
                <c:pt idx="70">
                  <c:v>163.75</c:v>
                </c:pt>
                <c:pt idx="71">
                  <c:v>163.75</c:v>
                </c:pt>
                <c:pt idx="72">
                  <c:v>163.75</c:v>
                </c:pt>
                <c:pt idx="73">
                  <c:v>163.75</c:v>
                </c:pt>
                <c:pt idx="74">
                  <c:v>163.75</c:v>
                </c:pt>
                <c:pt idx="75">
                  <c:v>163.75</c:v>
                </c:pt>
                <c:pt idx="76">
                  <c:v>163.75</c:v>
                </c:pt>
                <c:pt idx="77">
                  <c:v>163.75</c:v>
                </c:pt>
                <c:pt idx="78">
                  <c:v>163.75</c:v>
                </c:pt>
                <c:pt idx="79">
                  <c:v>163.75</c:v>
                </c:pt>
                <c:pt idx="80">
                  <c:v>163.75</c:v>
                </c:pt>
                <c:pt idx="81">
                  <c:v>163.75</c:v>
                </c:pt>
                <c:pt idx="82">
                  <c:v>163.75</c:v>
                </c:pt>
                <c:pt idx="83">
                  <c:v>163.75</c:v>
                </c:pt>
                <c:pt idx="84">
                  <c:v>163.75</c:v>
                </c:pt>
                <c:pt idx="85">
                  <c:v>163.75</c:v>
                </c:pt>
                <c:pt idx="86">
                  <c:v>163.75</c:v>
                </c:pt>
                <c:pt idx="87">
                  <c:v>163.75</c:v>
                </c:pt>
                <c:pt idx="88">
                  <c:v>163.75</c:v>
                </c:pt>
                <c:pt idx="89">
                  <c:v>163.75</c:v>
                </c:pt>
                <c:pt idx="90">
                  <c:v>163.75</c:v>
                </c:pt>
                <c:pt idx="91">
                  <c:v>163.75</c:v>
                </c:pt>
                <c:pt idx="92">
                  <c:v>163.75</c:v>
                </c:pt>
                <c:pt idx="93">
                  <c:v>163.75</c:v>
                </c:pt>
                <c:pt idx="94">
                  <c:v>163.75</c:v>
                </c:pt>
                <c:pt idx="95">
                  <c:v>163.75</c:v>
                </c:pt>
                <c:pt idx="96">
                  <c:v>163.75</c:v>
                </c:pt>
                <c:pt idx="97">
                  <c:v>163.75</c:v>
                </c:pt>
                <c:pt idx="98">
                  <c:v>163.75</c:v>
                </c:pt>
                <c:pt idx="99">
                  <c:v>163.75</c:v>
                </c:pt>
                <c:pt idx="100">
                  <c:v>163.75</c:v>
                </c:pt>
                <c:pt idx="101">
                  <c:v>163.75</c:v>
                </c:pt>
                <c:pt idx="102">
                  <c:v>163.75</c:v>
                </c:pt>
                <c:pt idx="103">
                  <c:v>163.75</c:v>
                </c:pt>
                <c:pt idx="104">
                  <c:v>163.75</c:v>
                </c:pt>
                <c:pt idx="105">
                  <c:v>163.75</c:v>
                </c:pt>
                <c:pt idx="106">
                  <c:v>163.75</c:v>
                </c:pt>
                <c:pt idx="107">
                  <c:v>163.75</c:v>
                </c:pt>
                <c:pt idx="108">
                  <c:v>163.75</c:v>
                </c:pt>
                <c:pt idx="109">
                  <c:v>163.75</c:v>
                </c:pt>
                <c:pt idx="110">
                  <c:v>163.75</c:v>
                </c:pt>
                <c:pt idx="111">
                  <c:v>163.75</c:v>
                </c:pt>
                <c:pt idx="112">
                  <c:v>163.75</c:v>
                </c:pt>
                <c:pt idx="113">
                  <c:v>163.75</c:v>
                </c:pt>
                <c:pt idx="114">
                  <c:v>163.75</c:v>
                </c:pt>
                <c:pt idx="115">
                  <c:v>163.75</c:v>
                </c:pt>
                <c:pt idx="116">
                  <c:v>163.75</c:v>
                </c:pt>
                <c:pt idx="117">
                  <c:v>163.75</c:v>
                </c:pt>
                <c:pt idx="118">
                  <c:v>163.75</c:v>
                </c:pt>
                <c:pt idx="119">
                  <c:v>163.75</c:v>
                </c:pt>
                <c:pt idx="120">
                  <c:v>163.75</c:v>
                </c:pt>
                <c:pt idx="121">
                  <c:v>163.75</c:v>
                </c:pt>
                <c:pt idx="122">
                  <c:v>163.75</c:v>
                </c:pt>
                <c:pt idx="123">
                  <c:v>163.75</c:v>
                </c:pt>
                <c:pt idx="124">
                  <c:v>163.75</c:v>
                </c:pt>
                <c:pt idx="125">
                  <c:v>163.75</c:v>
                </c:pt>
                <c:pt idx="126">
                  <c:v>163.75</c:v>
                </c:pt>
                <c:pt idx="127">
                  <c:v>163.75</c:v>
                </c:pt>
                <c:pt idx="128">
                  <c:v>163.75</c:v>
                </c:pt>
                <c:pt idx="129">
                  <c:v>163.75</c:v>
                </c:pt>
                <c:pt idx="130">
                  <c:v>163.75</c:v>
                </c:pt>
                <c:pt idx="131">
                  <c:v>163.75</c:v>
                </c:pt>
                <c:pt idx="132">
                  <c:v>163.75</c:v>
                </c:pt>
                <c:pt idx="133">
                  <c:v>163.75</c:v>
                </c:pt>
                <c:pt idx="134">
                  <c:v>163.75</c:v>
                </c:pt>
                <c:pt idx="135">
                  <c:v>163.75</c:v>
                </c:pt>
                <c:pt idx="136">
                  <c:v>163.75</c:v>
                </c:pt>
                <c:pt idx="137">
                  <c:v>163.75</c:v>
                </c:pt>
                <c:pt idx="138">
                  <c:v>163.75</c:v>
                </c:pt>
                <c:pt idx="139">
                  <c:v>163.75</c:v>
                </c:pt>
                <c:pt idx="140">
                  <c:v>163.75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BD6-4342-881A-B377C380E1C8}"/>
            </c:ext>
          </c:extLst>
        </c:ser>
        <c:ser>
          <c:idx val="1"/>
          <c:order val="1"/>
          <c:tx>
            <c:strRef>
              <c:f>Sheet1!$B$144</c:f>
              <c:strCache>
                <c:ptCount val="1"/>
                <c:pt idx="0">
                  <c:v>100% protected (9.6%)</c:v>
                </c:pt>
              </c:strCache>
            </c:strRef>
          </c:tx>
          <c:spPr>
            <a:ln w="25400" cap="flat">
              <a:solidFill>
                <a:srgbClr val="B23B3B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Sheet1!$A$145:$A$285</c:f>
              <c:numCache>
                <c:formatCode>General</c:formatCode>
                <c:ptCount val="14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  <c:pt idx="121">
                  <c:v>161</c:v>
                </c:pt>
                <c:pt idx="122">
                  <c:v>162</c:v>
                </c:pt>
                <c:pt idx="123">
                  <c:v>163</c:v>
                </c:pt>
                <c:pt idx="124">
                  <c:v>164</c:v>
                </c:pt>
                <c:pt idx="125">
                  <c:v>165</c:v>
                </c:pt>
                <c:pt idx="126">
                  <c:v>166</c:v>
                </c:pt>
                <c:pt idx="127">
                  <c:v>167</c:v>
                </c:pt>
                <c:pt idx="128">
                  <c:v>168</c:v>
                </c:pt>
                <c:pt idx="129">
                  <c:v>169</c:v>
                </c:pt>
                <c:pt idx="130">
                  <c:v>170</c:v>
                </c:pt>
                <c:pt idx="131">
                  <c:v>171</c:v>
                </c:pt>
                <c:pt idx="132">
                  <c:v>172</c:v>
                </c:pt>
                <c:pt idx="133">
                  <c:v>173</c:v>
                </c:pt>
                <c:pt idx="134">
                  <c:v>174</c:v>
                </c:pt>
                <c:pt idx="135">
                  <c:v>175</c:v>
                </c:pt>
                <c:pt idx="136">
                  <c:v>176</c:v>
                </c:pt>
                <c:pt idx="137">
                  <c:v>177</c:v>
                </c:pt>
                <c:pt idx="138">
                  <c:v>178</c:v>
                </c:pt>
                <c:pt idx="139">
                  <c:v>179</c:v>
                </c:pt>
                <c:pt idx="140">
                  <c:v>180</c:v>
                </c:pt>
              </c:numCache>
            </c:numRef>
          </c:xVal>
          <c:yVal>
            <c:numRef>
              <c:f>Sheet1!$B$145:$B$285</c:f>
              <c:numCache>
                <c:formatCode>General</c:formatCode>
                <c:ptCount val="14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148.0</c:v>
                </c:pt>
                <c:pt idx="54">
                  <c:v>148.0</c:v>
                </c:pt>
                <c:pt idx="55">
                  <c:v>148.0</c:v>
                </c:pt>
                <c:pt idx="56">
                  <c:v>148.0</c:v>
                </c:pt>
                <c:pt idx="57">
                  <c:v>148.0</c:v>
                </c:pt>
                <c:pt idx="58">
                  <c:v>148.0</c:v>
                </c:pt>
                <c:pt idx="59">
                  <c:v>148.0</c:v>
                </c:pt>
                <c:pt idx="60">
                  <c:v>148.0</c:v>
                </c:pt>
                <c:pt idx="61">
                  <c:v>148.0</c:v>
                </c:pt>
                <c:pt idx="62">
                  <c:v>148.0</c:v>
                </c:pt>
                <c:pt idx="63">
                  <c:v>148.0</c:v>
                </c:pt>
                <c:pt idx="64">
                  <c:v>148.0</c:v>
                </c:pt>
                <c:pt idx="65">
                  <c:v>148.0</c:v>
                </c:pt>
                <c:pt idx="66">
                  <c:v>148.0</c:v>
                </c:pt>
                <c:pt idx="67">
                  <c:v>148.0</c:v>
                </c:pt>
                <c:pt idx="68">
                  <c:v>148.0</c:v>
                </c:pt>
                <c:pt idx="69">
                  <c:v>148.0</c:v>
                </c:pt>
                <c:pt idx="70">
                  <c:v>148.0</c:v>
                </c:pt>
                <c:pt idx="71">
                  <c:v>148.0</c:v>
                </c:pt>
                <c:pt idx="72">
                  <c:v>148.0</c:v>
                </c:pt>
                <c:pt idx="73">
                  <c:v>148.0</c:v>
                </c:pt>
                <c:pt idx="74">
                  <c:v>148.0</c:v>
                </c:pt>
                <c:pt idx="75">
                  <c:v>148.0</c:v>
                </c:pt>
                <c:pt idx="76">
                  <c:v>148.0</c:v>
                </c:pt>
                <c:pt idx="77">
                  <c:v>148.0</c:v>
                </c:pt>
                <c:pt idx="78">
                  <c:v>148.0</c:v>
                </c:pt>
                <c:pt idx="79">
                  <c:v>148.0</c:v>
                </c:pt>
                <c:pt idx="80">
                  <c:v>148.0</c:v>
                </c:pt>
                <c:pt idx="81">
                  <c:v>148.0</c:v>
                </c:pt>
                <c:pt idx="82">
                  <c:v>148.0</c:v>
                </c:pt>
                <c:pt idx="83">
                  <c:v>148.0</c:v>
                </c:pt>
                <c:pt idx="84">
                  <c:v>148.0</c:v>
                </c:pt>
                <c:pt idx="85">
                  <c:v>148.0</c:v>
                </c:pt>
                <c:pt idx="86">
                  <c:v>148.0</c:v>
                </c:pt>
                <c:pt idx="87">
                  <c:v>148.0</c:v>
                </c:pt>
                <c:pt idx="88">
                  <c:v>148.0</c:v>
                </c:pt>
                <c:pt idx="89">
                  <c:v>148.0</c:v>
                </c:pt>
                <c:pt idx="90">
                  <c:v>148.0</c:v>
                </c:pt>
                <c:pt idx="91">
                  <c:v>148.0</c:v>
                </c:pt>
                <c:pt idx="92">
                  <c:v>148.0</c:v>
                </c:pt>
                <c:pt idx="93">
                  <c:v>148.0</c:v>
                </c:pt>
                <c:pt idx="94">
                  <c:v>148.0</c:v>
                </c:pt>
                <c:pt idx="95">
                  <c:v>148.0</c:v>
                </c:pt>
                <c:pt idx="96">
                  <c:v>148.0</c:v>
                </c:pt>
                <c:pt idx="97">
                  <c:v>148.0</c:v>
                </c:pt>
                <c:pt idx="98">
                  <c:v>148.0</c:v>
                </c:pt>
                <c:pt idx="99">
                  <c:v>148.0</c:v>
                </c:pt>
                <c:pt idx="100">
                  <c:v>148.0</c:v>
                </c:pt>
                <c:pt idx="101">
                  <c:v>148.0</c:v>
                </c:pt>
                <c:pt idx="102">
                  <c:v>148.0</c:v>
                </c:pt>
                <c:pt idx="103">
                  <c:v>148.0</c:v>
                </c:pt>
                <c:pt idx="104">
                  <c:v>148.0</c:v>
                </c:pt>
                <c:pt idx="105">
                  <c:v>148.0</c:v>
                </c:pt>
                <c:pt idx="106">
                  <c:v>148.0</c:v>
                </c:pt>
                <c:pt idx="107">
                  <c:v>148.0</c:v>
                </c:pt>
                <c:pt idx="108">
                  <c:v>148.0</c:v>
                </c:pt>
                <c:pt idx="109">
                  <c:v>148.0</c:v>
                </c:pt>
                <c:pt idx="110">
                  <c:v>148.0</c:v>
                </c:pt>
                <c:pt idx="111">
                  <c:v>148.0</c:v>
                </c:pt>
                <c:pt idx="112">
                  <c:v>148.0</c:v>
                </c:pt>
                <c:pt idx="113">
                  <c:v>148.0</c:v>
                </c:pt>
                <c:pt idx="114">
                  <c:v>148.0</c:v>
                </c:pt>
                <c:pt idx="115">
                  <c:v>148.0</c:v>
                </c:pt>
                <c:pt idx="116">
                  <c:v>148.0</c:v>
                </c:pt>
                <c:pt idx="117">
                  <c:v>148.0</c:v>
                </c:pt>
                <c:pt idx="118">
                  <c:v>148.0</c:v>
                </c:pt>
                <c:pt idx="119">
                  <c:v>148.0</c:v>
                </c:pt>
                <c:pt idx="120">
                  <c:v>148.0</c:v>
                </c:pt>
                <c:pt idx="121">
                  <c:v>148.0</c:v>
                </c:pt>
                <c:pt idx="122">
                  <c:v>148.0</c:v>
                </c:pt>
                <c:pt idx="123">
                  <c:v>148.0</c:v>
                </c:pt>
                <c:pt idx="124">
                  <c:v>148.0</c:v>
                </c:pt>
                <c:pt idx="125">
                  <c:v>148.0</c:v>
                </c:pt>
                <c:pt idx="126">
                  <c:v>148.0</c:v>
                </c:pt>
                <c:pt idx="127">
                  <c:v>148.0</c:v>
                </c:pt>
                <c:pt idx="128">
                  <c:v>148.0</c:v>
                </c:pt>
                <c:pt idx="129">
                  <c:v>148.0</c:v>
                </c:pt>
                <c:pt idx="130">
                  <c:v>148.0</c:v>
                </c:pt>
                <c:pt idx="131">
                  <c:v>148.0</c:v>
                </c:pt>
                <c:pt idx="132">
                  <c:v>148.0</c:v>
                </c:pt>
                <c:pt idx="133">
                  <c:v>148.0</c:v>
                </c:pt>
                <c:pt idx="134">
                  <c:v>148.0</c:v>
                </c:pt>
                <c:pt idx="135">
                  <c:v>148.0</c:v>
                </c:pt>
                <c:pt idx="136">
                  <c:v>148.0</c:v>
                </c:pt>
                <c:pt idx="137">
                  <c:v>148.0</c:v>
                </c:pt>
                <c:pt idx="138">
                  <c:v>148.0</c:v>
                </c:pt>
                <c:pt idx="139">
                  <c:v>148.0</c:v>
                </c:pt>
                <c:pt idx="140">
                  <c:v>148.0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BD6-4342-881A-B377C380E1C8}"/>
            </c:ext>
          </c:extLst>
        </c:ser>
        <c:ser>
          <c:idx val="2"/>
          <c:order val="2"/>
          <c:tx>
            <c:strRef>
              <c:f>Sheet1!$B$287</c:f>
              <c:strCache>
                <c:ptCount val="1"/>
                <c:pt idx="0">
                  <c:v>PPN</c:v>
                </c:pt>
              </c:strCache>
            </c:strRef>
          </c:tx>
          <c:spPr>
            <a:ln w="25400" cap="flat">
              <a:solidFill>
                <a:srgbClr val="E67E22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Sheet1!$A$288:$A$428</c:f>
              <c:numCache>
                <c:formatCode>General</c:formatCode>
                <c:ptCount val="14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  <c:pt idx="121">
                  <c:v>161</c:v>
                </c:pt>
                <c:pt idx="122">
                  <c:v>162</c:v>
                </c:pt>
                <c:pt idx="123">
                  <c:v>163</c:v>
                </c:pt>
                <c:pt idx="124">
                  <c:v>164</c:v>
                </c:pt>
                <c:pt idx="125">
                  <c:v>165</c:v>
                </c:pt>
                <c:pt idx="126">
                  <c:v>166</c:v>
                </c:pt>
                <c:pt idx="127">
                  <c:v>167</c:v>
                </c:pt>
                <c:pt idx="128">
                  <c:v>168</c:v>
                </c:pt>
                <c:pt idx="129">
                  <c:v>169</c:v>
                </c:pt>
                <c:pt idx="130">
                  <c:v>170</c:v>
                </c:pt>
                <c:pt idx="131">
                  <c:v>171</c:v>
                </c:pt>
                <c:pt idx="132">
                  <c:v>172</c:v>
                </c:pt>
                <c:pt idx="133">
                  <c:v>173</c:v>
                </c:pt>
                <c:pt idx="134">
                  <c:v>174</c:v>
                </c:pt>
                <c:pt idx="135">
                  <c:v>175</c:v>
                </c:pt>
                <c:pt idx="136">
                  <c:v>176</c:v>
                </c:pt>
                <c:pt idx="137">
                  <c:v>177</c:v>
                </c:pt>
                <c:pt idx="138">
                  <c:v>178</c:v>
                </c:pt>
                <c:pt idx="139">
                  <c:v>179</c:v>
                </c:pt>
                <c:pt idx="140">
                  <c:v>180</c:v>
                </c:pt>
              </c:numCache>
            </c:numRef>
          </c:xVal>
          <c:yVal>
            <c:numRef>
              <c:f>Sheet1!$B$288:$B$428</c:f>
              <c:numCache>
                <c:formatCode>General</c:formatCode>
                <c:ptCount val="141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100.0</c:v>
                </c:pt>
                <c:pt idx="12">
                  <c:v>100.0</c:v>
                </c:pt>
                <c:pt idx="13">
                  <c:v>100.0</c:v>
                </c:pt>
                <c:pt idx="14">
                  <c:v>100.0</c:v>
                </c:pt>
                <c:pt idx="15">
                  <c:v>100.0</c:v>
                </c:pt>
                <c:pt idx="16">
                  <c:v>100.0</c:v>
                </c:pt>
                <c:pt idx="17">
                  <c:v>100.0</c:v>
                </c:pt>
                <c:pt idx="18">
                  <c:v>100.0</c:v>
                </c:pt>
                <c:pt idx="19">
                  <c:v>100.0</c:v>
                </c:pt>
                <c:pt idx="20">
                  <c:v>100.0</c:v>
                </c:pt>
                <c:pt idx="21">
                  <c:v>100.0</c:v>
                </c:pt>
                <c:pt idx="22">
                  <c:v>100.0</c:v>
                </c:pt>
                <c:pt idx="23">
                  <c:v>100.0</c:v>
                </c:pt>
                <c:pt idx="24">
                  <c:v>100.0</c:v>
                </c:pt>
                <c:pt idx="25">
                  <c:v>100.0</c:v>
                </c:pt>
                <c:pt idx="26">
                  <c:v>100.0</c:v>
                </c:pt>
                <c:pt idx="27">
                  <c:v>100.0</c:v>
                </c:pt>
                <c:pt idx="28">
                  <c:v>100.0</c:v>
                </c:pt>
                <c:pt idx="29">
                  <c:v>100.0</c:v>
                </c:pt>
                <c:pt idx="30">
                  <c:v>100.0</c:v>
                </c:pt>
                <c:pt idx="31">
                  <c:v>100.0</c:v>
                </c:pt>
                <c:pt idx="32">
                  <c:v>100.0</c:v>
                </c:pt>
                <c:pt idx="33">
                  <c:v>100.0</c:v>
                </c:pt>
                <c:pt idx="34">
                  <c:v>100.0</c:v>
                </c:pt>
                <c:pt idx="35">
                  <c:v>100.0</c:v>
                </c:pt>
                <c:pt idx="36">
                  <c:v>100.0</c:v>
                </c:pt>
                <c:pt idx="37">
                  <c:v>100.0</c:v>
                </c:pt>
                <c:pt idx="38">
                  <c:v>100.0</c:v>
                </c:pt>
                <c:pt idx="39">
                  <c:v>100.0</c:v>
                </c:pt>
                <c:pt idx="40">
                  <c:v>100.0</c:v>
                </c:pt>
                <c:pt idx="41">
                  <c:v>100.0</c:v>
                </c:pt>
                <c:pt idx="42">
                  <c:v>100.0</c:v>
                </c:pt>
                <c:pt idx="43">
                  <c:v>100.0</c:v>
                </c:pt>
                <c:pt idx="44">
                  <c:v>100.0</c:v>
                </c:pt>
                <c:pt idx="45">
                  <c:v>100.0</c:v>
                </c:pt>
                <c:pt idx="46">
                  <c:v>100.0</c:v>
                </c:pt>
                <c:pt idx="47">
                  <c:v>100.0</c:v>
                </c:pt>
                <c:pt idx="48">
                  <c:v>100.0</c:v>
                </c:pt>
                <c:pt idx="49">
                  <c:v>100.0</c:v>
                </c:pt>
                <c:pt idx="50">
                  <c:v>100.0</c:v>
                </c:pt>
                <c:pt idx="51">
                  <c:v>100.0</c:v>
                </c:pt>
                <c:pt idx="52">
                  <c:v>100.0</c:v>
                </c:pt>
                <c:pt idx="53">
                  <c:v>100.0</c:v>
                </c:pt>
                <c:pt idx="54">
                  <c:v>100.0</c:v>
                </c:pt>
                <c:pt idx="55">
                  <c:v>100.0</c:v>
                </c:pt>
                <c:pt idx="56">
                  <c:v>100.0</c:v>
                </c:pt>
                <c:pt idx="57">
                  <c:v>100.0</c:v>
                </c:pt>
                <c:pt idx="58">
                  <c:v>100.0</c:v>
                </c:pt>
                <c:pt idx="59">
                  <c:v>100.0</c:v>
                </c:pt>
                <c:pt idx="60">
                  <c:v>100.0</c:v>
                </c:pt>
                <c:pt idx="61">
                  <c:v>100.853</c:v>
                </c:pt>
                <c:pt idx="62">
                  <c:v>101.706</c:v>
                </c:pt>
                <c:pt idx="63">
                  <c:v>102.559</c:v>
                </c:pt>
                <c:pt idx="64">
                  <c:v>103.412</c:v>
                </c:pt>
                <c:pt idx="65">
                  <c:v>104.265</c:v>
                </c:pt>
                <c:pt idx="66">
                  <c:v>105.118</c:v>
                </c:pt>
                <c:pt idx="67">
                  <c:v>105.971</c:v>
                </c:pt>
                <c:pt idx="68">
                  <c:v>106.824</c:v>
                </c:pt>
                <c:pt idx="69">
                  <c:v>107.67699999999999</c:v>
                </c:pt>
                <c:pt idx="70">
                  <c:v>108.53</c:v>
                </c:pt>
                <c:pt idx="71">
                  <c:v>109.383</c:v>
                </c:pt>
                <c:pt idx="72">
                  <c:v>110.236</c:v>
                </c:pt>
                <c:pt idx="73">
                  <c:v>111.089</c:v>
                </c:pt>
                <c:pt idx="74">
                  <c:v>111.94200000000001</c:v>
                </c:pt>
                <c:pt idx="75">
                  <c:v>112.795</c:v>
                </c:pt>
                <c:pt idx="76">
                  <c:v>113.648</c:v>
                </c:pt>
                <c:pt idx="77">
                  <c:v>114.501</c:v>
                </c:pt>
                <c:pt idx="78">
                  <c:v>115.354</c:v>
                </c:pt>
                <c:pt idx="79">
                  <c:v>116.207</c:v>
                </c:pt>
                <c:pt idx="80">
                  <c:v>117.06</c:v>
                </c:pt>
                <c:pt idx="81">
                  <c:v>117.913</c:v>
                </c:pt>
                <c:pt idx="82">
                  <c:v>118.76599999999999</c:v>
                </c:pt>
                <c:pt idx="83">
                  <c:v>119.619</c:v>
                </c:pt>
                <c:pt idx="84">
                  <c:v>120.47200000000001</c:v>
                </c:pt>
                <c:pt idx="85">
                  <c:v>121.325</c:v>
                </c:pt>
                <c:pt idx="86">
                  <c:v>122.178</c:v>
                </c:pt>
                <c:pt idx="87">
                  <c:v>123.031</c:v>
                </c:pt>
                <c:pt idx="88">
                  <c:v>123.884</c:v>
                </c:pt>
                <c:pt idx="89">
                  <c:v>124.737</c:v>
                </c:pt>
                <c:pt idx="90">
                  <c:v>125.59</c:v>
                </c:pt>
                <c:pt idx="91">
                  <c:v>126.443</c:v>
                </c:pt>
                <c:pt idx="92">
                  <c:v>127.29599999999999</c:v>
                </c:pt>
                <c:pt idx="93">
                  <c:v>128.149</c:v>
                </c:pt>
                <c:pt idx="94">
                  <c:v>129.002</c:v>
                </c:pt>
                <c:pt idx="95">
                  <c:v>129.855</c:v>
                </c:pt>
                <c:pt idx="96">
                  <c:v>130.708</c:v>
                </c:pt>
                <c:pt idx="97">
                  <c:v>131.561</c:v>
                </c:pt>
                <c:pt idx="98">
                  <c:v>132.414</c:v>
                </c:pt>
                <c:pt idx="99">
                  <c:v>133.267</c:v>
                </c:pt>
                <c:pt idx="100">
                  <c:v>134.12</c:v>
                </c:pt>
                <c:pt idx="101">
                  <c:v>134.973</c:v>
                </c:pt>
                <c:pt idx="102">
                  <c:v>135.826</c:v>
                </c:pt>
                <c:pt idx="103">
                  <c:v>136.679</c:v>
                </c:pt>
                <c:pt idx="104">
                  <c:v>137.53199999999998</c:v>
                </c:pt>
                <c:pt idx="105">
                  <c:v>138.385</c:v>
                </c:pt>
                <c:pt idx="106">
                  <c:v>139.238</c:v>
                </c:pt>
                <c:pt idx="107">
                  <c:v>140.091</c:v>
                </c:pt>
                <c:pt idx="108">
                  <c:v>140.94400000000002</c:v>
                </c:pt>
                <c:pt idx="109">
                  <c:v>141.797</c:v>
                </c:pt>
                <c:pt idx="110">
                  <c:v>142.65</c:v>
                </c:pt>
                <c:pt idx="111">
                  <c:v>143.503</c:v>
                </c:pt>
                <c:pt idx="112">
                  <c:v>144.356</c:v>
                </c:pt>
                <c:pt idx="113">
                  <c:v>145.209</c:v>
                </c:pt>
                <c:pt idx="114">
                  <c:v>146.062</c:v>
                </c:pt>
                <c:pt idx="115">
                  <c:v>146.915</c:v>
                </c:pt>
                <c:pt idx="116">
                  <c:v>147.768</c:v>
                </c:pt>
                <c:pt idx="117">
                  <c:v>148.621</c:v>
                </c:pt>
                <c:pt idx="118">
                  <c:v>149.474</c:v>
                </c:pt>
                <c:pt idx="119">
                  <c:v>150.327</c:v>
                </c:pt>
                <c:pt idx="120">
                  <c:v>151.18</c:v>
                </c:pt>
                <c:pt idx="121">
                  <c:v>152.03300000000002</c:v>
                </c:pt>
                <c:pt idx="122">
                  <c:v>152.886</c:v>
                </c:pt>
                <c:pt idx="123">
                  <c:v>153.739</c:v>
                </c:pt>
                <c:pt idx="124">
                  <c:v>154.59199999999998</c:v>
                </c:pt>
                <c:pt idx="125">
                  <c:v>155.445</c:v>
                </c:pt>
                <c:pt idx="126">
                  <c:v>156.298</c:v>
                </c:pt>
                <c:pt idx="127">
                  <c:v>157.151</c:v>
                </c:pt>
                <c:pt idx="128">
                  <c:v>158.004</c:v>
                </c:pt>
                <c:pt idx="129">
                  <c:v>158.857</c:v>
                </c:pt>
                <c:pt idx="130">
                  <c:v>159.71</c:v>
                </c:pt>
                <c:pt idx="131">
                  <c:v>160.563</c:v>
                </c:pt>
                <c:pt idx="132">
                  <c:v>161.416</c:v>
                </c:pt>
                <c:pt idx="133">
                  <c:v>162.269</c:v>
                </c:pt>
                <c:pt idx="134">
                  <c:v>163.122</c:v>
                </c:pt>
                <c:pt idx="135">
                  <c:v>163.975</c:v>
                </c:pt>
                <c:pt idx="136">
                  <c:v>164.828</c:v>
                </c:pt>
                <c:pt idx="137">
                  <c:v>165.68099999999998</c:v>
                </c:pt>
                <c:pt idx="138">
                  <c:v>166.534</c:v>
                </c:pt>
                <c:pt idx="139">
                  <c:v>167.387</c:v>
                </c:pt>
                <c:pt idx="140">
                  <c:v>168.24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BD6-4342-881A-B377C380E1C8}"/>
            </c:ext>
          </c:extLst>
        </c:ser>
        <c:ser>
          <c:idx val="3"/>
          <c:order val="3"/>
          <c:tx>
            <c:strRef>
              <c:f>Sheet1!$B$430</c:f>
              <c:strCache>
                <c:ptCount val="1"/>
                <c:pt idx="0">
                  <c:v>Basket</c:v>
                </c:pt>
              </c:strCache>
            </c:strRef>
          </c:tx>
          <c:spPr>
            <a:ln w="25400" cap="flat">
              <a:solidFill>
                <a:srgbClr val="A6A6A6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Sheet1!$A$431:$A$571</c:f>
              <c:numCache>
                <c:formatCode>General</c:formatCode>
                <c:ptCount val="14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  <c:pt idx="121">
                  <c:v>161</c:v>
                </c:pt>
                <c:pt idx="122">
                  <c:v>162</c:v>
                </c:pt>
                <c:pt idx="123">
                  <c:v>163</c:v>
                </c:pt>
                <c:pt idx="124">
                  <c:v>164</c:v>
                </c:pt>
                <c:pt idx="125">
                  <c:v>165</c:v>
                </c:pt>
                <c:pt idx="126">
                  <c:v>166</c:v>
                </c:pt>
                <c:pt idx="127">
                  <c:v>167</c:v>
                </c:pt>
                <c:pt idx="128">
                  <c:v>168</c:v>
                </c:pt>
                <c:pt idx="129">
                  <c:v>169</c:v>
                </c:pt>
                <c:pt idx="130">
                  <c:v>170</c:v>
                </c:pt>
                <c:pt idx="131">
                  <c:v>171</c:v>
                </c:pt>
                <c:pt idx="132">
                  <c:v>172</c:v>
                </c:pt>
                <c:pt idx="133">
                  <c:v>173</c:v>
                </c:pt>
                <c:pt idx="134">
                  <c:v>174</c:v>
                </c:pt>
                <c:pt idx="135">
                  <c:v>175</c:v>
                </c:pt>
                <c:pt idx="136">
                  <c:v>176</c:v>
                </c:pt>
                <c:pt idx="137">
                  <c:v>177</c:v>
                </c:pt>
                <c:pt idx="138">
                  <c:v>178</c:v>
                </c:pt>
                <c:pt idx="139">
                  <c:v>179</c:v>
                </c:pt>
                <c:pt idx="140">
                  <c:v>180</c:v>
                </c:pt>
              </c:numCache>
            </c:numRef>
          </c:xVal>
          <c:yVal>
            <c:numRef>
              <c:f>Sheet1!$B$431:$B$571</c:f>
              <c:numCache>
                <c:formatCode>General</c:formatCode>
                <c:ptCount val="14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  <c:pt idx="121">
                  <c:v>161</c:v>
                </c:pt>
                <c:pt idx="122">
                  <c:v>162</c:v>
                </c:pt>
                <c:pt idx="123">
                  <c:v>163</c:v>
                </c:pt>
                <c:pt idx="124">
                  <c:v>164</c:v>
                </c:pt>
                <c:pt idx="125">
                  <c:v>165</c:v>
                </c:pt>
                <c:pt idx="126">
                  <c:v>166</c:v>
                </c:pt>
                <c:pt idx="127">
                  <c:v>167</c:v>
                </c:pt>
                <c:pt idx="128">
                  <c:v>168</c:v>
                </c:pt>
                <c:pt idx="129">
                  <c:v>169</c:v>
                </c:pt>
                <c:pt idx="130">
                  <c:v>170</c:v>
                </c:pt>
                <c:pt idx="131">
                  <c:v>171</c:v>
                </c:pt>
                <c:pt idx="132">
                  <c:v>172</c:v>
                </c:pt>
                <c:pt idx="133">
                  <c:v>173</c:v>
                </c:pt>
                <c:pt idx="134">
                  <c:v>174</c:v>
                </c:pt>
                <c:pt idx="135">
                  <c:v>175</c:v>
                </c:pt>
                <c:pt idx="136">
                  <c:v>176</c:v>
                </c:pt>
                <c:pt idx="137">
                  <c:v>177</c:v>
                </c:pt>
                <c:pt idx="138">
                  <c:v>178</c:v>
                </c:pt>
                <c:pt idx="139">
                  <c:v>179</c:v>
                </c:pt>
                <c:pt idx="140">
                  <c:v>180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7BD6-4342-881A-B377C380E1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80"/>
          <c:min val="4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83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  <c:majorUnit val="20"/>
      </c:valAx>
      <c:valAx>
        <c:axId val="2094734552"/>
        <c:scaling>
          <c:orientation val="minMax"/>
          <c:max val="190"/>
          <c:min val="3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3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8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42E27-AB27-4C41-A7B9-B5728E1D6364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C1EE00-C15A-0B4C-A8B9-48F259B5222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181228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C1EE00-C15A-0B4C-A8B9-48F259B52223}" type="slidenum">
              <a:rPr lang="en-HK" smtClean="0"/>
              <a:t>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979851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 1, the theme. AI spending is a hardware boom and Asia holds the three bottlenecks: Taiwan's foundries, Korea's high-bandwidth memory, Japan's chip-making tools. The demand is structural, but the memory cycle is maturing and the indices that hold the theme move violently: KOSPI lost about a quarter between June and August. Returns are concentrated in a few names and valuations are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 2, the backdrop. The Fed's dot plot keeps the median at 4.125% to end-2027 with cuts only from 2028; it has just hiked and futures price more. Yields are high, but a long bond loses about 4.0% per 1% rise, so duration is a risk. Asian equity volatility is at records: VKOSPI hit 91.2 and KOSPI fell nearly 9% in one day. Both bonds and buy-and-hold carry more risk than usual.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note: five years, five Asian ETFs, checked once a year. If the basket is at or above that year's call level (102.5% in year 1, stepping down 2.5% a year to 92.5%), the note ends and pays 100% plus 12.75% for every year elapsed. If it is never called, the family gets 100% back unless the basket ends below 70% at year 5, in which case it is repaid at the basket level. The fair coupon is 14.09%; we offer 12.75%, so the note is worth about 98.4% at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note as one question asked once a year: is the basket at or above this year's call level? The level starts at 102.5% and steps down 2.5% a year to 92.5%. If yes, the note ends and the family receives 100% plus 12.75% for every year elapsed. If the note is never called, the family gets 100% back unless the basket ends below 70% at year 5. Probabilities are on the team outlook (expected returns from the strategy app), not the pricing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Investor risks on the left, desk hedges on the right. The capital-loss line is explicit: the family loses only if the note is never called and the basket ends below 70% at year 5. That is 0.2% of paths on our outlook but about 14% under the pricing assumptions, which is what the coupon pays for. The 12.75% coupon sits below the 14.09% fair level in every sensitivity except a 3-point fall in volatility.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five scenarios. The 2022-style path is the key one: a 30% drawdown in the first year that would scare a direct investor, yet the note is called in year 4 at 151% because the call level has stepped down to 95%. The lost decade ends at 88%, above the barrier, so the family gets its money back. Only a shock that leaves the basket below 70% at year 5 costs capital.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Mini-charts show each leg against the basket level (year-1 view for the coupon and autocall legs). The short put is the key: the client sells Natixis a put struck at 100% that only applies if the note is never called and the basket ends below 70%, and its premium funds the double-digit coupon.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we priced the note. A: annual rates from the case grid are turned into continuous rates and discount factors. B: we simulate each ETF one year at a time with correlated geometric Brownian motion, using the implied-volatility term structure through interval variances and the correlation matrix through its Cholesky factor. C: the basket is the weighted sum of the five ETFs; the note is called at the first year the basket reaches that year's barrier, which steps down from 102.5% to 92.5%. D: if never called, the family gets 100% back unless the basket is below 70% at Year 5. E: the fair coupon is the value of y that makes the expected discounted payoff equal 1. Result: 13.752219% with a standard error of 2.236 basis points. We pay the client a 10% coupon and collect the remaining 3.752219%.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 inputs to the simulation. Term structure: the case USD grid, with Year 4 interpolated between 3 and 5 years, converted to continuous rates and discount factors. Correlations: pairwise correlations between the five ETFs. Implied volatilities: a term structure for each ETF over five years. Interval variances: the variance used for each one-year step in the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one page. The family wants to grow capital for the next generation and own Asia's digital transformation, with a defined barrier. Our thesis: Asia holds AI's hardware bottlenecks, but the path is violent and rates stay high. So we hold a five-ETF Asian basket through a five-year autocallable note paying 12.75% a year, with a step-down call and a 70% barrier at maturity only. On our outlook the note is usually called in year one and loses capital in very few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1_Title Slid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7B90982-70E3-7E29-BC07-522DD6DAEDE2}"/>
              </a:ext>
            </a:extLst>
          </p:cNvPr>
          <p:cNvSpPr/>
          <p:nvPr userDrawn="1"/>
        </p:nvSpPr>
        <p:spPr>
          <a:xfrm flipH="1">
            <a:off x="0" y="0"/>
            <a:ext cx="12192000" cy="5194646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72000"/>
                </a:schemeClr>
              </a:gs>
              <a:gs pos="98000">
                <a:schemeClr val="tx1">
                  <a:alpha val="19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u="s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B5593-0EF9-6D98-0813-57D1EEB9583C}"/>
              </a:ext>
            </a:extLst>
          </p:cNvPr>
          <p:cNvSpPr txBox="1"/>
          <p:nvPr userDrawn="1"/>
        </p:nvSpPr>
        <p:spPr>
          <a:xfrm>
            <a:off x="335835" y="4352079"/>
            <a:ext cx="7158269" cy="584477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endParaRPr lang="en-US" sz="28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CBD69-B3F7-6638-61CA-B3E6EBA6ED39}"/>
              </a:ext>
            </a:extLst>
          </p:cNvPr>
          <p:cNvSpPr txBox="1"/>
          <p:nvPr userDrawn="1"/>
        </p:nvSpPr>
        <p:spPr>
          <a:xfrm>
            <a:off x="355120" y="4115055"/>
            <a:ext cx="4741457" cy="385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000" b="1" i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presents</a:t>
            </a:r>
            <a:endParaRPr lang="en-GB" sz="2000" b="1" i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72747E-A873-6BA2-0012-E7041DA0913B}"/>
              </a:ext>
            </a:extLst>
          </p:cNvPr>
          <p:cNvSpPr txBox="1"/>
          <p:nvPr userDrawn="1"/>
        </p:nvSpPr>
        <p:spPr>
          <a:xfrm>
            <a:off x="10824765" y="6485098"/>
            <a:ext cx="1074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1200" b="1">
                <a:latin typeface="Calibri" panose="020F0502020204030204" pitchFamily="34" charset="0"/>
                <a:cs typeface="Calibri" panose="020F0502020204030204" pitchFamily="34" charset="0"/>
              </a:rPr>
              <a:t>Joyce Li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367171E-525A-66C2-6AA1-35792C0C1A2B}"/>
              </a:ext>
            </a:extLst>
          </p:cNvPr>
          <p:cNvSpPr/>
          <p:nvPr userDrawn="1"/>
        </p:nvSpPr>
        <p:spPr>
          <a:xfrm>
            <a:off x="5775989" y="5367402"/>
            <a:ext cx="1074333" cy="106984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6BA9783-52B7-1394-7350-1F5B1C919615}"/>
              </a:ext>
            </a:extLst>
          </p:cNvPr>
          <p:cNvSpPr/>
          <p:nvPr userDrawn="1"/>
        </p:nvSpPr>
        <p:spPr>
          <a:xfrm>
            <a:off x="7458076" y="5386062"/>
            <a:ext cx="1074333" cy="106984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5E181B7-BFCD-EC81-92B2-C71D7EC77DFB}"/>
              </a:ext>
            </a:extLst>
          </p:cNvPr>
          <p:cNvSpPr/>
          <p:nvPr userDrawn="1"/>
        </p:nvSpPr>
        <p:spPr>
          <a:xfrm>
            <a:off x="9142958" y="5367402"/>
            <a:ext cx="1074333" cy="106984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8ABF191-5284-C80B-3CDD-6898F538F1C8}"/>
              </a:ext>
            </a:extLst>
          </p:cNvPr>
          <p:cNvSpPr/>
          <p:nvPr userDrawn="1"/>
        </p:nvSpPr>
        <p:spPr>
          <a:xfrm>
            <a:off x="10824765" y="5386062"/>
            <a:ext cx="1074333" cy="106984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erson with long hair wearing a black suit&#10;&#10;Description automatically generated">
            <a:extLst>
              <a:ext uri="{FF2B5EF4-FFF2-40B4-BE49-F238E27FC236}">
                <a16:creationId xmlns:a16="http://schemas.microsoft.com/office/drawing/2014/main" id="{8AD1B786-9FF3-790B-6F99-5C033A3F62D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7" t="8759" r="-469" b="14345"/>
          <a:stretch/>
        </p:blipFill>
        <p:spPr>
          <a:xfrm>
            <a:off x="10895731" y="5454786"/>
            <a:ext cx="932400" cy="932400"/>
          </a:xfrm>
          <a:prstGeom prst="ellipse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656160-D967-EBE1-676D-2D6080FF09A0}"/>
              </a:ext>
            </a:extLst>
          </p:cNvPr>
          <p:cNvSpPr txBox="1"/>
          <p:nvPr userDrawn="1"/>
        </p:nvSpPr>
        <p:spPr>
          <a:xfrm>
            <a:off x="7422097" y="6485099"/>
            <a:ext cx="1144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1200" b="1">
                <a:latin typeface="Calibri" panose="020F0502020204030204" pitchFamily="34" charset="0"/>
                <a:cs typeface="Calibri" panose="020F0502020204030204" pitchFamily="34" charset="0"/>
              </a:rPr>
              <a:t>Sergius Ching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0F4E69-797A-24A0-70E0-12B203F1FF9E}"/>
              </a:ext>
            </a:extLst>
          </p:cNvPr>
          <p:cNvSpPr txBox="1"/>
          <p:nvPr userDrawn="1"/>
        </p:nvSpPr>
        <p:spPr>
          <a:xfrm>
            <a:off x="5465152" y="6485099"/>
            <a:ext cx="1696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1200" b="1">
                <a:latin typeface="Calibri" panose="020F0502020204030204" pitchFamily="34" charset="0"/>
                <a:cs typeface="Calibri" panose="020F0502020204030204" pitchFamily="34" charset="0"/>
              </a:rPr>
              <a:t>Benjamin Liu</a:t>
            </a:r>
          </a:p>
        </p:txBody>
      </p:sp>
    </p:spTree>
    <p:extLst>
      <p:ext uri="{BB962C8B-B14F-4D97-AF65-F5344CB8AC3E}">
        <p14:creationId xmlns:p14="http://schemas.microsoft.com/office/powerpoint/2010/main" val="3146709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nalysis" preserve="1" userDrawn="1">
  <p:cSld name="Analysi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57"/>
          <p:cNvCxnSpPr/>
          <p:nvPr/>
        </p:nvCxnSpPr>
        <p:spPr>
          <a:xfrm>
            <a:off x="0" y="6425852"/>
            <a:ext cx="12192000" cy="0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" name="Google Shape;22;p57"/>
          <p:cNvSpPr txBox="1"/>
          <p:nvPr/>
        </p:nvSpPr>
        <p:spPr>
          <a:xfrm>
            <a:off x="11733574" y="6460390"/>
            <a:ext cx="4584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7"/>
          <p:cNvSpPr txBox="1">
            <a:spLocks noGrp="1"/>
          </p:cNvSpPr>
          <p:nvPr>
            <p:ph type="body" idx="1"/>
          </p:nvPr>
        </p:nvSpPr>
        <p:spPr>
          <a:xfrm>
            <a:off x="0" y="5795203"/>
            <a:ext cx="12192000" cy="328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7"/>
          <p:cNvSpPr txBox="1"/>
          <p:nvPr/>
        </p:nvSpPr>
        <p:spPr>
          <a:xfrm>
            <a:off x="9405534" y="6477000"/>
            <a:ext cx="17745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/>
          </a:p>
        </p:txBody>
      </p:sp>
      <p:sp>
        <p:nvSpPr>
          <p:cNvPr id="32" name="Google Shape;32;p57"/>
          <p:cNvSpPr txBox="1"/>
          <p:nvPr/>
        </p:nvSpPr>
        <p:spPr>
          <a:xfrm>
            <a:off x="1036182" y="6477000"/>
            <a:ext cx="10123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/>
          </a:p>
        </p:txBody>
      </p:sp>
      <p:sp>
        <p:nvSpPr>
          <p:cNvPr id="33" name="Google Shape;33;p57"/>
          <p:cNvSpPr txBox="1"/>
          <p:nvPr/>
        </p:nvSpPr>
        <p:spPr>
          <a:xfrm>
            <a:off x="5526825" y="6489084"/>
            <a:ext cx="113835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/>
          </a:p>
        </p:txBody>
      </p:sp>
      <p:cxnSp>
        <p:nvCxnSpPr>
          <p:cNvPr id="34" name="Google Shape;34;p57"/>
          <p:cNvCxnSpPr/>
          <p:nvPr/>
        </p:nvCxnSpPr>
        <p:spPr>
          <a:xfrm>
            <a:off x="515434" y="6425852"/>
            <a:ext cx="2053825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" name="Google Shape;35;p57"/>
          <p:cNvSpPr txBox="1">
            <a:spLocks noGrp="1"/>
          </p:cNvSpPr>
          <p:nvPr>
            <p:ph type="body" idx="3"/>
          </p:nvPr>
        </p:nvSpPr>
        <p:spPr>
          <a:xfrm>
            <a:off x="228600" y="6204558"/>
            <a:ext cx="2266344" cy="13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900"/>
              <a:buNone/>
              <a:defRPr sz="900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" name="Google Shape;23;p57">
            <a:extLst>
              <a:ext uri="{FF2B5EF4-FFF2-40B4-BE49-F238E27FC236}">
                <a16:creationId xmlns:a16="http://schemas.microsoft.com/office/drawing/2014/main" id="{148D9606-A4BE-344F-4D30-36168EDBFB2E}"/>
              </a:ext>
            </a:extLst>
          </p:cNvPr>
          <p:cNvSpPr/>
          <p:nvPr userDrawn="1"/>
        </p:nvSpPr>
        <p:spPr>
          <a:xfrm>
            <a:off x="0" y="762000"/>
            <a:ext cx="124179" cy="894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4;p57">
            <a:extLst>
              <a:ext uri="{FF2B5EF4-FFF2-40B4-BE49-F238E27FC236}">
                <a16:creationId xmlns:a16="http://schemas.microsoft.com/office/drawing/2014/main" id="{B073929D-4AD2-8CB1-7048-A9666D5B6920}"/>
              </a:ext>
            </a:extLst>
          </p:cNvPr>
          <p:cNvSpPr/>
          <p:nvPr userDrawn="1"/>
        </p:nvSpPr>
        <p:spPr>
          <a:xfrm>
            <a:off x="0" y="0"/>
            <a:ext cx="124179" cy="82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6;p57">
            <a:extLst>
              <a:ext uri="{FF2B5EF4-FFF2-40B4-BE49-F238E27FC236}">
                <a16:creationId xmlns:a16="http://schemas.microsoft.com/office/drawing/2014/main" id="{68800D4D-8D1C-0A55-FA4D-50F94CFCEB0F}"/>
              </a:ext>
            </a:extLst>
          </p:cNvPr>
          <p:cNvSpPr/>
          <p:nvPr userDrawn="1"/>
        </p:nvSpPr>
        <p:spPr>
          <a:xfrm>
            <a:off x="-1" y="1643749"/>
            <a:ext cx="124179" cy="82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7;p57">
            <a:extLst>
              <a:ext uri="{FF2B5EF4-FFF2-40B4-BE49-F238E27FC236}">
                <a16:creationId xmlns:a16="http://schemas.microsoft.com/office/drawing/2014/main" id="{5C361EC3-8E42-A98E-74EA-6F226F88CDF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5573" y="231721"/>
            <a:ext cx="8375650" cy="37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35;p57">
            <a:extLst>
              <a:ext uri="{FF2B5EF4-FFF2-40B4-BE49-F238E27FC236}">
                <a16:creationId xmlns:a16="http://schemas.microsoft.com/office/drawing/2014/main" id="{6503DD0C-DFB1-BC08-BDAE-8FDE7C17EF35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275573" y="35174"/>
            <a:ext cx="2266344" cy="13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900"/>
              <a:buNone/>
              <a:defRPr sz="900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829F02-7E64-69C9-CE0C-2DB13B4135C5}"/>
              </a:ext>
            </a:extLst>
          </p:cNvPr>
          <p:cNvCxnSpPr/>
          <p:nvPr userDrawn="1"/>
        </p:nvCxnSpPr>
        <p:spPr>
          <a:xfrm>
            <a:off x="275573" y="621210"/>
            <a:ext cx="100081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477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nalysis" preserve="1" userDrawn="1">
  <p:cSld name="1_Analysi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57"/>
          <p:cNvCxnSpPr/>
          <p:nvPr/>
        </p:nvCxnSpPr>
        <p:spPr>
          <a:xfrm>
            <a:off x="0" y="6425852"/>
            <a:ext cx="12192000" cy="0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" name="Google Shape;22;p57"/>
          <p:cNvSpPr txBox="1"/>
          <p:nvPr/>
        </p:nvSpPr>
        <p:spPr>
          <a:xfrm>
            <a:off x="11733574" y="6460390"/>
            <a:ext cx="4584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7"/>
          <p:cNvSpPr txBox="1">
            <a:spLocks noGrp="1"/>
          </p:cNvSpPr>
          <p:nvPr>
            <p:ph type="body" idx="1"/>
          </p:nvPr>
        </p:nvSpPr>
        <p:spPr>
          <a:xfrm>
            <a:off x="0" y="5795203"/>
            <a:ext cx="12192000" cy="328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7"/>
          <p:cNvSpPr txBox="1"/>
          <p:nvPr/>
        </p:nvSpPr>
        <p:spPr>
          <a:xfrm>
            <a:off x="9405534" y="6477000"/>
            <a:ext cx="17745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/>
          </a:p>
        </p:txBody>
      </p:sp>
      <p:sp>
        <p:nvSpPr>
          <p:cNvPr id="32" name="Google Shape;32;p57"/>
          <p:cNvSpPr txBox="1"/>
          <p:nvPr/>
        </p:nvSpPr>
        <p:spPr>
          <a:xfrm>
            <a:off x="1036182" y="6477000"/>
            <a:ext cx="10123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/>
            <a:r>
              <a:rPr lang="en-US">
                <a:sym typeface="Calibri"/>
              </a:rPr>
              <a:t>ANALYSIS</a:t>
            </a:r>
            <a:endParaRPr/>
          </a:p>
        </p:txBody>
      </p:sp>
      <p:sp>
        <p:nvSpPr>
          <p:cNvPr id="33" name="Google Shape;33;p57"/>
          <p:cNvSpPr txBox="1"/>
          <p:nvPr/>
        </p:nvSpPr>
        <p:spPr>
          <a:xfrm>
            <a:off x="5526825" y="6489084"/>
            <a:ext cx="113835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/>
            <a:r>
              <a:rPr lang="en-US">
                <a:sym typeface="Calibri"/>
              </a:rPr>
              <a:t>STRATEGY</a:t>
            </a:r>
            <a:endParaRPr/>
          </a:p>
        </p:txBody>
      </p:sp>
      <p:cxnSp>
        <p:nvCxnSpPr>
          <p:cNvPr id="34" name="Google Shape;34;p57"/>
          <p:cNvCxnSpPr/>
          <p:nvPr/>
        </p:nvCxnSpPr>
        <p:spPr>
          <a:xfrm>
            <a:off x="5021180" y="6425852"/>
            <a:ext cx="2053825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" name="Google Shape;35;p57"/>
          <p:cNvSpPr txBox="1">
            <a:spLocks noGrp="1"/>
          </p:cNvSpPr>
          <p:nvPr>
            <p:ph type="body" idx="3"/>
          </p:nvPr>
        </p:nvSpPr>
        <p:spPr>
          <a:xfrm>
            <a:off x="228600" y="6204558"/>
            <a:ext cx="2266344" cy="13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900"/>
              <a:buNone/>
              <a:defRPr sz="900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" name="Google Shape;23;p57">
            <a:extLst>
              <a:ext uri="{FF2B5EF4-FFF2-40B4-BE49-F238E27FC236}">
                <a16:creationId xmlns:a16="http://schemas.microsoft.com/office/drawing/2014/main" id="{148D9606-A4BE-344F-4D30-36168EDBFB2E}"/>
              </a:ext>
            </a:extLst>
          </p:cNvPr>
          <p:cNvSpPr/>
          <p:nvPr userDrawn="1"/>
        </p:nvSpPr>
        <p:spPr>
          <a:xfrm>
            <a:off x="0" y="762000"/>
            <a:ext cx="124179" cy="894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4;p57">
            <a:extLst>
              <a:ext uri="{FF2B5EF4-FFF2-40B4-BE49-F238E27FC236}">
                <a16:creationId xmlns:a16="http://schemas.microsoft.com/office/drawing/2014/main" id="{B073929D-4AD2-8CB1-7048-A9666D5B6920}"/>
              </a:ext>
            </a:extLst>
          </p:cNvPr>
          <p:cNvSpPr/>
          <p:nvPr userDrawn="1"/>
        </p:nvSpPr>
        <p:spPr>
          <a:xfrm>
            <a:off x="0" y="0"/>
            <a:ext cx="124179" cy="82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6;p57">
            <a:extLst>
              <a:ext uri="{FF2B5EF4-FFF2-40B4-BE49-F238E27FC236}">
                <a16:creationId xmlns:a16="http://schemas.microsoft.com/office/drawing/2014/main" id="{68800D4D-8D1C-0A55-FA4D-50F94CFCEB0F}"/>
              </a:ext>
            </a:extLst>
          </p:cNvPr>
          <p:cNvSpPr/>
          <p:nvPr userDrawn="1"/>
        </p:nvSpPr>
        <p:spPr>
          <a:xfrm>
            <a:off x="-1" y="1643749"/>
            <a:ext cx="124179" cy="82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7;p57">
            <a:extLst>
              <a:ext uri="{FF2B5EF4-FFF2-40B4-BE49-F238E27FC236}">
                <a16:creationId xmlns:a16="http://schemas.microsoft.com/office/drawing/2014/main" id="{5C361EC3-8E42-A98E-74EA-6F226F88CDF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5573" y="231721"/>
            <a:ext cx="8375650" cy="37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35;p57">
            <a:extLst>
              <a:ext uri="{FF2B5EF4-FFF2-40B4-BE49-F238E27FC236}">
                <a16:creationId xmlns:a16="http://schemas.microsoft.com/office/drawing/2014/main" id="{6503DD0C-DFB1-BC08-BDAE-8FDE7C17EF35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275573" y="35174"/>
            <a:ext cx="2266344" cy="13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900"/>
              <a:buNone/>
              <a:defRPr sz="900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C1666FC-22AE-4AB1-798D-0A20BCB8BDF6}"/>
              </a:ext>
            </a:extLst>
          </p:cNvPr>
          <p:cNvCxnSpPr/>
          <p:nvPr userDrawn="1"/>
        </p:nvCxnSpPr>
        <p:spPr>
          <a:xfrm>
            <a:off x="275573" y="621210"/>
            <a:ext cx="100081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02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nalysis" preserve="1" userDrawn="1">
  <p:cSld name="2_Analysi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57"/>
          <p:cNvCxnSpPr/>
          <p:nvPr/>
        </p:nvCxnSpPr>
        <p:spPr>
          <a:xfrm>
            <a:off x="0" y="6425852"/>
            <a:ext cx="12192000" cy="0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" name="Google Shape;22;p57"/>
          <p:cNvSpPr txBox="1"/>
          <p:nvPr/>
        </p:nvSpPr>
        <p:spPr>
          <a:xfrm>
            <a:off x="11733574" y="6460390"/>
            <a:ext cx="4584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7"/>
          <p:cNvSpPr txBox="1">
            <a:spLocks noGrp="1"/>
          </p:cNvSpPr>
          <p:nvPr>
            <p:ph type="body" idx="1"/>
          </p:nvPr>
        </p:nvSpPr>
        <p:spPr>
          <a:xfrm>
            <a:off x="0" y="5795203"/>
            <a:ext cx="12192000" cy="328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7"/>
          <p:cNvSpPr txBox="1"/>
          <p:nvPr/>
        </p:nvSpPr>
        <p:spPr>
          <a:xfrm>
            <a:off x="9405534" y="6477000"/>
            <a:ext cx="17745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/>
            <a:r>
              <a:rPr lang="en-US">
                <a:sym typeface="Calibri"/>
              </a:rPr>
              <a:t>APPENDIX</a:t>
            </a:r>
            <a:endParaRPr/>
          </a:p>
        </p:txBody>
      </p:sp>
      <p:sp>
        <p:nvSpPr>
          <p:cNvPr id="32" name="Google Shape;32;p57"/>
          <p:cNvSpPr txBox="1"/>
          <p:nvPr/>
        </p:nvSpPr>
        <p:spPr>
          <a:xfrm>
            <a:off x="1036182" y="6477000"/>
            <a:ext cx="10123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/>
            <a:r>
              <a:rPr lang="en-US">
                <a:sym typeface="Calibri"/>
              </a:rPr>
              <a:t>ANALYSIS</a:t>
            </a:r>
            <a:endParaRPr/>
          </a:p>
        </p:txBody>
      </p:sp>
      <p:sp>
        <p:nvSpPr>
          <p:cNvPr id="33" name="Google Shape;33;p57"/>
          <p:cNvSpPr txBox="1"/>
          <p:nvPr/>
        </p:nvSpPr>
        <p:spPr>
          <a:xfrm>
            <a:off x="5526825" y="6489084"/>
            <a:ext cx="113835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/>
          </a:p>
        </p:txBody>
      </p:sp>
      <p:cxnSp>
        <p:nvCxnSpPr>
          <p:cNvPr id="34" name="Google Shape;34;p57"/>
          <p:cNvCxnSpPr/>
          <p:nvPr/>
        </p:nvCxnSpPr>
        <p:spPr>
          <a:xfrm>
            <a:off x="9248630" y="6425852"/>
            <a:ext cx="2053825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" name="Google Shape;35;p57"/>
          <p:cNvSpPr txBox="1">
            <a:spLocks noGrp="1"/>
          </p:cNvSpPr>
          <p:nvPr>
            <p:ph type="body" idx="3"/>
          </p:nvPr>
        </p:nvSpPr>
        <p:spPr>
          <a:xfrm>
            <a:off x="228600" y="6204558"/>
            <a:ext cx="2266344" cy="13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900"/>
              <a:buNone/>
              <a:defRPr sz="900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" name="Google Shape;23;p57">
            <a:extLst>
              <a:ext uri="{FF2B5EF4-FFF2-40B4-BE49-F238E27FC236}">
                <a16:creationId xmlns:a16="http://schemas.microsoft.com/office/drawing/2014/main" id="{148D9606-A4BE-344F-4D30-36168EDBFB2E}"/>
              </a:ext>
            </a:extLst>
          </p:cNvPr>
          <p:cNvSpPr/>
          <p:nvPr userDrawn="1"/>
        </p:nvSpPr>
        <p:spPr>
          <a:xfrm>
            <a:off x="0" y="762000"/>
            <a:ext cx="124179" cy="894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4;p57">
            <a:extLst>
              <a:ext uri="{FF2B5EF4-FFF2-40B4-BE49-F238E27FC236}">
                <a16:creationId xmlns:a16="http://schemas.microsoft.com/office/drawing/2014/main" id="{B073929D-4AD2-8CB1-7048-A9666D5B6920}"/>
              </a:ext>
            </a:extLst>
          </p:cNvPr>
          <p:cNvSpPr/>
          <p:nvPr userDrawn="1"/>
        </p:nvSpPr>
        <p:spPr>
          <a:xfrm>
            <a:off x="0" y="0"/>
            <a:ext cx="124179" cy="82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6;p57">
            <a:extLst>
              <a:ext uri="{FF2B5EF4-FFF2-40B4-BE49-F238E27FC236}">
                <a16:creationId xmlns:a16="http://schemas.microsoft.com/office/drawing/2014/main" id="{68800D4D-8D1C-0A55-FA4D-50F94CFCEB0F}"/>
              </a:ext>
            </a:extLst>
          </p:cNvPr>
          <p:cNvSpPr/>
          <p:nvPr userDrawn="1"/>
        </p:nvSpPr>
        <p:spPr>
          <a:xfrm>
            <a:off x="-1" y="1643749"/>
            <a:ext cx="124179" cy="82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7;p57">
            <a:extLst>
              <a:ext uri="{FF2B5EF4-FFF2-40B4-BE49-F238E27FC236}">
                <a16:creationId xmlns:a16="http://schemas.microsoft.com/office/drawing/2014/main" id="{5C361EC3-8E42-A98E-74EA-6F226F88CDF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5573" y="231721"/>
            <a:ext cx="8375650" cy="37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35;p57">
            <a:extLst>
              <a:ext uri="{FF2B5EF4-FFF2-40B4-BE49-F238E27FC236}">
                <a16:creationId xmlns:a16="http://schemas.microsoft.com/office/drawing/2014/main" id="{6503DD0C-DFB1-BC08-BDAE-8FDE7C17EF35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275573" y="35174"/>
            <a:ext cx="2266344" cy="13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900"/>
              <a:buNone/>
              <a:defRPr sz="900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7B6CC3-4029-A626-8C39-273AD00EB3BB}"/>
              </a:ext>
            </a:extLst>
          </p:cNvPr>
          <p:cNvCxnSpPr/>
          <p:nvPr userDrawn="1"/>
        </p:nvCxnSpPr>
        <p:spPr>
          <a:xfrm>
            <a:off x="275573" y="621210"/>
            <a:ext cx="100081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783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85D6A-D4E3-A3B4-CB9D-EFB509BF0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AE0F4-13BE-548B-83A7-400DD4C66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24EF0-DF05-99EF-952B-CE8072D02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6EAEB-5D6B-D189-C53D-2CE3A0EE5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9A6E0-4A9E-13E1-3366-8320EE3E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839561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FE73B-2BA4-A8C2-43AB-875216ED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33B54-0686-C98F-E219-F5818C5CE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F20A6-A7D2-0ACD-20EC-570BE1A2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35BD4-BCAA-47B5-76FC-3807ED21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2137D-C53B-B07C-13CB-5A0624474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809611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FCE35-48D3-6086-EDE4-B8C5EB91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A8E9A-C7CB-5069-8AE1-193095D35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7D0E85-159E-BD1B-8589-63F6515C2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9E401-5B69-F7B7-2AD8-2B9F63D4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F3FF0-2F1D-4A1F-FEEC-6A883139E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61785-34EF-96C9-FDE2-4EC18259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1125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DF257-F9C2-AAB4-D018-0EE0D62F4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422C6-4A01-3D71-4A44-0DF6BE7B8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AB773-2F67-6764-D9BD-7BBE00963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D220C-AFEA-502D-6B2E-2CF332124A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FD5B8A-A934-EF49-AF71-3E86C60F33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A65822-C3DF-832A-D5CA-718C7B202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3DFFE-4692-A496-E282-9AA195D38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6CD035-2FF9-4EC9-F778-9F6DC1655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15584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3206-5920-A384-E5EC-2D80C33A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091192-A23D-0DC4-2382-DC6891304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023E14-FF12-5ED1-4824-F766A408A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76BBA-DDA9-0E90-EAC5-C681B201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09707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CE5E9D-EA08-CC53-0A50-8CBB582E2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3F56D0-6672-40F7-1605-FB72F319E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757FD-346C-7F6E-796C-AFA53D530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89670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554BD-A1A7-DA35-471B-9BF434648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C0FD3-9C39-EC99-C5EE-76A112D2C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4D054-319B-7113-CA18-5982542CA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6623E-9A83-6703-5246-9C7C97A7A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1F406-0870-2F58-9FED-CF7245A7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2439B-C465-C067-F724-8F585C643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26815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E4D16-B140-C7B2-9B0B-764055AAB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A14C04-607D-D604-3E07-7C1663401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00013-4A49-D98C-6227-FBBB62A0F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D74C2-DAA3-9B38-318B-B8CF06E48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8CE1C-98CA-3277-FF2A-C5670F29C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773AA1-290D-1E98-F688-1A4983DD9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87543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24B3-2C5B-746F-3A7B-6EAE1E8EF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1CF5FD-E044-F800-1AB9-1E7738029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77C61-9A45-9DE5-AE80-7C2F9FCC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8BAE1-A34D-F68B-134A-B970CABB4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69BCB-313C-56DD-2FE3-95984D821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210836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D0B1DB-BA79-363E-4FB5-A5B4388C84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506E93-328B-B168-68E4-FD3D09F29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7B4D5-0631-ACD8-5715-2514D5739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4F332-EC5C-601C-DB1D-458F85CAE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6A564-5D69-2A5A-D84B-88AD8BE8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31989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8264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75837E-A609-9CA9-32AB-717F975F9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A7E03-57A8-21B1-F85B-F0F13725F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8D51B-04AF-86F7-BDC5-23810144E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4F258-CC23-3342-3F3E-7B806D3E3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F6F43-F231-E2CB-BD33-F9F283F5C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8016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0" r:id="rId2"/>
    <p:sldLayoutId id="2147483661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5.xml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chart" Target="../charts/chart9.xml"/><Relationship Id="rId6" Type="http://schemas.openxmlformats.org/officeDocument/2006/relationships/chart" Target="../charts/char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Natixis Suspends Trader in New York Amid Internal Probe - Bloomberg">
            <a:extLst>
              <a:ext uri="{FF2B5EF4-FFF2-40B4-BE49-F238E27FC236}">
                <a16:creationId xmlns:a16="http://schemas.microsoft.com/office/drawing/2014/main" id="{F34B4768-600A-EBE0-7255-CFB8AB87FB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56" b="29430"/>
          <a:stretch>
            <a:fillRect/>
          </a:stretch>
        </p:blipFill>
        <p:spPr>
          <a:xfrm>
            <a:off x="0" y="0"/>
            <a:ext cx="12192000" cy="5212080"/>
          </a:xfrm>
          <a:prstGeom prst="rect">
            <a:avLst/>
          </a:prstGeom>
        </p:spPr>
      </p:pic>
      <p:pic>
        <p:nvPicPr>
          <p:cNvPr id="2" name="Picture 1" descr="A person in a suit and tie&#10;&#10;AI-generated content may be incorrect.">
            <a:extLst>
              <a:ext uri="{FF2B5EF4-FFF2-40B4-BE49-F238E27FC236}">
                <a16:creationId xmlns:a16="http://schemas.microsoft.com/office/drawing/2014/main" id="{CEC392F0-7677-A3C8-1B08-64E408BC868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9504" y="5452772"/>
            <a:ext cx="924444" cy="919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96826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8B6F735-32BD-7EE9-ABE9-505FA97DD7C7}"/>
              </a:ext>
            </a:extLst>
          </p:cNvPr>
          <p:cNvSpPr/>
          <p:nvPr/>
        </p:nvSpPr>
        <p:spPr>
          <a:xfrm>
            <a:off x="490330" y="772280"/>
            <a:ext cx="3723861" cy="4638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56F8F-3A33-927B-8BB4-7813B70AFC3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7A29-21D3-D210-51D0-0A69C0377D4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75573" y="196782"/>
            <a:ext cx="8375650" cy="376237"/>
          </a:xfrm>
        </p:spPr>
        <p:txBody>
          <a:bodyPr/>
          <a:lstStyle/>
          <a:p>
            <a:r>
              <a:rPr lang="en-HK" sz="2000" dirty="0">
                <a:latin typeface="Arial" panose="020B0604020202020204" pitchFamily="34" charset="0"/>
                <a:cs typeface="Arial" panose="020B0604020202020204" pitchFamily="34" charset="0"/>
              </a:rPr>
              <a:t>Our client: NKE Private Wealth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BD444D-E7FC-3B06-0F38-9F5111B15FB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5110B3-7F40-B366-63B5-1268A0D0FCC5}"/>
              </a:ext>
            </a:extLst>
          </p:cNvPr>
          <p:cNvSpPr txBox="1"/>
          <p:nvPr/>
        </p:nvSpPr>
        <p:spPr>
          <a:xfrm>
            <a:off x="1554605" y="811172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profile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CF53EB-2F2E-0999-4F1E-95DD94CF80EC}"/>
              </a:ext>
            </a:extLst>
          </p:cNvPr>
          <p:cNvSpPr/>
          <p:nvPr/>
        </p:nvSpPr>
        <p:spPr>
          <a:xfrm>
            <a:off x="4366591" y="772280"/>
            <a:ext cx="3723861" cy="4638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E25690-6396-CC72-7034-C68774A8356B}"/>
              </a:ext>
            </a:extLst>
          </p:cNvPr>
          <p:cNvSpPr txBox="1"/>
          <p:nvPr/>
        </p:nvSpPr>
        <p:spPr>
          <a:xfrm>
            <a:off x="5815587" y="810307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F67906-9302-5772-8716-0FD48D607F60}"/>
              </a:ext>
            </a:extLst>
          </p:cNvPr>
          <p:cNvSpPr/>
          <p:nvPr/>
        </p:nvSpPr>
        <p:spPr>
          <a:xfrm>
            <a:off x="8242852" y="772280"/>
            <a:ext cx="3723861" cy="5432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58F4C7-EE57-616C-3AA7-EF711EE46B2A}"/>
              </a:ext>
            </a:extLst>
          </p:cNvPr>
          <p:cNvSpPr txBox="1"/>
          <p:nvPr/>
        </p:nvSpPr>
        <p:spPr>
          <a:xfrm>
            <a:off x="8498823" y="1008639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i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tolerance: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F145E0-F845-BEE5-FF6E-F4FF16FC55A1}"/>
              </a:ext>
            </a:extLst>
          </p:cNvPr>
          <p:cNvSpPr txBox="1"/>
          <p:nvPr/>
        </p:nvSpPr>
        <p:spPr>
          <a:xfrm>
            <a:off x="10307002" y="966746"/>
            <a:ext cx="1324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i="1">
                <a:latin typeface="Arial" panose="020B0604020202020204" pitchFamily="34" charset="0"/>
                <a:cs typeface="Arial" panose="020B0604020202020204" pitchFamily="34" charset="0"/>
              </a:rPr>
              <a:t>Moderate</a:t>
            </a:r>
            <a:endParaRPr lang="en-HK" b="1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CEB0CB9D-8DE9-A8D1-B798-446EF271CC22}"/>
              </a:ext>
            </a:extLst>
          </p:cNvPr>
          <p:cNvSpPr/>
          <p:nvPr/>
        </p:nvSpPr>
        <p:spPr>
          <a:xfrm>
            <a:off x="488688" y="2256235"/>
            <a:ext cx="3591337" cy="25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>
                <a:solidFill>
                  <a:schemeClr val="accent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Provider: NKE Private Wealth</a:t>
            </a:r>
            <a:endParaRPr lang="en-US" sz="1400" i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AB5DEDE2-1F9F-1B21-E8EC-996A53988B25}"/>
              </a:ext>
            </a:extLst>
          </p:cNvPr>
          <p:cNvSpPr/>
          <p:nvPr/>
        </p:nvSpPr>
        <p:spPr>
          <a:xfrm>
            <a:off x="422427" y="2496640"/>
            <a:ext cx="372385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>
                <a:solidFill>
                  <a:srgbClr val="5A5A5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Prestigious single-family office for the Chak family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>
                <a:solidFill>
                  <a:srgbClr val="5A5A5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Third-generation business dynasty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>
                <a:solidFill>
                  <a:srgbClr val="5A5A5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Ops across Japan and Greater China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>
                <a:solidFill>
                  <a:srgbClr val="5A5A5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Sectors: tech infrastructure, renewables, real estate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>
                <a:solidFill>
                  <a:srgbClr val="5A5A5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Family net worth &gt; USD 2Bn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9BD84D1F-11C8-6539-8CED-2DE82DB11668}"/>
              </a:ext>
            </a:extLst>
          </p:cNvPr>
          <p:cNvSpPr/>
          <p:nvPr/>
        </p:nvSpPr>
        <p:spPr>
          <a:xfrm>
            <a:off x="488688" y="3763403"/>
            <a:ext cx="3591337" cy="243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>
                <a:solidFill>
                  <a:schemeClr val="accent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Client: The Chak Family</a:t>
            </a:r>
            <a:endParaRPr lang="en-US" sz="1400" i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B9017A84-8ED6-D71C-81BA-D3B44BFE7A6B}"/>
              </a:ext>
            </a:extLst>
          </p:cNvPr>
          <p:cNvSpPr/>
          <p:nvPr/>
        </p:nvSpPr>
        <p:spPr>
          <a:xfrm>
            <a:off x="488687" y="3971127"/>
            <a:ext cx="35913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Patriarch has handed operations to G3 and is now focused on strategic asset allocation and legacy planning in a volatile market.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BD3F8E16-2605-2E7C-B6CF-BE72ECA99D45}"/>
              </a:ext>
            </a:extLst>
          </p:cNvPr>
          <p:cNvSpPr/>
          <p:nvPr/>
        </p:nvSpPr>
        <p:spPr>
          <a:xfrm>
            <a:off x="743920" y="4861058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>
                <a:solidFill>
                  <a:srgbClr val="2D2D2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Client Mandate</a:t>
            </a:r>
            <a:endParaRPr lang="en-US" sz="14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D7B7359C-2EC3-18D6-D022-7CDF760E387C}"/>
              </a:ext>
            </a:extLst>
          </p:cNvPr>
          <p:cNvSpPr/>
          <p:nvPr/>
        </p:nvSpPr>
        <p:spPr>
          <a:xfrm>
            <a:off x="453747" y="5017322"/>
            <a:ext cx="367060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2D2D2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Allocate USD 100 Mn in a product that compounds capital for future generations and captures Asia’s digital transformation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EECEAECC-F7CB-BDBD-92C6-E310C1D415C7}"/>
              </a:ext>
            </a:extLst>
          </p:cNvPr>
          <p:cNvSpPr/>
          <p:nvPr/>
        </p:nvSpPr>
        <p:spPr>
          <a:xfrm>
            <a:off x="5082436" y="3008485"/>
            <a:ext cx="31141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2D2D2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Digital transformation in Asia</a:t>
            </a:r>
            <a:endParaRPr lang="en-US" sz="14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C1E36968-9F6A-807D-EFDA-89272F687DE2}"/>
              </a:ext>
            </a:extLst>
          </p:cNvPr>
          <p:cNvSpPr/>
          <p:nvPr/>
        </p:nvSpPr>
        <p:spPr>
          <a:xfrm>
            <a:off x="5082436" y="4412376"/>
            <a:ext cx="350245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2D2D2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Bridge old Asia and new tech</a:t>
            </a:r>
            <a:endParaRPr lang="en-US" sz="14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1CD7BE8-C822-2D5C-585B-6F6C2E71B5BA}"/>
              </a:ext>
            </a:extLst>
          </p:cNvPr>
          <p:cNvSpPr/>
          <p:nvPr/>
        </p:nvSpPr>
        <p:spPr>
          <a:xfrm>
            <a:off x="422368" y="4701105"/>
            <a:ext cx="3733361" cy="1139455"/>
          </a:xfrm>
          <a:prstGeom prst="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41D75C6-84AC-1A4A-5870-693B928B5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765" y="1412978"/>
            <a:ext cx="734987" cy="73498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91E1F40-1129-2B25-3EAF-5A0791491E3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 amt="35000"/>
          </a:blip>
          <a:stretch>
            <a:fillRect/>
          </a:stretch>
        </p:blipFill>
        <p:spPr>
          <a:xfrm>
            <a:off x="4214191" y="1691880"/>
            <a:ext cx="836698" cy="83669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DC37720-3FE5-C74B-4DB2-C211EE2413F2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alphaModFix amt="35000"/>
          </a:blip>
          <a:stretch>
            <a:fillRect/>
          </a:stretch>
        </p:blipFill>
        <p:spPr>
          <a:xfrm>
            <a:off x="4291153" y="3165089"/>
            <a:ext cx="725023" cy="72502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43DFF5C-30B8-72FC-0F1C-BA41F93CC0E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alphaModFix amt="35000"/>
          </a:blip>
          <a:stretch>
            <a:fillRect/>
          </a:stretch>
        </p:blipFill>
        <p:spPr>
          <a:xfrm>
            <a:off x="4351643" y="4576914"/>
            <a:ext cx="730793" cy="730793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90979475-38E8-FAF1-9700-D5C233842376}"/>
              </a:ext>
            </a:extLst>
          </p:cNvPr>
          <p:cNvSpPr/>
          <p:nvPr/>
        </p:nvSpPr>
        <p:spPr>
          <a:xfrm>
            <a:off x="4539962" y="1536954"/>
            <a:ext cx="47000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4000" b="1" i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4CCCD1D-73EA-EBAD-5641-EFF79F9B80F7}"/>
              </a:ext>
            </a:extLst>
          </p:cNvPr>
          <p:cNvSpPr/>
          <p:nvPr/>
        </p:nvSpPr>
        <p:spPr>
          <a:xfrm>
            <a:off x="4580889" y="2954854"/>
            <a:ext cx="47000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4000" b="1" i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GB" sz="4000" b="1" i="1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4D69EC-838A-8D74-D37E-D7626AECB0E0}"/>
              </a:ext>
            </a:extLst>
          </p:cNvPr>
          <p:cNvSpPr/>
          <p:nvPr/>
        </p:nvSpPr>
        <p:spPr>
          <a:xfrm>
            <a:off x="4540204" y="4367748"/>
            <a:ext cx="47000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4000" b="1" i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9FBF0217-932C-85AC-F273-32A95B159A92}"/>
              </a:ext>
            </a:extLst>
          </p:cNvPr>
          <p:cNvSpPr/>
          <p:nvPr/>
        </p:nvSpPr>
        <p:spPr>
          <a:xfrm>
            <a:off x="4991289" y="1935354"/>
            <a:ext cx="3068893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5A5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Grow the USD 100mn ticket while keeping a defined capital barrier so the legacy sleeve is not an open-ended equity drawdown.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26">
            <a:extLst>
              <a:ext uri="{FF2B5EF4-FFF2-40B4-BE49-F238E27FC236}">
                <a16:creationId xmlns:a16="http://schemas.microsoft.com/office/drawing/2014/main" id="{345BC0CE-5492-01B2-CAD6-408C33D19050}"/>
              </a:ext>
            </a:extLst>
          </p:cNvPr>
          <p:cNvSpPr/>
          <p:nvPr/>
        </p:nvSpPr>
        <p:spPr>
          <a:xfrm>
            <a:off x="5096432" y="3383653"/>
            <a:ext cx="29940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5A5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Meaningful exposure to the compute –power–platform stack that sits next to the family’s own tech-infrastructure and renewable plants.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31">
            <a:extLst>
              <a:ext uri="{FF2B5EF4-FFF2-40B4-BE49-F238E27FC236}">
                <a16:creationId xmlns:a16="http://schemas.microsoft.com/office/drawing/2014/main" id="{74E1CDF2-DE0C-1F59-47C1-3F76AEA02641}"/>
              </a:ext>
            </a:extLst>
          </p:cNvPr>
          <p:cNvSpPr/>
          <p:nvPr/>
        </p:nvSpPr>
        <p:spPr>
          <a:xfrm>
            <a:off x="5086129" y="4680008"/>
            <a:ext cx="30080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5A5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Prefer underlyings that connect Japan and Greater China real-economy franchises with emerging technology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ADD6CD1C-B7EF-7BF3-8B93-281E58A92B91}"/>
              </a:ext>
            </a:extLst>
          </p:cNvPr>
          <p:cNvSpPr/>
          <p:nvPr/>
        </p:nvSpPr>
        <p:spPr>
          <a:xfrm>
            <a:off x="4978383" y="154848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2D2D2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Capital for the next generations</a:t>
            </a:r>
            <a:endParaRPr lang="en-US" sz="14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91351937-BF4B-F78A-DFF7-21880A5FB8A6}"/>
              </a:ext>
            </a:extLst>
          </p:cNvPr>
          <p:cNvSpPr/>
          <p:nvPr/>
        </p:nvSpPr>
        <p:spPr>
          <a:xfrm>
            <a:off x="8517272" y="1542293"/>
            <a:ext cx="31141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>
                <a:latin typeface="Arial" panose="020B0604020202020204" pitchFamily="34" charset="0"/>
                <a:cs typeface="Arial" panose="020B0604020202020204" pitchFamily="34" charset="0"/>
              </a:rPr>
              <a:t>Assumption</a:t>
            </a:r>
          </a:p>
        </p:txBody>
      </p:sp>
      <p:sp>
        <p:nvSpPr>
          <p:cNvPr id="50" name="Text 38">
            <a:extLst>
              <a:ext uri="{FF2B5EF4-FFF2-40B4-BE49-F238E27FC236}">
                <a16:creationId xmlns:a16="http://schemas.microsoft.com/office/drawing/2014/main" id="{2CB2BFC5-4315-79EE-0D0F-977D2047E80C}"/>
              </a:ext>
            </a:extLst>
          </p:cNvPr>
          <p:cNvSpPr/>
          <p:nvPr/>
        </p:nvSpPr>
        <p:spPr>
          <a:xfrm>
            <a:off x="9013322" y="1880835"/>
            <a:ext cx="2652163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5A5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Family is open to structured notes / OTC, provided barriers and issuer credit are explicit.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C09F26BF-5DD3-8B50-2A9F-AD8AA80A6832}"/>
              </a:ext>
            </a:extLst>
          </p:cNvPr>
          <p:cNvSpPr/>
          <p:nvPr/>
        </p:nvSpPr>
        <p:spPr>
          <a:xfrm>
            <a:off x="9072288" y="3074817"/>
            <a:ext cx="2593197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5A5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Horizon of 5 years. Trade date 17 Sep 2026. Secondary liquidity is accepted as limited (issuer bid, not an exchange).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44">
            <a:extLst>
              <a:ext uri="{FF2B5EF4-FFF2-40B4-BE49-F238E27FC236}">
                <a16:creationId xmlns:a16="http://schemas.microsoft.com/office/drawing/2014/main" id="{91C63668-0C33-C8A6-5764-D5C5885CC1CC}"/>
              </a:ext>
            </a:extLst>
          </p:cNvPr>
          <p:cNvSpPr/>
          <p:nvPr/>
        </p:nvSpPr>
        <p:spPr>
          <a:xfrm>
            <a:off x="9072288" y="4434587"/>
            <a:ext cx="250281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5A5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NKE / Natixis can design, price and book a bespoke note. Underlyings must be Bloomberg-searchable large caps; no OFAC names.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0F94D5-469C-7288-405B-DD6AB6A58782}"/>
              </a:ext>
            </a:extLst>
          </p:cNvPr>
          <p:cNvSpPr/>
          <p:nvPr/>
        </p:nvSpPr>
        <p:spPr>
          <a:xfrm>
            <a:off x="8473523" y="2138331"/>
            <a:ext cx="47000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4000" b="1" i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27ECB19-AA9C-EF83-A207-7F1336CD11D4}"/>
              </a:ext>
            </a:extLst>
          </p:cNvPr>
          <p:cNvSpPr/>
          <p:nvPr/>
        </p:nvSpPr>
        <p:spPr>
          <a:xfrm>
            <a:off x="8513378" y="3271573"/>
            <a:ext cx="47000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4000" b="1" i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GB" sz="4000" b="1" i="1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3CC813D-6FDC-1463-C13F-5FB18CAB2B96}"/>
              </a:ext>
            </a:extLst>
          </p:cNvPr>
          <p:cNvSpPr/>
          <p:nvPr/>
        </p:nvSpPr>
        <p:spPr>
          <a:xfrm>
            <a:off x="8540267" y="4493405"/>
            <a:ext cx="47000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4000" b="1" i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6" name="Text Placeholder 1">
            <a:extLst>
              <a:ext uri="{FF2B5EF4-FFF2-40B4-BE49-F238E27FC236}">
                <a16:creationId xmlns:a16="http://schemas.microsoft.com/office/drawing/2014/main" id="{75FBE136-6D2D-7ECF-C40D-161128740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933472"/>
            <a:ext cx="12192000" cy="408340"/>
          </a:xfrm>
        </p:spPr>
        <p:txBody>
          <a:bodyPr/>
          <a:lstStyle/>
          <a:p>
            <a:r>
              <a:rPr lang="en-GB" sz="1400"/>
              <a:t>The family already owns Asian infrastructure, renewables and property: we add the AI hardware layer, not more of what they own</a:t>
            </a:r>
          </a:p>
        </p:txBody>
      </p:sp>
    </p:spTree>
    <p:extLst>
      <p:ext uri="{BB962C8B-B14F-4D97-AF65-F5344CB8AC3E}">
        <p14:creationId xmlns:p14="http://schemas.microsoft.com/office/powerpoint/2010/main" val="2734511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9D9660B6-7AC2-2BB0-DA4F-14A69B30AC5B}"/>
              </a:ext>
            </a:extLst>
          </p:cNvPr>
          <p:cNvSpPr/>
          <p:nvPr/>
        </p:nvSpPr>
        <p:spPr>
          <a:xfrm>
            <a:off x="4344176" y="4816843"/>
            <a:ext cx="3621539" cy="914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E19A167-BF44-FB72-61FB-1EB751490B3C}"/>
              </a:ext>
            </a:extLst>
          </p:cNvPr>
          <p:cNvSpPr/>
          <p:nvPr/>
        </p:nvSpPr>
        <p:spPr>
          <a:xfrm>
            <a:off x="8331180" y="776183"/>
            <a:ext cx="3620163" cy="4038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C4B6BD7-10E2-E24E-539C-0BE6F81ED777}"/>
              </a:ext>
            </a:extLst>
          </p:cNvPr>
          <p:cNvSpPr/>
          <p:nvPr/>
        </p:nvSpPr>
        <p:spPr>
          <a:xfrm>
            <a:off x="4461497" y="781681"/>
            <a:ext cx="3386899" cy="4038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7C63BC-73E0-C745-9AFC-CA860D1D0397}"/>
              </a:ext>
            </a:extLst>
          </p:cNvPr>
          <p:cNvSpPr/>
          <p:nvPr/>
        </p:nvSpPr>
        <p:spPr>
          <a:xfrm>
            <a:off x="499172" y="816211"/>
            <a:ext cx="3386899" cy="4038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95D719-E801-5B60-3CDD-8C93EF943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889124"/>
            <a:ext cx="12192000" cy="376237"/>
          </a:xfrm>
        </p:spPr>
        <p:txBody>
          <a:bodyPr/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client should own Asia's AI hardware, with protection for the legacy and income while we wait</a:t>
            </a: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4CC4E-B512-563B-7417-EDDE45AD6FE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43B2E-BC8E-5E67-1FD5-69405FB811D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75572" y="206669"/>
            <a:ext cx="9116619" cy="376237"/>
          </a:xfrm>
        </p:spPr>
        <p:txBody>
          <a:bodyPr/>
          <a:lstStyle/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Our client should consider macro, geopolitical, and AI market factors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4D3732-4EE8-C05B-626A-14328AE3F3F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6702D2-2259-80CE-6EA2-DE0D286ED468}"/>
              </a:ext>
            </a:extLst>
          </p:cNvPr>
          <p:cNvCxnSpPr>
            <a:cxnSpLocks/>
          </p:cNvCxnSpPr>
          <p:nvPr/>
        </p:nvCxnSpPr>
        <p:spPr>
          <a:xfrm>
            <a:off x="4128472" y="853690"/>
            <a:ext cx="0" cy="4877553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8">
            <a:extLst>
              <a:ext uri="{FF2B5EF4-FFF2-40B4-BE49-F238E27FC236}">
                <a16:creationId xmlns:a16="http://schemas.microsoft.com/office/drawing/2014/main" id="{A39818FD-E4BD-E4A1-E057-48DC7C907969}"/>
              </a:ext>
            </a:extLst>
          </p:cNvPr>
          <p:cNvSpPr/>
          <p:nvPr/>
        </p:nvSpPr>
        <p:spPr>
          <a:xfrm>
            <a:off x="8308994" y="821197"/>
            <a:ext cx="3693362" cy="3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chemeClr val="accent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Why hardware products ? </a:t>
            </a:r>
            <a:endParaRPr lang="en-US" sz="1600" i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4C5BD25-3117-95C3-0D2B-6400F43B02D4}"/>
              </a:ext>
            </a:extLst>
          </p:cNvPr>
          <p:cNvSpPr/>
          <p:nvPr/>
        </p:nvSpPr>
        <p:spPr>
          <a:xfrm>
            <a:off x="361360" y="1354136"/>
            <a:ext cx="3567507" cy="2575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 midterms (Nov 2026) and the 2028 race keep trade policy uncertain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US–China tech restrictions and tariffs hit cross-border families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Capital rotates to supply-chain security and reshoring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9F6844-090A-76D7-688D-2E4954D3E58C}"/>
              </a:ext>
            </a:extLst>
          </p:cNvPr>
          <p:cNvSpPr/>
          <p:nvPr/>
        </p:nvSpPr>
        <p:spPr>
          <a:xfrm>
            <a:off x="8334759" y="1277803"/>
            <a:ext cx="3636610" cy="1602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E742F7-D887-0015-FBB9-5FA53548771D}"/>
              </a:ext>
            </a:extLst>
          </p:cNvPr>
          <p:cNvSpPr/>
          <p:nvPr/>
        </p:nvSpPr>
        <p:spPr>
          <a:xfrm>
            <a:off x="8334758" y="2984111"/>
            <a:ext cx="3667598" cy="27471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6F27062D-0FD7-0491-A847-D84DF26EAF51}"/>
              </a:ext>
            </a:extLst>
          </p:cNvPr>
          <p:cNvSpPr/>
          <p:nvPr/>
        </p:nvSpPr>
        <p:spPr>
          <a:xfrm>
            <a:off x="8831909" y="3222358"/>
            <a:ext cx="3591337" cy="25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>
                <a:solidFill>
                  <a:srgbClr val="3A789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Hardware</a:t>
            </a:r>
            <a:endParaRPr lang="en-US" sz="1600" i="1">
              <a:solidFill>
                <a:srgbClr val="3A78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8ECBD5C7-BFAD-A5E9-DD74-A490E6C18655}"/>
              </a:ext>
            </a:extLst>
          </p:cNvPr>
          <p:cNvSpPr/>
          <p:nvPr/>
        </p:nvSpPr>
        <p:spPr>
          <a:xfrm>
            <a:off x="8849522" y="1433826"/>
            <a:ext cx="3591337" cy="25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Software</a:t>
            </a:r>
            <a:endParaRPr lang="en-US" sz="1600" i="1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8168BB9-E13F-C573-5C58-A0B69420D395}"/>
              </a:ext>
            </a:extLst>
          </p:cNvPr>
          <p:cNvSpPr/>
          <p:nvPr/>
        </p:nvSpPr>
        <p:spPr>
          <a:xfrm>
            <a:off x="494732" y="3353338"/>
            <a:ext cx="3591337" cy="567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HK" sz="1600" b="1" i="1">
                <a:solidFill>
                  <a:srgbClr val="3A78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Middle East, oil, inflation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929D71-01CB-E33F-474F-0D93AAEF7692}"/>
              </a:ext>
            </a:extLst>
          </p:cNvPr>
          <p:cNvSpPr txBox="1"/>
          <p:nvPr/>
        </p:nvSpPr>
        <p:spPr>
          <a:xfrm>
            <a:off x="373906" y="3778768"/>
            <a:ext cx="3524711" cy="151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 , Iran conflict and Strait of Hormuz risk drive oil volatility</a:t>
            </a:r>
            <a:endParaRPr lang="en-US" sz="140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Sticky core inflation keeps long-end yields high</a:t>
            </a:r>
            <a:endParaRPr lang="en-US" sz="140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Rewards real pricing power; </a:t>
            </a:r>
            <a:r>
              <a:rPr lang="en-US" sz="140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penalises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cash-burning growth</a:t>
            </a:r>
            <a:endParaRPr lang="en-US" sz="140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589B87-3ED2-9887-294B-F4F5456C091E}"/>
              </a:ext>
            </a:extLst>
          </p:cNvPr>
          <p:cNvSpPr txBox="1"/>
          <p:nvPr/>
        </p:nvSpPr>
        <p:spPr>
          <a:xfrm>
            <a:off x="495925" y="1423438"/>
            <a:ext cx="30544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600" b="1" i="1">
                <a:solidFill>
                  <a:srgbClr val="3A7899"/>
                </a:solidFill>
                <a:latin typeface="Arial"/>
                <a:cs typeface="Arial"/>
              </a:rPr>
              <a:t>US elections</a:t>
            </a:r>
            <a:endParaRPr lang="en-HK">
              <a:solidFill>
                <a:srgbClr val="3A7899"/>
              </a:solidFill>
              <a:latin typeface="Arial"/>
              <a:cs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3D2E0B-7CC4-EDF0-E58A-F0CBE72A6C54}"/>
              </a:ext>
            </a:extLst>
          </p:cNvPr>
          <p:cNvSpPr txBox="1"/>
          <p:nvPr/>
        </p:nvSpPr>
        <p:spPr>
          <a:xfrm>
            <a:off x="1218260" y="853690"/>
            <a:ext cx="194872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HK" sz="1600" b="1" i="1" dirty="0">
                <a:solidFill>
                  <a:schemeClr val="accent1"/>
                </a:solidFill>
              </a:rPr>
              <a:t>Geopolitics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7F3611-171D-BCAB-3FC9-1AEEA424E83E}"/>
              </a:ext>
            </a:extLst>
          </p:cNvPr>
          <p:cNvSpPr txBox="1"/>
          <p:nvPr/>
        </p:nvSpPr>
        <p:spPr>
          <a:xfrm>
            <a:off x="5233821" y="816876"/>
            <a:ext cx="194872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HK" sz="1600" b="1" i="1">
                <a:solidFill>
                  <a:schemeClr val="accent1"/>
                </a:solidFill>
              </a:rPr>
              <a:t>AI pivots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A3844A-962E-95DD-BDB1-E1EF0C506994}"/>
              </a:ext>
            </a:extLst>
          </p:cNvPr>
          <p:cNvSpPr txBox="1"/>
          <p:nvPr/>
        </p:nvSpPr>
        <p:spPr>
          <a:xfrm>
            <a:off x="8380828" y="1797343"/>
            <a:ext cx="35905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dirty="0"/>
              <a:t>Cycle faced a valuation rationalization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A68B236-C014-5DF8-050E-E3B982964221}"/>
              </a:ext>
            </a:extLst>
          </p:cNvPr>
          <p:cNvSpPr txBox="1"/>
          <p:nvPr/>
        </p:nvSpPr>
        <p:spPr>
          <a:xfrm>
            <a:off x="8380828" y="2129252"/>
            <a:ext cx="36685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defRPr>
            </a:lvl1pPr>
          </a:lstStyle>
          <a:p>
            <a:r>
              <a:rPr lang="en-US"/>
              <a:t>High-multiple AI software de-rates on higher discount rates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B8B073-7DB6-B458-2F26-26AB366E1135}"/>
              </a:ext>
            </a:extLst>
          </p:cNvPr>
          <p:cNvSpPr txBox="1"/>
          <p:nvPr/>
        </p:nvSpPr>
        <p:spPr>
          <a:xfrm>
            <a:off x="8467176" y="3459173"/>
            <a:ext cx="341784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HK" sz="1400" dirty="0">
              <a:solidFill>
                <a:srgbClr val="3A78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400" dirty="0">
                <a:solidFill>
                  <a:srgbClr val="3A78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performance is no longer driven by coding apps, but by hardware, localized grid/power infrastructure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HK" sz="1400" dirty="0">
              <a:solidFill>
                <a:srgbClr val="3A78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A78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Capex shifts decisively to chips, HBM memory, equipment, servers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HK" sz="1400" dirty="0">
              <a:solidFill>
                <a:srgbClr val="3A78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A05BD46B-9588-310D-325D-D7101715CF1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05720" y="3185879"/>
            <a:ext cx="326189" cy="32618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78B67F-8499-1814-46FC-DC620586699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67176" y="1379214"/>
            <a:ext cx="382346" cy="38234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9FBB36E-31E8-89ED-8B76-74322D568E0B}"/>
              </a:ext>
            </a:extLst>
          </p:cNvPr>
          <p:cNvSpPr txBox="1"/>
          <p:nvPr/>
        </p:nvSpPr>
        <p:spPr>
          <a:xfrm>
            <a:off x="3044687" y="6951098"/>
            <a:ext cx="610262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HK" b="1" i="0">
                <a:solidFill>
                  <a:schemeClr val="tx1"/>
                </a:solidFill>
                <a:effectLst/>
              </a:rPr>
              <a:t>1. The market is huge — and most of the money is not in models.</a:t>
            </a:r>
            <a:br>
              <a:rPr lang="en-HK" b="0" i="0">
                <a:solidFill>
                  <a:schemeClr val="tx1"/>
                </a:solidFill>
                <a:effectLst/>
              </a:rPr>
            </a:br>
            <a:r>
              <a:rPr lang="en-HK" b="0" i="0">
                <a:solidFill>
                  <a:schemeClr val="tx1"/>
                </a:solidFill>
                <a:effectLst/>
              </a:rPr>
              <a:t>Worldwide AI spend is about </a:t>
            </a:r>
            <a:r>
              <a:rPr lang="en-HK" b="1" i="0">
                <a:solidFill>
                  <a:schemeClr val="tx1"/>
                </a:solidFill>
                <a:effectLst/>
              </a:rPr>
              <a:t>USD 2.7tn in 2026</a:t>
            </a:r>
            <a:r>
              <a:rPr lang="en-HK" b="0" i="0">
                <a:solidFill>
                  <a:schemeClr val="tx1"/>
                </a:solidFill>
                <a:effectLst/>
              </a:rPr>
              <a:t>. Infrastructure takes roughly </a:t>
            </a:r>
            <a:r>
              <a:rPr lang="en-HK" b="1" i="0">
                <a:solidFill>
                  <a:schemeClr val="tx1"/>
                </a:solidFill>
                <a:effectLst/>
              </a:rPr>
              <a:t>half</a:t>
            </a:r>
            <a:r>
              <a:rPr lang="en-HK" b="0" i="0">
                <a:solidFill>
                  <a:schemeClr val="tx1"/>
                </a:solidFill>
                <a:effectLst/>
              </a:rPr>
              <a:t>. Services and software follow. Models and agents are still small.</a:t>
            </a:r>
          </a:p>
          <a:p>
            <a:pPr indent="0" algn="l">
              <a:buNone/>
            </a:pPr>
            <a:r>
              <a:rPr lang="en-HK" b="1" i="0">
                <a:solidFill>
                  <a:schemeClr val="tx1"/>
                </a:solidFill>
                <a:effectLst/>
              </a:rPr>
              <a:t>2. The bottleneck is no longer “can we train a model?”</a:t>
            </a:r>
            <a:br>
              <a:rPr lang="en-HK" b="0" i="0">
                <a:solidFill>
                  <a:schemeClr val="tx1"/>
                </a:solidFill>
                <a:effectLst/>
              </a:rPr>
            </a:br>
            <a:r>
              <a:rPr lang="en-HK" b="0" i="0">
                <a:solidFill>
                  <a:schemeClr val="tx1"/>
                </a:solidFill>
                <a:effectLst/>
              </a:rPr>
              <a:t>It is </a:t>
            </a:r>
            <a:r>
              <a:rPr lang="en-HK" b="1" i="0">
                <a:solidFill>
                  <a:schemeClr val="tx1"/>
                </a:solidFill>
                <a:effectLst/>
              </a:rPr>
              <a:t>power, grid connections, sites, cooling, networks and packaging</a:t>
            </a:r>
            <a:r>
              <a:rPr lang="en-HK" b="0" i="0">
                <a:solidFill>
                  <a:schemeClr val="tx1"/>
                </a:solidFill>
                <a:effectLst/>
              </a:rPr>
              <a:t>. Chips still matter; you cannot plug them in fast enough. Inference (using AI every day) is overtaking training as the demand that has to be built for.</a:t>
            </a:r>
          </a:p>
          <a:p>
            <a:pPr indent="0" algn="l">
              <a:buNone/>
            </a:pPr>
            <a:r>
              <a:rPr lang="en-HK" b="1" i="0">
                <a:solidFill>
                  <a:schemeClr val="tx1"/>
                </a:solidFill>
                <a:effectLst/>
              </a:rPr>
              <a:t>3. Cash has moved faster than proven profit.</a:t>
            </a:r>
            <a:br>
              <a:rPr lang="en-HK" b="0" i="0">
                <a:solidFill>
                  <a:schemeClr val="tx1"/>
                </a:solidFill>
                <a:effectLst/>
              </a:rPr>
            </a:br>
            <a:r>
              <a:rPr lang="en-HK" b="0" i="0" err="1">
                <a:solidFill>
                  <a:schemeClr val="tx1"/>
                </a:solidFill>
                <a:effectLst/>
              </a:rPr>
              <a:t>Hyperscalers</a:t>
            </a:r>
            <a:r>
              <a:rPr lang="en-HK" b="0" i="0">
                <a:solidFill>
                  <a:schemeClr val="tx1"/>
                </a:solidFill>
                <a:effectLst/>
              </a:rPr>
              <a:t> are building </a:t>
            </a:r>
            <a:r>
              <a:rPr lang="en-HK" b="1" i="0">
                <a:solidFill>
                  <a:schemeClr val="tx1"/>
                </a:solidFill>
                <a:effectLst/>
              </a:rPr>
              <a:t>ahead of demand</a:t>
            </a:r>
            <a:r>
              <a:rPr lang="en-HK" b="0" i="0">
                <a:solidFill>
                  <a:schemeClr val="tx1"/>
                </a:solidFill>
                <a:effectLst/>
              </a:rPr>
              <a:t>. Adoption is wide; many projects are still pilots. The cycle only pays off if AI creates </a:t>
            </a:r>
            <a:r>
              <a:rPr lang="en-HK" b="1" i="0">
                <a:solidFill>
                  <a:schemeClr val="tx1"/>
                </a:solidFill>
                <a:effectLst/>
              </a:rPr>
              <a:t>new real-economy revenue</a:t>
            </a:r>
            <a:r>
              <a:rPr lang="en-HK" b="0" i="0">
                <a:solidFill>
                  <a:schemeClr val="tx1"/>
                </a:solidFill>
                <a:effectLst/>
              </a:rPr>
              <a:t> (factories, grids, science) — which is why a family that already owns plants and infrastructure in Asia sits closer to the scarce part of the market than a software multiple does.</a:t>
            </a:r>
            <a:endParaRPr lang="en-HK" b="0" i="0">
              <a:solidFill>
                <a:srgbClr val="000000"/>
              </a:solidFill>
              <a:effectLst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5B236E-49BB-B690-E753-0ED61DC1524F}"/>
              </a:ext>
            </a:extLst>
          </p:cNvPr>
          <p:cNvSpPr txBox="1"/>
          <p:nvPr/>
        </p:nvSpPr>
        <p:spPr>
          <a:xfrm>
            <a:off x="4375704" y="1987105"/>
            <a:ext cx="36220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HK" sz="1600" b="1" i="1">
                <a:solidFill>
                  <a:srgbClr val="3A7899"/>
                </a:solidFill>
              </a:rPr>
              <a:t>M</a:t>
            </a:r>
            <a:r>
              <a:rPr lang="en-HK" sz="1600" b="1" i="1">
                <a:solidFill>
                  <a:srgbClr val="3A7899"/>
                </a:solidFill>
                <a:effectLst/>
              </a:rPr>
              <a:t>ost of the money is not in models</a:t>
            </a:r>
            <a:br>
              <a:rPr lang="en-HK" sz="1600" b="0" i="0">
                <a:solidFill>
                  <a:schemeClr val="tx1"/>
                </a:solidFill>
                <a:effectLst/>
              </a:rPr>
            </a:br>
            <a:r>
              <a:rPr lang="en-HK" sz="1400" i="0">
                <a:solidFill>
                  <a:schemeClr val="bg2">
                    <a:lumMod val="50000"/>
                  </a:schemeClr>
                </a:solidFill>
                <a:effectLst/>
              </a:rPr>
              <a:t>Worldwide AI spend is about USD 2.7tn in 2026. Infrastructure takes roughly half. </a:t>
            </a:r>
            <a:endParaRPr lang="en-HK" sz="1600" i="0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E218F4-A8F3-75D8-F19E-C5AAB5DD28A4}"/>
              </a:ext>
            </a:extLst>
          </p:cNvPr>
          <p:cNvSpPr txBox="1"/>
          <p:nvPr/>
        </p:nvSpPr>
        <p:spPr>
          <a:xfrm>
            <a:off x="4375704" y="3459173"/>
            <a:ext cx="3621559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600" b="1" i="1">
                <a:solidFill>
                  <a:srgbClr val="3A7899"/>
                </a:solidFill>
              </a:rPr>
              <a:t>Building ahead of demand</a:t>
            </a:r>
          </a:p>
          <a:p>
            <a:r>
              <a:rPr lang="en-HK" sz="1400">
                <a:solidFill>
                  <a:schemeClr val="bg2">
                    <a:lumMod val="50000"/>
                  </a:schemeClr>
                </a:solidFill>
              </a:rPr>
              <a:t>Many projects are still pilots. The cycle only pays off if AI creates new real-economy revenue (factories, grids, science)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2858C4-A751-47C9-34AA-77DC888B7079}"/>
              </a:ext>
            </a:extLst>
          </p:cNvPr>
          <p:cNvSpPr txBox="1"/>
          <p:nvPr/>
        </p:nvSpPr>
        <p:spPr>
          <a:xfrm>
            <a:off x="4392350" y="4895711"/>
            <a:ext cx="362155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HK" sz="1400" i="1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lang="en-HK" sz="1400" i="1">
                <a:solidFill>
                  <a:schemeClr val="accent1">
                    <a:lumMod val="75000"/>
                  </a:schemeClr>
                </a:solidFill>
                <a:effectLst/>
              </a:rPr>
              <a:t>lient already owns plants and infrastructure in Asia </a:t>
            </a:r>
            <a:r>
              <a:rPr lang="en-HK" sz="1400" i="1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HK" sz="1400" i="1">
                <a:solidFill>
                  <a:schemeClr val="accent1">
                    <a:lumMod val="75000"/>
                  </a:schemeClr>
                </a:solidFill>
                <a:effectLst/>
              </a:rPr>
              <a:t>its closer to the scarce part of the market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37122748-2E0F-760D-350C-4B39F07AC01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11208" y="1404924"/>
            <a:ext cx="569584" cy="569584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2B0523D1-16C1-B2A4-30CE-17BFDEB015C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77734" y="2817454"/>
            <a:ext cx="633191" cy="633191"/>
          </a:xfrm>
          <a:prstGeom prst="rect">
            <a:avLst/>
          </a:prstGeom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A159E3A-E5BF-B0FA-4855-826B2DF84209}"/>
              </a:ext>
            </a:extLst>
          </p:cNvPr>
          <p:cNvCxnSpPr>
            <a:cxnSpLocks/>
          </p:cNvCxnSpPr>
          <p:nvPr/>
        </p:nvCxnSpPr>
        <p:spPr>
          <a:xfrm>
            <a:off x="8147305" y="816211"/>
            <a:ext cx="0" cy="4915032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" name="Graphic 72" descr="Caret Left outline">
            <a:extLst>
              <a:ext uri="{FF2B5EF4-FFF2-40B4-BE49-F238E27FC236}">
                <a16:creationId xmlns:a16="http://schemas.microsoft.com/office/drawing/2014/main" id="{17A73E7B-DC38-5E24-2799-0DEB1E3554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5895118" y="4272228"/>
            <a:ext cx="519654" cy="80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6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417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Investment thesis 1: Asia controls AI's hardware bottlenecks</a:t>
            </a:r>
            <a:endParaRPr lang="en-US" sz="2200">
              <a:latin typeface="Arial"/>
              <a:cs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997232"/>
            <a:ext cx="5486400" cy="38404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94360" y="99723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8DB3D1"/>
                </a:solidFill>
                <a:latin typeface="Arial"/>
                <a:ea typeface="Arial" pitchFamily="34" charset="-122"/>
                <a:cs typeface="Arial"/>
              </a:rPr>
              <a:t>1a  </a:t>
            </a:r>
            <a:r>
              <a:rPr lang="en-US" sz="125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Demand is structural, and it runs through Asia</a:t>
            </a:r>
            <a:endParaRPr lang="en-US" sz="1250">
              <a:latin typeface="Arial"/>
              <a:cs typeface="Arial"/>
            </a:endParaRPr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2021310585"/>
              </p:ext>
            </p:extLst>
          </p:nvPr>
        </p:nvGraphicFramePr>
        <p:xfrm>
          <a:off x="457200" y="1481864"/>
          <a:ext cx="256032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3154680" y="1527584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Demand is structural</a:t>
            </a:r>
            <a:endParaRPr lang="en-US" sz="950">
              <a:latin typeface="Arial"/>
              <a:cs typeface="Arial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Hyperscaler capex ~US$725bn in 2026 (+77%); the chip market nearly doubles to ~US$1.5trn.</a:t>
            </a:r>
            <a:endParaRPr lang="en-US" sz="950">
              <a:latin typeface="Arial"/>
              <a:cs typeface="Arial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95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The moat runs through Asia</a:t>
            </a:r>
            <a:endParaRPr lang="en-US" sz="950">
              <a:latin typeface="Arial"/>
              <a:cs typeface="Arial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8 of the world's 10 largest companies depend on TSMC (J.P. Morgan).</a:t>
            </a:r>
            <a:endParaRPr lang="en-US" sz="950">
              <a:latin typeface="Arial"/>
              <a:cs typeface="Arial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950" b="1">
                <a:solidFill>
                  <a:srgbClr val="B23B3B"/>
                </a:solidFill>
                <a:latin typeface="Arial"/>
                <a:ea typeface="Arial" pitchFamily="34" charset="-122"/>
                <a:cs typeface="Arial"/>
              </a:rPr>
              <a:t>…but the cycle is maturing</a:t>
            </a:r>
            <a:endParaRPr lang="en-US" sz="950">
              <a:latin typeface="Arial"/>
              <a:cs typeface="Arial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DRAM price gains slowing: +48% in Q2, ~+13% expected in Q4 2026.</a:t>
            </a:r>
            <a:endParaRPr lang="en-US" sz="950">
              <a:latin typeface="Arial"/>
              <a:cs typeface="Arial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3466112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3466112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66928" y="346611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~70%</a:t>
            </a:r>
            <a:endParaRPr lang="en-US" sz="1700">
              <a:latin typeface="Arial"/>
              <a:cs typeface="Arial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1691640" y="34661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Taiwan makes the chips: </a:t>
            </a:r>
            <a:r>
              <a:rPr lang="en-US" sz="900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TSMC's share of global foundry revenue; TSMC is &gt;40% of TAIEX.</a:t>
            </a:r>
            <a:endParaRPr lang="en-US" sz="900">
              <a:latin typeface="Arial"/>
              <a:cs typeface="Arial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→ Taiwan is the single largest AI chokepoint</a:t>
            </a:r>
            <a:endParaRPr lang="en-US" sz="900">
              <a:latin typeface="Arial"/>
              <a:cs typeface="Arial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57200" y="4069616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4069616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66928" y="406961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83%</a:t>
            </a:r>
            <a:endParaRPr lang="en-US" sz="1700">
              <a:latin typeface="Arial"/>
              <a:cs typeface="Arial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1691640" y="406961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Korea makes the memory: </a:t>
            </a:r>
            <a:r>
              <a:rPr lang="en-US" sz="900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SK hynix + Samsung share of HBM, the memory every AI accelerator needs.</a:t>
            </a:r>
            <a:endParaRPr lang="en-US" sz="900">
              <a:latin typeface="Arial"/>
              <a:cs typeface="Arial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→ No AI accelerator ships without Korean memory</a:t>
            </a:r>
            <a:endParaRPr lang="en-US" sz="900">
              <a:latin typeface="Arial"/>
              <a:cs typeface="Arial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57200" y="4673120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7200" y="4673120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66928" y="46731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~55%</a:t>
            </a:r>
            <a:endParaRPr lang="en-US" sz="1700">
              <a:latin typeface="Arial"/>
              <a:cs typeface="Arial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1691640" y="46731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Japan makes the tools: </a:t>
            </a:r>
            <a:r>
              <a:rPr lang="en-US" sz="900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Advantest's share of chip test equipment; with Tokyo Electron ≈ 20% of the Nikkei.</a:t>
            </a:r>
            <a:endParaRPr lang="en-US" sz="900">
              <a:latin typeface="Arial"/>
              <a:cs typeface="Arial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→ Every new fab needs Japanese tools</a:t>
            </a:r>
            <a:endParaRPr lang="en-US" sz="900">
              <a:latin typeface="Arial"/>
              <a:cs typeface="Arial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245352" y="997232"/>
            <a:ext cx="5486400" cy="38404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6382512" y="99723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8DB3D1"/>
                </a:solidFill>
                <a:latin typeface="Arial"/>
                <a:ea typeface="Arial" pitchFamily="34" charset="-122"/>
                <a:cs typeface="Arial"/>
              </a:rPr>
              <a:t>1b  </a:t>
            </a:r>
            <a:r>
              <a:rPr lang="en-US" sz="125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A strong theme on a violent path</a:t>
            </a:r>
            <a:endParaRPr lang="en-US" sz="1250">
              <a:latin typeface="Arial"/>
              <a:cs typeface="Arial"/>
            </a:endParaRPr>
          </a:p>
        </p:txBody>
      </p:sp>
      <p:graphicFrame>
        <p:nvGraphicFramePr>
          <p:cNvPr id="28" name="Chart 1"/>
          <p:cNvGraphicFramePr/>
          <p:nvPr>
            <p:extLst>
              <p:ext uri="{D42A27DB-BD31-4B8C-83A1-F6EECF244321}">
                <p14:modId xmlns:p14="http://schemas.microsoft.com/office/powerpoint/2010/main" val="3441210906"/>
              </p:ext>
            </p:extLst>
          </p:nvPr>
        </p:nvGraphicFramePr>
        <p:xfrm>
          <a:off x="6245352" y="1481864"/>
          <a:ext cx="329184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Text 25"/>
          <p:cNvSpPr txBox="1"/>
          <p:nvPr/>
        </p:nvSpPr>
        <p:spPr>
          <a:xfrm>
            <a:off x="9674352" y="1527584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Growth is structural…</a:t>
            </a:r>
            <a:endParaRPr lang="en-US" sz="950">
              <a:latin typeface="Arial"/>
              <a:cs typeface="Arial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TAIEX and KOSPI are 2–3× their end-2022 levels on AI demand.</a:t>
            </a:r>
            <a:endParaRPr lang="en-US" sz="950">
              <a:latin typeface="Arial"/>
              <a:cs typeface="Arial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950" b="1">
                <a:solidFill>
                  <a:srgbClr val="B23B3B"/>
                </a:solidFill>
                <a:latin typeface="Arial"/>
                <a:ea typeface="Arial" pitchFamily="34" charset="-122"/>
                <a:cs typeface="Arial"/>
              </a:rPr>
              <a:t>…but the path is violent</a:t>
            </a:r>
            <a:endParaRPr lang="en-US" sz="950">
              <a:latin typeface="Arial"/>
              <a:cs typeface="Arial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Down 10–25% in 2022; records in June 2026, then sharp falls within weeks.</a:t>
            </a:r>
            <a:endParaRPr lang="en-US" sz="950">
              <a:latin typeface="Arial"/>
              <a:cs typeface="Arial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6245352" y="3466112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245352" y="3466112"/>
            <a:ext cx="64008" cy="54864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6355080" y="346611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B23B3B"/>
                </a:solidFill>
                <a:latin typeface="Arial"/>
                <a:ea typeface="Arial" pitchFamily="34" charset="-122"/>
                <a:cs typeface="Arial"/>
              </a:rPr>
              <a:t>−25%</a:t>
            </a:r>
            <a:endParaRPr lang="en-US" sz="1700">
              <a:latin typeface="Arial"/>
              <a:cs typeface="Arial"/>
            </a:endParaRPr>
          </a:p>
        </p:txBody>
      </p:sp>
      <p:sp>
        <p:nvSpPr>
          <p:cNvPr id="33" name="Text 29"/>
          <p:cNvSpPr txBox="1"/>
          <p:nvPr/>
        </p:nvSpPr>
        <p:spPr>
          <a:xfrm>
            <a:off x="7479792" y="34661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Round trips happen fast: </a:t>
            </a:r>
            <a:r>
              <a:rPr lang="en-US" sz="900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KOSPI went from 9,000+ in June to 6,789 on 28 Aug 2026, in about ten weeks.</a:t>
            </a:r>
            <a:endParaRPr lang="en-US" sz="900">
              <a:latin typeface="Arial"/>
              <a:cs typeface="Arial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→ Entry timing is hard; drawdowns are deep and quick</a:t>
            </a:r>
            <a:endParaRPr lang="en-US" sz="900">
              <a:latin typeface="Arial"/>
              <a:cs typeface="Arial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6245352" y="4069616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6245352" y="4069616"/>
            <a:ext cx="64008" cy="54864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 txBox="1"/>
          <p:nvPr/>
        </p:nvSpPr>
        <p:spPr>
          <a:xfrm>
            <a:off x="6355080" y="406961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B23B3B"/>
                </a:solidFill>
                <a:latin typeface="Arial"/>
                <a:ea typeface="Arial" pitchFamily="34" charset="-122"/>
                <a:cs typeface="Arial"/>
              </a:rPr>
              <a:t>&gt;40%</a:t>
            </a:r>
            <a:endParaRPr lang="en-US" sz="1700">
              <a:latin typeface="Arial"/>
              <a:cs typeface="Arial"/>
            </a:endParaRPr>
          </a:p>
        </p:txBody>
      </p:sp>
      <p:sp>
        <p:nvSpPr>
          <p:cNvPr id="37" name="Text 33"/>
          <p:cNvSpPr txBox="1"/>
          <p:nvPr/>
        </p:nvSpPr>
        <p:spPr>
          <a:xfrm>
            <a:off x="7479792" y="406961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Returns hinge on a few names: </a:t>
            </a:r>
            <a:r>
              <a:rPr lang="en-US" sz="900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TSMC &gt;40% of TAIEX; Samsung + SK hynix ~48% of KOSPI; ~92% of advanced chips from Taiwan.</a:t>
            </a:r>
            <a:endParaRPr lang="en-US" sz="900">
              <a:latin typeface="Arial"/>
              <a:cs typeface="Arial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→ Single-name risk is high</a:t>
            </a:r>
            <a:endParaRPr lang="en-US" sz="900">
              <a:latin typeface="Arial"/>
              <a:cs typeface="Arial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6245352" y="4673120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6245352" y="4673120"/>
            <a:ext cx="64008" cy="54864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6355080" y="46731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B23B3B"/>
                </a:solidFill>
                <a:latin typeface="Arial"/>
                <a:ea typeface="Arial" pitchFamily="34" charset="-122"/>
                <a:cs typeface="Arial"/>
              </a:rPr>
              <a:t>38.6×</a:t>
            </a:r>
            <a:endParaRPr lang="en-US" sz="1700">
              <a:latin typeface="Arial"/>
              <a:cs typeface="Arial"/>
            </a:endParaRPr>
          </a:p>
        </p:txBody>
      </p:sp>
      <p:sp>
        <p:nvSpPr>
          <p:cNvPr id="41" name="Text 37"/>
          <p:cNvSpPr txBox="1"/>
          <p:nvPr/>
        </p:nvSpPr>
        <p:spPr>
          <a:xfrm>
            <a:off x="7479792" y="46731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Valuations price in a lot: </a:t>
            </a:r>
            <a:r>
              <a:rPr lang="en-US" sz="900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Nikkei CAPE 38.6×; Taiwan among the most expensive markets; DRAM gains slowing.</a:t>
            </a:r>
            <a:endParaRPr lang="en-US" sz="900">
              <a:latin typeface="Arial"/>
              <a:cs typeface="Arial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→ Upside from here is less certain than the theme</a:t>
            </a:r>
            <a:endParaRPr lang="en-US" sz="900">
              <a:latin typeface="Arial"/>
              <a:cs typeface="Arial"/>
            </a:endParaRPr>
          </a:p>
        </p:txBody>
      </p:sp>
      <p:sp>
        <p:nvSpPr>
          <p:cNvPr id="43" name="Text 39"/>
          <p:cNvSpPr txBox="1"/>
          <p:nvPr/>
        </p:nvSpPr>
        <p:spPr>
          <a:xfrm>
            <a:off x="594360" y="5276624"/>
            <a:ext cx="1100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32BF0D72-69AD-30B8-B73D-E876A6F3A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839012"/>
            <a:ext cx="12192000" cy="328155"/>
          </a:xfrm>
        </p:spPr>
        <p:txBody>
          <a:bodyPr/>
          <a:lstStyle/>
          <a:p>
            <a:r>
              <a:rPr lang="en-US" sz="14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Whichever AI company wins, it needs Asia's chips, memory and tools, but the path to owning them is violent.</a:t>
            </a:r>
            <a:endParaRPr lang="en-US"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8207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 2: Rates stay high and volatility is at records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95097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backdrop for the next five years: the Fed holds rates high, bonds carry rate risk, and Asian equities swing harder than ever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298448"/>
            <a:ext cx="5486400" cy="38404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94360" y="12984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D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  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 holds rates high for longer</a:t>
            </a:r>
            <a:endParaRPr lang="en-US" sz="1250" dirty="0"/>
          </a:p>
        </p:txBody>
      </p:sp>
      <p:pic>
        <p:nvPicPr>
          <p:cNvPr id="12" name="Image 0" descr="/home/user/natixis-case-comp/deck/fomc_dot_plot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1755648"/>
            <a:ext cx="5074920" cy="1794789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3568725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FOMC dot plot, 16 Sep 2026 (shaded: today's 3.75–4.00%). Dots read from the Fed's chart.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57200" y="3767328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3767328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66928" y="376732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4.125%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691640" y="37673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FOMC median to end-2027, cuts deferred to 2028: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of 18 dots at 4.125% for 2026; 4.375% seen by 4 for 2026 and 8 for 2027.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Rate risk is structural, not a one-off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4370832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4370832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66928" y="437083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+0.25%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691640" y="43708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 is hiking again: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Sep 2026: to 3.75–4.00%, the first hike since 2023.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 easing cycle is over for now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974336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7200" y="4974336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66928" y="497433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~87%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1691640" y="497433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price more: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of at least one further hike priced by fed funds futures.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Risk to rates is still to the upside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245352" y="1298448"/>
            <a:ext cx="5486400" cy="38404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6382512" y="12984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D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  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Bonds carry rate risk, equities swing hard</a:t>
            </a:r>
            <a:endParaRPr lang="en-US" sz="12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6245352" y="1783080"/>
          <a:ext cx="301752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Text 25"/>
          <p:cNvSpPr txBox="1"/>
          <p:nvPr/>
        </p:nvSpPr>
        <p:spPr>
          <a:xfrm>
            <a:off x="9400032" y="182880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Yields are high…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5Y USD at 5.69%: high income on offer.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…but prices are exposed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hikes back on the table, a fixed rate locked in today loses value if rates rise further.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245352" y="3767328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245352" y="3767328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6355080" y="376732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−4.0%</a:t>
            </a:r>
            <a:endParaRPr lang="en-US" sz="1700" dirty="0"/>
          </a:p>
        </p:txBody>
      </p:sp>
      <p:sp>
        <p:nvSpPr>
          <p:cNvPr id="33" name="Text 29"/>
          <p:cNvSpPr txBox="1"/>
          <p:nvPr/>
        </p:nvSpPr>
        <p:spPr>
          <a:xfrm>
            <a:off x="7479792" y="37673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bonds carry rate risk: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5-year bond loses ~4.0% per 1% rise in rates.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Duration is a risk, not a hedge, in this cycle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245352" y="4370832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6245352" y="4370832"/>
            <a:ext cx="64008" cy="54864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 txBox="1"/>
          <p:nvPr/>
        </p:nvSpPr>
        <p:spPr>
          <a:xfrm>
            <a:off x="6355080" y="437083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</a:t>
            </a:r>
            <a:endParaRPr lang="en-US" sz="1700" dirty="0"/>
          </a:p>
        </p:txBody>
      </p:sp>
      <p:sp>
        <p:nvSpPr>
          <p:cNvPr id="37" name="Text 33"/>
          <p:cNvSpPr txBox="1"/>
          <p:nvPr/>
        </p:nvSpPr>
        <p:spPr>
          <a:xfrm>
            <a:off x="7479792" y="43708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is at records: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VKOSPI closed at an all-time high of 91.2 (9 Jun 2026), above the 2008 peak.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Option-implied risk in Asian equities is extreme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245352" y="4974336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6245352" y="4974336"/>
            <a:ext cx="64008" cy="54864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6355080" y="497433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−8.95%</a:t>
            </a:r>
            <a:endParaRPr lang="en-US" sz="1700" dirty="0"/>
          </a:p>
        </p:txBody>
      </p:sp>
      <p:sp>
        <p:nvSpPr>
          <p:cNvPr id="41" name="Text 37"/>
          <p:cNvSpPr txBox="1"/>
          <p:nvPr/>
        </p:nvSpPr>
        <p:spPr>
          <a:xfrm>
            <a:off x="7479792" y="497433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days move markets: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KOSPI's one-day fall on 13 Jul 2026; J.P. Morgan expects a 10–15% correction in 2026.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Buy-and-hold must sit through deep drawdowns</a:t>
            </a:r>
            <a:endParaRPr lang="en-US" sz="900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85B758ED-A9D4-F58B-60FC-438F7AC30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stay high for longer and Asian equity volatility is at records: neither bonds nor buy-and-hold are a comfortable place to sit.</a:t>
            </a:r>
            <a:endParaRPr lang="en-US" sz="1400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7281D457-B4FA-7C8E-9B8C-63C007EF87D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396239" y="124987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Our Product : </a:t>
            </a:r>
            <a:r>
              <a:rPr lang="en-US" sz="2200">
                <a:solidFill>
                  <a:srgbClr val="262626"/>
                </a:solidFill>
                <a:latin typeface="Arial"/>
                <a:ea typeface="+mn-lt"/>
                <a:cs typeface="Arial"/>
              </a:rPr>
              <a:t>12.75% p.a. 5-Year Asia Mixed Technology </a:t>
            </a:r>
            <a:r>
              <a:rPr lang="en-US" sz="2200" err="1">
                <a:solidFill>
                  <a:srgbClr val="262626"/>
                </a:solidFill>
                <a:latin typeface="Arial"/>
                <a:ea typeface="+mn-lt"/>
                <a:cs typeface="Arial"/>
              </a:rPr>
              <a:t>Autocallable</a:t>
            </a:r>
            <a:r>
              <a:rPr lang="en-US" sz="2200">
                <a:solidFill>
                  <a:srgbClr val="262626"/>
                </a:solidFill>
                <a:latin typeface="Arial"/>
                <a:ea typeface="+mn-lt"/>
                <a:cs typeface="Arial"/>
              </a:rPr>
              <a:t> Note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451104" y="796930"/>
            <a:ext cx="112776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chemeClr val="tx2"/>
                </a:solidFill>
                <a:latin typeface="Arial"/>
                <a:ea typeface="Arial" pitchFamily="34" charset="-122"/>
                <a:cs typeface="Arial"/>
              </a:rPr>
              <a:t>Why this design: a double-digit coupon, a 70% barrier at maturity, and capital usually back early</a:t>
            </a:r>
            <a:endParaRPr lang="en-US" sz="1400" b="1">
              <a:solidFill>
                <a:schemeClr val="tx2"/>
              </a:solidFill>
              <a:latin typeface="Arial"/>
              <a:cs typeface="Arial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106159"/>
              </p:ext>
            </p:extLst>
          </p:nvPr>
        </p:nvGraphicFramePr>
        <p:xfrm>
          <a:off x="391756" y="1259994"/>
          <a:ext cx="5966013" cy="4576437"/>
        </p:xfrm>
        <a:graphic>
          <a:graphicData uri="http://schemas.openxmlformats.org/drawingml/2006/table">
            <a:tbl>
              <a:tblPr/>
              <a:tblGrid>
                <a:gridCol w="1880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5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Issuer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Natixis SA (BPCE Group)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Notional / currency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USD 100,000,000 </a:t>
                      </a:r>
                      <a:endParaRPr lang="en-US" sz="1200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Trade / maturity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 Sep 2026 / 17 Sep 2031 (5Y)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Underlying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Weighted basket of 5 Asian ETFs </a:t>
                      </a:r>
                      <a:endParaRPr lang="en-US" sz="12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Yearly, 5 dates; </a:t>
                      </a:r>
                      <a:r>
                        <a:rPr lang="en-US" sz="1200" err="1">
                          <a:solidFill>
                            <a:srgbClr val="262626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autocall</a:t>
                      </a:r>
                      <a:r>
                        <a:rPr lang="en-US" sz="1200">
                          <a:solidFill>
                            <a:srgbClr val="262626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 from Year 1</a:t>
                      </a:r>
                      <a:endParaRPr lang="en-US" sz="12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7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Coupon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12.75% p.a., paid at call: 100% + 12.75% × years elapsed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7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err="1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Autocall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Called in year k if basket ≥ 105% − 2.5% × k (102.5%, 100%, 97.5%, 95%, 92.5%)</a:t>
                      </a:r>
                      <a:endParaRPr lang="en-US" sz="1200">
                        <a:latin typeface="Arial"/>
                        <a:ea typeface="Arial" charset="0"/>
                        <a:cs typeface="Arial" charset="0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042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>
                          <a:solidFill>
                            <a:srgbClr val="2C5F82"/>
                          </a:solidFill>
                          <a:latin typeface="Arial"/>
                          <a:cs typeface="Arial"/>
                        </a:rPr>
                        <a:t>Maturity barrier</a:t>
                      </a:r>
                      <a:endParaRPr lang="zh-TW"/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70%, observed at Year 5 only: if never called and the basket ends below 70%, repaid at the basket level; otherwise 100%</a:t>
                      </a:r>
                      <a:endParaRPr lang="en-US" sz="1200" err="1">
                        <a:solidFill>
                          <a:srgbClr val="262626"/>
                        </a:solidFill>
                        <a:latin typeface="Arial"/>
                        <a:cs typeface="Arial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0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 price / fair value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/ 98.4% (fair coupon 14.09%)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33867" marB="33867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620933" y="4134314"/>
            <a:ext cx="4915221" cy="1702121"/>
          </a:xfrm>
          <a:prstGeom prst="round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 lIns="91440" tIns="45720" rIns="91440" bIns="45720" anchor="t"/>
          <a:lstStyle/>
          <a:p>
            <a:pPr>
              <a:buFont typeface=""/>
              <a:buChar char="•"/>
            </a:pPr>
            <a:r>
              <a:rPr lang="af-ZA" sz="1300" b="1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Structure</a:t>
            </a:r>
            <a:r>
              <a:rPr lang="af-ZA" sz="1300" b="0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: </a:t>
            </a:r>
            <a:r>
              <a:rPr lang="af-ZA" sz="13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Autocallable</a:t>
            </a:r>
            <a:r>
              <a:rPr lang="af-ZA" sz="1300" b="1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 Note</a:t>
            </a:r>
            <a:r>
              <a:rPr lang="af-ZA" sz="1300" b="0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>
              <a:buFont typeface=""/>
              <a:buChar char="•"/>
            </a:pPr>
            <a:r>
              <a:rPr lang="af-ZA" sz="1300" b="1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Asset Allocation</a:t>
            </a:r>
            <a:r>
              <a:rPr lang="af-ZA" sz="1300" b="0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: Applied Modern Portfolio Theory (</a:t>
            </a:r>
            <a:r>
              <a:rPr lang="af-ZA" sz="1300" b="1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MPT</a:t>
            </a:r>
            <a:r>
              <a:rPr lang="af-ZA" sz="1300" b="0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) and Relative Value (</a:t>
            </a:r>
            <a:r>
              <a:rPr lang="af-ZA" sz="1300" b="1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RV</a:t>
            </a:r>
            <a:r>
              <a:rPr lang="af-ZA" sz="1300" b="0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) analysis to optimize weights for a 5-ETF underlying basket </a:t>
            </a:r>
            <a:r>
              <a:rPr lang="af-ZA" sz="1300" b="0" i="1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(details on next slide)</a:t>
            </a:r>
            <a:r>
              <a:rPr lang="af-ZA" sz="1300" b="0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>
              <a:buFont typeface=""/>
              <a:buChar char="•"/>
            </a:pPr>
            <a:r>
              <a:rPr lang="af-ZA" sz="1300" b="1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Pricing &amp; Valuation</a:t>
            </a:r>
            <a:r>
              <a:rPr lang="af-ZA" sz="1300" b="0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: Combined Implied Volatility (</a:t>
            </a:r>
            <a:r>
              <a:rPr lang="af-ZA" sz="1300" b="1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IV</a:t>
            </a:r>
            <a:r>
              <a:rPr lang="af-ZA" sz="1300" b="0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) with </a:t>
            </a:r>
            <a:r>
              <a:rPr lang="af-ZA" sz="1300" b="1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Monte Carlo simulations</a:t>
            </a:r>
            <a:r>
              <a:rPr lang="af-ZA" sz="1300" b="0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 to derive the fair coupon price </a:t>
            </a:r>
            <a:r>
              <a:rPr lang="af-ZA" sz="1300" b="0" i="1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(methodology in Appendix E &amp; F)</a:t>
            </a:r>
            <a:r>
              <a:rPr lang="af-ZA" sz="1300" b="0" u="none" strike="noStrike">
                <a:solidFill>
                  <a:schemeClr val="bg1"/>
                </a:solidFill>
                <a:latin typeface="Arial"/>
                <a:ea typeface="Arial"/>
                <a:cs typeface="Arial"/>
              </a:rPr>
              <a:t>.</a:t>
            </a:r>
            <a:endParaRPr lang="en-US" sz="1300">
              <a:solidFill>
                <a:schemeClr val="bg1"/>
              </a:solidFill>
              <a:cs typeface="Arial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CB9F53A0-3CAA-F18D-1A4E-18FAE91B6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722140"/>
              </p:ext>
            </p:extLst>
          </p:nvPr>
        </p:nvGraphicFramePr>
        <p:xfrm>
          <a:off x="6620933" y="1259994"/>
          <a:ext cx="5022425" cy="2593522"/>
        </p:xfrm>
        <a:graphic>
          <a:graphicData uri="http://schemas.openxmlformats.org/drawingml/2006/table">
            <a:tbl>
              <a:tblPr/>
              <a:tblGrid>
                <a:gridCol w="13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5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ETF (Bloomberg)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err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in the basket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Asia Semiconductor (3119 HK)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Pan-Asian chip leaders (40 names; TSMC, Samsung, SK Hynix the largest): the core AI-hardware exposure</a:t>
                      </a:r>
                      <a:endParaRPr lang="en-US" sz="10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iShares MSCI South Korea (EWY)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Korea large caps (Samsung + SK </a:t>
                      </a:r>
                      <a:r>
                        <a:rPr lang="en-US" sz="1000" err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hynix</a:t>
                      </a: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~44%): high-bandwidth memory for AI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iShares MSCI Taiwan (EWT)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Taiwan large caps (TSMC, MediaTek, Delta): AI foundry and server chain in the family's Greater China region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8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Japan Semiconductor (2644 JP)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Japanese semiconductor stocks (FactSet Japan Semiconductor Index, e.g. Tokyo Electron, Advantest): the family's home market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Taiwan ESG High Dividend (00878 TT)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ESG-screened Taiwan high-dividend leaders (Quanta, UMC, MediaTek): ESG sleeve and lower-volatility anchor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981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4866" y="14102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 our five-ETF basket sits at the low-risk edge of every possible mix</a:t>
            </a:r>
            <a:endParaRPr lang="en-US" sz="2200"/>
          </a:p>
        </p:txBody>
      </p:sp>
      <p:sp>
        <p:nvSpPr>
          <p:cNvPr id="9" name="Text 7"/>
          <p:cNvSpPr txBox="1"/>
          <p:nvPr/>
        </p:nvSpPr>
        <p:spPr>
          <a:xfrm>
            <a:off x="477253" y="75544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>
                <a:solidFill>
                  <a:schemeClr val="accent1"/>
                </a:solidFill>
                <a:latin typeface="Arial"/>
                <a:ea typeface="Arial" pitchFamily="34" charset="-122"/>
                <a:cs typeface="Arial"/>
              </a:rPr>
              <a:t>USD 100mn across five Bloomberg-listed ETFs; our weights (red star) deliver ~26% expected return for only ~17% Realized Volatility</a:t>
            </a:r>
            <a:endParaRPr lang="en-US" sz="1400" b="1">
              <a:solidFill>
                <a:schemeClr val="accent1"/>
              </a:solidFill>
              <a:cs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4866" y="1249681"/>
            <a:ext cx="3429000" cy="329184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414866" y="1249681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47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</a:t>
            </a:r>
            <a:endParaRPr lang="en-US" sz="1147"/>
          </a:p>
        </p:txBody>
      </p:sp>
      <p:sp>
        <p:nvSpPr>
          <p:cNvPr id="14" name="Text 11"/>
          <p:cNvSpPr txBox="1"/>
          <p:nvPr/>
        </p:nvSpPr>
        <p:spPr>
          <a:xfrm>
            <a:off x="2700866" y="2094455"/>
            <a:ext cx="1143000" cy="115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3" b="1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in the semiconductor core</a:t>
            </a:r>
            <a:endParaRPr lang="en-US" sz="853"/>
          </a:p>
          <a:p>
            <a:r>
              <a:rPr lang="en-US" sz="853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3119 HK + 2644 JP = 50%; Korea adds memory, Taiwan the foundry, 00878 the ESG income.</a:t>
            </a:r>
            <a:endParaRPr lang="en-US" sz="853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14866" y="3660989"/>
          <a:ext cx="3429000" cy="164592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7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3119 HK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Pan-Asian chip leaders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4F86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EWY US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Korea: memory for AI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8DB3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EWT US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Taiwan: the AI foundry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2644 JP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Japan: chip-making tools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E9E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00878 TT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ESG dividend anchor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16933" marB="16933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4026746" y="1249681"/>
            <a:ext cx="4572000" cy="329184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3"/>
          <p:cNvSpPr txBox="1"/>
          <p:nvPr/>
        </p:nvSpPr>
        <p:spPr>
          <a:xfrm>
            <a:off x="4026746" y="1248823"/>
            <a:ext cx="4572000" cy="33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Modern Portfolio Theory : Risk vs return: single ETFs and random mixes</a:t>
            </a:r>
            <a:endParaRPr lang="en-US" sz="1100" dirty="0">
              <a:latin typeface="Arial"/>
              <a:cs typeface="Arial"/>
            </a:endParaRPr>
          </a:p>
        </p:txBody>
      </p:sp>
      <p:pic>
        <p:nvPicPr>
          <p:cNvPr id="18" name="Image 0" descr="/home/user/natixis-case-comp/strategy/risk_return_clou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746" y="1797926"/>
            <a:ext cx="4480560" cy="352083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781626" y="1249681"/>
            <a:ext cx="2907792" cy="329184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5"/>
          <p:cNvSpPr txBox="1"/>
          <p:nvPr/>
        </p:nvSpPr>
        <p:spPr>
          <a:xfrm>
            <a:off x="8781626" y="1249681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47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it</a:t>
            </a:r>
            <a:endParaRPr lang="en-US" sz="1147"/>
          </a:p>
        </p:txBody>
      </p:sp>
      <p:sp>
        <p:nvSpPr>
          <p:cNvPr id="21" name="Text 16"/>
          <p:cNvSpPr txBox="1"/>
          <p:nvPr/>
        </p:nvSpPr>
        <p:spPr>
          <a:xfrm>
            <a:off x="8817863" y="1716026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907" b="1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dots: </a:t>
            </a:r>
            <a:r>
              <a:rPr lang="en-US" sz="907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ETF on its own (2644 is the dot near 0.26, 0.25).</a:t>
            </a:r>
            <a:endParaRPr lang="en-US" sz="907"/>
          </a:p>
          <a:p>
            <a:pPr>
              <a:spcAft>
                <a:spcPts val="400"/>
              </a:spcAft>
            </a:pPr>
            <a:r>
              <a:rPr lang="en-US" sz="907" b="1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star: </a:t>
            </a:r>
            <a:r>
              <a:rPr lang="en-US" sz="907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basket (35 / 20 / 15 / 15 / 15).</a:t>
            </a:r>
            <a:endParaRPr lang="en-US" sz="907"/>
          </a:p>
          <a:p>
            <a:pPr>
              <a:spcAft>
                <a:spcPts val="400"/>
              </a:spcAft>
            </a:pPr>
            <a:r>
              <a:rPr lang="en-US" sz="907" b="1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dots: </a:t>
            </a:r>
            <a:r>
              <a:rPr lang="en-US" sz="907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random weightings of the five ETFs; lighter = more return per unit of risk.</a:t>
            </a:r>
            <a:endParaRPr lang="en-US" sz="907"/>
          </a:p>
          <a:p>
            <a:pPr>
              <a:spcAft>
                <a:spcPts val="400"/>
              </a:spcAft>
            </a:pPr>
            <a:r>
              <a:rPr lang="en-US" sz="907" b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Axes: </a:t>
            </a:r>
            <a:r>
              <a:rPr lang="en-US" sz="907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annualised volatility (risk) and expected return.</a:t>
            </a:r>
            <a:endParaRPr lang="en-US" sz="907"/>
          </a:p>
        </p:txBody>
      </p:sp>
      <p:sp>
        <p:nvSpPr>
          <p:cNvPr id="22" name="Shape 17"/>
          <p:cNvSpPr/>
          <p:nvPr/>
        </p:nvSpPr>
        <p:spPr>
          <a:xfrm>
            <a:off x="8781626" y="3032761"/>
            <a:ext cx="2907792" cy="2331720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18"/>
          <p:cNvSpPr txBox="1"/>
          <p:nvPr/>
        </p:nvSpPr>
        <p:spPr>
          <a:xfrm>
            <a:off x="8873066" y="3105913"/>
            <a:ext cx="274320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33"/>
              </a:spcAft>
            </a:pPr>
            <a:r>
              <a:rPr lang="en-US" sz="1107" b="1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947"/>
          </a:p>
          <a:p>
            <a:pPr marL="456565" indent="-456565">
              <a:spcAft>
                <a:spcPts val="533"/>
              </a:spcAft>
              <a:buSzPct val="100000"/>
              <a:buChar char="•"/>
            </a:pPr>
            <a:r>
              <a:rPr lang="en-US" sz="947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basket (red star): ~26% return at ~17% volatility, the lowest risk of all the mixes shown.</a:t>
            </a:r>
            <a:endParaRPr lang="en-US" sz="947">
              <a:cs typeface="Arial" panose="020B0604020202020204"/>
            </a:endParaRPr>
          </a:p>
          <a:p>
            <a:pPr marL="456565" indent="-456565">
              <a:spcAft>
                <a:spcPts val="533"/>
              </a:spcAft>
              <a:buSzPct val="100000"/>
              <a:buChar char="•"/>
            </a:pPr>
            <a:r>
              <a:rPr lang="en-US" sz="947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random mixes need 22–32% volatility for the same 25–28% return: our weights get it with less risk.</a:t>
            </a:r>
            <a:endParaRPr lang="en-US" sz="947">
              <a:cs typeface="Arial" panose="020B0604020202020204"/>
            </a:endParaRPr>
          </a:p>
          <a:p>
            <a:pPr marL="456565" indent="-456565">
              <a:spcAft>
                <a:spcPts val="533"/>
              </a:spcAft>
              <a:buSzPct val="100000"/>
              <a:buChar char="•"/>
            </a:pPr>
            <a:r>
              <a:rPr lang="en-US" sz="947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risk than any single ETF, about a third of EWY's (~49%), while giving up only a few points versus EWT's ~31%.</a:t>
            </a:r>
            <a:endParaRPr lang="en-US" sz="947">
              <a:cs typeface="Arial" panose="020B0604020202020204"/>
            </a:endParaRPr>
          </a:p>
          <a:p>
            <a:pPr marL="456565" indent="-456565">
              <a:spcAft>
                <a:spcPts val="533"/>
              </a:spcAft>
              <a:buSzPct val="100000"/>
              <a:buChar char="•"/>
            </a:pPr>
            <a:r>
              <a:rPr lang="en-US" sz="947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3119 HK (35%) anchors the basket; the other four move differently enough to pull risk down.</a:t>
            </a:r>
            <a:endParaRPr lang="en-US" sz="947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456565" indent="-456565">
              <a:spcAft>
                <a:spcPts val="533"/>
              </a:spcAft>
              <a:buSzPct val="100000"/>
              <a:buFontTx/>
              <a:buChar char="•"/>
            </a:pPr>
            <a:endParaRPr lang="en-US" sz="900">
              <a:solidFill>
                <a:srgbClr val="262626"/>
              </a:solidFill>
              <a:cs typeface="Arial" panose="020B0604020202020204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8AF44C-B0CB-3B32-211C-EEB66E3C0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basket (red star): ~26% return for ~17% volatility, less risk than any single ETF or random mix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BD4DD3-FB24-239C-E7A1-D96B89FFA10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34FA96-B04B-6E2F-357B-328281961CB9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4" name="Chart 0">
            <a:extLst>
              <a:ext uri="{FF2B5EF4-FFF2-40B4-BE49-F238E27FC236}">
                <a16:creationId xmlns:a16="http://schemas.microsoft.com/office/drawing/2014/main" id="{55C1E07A-D96D-45E6-6A5E-DF86432C2EE5}"/>
              </a:ext>
            </a:extLst>
          </p:cNvPr>
          <p:cNvGraphicFramePr/>
          <p:nvPr/>
        </p:nvGraphicFramePr>
        <p:xfrm>
          <a:off x="186266" y="1360182"/>
          <a:ext cx="2600106" cy="2326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 8">
            <a:extLst>
              <a:ext uri="{FF2B5EF4-FFF2-40B4-BE49-F238E27FC236}">
                <a16:creationId xmlns:a16="http://schemas.microsoft.com/office/drawing/2014/main" id="{9A36FB54-A5D8-BEB4-0770-B5D6C4AFDF83}"/>
              </a:ext>
            </a:extLst>
          </p:cNvPr>
          <p:cNvSpPr txBox="1"/>
          <p:nvPr/>
        </p:nvSpPr>
        <p:spPr>
          <a:xfrm>
            <a:off x="1022014" y="2373955"/>
            <a:ext cx="1020050" cy="42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Basket : 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pPr algn="ctr"/>
            <a:r>
              <a:rPr lang="en-US" sz="1600" b="1">
                <a:solidFill>
                  <a:srgbClr val="2C5F82"/>
                </a:solidFill>
                <a:cs typeface="Arial"/>
              </a:rPr>
              <a:t>100M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4467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34083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Carlo: the median portfolio grows 2.8× in five years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8724" y="792451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simulation of the five-ETF portfolio, per USD 100,000 invested (×1,000 for the USD 100mn mandate)</a:t>
            </a:r>
            <a:endParaRPr lang="en-US" sz="1600" dirty="0">
              <a:solidFill>
                <a:schemeClr val="accent1"/>
              </a:solidFill>
            </a:endParaRPr>
          </a:p>
        </p:txBody>
      </p:sp>
      <p:pic>
        <p:nvPicPr>
          <p:cNvPr id="10" name="Image 0" descr="/home/user/natixis-case-comp/strategy/mc_checkpo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24" y="1325880"/>
            <a:ext cx="7498080" cy="427216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83880" y="1325880"/>
            <a:ext cx="3547872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9"/>
          <p:cNvSpPr/>
          <p:nvPr/>
        </p:nvSpPr>
        <p:spPr>
          <a:xfrm>
            <a:off x="8183880" y="1325880"/>
            <a:ext cx="64008" cy="9144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 txBox="1"/>
          <p:nvPr/>
        </p:nvSpPr>
        <p:spPr>
          <a:xfrm>
            <a:off x="8366760" y="13807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$279.6k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366760" y="1837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7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at Year 5: 2.8× the start, +22.8% a year</a:t>
            </a:r>
            <a:endParaRPr lang="en-US" sz="947" dirty="0"/>
          </a:p>
        </p:txBody>
      </p:sp>
      <p:sp>
        <p:nvSpPr>
          <p:cNvPr id="15" name="Shape 12"/>
          <p:cNvSpPr/>
          <p:nvPr/>
        </p:nvSpPr>
        <p:spPr>
          <a:xfrm>
            <a:off x="8183880" y="2350008"/>
            <a:ext cx="3547872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13"/>
          <p:cNvSpPr/>
          <p:nvPr/>
        </p:nvSpPr>
        <p:spPr>
          <a:xfrm>
            <a:off x="8183880" y="2350008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4"/>
          <p:cNvSpPr txBox="1"/>
          <p:nvPr/>
        </p:nvSpPr>
        <p:spPr>
          <a:xfrm>
            <a:off x="8366760" y="2404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$103.6k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2862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7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Bearish (5th percentile): still above the start, +0.7% a year</a:t>
            </a:r>
            <a:endParaRPr lang="en-US" sz="947" dirty="0"/>
          </a:p>
        </p:txBody>
      </p:sp>
      <p:sp>
        <p:nvSpPr>
          <p:cNvPr id="19" name="Shape 16"/>
          <p:cNvSpPr/>
          <p:nvPr/>
        </p:nvSpPr>
        <p:spPr>
          <a:xfrm>
            <a:off x="8183880" y="3374136"/>
            <a:ext cx="3547872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7"/>
          <p:cNvSpPr/>
          <p:nvPr/>
        </p:nvSpPr>
        <p:spPr>
          <a:xfrm>
            <a:off x="8183880" y="3374136"/>
            <a:ext cx="64008" cy="914400"/>
          </a:xfrm>
          <a:prstGeom prst="rect">
            <a:avLst/>
          </a:prstGeom>
          <a:solidFill>
            <a:srgbClr val="2E9E44"/>
          </a:solidFill>
          <a:ln w="12700">
            <a:solidFill>
              <a:srgbClr val="2E9E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8"/>
          <p:cNvSpPr txBox="1"/>
          <p:nvPr/>
        </p:nvSpPr>
        <p:spPr>
          <a:xfrm>
            <a:off x="836676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b="1" dirty="0">
                <a:solidFill>
                  <a:srgbClr val="2E9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$770.5k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836676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7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Bullish (95th percentile): 7.7× the start</a:t>
            </a:r>
            <a:endParaRPr lang="en-US" sz="947" dirty="0"/>
          </a:p>
        </p:txBody>
      </p:sp>
      <p:sp>
        <p:nvSpPr>
          <p:cNvPr id="23" name="Shape 20"/>
          <p:cNvSpPr/>
          <p:nvPr/>
        </p:nvSpPr>
        <p:spPr>
          <a:xfrm>
            <a:off x="8183880" y="4398264"/>
            <a:ext cx="3547872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Shape 21"/>
          <p:cNvSpPr/>
          <p:nvPr/>
        </p:nvSpPr>
        <p:spPr>
          <a:xfrm>
            <a:off x="8183880" y="4398264"/>
            <a:ext cx="64008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2"/>
          <p:cNvSpPr txBox="1"/>
          <p:nvPr/>
        </p:nvSpPr>
        <p:spPr>
          <a:xfrm>
            <a:off x="8366760" y="44531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99.0%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8366760" y="4910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7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of ending at or above the USD 70,000 target</a:t>
            </a:r>
            <a:endParaRPr lang="en-US" sz="947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FFA8ED1D-9F08-1614-85C9-7E7EE6883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the bearish path ends above the start ($103.6k); the USD 70,000 target is the 1st percentile</a:t>
            </a:r>
            <a:endParaRPr lang="en-US" sz="1200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BBEAF50-038F-E021-340B-068DD25CFA7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364575" y="150419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>
                <a:solidFill>
                  <a:srgbClr val="26262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How it pays: one question every year, three outcomes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96240" y="705003"/>
            <a:ext cx="112776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chemeClr val="accent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Is the basket at or above that year's call level? (checked once a year: 105% − 2.5% × year)</a:t>
            </a:r>
            <a:endParaRPr lang="en-US" sz="14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609344" y="1032966"/>
            <a:ext cx="9631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>
                <a:solidFill>
                  <a:schemeClr val="tx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Call levels step down from 102.5% (Y1) to 92.5% (Y5). Called in year k: 100% + 12.75% × k. No coupon before the call.</a:t>
            </a:r>
            <a:endParaRPr lang="en-US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75359" y="1679953"/>
            <a:ext cx="10437707" cy="10890"/>
          </a:xfrm>
          <a:prstGeom prst="line">
            <a:avLst/>
          </a:prstGeom>
          <a:noFill/>
          <a:ln w="254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70560" y="1430324"/>
            <a:ext cx="512064" cy="499263"/>
          </a:xfrm>
          <a:prstGeom prst="ellipse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70560" y="1430324"/>
            <a:ext cx="512064" cy="4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82880" y="1977134"/>
            <a:ext cx="152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40">
                <a:solidFill>
                  <a:srgbClr val="59595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Trade date</a:t>
            </a:r>
            <a:endParaRPr lang="en-US" sz="104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040">
                <a:solidFill>
                  <a:srgbClr val="59595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17 Sep 2026</a:t>
            </a:r>
            <a:endParaRPr lang="en-US" sz="104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621280" y="1430324"/>
            <a:ext cx="512064" cy="499263"/>
          </a:xfrm>
          <a:prstGeom prst="ellipse">
            <a:avLst/>
          </a:prstGeom>
          <a:solidFill>
            <a:srgbClr val="2C5F82"/>
          </a:solidFill>
          <a:ln/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2621280" y="1430324"/>
            <a:ext cx="512064" cy="4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Y1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2011680" y="1977135"/>
            <a:ext cx="1731264" cy="499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7" b="1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If ≥ 102.5%: </a:t>
            </a:r>
          </a:p>
          <a:p>
            <a:pPr algn="ctr"/>
            <a:r>
              <a:rPr lang="en-US" sz="1107" b="1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CALLED,</a:t>
            </a:r>
            <a:endParaRPr lang="en-US" sz="1107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107" b="1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Receive 112.75% total, </a:t>
            </a:r>
          </a:p>
          <a:p>
            <a:pPr algn="ctr"/>
            <a:r>
              <a:rPr lang="en-US" sz="1107" b="1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Otherwise, refer to B,C </a:t>
            </a:r>
            <a:endParaRPr lang="en-US" sz="110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2063495" y="2674518"/>
            <a:ext cx="1731264" cy="26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87">
                <a:solidFill>
                  <a:srgbClr val="59595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P(called by Y1) 78%</a:t>
            </a:r>
            <a:endParaRPr lang="en-US" sz="98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0" y="1430324"/>
            <a:ext cx="512064" cy="499263"/>
          </a:xfrm>
          <a:prstGeom prst="ellipse">
            <a:avLst/>
          </a:prstGeom>
          <a:solidFill>
            <a:srgbClr val="2C5F82"/>
          </a:solidFill>
          <a:ln/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572000" y="1430324"/>
            <a:ext cx="512064" cy="4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Y2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3962400" y="1977135"/>
            <a:ext cx="1731264" cy="499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7" b="1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If ≥ 100% &amp; Y1 not </a:t>
            </a:r>
          </a:p>
          <a:p>
            <a:pPr algn="ctr"/>
            <a:r>
              <a:rPr lang="en-US" sz="1107" b="1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called: CALLED,</a:t>
            </a:r>
            <a:endParaRPr lang="en-US" sz="1107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107" b="1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Receive 125.5% total</a:t>
            </a:r>
          </a:p>
          <a:p>
            <a:pPr algn="ctr"/>
            <a:r>
              <a:rPr lang="en-US" sz="1107" b="1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Otherwise, refer to B,C</a:t>
            </a:r>
            <a:endParaRPr lang="en-US" sz="110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904487" y="2659783"/>
            <a:ext cx="1731264" cy="26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87">
                <a:solidFill>
                  <a:srgbClr val="59595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P(called by Y2) 93%</a:t>
            </a:r>
            <a:endParaRPr lang="en-US" sz="98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22720" y="1430324"/>
            <a:ext cx="512064" cy="499263"/>
          </a:xfrm>
          <a:prstGeom prst="ellipse">
            <a:avLst/>
          </a:prstGeom>
          <a:solidFill>
            <a:srgbClr val="2C5F82"/>
          </a:solidFill>
          <a:ln/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522720" y="1430324"/>
            <a:ext cx="512064" cy="4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Y3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5913120" y="1977135"/>
            <a:ext cx="1731264" cy="499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7" b="1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If ≥ 97.5% &amp; Y1–2 not called: CALLED,</a:t>
            </a:r>
            <a:endParaRPr lang="en-US" sz="1107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107" b="1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Receive 138.25% total</a:t>
            </a:r>
          </a:p>
          <a:p>
            <a:pPr algn="ctr"/>
            <a:r>
              <a:rPr lang="en-US" sz="1107" b="1">
                <a:solidFill>
                  <a:srgbClr val="2C5F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Otherwise, refer to B,C</a:t>
            </a:r>
            <a:endParaRPr lang="en-US" sz="110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5853683" y="2687777"/>
            <a:ext cx="1731264" cy="26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87">
                <a:solidFill>
                  <a:srgbClr val="59595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P(called by Y3) 97%</a:t>
            </a:r>
            <a:endParaRPr lang="en-US" sz="98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473440" y="1430324"/>
            <a:ext cx="512064" cy="499263"/>
          </a:xfrm>
          <a:prstGeom prst="ellipse">
            <a:avLst/>
          </a:prstGeom>
          <a:solidFill>
            <a:srgbClr val="2C5F82"/>
          </a:solidFill>
          <a:ln/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8473440" y="1430324"/>
            <a:ext cx="512064" cy="4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Y4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863840" y="1977135"/>
            <a:ext cx="1731264" cy="499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7" b="1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If ≥ 95% &amp; Y1–3 not </a:t>
            </a:r>
          </a:p>
          <a:p>
            <a:pPr algn="ctr"/>
            <a:r>
              <a:rPr lang="en-US" sz="1107" b="1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called: CALLED</a:t>
            </a:r>
            <a:endParaRPr lang="en-US" sz="1107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107" b="1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Receive 151.0% total; </a:t>
            </a:r>
          </a:p>
          <a:p>
            <a:pPr algn="ctr"/>
            <a:r>
              <a:rPr lang="en-US" sz="1107" b="1">
                <a:solidFill>
                  <a:srgbClr val="2C5F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Otherwise, refer to B,C</a:t>
            </a:r>
            <a:endParaRPr lang="en-US" sz="110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7933944" y="2674518"/>
            <a:ext cx="1731264" cy="26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87">
                <a:solidFill>
                  <a:srgbClr val="59595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P(called by Y4) 99%</a:t>
            </a:r>
            <a:endParaRPr lang="en-US" sz="98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0424160" y="1430324"/>
            <a:ext cx="512064" cy="499263"/>
          </a:xfrm>
          <a:prstGeom prst="ellipse">
            <a:avLst/>
          </a:prstGeom>
          <a:solidFill>
            <a:srgbClr val="4F86AE"/>
          </a:solidFill>
          <a:ln/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0424160" y="1430324"/>
            <a:ext cx="512064" cy="4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Y5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9814560" y="1977135"/>
            <a:ext cx="1731264" cy="499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7" b="1">
                <a:solidFill>
                  <a:srgbClr val="4F86A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If ≥ 92.5% &amp; Y1–4 not called: CALLED,</a:t>
            </a:r>
            <a:endParaRPr lang="en-US" sz="1107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107" b="1">
                <a:solidFill>
                  <a:srgbClr val="4F86A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Receive 163.75% total; </a:t>
            </a:r>
          </a:p>
          <a:p>
            <a:pPr algn="ctr"/>
            <a:r>
              <a:rPr lang="en-US" sz="1107" b="1">
                <a:solidFill>
                  <a:srgbClr val="4F86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Otherwise refer to B,C</a:t>
            </a:r>
            <a:endParaRPr lang="en-US" sz="110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9880431" y="2651375"/>
            <a:ext cx="1731264" cy="26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87">
                <a:solidFill>
                  <a:srgbClr val="59595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P(called by Y5) 99%</a:t>
            </a:r>
            <a:endParaRPr lang="en-US" sz="98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206497" y="2877534"/>
            <a:ext cx="6123674" cy="855879"/>
          </a:xfrm>
          <a:prstGeom prst="round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29183" y="3028288"/>
            <a:ext cx="512064" cy="499263"/>
          </a:xfrm>
          <a:prstGeom prst="ellipse">
            <a:avLst/>
          </a:prstGeom>
          <a:solidFill>
            <a:srgbClr val="2C5F82"/>
          </a:solidFill>
          <a:ln/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5"/>
          <p:cNvSpPr txBox="1"/>
          <p:nvPr/>
        </p:nvSpPr>
        <p:spPr>
          <a:xfrm>
            <a:off x="329183" y="3028288"/>
            <a:ext cx="512064" cy="4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6"/>
          <p:cNvSpPr txBox="1"/>
          <p:nvPr/>
        </p:nvSpPr>
        <p:spPr>
          <a:xfrm>
            <a:off x="975359" y="2921302"/>
            <a:ext cx="3474720" cy="320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93" b="1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Autocalled</a:t>
            </a:r>
            <a:endParaRPr lang="en-US" sz="1293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7"/>
          <p:cNvSpPr txBox="1"/>
          <p:nvPr/>
        </p:nvSpPr>
        <p:spPr>
          <a:xfrm>
            <a:off x="975359" y="3230371"/>
            <a:ext cx="3474720" cy="451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40">
                <a:solidFill>
                  <a:srgbClr val="26262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Basket ≥ that year's call level: 100% plus 12.75% × years. The note ends.</a:t>
            </a:r>
            <a:endParaRPr lang="en-US" sz="104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8"/>
          <p:cNvSpPr txBox="1"/>
          <p:nvPr/>
        </p:nvSpPr>
        <p:spPr>
          <a:xfrm>
            <a:off x="4434839" y="3003829"/>
            <a:ext cx="1731264" cy="55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99.3% called</a:t>
            </a:r>
          </a:p>
          <a:p>
            <a:pPr algn="ctr"/>
            <a:r>
              <a:rPr lang="en-US" sz="1400" b="1" dirty="0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within 5 years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213359" y="3851148"/>
            <a:ext cx="6116812" cy="855879"/>
          </a:xfrm>
          <a:prstGeom prst="round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305874" y="4029456"/>
            <a:ext cx="512064" cy="499263"/>
          </a:xfrm>
          <a:prstGeom prst="ellipse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1"/>
          <p:cNvSpPr txBox="1"/>
          <p:nvPr/>
        </p:nvSpPr>
        <p:spPr>
          <a:xfrm>
            <a:off x="316632" y="4040214"/>
            <a:ext cx="512064" cy="4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2"/>
          <p:cNvSpPr txBox="1"/>
          <p:nvPr/>
        </p:nvSpPr>
        <p:spPr>
          <a:xfrm>
            <a:off x="1005840" y="3922470"/>
            <a:ext cx="3474720" cy="320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b="1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Not called, basket ≥ 70% at Y5</a:t>
            </a:r>
            <a:endParaRPr lang="en-US" sz="12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3"/>
          <p:cNvSpPr txBox="1"/>
          <p:nvPr/>
        </p:nvSpPr>
        <p:spPr>
          <a:xfrm>
            <a:off x="1005840" y="4231539"/>
            <a:ext cx="3474720" cy="451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40" dirty="0">
                <a:solidFill>
                  <a:srgbClr val="26262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Years 1–4: continue holding</a:t>
            </a:r>
          </a:p>
          <a:p>
            <a:r>
              <a:rPr lang="en-US" sz="1040" dirty="0">
                <a:solidFill>
                  <a:srgbClr val="26262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Year 5: repaid at 100% of notional</a:t>
            </a:r>
            <a:endParaRPr lang="en-US" sz="104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4"/>
          <p:cNvSpPr txBox="1"/>
          <p:nvPr/>
        </p:nvSpPr>
        <p:spPr>
          <a:xfrm>
            <a:off x="4343823" y="3892753"/>
            <a:ext cx="1841823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0.5% not called but ≥ 70% at Y5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182879" y="4905147"/>
            <a:ext cx="6147292" cy="855879"/>
          </a:xfrm>
          <a:prstGeom prst="round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329184" y="5083455"/>
            <a:ext cx="512064" cy="499263"/>
          </a:xfrm>
          <a:prstGeom prst="ellipse">
            <a:avLst/>
          </a:prstGeom>
          <a:solidFill>
            <a:srgbClr val="B23B3B"/>
          </a:solidFill>
          <a:ln/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7"/>
          <p:cNvSpPr txBox="1"/>
          <p:nvPr/>
        </p:nvSpPr>
        <p:spPr>
          <a:xfrm>
            <a:off x="329184" y="5083455"/>
            <a:ext cx="512064" cy="4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8"/>
          <p:cNvSpPr txBox="1"/>
          <p:nvPr/>
        </p:nvSpPr>
        <p:spPr>
          <a:xfrm>
            <a:off x="975360" y="4976469"/>
            <a:ext cx="3474720" cy="320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93" b="1">
                <a:solidFill>
                  <a:srgbClr val="2C5F8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Not called, basket &lt; 70% </a:t>
            </a:r>
            <a:endParaRPr lang="en-US" sz="1293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49"/>
          <p:cNvSpPr txBox="1"/>
          <p:nvPr/>
        </p:nvSpPr>
        <p:spPr>
          <a:xfrm>
            <a:off x="975360" y="5285538"/>
            <a:ext cx="3474720" cy="451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40" dirty="0">
                <a:solidFill>
                  <a:srgbClr val="26262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Repaid at the basket level at Y5: the family bears the full fall.</a:t>
            </a:r>
            <a:endParaRPr lang="en-US" sz="104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0"/>
          <p:cNvSpPr txBox="1"/>
          <p:nvPr/>
        </p:nvSpPr>
        <p:spPr>
          <a:xfrm>
            <a:off x="4547024" y="5108152"/>
            <a:ext cx="1548974" cy="702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B23B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0.2% end below 70% at Y5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6A0123-45DB-6B8A-B34D-83988E06116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Chart 0">
            <a:extLst>
              <a:ext uri="{FF2B5EF4-FFF2-40B4-BE49-F238E27FC236}">
                <a16:creationId xmlns:a16="http://schemas.microsoft.com/office/drawing/2014/main" id="{378C2F4F-977C-E13C-B605-7CA96F490B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2617582"/>
              </p:ext>
            </p:extLst>
          </p:nvPr>
        </p:nvGraphicFramePr>
        <p:xfrm>
          <a:off x="6446520" y="4754880"/>
          <a:ext cx="320040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1" name="Picture 60">
            <a:extLst>
              <a:ext uri="{FF2B5EF4-FFF2-40B4-BE49-F238E27FC236}">
                <a16:creationId xmlns:a16="http://schemas.microsoft.com/office/drawing/2014/main" id="{E0C233A5-CF25-79A5-43D1-09CDE7188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926080"/>
            <a:ext cx="3200400" cy="1741186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DCDE2276-8875-A438-85C4-1D7137FF587F}"/>
              </a:ext>
            </a:extLst>
          </p:cNvPr>
          <p:cNvSpPr txBox="1"/>
          <p:nvPr/>
        </p:nvSpPr>
        <p:spPr>
          <a:xfrm>
            <a:off x="182879" y="5878761"/>
            <a:ext cx="612648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Expected value at exit (team outlook): ~114.2% of notional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802368" y="2880360"/>
            <a:ext cx="2240280" cy="3246120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802368" y="2880360"/>
            <a:ext cx="54864" cy="324612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48672" y="2971800"/>
            <a:ext cx="2002536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2C5F82"/>
                </a:solidFill>
                <a:latin typeface="Arial"/>
              </a:rPr>
              <a:t>Monte Carlo methodology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262626"/>
                </a:solidFill>
                <a:latin typeface="Arial"/>
              </a:rPr>
              <a:t>• Historical resampling: </a:t>
            </a:r>
            <a:r>
              <a:rPr sz="900" b="0">
                <a:solidFill>
                  <a:srgbClr val="262626"/>
                </a:solidFill>
                <a:latin typeface="Arial"/>
              </a:rPr>
              <a:t>past 5 years of monthly returns, drawn at random with replacement.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262626"/>
                </a:solidFill>
                <a:latin typeface="Arial"/>
              </a:rPr>
              <a:t>• Path generation: </a:t>
            </a:r>
            <a:r>
              <a:rPr sz="900" b="0">
                <a:solidFill>
                  <a:srgbClr val="262626"/>
                </a:solidFill>
                <a:latin typeface="Arial"/>
              </a:rPr>
              <a:t>10,000 five-year paths, each built from 60 monthly returns.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262626"/>
                </a:solidFill>
                <a:latin typeface="Arial"/>
              </a:rPr>
              <a:t>• Payoff valuation: </a:t>
            </a:r>
            <a:r>
              <a:rPr sz="900" b="0">
                <a:solidFill>
                  <a:srgbClr val="262626"/>
                </a:solidFill>
                <a:latin typeface="Arial"/>
              </a:rPr>
              <a:t>each path runs the note's exact call levels, coupon and 70% barrier.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262626"/>
                </a:solidFill>
                <a:latin typeface="Arial"/>
              </a:rPr>
              <a:t>• Risk &amp; return metrics: </a:t>
            </a:r>
            <a:r>
              <a:rPr sz="900" b="0">
                <a:solidFill>
                  <a:srgbClr val="262626"/>
                </a:solidFill>
                <a:latin typeface="Arial"/>
              </a:rPr>
              <a:t>results aggregated into call probabilities, barrier breaches and the payout distribution.</a:t>
            </a:r>
          </a:p>
          <a:p>
            <a:r>
              <a:rPr sz="800" b="0">
                <a:solidFill>
                  <a:srgbClr val="595959"/>
                </a:solidFill>
                <a:latin typeface="Arial"/>
              </a:rPr>
              <a:t>Probabilities on this slide come from these paths (team outlook), not the pricing model in Appendix E.</a:t>
            </a:r>
          </a:p>
        </p:txBody>
      </p:sp>
    </p:spTree>
    <p:extLst>
      <p:ext uri="{BB962C8B-B14F-4D97-AF65-F5344CB8AC3E}">
        <p14:creationId xmlns:p14="http://schemas.microsoft.com/office/powerpoint/2010/main" val="617687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481584" y="137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for the family, and how Natixis hedges its side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48640" y="1399032"/>
          <a:ext cx="6583680" cy="3435401"/>
        </p:xfrm>
        <a:graphic>
          <a:graphicData uri="http://schemas.openxmlformats.org/drawingml/2006/table">
            <a:tbl>
              <a:tblPr/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9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could happen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6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loss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called and basket &lt; 70% at Y5: repaid at the basket level (0.2% on the team outlook; ~14% under pricing assumptions, average loss ~50%)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Diversified basket; 70% barrier at maturity only; ~5% of family wealth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Capped upside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median is 2.8× in 5 years; the note pays 12.75% p.a. and is usually called by Y1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Coupons lock in gains if the rally stalls; rest of family wealth keeps direct equity exposure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ETF 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00878 pays ~7.6% a year out, lowering its price path; 3119 trading is thin; ETF tracking error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00878 held at 15%; verify volumes; Natixis can reference total-return versions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Issuer credit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Coupons and repayment depend on Natixis / BPCE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BPCE senior rating; optional collateralised wrapper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56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Liquidity / MTM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Sold before maturity, the price can be below 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Natixis daily indicative price; hold to call or maturity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376160" y="1399032"/>
            <a:ext cx="4267200" cy="1034187"/>
          </a:xfrm>
          <a:prstGeom prst="rect">
            <a:avLst/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9"/>
          <p:cNvSpPr txBox="1"/>
          <p:nvPr/>
        </p:nvSpPr>
        <p:spPr>
          <a:xfrm>
            <a:off x="7534656" y="1482243"/>
            <a:ext cx="396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93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digitals</a:t>
            </a:r>
            <a:endParaRPr lang="en-US" sz="1293" dirty="0"/>
          </a:p>
        </p:txBody>
      </p:sp>
      <p:sp>
        <p:nvSpPr>
          <p:cNvPr id="13" name="Text 10"/>
          <p:cNvSpPr txBox="1"/>
          <p:nvPr/>
        </p:nvSpPr>
        <p:spPr>
          <a:xfrm>
            <a:off x="7534656" y="1779423"/>
            <a:ext cx="3962400" cy="618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4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Natixis owes digital coupons on the step-down call levels (102.5% → 92.5%): replicated with tight basket call spreads, delta-hedged with ETF units, constituent stocks and index futures as proxies; listed options on EWY/EWT</a:t>
            </a:r>
            <a:endParaRPr lang="en-US" sz="1040" dirty="0"/>
          </a:p>
        </p:txBody>
      </p:sp>
      <p:sp>
        <p:nvSpPr>
          <p:cNvPr id="10" name="Shape 11"/>
          <p:cNvSpPr/>
          <p:nvPr/>
        </p:nvSpPr>
        <p:spPr>
          <a:xfrm>
            <a:off x="7376160" y="2552091"/>
            <a:ext cx="4267200" cy="1034187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 txBox="1"/>
          <p:nvPr/>
        </p:nvSpPr>
        <p:spPr>
          <a:xfrm>
            <a:off x="7534656" y="2635302"/>
            <a:ext cx="396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93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 &amp; correlation</a:t>
            </a:r>
            <a:endParaRPr lang="en-US" sz="1293" dirty="0"/>
          </a:p>
        </p:txBody>
      </p:sp>
      <p:sp>
        <p:nvSpPr>
          <p:cNvPr id="16" name="Text 13"/>
          <p:cNvSpPr txBox="1"/>
          <p:nvPr/>
        </p:nvSpPr>
        <p:spPr>
          <a:xfrm>
            <a:off x="7534656" y="2932482"/>
            <a:ext cx="3962400" cy="618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Coupon value moves with basket vol and correlation (fair 12.6%–15.6% for σ ± 3pts): managed with listed index options and correlation trades</a:t>
            </a:r>
            <a:endParaRPr lang="en-US" sz="1000">
              <a:latin typeface="Arial"/>
              <a:cs typeface="Arial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376160" y="3705149"/>
            <a:ext cx="4267200" cy="1034187"/>
          </a:xfrm>
          <a:prstGeom prst="rect">
            <a:avLst/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5"/>
          <p:cNvSpPr txBox="1"/>
          <p:nvPr/>
        </p:nvSpPr>
        <p:spPr>
          <a:xfrm>
            <a:off x="7534656" y="3788359"/>
            <a:ext cx="396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93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FX</a:t>
            </a:r>
            <a:endParaRPr lang="en-US" sz="1293" dirty="0"/>
          </a:p>
        </p:txBody>
      </p:sp>
      <p:sp>
        <p:nvSpPr>
          <p:cNvPr id="19" name="Text 16"/>
          <p:cNvSpPr txBox="1"/>
          <p:nvPr/>
        </p:nvSpPr>
        <p:spPr>
          <a:xfrm>
            <a:off x="7534656" y="4085539"/>
            <a:ext cx="3962400" cy="618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4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EWT and EWY already trade in USD; 3119 (HKD, pegged), 2644 (JPY) and 00878 (TWD) need FX forwards and a quanto adjustment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7376160" y="4858207"/>
            <a:ext cx="4267200" cy="1034187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8"/>
          <p:cNvSpPr txBox="1"/>
          <p:nvPr/>
        </p:nvSpPr>
        <p:spPr>
          <a:xfrm>
            <a:off x="7534656" y="4941418"/>
            <a:ext cx="396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93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put &amp; funding</a:t>
            </a:r>
            <a:endParaRPr lang="en-US" sz="1293" dirty="0"/>
          </a:p>
        </p:txBody>
      </p:sp>
      <p:sp>
        <p:nvSpPr>
          <p:cNvPr id="22" name="Text 19"/>
          <p:cNvSpPr txBox="1"/>
          <p:nvPr/>
        </p:nvSpPr>
        <p:spPr>
          <a:xfrm>
            <a:off x="7534656" y="5238598"/>
            <a:ext cx="3962400" cy="618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4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Natixis is long the client's put: struck at 100%, live only if never called and the basket ends below 70% at Y5; hedged with basket put spreads and delta. Principal funded at 5.69%</a:t>
            </a:r>
            <a:endParaRPr lang="en-US" sz="104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957130"/>
            <a:ext cx="65836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2C5F82"/>
                </a:solidFill>
                <a:cs typeface="Arial"/>
              </a:rPr>
              <a:t>Pricing sensitivity (fair coupon, annual model):</a:t>
            </a:r>
            <a:endParaRPr lang="en-US" sz="1100" dirty="0">
              <a:solidFill>
                <a:srgbClr val="262626"/>
              </a:solidFill>
              <a:ea typeface="Cambria Math"/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ea typeface="Cambria Math"/>
                <a:cs typeface="Arial"/>
              </a:rPr>
              <a:t>Base case: C_fair = 14.09%</a:t>
            </a:r>
            <a:endParaRPr lang="en-US" sz="1100" baseline="-25000" dirty="0">
              <a:latin typeface="Arial"/>
              <a:ea typeface="Calibri"/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sz="1100" dirty="0">
                <a:latin typeface="Arial"/>
                <a:ea typeface="Cambria Math"/>
                <a:cs typeface="Arial"/>
              </a:rPr>
              <a:t>Volatility shift: σ ± 3pts ⟹ C_fair ∈ [12.6%, 15.6%], ∂C/∂σ &gt; 0</a:t>
            </a: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/>
                <a:ea typeface="Cambria Math"/>
                <a:cs typeface="Arial"/>
              </a:rPr>
              <a:t>Correlation shift: ρ −0.15 / +0.14 ⟹ C_fair ∈ [13.0%, 15.0%], ∂C/∂ρ &gt; 0</a:t>
            </a:r>
            <a:endParaRPr lang="en-US" dirty="0">
              <a:cs typeface="Arial" panose="020B0604020202020204"/>
            </a:endParaRPr>
          </a:p>
          <a:p>
            <a:pPr marL="171450" indent="-171450">
              <a:buFont typeface="Arial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/>
                <a:ea typeface="Cambria Math"/>
                <a:cs typeface="Arial"/>
              </a:rPr>
              <a:t>Equity drift: Δμ = −1% to −2% ⟹ C_fair = 15.3%–16.7%</a:t>
            </a:r>
          </a:p>
          <a:p>
            <a:pPr marL="171450" indent="-171450">
              <a:buFont typeface="Arial"/>
              <a:buChar char="•"/>
            </a:pPr>
            <a:r>
              <a:rPr lang="en-US" sz="1100" dirty="0">
                <a:solidFill>
                  <a:srgbClr val="262626"/>
                </a:solidFill>
                <a:cs typeface="Arial"/>
              </a:rPr>
              <a:t>The 12.75% offer stays below fair value in every case except vol −3pts (12.6%).</a:t>
            </a:r>
            <a:br>
              <a:rPr lang="en-US" sz="1100" dirty="0">
                <a:cs typeface="Arial"/>
              </a:rPr>
            </a:br>
            <a:endParaRPr lang="en-US" sz="1100" dirty="0">
              <a:solidFill>
                <a:srgbClr val="262626"/>
              </a:solidFill>
              <a:cs typeface="Arial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73B2DBD3-79F2-85E9-43A0-B27465C2430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457200" y="10041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Appendix A: pricing assumptions and methodology</a:t>
            </a:r>
            <a:endParaRPr lang="en-US" sz="2200" dirty="0">
              <a:latin typeface="Arial"/>
              <a:cs typeface="Arial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7200" y="957072"/>
            <a:ext cx="112776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Inputs from Appendix F (implied vols, correlations); the strategy app (slides 7–8) uses historical data and is not used for pricing</a:t>
            </a:r>
            <a:endParaRPr lang="en-US" sz="1133">
              <a:latin typeface="Arial"/>
              <a:cs typeface="Arial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48641" y="1458468"/>
          <a:ext cx="6339837" cy="2188125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3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3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37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37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37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50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 Y1–Y5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3119 HK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EWY 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EWT 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2644 JP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00878 TT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3119 HK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30–38%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EWY 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42–45%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EWT 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32–36%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2644 JP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23–26%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00878 TT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7–12%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3776472"/>
            <a:ext cx="633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107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Model. Correlated GBM for each ETF, 1,000,000 paths, annual steps, implied-vol term structure through interval variances (App. F). Risk-neutral drift = USD funding; dividends set to zero. Quanto adjustment ignored (assumed hedged by the desk).</a:t>
            </a:r>
            <a:endParaRPr lang="en-US" sz="1107">
              <a:latin typeface="Arial"/>
              <a:cs typeface="Arial"/>
            </a:endParaRPr>
          </a:p>
          <a:p>
            <a:pPr>
              <a:spcAft>
                <a:spcPts val="400"/>
              </a:spcAft>
            </a:pPr>
            <a:r>
              <a:rPr lang="en-US" sz="1107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Discounting. Case USD funding grid; 5Y discount factor 0.758.</a:t>
            </a:r>
            <a:endParaRPr lang="en-US" sz="1107">
              <a:latin typeface="Arial"/>
              <a:cs typeface="Arial"/>
            </a:endParaRPr>
          </a:p>
          <a:p>
            <a:pPr>
              <a:spcAft>
                <a:spcPts val="400"/>
              </a:spcAft>
            </a:pPr>
            <a:r>
              <a:rPr lang="en-US" sz="1107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Coupon solve. Fair coupon makes the note worth exactly 100% (App. E): 14.09%. We offer 12.75%; the 1.34% a year difference is Natixis' hedging cost and margin.</a:t>
            </a:r>
            <a:endParaRPr lang="en-US" sz="1107">
              <a:latin typeface="Arial"/>
              <a:cs typeface="Arial"/>
            </a:endParaRPr>
          </a:p>
          <a:p>
            <a:pPr>
              <a:spcAft>
                <a:spcPts val="400"/>
              </a:spcAft>
            </a:pPr>
            <a:r>
              <a:rPr lang="en-US" sz="1107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Historical back-test (to run). Monthly Bloomberg history since 2021 for all five ETFs. Launch a hypothetical note every month, apply the same call levels and barrier, and record coupons, life and IRR by launch year.</a:t>
            </a:r>
            <a:endParaRPr lang="en-US" sz="1107">
              <a:latin typeface="Arial"/>
              <a:cs typeface="Arial"/>
            </a:endParaRPr>
          </a:p>
        </p:txBody>
      </p:sp>
      <p:graphicFrame>
        <p:nvGraphicFramePr>
          <p:cNvPr id="29" name="Table 1"/>
          <p:cNvGraphicFramePr>
            <a:graphicFrameLocks noGrp="1"/>
          </p:cNvGraphicFramePr>
          <p:nvPr/>
        </p:nvGraphicFramePr>
        <p:xfrm>
          <a:off x="7254240" y="1458468"/>
          <a:ext cx="4389120" cy="2757832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7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Variant of our note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Fair cpn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7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 barrier at Y5 (base)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7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Barrier 65%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7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Barrier 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7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barrier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7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Equity drift −1%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7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Equity drift −2%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7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 +3pts / −3pts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15.6% / 12.6%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254240" y="4311397"/>
            <a:ext cx="43891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40" i="1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Variants re-run on the annual model (400k paths) and shown as shifts from the 14.09% base. Code: pricing/scenario2_annual_checks.py</a:t>
            </a:r>
            <a:endParaRPr lang="en-US" sz="1040">
              <a:latin typeface="Arial"/>
              <a:cs typeface="Arial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6B5E08-5F2B-AC7D-7969-E46C6A3D75F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4DF4072-C638-6B54-0F65-9C6FA8D3F14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457200" y="102109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B: scenario analysis, five paths for Asian markets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50644"/>
            <a:ext cx="112776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Hypothetical basket paths, checked yearly against the call levels (102.5% → 92.5%) and the 70% barrier at Y5</a:t>
            </a:r>
            <a:endParaRPr lang="en-US" sz="1133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26720" y="1339596"/>
          <a:ext cx="5608320" cy="4279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6217920" y="1458468"/>
          <a:ext cx="5425440" cy="2995578"/>
        </p:xfrm>
        <a:graphic>
          <a:graphicData uri="http://schemas.openxmlformats.org/drawingml/2006/table">
            <a:tbl>
              <a:tblPr/>
              <a:tblGrid>
                <a:gridCol w="1731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3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9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Coupons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mn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Basket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capex boom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Called Y1 (118% ≥ 102.5%)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112.75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Range-bound Asia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Called Y2 (101% ≥ 100%)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2022-style tech drawdown, slow recovery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Called Y4 (104% ≥ 95%)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Lost decade (sideways below par)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called; 88% ≥ 70%: 100% 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2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Geopolitical shock, no recovery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called; 55% &lt; 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−11.3%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217920" y="4608577"/>
            <a:ext cx="5425440" cy="1367028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9"/>
          <p:cNvSpPr txBox="1"/>
          <p:nvPr/>
        </p:nvSpPr>
        <p:spPr>
          <a:xfrm>
            <a:off x="6400800" y="4703673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6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Reading: the note earns 10.9%–12.75% a year whenever the basket reaches that year's call level, even after a 30% drawdown (called in Y4). In the lost decade the basket ends at 88%, above the 70% barrier, so the family gets 100% back; only a lasting fall below 70% passes the loss through (55%).</a:t>
            </a:r>
            <a:endParaRPr lang="en-US" sz="116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083808"/>
            <a:ext cx="107289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7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 are illustrative and not forecasts. 'Basket' = direct basket return at Y5 when the note is not called. Historical back-test to run on Bloomberg history (appendix).</a:t>
            </a:r>
            <a:endParaRPr lang="en-US" sz="907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8DE7BC2-217A-A2E4-6D37-2643DBEE7D6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523A48E-CC57-8F8E-FB3D-73B0B7020C2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382512"/>
            <a:ext cx="11277600" cy="0"/>
          </a:xfrm>
          <a:prstGeom prst="line">
            <a:avLst/>
          </a:prstGeom>
          <a:noFill/>
          <a:ln w="7112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 txBox="1"/>
          <p:nvPr/>
        </p:nvSpPr>
        <p:spPr>
          <a:xfrm>
            <a:off x="457200" y="10058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Appendix C: how Natixis replicates the note</a:t>
            </a:r>
            <a:endParaRPr lang="en-US" sz="2200">
              <a:latin typeface="Arial"/>
              <a:cs typeface="Arial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11277600" cy="0"/>
          </a:xfrm>
          <a:prstGeom prst="line">
            <a:avLst/>
          </a:prstGeom>
          <a:noFill/>
          <a:ln w="9525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 txBox="1"/>
          <p:nvPr/>
        </p:nvSpPr>
        <p:spPr>
          <a:xfrm>
            <a:off x="457200" y="957072"/>
            <a:ext cx="112776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Replication used by the Natixis desk to price and hedge (values in % of notional, at trade date)</a:t>
            </a:r>
            <a:endParaRPr lang="en-US" sz="1133">
              <a:latin typeface="Arial"/>
              <a:cs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458469"/>
            <a:ext cx="2609088" cy="3625596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694944" y="1553565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13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Principal</a:t>
            </a:r>
            <a:endParaRPr lang="en-US" sz="1413">
              <a:latin typeface="Arial"/>
              <a:cs typeface="Arial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94944" y="1910181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40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100% repaid at call or maturity. Worth 88.2%</a:t>
            </a:r>
            <a:endParaRPr lang="en-US" sz="1040">
              <a:latin typeface="Arial"/>
              <a:cs typeface="Arial"/>
            </a:endParaRPr>
          </a:p>
        </p:txBody>
      </p:sp>
      <p:graphicFrame>
        <p:nvGraphicFramePr>
          <p:cNvPr id="13" name="Chart 0"/>
          <p:cNvGraphicFramePr/>
          <p:nvPr/>
        </p:nvGraphicFramePr>
        <p:xfrm>
          <a:off x="585216" y="2884933"/>
          <a:ext cx="2535936" cy="2115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3133344" y="3419856"/>
            <a:ext cx="24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96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+</a:t>
            </a:r>
            <a:endParaRPr lang="en-US" sz="1960">
              <a:latin typeface="Arial"/>
              <a:cs typeface="Arial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377184" y="1458469"/>
            <a:ext cx="2609088" cy="3625596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3"/>
          <p:cNvSpPr txBox="1"/>
          <p:nvPr/>
        </p:nvSpPr>
        <p:spPr>
          <a:xfrm>
            <a:off x="3523488" y="1553565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13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Coupon digitals</a:t>
            </a:r>
            <a:endParaRPr lang="en-US" sz="1413">
              <a:latin typeface="Arial"/>
              <a:cs typeface="Arial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3523488" y="1910181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40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12.75% × years, paid on the call date when the basket ≥ that year's level. Worth 15.6%</a:t>
            </a:r>
            <a:endParaRPr lang="en-US" sz="1040">
              <a:latin typeface="Arial"/>
              <a:cs typeface="Arial"/>
            </a:endParaRPr>
          </a:p>
        </p:txBody>
      </p:sp>
      <p:graphicFrame>
        <p:nvGraphicFramePr>
          <p:cNvPr id="18" name="Chart 1"/>
          <p:cNvGraphicFramePr/>
          <p:nvPr/>
        </p:nvGraphicFramePr>
        <p:xfrm>
          <a:off x="3413760" y="2884933"/>
          <a:ext cx="2535936" cy="2115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5961888" y="3419856"/>
            <a:ext cx="24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96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−</a:t>
            </a:r>
            <a:endParaRPr lang="en-US" sz="1960">
              <a:latin typeface="Arial"/>
              <a:cs typeface="Arial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6205728" y="1458469"/>
            <a:ext cx="2609088" cy="3625596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7"/>
          <p:cNvSpPr txBox="1"/>
          <p:nvPr/>
        </p:nvSpPr>
        <p:spPr>
          <a:xfrm>
            <a:off x="6352032" y="1553565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13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Autocall (Natixis)</a:t>
            </a:r>
            <a:endParaRPr lang="en-US" sz="1413">
              <a:latin typeface="Arial"/>
              <a:cs typeface="Arial"/>
            </a:endParaRPr>
          </a:p>
        </p:txBody>
      </p:sp>
      <p:sp>
        <p:nvSpPr>
          <p:cNvPr id="22" name="Text 18"/>
          <p:cNvSpPr txBox="1"/>
          <p:nvPr/>
        </p:nvSpPr>
        <p:spPr>
          <a:xfrm>
            <a:off x="6352032" y="1910181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40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Each year, basket ≥ 105% − 2.5% × year: note ends, future coupons cancelled. Keeps the coupon affordable</a:t>
            </a:r>
            <a:endParaRPr lang="en-US" sz="1040">
              <a:latin typeface="Arial"/>
              <a:cs typeface="Arial"/>
            </a:endParaRPr>
          </a:p>
        </p:txBody>
      </p:sp>
      <p:graphicFrame>
        <p:nvGraphicFramePr>
          <p:cNvPr id="23" name="Chart 2"/>
          <p:cNvGraphicFramePr/>
          <p:nvPr/>
        </p:nvGraphicFramePr>
        <p:xfrm>
          <a:off x="6242304" y="2884933"/>
          <a:ext cx="2535936" cy="2115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Text 19"/>
          <p:cNvSpPr txBox="1"/>
          <p:nvPr/>
        </p:nvSpPr>
        <p:spPr>
          <a:xfrm>
            <a:off x="8790432" y="3419856"/>
            <a:ext cx="24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96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−</a:t>
            </a:r>
            <a:endParaRPr lang="en-US" sz="1960">
              <a:latin typeface="Arial"/>
              <a:cs typeface="Arial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9034272" y="1458469"/>
            <a:ext cx="2609088" cy="3625596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1"/>
          <p:cNvSpPr txBox="1"/>
          <p:nvPr/>
        </p:nvSpPr>
        <p:spPr>
          <a:xfrm>
            <a:off x="9180576" y="1553565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13" b="1">
                <a:solidFill>
                  <a:srgbClr val="B23B3B"/>
                </a:solidFill>
                <a:latin typeface="Arial"/>
                <a:ea typeface="Arial" pitchFamily="34" charset="-122"/>
                <a:cs typeface="Arial"/>
              </a:rPr>
              <a:t>Short put (client)</a:t>
            </a:r>
            <a:endParaRPr lang="en-US" sz="1413">
              <a:latin typeface="Arial"/>
              <a:cs typeface="Arial"/>
            </a:endParaRPr>
          </a:p>
        </p:txBody>
      </p:sp>
      <p:sp>
        <p:nvSpPr>
          <p:cNvPr id="27" name="Text 22"/>
          <p:cNvSpPr txBox="1"/>
          <p:nvPr/>
        </p:nvSpPr>
        <p:spPr>
          <a:xfrm>
            <a:off x="9180576" y="1910181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40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If never called and the basket ends below 70% at Y5, the client bears the full fall from 100%. Worth −5.4%</a:t>
            </a:r>
            <a:endParaRPr lang="en-US" sz="1040">
              <a:latin typeface="Arial"/>
              <a:cs typeface="Arial"/>
            </a:endParaRPr>
          </a:p>
        </p:txBody>
      </p:sp>
      <p:graphicFrame>
        <p:nvGraphicFramePr>
          <p:cNvPr id="28" name="Chart 3"/>
          <p:cNvGraphicFramePr/>
          <p:nvPr/>
        </p:nvGraphicFramePr>
        <p:xfrm>
          <a:off x="9070848" y="2884933"/>
          <a:ext cx="2535936" cy="2115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9" name="Shape 23"/>
          <p:cNvSpPr/>
          <p:nvPr/>
        </p:nvSpPr>
        <p:spPr>
          <a:xfrm>
            <a:off x="548640" y="5202936"/>
            <a:ext cx="11094720" cy="832104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4"/>
          <p:cNvSpPr txBox="1"/>
          <p:nvPr/>
        </p:nvSpPr>
        <p:spPr>
          <a:xfrm>
            <a:off x="731520" y="5286147"/>
            <a:ext cx="1072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b="1">
                <a:solidFill>
                  <a:srgbClr val="BFD7EA"/>
                </a:solidFill>
                <a:latin typeface="Arial"/>
                <a:ea typeface="Arial" pitchFamily="34" charset="-122"/>
                <a:cs typeface="Arial"/>
              </a:rPr>
              <a:t>Fair value 98.4% = principal 88.2% + coupons 15.6% − short put 5.4%.  Issued at 100%, leaving 1.6% (≈1.34% a year) for hedging and margin. The short put funds the double-digit coupon.</a:t>
            </a:r>
            <a:endParaRPr lang="en-US" sz="1227">
              <a:latin typeface="Arial"/>
              <a:cs typeface="Arial"/>
            </a:endParaRP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3B9218D-BAE5-DB5F-2D2F-4144BEEE7C2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CE06F229-4B74-2806-57FC-F7615BCAF59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1EDB952-10BD-3567-CA3A-D2CF6E6FA12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382512"/>
            <a:ext cx="11277600" cy="0"/>
          </a:xfrm>
          <a:prstGeom prst="line">
            <a:avLst/>
          </a:prstGeom>
          <a:noFill/>
          <a:ln w="7112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 txBox="1"/>
          <p:nvPr/>
        </p:nvSpPr>
        <p:spPr>
          <a:xfrm>
            <a:off x="457200" y="10058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Appendix D: alternatives for the investment committee</a:t>
            </a:r>
            <a:endParaRPr lang="en-US" sz="2200">
              <a:latin typeface="Arial"/>
              <a:cs typeface="Arial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11277600" cy="0"/>
          </a:xfrm>
          <a:prstGeom prst="line">
            <a:avLst/>
          </a:prstGeom>
          <a:noFill/>
          <a:ln w="9525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 txBox="1"/>
          <p:nvPr/>
        </p:nvSpPr>
        <p:spPr>
          <a:xfrm>
            <a:off x="457200" y="957072"/>
            <a:ext cx="112776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Same basket and call levels: full protection, no barrier, and a pure participation note</a:t>
            </a:r>
            <a:endParaRPr lang="en-US" sz="1133">
              <a:latin typeface="Arial"/>
              <a:cs typeface="Arial"/>
            </a:endParaRPr>
          </a:p>
        </p:txBody>
      </p:sp>
      <p:graphicFrame>
        <p:nvGraphicFramePr>
          <p:cNvPr id="10" name="Chart 0"/>
          <p:cNvGraphicFramePr/>
          <p:nvPr/>
        </p:nvGraphicFramePr>
        <p:xfrm>
          <a:off x="487680" y="1399032"/>
          <a:ext cx="6096000" cy="4279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6949440" y="1458468"/>
          <a:ext cx="4693920" cy="2139695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9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9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Step-down autocall (ours)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12.75% p.a. at call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 pricing; 0.2% outlook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9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protected autocallable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~9.6% fair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barrier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~14.7% fair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~19% pricing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9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Principal-protected note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 of gain at Y5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7733" marR="67733" marT="33867" marB="33867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949440" y="3717037"/>
            <a:ext cx="4693920" cy="1485900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9"/>
          <p:cNvSpPr txBox="1"/>
          <p:nvPr/>
        </p:nvSpPr>
        <p:spPr>
          <a:xfrm>
            <a:off x="7132320" y="3800247"/>
            <a:ext cx="4389120" cy="1331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7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Trade-off: full protection pays only ~9.6%. Removing the barrier adds ~0.6% of coupon but loses capital in ~19% of paths instead of ~14% (pricing measure). The PPN pays nothing unless the basket ends above 100% after 5 years. Our note pays 12.75%, with money usually back within ~1 year on the team outlook, and protects the family down to a 30% fall at maturity.</a:t>
            </a:r>
            <a:endParaRPr lang="en-US" sz="1107">
              <a:latin typeface="Arial"/>
              <a:cs typeface="Arial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457200" y="6083808"/>
            <a:ext cx="107289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7" i="1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Annual Monte Carlo on App. F inputs (400k paths); fair coupons shown as shifts from the 14.09% base. Payoffs at Y5 for notes not called earlier. Inputs to refresh with Bloomberg data as of the 17 Sep 2026 trade date.</a:t>
            </a:r>
            <a:endParaRPr lang="en-US" sz="907">
              <a:latin typeface="Arial"/>
              <a:cs typeface="Arial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030EE9A-C8D8-9346-57F6-9CB00A01175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28AE636-1A2E-4379-50B7-EE28F424F44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058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Appendix E: how we priced the note, and why the fair coupon is 14.09%</a:t>
            </a:r>
            <a:endParaRPr lang="en-US" sz="2200">
              <a:latin typeface="Arial"/>
              <a:cs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" name="Text 2"/>
          <p:cNvSpPr txBox="1"/>
          <p:nvPr/>
        </p:nvSpPr>
        <p:spPr>
          <a:xfrm>
            <a:off x="457200" y="96926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Monte Carlo simulation of the five-ETF basket (1,000,000 paths); the fair coupon makes the note worth exactly its issue price</a:t>
            </a:r>
            <a:endParaRPr lang="en-US" sz="1100">
              <a:latin typeface="Arial"/>
              <a:cs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7315200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Shape 9"/>
          <p:cNvSpPr/>
          <p:nvPr/>
        </p:nvSpPr>
        <p:spPr>
          <a:xfrm>
            <a:off x="548640" y="1499616"/>
            <a:ext cx="402336" cy="402336"/>
          </a:xfrm>
          <a:prstGeom prst="ellipse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2" name="Text 10"/>
          <p:cNvSpPr txBox="1"/>
          <p:nvPr/>
        </p:nvSpPr>
        <p:spPr>
          <a:xfrm>
            <a:off x="548640" y="1499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A</a:t>
            </a:r>
            <a:endParaRPr lang="en-US" sz="1300">
              <a:latin typeface="Arial"/>
              <a:cs typeface="Arial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51560" y="137160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Term structure &amp; discount factors</a:t>
            </a:r>
            <a:endParaRPr lang="en-US" sz="10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850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Annual rates are converted to continuous rates; each cash flow is discounted at its own tenor</a:t>
            </a:r>
            <a:endParaRPr lang="en-US" sz="1000">
              <a:latin typeface="Arial"/>
              <a:cs typeface="Arial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39477" y="1400797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                                     (1)</a:t>
            </a:r>
            <a:endParaRPr lang="en-US" sz="12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 txBox="1"/>
              <p:nvPr/>
            </p:nvSpPr>
            <p:spPr>
              <a:xfrm>
                <a:off x="4206240" y="1700784"/>
                <a:ext cx="352044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HK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sz="12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HK" sz="12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HK" sz="120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HK" sz="12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HK" sz="1200" i="1" dirty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sSubSup>
                          <m:sSubSupPr>
                            <m:ctrlPr>
                              <a:rPr lang="en-HK" sz="12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HK" sz="1200" i="1" dirty="0" smtClean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b>
                            <m:r>
                              <a:rPr lang="en-HK" sz="1200" i="1" dirty="0" smtClean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b>
                          <m:sup>
                            <m:d>
                              <m:dPr>
                                <m:ctrlPr>
                                  <a:rPr lang="en-HK" sz="1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HK" sz="120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HK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sz="1200" i="1" dirty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HK" sz="120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HK" sz="120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HK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sz="120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HK" sz="120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sup>
                        </m:sSubSup>
                        <m:r>
                          <a:rPr lang="en-HK" sz="12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func>
                  </m:oMath>
                </a14:m>
                <a:r>
                  <a:rPr lang="en-US" sz="1200">
                    <a:solidFill>
                      <a:srgbClr val="262626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      (2)</a:t>
                </a:r>
                <a:endParaRPr lang="en-US" sz="1200"/>
              </a:p>
            </p:txBody>
          </p:sp>
        </mc:Choice>
        <mc:Fallback>
          <p:sp>
            <p:nvSpPr>
              <p:cNvPr id="15" name="Tex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40" y="1700784"/>
                <a:ext cx="3520440" cy="320040"/>
              </a:xfrm>
              <a:prstGeom prst="rect">
                <a:avLst/>
              </a:prstGeom>
              <a:blipFill>
                <a:blip r:embed="rId3"/>
                <a:stretch>
                  <a:fillRect l="-1799" b="-740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457200" y="2148840"/>
            <a:ext cx="7315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7" name="Shape 15"/>
          <p:cNvSpPr/>
          <p:nvPr/>
        </p:nvSpPr>
        <p:spPr>
          <a:xfrm>
            <a:off x="548640" y="2322576"/>
            <a:ext cx="402336" cy="402336"/>
          </a:xfrm>
          <a:prstGeom prst="ellipse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Text 16"/>
          <p:cNvSpPr txBox="1"/>
          <p:nvPr/>
        </p:nvSpPr>
        <p:spPr>
          <a:xfrm>
            <a:off x="548640" y="2322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B</a:t>
            </a:r>
            <a:endParaRPr lang="en-US" sz="1300">
              <a:latin typeface="Arial"/>
              <a:cs typeface="Arial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51560" y="21945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Asset paths (correlated geometric Brownian motion)</a:t>
            </a:r>
            <a:endParaRPr lang="en-US" sz="10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850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Each ETF moves one year at a time with its own interval variance ΔV; shocks are correlated through the Cholesky factor L of ρ</a:t>
            </a:r>
            <a:endParaRPr lang="en-US" sz="10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 18"/>
              <p:cNvSpPr txBox="1"/>
              <p:nvPr/>
            </p:nvSpPr>
            <p:spPr>
              <a:xfrm>
                <a:off x="4206240" y="2176272"/>
                <a:ext cx="365760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HK" sz="1200"/>
                  <a:t>X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HK" sz="12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HK" sz="12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a:rPr lang="en-HK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HK" sz="12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HK" sz="12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HK" sz="12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</m:sSubSup>
                    <m:r>
                      <a:rPr lang="en-HK" sz="12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HK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sz="12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HK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HK" sz="12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HK" sz="12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HK" sz="12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HK" sz="1200" i="1" dirty="0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HK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HK" sz="1200" b="0" i="1" dirty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d>
                          <m:dPr>
                            <m:ctrlPr>
                              <a:rPr lang="en-HK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HK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HK" sz="12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HK" sz="12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HK" sz="1200" i="1" dirty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HK" sz="12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HK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HK" sz="1200" i="1" dirty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HK" sz="12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rad>
                            <m:r>
                              <a:rPr lang="en-HK" sz="1200" i="1" dirty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HK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sz="1200" i="1" dirty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HK" sz="12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HK" sz="12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HK" sz="12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sup>
                    </m:sSup>
                    <m:r>
                      <a:rPr lang="en-HK" sz="1200" b="0" i="1" dirty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HK" sz="1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>
                    <a:solidFill>
                      <a:srgbClr val="262626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(3)</a:t>
                </a:r>
                <a:endParaRPr lang="en-US" sz="1200"/>
              </a:p>
            </p:txBody>
          </p:sp>
        </mc:Choice>
        <mc:Fallback>
          <p:sp>
            <p:nvSpPr>
              <p:cNvPr id="20" name="Tex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40" y="2176272"/>
                <a:ext cx="3657600" cy="347472"/>
              </a:xfrm>
              <a:prstGeom prst="rect">
                <a:avLst/>
              </a:prstGeom>
              <a:blipFill>
                <a:blip r:embed="rId4"/>
                <a:stretch>
                  <a:fillRect l="-2422" b="-1428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19"/>
          <p:cNvSpPr txBox="1"/>
          <p:nvPr/>
        </p:nvSpPr>
        <p:spPr>
          <a:xfrm>
            <a:off x="4206240" y="25237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Z = ε · L</a:t>
            </a:r>
            <a:r>
              <a:rPr lang="en-US" sz="1200" baseline="300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T</a:t>
            </a: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,   ρ = L · L</a:t>
            </a:r>
            <a:r>
              <a:rPr lang="en-US" sz="1200" baseline="300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T</a:t>
            </a: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     (4)</a:t>
            </a:r>
            <a:endParaRPr lang="en-US" sz="1200">
              <a:latin typeface="Arial"/>
              <a:cs typeface="Arial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7315200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3" name="Shape 21"/>
          <p:cNvSpPr/>
          <p:nvPr/>
        </p:nvSpPr>
        <p:spPr>
          <a:xfrm>
            <a:off x="548640" y="3145536"/>
            <a:ext cx="402336" cy="402336"/>
          </a:xfrm>
          <a:prstGeom prst="ellipse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4" name="Text 22"/>
          <p:cNvSpPr txBox="1"/>
          <p:nvPr/>
        </p:nvSpPr>
        <p:spPr>
          <a:xfrm>
            <a:off x="548640" y="3145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C</a:t>
            </a:r>
            <a:endParaRPr lang="en-US" sz="1300">
              <a:latin typeface="Arial"/>
              <a:cs typeface="Arial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051560" y="30175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Basket &amp; autocall trigger</a:t>
            </a:r>
            <a:endParaRPr lang="en-US" sz="10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850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The basket is the weighted sum of normalised ETF prices; the note ends at the first year it reaches that year's barrier</a:t>
            </a:r>
            <a:endParaRPr lang="en-US" sz="1000">
              <a:latin typeface="Arial"/>
              <a:cs typeface="Arial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4206240" y="30266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B</a:t>
            </a:r>
            <a:r>
              <a:rPr lang="en-US" sz="1200" baseline="-400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j</a:t>
            </a: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 = Σ</a:t>
            </a:r>
            <a:r>
              <a:rPr lang="en-US" sz="1200" baseline="-400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i=1..5</a:t>
            </a: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 w</a:t>
            </a:r>
            <a:r>
              <a:rPr lang="en-US" sz="1200" baseline="-400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i</a:t>
            </a: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 X</a:t>
            </a:r>
            <a:r>
              <a:rPr lang="en-US" sz="1200" baseline="-400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i,j</a:t>
            </a: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     (5)</a:t>
            </a:r>
            <a:endParaRPr lang="en-US" sz="1200">
              <a:latin typeface="Arial"/>
              <a:cs typeface="Arial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4206240" y="33467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call at first k with  B</a:t>
            </a:r>
            <a:r>
              <a:rPr lang="en-US" sz="1200" baseline="-400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k</a:t>
            </a: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 ≥ H</a:t>
            </a:r>
            <a:r>
              <a:rPr lang="en-US" sz="1200" baseline="-400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k</a:t>
            </a: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     (6)</a:t>
            </a:r>
            <a:endParaRPr lang="en-US" sz="1200">
              <a:latin typeface="Arial"/>
              <a:cs typeface="Arial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7315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9" name="Shape 27"/>
          <p:cNvSpPr/>
          <p:nvPr/>
        </p:nvSpPr>
        <p:spPr>
          <a:xfrm>
            <a:off x="548640" y="3968496"/>
            <a:ext cx="402336" cy="402336"/>
          </a:xfrm>
          <a:prstGeom prst="ellipse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0" name="Text 28"/>
          <p:cNvSpPr txBox="1"/>
          <p:nvPr/>
        </p:nvSpPr>
        <p:spPr>
          <a:xfrm>
            <a:off x="548640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D</a:t>
            </a:r>
            <a:endParaRPr lang="en-US" sz="1300">
              <a:latin typeface="Arial"/>
              <a:cs typeface="Arial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1051560" y="38404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Maturity payout (never called)</a:t>
            </a:r>
            <a:endParaRPr lang="en-US" sz="10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850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A 70% barrier observed only at Year 5</a:t>
            </a:r>
            <a:endParaRPr lang="en-US" sz="1000">
              <a:latin typeface="Arial"/>
              <a:cs typeface="Arial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4206240" y="384962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R</a:t>
            </a:r>
            <a:r>
              <a:rPr lang="en-US" sz="1200" baseline="-400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5</a:t>
            </a: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 = 1.0  if B</a:t>
            </a:r>
            <a:r>
              <a:rPr lang="en-US" sz="1200" baseline="-400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5</a:t>
            </a: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 ≥ 0.70;   R</a:t>
            </a:r>
            <a:r>
              <a:rPr lang="en-US" sz="1200" baseline="-400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5</a:t>
            </a: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 = B</a:t>
            </a:r>
            <a:r>
              <a:rPr lang="en-US" sz="1200" baseline="-400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5</a:t>
            </a: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  if B</a:t>
            </a:r>
            <a:r>
              <a:rPr lang="en-US" sz="1200" baseline="-400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5</a:t>
            </a: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 &lt; 0.70     (7)</a:t>
            </a:r>
            <a:endParaRPr lang="en-US" sz="1200">
              <a:latin typeface="Arial"/>
              <a:cs typeface="Arial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7315200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4" name="Shape 32"/>
          <p:cNvSpPr/>
          <p:nvPr/>
        </p:nvSpPr>
        <p:spPr>
          <a:xfrm>
            <a:off x="548640" y="4791456"/>
            <a:ext cx="402336" cy="402336"/>
          </a:xfrm>
          <a:prstGeom prst="ellipse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5" name="Text 33"/>
          <p:cNvSpPr txBox="1"/>
          <p:nvPr/>
        </p:nvSpPr>
        <p:spPr>
          <a:xfrm>
            <a:off x="548640" y="4791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E</a:t>
            </a:r>
            <a:endParaRPr lang="en-US" sz="1300">
              <a:latin typeface="Arial"/>
              <a:cs typeface="Arial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1051560" y="46634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Fair coupon</a:t>
            </a:r>
            <a:endParaRPr lang="en-US" sz="10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850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a = discounted principal repaid, b = discounted years of coupon (Case A: no coupon on never-called paths)</a:t>
            </a:r>
            <a:endParaRPr lang="en-US" sz="1000">
              <a:latin typeface="Arial"/>
              <a:cs typeface="Arial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4206240" y="467258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62626"/>
                </a:solidFill>
                <a:latin typeface="Arial"/>
                <a:ea typeface="Cambria Math" pitchFamily="34" charset="-122"/>
                <a:cs typeface="Arial"/>
              </a:rPr>
              <a:t>1.0 = E[a + y · b]     (8)</a:t>
            </a:r>
            <a:endParaRPr lang="en-US" sz="12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 36"/>
              <p:cNvSpPr txBox="1"/>
              <p:nvPr/>
            </p:nvSpPr>
            <p:spPr>
              <a:xfrm>
                <a:off x="4206240" y="4992624"/>
                <a:ext cx="352044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𝑦</m:t>
                    </m:r>
                    <m:r>
                      <a:rPr lang="en-US" sz="1600" i="1" dirty="0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=</m:t>
                    </m:r>
                    <m:f>
                      <m:fPr>
                        <m:ctrlPr>
                          <a:rPr lang="en-US" sz="1600" i="1" dirty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600" i="1" dirty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dPr>
                          <m:e>
                            <m:r>
                              <a:rPr lang="en-US" sz="1600" i="1" dirty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1.0−</m:t>
                            </m:r>
                            <m:r>
                              <a:rPr lang="en-US" sz="1600" i="1" dirty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i="1" dirty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</a:rPr>
                                  <m:t>𝑎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US" sz="1600" i="1" dirty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600" i="1" dirty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dPr>
                          <m:e>
                            <m:r>
                              <a:rPr lang="en-US" sz="1600" i="1" dirty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𝑏</m:t>
                            </m:r>
                          </m:e>
                        </m:d>
                      </m:den>
                    </m:f>
                    <m:r>
                      <a:rPr lang="en-US" sz="1600" i="1" dirty="0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 </m:t>
                    </m:r>
                  </m:oMath>
                </a14:m>
                <a:r>
                  <a:rPr lang="en-US" sz="1200">
                    <a:solidFill>
                      <a:srgbClr val="262626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(9)</a:t>
                </a:r>
                <a:endParaRPr lang="en-US" sz="1200"/>
              </a:p>
            </p:txBody>
          </p:sp>
        </mc:Choice>
        <mc:Fallback>
          <p:sp>
            <p:nvSpPr>
              <p:cNvPr id="38" name="Tex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40" y="4992624"/>
                <a:ext cx="3520440" cy="320040"/>
              </a:xfrm>
              <a:prstGeom prst="rect">
                <a:avLst/>
              </a:prstGeom>
              <a:blipFill>
                <a:blip r:embed="rId5"/>
                <a:stretch>
                  <a:fillRect l="-2158" t="-7692" b="-1538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Shape 37"/>
          <p:cNvSpPr/>
          <p:nvPr/>
        </p:nvSpPr>
        <p:spPr>
          <a:xfrm>
            <a:off x="8001000" y="1325880"/>
            <a:ext cx="3730752" cy="310896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0" name="Text 38"/>
          <p:cNvSpPr txBox="1"/>
          <p:nvPr/>
        </p:nvSpPr>
        <p:spPr>
          <a:xfrm>
            <a:off x="8092440" y="1325880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Product priced</a:t>
            </a:r>
            <a:endParaRPr lang="en-US" sz="1100">
              <a:latin typeface="Arial"/>
              <a:cs typeface="Arial"/>
            </a:endParaRPr>
          </a:p>
        </p:txBody>
      </p:sp>
      <p:graphicFrame>
        <p:nvGraphicFramePr>
          <p:cNvPr id="41" name="Table 0"/>
          <p:cNvGraphicFramePr>
            <a:graphicFrameLocks noGrp="1"/>
          </p:cNvGraphicFramePr>
          <p:nvPr/>
        </p:nvGraphicFramePr>
        <p:xfrm>
          <a:off x="8001000" y="1664208"/>
          <a:ext cx="3730752" cy="164592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Basket weights</a:t>
                      </a:r>
                      <a:endParaRPr lang="en-US" sz="8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3119.HK 35% · EWY 20% · EWT 15% · 2644.T 15% · 00878.TW 15%</a:t>
                      </a:r>
                      <a:endParaRPr lang="en-US" sz="8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Autocall barrier H</a:t>
                      </a:r>
                      <a:endParaRPr lang="en-US" sz="8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105% − 2.5% × k: Y1 102.5% · Y2 100% · Y3 97.5% · Y4 95% · Y5 92.5%</a:t>
                      </a:r>
                      <a:endParaRPr lang="en-US" sz="8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Called in year k</a:t>
                      </a:r>
                      <a:endParaRPr lang="en-US" sz="8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× (1 + k × y)</a:t>
                      </a:r>
                      <a:endParaRPr lang="en-US" sz="8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called</a:t>
                      </a:r>
                      <a:endParaRPr lang="en-US" sz="8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R₅ as in (7)</a:t>
                      </a:r>
                      <a:endParaRPr lang="en-US" sz="8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Simulation</a:t>
                      </a:r>
                      <a:endParaRPr lang="en-US" sz="8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1,000,000 paths, annual steps</a:t>
                      </a:r>
                      <a:endParaRPr lang="en-US" sz="8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Shape 39"/>
          <p:cNvSpPr/>
          <p:nvPr/>
        </p:nvSpPr>
        <p:spPr>
          <a:xfrm>
            <a:off x="8001000" y="3429000"/>
            <a:ext cx="3730752" cy="310896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3" name="Text 40"/>
          <p:cNvSpPr txBox="1"/>
          <p:nvPr/>
        </p:nvSpPr>
        <p:spPr>
          <a:xfrm>
            <a:off x="8092440" y="3429000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Pricing results (Case A)</a:t>
            </a:r>
            <a:endParaRPr lang="en-US" sz="1100">
              <a:latin typeface="Arial"/>
              <a:cs typeface="Arial"/>
            </a:endParaRPr>
          </a:p>
        </p:txBody>
      </p:sp>
      <p:graphicFrame>
        <p:nvGraphicFramePr>
          <p:cNvPr id="4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337216"/>
              </p:ext>
            </p:extLst>
          </p:nvPr>
        </p:nvGraphicFramePr>
        <p:xfrm>
          <a:off x="8001000" y="3767328"/>
          <a:ext cx="3730751" cy="1042416"/>
        </p:xfrm>
        <a:graphic>
          <a:graphicData uri="http://schemas.openxmlformats.org/drawingml/2006/table">
            <a:tbl>
              <a:tblPr/>
              <a:tblGrid>
                <a:gridCol w="1002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2890">
                  <a:extLst>
                    <a:ext uri="{9D8B030D-6E8A-4147-A177-3AD203B41FA5}">
                      <a16:colId xmlns:a16="http://schemas.microsoft.com/office/drawing/2014/main" val="548215608"/>
                    </a:ext>
                  </a:extLst>
                </a:gridCol>
                <a:gridCol w="1724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Fair coupon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000" b="1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76200" marR="76200" marT="12700" marB="127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2C5F8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14.092219%</a:t>
                      </a:r>
                      <a:endParaRPr lang="en-US" sz="10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error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000" b="1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76200" marR="76200" marT="12700" marB="127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2.236 bp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Approx. 95% CI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000" b="1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76200" marR="76200" marT="12700" marB="127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[14.048393%, 14.136045%]</a:t>
                      </a:r>
                      <a:endParaRPr lang="en-US" sz="10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" name="Shape 41"/>
          <p:cNvSpPr/>
          <p:nvPr/>
        </p:nvSpPr>
        <p:spPr>
          <a:xfrm>
            <a:off x="8001000" y="4846320"/>
            <a:ext cx="3730752" cy="621792"/>
          </a:xfrm>
          <a:prstGeom prst="rect">
            <a:avLst/>
          </a:prstGeom>
          <a:solidFill>
            <a:srgbClr val="E8EFF5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6" name="Text 42"/>
          <p:cNvSpPr txBox="1"/>
          <p:nvPr/>
        </p:nvSpPr>
        <p:spPr>
          <a:xfrm>
            <a:off x="8092440" y="484632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C5F82"/>
                </a:solidFill>
                <a:latin typeface="Arial"/>
                <a:ea typeface="Arial" pitchFamily="34" charset="-122"/>
                <a:cs typeface="Arial"/>
              </a:rPr>
              <a:t>14.092219% fair = 12.75% coupon to the client + 1.342219% kept by Natixis</a:t>
            </a:r>
            <a:endParaRPr lang="en-US" sz="1000">
              <a:latin typeface="Arial"/>
              <a:cs typeface="Arial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8" name="Text 44"/>
          <p:cNvSpPr txBox="1"/>
          <p:nvPr/>
        </p:nvSpPr>
        <p:spPr>
          <a:xfrm>
            <a:off x="594360" y="55778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We keep 1.342219% a year and give the client a 12.75% coupon</a:t>
            </a:r>
            <a:endParaRPr lang="en-US" sz="1300">
              <a:latin typeface="Arial"/>
              <a:cs typeface="Arial"/>
            </a:endParaRPr>
          </a:p>
        </p:txBody>
      </p:sp>
      <p:sp>
        <p:nvSpPr>
          <p:cNvPr id="49" name="Text 45"/>
          <p:cNvSpPr txBox="1"/>
          <p:nvPr/>
        </p:nvSpPr>
        <p:spPr>
          <a:xfrm>
            <a:off x="443484" y="615323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Source: team write-up 'Derivation of Fair Coupon Rate for Autocallable Structured Product' (8 Oct 2026), sections 2–3. Excludes issuer credit, fees and hedging costs.</a:t>
            </a:r>
            <a:endParaRPr lang="en-US" sz="8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03EC54B-6943-800A-F60E-FE8BBA2437A5}"/>
                  </a:ext>
                </a:extLst>
              </p:cNvPr>
              <p:cNvSpPr txBox="1"/>
              <p:nvPr/>
            </p:nvSpPr>
            <p:spPr>
              <a:xfrm>
                <a:off x="3649980" y="1446885"/>
                <a:ext cx="2118360" cy="2127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HK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HK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HK" sz="12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HK" sz="1200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HK" sz="1200" i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HK" sz="1200" i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HK" sz="12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HK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HK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HK" sz="120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03EC54B-6943-800A-F60E-FE8BBA243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9980" y="1446885"/>
                <a:ext cx="2118360" cy="212751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7F632C62-6634-C020-BF5D-5BF177CFDBA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01B5F320-918A-5249-D708-C7BBD1CA228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70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3192" y="1417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262626"/>
                </a:solidFill>
                <a:latin typeface="Arial"/>
                <a:ea typeface="Arial" pitchFamily="34" charset="-122"/>
                <a:cs typeface="Arial"/>
              </a:rPr>
              <a:t>Appendix F: pricing inputs, grids and matrices</a:t>
            </a:r>
            <a:endParaRPr lang="en-US" sz="2200">
              <a:latin typeface="Arial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393192" y="78181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Every input used in the Monte Carlo simulation (team write-up, section 4)</a:t>
            </a:r>
            <a:endParaRPr lang="en-US" sz="1100">
              <a:latin typeface="Arial"/>
              <a:cs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5486400" cy="310896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 txBox="1"/>
          <p:nvPr/>
        </p:nvSpPr>
        <p:spPr>
          <a:xfrm>
            <a:off x="548640" y="13258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4.1  Term structure of interest rates</a:t>
            </a:r>
            <a:endParaRPr lang="en-US" sz="1100">
              <a:latin typeface="Arial"/>
              <a:cs typeface="Arial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645920"/>
          <a:ext cx="5486400" cy="16459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(t)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Risk-free rate (R)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 rate r = ln(1 + R)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Discount factor (D)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4.78%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4.669%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0.9544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5.164%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0.9019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5.52%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5.373%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0.8511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(interpolated)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5.605%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5.454%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0.8040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5.69%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5.534%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0.7583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245352" y="1325880"/>
            <a:ext cx="5486400" cy="310896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4" name="Text 11"/>
          <p:cNvSpPr txBox="1"/>
          <p:nvPr/>
        </p:nvSpPr>
        <p:spPr>
          <a:xfrm>
            <a:off x="6336792" y="13258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4.2  Correlation matrix (ρ)</a:t>
            </a:r>
            <a:endParaRPr lang="en-US" sz="1100">
              <a:latin typeface="Arial"/>
              <a:cs typeface="Arial"/>
            </a:endParaRPr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932557"/>
              </p:ext>
            </p:extLst>
          </p:nvPr>
        </p:nvGraphicFramePr>
        <p:xfrm>
          <a:off x="6245352" y="1645920"/>
          <a:ext cx="5486400" cy="16459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3119.HK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EWY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2644.T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00878.TW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3119.HK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0.534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0.741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0.863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0.562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EWY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0.534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0.787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0.691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0.438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0.741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0.787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0.614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0.689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2644.T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0.863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0.691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0.614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0.517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00878.TW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0.562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0.438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0.689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0.517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457200" y="3520440"/>
            <a:ext cx="5486400" cy="310896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7" name="Text 13"/>
          <p:cNvSpPr txBox="1"/>
          <p:nvPr/>
        </p:nvSpPr>
        <p:spPr>
          <a:xfrm>
            <a:off x="548640" y="35204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4.3  Implied volatility grid (σ), annualised</a:t>
            </a:r>
            <a:endParaRPr lang="en-US" sz="1100">
              <a:latin typeface="Arial"/>
              <a:cs typeface="Arial"/>
            </a:endParaRPr>
          </a:p>
        </p:txBody>
      </p:sp>
      <p:graphicFrame>
        <p:nvGraphicFramePr>
          <p:cNvPr id="18" name="Table 2"/>
          <p:cNvGraphicFramePr>
            <a:graphicFrameLocks noGrp="1"/>
          </p:cNvGraphicFramePr>
          <p:nvPr/>
        </p:nvGraphicFramePr>
        <p:xfrm>
          <a:off x="457200" y="3840480"/>
          <a:ext cx="5486400" cy="16459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/ Year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3119.HK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30.45%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32.34%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33.50%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36.70%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37.50%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EWY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41.50%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42.70%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44.50%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44.50%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44.50%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32.40%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35.80%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36.30%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36.30%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36.30%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2644.T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25.60%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25.60%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25.90%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00878.TW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12.00%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6245352" y="3520440"/>
            <a:ext cx="5486400" cy="310896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0" name="Text 15"/>
          <p:cNvSpPr txBox="1"/>
          <p:nvPr/>
        </p:nvSpPr>
        <p:spPr>
          <a:xfrm>
            <a:off x="6336792" y="35204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4.4  Interval variances (ΔV), drive each year's diffusion step</a:t>
            </a:r>
            <a:endParaRPr lang="en-US" sz="1100">
              <a:latin typeface="Arial"/>
              <a:cs typeface="Arial"/>
            </a:endParaRPr>
          </a:p>
        </p:txBody>
      </p:sp>
      <p:graphicFrame>
        <p:nvGraphicFramePr>
          <p:cNvPr id="21" name="Table 3"/>
          <p:cNvGraphicFramePr>
            <a:graphicFrameLocks noGrp="1"/>
          </p:cNvGraphicFramePr>
          <p:nvPr/>
        </p:nvGraphicFramePr>
        <p:xfrm>
          <a:off x="6245352" y="3840480"/>
          <a:ext cx="5486400" cy="16459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/ Interval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3119.HK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0.0927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0.1165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0.1275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0.2021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0.1644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EWY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0.1722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0.1924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0.2294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0.1980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0.1980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0.1050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0.1514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0.1390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0.1318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0.1318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2644.T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0.0529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0.0711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0.0726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0.0655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0.0733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00878.TW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0.0049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0.0113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0.0270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0.0144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0.0144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Shape 16"/>
          <p:cNvSpPr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3" name="Text 17"/>
          <p:cNvSpPr txBox="1"/>
          <p:nvPr/>
        </p:nvSpPr>
        <p:spPr>
          <a:xfrm>
            <a:off x="594360" y="55778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Basket weights 3119.HK 35% · EWY 20% · EWT 15% · 2644.T 15% · 00878.TW 15%   |   Call levels 105% − 2.5% × year (102.5% → 92.5%)   |   Maturity barrier 70%</a:t>
            </a:r>
            <a:endParaRPr lang="en-US" sz="1100">
              <a:latin typeface="Arial"/>
              <a:cs typeface="Arial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457200" y="60899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>
                <a:solidFill>
                  <a:srgbClr val="595959"/>
                </a:solidFill>
                <a:latin typeface="Arial"/>
                <a:ea typeface="Arial" pitchFamily="34" charset="-122"/>
                <a:cs typeface="Arial"/>
              </a:rPr>
              <a:t>Source: team write-up, section 4. Rates: case USD funding grid (Year 4 interpolated); discount factors D = exp(−r·t) and ΔV = t·σ(t)² − (t−1)·σ(t−1)² recomputed from the tables. Correlation matrix checked positive definite.</a:t>
            </a:r>
            <a:endParaRPr lang="en-US" sz="800">
              <a:latin typeface="Arial"/>
              <a:cs typeface="Arial"/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805EEFD-913E-F6D3-1EB0-CA2F55801BD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35730BE-BD14-540B-8817-7365FF23901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06600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137160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262626"/>
                </a:solidFill>
                <a:latin typeface="Arial"/>
              </a:rPr>
              <a:t>Summary: Asia's AI hardware, held through an autocall that pays while markets swing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1">
                <a:solidFill>
                  <a:srgbClr val="595959"/>
                </a:solidFill>
                <a:latin typeface="Arial"/>
              </a:rPr>
              <a:t>From the family's mandate to the note: what we recommend, why now, and what the family can expect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679192" cy="41148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4048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8DB3D1"/>
                </a:solidFill>
                <a:latin typeface="Arial"/>
              </a:rPr>
              <a:t>1 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The client</a:t>
            </a:r>
          </a:p>
        </p:txBody>
      </p:sp>
      <p:sp>
        <p:nvSpPr>
          <p:cNvPr id="6" name="Isosceles Triangle 5"/>
          <p:cNvSpPr/>
          <p:nvPr/>
        </p:nvSpPr>
        <p:spPr>
          <a:xfrm rot="5400000">
            <a:off x="3246120" y="1307592"/>
            <a:ext cx="109728" cy="173736"/>
          </a:xfrm>
          <a:prstGeom prst="triangle">
            <a:avLst/>
          </a:prstGeom>
          <a:solidFill>
            <a:srgbClr val="8DB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6791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64792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USD 100mn, 5 years, moderate risk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Chak family office (NKE Private Wealth); ~5% of family wealth.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2679192" cy="82296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578608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651760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Two goals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Compound capital for the next generation, and own Asia's digital transformation.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65576"/>
            <a:ext cx="26791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65576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538728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One constraint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A defined capital barrier, not an open-ended equity drawdown.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74136" y="1188720"/>
            <a:ext cx="2679192" cy="41148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1296" y="1188720"/>
            <a:ext cx="24048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8DB3D1"/>
                </a:solidFill>
                <a:latin typeface="Arial"/>
              </a:rPr>
              <a:t>2 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The thesis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6071616" y="1307592"/>
            <a:ext cx="109728" cy="173736"/>
          </a:xfrm>
          <a:prstGeom prst="triangle">
            <a:avLst/>
          </a:prstGeom>
          <a:solidFill>
            <a:srgbClr val="8DB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74136" y="1691640"/>
            <a:ext cx="26791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74136" y="1691640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8728" y="1764792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Asia controls AI's hardware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~70% of foundry (Taiwan), 83% of HBM (Korea), ~55% of chip test (Japan).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74136" y="2578608"/>
            <a:ext cx="2679192" cy="82296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74136" y="2578608"/>
            <a:ext cx="54864" cy="822960"/>
          </a:xfrm>
          <a:prstGeom prst="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8728" y="2651760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But the path is violent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KOSPI −25% in ten weeks; VKOSPI at a record 91.2.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74136" y="3465576"/>
            <a:ext cx="26791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74136" y="3465576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38728" y="3538728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And rates stay high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FOMC median 4.125% to end-2027; long bonds lose ~4% per 1% rise.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1188720"/>
            <a:ext cx="2679192" cy="41148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1188720"/>
            <a:ext cx="24048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8DB3D1"/>
                </a:solidFill>
                <a:latin typeface="Arial"/>
              </a:rPr>
              <a:t>3 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The product</a:t>
            </a:r>
          </a:p>
        </p:txBody>
      </p:sp>
      <p:sp>
        <p:nvSpPr>
          <p:cNvPr id="30" name="Isosceles Triangle 29"/>
          <p:cNvSpPr/>
          <p:nvPr/>
        </p:nvSpPr>
        <p:spPr>
          <a:xfrm rot="5400000">
            <a:off x="8897112" y="1307592"/>
            <a:ext cx="109728" cy="173736"/>
          </a:xfrm>
          <a:prstGeom prst="triangle">
            <a:avLst/>
          </a:prstGeom>
          <a:solidFill>
            <a:srgbClr val="8DB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1691640"/>
            <a:ext cx="26791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2" y="1691640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4224" y="1764792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12.75% a year, 5Y autocallable note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Natixis-issued, USD 100mn, five Asian ETFs: 3119 HK 35%, EWY 20%, EWT 15%, 2644 JP 15%, 00878 TT 15%.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2578608"/>
            <a:ext cx="2679192" cy="82296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9632" y="2578608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4" y="2651760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Step-down call, yearly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Called if the basket ≥ 102.5% in Y1, falling 2.5% a year to 92.5% in Y5; pays 100% + 12.75% × years.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3465576"/>
            <a:ext cx="26791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2" y="3465576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64224" y="3538728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70% barrier at maturity only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If never called, 100% back unless the basket ends below 70%.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25128" y="1188720"/>
            <a:ext cx="2679192" cy="41148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62288" y="1188720"/>
            <a:ext cx="24048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8DB3D1"/>
                </a:solidFill>
                <a:latin typeface="Arial"/>
              </a:rPr>
              <a:t>4 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The outcome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25128" y="1691640"/>
            <a:ext cx="26791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5128" y="1691640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1764792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Capital usually back early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78% called in year 1 (112.75%); 99.3% called within five years.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25128" y="2578608"/>
            <a:ext cx="2679192" cy="82296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5128" y="2578608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20" y="2651760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Loss is rare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0.2% of paths end below 70%, where the family takes the basket's fall.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25128" y="3465576"/>
            <a:ext cx="26791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25128" y="3465576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9720" y="3538728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Priced with room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Fair coupon 14.09%: Natixis keeps 1.34% a year for hedging and margin.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389120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C5F82"/>
                </a:solidFill>
                <a:latin typeface="Arial"/>
              </a:rPr>
              <a:t>Why it fits the family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681728"/>
            <a:ext cx="3621023" cy="713232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681728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2C5F82"/>
                </a:solidFill>
                <a:latin typeface="Arial"/>
              </a:rPr>
              <a:t>12.75%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74519" y="4681728"/>
            <a:ext cx="220370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62626"/>
                </a:solidFill>
                <a:latin typeface="Arial"/>
              </a:rPr>
              <a:t>Growth: </a:t>
            </a:r>
            <a:r>
              <a:rPr sz="1000" b="0" i="0">
                <a:solidFill>
                  <a:srgbClr val="595959"/>
                </a:solidFill>
                <a:latin typeface="Arial"/>
              </a:rPr>
              <a:t>a double-digit coupon from the AI-hardware theme, without having to time entry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15967" y="4681728"/>
            <a:ext cx="3621023" cy="713232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07407" y="4681728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2C5F82"/>
                </a:solidFill>
                <a:latin typeface="Arial"/>
              </a:rPr>
              <a:t>70%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41847" y="4681728"/>
            <a:ext cx="220370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62626"/>
                </a:solidFill>
                <a:latin typeface="Arial"/>
              </a:rPr>
              <a:t>Protection: </a:t>
            </a:r>
            <a:r>
              <a:rPr sz="1000" b="0" i="0">
                <a:solidFill>
                  <a:srgbClr val="595959"/>
                </a:solidFill>
                <a:latin typeface="Arial"/>
              </a:rPr>
              <a:t>a defined barrier, checked only at maturity, for the legacy sleeve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83295" y="4681728"/>
            <a:ext cx="3621023" cy="713232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74735" y="4681728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2C5F82"/>
                </a:solidFill>
                <a:latin typeface="Arial"/>
              </a:rPr>
              <a:t>~1.3 yrs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09175" y="4681728"/>
            <a:ext cx="220370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62626"/>
                </a:solidFill>
                <a:latin typeface="Arial"/>
              </a:rPr>
              <a:t>Flexibility: </a:t>
            </a:r>
            <a:r>
              <a:rPr sz="1000" b="0" i="0">
                <a:solidFill>
                  <a:srgbClr val="595959"/>
                </a:solidFill>
                <a:latin typeface="Arial"/>
              </a:rPr>
              <a:t>expected life is short, so capital returns early to reinvest at higher rates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596128"/>
            <a:ext cx="11155680" cy="438912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" y="5596128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Own the scarce part of AI, Asia's chips, memory and tools, and get paid while the market swings.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071616"/>
            <a:ext cx="11155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1">
                <a:solidFill>
                  <a:srgbClr val="595959"/>
                </a:solidFill>
                <a:latin typeface="Arial"/>
              </a:rPr>
              <a:t>Call and loss probabilities on the team outlook (slide 9); fair coupon from the Monte Carlo pricing (Appendix E). Not a guarantee of future returns; capital at risk below the 70% barrier and to Natixis credit.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5412</Words>
  <Application>Microsoft Macintosh PowerPoint</Application>
  <PresentationFormat>Widescreen</PresentationFormat>
  <Paragraphs>673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Cambria Math</vt:lpstr>
      <vt:lpstr>STIXTwoMath-Regular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LI, Man Yan Joyce</dc:creator>
  <cp:lastModifiedBy>LIU, Hon Leung</cp:lastModifiedBy>
  <cp:revision>1</cp:revision>
  <dcterms:created xsi:type="dcterms:W3CDTF">2026-10-01T02:25:39Z</dcterms:created>
  <dcterms:modified xsi:type="dcterms:W3CDTF">2026-10-09T16:50:52Z</dcterms:modified>
</cp:coreProperties>
</file>