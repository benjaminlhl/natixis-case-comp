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4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10" b="0" i="0" u="none" strike="noStrike">
                <a:solidFill>
                  <a:srgbClr val="262626"/>
                </a:solidFill>
                <a:latin typeface="Arial"/>
              </a:defRPr>
            </a:pPr>
            <a:r>
              <a:rPr sz="1010" b="0" i="0" u="none" strike="noStrike">
                <a:solidFill>
                  <a:srgbClr val="262626"/>
                </a:solidFill>
                <a:latin typeface="Arial"/>
              </a:rPr>
              <a:t>USD funding curve (case grid, 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funding</c:v>
                </c:pt>
              </c:strCache>
            </c:strRef>
          </c:tx>
          <c:spPr>
            <a:solidFill>
              <a:srgbClr val="2C5F82"/>
            </a:solidFill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690" u="none">
                    <a:solidFill>
                      <a:srgbClr val="595959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C5F82"/>
              </a:solidFill>
              <a:ln w="9525" cap="flat">
                <a:solidFill>
                  <a:srgbClr val="2C5F8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1Y</c:v>
                  </c:pt>
                  <c:pt idx="1">
                    <c:v>2Y</c:v>
                  </c:pt>
                  <c:pt idx="2">
                    <c:v>3Y</c:v>
                  </c:pt>
                  <c:pt idx="3">
                    <c:v>5Y</c:v>
                  </c:pt>
                  <c:pt idx="4">
                    <c:v>7Y</c:v>
                  </c:pt>
                  <c:pt idx="5">
                    <c:v>10Y</c:v>
                  </c:pt>
                  <c:pt idx="6">
                    <c:v>20Y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4.78</c:v>
                </c:pt>
                <c:pt idx="1">
                  <c:v>5.3</c:v>
                </c:pt>
                <c:pt idx="2">
                  <c:v>5.52</c:v>
                </c:pt>
                <c:pt idx="3">
                  <c:v>5.69</c:v>
                </c:pt>
                <c:pt idx="4">
                  <c:v>5.75</c:v>
                </c:pt>
                <c:pt idx="5">
                  <c:v>5.82</c:v>
                </c:pt>
                <c:pt idx="6">
                  <c:v>6.04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690" u="none">
                  <a:solidFill>
                    <a:srgbClr val="595959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25"/>
          <c:min val="4.5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710" b="0" i="0" u="none" strike="noStrike">
                <a:solidFill>
                  <a:srgbClr val="262626"/>
                </a:solidFill>
                <a:latin typeface="Arial"/>
              </a:defRPr>
            </a:pPr>
            <a:r>
              <a:rPr sz="710" b="0" i="0" u="none" strike="noStrike">
                <a:solidFill>
                  <a:srgbClr val="262626"/>
                </a:solidFill>
                <a:latin typeface="Arial"/>
              </a:rPr>
              <a:t>Global chip market, US$bn (WSTS)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Chip market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60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5F8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82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DB3D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DB3D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2026F</c:v>
                  </c:pt>
                  <c:pt idx="3">
                    <c:v>2027F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630</c:v>
                </c:pt>
                <c:pt idx="1">
                  <c:v>795.6</c:v>
                </c:pt>
                <c:pt idx="2">
                  <c:v>1510</c:v>
                </c:pt>
                <c:pt idx="3">
                  <c:v>1900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60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5F82"/>
              </a:solidFill>
              <a:effectLst/>
            </c:spPr>
          </c:dPt>
          <c:dPt>
            <c:idx val="1"/>
            <c:bubble3D val="0"/>
            <c:spPr>
              <a:solidFill>
                <a:srgbClr val="4F86AE"/>
              </a:solidFill>
              <a:effectLst/>
            </c:spPr>
          </c:dPt>
          <c:dPt>
            <c:idx val="2"/>
            <c:bubble3D val="0"/>
            <c:spPr>
              <a:solidFill>
                <a:srgbClr val="8DB3D1"/>
              </a:solidFill>
              <a:effectLst/>
            </c:spPr>
          </c:dPt>
          <c:dPt>
            <c:idx val="3"/>
            <c:bubble3D val="0"/>
            <c:spPr>
              <a:solidFill>
                <a:srgbClr val="A6A6A6"/>
              </a:solidFill>
              <a:effectLst/>
            </c:spPr>
          </c:dPt>
          <c:dPt>
            <c:idx val="4"/>
            <c:bubble3D val="0"/>
            <c:spPr>
              <a:solidFill>
                <a:srgbClr val="2E9E4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3119 HK</c:v>
                </c:pt>
                <c:pt idx="1">
                  <c:v>EWY US</c:v>
                </c:pt>
                <c:pt idx="2">
                  <c:v>EWT US</c:v>
                </c:pt>
                <c:pt idx="3">
                  <c:v>2644 JP</c:v>
                </c:pt>
                <c:pt idx="4">
                  <c:v>00878 TT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20</c:v>
                </c:pt>
                <c:pt idx="2">
                  <c:v>15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</c:ser>
        <c:firstSliceAng val="0"/>
        <c:holeSize val="5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C5F82"/>
              </a:solidFill>
              <a:effectLst/>
            </c:spPr>
          </c:dPt>
          <c:dPt>
            <c:idx val="1"/>
            <c:bubble3D val="0"/>
            <c:spPr>
              <a:solidFill>
                <a:srgbClr val="A6A6A6"/>
              </a:solidFill>
              <a:effectLst/>
            </c:spPr>
          </c:dPt>
          <c:dPt>
            <c:idx val="2"/>
            <c:bubble3D val="0"/>
            <c:spPr>
              <a:solidFill>
                <a:srgbClr val="8DB3D1"/>
              </a:solidFill>
              <a:effectLst/>
            </c:spPr>
          </c:dPt>
          <c:dPt>
            <c:idx val="3"/>
            <c:bubble3D val="0"/>
            <c:spPr>
              <a:solidFill>
                <a:srgbClr val="4F86AE"/>
              </a:solidFill>
              <a:effectLst/>
            </c:spPr>
          </c:dPt>
          <c:dPt>
            <c:idx val="4"/>
            <c:bubble3D val="0"/>
            <c:spPr>
              <a:solidFill>
                <a:srgbClr val="2E9E44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92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Asia Semiconductor (3119 HK)</c:v>
                </c:pt>
                <c:pt idx="1">
                  <c:v>Japan Semiconductor (2644 JP)</c:v>
                </c:pt>
                <c:pt idx="2">
                  <c:v>iShares MSCI Taiwan (EWT)</c:v>
                </c:pt>
                <c:pt idx="3">
                  <c:v>iShares MSCI South Korea (EWY)</c:v>
                </c:pt>
                <c:pt idx="4">
                  <c:v>Taiwan ESG High Dividend (00878 TT)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35</c:v>
                </c:pt>
                <c:pt idx="1">
                  <c:v>15</c:v>
                </c:pt>
                <c:pt idx="2">
                  <c:v>15</c:v>
                </c:pt>
                <c:pt idx="3">
                  <c:v>20</c:v>
                </c:pt>
                <c:pt idx="4">
                  <c:v>15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870" b="0" i="0" u="none" strike="noStrike">
                <a:solidFill>
                  <a:srgbClr val="262626"/>
                </a:solidFill>
                <a:latin typeface="Arial"/>
              </a:defRPr>
            </a:pPr>
            <a:r>
              <a:rPr sz="870" b="0" i="0" u="none" strike="noStrike">
                <a:solidFill>
                  <a:srgbClr val="262626"/>
                </a:solidFill>
                <a:latin typeface="Arial"/>
              </a:rPr>
              <a:t>Total received at Y5 if never called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Autocallable note</c:v>
                </c:pt>
              </c:strCache>
            </c:strRef>
          </c:tx>
          <c:spPr>
            <a:solidFill>
              <a:srgbClr val="2C5F82"/>
            </a:solidFill>
            <a:ln w="28575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C5F82"/>
              </a:solidFill>
              <a:ln w="9525" cap="flat">
                <a:solidFill>
                  <a:srgbClr val="2C5F82"/>
                </a:solidFill>
                <a:prstDash val="solid"/>
                <a:round/>
              </a:ln>
              <a:effectLst/>
            </c:spPr>
          </c:marker>
          <c:xVal>
            <c:numRef>
              <c:f>Sheet1!$A$2:$A$262</c:f>
              <c:numCache>
                <c:formatCode>General</c:formatCode>
                <c:ptCount val="261"/>
                <c:pt idx="0">
                  <c:v>30</c:v>
                </c:pt>
                <c:pt idx="1">
                  <c:v>30.5</c:v>
                </c:pt>
                <c:pt idx="2">
                  <c:v>31</c:v>
                </c:pt>
                <c:pt idx="3">
                  <c:v>31.5</c:v>
                </c:pt>
                <c:pt idx="4">
                  <c:v>32</c:v>
                </c:pt>
                <c:pt idx="5">
                  <c:v>32.5</c:v>
                </c:pt>
                <c:pt idx="6">
                  <c:v>33</c:v>
                </c:pt>
                <c:pt idx="7">
                  <c:v>33.5</c:v>
                </c:pt>
                <c:pt idx="8">
                  <c:v>34</c:v>
                </c:pt>
                <c:pt idx="9">
                  <c:v>34.5</c:v>
                </c:pt>
                <c:pt idx="10">
                  <c:v>35</c:v>
                </c:pt>
                <c:pt idx="11">
                  <c:v>35.5</c:v>
                </c:pt>
                <c:pt idx="12">
                  <c:v>36</c:v>
                </c:pt>
                <c:pt idx="13">
                  <c:v>36.5</c:v>
                </c:pt>
                <c:pt idx="14">
                  <c:v>37</c:v>
                </c:pt>
                <c:pt idx="15">
                  <c:v>37.5</c:v>
                </c:pt>
                <c:pt idx="16">
                  <c:v>38</c:v>
                </c:pt>
                <c:pt idx="17">
                  <c:v>38.5</c:v>
                </c:pt>
                <c:pt idx="18">
                  <c:v>39</c:v>
                </c:pt>
                <c:pt idx="19">
                  <c:v>39.5</c:v>
                </c:pt>
                <c:pt idx="20">
                  <c:v>40</c:v>
                </c:pt>
                <c:pt idx="21">
                  <c:v>40.5</c:v>
                </c:pt>
                <c:pt idx="22">
                  <c:v>41</c:v>
                </c:pt>
                <c:pt idx="23">
                  <c:v>41.5</c:v>
                </c:pt>
                <c:pt idx="24">
                  <c:v>42</c:v>
                </c:pt>
                <c:pt idx="25">
                  <c:v>42.5</c:v>
                </c:pt>
                <c:pt idx="26">
                  <c:v>43</c:v>
                </c:pt>
                <c:pt idx="27">
                  <c:v>43.5</c:v>
                </c:pt>
                <c:pt idx="28">
                  <c:v>44</c:v>
                </c:pt>
                <c:pt idx="29">
                  <c:v>44.5</c:v>
                </c:pt>
                <c:pt idx="30">
                  <c:v>45</c:v>
                </c:pt>
                <c:pt idx="31">
                  <c:v>45.5</c:v>
                </c:pt>
                <c:pt idx="32">
                  <c:v>46</c:v>
                </c:pt>
                <c:pt idx="33">
                  <c:v>46.5</c:v>
                </c:pt>
                <c:pt idx="34">
                  <c:v>47</c:v>
                </c:pt>
                <c:pt idx="35">
                  <c:v>47.5</c:v>
                </c:pt>
                <c:pt idx="36">
                  <c:v>48</c:v>
                </c:pt>
                <c:pt idx="37">
                  <c:v>48.5</c:v>
                </c:pt>
                <c:pt idx="38">
                  <c:v>49</c:v>
                </c:pt>
                <c:pt idx="39">
                  <c:v>49.5</c:v>
                </c:pt>
                <c:pt idx="40">
                  <c:v>50</c:v>
                </c:pt>
                <c:pt idx="41">
                  <c:v>50.5</c:v>
                </c:pt>
                <c:pt idx="42">
                  <c:v>51</c:v>
                </c:pt>
                <c:pt idx="43">
                  <c:v>51.5</c:v>
                </c:pt>
                <c:pt idx="44">
                  <c:v>52</c:v>
                </c:pt>
                <c:pt idx="45">
                  <c:v>52.5</c:v>
                </c:pt>
                <c:pt idx="46">
                  <c:v>53</c:v>
                </c:pt>
                <c:pt idx="47">
                  <c:v>53.5</c:v>
                </c:pt>
                <c:pt idx="48">
                  <c:v>54</c:v>
                </c:pt>
                <c:pt idx="49">
                  <c:v>54.5</c:v>
                </c:pt>
                <c:pt idx="50">
                  <c:v>55</c:v>
                </c:pt>
                <c:pt idx="51">
                  <c:v>55.5</c:v>
                </c:pt>
                <c:pt idx="52">
                  <c:v>56</c:v>
                </c:pt>
                <c:pt idx="53">
                  <c:v>56.5</c:v>
                </c:pt>
                <c:pt idx="54">
                  <c:v>57</c:v>
                </c:pt>
                <c:pt idx="55">
                  <c:v>57.5</c:v>
                </c:pt>
                <c:pt idx="56">
                  <c:v>58</c:v>
                </c:pt>
                <c:pt idx="57">
                  <c:v>58.5</c:v>
                </c:pt>
                <c:pt idx="58">
                  <c:v>59</c:v>
                </c:pt>
                <c:pt idx="59">
                  <c:v>59.5</c:v>
                </c:pt>
                <c:pt idx="60">
                  <c:v>60</c:v>
                </c:pt>
                <c:pt idx="61">
                  <c:v>60.5</c:v>
                </c:pt>
                <c:pt idx="62">
                  <c:v>61</c:v>
                </c:pt>
                <c:pt idx="63">
                  <c:v>61.5</c:v>
                </c:pt>
                <c:pt idx="64">
                  <c:v>62</c:v>
                </c:pt>
                <c:pt idx="65">
                  <c:v>62.5</c:v>
                </c:pt>
                <c:pt idx="66">
                  <c:v>63</c:v>
                </c:pt>
                <c:pt idx="67">
                  <c:v>63.5</c:v>
                </c:pt>
                <c:pt idx="68">
                  <c:v>64</c:v>
                </c:pt>
                <c:pt idx="69">
                  <c:v>64.5</c:v>
                </c:pt>
                <c:pt idx="70">
                  <c:v>65</c:v>
                </c:pt>
                <c:pt idx="71">
                  <c:v>65.5</c:v>
                </c:pt>
                <c:pt idx="72">
                  <c:v>66</c:v>
                </c:pt>
                <c:pt idx="73">
                  <c:v>66.5</c:v>
                </c:pt>
                <c:pt idx="74">
                  <c:v>67</c:v>
                </c:pt>
                <c:pt idx="75">
                  <c:v>67.5</c:v>
                </c:pt>
                <c:pt idx="76">
                  <c:v>68</c:v>
                </c:pt>
                <c:pt idx="77">
                  <c:v>68.5</c:v>
                </c:pt>
                <c:pt idx="78">
                  <c:v>69</c:v>
                </c:pt>
                <c:pt idx="79">
                  <c:v>69.5</c:v>
                </c:pt>
                <c:pt idx="80">
                  <c:v>70</c:v>
                </c:pt>
                <c:pt idx="81">
                  <c:v>70.5</c:v>
                </c:pt>
                <c:pt idx="82">
                  <c:v>71</c:v>
                </c:pt>
                <c:pt idx="83">
                  <c:v>71.5</c:v>
                </c:pt>
                <c:pt idx="84">
                  <c:v>72</c:v>
                </c:pt>
                <c:pt idx="85">
                  <c:v>72.5</c:v>
                </c:pt>
                <c:pt idx="86">
                  <c:v>73</c:v>
                </c:pt>
                <c:pt idx="87">
                  <c:v>73.5</c:v>
                </c:pt>
                <c:pt idx="88">
                  <c:v>74</c:v>
                </c:pt>
                <c:pt idx="89">
                  <c:v>74.5</c:v>
                </c:pt>
                <c:pt idx="90">
                  <c:v>75</c:v>
                </c:pt>
                <c:pt idx="91">
                  <c:v>75.5</c:v>
                </c:pt>
                <c:pt idx="92">
                  <c:v>76</c:v>
                </c:pt>
                <c:pt idx="93">
                  <c:v>76.5</c:v>
                </c:pt>
                <c:pt idx="94">
                  <c:v>77</c:v>
                </c:pt>
                <c:pt idx="95">
                  <c:v>77.5</c:v>
                </c:pt>
                <c:pt idx="96">
                  <c:v>78</c:v>
                </c:pt>
                <c:pt idx="97">
                  <c:v>78.5</c:v>
                </c:pt>
                <c:pt idx="98">
                  <c:v>79</c:v>
                </c:pt>
                <c:pt idx="99">
                  <c:v>79.5</c:v>
                </c:pt>
                <c:pt idx="100">
                  <c:v>80</c:v>
                </c:pt>
                <c:pt idx="101">
                  <c:v>80.5</c:v>
                </c:pt>
                <c:pt idx="102">
                  <c:v>81</c:v>
                </c:pt>
                <c:pt idx="103">
                  <c:v>81.5</c:v>
                </c:pt>
                <c:pt idx="104">
                  <c:v>82</c:v>
                </c:pt>
                <c:pt idx="105">
                  <c:v>82.5</c:v>
                </c:pt>
                <c:pt idx="106">
                  <c:v>83</c:v>
                </c:pt>
                <c:pt idx="107">
                  <c:v>83.5</c:v>
                </c:pt>
                <c:pt idx="108">
                  <c:v>84</c:v>
                </c:pt>
                <c:pt idx="109">
                  <c:v>84.5</c:v>
                </c:pt>
                <c:pt idx="110">
                  <c:v>85</c:v>
                </c:pt>
                <c:pt idx="111">
                  <c:v>85.5</c:v>
                </c:pt>
                <c:pt idx="112">
                  <c:v>86</c:v>
                </c:pt>
                <c:pt idx="113">
                  <c:v>86.5</c:v>
                </c:pt>
                <c:pt idx="114">
                  <c:v>87</c:v>
                </c:pt>
                <c:pt idx="115">
                  <c:v>87.5</c:v>
                </c:pt>
                <c:pt idx="116">
                  <c:v>88</c:v>
                </c:pt>
                <c:pt idx="117">
                  <c:v>88.5</c:v>
                </c:pt>
                <c:pt idx="118">
                  <c:v>89</c:v>
                </c:pt>
                <c:pt idx="119">
                  <c:v>89.5</c:v>
                </c:pt>
                <c:pt idx="120">
                  <c:v>90</c:v>
                </c:pt>
                <c:pt idx="121">
                  <c:v>90.5</c:v>
                </c:pt>
                <c:pt idx="122">
                  <c:v>91</c:v>
                </c:pt>
                <c:pt idx="123">
                  <c:v>91.5</c:v>
                </c:pt>
                <c:pt idx="124">
                  <c:v>92</c:v>
                </c:pt>
                <c:pt idx="125">
                  <c:v>92.5</c:v>
                </c:pt>
                <c:pt idx="126">
                  <c:v>93</c:v>
                </c:pt>
                <c:pt idx="127">
                  <c:v>93.5</c:v>
                </c:pt>
                <c:pt idx="128">
                  <c:v>94</c:v>
                </c:pt>
                <c:pt idx="129">
                  <c:v>94.5</c:v>
                </c:pt>
                <c:pt idx="130">
                  <c:v>95</c:v>
                </c:pt>
                <c:pt idx="131">
                  <c:v>95.5</c:v>
                </c:pt>
                <c:pt idx="132">
                  <c:v>96</c:v>
                </c:pt>
                <c:pt idx="133">
                  <c:v>96.5</c:v>
                </c:pt>
                <c:pt idx="134">
                  <c:v>97</c:v>
                </c:pt>
                <c:pt idx="135">
                  <c:v>97.5</c:v>
                </c:pt>
                <c:pt idx="136">
                  <c:v>98</c:v>
                </c:pt>
                <c:pt idx="137">
                  <c:v>98.5</c:v>
                </c:pt>
                <c:pt idx="138">
                  <c:v>99</c:v>
                </c:pt>
                <c:pt idx="139">
                  <c:v>99.5</c:v>
                </c:pt>
                <c:pt idx="140">
                  <c:v>100</c:v>
                </c:pt>
                <c:pt idx="141">
                  <c:v>100.5</c:v>
                </c:pt>
                <c:pt idx="142">
                  <c:v>101</c:v>
                </c:pt>
                <c:pt idx="143">
                  <c:v>101.5</c:v>
                </c:pt>
                <c:pt idx="144">
                  <c:v>102</c:v>
                </c:pt>
                <c:pt idx="145">
                  <c:v>102.5</c:v>
                </c:pt>
                <c:pt idx="146">
                  <c:v>103</c:v>
                </c:pt>
                <c:pt idx="147">
                  <c:v>103.5</c:v>
                </c:pt>
                <c:pt idx="148">
                  <c:v>104</c:v>
                </c:pt>
                <c:pt idx="149">
                  <c:v>104.5</c:v>
                </c:pt>
                <c:pt idx="150">
                  <c:v>105</c:v>
                </c:pt>
                <c:pt idx="151">
                  <c:v>105.5</c:v>
                </c:pt>
                <c:pt idx="152">
                  <c:v>106</c:v>
                </c:pt>
                <c:pt idx="153">
                  <c:v>106.5</c:v>
                </c:pt>
                <c:pt idx="154">
                  <c:v>107</c:v>
                </c:pt>
                <c:pt idx="155">
                  <c:v>107.5</c:v>
                </c:pt>
                <c:pt idx="156">
                  <c:v>108</c:v>
                </c:pt>
                <c:pt idx="157">
                  <c:v>108.5</c:v>
                </c:pt>
                <c:pt idx="158">
                  <c:v>109</c:v>
                </c:pt>
                <c:pt idx="159">
                  <c:v>109.5</c:v>
                </c:pt>
                <c:pt idx="160">
                  <c:v>110</c:v>
                </c:pt>
                <c:pt idx="161">
                  <c:v>110.5</c:v>
                </c:pt>
                <c:pt idx="162">
                  <c:v>111</c:v>
                </c:pt>
                <c:pt idx="163">
                  <c:v>111.5</c:v>
                </c:pt>
                <c:pt idx="164">
                  <c:v>112</c:v>
                </c:pt>
                <c:pt idx="165">
                  <c:v>112.5</c:v>
                </c:pt>
                <c:pt idx="166">
                  <c:v>113</c:v>
                </c:pt>
                <c:pt idx="167">
                  <c:v>113.5</c:v>
                </c:pt>
                <c:pt idx="168">
                  <c:v>114</c:v>
                </c:pt>
                <c:pt idx="169">
                  <c:v>114.5</c:v>
                </c:pt>
                <c:pt idx="170">
                  <c:v>115</c:v>
                </c:pt>
                <c:pt idx="171">
                  <c:v>115.5</c:v>
                </c:pt>
                <c:pt idx="172">
                  <c:v>116</c:v>
                </c:pt>
                <c:pt idx="173">
                  <c:v>116.5</c:v>
                </c:pt>
                <c:pt idx="174">
                  <c:v>117</c:v>
                </c:pt>
                <c:pt idx="175">
                  <c:v>117.5</c:v>
                </c:pt>
                <c:pt idx="176">
                  <c:v>118</c:v>
                </c:pt>
                <c:pt idx="177">
                  <c:v>118.5</c:v>
                </c:pt>
                <c:pt idx="178">
                  <c:v>119</c:v>
                </c:pt>
                <c:pt idx="179">
                  <c:v>119.5</c:v>
                </c:pt>
                <c:pt idx="180">
                  <c:v>120</c:v>
                </c:pt>
                <c:pt idx="181">
                  <c:v>120.5</c:v>
                </c:pt>
                <c:pt idx="182">
                  <c:v>121</c:v>
                </c:pt>
                <c:pt idx="183">
                  <c:v>121.5</c:v>
                </c:pt>
                <c:pt idx="184">
                  <c:v>122</c:v>
                </c:pt>
                <c:pt idx="185">
                  <c:v>122.5</c:v>
                </c:pt>
                <c:pt idx="186">
                  <c:v>123</c:v>
                </c:pt>
                <c:pt idx="187">
                  <c:v>123.5</c:v>
                </c:pt>
                <c:pt idx="188">
                  <c:v>124</c:v>
                </c:pt>
                <c:pt idx="189">
                  <c:v>124.5</c:v>
                </c:pt>
                <c:pt idx="190">
                  <c:v>125</c:v>
                </c:pt>
                <c:pt idx="191">
                  <c:v>125.5</c:v>
                </c:pt>
                <c:pt idx="192">
                  <c:v>126</c:v>
                </c:pt>
                <c:pt idx="193">
                  <c:v>126.5</c:v>
                </c:pt>
                <c:pt idx="194">
                  <c:v>127</c:v>
                </c:pt>
                <c:pt idx="195">
                  <c:v>127.5</c:v>
                </c:pt>
                <c:pt idx="196">
                  <c:v>128</c:v>
                </c:pt>
                <c:pt idx="197">
                  <c:v>128.5</c:v>
                </c:pt>
                <c:pt idx="198">
                  <c:v>129</c:v>
                </c:pt>
                <c:pt idx="199">
                  <c:v>129.5</c:v>
                </c:pt>
                <c:pt idx="200">
                  <c:v>130</c:v>
                </c:pt>
                <c:pt idx="201">
                  <c:v>130.5</c:v>
                </c:pt>
                <c:pt idx="202">
                  <c:v>131</c:v>
                </c:pt>
                <c:pt idx="203">
                  <c:v>131.5</c:v>
                </c:pt>
                <c:pt idx="204">
                  <c:v>132</c:v>
                </c:pt>
                <c:pt idx="205">
                  <c:v>132.5</c:v>
                </c:pt>
                <c:pt idx="206">
                  <c:v>133</c:v>
                </c:pt>
                <c:pt idx="207">
                  <c:v>133.5</c:v>
                </c:pt>
                <c:pt idx="208">
                  <c:v>134</c:v>
                </c:pt>
                <c:pt idx="209">
                  <c:v>134.5</c:v>
                </c:pt>
                <c:pt idx="210">
                  <c:v>135</c:v>
                </c:pt>
                <c:pt idx="211">
                  <c:v>135.5</c:v>
                </c:pt>
                <c:pt idx="212">
                  <c:v>136</c:v>
                </c:pt>
                <c:pt idx="213">
                  <c:v>136.5</c:v>
                </c:pt>
                <c:pt idx="214">
                  <c:v>137</c:v>
                </c:pt>
                <c:pt idx="215">
                  <c:v>137.5</c:v>
                </c:pt>
                <c:pt idx="216">
                  <c:v>138</c:v>
                </c:pt>
                <c:pt idx="217">
                  <c:v>138.5</c:v>
                </c:pt>
                <c:pt idx="218">
                  <c:v>139</c:v>
                </c:pt>
                <c:pt idx="219">
                  <c:v>139.5</c:v>
                </c:pt>
                <c:pt idx="220">
                  <c:v>140</c:v>
                </c:pt>
                <c:pt idx="221">
                  <c:v>140.5</c:v>
                </c:pt>
                <c:pt idx="222">
                  <c:v>141</c:v>
                </c:pt>
                <c:pt idx="223">
                  <c:v>141.5</c:v>
                </c:pt>
                <c:pt idx="224">
                  <c:v>142</c:v>
                </c:pt>
                <c:pt idx="225">
                  <c:v>142.5</c:v>
                </c:pt>
                <c:pt idx="226">
                  <c:v>143</c:v>
                </c:pt>
                <c:pt idx="227">
                  <c:v>143.5</c:v>
                </c:pt>
                <c:pt idx="228">
                  <c:v>144</c:v>
                </c:pt>
                <c:pt idx="229">
                  <c:v>144.5</c:v>
                </c:pt>
                <c:pt idx="230">
                  <c:v>145</c:v>
                </c:pt>
                <c:pt idx="231">
                  <c:v>145.5</c:v>
                </c:pt>
                <c:pt idx="232">
                  <c:v>146</c:v>
                </c:pt>
                <c:pt idx="233">
                  <c:v>146.5</c:v>
                </c:pt>
                <c:pt idx="234">
                  <c:v>147</c:v>
                </c:pt>
                <c:pt idx="235">
                  <c:v>147.5</c:v>
                </c:pt>
                <c:pt idx="236">
                  <c:v>148</c:v>
                </c:pt>
                <c:pt idx="237">
                  <c:v>148.5</c:v>
                </c:pt>
                <c:pt idx="238">
                  <c:v>149</c:v>
                </c:pt>
                <c:pt idx="239">
                  <c:v>149.5</c:v>
                </c:pt>
                <c:pt idx="240">
                  <c:v>150</c:v>
                </c:pt>
                <c:pt idx="241">
                  <c:v>150.5</c:v>
                </c:pt>
                <c:pt idx="242">
                  <c:v>151</c:v>
                </c:pt>
                <c:pt idx="243">
                  <c:v>151.5</c:v>
                </c:pt>
                <c:pt idx="244">
                  <c:v>152</c:v>
                </c:pt>
                <c:pt idx="245">
                  <c:v>152.5</c:v>
                </c:pt>
                <c:pt idx="246">
                  <c:v>153</c:v>
                </c:pt>
                <c:pt idx="247">
                  <c:v>153.5</c:v>
                </c:pt>
                <c:pt idx="248">
                  <c:v>154</c:v>
                </c:pt>
                <c:pt idx="249">
                  <c:v>154.5</c:v>
                </c:pt>
                <c:pt idx="250">
                  <c:v>155</c:v>
                </c:pt>
                <c:pt idx="251">
                  <c:v>155.5</c:v>
                </c:pt>
                <c:pt idx="252">
                  <c:v>156</c:v>
                </c:pt>
                <c:pt idx="253">
                  <c:v>156.5</c:v>
                </c:pt>
                <c:pt idx="254">
                  <c:v>157</c:v>
                </c:pt>
                <c:pt idx="255">
                  <c:v>157.5</c:v>
                </c:pt>
                <c:pt idx="256">
                  <c:v>158</c:v>
                </c:pt>
                <c:pt idx="257">
                  <c:v>158.5</c:v>
                </c:pt>
                <c:pt idx="258">
                  <c:v>159</c:v>
                </c:pt>
                <c:pt idx="259">
                  <c:v>159.5</c:v>
                </c:pt>
                <c:pt idx="260">
                  <c:v>160</c:v>
                </c:pt>
              </c:numCache>
            </c:numRef>
          </c:xVal>
          <c:yVal>
            <c:numRef>
              <c:f>Sheet1!$B$2:$B$262</c:f>
              <c:numCache>
                <c:formatCode>General</c:formatCode>
                <c:ptCount val="261"/>
                <c:pt idx="0">
                  <c:v>70</c:v>
                </c:pt>
                <c:pt idx="1">
                  <c:v>70</c:v>
                </c:pt>
                <c:pt idx="2">
                  <c:v>70</c:v>
                </c:pt>
                <c:pt idx="3">
                  <c:v>70</c:v>
                </c:pt>
                <c:pt idx="4">
                  <c:v>70</c:v>
                </c:pt>
                <c:pt idx="5">
                  <c:v>70</c:v>
                </c:pt>
                <c:pt idx="6">
                  <c:v>70</c:v>
                </c:pt>
                <c:pt idx="7">
                  <c:v>70</c:v>
                </c:pt>
                <c:pt idx="8">
                  <c:v>70</c:v>
                </c:pt>
                <c:pt idx="9">
                  <c:v>70</c:v>
                </c:pt>
                <c:pt idx="10">
                  <c:v>70</c:v>
                </c:pt>
                <c:pt idx="11">
                  <c:v>70</c:v>
                </c:pt>
                <c:pt idx="12">
                  <c:v>70</c:v>
                </c:pt>
                <c:pt idx="13">
                  <c:v>70</c:v>
                </c:pt>
                <c:pt idx="14">
                  <c:v>70</c:v>
                </c:pt>
                <c:pt idx="15">
                  <c:v>70</c:v>
                </c:pt>
                <c:pt idx="16">
                  <c:v>70</c:v>
                </c:pt>
                <c:pt idx="17">
                  <c:v>70</c:v>
                </c:pt>
                <c:pt idx="18">
                  <c:v>70</c:v>
                </c:pt>
                <c:pt idx="19">
                  <c:v>70</c:v>
                </c:pt>
                <c:pt idx="20">
                  <c:v>70</c:v>
                </c:pt>
                <c:pt idx="21">
                  <c:v>70</c:v>
                </c:pt>
                <c:pt idx="22">
                  <c:v>70</c:v>
                </c:pt>
                <c:pt idx="23">
                  <c:v>70</c:v>
                </c:pt>
                <c:pt idx="24">
                  <c:v>70</c:v>
                </c:pt>
                <c:pt idx="25">
                  <c:v>70</c:v>
                </c:pt>
                <c:pt idx="26">
                  <c:v>70</c:v>
                </c:pt>
                <c:pt idx="27">
                  <c:v>70</c:v>
                </c:pt>
                <c:pt idx="28">
                  <c:v>70</c:v>
                </c:pt>
                <c:pt idx="29">
                  <c:v>70</c:v>
                </c:pt>
                <c:pt idx="30">
                  <c:v>70</c:v>
                </c:pt>
                <c:pt idx="31">
                  <c:v>70</c:v>
                </c:pt>
                <c:pt idx="32">
                  <c:v>70</c:v>
                </c:pt>
                <c:pt idx="33">
                  <c:v>70</c:v>
                </c:pt>
                <c:pt idx="34">
                  <c:v>70</c:v>
                </c:pt>
                <c:pt idx="35">
                  <c:v>70</c:v>
                </c:pt>
                <c:pt idx="36">
                  <c:v>70</c:v>
                </c:pt>
                <c:pt idx="37">
                  <c:v>70</c:v>
                </c:pt>
                <c:pt idx="38">
                  <c:v>70</c:v>
                </c:pt>
                <c:pt idx="39">
                  <c:v>70</c:v>
                </c:pt>
                <c:pt idx="40">
                  <c:v>70</c:v>
                </c:pt>
                <c:pt idx="41">
                  <c:v>70</c:v>
                </c:pt>
                <c:pt idx="42">
                  <c:v>70</c:v>
                </c:pt>
                <c:pt idx="43">
                  <c:v>70</c:v>
                </c:pt>
                <c:pt idx="44">
                  <c:v>70</c:v>
                </c:pt>
                <c:pt idx="45">
                  <c:v>70</c:v>
                </c:pt>
                <c:pt idx="46">
                  <c:v>70</c:v>
                </c:pt>
                <c:pt idx="47">
                  <c:v>70</c:v>
                </c:pt>
                <c:pt idx="48">
                  <c:v>70</c:v>
                </c:pt>
                <c:pt idx="49">
                  <c:v>70</c:v>
                </c:pt>
                <c:pt idx="50">
                  <c:v>70</c:v>
                </c:pt>
                <c:pt idx="51">
                  <c:v>70</c:v>
                </c:pt>
                <c:pt idx="52">
                  <c:v>70</c:v>
                </c:pt>
                <c:pt idx="53">
                  <c:v>70</c:v>
                </c:pt>
                <c:pt idx="54">
                  <c:v>70</c:v>
                </c:pt>
                <c:pt idx="55">
                  <c:v>70</c:v>
                </c:pt>
                <c:pt idx="56">
                  <c:v>70</c:v>
                </c:pt>
                <c:pt idx="57">
                  <c:v>70</c:v>
                </c:pt>
                <c:pt idx="58">
                  <c:v>70</c:v>
                </c:pt>
                <c:pt idx="59">
                  <c:v>70</c:v>
                </c:pt>
                <c:pt idx="60">
                  <c:v>70</c:v>
                </c:pt>
                <c:pt idx="61">
                  <c:v>70</c:v>
                </c:pt>
                <c:pt idx="62">
                  <c:v>70</c:v>
                </c:pt>
                <c:pt idx="63">
                  <c:v>70</c:v>
                </c:pt>
                <c:pt idx="64">
                  <c:v>70</c:v>
                </c:pt>
                <c:pt idx="65">
                  <c:v>70</c:v>
                </c:pt>
                <c:pt idx="66">
                  <c:v>70</c:v>
                </c:pt>
                <c:pt idx="67">
                  <c:v>70</c:v>
                </c:pt>
                <c:pt idx="68">
                  <c:v>70</c:v>
                </c:pt>
                <c:pt idx="69">
                  <c:v>70</c:v>
                </c:pt>
                <c:pt idx="70">
                  <c:v>70</c:v>
                </c:pt>
                <c:pt idx="71">
                  <c:v>70</c:v>
                </c:pt>
                <c:pt idx="72">
                  <c:v>70</c:v>
                </c:pt>
                <c:pt idx="73">
                  <c:v>70</c:v>
                </c:pt>
                <c:pt idx="74">
                  <c:v>70</c:v>
                </c:pt>
                <c:pt idx="75">
                  <c:v>70</c:v>
                </c:pt>
                <c:pt idx="76">
                  <c:v>70</c:v>
                </c:pt>
                <c:pt idx="77">
                  <c:v>70</c:v>
                </c:pt>
                <c:pt idx="78">
                  <c:v>70</c:v>
                </c:pt>
                <c:pt idx="79">
                  <c:v>70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151.25</c:v>
                </c:pt>
                <c:pt idx="141">
                  <c:v>151.25</c:v>
                </c:pt>
                <c:pt idx="142">
                  <c:v>151.25</c:v>
                </c:pt>
                <c:pt idx="143">
                  <c:v>151.25</c:v>
                </c:pt>
                <c:pt idx="144">
                  <c:v>151.25</c:v>
                </c:pt>
                <c:pt idx="145">
                  <c:v>151.25</c:v>
                </c:pt>
                <c:pt idx="146">
                  <c:v>151.25</c:v>
                </c:pt>
                <c:pt idx="147">
                  <c:v>151.25</c:v>
                </c:pt>
                <c:pt idx="148">
                  <c:v>151.25</c:v>
                </c:pt>
                <c:pt idx="149">
                  <c:v>151.25</c:v>
                </c:pt>
                <c:pt idx="150">
                  <c:v>151.25</c:v>
                </c:pt>
                <c:pt idx="151">
                  <c:v>151.25</c:v>
                </c:pt>
                <c:pt idx="152">
                  <c:v>151.25</c:v>
                </c:pt>
                <c:pt idx="153">
                  <c:v>151.25</c:v>
                </c:pt>
                <c:pt idx="154">
                  <c:v>151.25</c:v>
                </c:pt>
                <c:pt idx="155">
                  <c:v>151.25</c:v>
                </c:pt>
                <c:pt idx="156">
                  <c:v>151.25</c:v>
                </c:pt>
                <c:pt idx="157">
                  <c:v>151.25</c:v>
                </c:pt>
                <c:pt idx="158">
                  <c:v>151.25</c:v>
                </c:pt>
                <c:pt idx="159">
                  <c:v>151.25</c:v>
                </c:pt>
                <c:pt idx="160">
                  <c:v>151.25</c:v>
                </c:pt>
                <c:pt idx="161">
                  <c:v>151.25</c:v>
                </c:pt>
                <c:pt idx="162">
                  <c:v>151.25</c:v>
                </c:pt>
                <c:pt idx="163">
                  <c:v>151.25</c:v>
                </c:pt>
                <c:pt idx="164">
                  <c:v>151.25</c:v>
                </c:pt>
                <c:pt idx="165">
                  <c:v>151.25</c:v>
                </c:pt>
                <c:pt idx="166">
                  <c:v>151.25</c:v>
                </c:pt>
                <c:pt idx="167">
                  <c:v>151.25</c:v>
                </c:pt>
                <c:pt idx="168">
                  <c:v>151.25</c:v>
                </c:pt>
                <c:pt idx="169">
                  <c:v>151.25</c:v>
                </c:pt>
                <c:pt idx="170">
                  <c:v>151.25</c:v>
                </c:pt>
                <c:pt idx="171">
                  <c:v>151.25</c:v>
                </c:pt>
                <c:pt idx="172">
                  <c:v>151.25</c:v>
                </c:pt>
                <c:pt idx="173">
                  <c:v>151.25</c:v>
                </c:pt>
                <c:pt idx="174">
                  <c:v>151.25</c:v>
                </c:pt>
                <c:pt idx="175">
                  <c:v>151.25</c:v>
                </c:pt>
                <c:pt idx="176">
                  <c:v>151.25</c:v>
                </c:pt>
                <c:pt idx="177">
                  <c:v>151.25</c:v>
                </c:pt>
                <c:pt idx="178">
                  <c:v>151.25</c:v>
                </c:pt>
                <c:pt idx="179">
                  <c:v>151.25</c:v>
                </c:pt>
                <c:pt idx="180">
                  <c:v>151.25</c:v>
                </c:pt>
                <c:pt idx="181">
                  <c:v>151.25</c:v>
                </c:pt>
                <c:pt idx="182">
                  <c:v>151.25</c:v>
                </c:pt>
                <c:pt idx="183">
                  <c:v>151.25</c:v>
                </c:pt>
                <c:pt idx="184">
                  <c:v>151.25</c:v>
                </c:pt>
                <c:pt idx="185">
                  <c:v>151.25</c:v>
                </c:pt>
                <c:pt idx="186">
                  <c:v>151.25</c:v>
                </c:pt>
                <c:pt idx="187">
                  <c:v>151.25</c:v>
                </c:pt>
                <c:pt idx="188">
                  <c:v>151.25</c:v>
                </c:pt>
                <c:pt idx="189">
                  <c:v>151.25</c:v>
                </c:pt>
                <c:pt idx="190">
                  <c:v>151.25</c:v>
                </c:pt>
                <c:pt idx="191">
                  <c:v>151.25</c:v>
                </c:pt>
                <c:pt idx="192">
                  <c:v>151.25</c:v>
                </c:pt>
                <c:pt idx="193">
                  <c:v>151.25</c:v>
                </c:pt>
                <c:pt idx="194">
                  <c:v>151.25</c:v>
                </c:pt>
                <c:pt idx="195">
                  <c:v>151.25</c:v>
                </c:pt>
                <c:pt idx="196">
                  <c:v>151.25</c:v>
                </c:pt>
                <c:pt idx="197">
                  <c:v>151.25</c:v>
                </c:pt>
                <c:pt idx="198">
                  <c:v>151.25</c:v>
                </c:pt>
                <c:pt idx="199">
                  <c:v>151.25</c:v>
                </c:pt>
                <c:pt idx="200">
                  <c:v>151.25</c:v>
                </c:pt>
                <c:pt idx="201">
                  <c:v>151.25</c:v>
                </c:pt>
                <c:pt idx="202">
                  <c:v>151.25</c:v>
                </c:pt>
                <c:pt idx="203">
                  <c:v>151.25</c:v>
                </c:pt>
                <c:pt idx="204">
                  <c:v>151.25</c:v>
                </c:pt>
                <c:pt idx="205">
                  <c:v>151.25</c:v>
                </c:pt>
                <c:pt idx="206">
                  <c:v>151.25</c:v>
                </c:pt>
                <c:pt idx="207">
                  <c:v>151.25</c:v>
                </c:pt>
                <c:pt idx="208">
                  <c:v>151.25</c:v>
                </c:pt>
                <c:pt idx="209">
                  <c:v>151.25</c:v>
                </c:pt>
                <c:pt idx="210">
                  <c:v>151.25</c:v>
                </c:pt>
                <c:pt idx="211">
                  <c:v>151.25</c:v>
                </c:pt>
                <c:pt idx="212">
                  <c:v>151.25</c:v>
                </c:pt>
                <c:pt idx="213">
                  <c:v>151.25</c:v>
                </c:pt>
                <c:pt idx="214">
                  <c:v>151.25</c:v>
                </c:pt>
                <c:pt idx="215">
                  <c:v>151.25</c:v>
                </c:pt>
                <c:pt idx="216">
                  <c:v>151.25</c:v>
                </c:pt>
                <c:pt idx="217">
                  <c:v>151.25</c:v>
                </c:pt>
                <c:pt idx="218">
                  <c:v>151.25</c:v>
                </c:pt>
                <c:pt idx="219">
                  <c:v>151.25</c:v>
                </c:pt>
                <c:pt idx="220">
                  <c:v>151.25</c:v>
                </c:pt>
                <c:pt idx="221">
                  <c:v>151.25</c:v>
                </c:pt>
                <c:pt idx="222">
                  <c:v>151.25</c:v>
                </c:pt>
                <c:pt idx="223">
                  <c:v>151.25</c:v>
                </c:pt>
                <c:pt idx="224">
                  <c:v>151.25</c:v>
                </c:pt>
                <c:pt idx="225">
                  <c:v>151.25</c:v>
                </c:pt>
                <c:pt idx="226">
                  <c:v>151.25</c:v>
                </c:pt>
                <c:pt idx="227">
                  <c:v>151.25</c:v>
                </c:pt>
                <c:pt idx="228">
                  <c:v>151.25</c:v>
                </c:pt>
                <c:pt idx="229">
                  <c:v>151.25</c:v>
                </c:pt>
                <c:pt idx="230">
                  <c:v>151.25</c:v>
                </c:pt>
                <c:pt idx="231">
                  <c:v>151.25</c:v>
                </c:pt>
                <c:pt idx="232">
                  <c:v>151.25</c:v>
                </c:pt>
                <c:pt idx="233">
                  <c:v>151.25</c:v>
                </c:pt>
                <c:pt idx="234">
                  <c:v>151.25</c:v>
                </c:pt>
                <c:pt idx="235">
                  <c:v>151.25</c:v>
                </c:pt>
                <c:pt idx="236">
                  <c:v>151.25</c:v>
                </c:pt>
                <c:pt idx="237">
                  <c:v>151.25</c:v>
                </c:pt>
                <c:pt idx="238">
                  <c:v>151.25</c:v>
                </c:pt>
                <c:pt idx="239">
                  <c:v>151.25</c:v>
                </c:pt>
                <c:pt idx="240">
                  <c:v>151.25</c:v>
                </c:pt>
                <c:pt idx="241">
                  <c:v>151.25</c:v>
                </c:pt>
                <c:pt idx="242">
                  <c:v>151.25</c:v>
                </c:pt>
                <c:pt idx="243">
                  <c:v>151.25</c:v>
                </c:pt>
                <c:pt idx="244">
                  <c:v>151.25</c:v>
                </c:pt>
                <c:pt idx="245">
                  <c:v>151.25</c:v>
                </c:pt>
                <c:pt idx="246">
                  <c:v>151.25</c:v>
                </c:pt>
                <c:pt idx="247">
                  <c:v>151.25</c:v>
                </c:pt>
                <c:pt idx="248">
                  <c:v>151.25</c:v>
                </c:pt>
                <c:pt idx="249">
                  <c:v>151.25</c:v>
                </c:pt>
                <c:pt idx="250">
                  <c:v>151.25</c:v>
                </c:pt>
                <c:pt idx="251">
                  <c:v>151.25</c:v>
                </c:pt>
                <c:pt idx="252">
                  <c:v>151.25</c:v>
                </c:pt>
                <c:pt idx="253">
                  <c:v>151.25</c:v>
                </c:pt>
                <c:pt idx="254">
                  <c:v>151.25</c:v>
                </c:pt>
                <c:pt idx="255">
                  <c:v>151.25</c:v>
                </c:pt>
                <c:pt idx="256">
                  <c:v>151.25</c:v>
                </c:pt>
                <c:pt idx="257">
                  <c:v>151.25</c:v>
                </c:pt>
                <c:pt idx="258">
                  <c:v>151.25</c:v>
                </c:pt>
                <c:pt idx="259">
                  <c:v>151.25</c:v>
                </c:pt>
                <c:pt idx="260">
                  <c:v>151.25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Basket directly</c:v>
                </c:pt>
              </c:strCache>
            </c:strRef>
          </c:tx>
          <c:spPr>
            <a:solidFill>
              <a:srgbClr val="A6A6A6"/>
            </a:solidFill>
            <a:ln w="28575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6A6A6"/>
              </a:solidFill>
              <a:ln w="9525" cap="flat">
                <a:solidFill>
                  <a:srgbClr val="A6A6A6"/>
                </a:solidFill>
                <a:prstDash val="solid"/>
                <a:round/>
              </a:ln>
              <a:effectLst/>
            </c:spPr>
          </c:marker>
          <c:xVal>
            <c:numRef>
              <c:f>Sheet1!$A$2:$A$262</c:f>
              <c:numCache>
                <c:formatCode>General</c:formatCode>
                <c:ptCount val="261"/>
                <c:pt idx="0">
                  <c:v>30</c:v>
                </c:pt>
                <c:pt idx="1">
                  <c:v>30.5</c:v>
                </c:pt>
                <c:pt idx="2">
                  <c:v>31</c:v>
                </c:pt>
                <c:pt idx="3">
                  <c:v>31.5</c:v>
                </c:pt>
                <c:pt idx="4">
                  <c:v>32</c:v>
                </c:pt>
                <c:pt idx="5">
                  <c:v>32.5</c:v>
                </c:pt>
                <c:pt idx="6">
                  <c:v>33</c:v>
                </c:pt>
                <c:pt idx="7">
                  <c:v>33.5</c:v>
                </c:pt>
                <c:pt idx="8">
                  <c:v>34</c:v>
                </c:pt>
                <c:pt idx="9">
                  <c:v>34.5</c:v>
                </c:pt>
                <c:pt idx="10">
                  <c:v>35</c:v>
                </c:pt>
                <c:pt idx="11">
                  <c:v>35.5</c:v>
                </c:pt>
                <c:pt idx="12">
                  <c:v>36</c:v>
                </c:pt>
                <c:pt idx="13">
                  <c:v>36.5</c:v>
                </c:pt>
                <c:pt idx="14">
                  <c:v>37</c:v>
                </c:pt>
                <c:pt idx="15">
                  <c:v>37.5</c:v>
                </c:pt>
                <c:pt idx="16">
                  <c:v>38</c:v>
                </c:pt>
                <c:pt idx="17">
                  <c:v>38.5</c:v>
                </c:pt>
                <c:pt idx="18">
                  <c:v>39</c:v>
                </c:pt>
                <c:pt idx="19">
                  <c:v>39.5</c:v>
                </c:pt>
                <c:pt idx="20">
                  <c:v>40</c:v>
                </c:pt>
                <c:pt idx="21">
                  <c:v>40.5</c:v>
                </c:pt>
                <c:pt idx="22">
                  <c:v>41</c:v>
                </c:pt>
                <c:pt idx="23">
                  <c:v>41.5</c:v>
                </c:pt>
                <c:pt idx="24">
                  <c:v>42</c:v>
                </c:pt>
                <c:pt idx="25">
                  <c:v>42.5</c:v>
                </c:pt>
                <c:pt idx="26">
                  <c:v>43</c:v>
                </c:pt>
                <c:pt idx="27">
                  <c:v>43.5</c:v>
                </c:pt>
                <c:pt idx="28">
                  <c:v>44</c:v>
                </c:pt>
                <c:pt idx="29">
                  <c:v>44.5</c:v>
                </c:pt>
                <c:pt idx="30">
                  <c:v>45</c:v>
                </c:pt>
                <c:pt idx="31">
                  <c:v>45.5</c:v>
                </c:pt>
                <c:pt idx="32">
                  <c:v>46</c:v>
                </c:pt>
                <c:pt idx="33">
                  <c:v>46.5</c:v>
                </c:pt>
                <c:pt idx="34">
                  <c:v>47</c:v>
                </c:pt>
                <c:pt idx="35">
                  <c:v>47.5</c:v>
                </c:pt>
                <c:pt idx="36">
                  <c:v>48</c:v>
                </c:pt>
                <c:pt idx="37">
                  <c:v>48.5</c:v>
                </c:pt>
                <c:pt idx="38">
                  <c:v>49</c:v>
                </c:pt>
                <c:pt idx="39">
                  <c:v>49.5</c:v>
                </c:pt>
                <c:pt idx="40">
                  <c:v>50</c:v>
                </c:pt>
                <c:pt idx="41">
                  <c:v>50.5</c:v>
                </c:pt>
                <c:pt idx="42">
                  <c:v>51</c:v>
                </c:pt>
                <c:pt idx="43">
                  <c:v>51.5</c:v>
                </c:pt>
                <c:pt idx="44">
                  <c:v>52</c:v>
                </c:pt>
                <c:pt idx="45">
                  <c:v>52.5</c:v>
                </c:pt>
                <c:pt idx="46">
                  <c:v>53</c:v>
                </c:pt>
                <c:pt idx="47">
                  <c:v>53.5</c:v>
                </c:pt>
                <c:pt idx="48">
                  <c:v>54</c:v>
                </c:pt>
                <c:pt idx="49">
                  <c:v>54.5</c:v>
                </c:pt>
                <c:pt idx="50">
                  <c:v>55</c:v>
                </c:pt>
                <c:pt idx="51">
                  <c:v>55.5</c:v>
                </c:pt>
                <c:pt idx="52">
                  <c:v>56</c:v>
                </c:pt>
                <c:pt idx="53">
                  <c:v>56.5</c:v>
                </c:pt>
                <c:pt idx="54">
                  <c:v>57</c:v>
                </c:pt>
                <c:pt idx="55">
                  <c:v>57.5</c:v>
                </c:pt>
                <c:pt idx="56">
                  <c:v>58</c:v>
                </c:pt>
                <c:pt idx="57">
                  <c:v>58.5</c:v>
                </c:pt>
                <c:pt idx="58">
                  <c:v>59</c:v>
                </c:pt>
                <c:pt idx="59">
                  <c:v>59.5</c:v>
                </c:pt>
                <c:pt idx="60">
                  <c:v>60</c:v>
                </c:pt>
                <c:pt idx="61">
                  <c:v>60.5</c:v>
                </c:pt>
                <c:pt idx="62">
                  <c:v>61</c:v>
                </c:pt>
                <c:pt idx="63">
                  <c:v>61.5</c:v>
                </c:pt>
                <c:pt idx="64">
                  <c:v>62</c:v>
                </c:pt>
                <c:pt idx="65">
                  <c:v>62.5</c:v>
                </c:pt>
                <c:pt idx="66">
                  <c:v>63</c:v>
                </c:pt>
                <c:pt idx="67">
                  <c:v>63.5</c:v>
                </c:pt>
                <c:pt idx="68">
                  <c:v>64</c:v>
                </c:pt>
                <c:pt idx="69">
                  <c:v>64.5</c:v>
                </c:pt>
                <c:pt idx="70">
                  <c:v>65</c:v>
                </c:pt>
                <c:pt idx="71">
                  <c:v>65.5</c:v>
                </c:pt>
                <c:pt idx="72">
                  <c:v>66</c:v>
                </c:pt>
                <c:pt idx="73">
                  <c:v>66.5</c:v>
                </c:pt>
                <c:pt idx="74">
                  <c:v>67</c:v>
                </c:pt>
                <c:pt idx="75">
                  <c:v>67.5</c:v>
                </c:pt>
                <c:pt idx="76">
                  <c:v>68</c:v>
                </c:pt>
                <c:pt idx="77">
                  <c:v>68.5</c:v>
                </c:pt>
                <c:pt idx="78">
                  <c:v>69</c:v>
                </c:pt>
                <c:pt idx="79">
                  <c:v>69.5</c:v>
                </c:pt>
                <c:pt idx="80">
                  <c:v>70</c:v>
                </c:pt>
                <c:pt idx="81">
                  <c:v>70.5</c:v>
                </c:pt>
                <c:pt idx="82">
                  <c:v>71</c:v>
                </c:pt>
                <c:pt idx="83">
                  <c:v>71.5</c:v>
                </c:pt>
                <c:pt idx="84">
                  <c:v>72</c:v>
                </c:pt>
                <c:pt idx="85">
                  <c:v>72.5</c:v>
                </c:pt>
                <c:pt idx="86">
                  <c:v>73</c:v>
                </c:pt>
                <c:pt idx="87">
                  <c:v>73.5</c:v>
                </c:pt>
                <c:pt idx="88">
                  <c:v>74</c:v>
                </c:pt>
                <c:pt idx="89">
                  <c:v>74.5</c:v>
                </c:pt>
                <c:pt idx="90">
                  <c:v>75</c:v>
                </c:pt>
                <c:pt idx="91">
                  <c:v>75.5</c:v>
                </c:pt>
                <c:pt idx="92">
                  <c:v>76</c:v>
                </c:pt>
                <c:pt idx="93">
                  <c:v>76.5</c:v>
                </c:pt>
                <c:pt idx="94">
                  <c:v>77</c:v>
                </c:pt>
                <c:pt idx="95">
                  <c:v>77.5</c:v>
                </c:pt>
                <c:pt idx="96">
                  <c:v>78</c:v>
                </c:pt>
                <c:pt idx="97">
                  <c:v>78.5</c:v>
                </c:pt>
                <c:pt idx="98">
                  <c:v>79</c:v>
                </c:pt>
                <c:pt idx="99">
                  <c:v>79.5</c:v>
                </c:pt>
                <c:pt idx="100">
                  <c:v>80</c:v>
                </c:pt>
                <c:pt idx="101">
                  <c:v>80.5</c:v>
                </c:pt>
                <c:pt idx="102">
                  <c:v>81</c:v>
                </c:pt>
                <c:pt idx="103">
                  <c:v>81.5</c:v>
                </c:pt>
                <c:pt idx="104">
                  <c:v>82</c:v>
                </c:pt>
                <c:pt idx="105">
                  <c:v>82.5</c:v>
                </c:pt>
                <c:pt idx="106">
                  <c:v>83</c:v>
                </c:pt>
                <c:pt idx="107">
                  <c:v>83.5</c:v>
                </c:pt>
                <c:pt idx="108">
                  <c:v>84</c:v>
                </c:pt>
                <c:pt idx="109">
                  <c:v>84.5</c:v>
                </c:pt>
                <c:pt idx="110">
                  <c:v>85</c:v>
                </c:pt>
                <c:pt idx="111">
                  <c:v>85.5</c:v>
                </c:pt>
                <c:pt idx="112">
                  <c:v>86</c:v>
                </c:pt>
                <c:pt idx="113">
                  <c:v>86.5</c:v>
                </c:pt>
                <c:pt idx="114">
                  <c:v>87</c:v>
                </c:pt>
                <c:pt idx="115">
                  <c:v>87.5</c:v>
                </c:pt>
                <c:pt idx="116">
                  <c:v>88</c:v>
                </c:pt>
                <c:pt idx="117">
                  <c:v>88.5</c:v>
                </c:pt>
                <c:pt idx="118">
                  <c:v>89</c:v>
                </c:pt>
                <c:pt idx="119">
                  <c:v>89.5</c:v>
                </c:pt>
                <c:pt idx="120">
                  <c:v>90</c:v>
                </c:pt>
                <c:pt idx="121">
                  <c:v>90.5</c:v>
                </c:pt>
                <c:pt idx="122">
                  <c:v>91</c:v>
                </c:pt>
                <c:pt idx="123">
                  <c:v>91.5</c:v>
                </c:pt>
                <c:pt idx="124">
                  <c:v>92</c:v>
                </c:pt>
                <c:pt idx="125">
                  <c:v>92.5</c:v>
                </c:pt>
                <c:pt idx="126">
                  <c:v>93</c:v>
                </c:pt>
                <c:pt idx="127">
                  <c:v>93.5</c:v>
                </c:pt>
                <c:pt idx="128">
                  <c:v>94</c:v>
                </c:pt>
                <c:pt idx="129">
                  <c:v>94.5</c:v>
                </c:pt>
                <c:pt idx="130">
                  <c:v>95</c:v>
                </c:pt>
                <c:pt idx="131">
                  <c:v>95.5</c:v>
                </c:pt>
                <c:pt idx="132">
                  <c:v>96</c:v>
                </c:pt>
                <c:pt idx="133">
                  <c:v>96.5</c:v>
                </c:pt>
                <c:pt idx="134">
                  <c:v>97</c:v>
                </c:pt>
                <c:pt idx="135">
                  <c:v>97.5</c:v>
                </c:pt>
                <c:pt idx="136">
                  <c:v>98</c:v>
                </c:pt>
                <c:pt idx="137">
                  <c:v>98.5</c:v>
                </c:pt>
                <c:pt idx="138">
                  <c:v>99</c:v>
                </c:pt>
                <c:pt idx="139">
                  <c:v>99.5</c:v>
                </c:pt>
                <c:pt idx="140">
                  <c:v>100</c:v>
                </c:pt>
                <c:pt idx="141">
                  <c:v>100.5</c:v>
                </c:pt>
                <c:pt idx="142">
                  <c:v>101</c:v>
                </c:pt>
                <c:pt idx="143">
                  <c:v>101.5</c:v>
                </c:pt>
                <c:pt idx="144">
                  <c:v>102</c:v>
                </c:pt>
                <c:pt idx="145">
                  <c:v>102.5</c:v>
                </c:pt>
                <c:pt idx="146">
                  <c:v>103</c:v>
                </c:pt>
                <c:pt idx="147">
                  <c:v>103.5</c:v>
                </c:pt>
                <c:pt idx="148">
                  <c:v>104</c:v>
                </c:pt>
                <c:pt idx="149">
                  <c:v>104.5</c:v>
                </c:pt>
                <c:pt idx="150">
                  <c:v>105</c:v>
                </c:pt>
                <c:pt idx="151">
                  <c:v>105.5</c:v>
                </c:pt>
                <c:pt idx="152">
                  <c:v>106</c:v>
                </c:pt>
                <c:pt idx="153">
                  <c:v>106.5</c:v>
                </c:pt>
                <c:pt idx="154">
                  <c:v>107</c:v>
                </c:pt>
                <c:pt idx="155">
                  <c:v>107.5</c:v>
                </c:pt>
                <c:pt idx="156">
                  <c:v>108</c:v>
                </c:pt>
                <c:pt idx="157">
                  <c:v>108.5</c:v>
                </c:pt>
                <c:pt idx="158">
                  <c:v>109</c:v>
                </c:pt>
                <c:pt idx="159">
                  <c:v>109.5</c:v>
                </c:pt>
                <c:pt idx="160">
                  <c:v>110</c:v>
                </c:pt>
                <c:pt idx="161">
                  <c:v>110.5</c:v>
                </c:pt>
                <c:pt idx="162">
                  <c:v>111</c:v>
                </c:pt>
                <c:pt idx="163">
                  <c:v>111.5</c:v>
                </c:pt>
                <c:pt idx="164">
                  <c:v>112</c:v>
                </c:pt>
                <c:pt idx="165">
                  <c:v>112.5</c:v>
                </c:pt>
                <c:pt idx="166">
                  <c:v>113</c:v>
                </c:pt>
                <c:pt idx="167">
                  <c:v>113.5</c:v>
                </c:pt>
                <c:pt idx="168">
                  <c:v>114</c:v>
                </c:pt>
                <c:pt idx="169">
                  <c:v>114.5</c:v>
                </c:pt>
                <c:pt idx="170">
                  <c:v>115</c:v>
                </c:pt>
                <c:pt idx="171">
                  <c:v>115.5</c:v>
                </c:pt>
                <c:pt idx="172">
                  <c:v>116</c:v>
                </c:pt>
                <c:pt idx="173">
                  <c:v>116.5</c:v>
                </c:pt>
                <c:pt idx="174">
                  <c:v>117</c:v>
                </c:pt>
                <c:pt idx="175">
                  <c:v>117.5</c:v>
                </c:pt>
                <c:pt idx="176">
                  <c:v>118</c:v>
                </c:pt>
                <c:pt idx="177">
                  <c:v>118.5</c:v>
                </c:pt>
                <c:pt idx="178">
                  <c:v>119</c:v>
                </c:pt>
                <c:pt idx="179">
                  <c:v>119.5</c:v>
                </c:pt>
                <c:pt idx="180">
                  <c:v>120</c:v>
                </c:pt>
                <c:pt idx="181">
                  <c:v>120.5</c:v>
                </c:pt>
                <c:pt idx="182">
                  <c:v>121</c:v>
                </c:pt>
                <c:pt idx="183">
                  <c:v>121.5</c:v>
                </c:pt>
                <c:pt idx="184">
                  <c:v>122</c:v>
                </c:pt>
                <c:pt idx="185">
                  <c:v>122.5</c:v>
                </c:pt>
                <c:pt idx="186">
                  <c:v>123</c:v>
                </c:pt>
                <c:pt idx="187">
                  <c:v>123.5</c:v>
                </c:pt>
                <c:pt idx="188">
                  <c:v>124</c:v>
                </c:pt>
                <c:pt idx="189">
                  <c:v>124.5</c:v>
                </c:pt>
                <c:pt idx="190">
                  <c:v>125</c:v>
                </c:pt>
                <c:pt idx="191">
                  <c:v>125.5</c:v>
                </c:pt>
                <c:pt idx="192">
                  <c:v>126</c:v>
                </c:pt>
                <c:pt idx="193">
                  <c:v>126.5</c:v>
                </c:pt>
                <c:pt idx="194">
                  <c:v>127</c:v>
                </c:pt>
                <c:pt idx="195">
                  <c:v>127.5</c:v>
                </c:pt>
                <c:pt idx="196">
                  <c:v>128</c:v>
                </c:pt>
                <c:pt idx="197">
                  <c:v>128.5</c:v>
                </c:pt>
                <c:pt idx="198">
                  <c:v>129</c:v>
                </c:pt>
                <c:pt idx="199">
                  <c:v>129.5</c:v>
                </c:pt>
                <c:pt idx="200">
                  <c:v>130</c:v>
                </c:pt>
                <c:pt idx="201">
                  <c:v>130.5</c:v>
                </c:pt>
                <c:pt idx="202">
                  <c:v>131</c:v>
                </c:pt>
                <c:pt idx="203">
                  <c:v>131.5</c:v>
                </c:pt>
                <c:pt idx="204">
                  <c:v>132</c:v>
                </c:pt>
                <c:pt idx="205">
                  <c:v>132.5</c:v>
                </c:pt>
                <c:pt idx="206">
                  <c:v>133</c:v>
                </c:pt>
                <c:pt idx="207">
                  <c:v>133.5</c:v>
                </c:pt>
                <c:pt idx="208">
                  <c:v>134</c:v>
                </c:pt>
                <c:pt idx="209">
                  <c:v>134.5</c:v>
                </c:pt>
                <c:pt idx="210">
                  <c:v>135</c:v>
                </c:pt>
                <c:pt idx="211">
                  <c:v>135.5</c:v>
                </c:pt>
                <c:pt idx="212">
                  <c:v>136</c:v>
                </c:pt>
                <c:pt idx="213">
                  <c:v>136.5</c:v>
                </c:pt>
                <c:pt idx="214">
                  <c:v>137</c:v>
                </c:pt>
                <c:pt idx="215">
                  <c:v>137.5</c:v>
                </c:pt>
                <c:pt idx="216">
                  <c:v>138</c:v>
                </c:pt>
                <c:pt idx="217">
                  <c:v>138.5</c:v>
                </c:pt>
                <c:pt idx="218">
                  <c:v>139</c:v>
                </c:pt>
                <c:pt idx="219">
                  <c:v>139.5</c:v>
                </c:pt>
                <c:pt idx="220">
                  <c:v>140</c:v>
                </c:pt>
                <c:pt idx="221">
                  <c:v>140.5</c:v>
                </c:pt>
                <c:pt idx="222">
                  <c:v>141</c:v>
                </c:pt>
                <c:pt idx="223">
                  <c:v>141.5</c:v>
                </c:pt>
                <c:pt idx="224">
                  <c:v>142</c:v>
                </c:pt>
                <c:pt idx="225">
                  <c:v>142.5</c:v>
                </c:pt>
                <c:pt idx="226">
                  <c:v>143</c:v>
                </c:pt>
                <c:pt idx="227">
                  <c:v>143.5</c:v>
                </c:pt>
                <c:pt idx="228">
                  <c:v>144</c:v>
                </c:pt>
                <c:pt idx="229">
                  <c:v>144.5</c:v>
                </c:pt>
                <c:pt idx="230">
                  <c:v>145</c:v>
                </c:pt>
                <c:pt idx="231">
                  <c:v>145.5</c:v>
                </c:pt>
                <c:pt idx="232">
                  <c:v>146</c:v>
                </c:pt>
                <c:pt idx="233">
                  <c:v>146.5</c:v>
                </c:pt>
                <c:pt idx="234">
                  <c:v>147</c:v>
                </c:pt>
                <c:pt idx="235">
                  <c:v>147.5</c:v>
                </c:pt>
                <c:pt idx="236">
                  <c:v>148</c:v>
                </c:pt>
                <c:pt idx="237">
                  <c:v>148.5</c:v>
                </c:pt>
                <c:pt idx="238">
                  <c:v>149</c:v>
                </c:pt>
                <c:pt idx="239">
                  <c:v>149.5</c:v>
                </c:pt>
                <c:pt idx="240">
                  <c:v>150</c:v>
                </c:pt>
                <c:pt idx="241">
                  <c:v>150.5</c:v>
                </c:pt>
                <c:pt idx="242">
                  <c:v>151</c:v>
                </c:pt>
                <c:pt idx="243">
                  <c:v>151.5</c:v>
                </c:pt>
                <c:pt idx="244">
                  <c:v>152</c:v>
                </c:pt>
                <c:pt idx="245">
                  <c:v>152.5</c:v>
                </c:pt>
                <c:pt idx="246">
                  <c:v>153</c:v>
                </c:pt>
                <c:pt idx="247">
                  <c:v>153.5</c:v>
                </c:pt>
                <c:pt idx="248">
                  <c:v>154</c:v>
                </c:pt>
                <c:pt idx="249">
                  <c:v>154.5</c:v>
                </c:pt>
                <c:pt idx="250">
                  <c:v>155</c:v>
                </c:pt>
                <c:pt idx="251">
                  <c:v>155.5</c:v>
                </c:pt>
                <c:pt idx="252">
                  <c:v>156</c:v>
                </c:pt>
                <c:pt idx="253">
                  <c:v>156.5</c:v>
                </c:pt>
                <c:pt idx="254">
                  <c:v>157</c:v>
                </c:pt>
                <c:pt idx="255">
                  <c:v>157.5</c:v>
                </c:pt>
                <c:pt idx="256">
                  <c:v>158</c:v>
                </c:pt>
                <c:pt idx="257">
                  <c:v>158.5</c:v>
                </c:pt>
                <c:pt idx="258">
                  <c:v>159</c:v>
                </c:pt>
                <c:pt idx="259">
                  <c:v>159.5</c:v>
                </c:pt>
                <c:pt idx="260">
                  <c:v>160</c:v>
                </c:pt>
              </c:numCache>
            </c:numRef>
          </c:xVal>
          <c:yVal>
            <c:numRef>
              <c:f>Sheet1!$C$2:$C$262</c:f>
              <c:numCache>
                <c:formatCode>General</c:formatCode>
                <c:ptCount val="261"/>
                <c:pt idx="0">
                  <c:v>30</c:v>
                </c:pt>
                <c:pt idx="1">
                  <c:v>30.5</c:v>
                </c:pt>
                <c:pt idx="2">
                  <c:v>31</c:v>
                </c:pt>
                <c:pt idx="3">
                  <c:v>31.5</c:v>
                </c:pt>
                <c:pt idx="4">
                  <c:v>32</c:v>
                </c:pt>
                <c:pt idx="5">
                  <c:v>32.5</c:v>
                </c:pt>
                <c:pt idx="6">
                  <c:v>33</c:v>
                </c:pt>
                <c:pt idx="7">
                  <c:v>33.5</c:v>
                </c:pt>
                <c:pt idx="8">
                  <c:v>34</c:v>
                </c:pt>
                <c:pt idx="9">
                  <c:v>34.5</c:v>
                </c:pt>
                <c:pt idx="10">
                  <c:v>35</c:v>
                </c:pt>
                <c:pt idx="11">
                  <c:v>35.5</c:v>
                </c:pt>
                <c:pt idx="12">
                  <c:v>36</c:v>
                </c:pt>
                <c:pt idx="13">
                  <c:v>36.5</c:v>
                </c:pt>
                <c:pt idx="14">
                  <c:v>37</c:v>
                </c:pt>
                <c:pt idx="15">
                  <c:v>37.5</c:v>
                </c:pt>
                <c:pt idx="16">
                  <c:v>38</c:v>
                </c:pt>
                <c:pt idx="17">
                  <c:v>38.5</c:v>
                </c:pt>
                <c:pt idx="18">
                  <c:v>39</c:v>
                </c:pt>
                <c:pt idx="19">
                  <c:v>39.5</c:v>
                </c:pt>
                <c:pt idx="20">
                  <c:v>40</c:v>
                </c:pt>
                <c:pt idx="21">
                  <c:v>40.5</c:v>
                </c:pt>
                <c:pt idx="22">
                  <c:v>41</c:v>
                </c:pt>
                <c:pt idx="23">
                  <c:v>41.5</c:v>
                </c:pt>
                <c:pt idx="24">
                  <c:v>42</c:v>
                </c:pt>
                <c:pt idx="25">
                  <c:v>42.5</c:v>
                </c:pt>
                <c:pt idx="26">
                  <c:v>43</c:v>
                </c:pt>
                <c:pt idx="27">
                  <c:v>43.5</c:v>
                </c:pt>
                <c:pt idx="28">
                  <c:v>44</c:v>
                </c:pt>
                <c:pt idx="29">
                  <c:v>44.5</c:v>
                </c:pt>
                <c:pt idx="30">
                  <c:v>45</c:v>
                </c:pt>
                <c:pt idx="31">
                  <c:v>45.5</c:v>
                </c:pt>
                <c:pt idx="32">
                  <c:v>46</c:v>
                </c:pt>
                <c:pt idx="33">
                  <c:v>46.5</c:v>
                </c:pt>
                <c:pt idx="34">
                  <c:v>47</c:v>
                </c:pt>
                <c:pt idx="35">
                  <c:v>47.5</c:v>
                </c:pt>
                <c:pt idx="36">
                  <c:v>48</c:v>
                </c:pt>
                <c:pt idx="37">
                  <c:v>48.5</c:v>
                </c:pt>
                <c:pt idx="38">
                  <c:v>49</c:v>
                </c:pt>
                <c:pt idx="39">
                  <c:v>49.5</c:v>
                </c:pt>
                <c:pt idx="40">
                  <c:v>50</c:v>
                </c:pt>
                <c:pt idx="41">
                  <c:v>50.5</c:v>
                </c:pt>
                <c:pt idx="42">
                  <c:v>51</c:v>
                </c:pt>
                <c:pt idx="43">
                  <c:v>51.5</c:v>
                </c:pt>
                <c:pt idx="44">
                  <c:v>52</c:v>
                </c:pt>
                <c:pt idx="45">
                  <c:v>52.5</c:v>
                </c:pt>
                <c:pt idx="46">
                  <c:v>53</c:v>
                </c:pt>
                <c:pt idx="47">
                  <c:v>53.5</c:v>
                </c:pt>
                <c:pt idx="48">
                  <c:v>54</c:v>
                </c:pt>
                <c:pt idx="49">
                  <c:v>54.5</c:v>
                </c:pt>
                <c:pt idx="50">
                  <c:v>55</c:v>
                </c:pt>
                <c:pt idx="51">
                  <c:v>55.5</c:v>
                </c:pt>
                <c:pt idx="52">
                  <c:v>56</c:v>
                </c:pt>
                <c:pt idx="53">
                  <c:v>56.5</c:v>
                </c:pt>
                <c:pt idx="54">
                  <c:v>57</c:v>
                </c:pt>
                <c:pt idx="55">
                  <c:v>57.5</c:v>
                </c:pt>
                <c:pt idx="56">
                  <c:v>58</c:v>
                </c:pt>
                <c:pt idx="57">
                  <c:v>58.5</c:v>
                </c:pt>
                <c:pt idx="58">
                  <c:v>59</c:v>
                </c:pt>
                <c:pt idx="59">
                  <c:v>59.5</c:v>
                </c:pt>
                <c:pt idx="60">
                  <c:v>60</c:v>
                </c:pt>
                <c:pt idx="61">
                  <c:v>60.5</c:v>
                </c:pt>
                <c:pt idx="62">
                  <c:v>61</c:v>
                </c:pt>
                <c:pt idx="63">
                  <c:v>61.5</c:v>
                </c:pt>
                <c:pt idx="64">
                  <c:v>62</c:v>
                </c:pt>
                <c:pt idx="65">
                  <c:v>62.5</c:v>
                </c:pt>
                <c:pt idx="66">
                  <c:v>63</c:v>
                </c:pt>
                <c:pt idx="67">
                  <c:v>63.5</c:v>
                </c:pt>
                <c:pt idx="68">
                  <c:v>64</c:v>
                </c:pt>
                <c:pt idx="69">
                  <c:v>64.5</c:v>
                </c:pt>
                <c:pt idx="70">
                  <c:v>65</c:v>
                </c:pt>
                <c:pt idx="71">
                  <c:v>65.5</c:v>
                </c:pt>
                <c:pt idx="72">
                  <c:v>66</c:v>
                </c:pt>
                <c:pt idx="73">
                  <c:v>66.5</c:v>
                </c:pt>
                <c:pt idx="74">
                  <c:v>67</c:v>
                </c:pt>
                <c:pt idx="75">
                  <c:v>67.5</c:v>
                </c:pt>
                <c:pt idx="76">
                  <c:v>68</c:v>
                </c:pt>
                <c:pt idx="77">
                  <c:v>68.5</c:v>
                </c:pt>
                <c:pt idx="78">
                  <c:v>69</c:v>
                </c:pt>
                <c:pt idx="79">
                  <c:v>69.5</c:v>
                </c:pt>
                <c:pt idx="80">
                  <c:v>70</c:v>
                </c:pt>
                <c:pt idx="81">
                  <c:v>70.5</c:v>
                </c:pt>
                <c:pt idx="82">
                  <c:v>71</c:v>
                </c:pt>
                <c:pt idx="83">
                  <c:v>71.5</c:v>
                </c:pt>
                <c:pt idx="84">
                  <c:v>72</c:v>
                </c:pt>
                <c:pt idx="85">
                  <c:v>72.5</c:v>
                </c:pt>
                <c:pt idx="86">
                  <c:v>73</c:v>
                </c:pt>
                <c:pt idx="87">
                  <c:v>73.5</c:v>
                </c:pt>
                <c:pt idx="88">
                  <c:v>74</c:v>
                </c:pt>
                <c:pt idx="89">
                  <c:v>74.5</c:v>
                </c:pt>
                <c:pt idx="90">
                  <c:v>75</c:v>
                </c:pt>
                <c:pt idx="91">
                  <c:v>75.5</c:v>
                </c:pt>
                <c:pt idx="92">
                  <c:v>76</c:v>
                </c:pt>
                <c:pt idx="93">
                  <c:v>76.5</c:v>
                </c:pt>
                <c:pt idx="94">
                  <c:v>77</c:v>
                </c:pt>
                <c:pt idx="95">
                  <c:v>77.5</c:v>
                </c:pt>
                <c:pt idx="96">
                  <c:v>78</c:v>
                </c:pt>
                <c:pt idx="97">
                  <c:v>78.5</c:v>
                </c:pt>
                <c:pt idx="98">
                  <c:v>79</c:v>
                </c:pt>
                <c:pt idx="99">
                  <c:v>79.5</c:v>
                </c:pt>
                <c:pt idx="100">
                  <c:v>80</c:v>
                </c:pt>
                <c:pt idx="101">
                  <c:v>80.5</c:v>
                </c:pt>
                <c:pt idx="102">
                  <c:v>81</c:v>
                </c:pt>
                <c:pt idx="103">
                  <c:v>81.5</c:v>
                </c:pt>
                <c:pt idx="104">
                  <c:v>82</c:v>
                </c:pt>
                <c:pt idx="105">
                  <c:v>82.5</c:v>
                </c:pt>
                <c:pt idx="106">
                  <c:v>83</c:v>
                </c:pt>
                <c:pt idx="107">
                  <c:v>83.5</c:v>
                </c:pt>
                <c:pt idx="108">
                  <c:v>84</c:v>
                </c:pt>
                <c:pt idx="109">
                  <c:v>84.5</c:v>
                </c:pt>
                <c:pt idx="110">
                  <c:v>85</c:v>
                </c:pt>
                <c:pt idx="111">
                  <c:v>85.5</c:v>
                </c:pt>
                <c:pt idx="112">
                  <c:v>86</c:v>
                </c:pt>
                <c:pt idx="113">
                  <c:v>86.5</c:v>
                </c:pt>
                <c:pt idx="114">
                  <c:v>87</c:v>
                </c:pt>
                <c:pt idx="115">
                  <c:v>87.5</c:v>
                </c:pt>
                <c:pt idx="116">
                  <c:v>88</c:v>
                </c:pt>
                <c:pt idx="117">
                  <c:v>88.5</c:v>
                </c:pt>
                <c:pt idx="118">
                  <c:v>89</c:v>
                </c:pt>
                <c:pt idx="119">
                  <c:v>89.5</c:v>
                </c:pt>
                <c:pt idx="120">
                  <c:v>90</c:v>
                </c:pt>
                <c:pt idx="121">
                  <c:v>90.5</c:v>
                </c:pt>
                <c:pt idx="122">
                  <c:v>91</c:v>
                </c:pt>
                <c:pt idx="123">
                  <c:v>91.5</c:v>
                </c:pt>
                <c:pt idx="124">
                  <c:v>92</c:v>
                </c:pt>
                <c:pt idx="125">
                  <c:v>92.5</c:v>
                </c:pt>
                <c:pt idx="126">
                  <c:v>93</c:v>
                </c:pt>
                <c:pt idx="127">
                  <c:v>93.5</c:v>
                </c:pt>
                <c:pt idx="128">
                  <c:v>94</c:v>
                </c:pt>
                <c:pt idx="129">
                  <c:v>94.5</c:v>
                </c:pt>
                <c:pt idx="130">
                  <c:v>95</c:v>
                </c:pt>
                <c:pt idx="131">
                  <c:v>95.5</c:v>
                </c:pt>
                <c:pt idx="132">
                  <c:v>96</c:v>
                </c:pt>
                <c:pt idx="133">
                  <c:v>96.5</c:v>
                </c:pt>
                <c:pt idx="134">
                  <c:v>97</c:v>
                </c:pt>
                <c:pt idx="135">
                  <c:v>97.5</c:v>
                </c:pt>
                <c:pt idx="136">
                  <c:v>98</c:v>
                </c:pt>
                <c:pt idx="137">
                  <c:v>98.5</c:v>
                </c:pt>
                <c:pt idx="138">
                  <c:v>99</c:v>
                </c:pt>
                <c:pt idx="139">
                  <c:v>99.5</c:v>
                </c:pt>
                <c:pt idx="140">
                  <c:v>100</c:v>
                </c:pt>
                <c:pt idx="141">
                  <c:v>100.5</c:v>
                </c:pt>
                <c:pt idx="142">
                  <c:v>101</c:v>
                </c:pt>
                <c:pt idx="143">
                  <c:v>101.5</c:v>
                </c:pt>
                <c:pt idx="144">
                  <c:v>102</c:v>
                </c:pt>
                <c:pt idx="145">
                  <c:v>102.5</c:v>
                </c:pt>
                <c:pt idx="146">
                  <c:v>103</c:v>
                </c:pt>
                <c:pt idx="147">
                  <c:v>103.5</c:v>
                </c:pt>
                <c:pt idx="148">
                  <c:v>104</c:v>
                </c:pt>
                <c:pt idx="149">
                  <c:v>104.5</c:v>
                </c:pt>
                <c:pt idx="150">
                  <c:v>105</c:v>
                </c:pt>
                <c:pt idx="151">
                  <c:v>105.5</c:v>
                </c:pt>
                <c:pt idx="152">
                  <c:v>106</c:v>
                </c:pt>
                <c:pt idx="153">
                  <c:v>106.5</c:v>
                </c:pt>
                <c:pt idx="154">
                  <c:v>107</c:v>
                </c:pt>
                <c:pt idx="155">
                  <c:v>107.5</c:v>
                </c:pt>
                <c:pt idx="156">
                  <c:v>108</c:v>
                </c:pt>
                <c:pt idx="157">
                  <c:v>108.5</c:v>
                </c:pt>
                <c:pt idx="158">
                  <c:v>109</c:v>
                </c:pt>
                <c:pt idx="159">
                  <c:v>109.5</c:v>
                </c:pt>
                <c:pt idx="160">
                  <c:v>110</c:v>
                </c:pt>
                <c:pt idx="161">
                  <c:v>110.5</c:v>
                </c:pt>
                <c:pt idx="162">
                  <c:v>111</c:v>
                </c:pt>
                <c:pt idx="163">
                  <c:v>111.5</c:v>
                </c:pt>
                <c:pt idx="164">
                  <c:v>112</c:v>
                </c:pt>
                <c:pt idx="165">
                  <c:v>112.5</c:v>
                </c:pt>
                <c:pt idx="166">
                  <c:v>113</c:v>
                </c:pt>
                <c:pt idx="167">
                  <c:v>113.5</c:v>
                </c:pt>
                <c:pt idx="168">
                  <c:v>114</c:v>
                </c:pt>
                <c:pt idx="169">
                  <c:v>114.5</c:v>
                </c:pt>
                <c:pt idx="170">
                  <c:v>115</c:v>
                </c:pt>
                <c:pt idx="171">
                  <c:v>115.5</c:v>
                </c:pt>
                <c:pt idx="172">
                  <c:v>116</c:v>
                </c:pt>
                <c:pt idx="173">
                  <c:v>116.5</c:v>
                </c:pt>
                <c:pt idx="174">
                  <c:v>117</c:v>
                </c:pt>
                <c:pt idx="175">
                  <c:v>117.5</c:v>
                </c:pt>
                <c:pt idx="176">
                  <c:v>118</c:v>
                </c:pt>
                <c:pt idx="177">
                  <c:v>118.5</c:v>
                </c:pt>
                <c:pt idx="178">
                  <c:v>119</c:v>
                </c:pt>
                <c:pt idx="179">
                  <c:v>119.5</c:v>
                </c:pt>
                <c:pt idx="180">
                  <c:v>120</c:v>
                </c:pt>
                <c:pt idx="181">
                  <c:v>120.5</c:v>
                </c:pt>
                <c:pt idx="182">
                  <c:v>121</c:v>
                </c:pt>
                <c:pt idx="183">
                  <c:v>121.5</c:v>
                </c:pt>
                <c:pt idx="184">
                  <c:v>122</c:v>
                </c:pt>
                <c:pt idx="185">
                  <c:v>122.5</c:v>
                </c:pt>
                <c:pt idx="186">
                  <c:v>123</c:v>
                </c:pt>
                <c:pt idx="187">
                  <c:v>123.5</c:v>
                </c:pt>
                <c:pt idx="188">
                  <c:v>124</c:v>
                </c:pt>
                <c:pt idx="189">
                  <c:v>124.5</c:v>
                </c:pt>
                <c:pt idx="190">
                  <c:v>125</c:v>
                </c:pt>
                <c:pt idx="191">
                  <c:v>125.5</c:v>
                </c:pt>
                <c:pt idx="192">
                  <c:v>126</c:v>
                </c:pt>
                <c:pt idx="193">
                  <c:v>126.5</c:v>
                </c:pt>
                <c:pt idx="194">
                  <c:v>127</c:v>
                </c:pt>
                <c:pt idx="195">
                  <c:v>127.5</c:v>
                </c:pt>
                <c:pt idx="196">
                  <c:v>128</c:v>
                </c:pt>
                <c:pt idx="197">
                  <c:v>128.5</c:v>
                </c:pt>
                <c:pt idx="198">
                  <c:v>129</c:v>
                </c:pt>
                <c:pt idx="199">
                  <c:v>129.5</c:v>
                </c:pt>
                <c:pt idx="200">
                  <c:v>130</c:v>
                </c:pt>
                <c:pt idx="201">
                  <c:v>130.5</c:v>
                </c:pt>
                <c:pt idx="202">
                  <c:v>131</c:v>
                </c:pt>
                <c:pt idx="203">
                  <c:v>131.5</c:v>
                </c:pt>
                <c:pt idx="204">
                  <c:v>132</c:v>
                </c:pt>
                <c:pt idx="205">
                  <c:v>132.5</c:v>
                </c:pt>
                <c:pt idx="206">
                  <c:v>133</c:v>
                </c:pt>
                <c:pt idx="207">
                  <c:v>133.5</c:v>
                </c:pt>
                <c:pt idx="208">
                  <c:v>134</c:v>
                </c:pt>
                <c:pt idx="209">
                  <c:v>134.5</c:v>
                </c:pt>
                <c:pt idx="210">
                  <c:v>135</c:v>
                </c:pt>
                <c:pt idx="211">
                  <c:v>135.5</c:v>
                </c:pt>
                <c:pt idx="212">
                  <c:v>136</c:v>
                </c:pt>
                <c:pt idx="213">
                  <c:v>136.5</c:v>
                </c:pt>
                <c:pt idx="214">
                  <c:v>137</c:v>
                </c:pt>
                <c:pt idx="215">
                  <c:v>137.5</c:v>
                </c:pt>
                <c:pt idx="216">
                  <c:v>138</c:v>
                </c:pt>
                <c:pt idx="217">
                  <c:v>138.5</c:v>
                </c:pt>
                <c:pt idx="218">
                  <c:v>139</c:v>
                </c:pt>
                <c:pt idx="219">
                  <c:v>139.5</c:v>
                </c:pt>
                <c:pt idx="220">
                  <c:v>140</c:v>
                </c:pt>
                <c:pt idx="221">
                  <c:v>140.5</c:v>
                </c:pt>
                <c:pt idx="222">
                  <c:v>141</c:v>
                </c:pt>
                <c:pt idx="223">
                  <c:v>141.5</c:v>
                </c:pt>
                <c:pt idx="224">
                  <c:v>142</c:v>
                </c:pt>
                <c:pt idx="225">
                  <c:v>142.5</c:v>
                </c:pt>
                <c:pt idx="226">
                  <c:v>143</c:v>
                </c:pt>
                <c:pt idx="227">
                  <c:v>143.5</c:v>
                </c:pt>
                <c:pt idx="228">
                  <c:v>144</c:v>
                </c:pt>
                <c:pt idx="229">
                  <c:v>144.5</c:v>
                </c:pt>
                <c:pt idx="230">
                  <c:v>145</c:v>
                </c:pt>
                <c:pt idx="231">
                  <c:v>145.5</c:v>
                </c:pt>
                <c:pt idx="232">
                  <c:v>146</c:v>
                </c:pt>
                <c:pt idx="233">
                  <c:v>146.5</c:v>
                </c:pt>
                <c:pt idx="234">
                  <c:v>147</c:v>
                </c:pt>
                <c:pt idx="235">
                  <c:v>147.5</c:v>
                </c:pt>
                <c:pt idx="236">
                  <c:v>148</c:v>
                </c:pt>
                <c:pt idx="237">
                  <c:v>148.5</c:v>
                </c:pt>
                <c:pt idx="238">
                  <c:v>149</c:v>
                </c:pt>
                <c:pt idx="239">
                  <c:v>149.5</c:v>
                </c:pt>
                <c:pt idx="240">
                  <c:v>150</c:v>
                </c:pt>
                <c:pt idx="241">
                  <c:v>150.5</c:v>
                </c:pt>
                <c:pt idx="242">
                  <c:v>151</c:v>
                </c:pt>
                <c:pt idx="243">
                  <c:v>151.5</c:v>
                </c:pt>
                <c:pt idx="244">
                  <c:v>152</c:v>
                </c:pt>
                <c:pt idx="245">
                  <c:v>152.5</c:v>
                </c:pt>
                <c:pt idx="246">
                  <c:v>153</c:v>
                </c:pt>
                <c:pt idx="247">
                  <c:v>153.5</c:v>
                </c:pt>
                <c:pt idx="248">
                  <c:v>154</c:v>
                </c:pt>
                <c:pt idx="249">
                  <c:v>154.5</c:v>
                </c:pt>
                <c:pt idx="250">
                  <c:v>155</c:v>
                </c:pt>
                <c:pt idx="251">
                  <c:v>155.5</c:v>
                </c:pt>
                <c:pt idx="252">
                  <c:v>156</c:v>
                </c:pt>
                <c:pt idx="253">
                  <c:v>156.5</c:v>
                </c:pt>
                <c:pt idx="254">
                  <c:v>157</c:v>
                </c:pt>
                <c:pt idx="255">
                  <c:v>157.5</c:v>
                </c:pt>
                <c:pt idx="256">
                  <c:v>158</c:v>
                </c:pt>
                <c:pt idx="257">
                  <c:v>158.5</c:v>
                </c:pt>
                <c:pt idx="258">
                  <c:v>159</c:v>
                </c:pt>
                <c:pt idx="259">
                  <c:v>159.5</c:v>
                </c:pt>
                <c:pt idx="260">
                  <c:v>160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30"/>
        </c:scaling>
        <c:delete val="0"/>
        <c:axPos val="b"/>
        <c:title>
          <c:tx>
            <c:rich>
              <a:bodyPr/>
              <a:lstStyle/>
              <a:p>
                <a:pPr>
                  <a:defRPr sz="78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sz="780" b="0" i="0" u="none" strike="noStrike">
                    <a:solidFill>
                      <a:srgbClr val="595959"/>
                    </a:solidFill>
                    <a:latin typeface="Arial"/>
                  </a:rPr>
                  <a:t>Final basket level (% of initial)</a:t>
                </a:r>
              </a:p>
            </c:rich>
          </c:tx>
          <c:layout/>
          <c:overlay val="0"/>
        </c:title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20"/>
      </c:valAx>
      <c:valAx>
        <c:axId val="2094734552"/>
        <c:scaling>
          <c:orientation val="minMax"/>
          <c:max val="170"/>
          <c:min val="2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80">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870" b="0" i="0" u="none" strike="noStrike">
                <a:solidFill>
                  <a:srgbClr val="262626"/>
                </a:solidFill>
                <a:latin typeface="Arial"/>
              </a:defRPr>
            </a:pPr>
            <a:r>
              <a:rPr sz="870" b="0" i="0" u="none" strike="noStrike">
                <a:solidFill>
                  <a:srgbClr val="262626"/>
                </a:solidFill>
                <a:latin typeface="Arial"/>
              </a:rPr>
              <a:t>Basket level (% of initial); coupon and autocall level 100%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capex boom</c:v>
                </c:pt>
              </c:strCache>
            </c:strRef>
          </c:tx>
          <c:spPr>
            <a:solidFill>
              <a:srgbClr val="2C5F82"/>
            </a:solidFill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C5F82"/>
              </a:solidFill>
              <a:ln w="9525" cap="flat">
                <a:solidFill>
                  <a:srgbClr val="2C5F8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100</c:v>
                </c:pt>
                <c:pt idx="1">
                  <c:v>104.5</c:v>
                </c:pt>
                <c:pt idx="2">
                  <c:v>109</c:v>
                </c:pt>
                <c:pt idx="3">
                  <c:v>113.5</c:v>
                </c:pt>
                <c:pt idx="4">
                  <c:v>118</c:v>
                </c:pt>
                <c:pt idx="5">
                  <c:v>121.9</c:v>
                </c:pt>
                <c:pt idx="6">
                  <c:v>125.7</c:v>
                </c:pt>
                <c:pt idx="7">
                  <c:v>129.6</c:v>
                </c:pt>
                <c:pt idx="8">
                  <c:v>133.5</c:v>
                </c:pt>
                <c:pt idx="9">
                  <c:v>137.4</c:v>
                </c:pt>
                <c:pt idx="10">
                  <c:v>141.3</c:v>
                </c:pt>
                <c:pt idx="11">
                  <c:v>145.1</c:v>
                </c:pt>
                <c:pt idx="12">
                  <c:v>149</c:v>
                </c:pt>
                <c:pt idx="13">
                  <c:v>152.9</c:v>
                </c:pt>
                <c:pt idx="14">
                  <c:v>156.7</c:v>
                </c:pt>
                <c:pt idx="15">
                  <c:v>160.6</c:v>
                </c:pt>
                <c:pt idx="16">
                  <c:v>164.5</c:v>
                </c:pt>
                <c:pt idx="17">
                  <c:v>168.4</c:v>
                </c:pt>
                <c:pt idx="18">
                  <c:v>172.3</c:v>
                </c:pt>
                <c:pt idx="19">
                  <c:v>176.1</c:v>
                </c:pt>
                <c:pt idx="20">
                  <c:v>180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Range-bound Asia</c:v>
                </c:pt>
              </c:strCache>
            </c:strRef>
          </c:tx>
          <c:spPr>
            <a:solidFill>
              <a:srgbClr val="E67E22"/>
            </a:solidFill>
            <a:ln w="25400" cap="flat">
              <a:solidFill>
                <a:srgbClr val="E67E2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67E22"/>
              </a:solidFill>
              <a:ln w="9525" cap="flat">
                <a:solidFill>
                  <a:srgbClr val="E67E2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100</c:v>
                </c:pt>
                <c:pt idx="1">
                  <c:v>99</c:v>
                </c:pt>
                <c:pt idx="2">
                  <c:v>98</c:v>
                </c:pt>
                <c:pt idx="3">
                  <c:v>97</c:v>
                </c:pt>
                <c:pt idx="4">
                  <c:v>96</c:v>
                </c:pt>
                <c:pt idx="5">
                  <c:v>98.5</c:v>
                </c:pt>
                <c:pt idx="6">
                  <c:v>101</c:v>
                </c:pt>
                <c:pt idx="7">
                  <c:v>101.1</c:v>
                </c:pt>
                <c:pt idx="8">
                  <c:v>101.3</c:v>
                </c:pt>
                <c:pt idx="9">
                  <c:v>101.4</c:v>
                </c:pt>
                <c:pt idx="10">
                  <c:v>101.6</c:v>
                </c:pt>
                <c:pt idx="11">
                  <c:v>101.7</c:v>
                </c:pt>
                <c:pt idx="12">
                  <c:v>101.9</c:v>
                </c:pt>
                <c:pt idx="13">
                  <c:v>102</c:v>
                </c:pt>
                <c:pt idx="14">
                  <c:v>102.1</c:v>
                </c:pt>
                <c:pt idx="15">
                  <c:v>102.3</c:v>
                </c:pt>
                <c:pt idx="16">
                  <c:v>102.4</c:v>
                </c:pt>
                <c:pt idx="17">
                  <c:v>102.6</c:v>
                </c:pt>
                <c:pt idx="18">
                  <c:v>102.7</c:v>
                </c:pt>
                <c:pt idx="19">
                  <c:v>102.9</c:v>
                </c:pt>
                <c:pt idx="20">
                  <c:v>103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2022-style tech drawdown, slow recovery</c:v>
                </c:pt>
              </c:strCache>
            </c:strRef>
          </c:tx>
          <c:spPr>
            <a:solidFill>
              <a:srgbClr val="1F3B57"/>
            </a:solidFill>
            <a:ln w="25400" cap="flat">
              <a:solidFill>
                <a:srgbClr val="1F3B5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F3B57"/>
              </a:solidFill>
              <a:ln w="9525" cap="flat">
                <a:solidFill>
                  <a:srgbClr val="1F3B5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Sheet1!$D$2:$D$22</c:f>
              <c:numCache>
                <c:formatCode>General</c:formatCode>
                <c:ptCount val="21"/>
                <c:pt idx="0">
                  <c:v>100</c:v>
                </c:pt>
                <c:pt idx="1">
                  <c:v>90</c:v>
                </c:pt>
                <c:pt idx="2">
                  <c:v>80</c:v>
                </c:pt>
                <c:pt idx="3">
                  <c:v>70</c:v>
                </c:pt>
                <c:pt idx="4">
                  <c:v>71.6</c:v>
                </c:pt>
                <c:pt idx="5">
                  <c:v>73.2</c:v>
                </c:pt>
                <c:pt idx="6">
                  <c:v>74.8</c:v>
                </c:pt>
                <c:pt idx="7">
                  <c:v>76.4</c:v>
                </c:pt>
                <c:pt idx="8">
                  <c:v>78</c:v>
                </c:pt>
                <c:pt idx="9">
                  <c:v>80.8</c:v>
                </c:pt>
                <c:pt idx="10">
                  <c:v>83.7</c:v>
                </c:pt>
                <c:pt idx="11">
                  <c:v>86.5</c:v>
                </c:pt>
                <c:pt idx="12">
                  <c:v>89.3</c:v>
                </c:pt>
                <c:pt idx="13">
                  <c:v>92.2</c:v>
                </c:pt>
                <c:pt idx="14">
                  <c:v>95</c:v>
                </c:pt>
                <c:pt idx="15">
                  <c:v>102</c:v>
                </c:pt>
                <c:pt idx="16">
                  <c:v>103.6</c:v>
                </c:pt>
                <c:pt idx="17">
                  <c:v>105.2</c:v>
                </c:pt>
                <c:pt idx="18">
                  <c:v>106.8</c:v>
                </c:pt>
                <c:pt idx="19">
                  <c:v>108.4</c:v>
                </c:pt>
                <c:pt idx="20">
                  <c:v>110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Lost decade (sideways below par)</c:v>
                </c:pt>
              </c:strCache>
            </c:strRef>
          </c:tx>
          <c:spPr>
            <a:solidFill>
              <a:srgbClr val="A6A6A6"/>
            </a:solidFill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A6A6A6"/>
              </a:solidFill>
              <a:ln w="9525" cap="flat">
                <a:solidFill>
                  <a:srgbClr val="A6A6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Sheet1!$E$2:$E$22</c:f>
              <c:numCache>
                <c:formatCode>General</c:formatCode>
                <c:ptCount val="21"/>
                <c:pt idx="0">
                  <c:v>100</c:v>
                </c:pt>
                <c:pt idx="1">
                  <c:v>96.3</c:v>
                </c:pt>
                <c:pt idx="2">
                  <c:v>92.5</c:v>
                </c:pt>
                <c:pt idx="3">
                  <c:v>88.7</c:v>
                </c:pt>
                <c:pt idx="4">
                  <c:v>85</c:v>
                </c:pt>
                <c:pt idx="5">
                  <c:v>84.2</c:v>
                </c:pt>
                <c:pt idx="6">
                  <c:v>83.3</c:v>
                </c:pt>
                <c:pt idx="7">
                  <c:v>82.5</c:v>
                </c:pt>
                <c:pt idx="8">
                  <c:v>81.7</c:v>
                </c:pt>
                <c:pt idx="9">
                  <c:v>80.8</c:v>
                </c:pt>
                <c:pt idx="10">
                  <c:v>80</c:v>
                </c:pt>
                <c:pt idx="11">
                  <c:v>80.8</c:v>
                </c:pt>
                <c:pt idx="12">
                  <c:v>81.6</c:v>
                </c:pt>
                <c:pt idx="13">
                  <c:v>82.4</c:v>
                </c:pt>
                <c:pt idx="14">
                  <c:v>83.2</c:v>
                </c:pt>
                <c:pt idx="15">
                  <c:v>84</c:v>
                </c:pt>
                <c:pt idx="16">
                  <c:v>84.8</c:v>
                </c:pt>
                <c:pt idx="17">
                  <c:v>85.6</c:v>
                </c:pt>
                <c:pt idx="18">
                  <c:v>86.4</c:v>
                </c:pt>
                <c:pt idx="19">
                  <c:v>87.2</c:v>
                </c:pt>
                <c:pt idx="20">
                  <c:v>88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Geopolitical shock, no recovery</c:v>
                </c:pt>
              </c:strCache>
            </c:strRef>
          </c:tx>
          <c:spPr>
            <a:solidFill>
              <a:srgbClr val="B23B3B"/>
            </a:solidFill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B23B3B"/>
              </a:solidFill>
              <a:ln w="9525" cap="flat">
                <a:solidFill>
                  <a:srgbClr val="B23B3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Y0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>Y1</c:v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>Y2</c:v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>Y3</c:v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>Y4</c:v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>Y5</c:v>
                  </c:pt>
                </c:lvl>
              </c:multiLvlStrCache>
            </c:multiLvlStrRef>
          </c:cat>
          <c:val>
            <c:numRef>
              <c:f>Sheet1!$F$2:$F$22</c:f>
              <c:numCache>
                <c:formatCode>General</c:formatCode>
                <c:ptCount val="21"/>
                <c:pt idx="0">
                  <c:v>100</c:v>
                </c:pt>
                <c:pt idx="1">
                  <c:v>80</c:v>
                </c:pt>
                <c:pt idx="2">
                  <c:v>60</c:v>
                </c:pt>
                <c:pt idx="3">
                  <c:v>58.3</c:v>
                </c:pt>
                <c:pt idx="4">
                  <c:v>56.7</c:v>
                </c:pt>
                <c:pt idx="5">
                  <c:v>55</c:v>
                </c:pt>
                <c:pt idx="6">
                  <c:v>53.3</c:v>
                </c:pt>
                <c:pt idx="7">
                  <c:v>51.7</c:v>
                </c:pt>
                <c:pt idx="8">
                  <c:v>50</c:v>
                </c:pt>
                <c:pt idx="9">
                  <c:v>50.4</c:v>
                </c:pt>
                <c:pt idx="10">
                  <c:v>50.8</c:v>
                </c:pt>
                <c:pt idx="11">
                  <c:v>51.2</c:v>
                </c:pt>
                <c:pt idx="12">
                  <c:v>51.7</c:v>
                </c:pt>
                <c:pt idx="13">
                  <c:v>52.1</c:v>
                </c:pt>
                <c:pt idx="14">
                  <c:v>52.5</c:v>
                </c:pt>
                <c:pt idx="15">
                  <c:v>52.9</c:v>
                </c:pt>
                <c:pt idx="16">
                  <c:v>53.3</c:v>
                </c:pt>
                <c:pt idx="17">
                  <c:v>53.8</c:v>
                </c:pt>
                <c:pt idx="18">
                  <c:v>54.2</c:v>
                </c:pt>
                <c:pt idx="19">
                  <c:v>54.6</c:v>
                </c:pt>
                <c:pt idx="20">
                  <c:v>55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0"/>
          <c:min val="4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870" b="0" i="0" u="none" strike="noStrike">
                <a:solidFill>
                  <a:srgbClr val="262626"/>
                </a:solidFill>
                <a:latin typeface="Arial"/>
              </a:defRPr>
            </a:pPr>
            <a:r>
              <a:rPr sz="870" b="0" i="0" u="none" strike="noStrike">
                <a:solidFill>
                  <a:srgbClr val="262626"/>
                </a:solidFill>
                <a:latin typeface="Arial"/>
              </a:rPr>
              <a:t>Cumulative autocall probability (risk-neutral)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call probability</c:v>
                </c:pt>
              </c:strCache>
            </c:strRef>
          </c:tx>
          <c:spPr>
            <a:solidFill>
              <a:srgbClr val="2C5F8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830" u="none">
                    <a:solidFill>
                      <a:srgbClr val="2626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Y1</c:v>
                  </c:pt>
                  <c:pt idx="1">
                    <c:v>Y2</c:v>
                  </c:pt>
                  <c:pt idx="2">
                    <c:v>Y3</c:v>
                  </c:pt>
                  <c:pt idx="3">
                    <c:v>Y4</c:v>
                  </c:pt>
                  <c:pt idx="4">
                    <c:v>Y5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48.6</c:v>
                </c:pt>
                <c:pt idx="1">
                  <c:v>66.3</c:v>
                </c:pt>
                <c:pt idx="2">
                  <c:v>72.8</c:v>
                </c:pt>
                <c:pt idx="3">
                  <c:v>76.5</c:v>
                </c:pt>
                <c:pt idx="4">
                  <c:v>79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830" u="none">
                  <a:solidFill>
                    <a:srgbClr val="2626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Principal</c:v>
                </c:pt>
              </c:strCache>
            </c:strRef>
          </c:tx>
          <c:spPr>
            <a:solidFill>
              <a:srgbClr val="2C5F82"/>
            </a:solidFill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C5F82"/>
              </a:solidFill>
              <a:ln w="9525" cap="flat">
                <a:solidFill>
                  <a:srgbClr val="2C5F82"/>
                </a:solidFill>
                <a:prstDash val="solid"/>
                <a:round/>
              </a:ln>
              <a:effectLst/>
            </c:spPr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sz="640" b="0" i="0" u="none" strike="noStrike">
                    <a:solidFill>
                      <a:srgbClr val="595959"/>
                    </a:solidFill>
                    <a:latin typeface="Arial"/>
                  </a:rPr>
                  <a:t>Basket on any date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40"/>
      </c:valAx>
      <c:valAx>
        <c:axId val="2094734552"/>
        <c:scaling>
          <c:orientation val="minMax"/>
          <c:max val="120"/>
          <c:min val="0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Coupon digitals</c:v>
                </c:pt>
              </c:strCache>
            </c:strRef>
          </c:tx>
          <c:spPr>
            <a:solidFill>
              <a:srgbClr val="2C5F82"/>
            </a:solidFill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C5F82"/>
              </a:solidFill>
              <a:ln w="9525" cap="flat">
                <a:solidFill>
                  <a:srgbClr val="2C5F82"/>
                </a:solidFill>
                <a:prstDash val="solid"/>
                <a:round/>
              </a:ln>
              <a:effectLst/>
            </c:spPr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2.5625</c:v>
                </c:pt>
                <c:pt idx="61">
                  <c:v>2.5625</c:v>
                </c:pt>
                <c:pt idx="62">
                  <c:v>2.5625</c:v>
                </c:pt>
                <c:pt idx="63">
                  <c:v>2.5625</c:v>
                </c:pt>
                <c:pt idx="64">
                  <c:v>2.5625</c:v>
                </c:pt>
                <c:pt idx="65">
                  <c:v>2.5625</c:v>
                </c:pt>
                <c:pt idx="66">
                  <c:v>2.5625</c:v>
                </c:pt>
                <c:pt idx="67">
                  <c:v>2.5625</c:v>
                </c:pt>
                <c:pt idx="68">
                  <c:v>2.5625</c:v>
                </c:pt>
                <c:pt idx="69">
                  <c:v>2.5625</c:v>
                </c:pt>
                <c:pt idx="70">
                  <c:v>2.5625</c:v>
                </c:pt>
                <c:pt idx="71">
                  <c:v>2.5625</c:v>
                </c:pt>
                <c:pt idx="72">
                  <c:v>2.5625</c:v>
                </c:pt>
                <c:pt idx="73">
                  <c:v>2.5625</c:v>
                </c:pt>
                <c:pt idx="74">
                  <c:v>2.5625</c:v>
                </c:pt>
                <c:pt idx="75">
                  <c:v>2.5625</c:v>
                </c:pt>
                <c:pt idx="76">
                  <c:v>2.5625</c:v>
                </c:pt>
                <c:pt idx="77">
                  <c:v>2.5625</c:v>
                </c:pt>
                <c:pt idx="78">
                  <c:v>2.5625</c:v>
                </c:pt>
                <c:pt idx="79">
                  <c:v>2.5625</c:v>
                </c:pt>
                <c:pt idx="80">
                  <c:v>2.5625</c:v>
                </c:pt>
                <c:pt idx="81">
                  <c:v>2.5625</c:v>
                </c:pt>
                <c:pt idx="82">
                  <c:v>2.5625</c:v>
                </c:pt>
                <c:pt idx="83">
                  <c:v>2.5625</c:v>
                </c:pt>
                <c:pt idx="84">
                  <c:v>2.5625</c:v>
                </c:pt>
                <c:pt idx="85">
                  <c:v>2.5625</c:v>
                </c:pt>
                <c:pt idx="86">
                  <c:v>2.5625</c:v>
                </c:pt>
                <c:pt idx="87">
                  <c:v>2.5625</c:v>
                </c:pt>
                <c:pt idx="88">
                  <c:v>2.5625</c:v>
                </c:pt>
                <c:pt idx="89">
                  <c:v>2.5625</c:v>
                </c:pt>
                <c:pt idx="90">
                  <c:v>2.5625</c:v>
                </c:pt>
                <c:pt idx="91">
                  <c:v>2.5625</c:v>
                </c:pt>
                <c:pt idx="92">
                  <c:v>2.5625</c:v>
                </c:pt>
                <c:pt idx="93">
                  <c:v>2.5625</c:v>
                </c:pt>
                <c:pt idx="94">
                  <c:v>2.5625</c:v>
                </c:pt>
                <c:pt idx="95">
                  <c:v>2.5625</c:v>
                </c:pt>
                <c:pt idx="96">
                  <c:v>2.5625</c:v>
                </c:pt>
                <c:pt idx="97">
                  <c:v>2.5625</c:v>
                </c:pt>
                <c:pt idx="98">
                  <c:v>2.5625</c:v>
                </c:pt>
                <c:pt idx="99">
                  <c:v>2.5625</c:v>
                </c:pt>
                <c:pt idx="100">
                  <c:v>2.5625</c:v>
                </c:pt>
                <c:pt idx="101">
                  <c:v>2.5625</c:v>
                </c:pt>
                <c:pt idx="102">
                  <c:v>2.5625</c:v>
                </c:pt>
                <c:pt idx="103">
                  <c:v>2.5625</c:v>
                </c:pt>
                <c:pt idx="104">
                  <c:v>2.5625</c:v>
                </c:pt>
                <c:pt idx="105">
                  <c:v>2.5625</c:v>
                </c:pt>
                <c:pt idx="106">
                  <c:v>2.5625</c:v>
                </c:pt>
                <c:pt idx="107">
                  <c:v>2.5625</c:v>
                </c:pt>
                <c:pt idx="108">
                  <c:v>2.5625</c:v>
                </c:pt>
                <c:pt idx="109">
                  <c:v>2.5625</c:v>
                </c:pt>
                <c:pt idx="110">
                  <c:v>2.5625</c:v>
                </c:pt>
                <c:pt idx="111">
                  <c:v>2.5625</c:v>
                </c:pt>
                <c:pt idx="112">
                  <c:v>2.5625</c:v>
                </c:pt>
                <c:pt idx="113">
                  <c:v>2.5625</c:v>
                </c:pt>
                <c:pt idx="114">
                  <c:v>2.5625</c:v>
                </c:pt>
                <c:pt idx="115">
                  <c:v>2.5625</c:v>
                </c:pt>
                <c:pt idx="116">
                  <c:v>2.5625</c:v>
                </c:pt>
                <c:pt idx="117">
                  <c:v>2.5625</c:v>
                </c:pt>
                <c:pt idx="118">
                  <c:v>2.5625</c:v>
                </c:pt>
                <c:pt idx="119">
                  <c:v>2.5625</c:v>
                </c:pt>
                <c:pt idx="120">
                  <c:v>2.5625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sz="640" b="0" i="0" u="none" strike="noStrike">
                    <a:solidFill>
                      <a:srgbClr val="595959"/>
                    </a:solidFill>
                    <a:latin typeface="Arial"/>
                  </a:rPr>
                  <a:t>Basket on any date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40"/>
      </c:valAx>
      <c:valAx>
        <c:axId val="2094734552"/>
        <c:scaling>
          <c:orientation val="minMax"/>
          <c:max val="3.2"/>
          <c:min val="-0.5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Autocall (Natixis)</c:v>
                </c:pt>
              </c:strCache>
            </c:strRef>
          </c:tx>
          <c:spPr>
            <a:solidFill>
              <a:srgbClr val="A6A6A6"/>
            </a:solidFill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6A6A6"/>
              </a:solidFill>
              <a:ln w="9525" cap="flat">
                <a:solidFill>
                  <a:srgbClr val="A6A6A6"/>
                </a:solidFill>
                <a:prstDash val="solid"/>
                <a:round/>
              </a:ln>
              <a:effectLst/>
            </c:spPr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  <c:pt idx="16">
                  <c:v>1</c:v>
                </c:pt>
                <c:pt idx="17">
                  <c:v>1</c:v>
                </c:pt>
                <c:pt idx="18">
                  <c:v>1</c:v>
                </c:pt>
                <c:pt idx="19">
                  <c:v>1</c:v>
                </c:pt>
                <c:pt idx="20">
                  <c:v>1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1</c:v>
                </c:pt>
                <c:pt idx="28">
                  <c:v>1</c:v>
                </c:pt>
                <c:pt idx="29">
                  <c:v>1</c:v>
                </c:pt>
                <c:pt idx="30">
                  <c:v>1</c:v>
                </c:pt>
                <c:pt idx="31">
                  <c:v>1</c:v>
                </c:pt>
                <c:pt idx="32">
                  <c:v>1</c:v>
                </c:pt>
                <c:pt idx="33">
                  <c:v>1</c:v>
                </c:pt>
                <c:pt idx="34">
                  <c:v>1</c:v>
                </c:pt>
                <c:pt idx="35">
                  <c:v>1</c:v>
                </c:pt>
                <c:pt idx="36">
                  <c:v>1</c:v>
                </c:pt>
                <c:pt idx="37">
                  <c:v>1</c:v>
                </c:pt>
                <c:pt idx="38">
                  <c:v>1</c:v>
                </c:pt>
                <c:pt idx="39">
                  <c:v>1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1</c:v>
                </c:pt>
                <c:pt idx="48">
                  <c:v>1</c:v>
                </c:pt>
                <c:pt idx="49">
                  <c:v>1</c:v>
                </c:pt>
                <c:pt idx="50">
                  <c:v>1</c:v>
                </c:pt>
                <c:pt idx="51">
                  <c:v>1</c:v>
                </c:pt>
                <c:pt idx="52">
                  <c:v>1</c:v>
                </c:pt>
                <c:pt idx="53">
                  <c:v>1</c:v>
                </c:pt>
                <c:pt idx="54">
                  <c:v>1</c:v>
                </c:pt>
                <c:pt idx="55">
                  <c:v>1</c:v>
                </c:pt>
                <c:pt idx="56">
                  <c:v>1</c:v>
                </c:pt>
                <c:pt idx="57">
                  <c:v>1</c:v>
                </c:pt>
                <c:pt idx="58">
                  <c:v>1</c:v>
                </c:pt>
                <c:pt idx="59">
                  <c:v>1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sz="640" b="0" i="0" u="none" strike="noStrike">
                    <a:solidFill>
                      <a:srgbClr val="595959"/>
                    </a:solidFill>
                    <a:latin typeface="Arial"/>
                  </a:rPr>
                  <a:t>Basket on any date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40"/>
      </c:valAx>
      <c:valAx>
        <c:axId val="2094734552"/>
        <c:scaling>
          <c:orientation val="minMax"/>
          <c:max val="1.4"/>
          <c:min val="-0.3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70% put pair</c:v>
                </c:pt>
              </c:strCache>
            </c:strRef>
          </c:tx>
          <c:spPr>
            <a:solidFill>
              <a:srgbClr val="B23B3B"/>
            </a:solidFill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B23B3B"/>
              </a:solidFill>
              <a:ln w="9525" cap="flat">
                <a:solidFill>
                  <a:srgbClr val="B23B3B"/>
                </a:solidFill>
                <a:prstDash val="solid"/>
                <a:round/>
              </a:ln>
              <a:effectLst/>
            </c:spPr>
          </c:marker>
          <c:xVal>
            <c:numRef>
              <c:f>Sheet1!$A$2:$A$122</c:f>
              <c:numCache>
                <c:formatCode>General</c:formatCode>
                <c:ptCount val="12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</c:numCache>
            </c:numRef>
          </c:xVal>
          <c:yVal>
            <c:numRef>
              <c:f>Sheet1!$B$2:$B$122</c:f>
              <c:numCache>
                <c:formatCode>General</c:formatCode>
                <c:ptCount val="121"/>
                <c:pt idx="0">
                  <c:v>-30</c:v>
                </c:pt>
                <c:pt idx="1">
                  <c:v>-30</c:v>
                </c:pt>
                <c:pt idx="2">
                  <c:v>-30</c:v>
                </c:pt>
                <c:pt idx="3">
                  <c:v>-30</c:v>
                </c:pt>
                <c:pt idx="4">
                  <c:v>-30</c:v>
                </c:pt>
                <c:pt idx="5">
                  <c:v>-30</c:v>
                </c:pt>
                <c:pt idx="6">
                  <c:v>-30</c:v>
                </c:pt>
                <c:pt idx="7">
                  <c:v>-30</c:v>
                </c:pt>
                <c:pt idx="8">
                  <c:v>-30</c:v>
                </c:pt>
                <c:pt idx="9">
                  <c:v>-30</c:v>
                </c:pt>
                <c:pt idx="10">
                  <c:v>-30</c:v>
                </c:pt>
                <c:pt idx="11">
                  <c:v>-30</c:v>
                </c:pt>
                <c:pt idx="12">
                  <c:v>-30</c:v>
                </c:pt>
                <c:pt idx="13">
                  <c:v>-30</c:v>
                </c:pt>
                <c:pt idx="14">
                  <c:v>-30</c:v>
                </c:pt>
                <c:pt idx="15">
                  <c:v>-30</c:v>
                </c:pt>
                <c:pt idx="16">
                  <c:v>-30</c:v>
                </c:pt>
                <c:pt idx="17">
                  <c:v>-30</c:v>
                </c:pt>
                <c:pt idx="18">
                  <c:v>-30</c:v>
                </c:pt>
                <c:pt idx="19">
                  <c:v>-30</c:v>
                </c:pt>
                <c:pt idx="20">
                  <c:v>-30</c:v>
                </c:pt>
                <c:pt idx="21">
                  <c:v>-30</c:v>
                </c:pt>
                <c:pt idx="22">
                  <c:v>-30</c:v>
                </c:pt>
                <c:pt idx="23">
                  <c:v>-30</c:v>
                </c:pt>
                <c:pt idx="24">
                  <c:v>-30</c:v>
                </c:pt>
                <c:pt idx="25">
                  <c:v>-30</c:v>
                </c:pt>
                <c:pt idx="26">
                  <c:v>-30</c:v>
                </c:pt>
                <c:pt idx="27">
                  <c:v>-30</c:v>
                </c:pt>
                <c:pt idx="28">
                  <c:v>-30</c:v>
                </c:pt>
                <c:pt idx="29">
                  <c:v>-30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60"/>
          <c:min val="40"/>
        </c:scaling>
        <c:delete val="0"/>
        <c:axPos val="b"/>
        <c:title>
          <c:tx>
            <c:rich>
              <a:bodyPr/>
              <a:lstStyle/>
              <a:p>
                <a:pPr>
                  <a:defRPr sz="640" b="0" i="0" u="none" strike="noStrike">
                    <a:solidFill>
                      <a:srgbClr val="595959"/>
                    </a:solidFill>
                    <a:latin typeface="Arial"/>
                  </a:defRPr>
                </a:pPr>
                <a:r>
                  <a:rPr sz="640" b="0" i="0" u="none" strike="noStrike">
                    <a:solidFill>
                      <a:srgbClr val="595959"/>
                    </a:solidFill>
                    <a:latin typeface="Arial"/>
                  </a:rPr>
                  <a:t>Basket at Y5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64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40"/>
      </c:valAx>
      <c:valAx>
        <c:axId val="2094734552"/>
        <c:scaling>
          <c:orientation val="minMax"/>
          <c:max val="6"/>
          <c:min val="-36"/>
        </c:scaling>
        <c:delete val="1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870" b="0" i="0" u="none" strike="noStrike">
                <a:solidFill>
                  <a:srgbClr val="262626"/>
                </a:solidFill>
                <a:latin typeface="Arial"/>
              </a:defRPr>
            </a:pPr>
            <a:r>
              <a:rPr sz="870" b="0" i="0" u="none" strike="noStrike">
                <a:solidFill>
                  <a:srgbClr val="262626"/>
                </a:solidFill>
                <a:latin typeface="Arial"/>
              </a:rPr>
              <a:t>Total received at Y5 (not called earlier) vs final basket level</a:t>
            </a:r>
          </a:p>
        </c:rich>
      </c:tx>
      <c:layout/>
      <c:overlay val="0"/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Our note (10.25%)</c:v>
                </c:pt>
              </c:strCache>
            </c:strRef>
          </c:tx>
          <c:spPr>
            <a:solidFill>
              <a:srgbClr val="2C5F82"/>
            </a:solidFill>
            <a:ln w="25400" cap="flat">
              <a:solidFill>
                <a:srgbClr val="2C5F82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2C5F82"/>
              </a:solidFill>
              <a:ln w="9525" cap="flat">
                <a:solidFill>
                  <a:srgbClr val="2C5F82"/>
                </a:solidFill>
                <a:prstDash val="solid"/>
                <a:round/>
              </a:ln>
              <a:effectLst/>
            </c:spPr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Sheet1!$B$2:$B$142</c:f>
              <c:numCache>
                <c:formatCode>General</c:formatCode>
                <c:ptCount val="141"/>
                <c:pt idx="0">
                  <c:v>70</c:v>
                </c:pt>
                <c:pt idx="1">
                  <c:v>70</c:v>
                </c:pt>
                <c:pt idx="2">
                  <c:v>70</c:v>
                </c:pt>
                <c:pt idx="3">
                  <c:v>70</c:v>
                </c:pt>
                <c:pt idx="4">
                  <c:v>70</c:v>
                </c:pt>
                <c:pt idx="5">
                  <c:v>70</c:v>
                </c:pt>
                <c:pt idx="6">
                  <c:v>70</c:v>
                </c:pt>
                <c:pt idx="7">
                  <c:v>70</c:v>
                </c:pt>
                <c:pt idx="8">
                  <c:v>70</c:v>
                </c:pt>
                <c:pt idx="9">
                  <c:v>70</c:v>
                </c:pt>
                <c:pt idx="10">
                  <c:v>70</c:v>
                </c:pt>
                <c:pt idx="11">
                  <c:v>70</c:v>
                </c:pt>
                <c:pt idx="12">
                  <c:v>70</c:v>
                </c:pt>
                <c:pt idx="13">
                  <c:v>70</c:v>
                </c:pt>
                <c:pt idx="14">
                  <c:v>70</c:v>
                </c:pt>
                <c:pt idx="15">
                  <c:v>70</c:v>
                </c:pt>
                <c:pt idx="16">
                  <c:v>70</c:v>
                </c:pt>
                <c:pt idx="17">
                  <c:v>70</c:v>
                </c:pt>
                <c:pt idx="18">
                  <c:v>70</c:v>
                </c:pt>
                <c:pt idx="19">
                  <c:v>70</c:v>
                </c:pt>
                <c:pt idx="20">
                  <c:v>70</c:v>
                </c:pt>
                <c:pt idx="21">
                  <c:v>70</c:v>
                </c:pt>
                <c:pt idx="22">
                  <c:v>70</c:v>
                </c:pt>
                <c:pt idx="23">
                  <c:v>70</c:v>
                </c:pt>
                <c:pt idx="24">
                  <c:v>70</c:v>
                </c:pt>
                <c:pt idx="25">
                  <c:v>70</c:v>
                </c:pt>
                <c:pt idx="26">
                  <c:v>70</c:v>
                </c:pt>
                <c:pt idx="27">
                  <c:v>70</c:v>
                </c:pt>
                <c:pt idx="28">
                  <c:v>70</c:v>
                </c:pt>
                <c:pt idx="29">
                  <c:v>70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151.25</c:v>
                </c:pt>
                <c:pt idx="61">
                  <c:v>151.25</c:v>
                </c:pt>
                <c:pt idx="62">
                  <c:v>151.25</c:v>
                </c:pt>
                <c:pt idx="63">
                  <c:v>151.25</c:v>
                </c:pt>
                <c:pt idx="64">
                  <c:v>151.25</c:v>
                </c:pt>
                <c:pt idx="65">
                  <c:v>151.25</c:v>
                </c:pt>
                <c:pt idx="66">
                  <c:v>151.25</c:v>
                </c:pt>
                <c:pt idx="67">
                  <c:v>151.25</c:v>
                </c:pt>
                <c:pt idx="68">
                  <c:v>151.25</c:v>
                </c:pt>
                <c:pt idx="69">
                  <c:v>151.25</c:v>
                </c:pt>
                <c:pt idx="70">
                  <c:v>151.25</c:v>
                </c:pt>
                <c:pt idx="71">
                  <c:v>151.25</c:v>
                </c:pt>
                <c:pt idx="72">
                  <c:v>151.25</c:v>
                </c:pt>
                <c:pt idx="73">
                  <c:v>151.25</c:v>
                </c:pt>
                <c:pt idx="74">
                  <c:v>151.25</c:v>
                </c:pt>
                <c:pt idx="75">
                  <c:v>151.25</c:v>
                </c:pt>
                <c:pt idx="76">
                  <c:v>151.25</c:v>
                </c:pt>
                <c:pt idx="77">
                  <c:v>151.25</c:v>
                </c:pt>
                <c:pt idx="78">
                  <c:v>151.25</c:v>
                </c:pt>
                <c:pt idx="79">
                  <c:v>151.25</c:v>
                </c:pt>
                <c:pt idx="80">
                  <c:v>151.25</c:v>
                </c:pt>
                <c:pt idx="81">
                  <c:v>151.25</c:v>
                </c:pt>
                <c:pt idx="82">
                  <c:v>151.25</c:v>
                </c:pt>
                <c:pt idx="83">
                  <c:v>151.25</c:v>
                </c:pt>
                <c:pt idx="84">
                  <c:v>151.25</c:v>
                </c:pt>
                <c:pt idx="85">
                  <c:v>151.25</c:v>
                </c:pt>
                <c:pt idx="86">
                  <c:v>151.25</c:v>
                </c:pt>
                <c:pt idx="87">
                  <c:v>151.25</c:v>
                </c:pt>
                <c:pt idx="88">
                  <c:v>151.25</c:v>
                </c:pt>
                <c:pt idx="89">
                  <c:v>151.25</c:v>
                </c:pt>
                <c:pt idx="90">
                  <c:v>151.25</c:v>
                </c:pt>
                <c:pt idx="91">
                  <c:v>151.25</c:v>
                </c:pt>
                <c:pt idx="92">
                  <c:v>151.25</c:v>
                </c:pt>
                <c:pt idx="93">
                  <c:v>151.25</c:v>
                </c:pt>
                <c:pt idx="94">
                  <c:v>151.25</c:v>
                </c:pt>
                <c:pt idx="95">
                  <c:v>151.25</c:v>
                </c:pt>
                <c:pt idx="96">
                  <c:v>151.25</c:v>
                </c:pt>
                <c:pt idx="97">
                  <c:v>151.25</c:v>
                </c:pt>
                <c:pt idx="98">
                  <c:v>151.25</c:v>
                </c:pt>
                <c:pt idx="99">
                  <c:v>151.25</c:v>
                </c:pt>
                <c:pt idx="100">
                  <c:v>151.25</c:v>
                </c:pt>
                <c:pt idx="101">
                  <c:v>151.25</c:v>
                </c:pt>
                <c:pt idx="102">
                  <c:v>151.25</c:v>
                </c:pt>
                <c:pt idx="103">
                  <c:v>151.25</c:v>
                </c:pt>
                <c:pt idx="104">
                  <c:v>151.25</c:v>
                </c:pt>
                <c:pt idx="105">
                  <c:v>151.25</c:v>
                </c:pt>
                <c:pt idx="106">
                  <c:v>151.25</c:v>
                </c:pt>
                <c:pt idx="107">
                  <c:v>151.25</c:v>
                </c:pt>
                <c:pt idx="108">
                  <c:v>151.25</c:v>
                </c:pt>
                <c:pt idx="109">
                  <c:v>151.25</c:v>
                </c:pt>
                <c:pt idx="110">
                  <c:v>151.25</c:v>
                </c:pt>
                <c:pt idx="111">
                  <c:v>151.25</c:v>
                </c:pt>
                <c:pt idx="112">
                  <c:v>151.25</c:v>
                </c:pt>
                <c:pt idx="113">
                  <c:v>151.25</c:v>
                </c:pt>
                <c:pt idx="114">
                  <c:v>151.25</c:v>
                </c:pt>
                <c:pt idx="115">
                  <c:v>151.25</c:v>
                </c:pt>
                <c:pt idx="116">
                  <c:v>151.25</c:v>
                </c:pt>
                <c:pt idx="117">
                  <c:v>151.25</c:v>
                </c:pt>
                <c:pt idx="118">
                  <c:v>151.25</c:v>
                </c:pt>
                <c:pt idx="119">
                  <c:v>151.25</c:v>
                </c:pt>
                <c:pt idx="120">
                  <c:v>151.25</c:v>
                </c:pt>
                <c:pt idx="121">
                  <c:v>151.25</c:v>
                </c:pt>
                <c:pt idx="122">
                  <c:v>151.25</c:v>
                </c:pt>
                <c:pt idx="123">
                  <c:v>151.25</c:v>
                </c:pt>
                <c:pt idx="124">
                  <c:v>151.25</c:v>
                </c:pt>
                <c:pt idx="125">
                  <c:v>151.25</c:v>
                </c:pt>
                <c:pt idx="126">
                  <c:v>151.25</c:v>
                </c:pt>
                <c:pt idx="127">
                  <c:v>151.25</c:v>
                </c:pt>
                <c:pt idx="128">
                  <c:v>151.25</c:v>
                </c:pt>
                <c:pt idx="129">
                  <c:v>151.25</c:v>
                </c:pt>
                <c:pt idx="130">
                  <c:v>151.25</c:v>
                </c:pt>
                <c:pt idx="131">
                  <c:v>151.25</c:v>
                </c:pt>
                <c:pt idx="132">
                  <c:v>151.25</c:v>
                </c:pt>
                <c:pt idx="133">
                  <c:v>151.25</c:v>
                </c:pt>
                <c:pt idx="134">
                  <c:v>151.25</c:v>
                </c:pt>
                <c:pt idx="135">
                  <c:v>151.25</c:v>
                </c:pt>
                <c:pt idx="136">
                  <c:v>151.25</c:v>
                </c:pt>
                <c:pt idx="137">
                  <c:v>151.25</c:v>
                </c:pt>
                <c:pt idx="138">
                  <c:v>151.25</c:v>
                </c:pt>
                <c:pt idx="139">
                  <c:v>151.25</c:v>
                </c:pt>
                <c:pt idx="140">
                  <c:v>151.25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Snowball 9%, 65% barrier</c:v>
                </c:pt>
              </c:strCache>
            </c:strRef>
          </c:tx>
          <c:spPr>
            <a:solidFill>
              <a:srgbClr val="B23B3B"/>
            </a:solidFill>
            <a:ln w="25400" cap="flat">
              <a:solidFill>
                <a:srgbClr val="B23B3B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B23B3B"/>
              </a:solidFill>
              <a:ln w="9525" cap="flat">
                <a:solidFill>
                  <a:srgbClr val="B23B3B"/>
                </a:solidFill>
                <a:prstDash val="solid"/>
                <a:round/>
              </a:ln>
              <a:effectLst/>
            </c:spPr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Sheet1!$C$2:$C$142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145</c:v>
                </c:pt>
                <c:pt idx="61">
                  <c:v>145</c:v>
                </c:pt>
                <c:pt idx="62">
                  <c:v>145</c:v>
                </c:pt>
                <c:pt idx="63">
                  <c:v>145</c:v>
                </c:pt>
                <c:pt idx="64">
                  <c:v>145</c:v>
                </c:pt>
                <c:pt idx="65">
                  <c:v>145</c:v>
                </c:pt>
                <c:pt idx="66">
                  <c:v>145</c:v>
                </c:pt>
                <c:pt idx="67">
                  <c:v>145</c:v>
                </c:pt>
                <c:pt idx="68">
                  <c:v>145</c:v>
                </c:pt>
                <c:pt idx="69">
                  <c:v>145</c:v>
                </c:pt>
                <c:pt idx="70">
                  <c:v>145</c:v>
                </c:pt>
                <c:pt idx="71">
                  <c:v>145</c:v>
                </c:pt>
                <c:pt idx="72">
                  <c:v>145</c:v>
                </c:pt>
                <c:pt idx="73">
                  <c:v>145</c:v>
                </c:pt>
                <c:pt idx="74">
                  <c:v>145</c:v>
                </c:pt>
                <c:pt idx="75">
                  <c:v>145</c:v>
                </c:pt>
                <c:pt idx="76">
                  <c:v>145</c:v>
                </c:pt>
                <c:pt idx="77">
                  <c:v>145</c:v>
                </c:pt>
                <c:pt idx="78">
                  <c:v>145</c:v>
                </c:pt>
                <c:pt idx="79">
                  <c:v>145</c:v>
                </c:pt>
                <c:pt idx="80">
                  <c:v>145</c:v>
                </c:pt>
                <c:pt idx="81">
                  <c:v>145</c:v>
                </c:pt>
                <c:pt idx="82">
                  <c:v>145</c:v>
                </c:pt>
                <c:pt idx="83">
                  <c:v>145</c:v>
                </c:pt>
                <c:pt idx="84">
                  <c:v>145</c:v>
                </c:pt>
                <c:pt idx="85">
                  <c:v>145</c:v>
                </c:pt>
                <c:pt idx="86">
                  <c:v>145</c:v>
                </c:pt>
                <c:pt idx="87">
                  <c:v>145</c:v>
                </c:pt>
                <c:pt idx="88">
                  <c:v>145</c:v>
                </c:pt>
                <c:pt idx="89">
                  <c:v>145</c:v>
                </c:pt>
                <c:pt idx="90">
                  <c:v>145</c:v>
                </c:pt>
                <c:pt idx="91">
                  <c:v>145</c:v>
                </c:pt>
                <c:pt idx="92">
                  <c:v>145</c:v>
                </c:pt>
                <c:pt idx="93">
                  <c:v>145</c:v>
                </c:pt>
                <c:pt idx="94">
                  <c:v>145</c:v>
                </c:pt>
                <c:pt idx="95">
                  <c:v>145</c:v>
                </c:pt>
                <c:pt idx="96">
                  <c:v>145</c:v>
                </c:pt>
                <c:pt idx="97">
                  <c:v>145</c:v>
                </c:pt>
                <c:pt idx="98">
                  <c:v>145</c:v>
                </c:pt>
                <c:pt idx="99">
                  <c:v>145</c:v>
                </c:pt>
                <c:pt idx="100">
                  <c:v>145</c:v>
                </c:pt>
                <c:pt idx="101">
                  <c:v>145</c:v>
                </c:pt>
                <c:pt idx="102">
                  <c:v>145</c:v>
                </c:pt>
                <c:pt idx="103">
                  <c:v>145</c:v>
                </c:pt>
                <c:pt idx="104">
                  <c:v>145</c:v>
                </c:pt>
                <c:pt idx="105">
                  <c:v>145</c:v>
                </c:pt>
                <c:pt idx="106">
                  <c:v>145</c:v>
                </c:pt>
                <c:pt idx="107">
                  <c:v>145</c:v>
                </c:pt>
                <c:pt idx="108">
                  <c:v>145</c:v>
                </c:pt>
                <c:pt idx="109">
                  <c:v>145</c:v>
                </c:pt>
                <c:pt idx="110">
                  <c:v>145</c:v>
                </c:pt>
                <c:pt idx="111">
                  <c:v>145</c:v>
                </c:pt>
                <c:pt idx="112">
                  <c:v>145</c:v>
                </c:pt>
                <c:pt idx="113">
                  <c:v>145</c:v>
                </c:pt>
                <c:pt idx="114">
                  <c:v>145</c:v>
                </c:pt>
                <c:pt idx="115">
                  <c:v>145</c:v>
                </c:pt>
                <c:pt idx="116">
                  <c:v>145</c:v>
                </c:pt>
                <c:pt idx="117">
                  <c:v>145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145</c:v>
                </c:pt>
                <c:pt idx="132">
                  <c:v>145</c:v>
                </c:pt>
                <c:pt idx="133">
                  <c:v>145</c:v>
                </c:pt>
                <c:pt idx="134">
                  <c:v>145</c:v>
                </c:pt>
                <c:pt idx="135">
                  <c:v>145</c:v>
                </c:pt>
                <c:pt idx="136">
                  <c:v>145</c:v>
                </c:pt>
                <c:pt idx="137">
                  <c:v>145</c:v>
                </c:pt>
                <c:pt idx="138">
                  <c:v>145</c:v>
                </c:pt>
                <c:pt idx="139">
                  <c:v>145</c:v>
                </c:pt>
                <c:pt idx="140">
                  <c:v>145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PPN</c:v>
                </c:pt>
              </c:strCache>
            </c:strRef>
          </c:tx>
          <c:spPr>
            <a:solidFill>
              <a:srgbClr val="E67E22"/>
            </a:solidFill>
            <a:ln w="25400" cap="flat">
              <a:solidFill>
                <a:srgbClr val="E67E22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E67E22"/>
              </a:solidFill>
              <a:ln w="9525" cap="flat">
                <a:solidFill>
                  <a:srgbClr val="E67E22"/>
                </a:solidFill>
                <a:prstDash val="solid"/>
                <a:round/>
              </a:ln>
              <a:effectLst/>
            </c:spPr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Sheet1!$D$2:$D$142</c:f>
              <c:numCache>
                <c:formatCode>General</c:formatCode>
                <c:ptCount val="141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100</c:v>
                </c:pt>
                <c:pt idx="50">
                  <c:v>100</c:v>
                </c:pt>
                <c:pt idx="51">
                  <c:v>100</c:v>
                </c:pt>
                <c:pt idx="52">
                  <c:v>100</c:v>
                </c:pt>
                <c:pt idx="53">
                  <c:v>100</c:v>
                </c:pt>
                <c:pt idx="54">
                  <c:v>100</c:v>
                </c:pt>
                <c:pt idx="55">
                  <c:v>100</c:v>
                </c:pt>
                <c:pt idx="56">
                  <c:v>100</c:v>
                </c:pt>
                <c:pt idx="57">
                  <c:v>100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100.837</c:v>
                </c:pt>
                <c:pt idx="62">
                  <c:v>101.674</c:v>
                </c:pt>
                <c:pt idx="63">
                  <c:v>102.511</c:v>
                </c:pt>
                <c:pt idx="64">
                  <c:v>103.348</c:v>
                </c:pt>
                <c:pt idx="65">
                  <c:v>104.185</c:v>
                </c:pt>
                <c:pt idx="66">
                  <c:v>105.022</c:v>
                </c:pt>
                <c:pt idx="67">
                  <c:v>105.859</c:v>
                </c:pt>
                <c:pt idx="68">
                  <c:v>106.696</c:v>
                </c:pt>
                <c:pt idx="69">
                  <c:v>107.533</c:v>
                </c:pt>
                <c:pt idx="70">
                  <c:v>108.37</c:v>
                </c:pt>
                <c:pt idx="71">
                  <c:v>109.207</c:v>
                </c:pt>
                <c:pt idx="72">
                  <c:v>110.044</c:v>
                </c:pt>
                <c:pt idx="73">
                  <c:v>110.881</c:v>
                </c:pt>
                <c:pt idx="74">
                  <c:v>111.718</c:v>
                </c:pt>
                <c:pt idx="75">
                  <c:v>112.555</c:v>
                </c:pt>
                <c:pt idx="76">
                  <c:v>113.392</c:v>
                </c:pt>
                <c:pt idx="77">
                  <c:v>114.229</c:v>
                </c:pt>
                <c:pt idx="78">
                  <c:v>115.066</c:v>
                </c:pt>
                <c:pt idx="79">
                  <c:v>115.90299999999999</c:v>
                </c:pt>
                <c:pt idx="80">
                  <c:v>116.74</c:v>
                </c:pt>
                <c:pt idx="81">
                  <c:v>117.577</c:v>
                </c:pt>
                <c:pt idx="82">
                  <c:v>118.414</c:v>
                </c:pt>
                <c:pt idx="83">
                  <c:v>119.251</c:v>
                </c:pt>
                <c:pt idx="84">
                  <c:v>120.088</c:v>
                </c:pt>
                <c:pt idx="85">
                  <c:v>120.925</c:v>
                </c:pt>
                <c:pt idx="86">
                  <c:v>121.762</c:v>
                </c:pt>
                <c:pt idx="87">
                  <c:v>122.599</c:v>
                </c:pt>
                <c:pt idx="88">
                  <c:v>123.436</c:v>
                </c:pt>
                <c:pt idx="89">
                  <c:v>124.273</c:v>
                </c:pt>
                <c:pt idx="90">
                  <c:v>125.11</c:v>
                </c:pt>
                <c:pt idx="91">
                  <c:v>125.947</c:v>
                </c:pt>
                <c:pt idx="92">
                  <c:v>126.78399999999999</c:v>
                </c:pt>
                <c:pt idx="93">
                  <c:v>127.621</c:v>
                </c:pt>
                <c:pt idx="94">
                  <c:v>128.458</c:v>
                </c:pt>
                <c:pt idx="95">
                  <c:v>129.295</c:v>
                </c:pt>
                <c:pt idx="96">
                  <c:v>130.132</c:v>
                </c:pt>
                <c:pt idx="97">
                  <c:v>130.969</c:v>
                </c:pt>
                <c:pt idx="98">
                  <c:v>131.80599999999998</c:v>
                </c:pt>
                <c:pt idx="99">
                  <c:v>132.643</c:v>
                </c:pt>
                <c:pt idx="100">
                  <c:v>133.48</c:v>
                </c:pt>
                <c:pt idx="101">
                  <c:v>134.317</c:v>
                </c:pt>
                <c:pt idx="102">
                  <c:v>135.154</c:v>
                </c:pt>
                <c:pt idx="103">
                  <c:v>135.99099999999999</c:v>
                </c:pt>
                <c:pt idx="104">
                  <c:v>136.828</c:v>
                </c:pt>
                <c:pt idx="105">
                  <c:v>137.665</c:v>
                </c:pt>
                <c:pt idx="106">
                  <c:v>138.502</c:v>
                </c:pt>
                <c:pt idx="107">
                  <c:v>139.339</c:v>
                </c:pt>
                <c:pt idx="108">
                  <c:v>140.176</c:v>
                </c:pt>
                <c:pt idx="109">
                  <c:v>141.013</c:v>
                </c:pt>
                <c:pt idx="110">
                  <c:v>141.85</c:v>
                </c:pt>
                <c:pt idx="111">
                  <c:v>142.687</c:v>
                </c:pt>
                <c:pt idx="112">
                  <c:v>143.524</c:v>
                </c:pt>
                <c:pt idx="113">
                  <c:v>144.361</c:v>
                </c:pt>
                <c:pt idx="114">
                  <c:v>145.198</c:v>
                </c:pt>
                <c:pt idx="115">
                  <c:v>146.035</c:v>
                </c:pt>
                <c:pt idx="116">
                  <c:v>146.872</c:v>
                </c:pt>
                <c:pt idx="117">
                  <c:v>147.709</c:v>
                </c:pt>
                <c:pt idx="118">
                  <c:v>148.546</c:v>
                </c:pt>
                <c:pt idx="119">
                  <c:v>149.38299999999998</c:v>
                </c:pt>
                <c:pt idx="120">
                  <c:v>150.22</c:v>
                </c:pt>
                <c:pt idx="121">
                  <c:v>151.057</c:v>
                </c:pt>
                <c:pt idx="122">
                  <c:v>151.894</c:v>
                </c:pt>
                <c:pt idx="123">
                  <c:v>152.731</c:v>
                </c:pt>
                <c:pt idx="124">
                  <c:v>153.56799999999998</c:v>
                </c:pt>
                <c:pt idx="125">
                  <c:v>154.405</c:v>
                </c:pt>
                <c:pt idx="126">
                  <c:v>155.242</c:v>
                </c:pt>
                <c:pt idx="127">
                  <c:v>156.079</c:v>
                </c:pt>
                <c:pt idx="128">
                  <c:v>156.916</c:v>
                </c:pt>
                <c:pt idx="129">
                  <c:v>157.753</c:v>
                </c:pt>
                <c:pt idx="130">
                  <c:v>158.59</c:v>
                </c:pt>
                <c:pt idx="131">
                  <c:v>159.427</c:v>
                </c:pt>
                <c:pt idx="132">
                  <c:v>160.264</c:v>
                </c:pt>
                <c:pt idx="133">
                  <c:v>161.101</c:v>
                </c:pt>
                <c:pt idx="134">
                  <c:v>161.938</c:v>
                </c:pt>
                <c:pt idx="135">
                  <c:v>162.775</c:v>
                </c:pt>
                <c:pt idx="136">
                  <c:v>163.612</c:v>
                </c:pt>
                <c:pt idx="137">
                  <c:v>164.449</c:v>
                </c:pt>
                <c:pt idx="138">
                  <c:v>165.286</c:v>
                </c:pt>
                <c:pt idx="139">
                  <c:v>166.123</c:v>
                </c:pt>
                <c:pt idx="140">
                  <c:v>166.95999999999998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Basket</c:v>
                </c:pt>
              </c:strCache>
            </c:strRef>
          </c:tx>
          <c:spPr>
            <a:solidFill>
              <a:srgbClr val="A6A6A6"/>
            </a:solidFill>
            <a:ln w="25400" cap="flat">
              <a:solidFill>
                <a:srgbClr val="A6A6A6"/>
              </a:solidFill>
              <a:prstDash val="solid"/>
              <a:round/>
            </a:ln>
            <a:effectLst/>
          </c:spPr>
          <c:marker>
            <c:symbol val="none"/>
            <c:size val="6"/>
            <c:spPr>
              <a:solidFill>
                <a:srgbClr val="A6A6A6"/>
              </a:solidFill>
              <a:ln w="9525" cap="flat">
                <a:solidFill>
                  <a:srgbClr val="A6A6A6"/>
                </a:solidFill>
                <a:prstDash val="solid"/>
                <a:round/>
              </a:ln>
              <a:effectLst/>
            </c:spPr>
          </c:marker>
          <c:xVal>
            <c:numRef>
              <c:f>Sheet1!$A$2:$A$142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xVal>
          <c:yVal>
            <c:numRef>
              <c:f>Sheet1!$E$2:$E$142</c:f>
              <c:numCache>
                <c:formatCode>General</c:formatCode>
                <c:ptCount val="141"/>
                <c:pt idx="0">
                  <c:v>40</c:v>
                </c:pt>
                <c:pt idx="1">
                  <c:v>41</c:v>
                </c:pt>
                <c:pt idx="2">
                  <c:v>42</c:v>
                </c:pt>
                <c:pt idx="3">
                  <c:v>43</c:v>
                </c:pt>
                <c:pt idx="4">
                  <c:v>44</c:v>
                </c:pt>
                <c:pt idx="5">
                  <c:v>45</c:v>
                </c:pt>
                <c:pt idx="6">
                  <c:v>46</c:v>
                </c:pt>
                <c:pt idx="7">
                  <c:v>47</c:v>
                </c:pt>
                <c:pt idx="8">
                  <c:v>48</c:v>
                </c:pt>
                <c:pt idx="9">
                  <c:v>49</c:v>
                </c:pt>
                <c:pt idx="10">
                  <c:v>50</c:v>
                </c:pt>
                <c:pt idx="11">
                  <c:v>51</c:v>
                </c:pt>
                <c:pt idx="12">
                  <c:v>52</c:v>
                </c:pt>
                <c:pt idx="13">
                  <c:v>53</c:v>
                </c:pt>
                <c:pt idx="14">
                  <c:v>54</c:v>
                </c:pt>
                <c:pt idx="15">
                  <c:v>55</c:v>
                </c:pt>
                <c:pt idx="16">
                  <c:v>56</c:v>
                </c:pt>
                <c:pt idx="17">
                  <c:v>57</c:v>
                </c:pt>
                <c:pt idx="18">
                  <c:v>58</c:v>
                </c:pt>
                <c:pt idx="19">
                  <c:v>59</c:v>
                </c:pt>
                <c:pt idx="20">
                  <c:v>60</c:v>
                </c:pt>
                <c:pt idx="21">
                  <c:v>61</c:v>
                </c:pt>
                <c:pt idx="22">
                  <c:v>62</c:v>
                </c:pt>
                <c:pt idx="23">
                  <c:v>63</c:v>
                </c:pt>
                <c:pt idx="24">
                  <c:v>64</c:v>
                </c:pt>
                <c:pt idx="25">
                  <c:v>65</c:v>
                </c:pt>
                <c:pt idx="26">
                  <c:v>66</c:v>
                </c:pt>
                <c:pt idx="27">
                  <c:v>67</c:v>
                </c:pt>
                <c:pt idx="28">
                  <c:v>68</c:v>
                </c:pt>
                <c:pt idx="29">
                  <c:v>69</c:v>
                </c:pt>
                <c:pt idx="30">
                  <c:v>70</c:v>
                </c:pt>
                <c:pt idx="31">
                  <c:v>71</c:v>
                </c:pt>
                <c:pt idx="32">
                  <c:v>72</c:v>
                </c:pt>
                <c:pt idx="33">
                  <c:v>73</c:v>
                </c:pt>
                <c:pt idx="34">
                  <c:v>74</c:v>
                </c:pt>
                <c:pt idx="35">
                  <c:v>75</c:v>
                </c:pt>
                <c:pt idx="36">
                  <c:v>76</c:v>
                </c:pt>
                <c:pt idx="37">
                  <c:v>77</c:v>
                </c:pt>
                <c:pt idx="38">
                  <c:v>78</c:v>
                </c:pt>
                <c:pt idx="39">
                  <c:v>79</c:v>
                </c:pt>
                <c:pt idx="40">
                  <c:v>80</c:v>
                </c:pt>
                <c:pt idx="41">
                  <c:v>81</c:v>
                </c:pt>
                <c:pt idx="42">
                  <c:v>82</c:v>
                </c:pt>
                <c:pt idx="43">
                  <c:v>83</c:v>
                </c:pt>
                <c:pt idx="44">
                  <c:v>84</c:v>
                </c:pt>
                <c:pt idx="45">
                  <c:v>85</c:v>
                </c:pt>
                <c:pt idx="46">
                  <c:v>86</c:v>
                </c:pt>
                <c:pt idx="47">
                  <c:v>87</c:v>
                </c:pt>
                <c:pt idx="48">
                  <c:v>88</c:v>
                </c:pt>
                <c:pt idx="49">
                  <c:v>89</c:v>
                </c:pt>
                <c:pt idx="50">
                  <c:v>90</c:v>
                </c:pt>
                <c:pt idx="51">
                  <c:v>91</c:v>
                </c:pt>
                <c:pt idx="52">
                  <c:v>92</c:v>
                </c:pt>
                <c:pt idx="53">
                  <c:v>93</c:v>
                </c:pt>
                <c:pt idx="54">
                  <c:v>94</c:v>
                </c:pt>
                <c:pt idx="55">
                  <c:v>95</c:v>
                </c:pt>
                <c:pt idx="56">
                  <c:v>96</c:v>
                </c:pt>
                <c:pt idx="57">
                  <c:v>97</c:v>
                </c:pt>
                <c:pt idx="58">
                  <c:v>98</c:v>
                </c:pt>
                <c:pt idx="59">
                  <c:v>99</c:v>
                </c:pt>
                <c:pt idx="60">
                  <c:v>100</c:v>
                </c:pt>
                <c:pt idx="61">
                  <c:v>101</c:v>
                </c:pt>
                <c:pt idx="62">
                  <c:v>102</c:v>
                </c:pt>
                <c:pt idx="63">
                  <c:v>103</c:v>
                </c:pt>
                <c:pt idx="64">
                  <c:v>104</c:v>
                </c:pt>
                <c:pt idx="65">
                  <c:v>105</c:v>
                </c:pt>
                <c:pt idx="66">
                  <c:v>106</c:v>
                </c:pt>
                <c:pt idx="67">
                  <c:v>107</c:v>
                </c:pt>
                <c:pt idx="68">
                  <c:v>108</c:v>
                </c:pt>
                <c:pt idx="69">
                  <c:v>109</c:v>
                </c:pt>
                <c:pt idx="70">
                  <c:v>110</c:v>
                </c:pt>
                <c:pt idx="71">
                  <c:v>111</c:v>
                </c:pt>
                <c:pt idx="72">
                  <c:v>112</c:v>
                </c:pt>
                <c:pt idx="73">
                  <c:v>113</c:v>
                </c:pt>
                <c:pt idx="74">
                  <c:v>114</c:v>
                </c:pt>
                <c:pt idx="75">
                  <c:v>115</c:v>
                </c:pt>
                <c:pt idx="76">
                  <c:v>116</c:v>
                </c:pt>
                <c:pt idx="77">
                  <c:v>117</c:v>
                </c:pt>
                <c:pt idx="78">
                  <c:v>118</c:v>
                </c:pt>
                <c:pt idx="79">
                  <c:v>119</c:v>
                </c:pt>
                <c:pt idx="80">
                  <c:v>120</c:v>
                </c:pt>
                <c:pt idx="81">
                  <c:v>121</c:v>
                </c:pt>
                <c:pt idx="82">
                  <c:v>122</c:v>
                </c:pt>
                <c:pt idx="83">
                  <c:v>123</c:v>
                </c:pt>
                <c:pt idx="84">
                  <c:v>124</c:v>
                </c:pt>
                <c:pt idx="85">
                  <c:v>125</c:v>
                </c:pt>
                <c:pt idx="86">
                  <c:v>126</c:v>
                </c:pt>
                <c:pt idx="87">
                  <c:v>127</c:v>
                </c:pt>
                <c:pt idx="88">
                  <c:v>128</c:v>
                </c:pt>
                <c:pt idx="89">
                  <c:v>129</c:v>
                </c:pt>
                <c:pt idx="90">
                  <c:v>130</c:v>
                </c:pt>
                <c:pt idx="91">
                  <c:v>131</c:v>
                </c:pt>
                <c:pt idx="92">
                  <c:v>132</c:v>
                </c:pt>
                <c:pt idx="93">
                  <c:v>133</c:v>
                </c:pt>
                <c:pt idx="94">
                  <c:v>134</c:v>
                </c:pt>
                <c:pt idx="95">
                  <c:v>135</c:v>
                </c:pt>
                <c:pt idx="96">
                  <c:v>136</c:v>
                </c:pt>
                <c:pt idx="97">
                  <c:v>137</c:v>
                </c:pt>
                <c:pt idx="98">
                  <c:v>138</c:v>
                </c:pt>
                <c:pt idx="99">
                  <c:v>139</c:v>
                </c:pt>
                <c:pt idx="100">
                  <c:v>140</c:v>
                </c:pt>
                <c:pt idx="101">
                  <c:v>141</c:v>
                </c:pt>
                <c:pt idx="102">
                  <c:v>142</c:v>
                </c:pt>
                <c:pt idx="103">
                  <c:v>143</c:v>
                </c:pt>
                <c:pt idx="104">
                  <c:v>144</c:v>
                </c:pt>
                <c:pt idx="105">
                  <c:v>145</c:v>
                </c:pt>
                <c:pt idx="106">
                  <c:v>146</c:v>
                </c:pt>
                <c:pt idx="107">
                  <c:v>147</c:v>
                </c:pt>
                <c:pt idx="108">
                  <c:v>148</c:v>
                </c:pt>
                <c:pt idx="109">
                  <c:v>149</c:v>
                </c:pt>
                <c:pt idx="110">
                  <c:v>150</c:v>
                </c:pt>
                <c:pt idx="111">
                  <c:v>151</c:v>
                </c:pt>
                <c:pt idx="112">
                  <c:v>152</c:v>
                </c:pt>
                <c:pt idx="113">
                  <c:v>153</c:v>
                </c:pt>
                <c:pt idx="114">
                  <c:v>154</c:v>
                </c:pt>
                <c:pt idx="115">
                  <c:v>155</c:v>
                </c:pt>
                <c:pt idx="116">
                  <c:v>156</c:v>
                </c:pt>
                <c:pt idx="117">
                  <c:v>157</c:v>
                </c:pt>
                <c:pt idx="118">
                  <c:v>158</c:v>
                </c:pt>
                <c:pt idx="119">
                  <c:v>159</c:v>
                </c:pt>
                <c:pt idx="120">
                  <c:v>160</c:v>
                </c:pt>
                <c:pt idx="121">
                  <c:v>161</c:v>
                </c:pt>
                <c:pt idx="122">
                  <c:v>162</c:v>
                </c:pt>
                <c:pt idx="123">
                  <c:v>163</c:v>
                </c:pt>
                <c:pt idx="124">
                  <c:v>164</c:v>
                </c:pt>
                <c:pt idx="125">
                  <c:v>165</c:v>
                </c:pt>
                <c:pt idx="126">
                  <c:v>166</c:v>
                </c:pt>
                <c:pt idx="127">
                  <c:v>167</c:v>
                </c:pt>
                <c:pt idx="128">
                  <c:v>168</c:v>
                </c:pt>
                <c:pt idx="129">
                  <c:v>169</c:v>
                </c:pt>
                <c:pt idx="130">
                  <c:v>170</c:v>
                </c:pt>
                <c:pt idx="131">
                  <c:v>171</c:v>
                </c:pt>
                <c:pt idx="132">
                  <c:v>172</c:v>
                </c:pt>
                <c:pt idx="133">
                  <c:v>173</c:v>
                </c:pt>
                <c:pt idx="134">
                  <c:v>174</c:v>
                </c:pt>
                <c:pt idx="135">
                  <c:v>175</c:v>
                </c:pt>
                <c:pt idx="136">
                  <c:v>176</c:v>
                </c:pt>
                <c:pt idx="137">
                  <c:v>177</c:v>
                </c:pt>
                <c:pt idx="138">
                  <c:v>178</c:v>
                </c:pt>
                <c:pt idx="139">
                  <c:v>179</c:v>
                </c:pt>
                <c:pt idx="140">
                  <c:v>180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180"/>
          <c:min val="40"/>
        </c:scaling>
        <c:delete val="0"/>
        <c:axPos val="b"/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A6A6A6"/>
            </a:solidFill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majorUnit val="20"/>
      </c:valAx>
      <c:valAx>
        <c:axId val="2094734552"/>
        <c:scaling>
          <c:orientation val="minMax"/>
          <c:max val="190"/>
          <c:min val="3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30" b="0" i="0" u="none" strike="noStrike">
                <a:solidFill>
                  <a:srgbClr val="59595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80">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One-line pitch: a buffered autocallable on five Asian ETFs covering the AI-hardware supply chain (pan-Asian and Japanese semiconductors, Taiwan, Korea) plus an ESG sleeve. It pays a coupon whenever the basket is at or above its starting level and catches up any missed coupons. At maturity the family gets 100% back unless the basket has fallen more than 30%; even then an embedded 70% put returns 70%, so the loss is capped at 30%.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summary (does not count toward the 10-slide limit).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 needs translate one-for-one into design features. The key insight: this is legacy money. The family wants growth and Asian tech exposure, but the first rule is to never suffer a large loss. That points us to an autocallable with a 30% buffer and a hard 70% floor, paying a double-digit coupon that rewards recovery and is never lost, thanks to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arguments. (1) Structural: AI spending flows straight into Asian semiconductors: Taiwan makes the chips, Korea the memory, Japan the chip-making tools, plus an ESG-screened Taiwan sleeve. (2) Structuring: high USD rates make the principal cheap, Asian volatility makes the 100% coupon trigger likely to be hit, and a 70% put caps the downside, so we can pay a double-digit coupon with a hard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One-page thesis. Left: what we own. AI spending is a hardware boom and Asia holds the three bottlenecks: Taiwan's foundries, Korea's high-bandwidth memory, Japan's chip-making tools. Demand is structural, though the memory cycle is maturing. Right: why we hold it through an autocall now. The Fed's dot plot keeps rates high until 2028, so long bonds carry rate risk and a capital floor is cheap; volatility is at records, so buy-and-hold must sit through violent swings while autocall coupons pay on recovery and are funded by option premium; the theme is concentrated and fully priced, so a diversified basket and a capped upside cost little.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Bloomberg-listed ETFs: 3119 HK (Asia semiconductors), 2644 JP (Japan semiconductors), EWT and EWY (US-listed Taiwan and Korea country funds) and 00878 TT (Taiwan ESG high dividend). EWT and EWY trade in USD, so no quanto is needed; the HKD, JPY and TWD lines are quantoed into USD. Check: 3119 trading value against the USD 5M/day rule, 2644 top holdings, and 00878 distributions (~7.6% a year), which reduce its price-return path and so the chance of the basket getting back to 100%.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table is the key design argument. Full protection is safe but pays under 8%. Removing all protection pays more but exposes the family to the whole drawdown in a crash. Our design sits between: the family accepts the first 30% of loss below the barrier risk only in a deep fall, and Natixis embeds a 70% put so the worst case is 70% back. The put costs a little over 2 points of coupon, which is the price of the hard floor.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note as one question asked every quarter: is the basket at or above where it started? If yes, the family is paid 2.56% for that quarter plus any coupons missed before, and from Year 1 the note also ends with 100% back. If the note is never called, the payoff chart shows three zones at Year 5: at or above 100% the family receives 151.3%; between 70% and 100% it gets 100% back; below 70% the embedded put pays 70%, so the loss stops at 30%.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five scenarios. The 2022-style path is the key one: a 30% drawdown in the first year that would scare a direct investor, yet the note pays all 15 quarterly coupons at once when the basket recovers at Q15. The two bad paths show the two layers of protection: at −12% the 30% buffer returns 100%; at −45% the embedded put returns 70%, so the family loses 30% instead of 45%.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table answers 'what if markets go nowhere?'. Even at 0% equity return the note is called in ~68% of paths, because volatility alone takes the basket back to 100% on some date. The honest cost of the higher coupon: in ~16% of paths (risk-neutral; 11% at 8% equity returns) the basket ends below 70% and the family gets 70% back, but never 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 risks on the left, desk hedges on the right. The capital-loss line is explicit: below 70% at maturity the family loses 30%, never more. The other honest risks are capped upside and Natixis credit. The 10.25% coupon sits below the 11.1% fair level in every sensitivity we ran, so the offer is robust to market moves before the trade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Mini-charts show each leg's payoff against the basket level (the autocall leg is illustrative: it shows the remaining coupon stream switching off). The put pair is the key: like a classic autocall, the client sells a put at the 70% barrier, which funds the double-digit coupon; unlike a classic autocall, the note buys a 70% put back, so below 70% the loss is a fixed 30% instead of the whole fall. Together they are a 30% digital put struck at 70%, observed only at maturity.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7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chart" Target="/ppt/charts/chart9.xml"/><Relationship Id="rId3" Type="http://schemas.openxmlformats.org/officeDocument/2006/relationships/chart" Target="/ppt/charts/chart10.xml"/><Relationship Id="rId4" Type="http://schemas.openxmlformats.org/officeDocument/2006/relationships/chart" Target="/ppt/charts/chart11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0" y="-1280160"/>
            <a:ext cx="4937760" cy="4937760"/>
          </a:xfrm>
          <a:prstGeom prst="ellipse">
            <a:avLst/>
          </a:prstGeom>
          <a:solidFill>
            <a:srgbClr val="2C5F82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3200400"/>
            <a:ext cx="2194560" cy="2194560"/>
          </a:xfrm>
          <a:prstGeom prst="ellipse">
            <a:avLst/>
          </a:prstGeom>
          <a:solidFill>
            <a:srgbClr val="8DB3D1">
              <a:alpha val="7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54864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BFD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Strategy Challenge 2026 · Proposal for NKE Private Wealth (Chak family)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960120"/>
            <a:ext cx="5669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Asian Digital Transformation Autocallable Note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43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E3F1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10.25% a year from Asia's semiconductor build-out, with at least 70% of capital back whatever happens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0690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FD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100mn · 5-year note issued by Natixis · 10.25% p.a. memory coupon · 70% barrier + embedded 70% put · Trade date 17 Sep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650" dirty="0"/>
          </a:p>
        </p:txBody>
      </p:sp>
      <p:sp>
        <p:nvSpPr>
          <p:cNvPr id="3" name="Shape 1"/>
          <p:cNvSpPr/>
          <p:nvPr/>
        </p:nvSpPr>
        <p:spPr>
          <a:xfrm>
            <a:off x="342900" y="672084"/>
            <a:ext cx="84582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915543"/>
            <a:ext cx="457200" cy="445770"/>
          </a:xfrm>
          <a:prstGeom prst="ellipse">
            <a:avLst/>
          </a:prstGeom>
          <a:solidFill>
            <a:srgbClr val="2C5F8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915543"/>
            <a:ext cx="4572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870966"/>
            <a:ext cx="457200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&amp; market</a:t>
            </a:r>
            <a:endParaRPr lang="en-US" sz="147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165174"/>
            <a:ext cx="640080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Chak family is, what they need, and why Asia's digital build-out now</a:t>
            </a:r>
            <a:endParaRPr lang="en-US" sz="106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942289"/>
            <a:ext cx="137160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1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1–2</a:t>
            </a:r>
            <a:endParaRPr lang="en-US" sz="1010" dirty="0"/>
          </a:p>
        </p:txBody>
      </p:sp>
      <p:sp>
        <p:nvSpPr>
          <p:cNvPr id="9" name="Shape 7"/>
          <p:cNvSpPr/>
          <p:nvPr/>
        </p:nvSpPr>
        <p:spPr>
          <a:xfrm>
            <a:off x="548640" y="1539621"/>
            <a:ext cx="457200" cy="445770"/>
          </a:xfrm>
          <a:prstGeom prst="ellipse">
            <a:avLst/>
          </a:prstGeom>
          <a:solidFill>
            <a:srgbClr val="4F86A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539621"/>
            <a:ext cx="4572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1495044"/>
            <a:ext cx="457200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 &amp; strategy</a:t>
            </a:r>
            <a:endParaRPr lang="en-US" sz="147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789252"/>
            <a:ext cx="640080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Asian AI hardware, why an autocall now, and why our five-ETF weights</a:t>
            </a:r>
            <a:endParaRPr lang="en-US" sz="106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1566367"/>
            <a:ext cx="137160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1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3–4</a:t>
            </a:r>
            <a:endParaRPr lang="en-US" sz="1010" dirty="0"/>
          </a:p>
        </p:txBody>
      </p:sp>
      <p:sp>
        <p:nvSpPr>
          <p:cNvPr id="14" name="Shape 12"/>
          <p:cNvSpPr/>
          <p:nvPr/>
        </p:nvSpPr>
        <p:spPr>
          <a:xfrm>
            <a:off x="548640" y="2163699"/>
            <a:ext cx="457200" cy="445770"/>
          </a:xfrm>
          <a:prstGeom prst="ellipse">
            <a:avLst/>
          </a:prstGeom>
          <a:solidFill>
            <a:srgbClr val="2C5F8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163699"/>
            <a:ext cx="4572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119122"/>
            <a:ext cx="457200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design</a:t>
            </a:r>
            <a:endParaRPr lang="en-US" sz="147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413330"/>
            <a:ext cx="640080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Underlying basket, term sheet, and why a buffered autocallable (70% barrier + 70% put)</a:t>
            </a:r>
            <a:endParaRPr lang="en-US" sz="106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2190445"/>
            <a:ext cx="137160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1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5–6</a:t>
            </a:r>
            <a:endParaRPr lang="en-US" sz="1010" dirty="0"/>
          </a:p>
        </p:txBody>
      </p:sp>
      <p:sp>
        <p:nvSpPr>
          <p:cNvPr id="19" name="Shape 17"/>
          <p:cNvSpPr/>
          <p:nvPr/>
        </p:nvSpPr>
        <p:spPr>
          <a:xfrm>
            <a:off x="548640" y="2787777"/>
            <a:ext cx="457200" cy="445770"/>
          </a:xfrm>
          <a:prstGeom prst="ellipse">
            <a:avLst/>
          </a:prstGeom>
          <a:solidFill>
            <a:srgbClr val="4F86A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2787777"/>
            <a:ext cx="4572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2743200"/>
            <a:ext cx="457200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Payoffs explained</a:t>
            </a:r>
            <a:endParaRPr lang="en-US" sz="147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037408"/>
            <a:ext cx="640080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 timeline and the three outcomes at maturity (building blocks in the appendix)</a:t>
            </a:r>
            <a:endParaRPr lang="en-US" sz="106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2814523"/>
            <a:ext cx="137160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1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</a:t>
            </a:r>
            <a:endParaRPr lang="en-US" sz="1010" dirty="0"/>
          </a:p>
        </p:txBody>
      </p:sp>
      <p:sp>
        <p:nvSpPr>
          <p:cNvPr id="24" name="Shape 22"/>
          <p:cNvSpPr/>
          <p:nvPr/>
        </p:nvSpPr>
        <p:spPr>
          <a:xfrm>
            <a:off x="548640" y="3411855"/>
            <a:ext cx="457200" cy="445770"/>
          </a:xfrm>
          <a:prstGeom prst="ellipse">
            <a:avLst/>
          </a:prstGeom>
          <a:solidFill>
            <a:srgbClr val="2C5F8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11855"/>
            <a:ext cx="4572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3367278"/>
            <a:ext cx="457200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Scenarios &amp; back-testing</a:t>
            </a:r>
            <a:endParaRPr lang="en-US" sz="147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3661486"/>
            <a:ext cx="640080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paths and Monte Carlo outcome distributions</a:t>
            </a:r>
            <a:endParaRPr lang="en-US" sz="106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3438601"/>
            <a:ext cx="137160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1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8–9</a:t>
            </a:r>
            <a:endParaRPr lang="en-US" sz="1010" dirty="0"/>
          </a:p>
        </p:txBody>
      </p:sp>
      <p:sp>
        <p:nvSpPr>
          <p:cNvPr id="29" name="Shape 27"/>
          <p:cNvSpPr/>
          <p:nvPr/>
        </p:nvSpPr>
        <p:spPr>
          <a:xfrm>
            <a:off x="548640" y="4035933"/>
            <a:ext cx="457200" cy="445770"/>
          </a:xfrm>
          <a:prstGeom prst="ellipse">
            <a:avLst/>
          </a:prstGeom>
          <a:solidFill>
            <a:srgbClr val="4F86A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4035933"/>
            <a:ext cx="4572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234440" y="3991356"/>
            <a:ext cx="457200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&amp; hedging</a:t>
            </a:r>
            <a:endParaRPr lang="en-US" sz="1470" dirty="0"/>
          </a:p>
        </p:txBody>
      </p:sp>
      <p:sp>
        <p:nvSpPr>
          <p:cNvPr id="32" name="Text 30"/>
          <p:cNvSpPr txBox="1"/>
          <p:nvPr/>
        </p:nvSpPr>
        <p:spPr>
          <a:xfrm>
            <a:off x="1234440" y="4285564"/>
            <a:ext cx="640080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 risks, mitigants, and how the Natixis desk hedges</a:t>
            </a:r>
            <a:endParaRPr lang="en-US" sz="1060" dirty="0"/>
          </a:p>
        </p:txBody>
      </p:sp>
      <p:sp>
        <p:nvSpPr>
          <p:cNvPr id="33" name="Text 31"/>
          <p:cNvSpPr txBox="1"/>
          <p:nvPr/>
        </p:nvSpPr>
        <p:spPr>
          <a:xfrm>
            <a:off x="7315200" y="4062679"/>
            <a:ext cx="137160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1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</a:t>
            </a:r>
            <a:endParaRPr lang="en-US" sz="101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650" dirty="0"/>
          </a:p>
        </p:txBody>
      </p:sp>
      <p:sp>
        <p:nvSpPr>
          <p:cNvPr id="3" name="Shape 1"/>
          <p:cNvSpPr/>
          <p:nvPr/>
        </p:nvSpPr>
        <p:spPr>
          <a:xfrm>
            <a:off x="342900" y="672084"/>
            <a:ext cx="84582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42900" y="717804"/>
            <a:ext cx="8458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note that turns the family's operating expertise into double-digit income with a capped downside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38428"/>
            <a:ext cx="2606040" cy="2050542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254328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10.25%</a:t>
            </a:r>
            <a:endParaRPr lang="en-US" sz="35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985391"/>
            <a:ext cx="224028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coupon p.a.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297430"/>
            <a:ext cx="224028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2.56% each quarter the basket is ≥ 100%; missed coupons are paid later when it recovers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3246120" y="1138428"/>
            <a:ext cx="2606040" cy="2050542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254328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35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1985391"/>
            <a:ext cx="224028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repayment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2297430"/>
            <a:ext cx="224028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back unless the basket ends below 70%; then the embedded put still pays 70%. Maximum loss 30% (plus Natixis credit)</a:t>
            </a:r>
            <a:endParaRPr lang="en-US" sz="970" dirty="0"/>
          </a:p>
        </p:txBody>
      </p:sp>
      <p:sp>
        <p:nvSpPr>
          <p:cNvPr id="13" name="Shape 11"/>
          <p:cNvSpPr/>
          <p:nvPr/>
        </p:nvSpPr>
        <p:spPr>
          <a:xfrm>
            <a:off x="6035040" y="1138428"/>
            <a:ext cx="2606040" cy="2050542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6208" y="1254328"/>
            <a:ext cx="2240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49%</a:t>
            </a:r>
            <a:endParaRPr lang="en-US" sz="35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1985391"/>
            <a:ext cx="224028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 at first review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36208" y="2297430"/>
            <a:ext cx="224028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Risk-neutral. 79% called within 5 years; expected life 2.22 years</a:t>
            </a:r>
            <a:endParaRPr lang="en-US" sz="97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367278"/>
            <a:ext cx="8229600" cy="1159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recommend </a:t>
            </a:r>
            <a:pPr indent="0" marL="0">
              <a:buNone/>
            </a:pPr>
            <a:r>
              <a:rPr lang="en-US" sz="106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USD 100mn, 5-year Natixis buffered autocallable note</a:t>
            </a:r>
            <a:pPr indent="0" marL="0">
              <a:buNone/>
            </a:pPr>
            <a:r>
              <a:rPr lang="en-US" sz="106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basket of five Bloomberg-listed Asian ETFs: Global X Asia Semiconductor (3119 HK) 35%, iShares MSCI South Korea (EWY) 20%, iShares MSCI Taiwan (EWT) 15%, Global X Japan Semiconductor (2644 JP) 15% and Cathay Taiwan ESG High Dividend (00878 TT) 15%. It gives the family the AI hardware layer (chips, memory and chip-making equipment) that complements, rather than duplicates, the infrastructure, power and property they already own. </a:t>
            </a:r>
            <a:pPr indent="0" marL="0">
              <a:buNone/>
            </a:pPr>
            <a:r>
              <a:rPr lang="en-US" sz="106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family earns 10.25% a year in the 79% of paths where the basket gets back to its starting level, gets 100% back if it ends anywhere above 70%, and never less than 70% (16% of paths, risk-neutral). Fair value is 97.1%, so issuing at par leaves Natixis 2.9% for hedging and margin.</a:t>
            </a:r>
            <a:endParaRPr lang="en-US" sz="10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4786884"/>
            <a:ext cx="84582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4380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family wants growth without putting the legacy at risk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42900" y="672084"/>
            <a:ext cx="84582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" y="717804"/>
            <a:ext cx="8458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diagnosis: third-generation dynasty, succession done, now allocating for legacy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093851"/>
            <a:ext cx="2606040" cy="2005965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1200836"/>
            <a:ext cx="228600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9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they are</a:t>
            </a:r>
            <a:endParaRPr lang="en-US" sz="129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539621"/>
            <a:ext cx="2286000" cy="1515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7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Single-family office: NKE Private Wealth</a:t>
            </a:r>
            <a:endParaRPr lang="en-US" sz="97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7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worth &gt; USD 2bn; mandate USD 100mn (~5%)</a:t>
            </a:r>
            <a:endParaRPr lang="en-US" sz="97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7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Businesses: tech infrastructure, renewable power plants, real estate in Japan and Greater China</a:t>
            </a:r>
            <a:endParaRPr lang="en-US" sz="970" dirty="0"/>
          </a:p>
        </p:txBody>
      </p:sp>
      <p:sp>
        <p:nvSpPr>
          <p:cNvPr id="13" name="Shape 11"/>
          <p:cNvSpPr/>
          <p:nvPr/>
        </p:nvSpPr>
        <p:spPr>
          <a:xfrm>
            <a:off x="3246120" y="1093851"/>
            <a:ext cx="2606040" cy="2005965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429000" y="1200836"/>
            <a:ext cx="228600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9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want</a:t>
            </a:r>
            <a:endParaRPr lang="en-US" sz="129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539621"/>
            <a:ext cx="2286000" cy="1515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7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appreciation for future generations</a:t>
            </a:r>
            <a:endParaRPr lang="en-US" sz="97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7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Meaningful exposure to Asia's digital transformation</a:t>
            </a:r>
            <a:endParaRPr lang="en-US" sz="97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7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bridge traditional Asian sectors with emerging tech they know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6035040" y="1093851"/>
            <a:ext cx="2606040" cy="2005965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1200836"/>
            <a:ext cx="2286000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90" b="1" dirty="0">
                <a:solidFill>
                  <a:srgbClr val="BFD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can bear</a:t>
            </a:r>
            <a:endParaRPr lang="en-US" sz="129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539621"/>
            <a:ext cx="2286000" cy="15156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Moderate risk: preserve the legacy first</a:t>
            </a:r>
            <a:endParaRPr lang="en-US" sz="97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5-year horizon; coupons can be reinvested</a:t>
            </a:r>
            <a:endParaRPr lang="en-US" sz="97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Accepts limited liquidity on 5% of wealth</a:t>
            </a:r>
            <a:endParaRPr lang="en-US" sz="97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Volatile backdrop: loss must be capped</a:t>
            </a:r>
            <a:endParaRPr lang="en-US" sz="97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33547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</a:tblGrid>
              <a:tr h="2407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need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 answer in our note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2407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appreciation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10.25% p.a. coupon, above the 5.69% 5Y USD funding rate, in every path that autocalls; proceeds roll into the next note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07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Exposure to Asian digital transformation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Semiconductor-heavy basket: the AI hardware layer behind the family's tech-infrastructure business (slide 5)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07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Generational preservation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 barrier plus embedded 70% put: maximum loss 30% at maturity; diversified basket (not worst-of); BPCE-backed issuer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07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Volatile markets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coupon: a missed coupon is paid when the basket recovers; a fall of up to 30% at maturity costs nothing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 txBox="1"/>
          <p:nvPr/>
        </p:nvSpPr>
        <p:spPr>
          <a:xfrm>
            <a:off x="8503920" y="4834890"/>
            <a:ext cx="2926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4786884"/>
            <a:ext cx="84582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54380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now: Asia builds the hardware of the AI economy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42900" y="672084"/>
            <a:ext cx="84582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" y="717804"/>
            <a:ext cx="8458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thesis: structural growth themes, and high rates and volatility that pay for a coupon with a floor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1093851"/>
            <a:ext cx="2377440" cy="124815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1227582"/>
            <a:ext cx="347472" cy="338785"/>
          </a:xfrm>
          <a:prstGeom prst="ellipse">
            <a:avLst/>
          </a:prstGeom>
          <a:solidFill>
            <a:srgbClr val="2C5F8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1227582"/>
            <a:ext cx="347472" cy="338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1227582"/>
            <a:ext cx="1737360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Taiwan: the AI foundry</a:t>
            </a:r>
            <a:endParaRPr lang="en-US" sz="106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1646606"/>
            <a:ext cx="2148840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and its supply chain make most of the world's advanced AI chips; Taiwan's index is dominated by semiconductors.</a:t>
            </a:r>
            <a:endParaRPr lang="en-US" sz="870" dirty="0"/>
          </a:p>
        </p:txBody>
      </p:sp>
      <p:sp>
        <p:nvSpPr>
          <p:cNvPr id="15" name="Shape 13"/>
          <p:cNvSpPr/>
          <p:nvPr/>
        </p:nvSpPr>
        <p:spPr>
          <a:xfrm>
            <a:off x="2971800" y="1093851"/>
            <a:ext cx="2377440" cy="124815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108960" y="1227582"/>
            <a:ext cx="347472" cy="338785"/>
          </a:xfrm>
          <a:prstGeom prst="ellipse">
            <a:avLst/>
          </a:prstGeom>
          <a:solidFill>
            <a:srgbClr val="2C5F8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108960" y="1227582"/>
            <a:ext cx="347472" cy="338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538728" y="1227582"/>
            <a:ext cx="1737360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Korea: memory for AI</a:t>
            </a:r>
            <a:endParaRPr lang="en-US" sz="106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1646606"/>
            <a:ext cx="2148840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and SK hynix supply the high-bandwidth memory every AI accelerator needs; together ~44% of EWY.</a:t>
            </a:r>
            <a:endParaRPr lang="en-US" sz="870" dirty="0"/>
          </a:p>
        </p:txBody>
      </p:sp>
      <p:sp>
        <p:nvSpPr>
          <p:cNvPr id="20" name="Shape 18"/>
          <p:cNvSpPr/>
          <p:nvPr/>
        </p:nvSpPr>
        <p:spPr>
          <a:xfrm>
            <a:off x="457200" y="2475738"/>
            <a:ext cx="2377440" cy="124815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2609469"/>
            <a:ext cx="347472" cy="338785"/>
          </a:xfrm>
          <a:prstGeom prst="ellipse">
            <a:avLst/>
          </a:prstGeom>
          <a:solidFill>
            <a:srgbClr val="2C5F8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2609469"/>
            <a:ext cx="347472" cy="338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" y="2609469"/>
            <a:ext cx="1737360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Japan: chip-making tools</a:t>
            </a:r>
            <a:endParaRPr lang="en-US" sz="106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028493"/>
            <a:ext cx="2148840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Tokyo Electron, Advantest and peers make the equipment and testers chip factories need, alongside TSE governance reforms.</a:t>
            </a:r>
            <a:endParaRPr lang="en-US" sz="870" dirty="0"/>
          </a:p>
        </p:txBody>
      </p:sp>
      <p:sp>
        <p:nvSpPr>
          <p:cNvPr id="25" name="Shape 23"/>
          <p:cNvSpPr/>
          <p:nvPr/>
        </p:nvSpPr>
        <p:spPr>
          <a:xfrm>
            <a:off x="2971800" y="2475738"/>
            <a:ext cx="2377440" cy="1248156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108960" y="2609469"/>
            <a:ext cx="347472" cy="338785"/>
          </a:xfrm>
          <a:prstGeom prst="ellipse">
            <a:avLst/>
          </a:prstGeom>
          <a:solidFill>
            <a:srgbClr val="2E9E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108960" y="2609469"/>
            <a:ext cx="347472" cy="3387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3538728" y="2609469"/>
            <a:ext cx="1737360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ESG sleeve</a:t>
            </a:r>
            <a:endParaRPr lang="en-US" sz="106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3028493"/>
            <a:ext cx="2148840" cy="668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00878 adds ESG-screened Taiwan leaders (MSCI ESG methodology) and a lower-volatility, high-dividend anchor to the basket.</a:t>
            </a:r>
            <a:endParaRPr lang="en-US" sz="87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623560" y="1049274"/>
          <a:ext cx="3063240" cy="19613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1" name="Shape 28"/>
          <p:cNvSpPr/>
          <p:nvPr/>
        </p:nvSpPr>
        <p:spPr>
          <a:xfrm>
            <a:off x="5623560" y="3099816"/>
            <a:ext cx="3063240" cy="1381887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760720" y="3188970"/>
            <a:ext cx="2788920" cy="1248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b="1" dirty="0">
                <a:solidFill>
                  <a:srgbClr val="BFD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curve means for structuring</a:t>
            </a:r>
            <a:endParaRPr lang="en-US" sz="920" dirty="0"/>
          </a:p>
          <a:p>
            <a:pPr indent="0" marL="0">
              <a:buNone/>
            </a:pPr>
            <a:r>
              <a:rPr lang="en-US" sz="9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USD rates make the principal cheap to fund (5Y zero-coupon 75.8%). Asian volatility (basket ~26%) makes the basket likely to revisit 100%, which pays the 10.25% coupon, and the embedded 70% put caps the loss at 30%.</a:t>
            </a:r>
            <a:endParaRPr lang="en-US" sz="920" dirty="0"/>
          </a:p>
        </p:txBody>
      </p:sp>
      <p:sp>
        <p:nvSpPr>
          <p:cNvPr id="33" name="Text 30"/>
          <p:cNvSpPr txBox="1"/>
          <p:nvPr/>
        </p:nvSpPr>
        <p:spPr>
          <a:xfrm>
            <a:off x="342900" y="4562856"/>
            <a:ext cx="8046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 is qualitative; index-level data to be refreshed on Bloomberg. Funding grid: Investment Strategy Challenge 2026 rules.</a:t>
            </a:r>
            <a:endParaRPr lang="en-US" sz="680" dirty="0"/>
          </a:p>
        </p:txBody>
      </p:sp>
      <p:sp>
        <p:nvSpPr>
          <p:cNvPr id="34" name="Text 31"/>
          <p:cNvSpPr txBox="1"/>
          <p:nvPr/>
        </p:nvSpPr>
        <p:spPr>
          <a:xfrm>
            <a:off x="8503920" y="4834890"/>
            <a:ext cx="2926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thesis: Monopolizing the AI Supply Chain via Structured Overlays</a:t>
            </a:r>
            <a:endParaRPr lang="en-US" sz="1650" dirty="0"/>
          </a:p>
        </p:txBody>
      </p:sp>
      <p:sp>
        <p:nvSpPr>
          <p:cNvPr id="3" name="Shape 1"/>
          <p:cNvSpPr/>
          <p:nvPr/>
        </p:nvSpPr>
        <p:spPr>
          <a:xfrm>
            <a:off x="342900" y="672084"/>
            <a:ext cx="8455914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2900" y="4786884"/>
            <a:ext cx="8455914" cy="0"/>
          </a:xfrm>
          <a:prstGeom prst="line">
            <a:avLst/>
          </a:prstGeom>
          <a:noFill/>
          <a:ln w="7144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4380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342900" y="713232"/>
            <a:ext cx="845591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9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own and why we wrap it: structural demand for Asian chips, memory and tools, held through a market of high rates, record volatility and concentrated, full prices</a:t>
            </a:r>
            <a:endParaRPr lang="en-US" sz="790" dirty="0"/>
          </a:p>
        </p:txBody>
      </p:sp>
      <p:sp>
        <p:nvSpPr>
          <p:cNvPr id="10" name="Shape 8"/>
          <p:cNvSpPr/>
          <p:nvPr/>
        </p:nvSpPr>
        <p:spPr>
          <a:xfrm>
            <a:off x="342900" y="973836"/>
            <a:ext cx="4114800" cy="28803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5770" y="973836"/>
            <a:ext cx="39090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Asia controls AI's hardware bottlenecks</a:t>
            </a:r>
            <a:endParaRPr lang="en-US" sz="94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342900" y="1316736"/>
          <a:ext cx="1851660" cy="140589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2297430" y="1357884"/>
            <a:ext cx="21259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1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Demand is structural</a:t>
            </a:r>
            <a:endParaRPr lang="en-US" sz="71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capex ~US$725bn in 2026 (+77%); the chip market nearly doubles to ~US$1.5trn.</a:t>
            </a:r>
            <a:endParaRPr lang="en-US" sz="71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1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moat runs through Asia</a:t>
            </a:r>
            <a:endParaRPr lang="en-US" sz="71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of the world's 10 largest companies depend on TSMC (J.P. Morgan).</a:t>
            </a:r>
            <a:endParaRPr lang="en-US" sz="71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1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…but the cycle is maturing</a:t>
            </a:r>
            <a:endParaRPr lang="en-US" sz="71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 price gains slowing: +48% in Q2, ~+13% expected in Q4 2026.</a:t>
            </a:r>
            <a:endParaRPr lang="en-US" sz="710" dirty="0"/>
          </a:p>
        </p:txBody>
      </p:sp>
      <p:sp>
        <p:nvSpPr>
          <p:cNvPr id="14" name="Shape 11"/>
          <p:cNvSpPr/>
          <p:nvPr/>
        </p:nvSpPr>
        <p:spPr>
          <a:xfrm>
            <a:off x="342900" y="2798064"/>
            <a:ext cx="4114800" cy="4114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42900" y="2798064"/>
            <a:ext cx="48006" cy="41148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25196" y="2798064"/>
            <a:ext cx="78867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~70%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1268730" y="2798064"/>
            <a:ext cx="31203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 makes the chips: </a:t>
            </a:r>
            <a:pPr indent="0" marL="0">
              <a:buNone/>
            </a:pPr>
            <a:r>
              <a:rPr lang="en-US" sz="71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global foundry revenue; TSMC &gt;40% of TAIEX</a:t>
            </a:r>
            <a:endParaRPr lang="en-US" sz="710" dirty="0"/>
          </a:p>
        </p:txBody>
      </p:sp>
      <p:sp>
        <p:nvSpPr>
          <p:cNvPr id="18" name="Shape 15"/>
          <p:cNvSpPr/>
          <p:nvPr/>
        </p:nvSpPr>
        <p:spPr>
          <a:xfrm>
            <a:off x="342900" y="3250692"/>
            <a:ext cx="41148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42900" y="3250692"/>
            <a:ext cx="48006" cy="41148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25196" y="3250692"/>
            <a:ext cx="78867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83%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268730" y="3250692"/>
            <a:ext cx="31203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 makes the memory: </a:t>
            </a:r>
            <a:pPr indent="0" marL="0">
              <a:buNone/>
            </a:pPr>
            <a:r>
              <a:rPr lang="en-US" sz="71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share of HBM, the memory every AI accelerator needs</a:t>
            </a:r>
            <a:endParaRPr lang="en-US" sz="710" dirty="0"/>
          </a:p>
        </p:txBody>
      </p:sp>
      <p:sp>
        <p:nvSpPr>
          <p:cNvPr id="22" name="Shape 19"/>
          <p:cNvSpPr/>
          <p:nvPr/>
        </p:nvSpPr>
        <p:spPr>
          <a:xfrm>
            <a:off x="342900" y="3703320"/>
            <a:ext cx="4114800" cy="41148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42900" y="3703320"/>
            <a:ext cx="48006" cy="41148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25196" y="3703320"/>
            <a:ext cx="78867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~55%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1268730" y="3703320"/>
            <a:ext cx="312039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Japan makes the tools: </a:t>
            </a:r>
            <a:pPr indent="0" marL="0">
              <a:buNone/>
            </a:pPr>
            <a:r>
              <a:rPr lang="en-US" sz="71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Advantest share of chip test equipment; with Tokyo Electron ≈ 20% of the Nikkei</a:t>
            </a:r>
            <a:endParaRPr lang="en-US" sz="710" dirty="0"/>
          </a:p>
        </p:txBody>
      </p:sp>
      <p:sp>
        <p:nvSpPr>
          <p:cNvPr id="26" name="Shape 23"/>
          <p:cNvSpPr/>
          <p:nvPr/>
        </p:nvSpPr>
        <p:spPr>
          <a:xfrm>
            <a:off x="4684014" y="973836"/>
            <a:ext cx="4114800" cy="28803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786884" y="973836"/>
            <a:ext cx="390906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8DB3D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9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punishes bonds and buy-and-hold</a:t>
            </a:r>
            <a:endParaRPr lang="en-US" sz="940" dirty="0"/>
          </a:p>
        </p:txBody>
      </p:sp>
      <p:pic>
        <p:nvPicPr>
          <p:cNvPr id="28" name="Image 0" descr="/home/user/natixis-case-comp/deck/fomc_dot_plot_co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4014" y="1337310"/>
            <a:ext cx="2468880" cy="87314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4684014" y="2228850"/>
            <a:ext cx="24688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FOMC dot plot, 16 Sep 2026 (shaded: today's 3.75–4.00%)</a:t>
            </a:r>
            <a:endParaRPr lang="en-US" sz="560" dirty="0"/>
          </a:p>
        </p:txBody>
      </p:sp>
      <p:sp>
        <p:nvSpPr>
          <p:cNvPr id="30" name="Text 26"/>
          <p:cNvSpPr txBox="1"/>
          <p:nvPr/>
        </p:nvSpPr>
        <p:spPr>
          <a:xfrm>
            <a:off x="7255764" y="1357884"/>
            <a:ext cx="154305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71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 stay high</a:t>
            </a:r>
            <a:endParaRPr lang="en-US" sz="71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 median 4.125% to end-2027, cuts only from 2028; 12 dots see 4.375%.</a:t>
            </a:r>
            <a:endParaRPr lang="en-US" sz="710" dirty="0"/>
          </a:p>
        </p:txBody>
      </p:sp>
      <p:sp>
        <p:nvSpPr>
          <p:cNvPr id="31" name="Shape 27"/>
          <p:cNvSpPr/>
          <p:nvPr/>
        </p:nvSpPr>
        <p:spPr>
          <a:xfrm>
            <a:off x="4684014" y="2400300"/>
            <a:ext cx="4114800" cy="52806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4684014" y="2400300"/>
            <a:ext cx="48006" cy="52806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766310" y="2400300"/>
            <a:ext cx="78867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−4.0%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5609844" y="2420874"/>
            <a:ext cx="3120390" cy="486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8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bonds carry rate risk: </a:t>
            </a:r>
            <a:pPr indent="0" marL="0">
              <a:spcAft>
                <a:spcPts val="100"/>
              </a:spcAft>
              <a:buNone/>
            </a:pPr>
            <a:r>
              <a:rPr lang="en-US" sz="6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5-year bond loses ~4.0% per 1% rise.</a:t>
            </a:r>
            <a:endParaRPr lang="en-US" sz="68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8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Redeems from year 1; USD 75.8 today buys USD 100 in 5 years, so a 70% floor fits</a:t>
            </a:r>
            <a:endParaRPr lang="en-US" sz="680" dirty="0"/>
          </a:p>
        </p:txBody>
      </p:sp>
      <p:sp>
        <p:nvSpPr>
          <p:cNvPr id="35" name="Shape 31"/>
          <p:cNvSpPr/>
          <p:nvPr/>
        </p:nvSpPr>
        <p:spPr>
          <a:xfrm>
            <a:off x="4684014" y="2969514"/>
            <a:ext cx="4114800" cy="52806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684014" y="2969514"/>
            <a:ext cx="48006" cy="528066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766310" y="2969514"/>
            <a:ext cx="78867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91.2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5609844" y="2990088"/>
            <a:ext cx="3120390" cy="486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8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Volatility is at records: </a:t>
            </a:r>
            <a:pPr indent="0" marL="0">
              <a:spcAft>
                <a:spcPts val="100"/>
              </a:spcAft>
              <a:buNone/>
            </a:pPr>
            <a:r>
              <a:rPr lang="en-US" sz="6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VKOSPI's all-time high; KOSPI fell ~25% from June to August 2026.</a:t>
            </a:r>
            <a:endParaRPr lang="en-US" sz="68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8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Coupons pay on recovery, no timing needed; rich option premium funds them</a:t>
            </a:r>
            <a:endParaRPr lang="en-US" sz="680" dirty="0"/>
          </a:p>
        </p:txBody>
      </p:sp>
      <p:sp>
        <p:nvSpPr>
          <p:cNvPr id="39" name="Shape 35"/>
          <p:cNvSpPr/>
          <p:nvPr/>
        </p:nvSpPr>
        <p:spPr>
          <a:xfrm>
            <a:off x="4684014" y="3538728"/>
            <a:ext cx="4114800" cy="52806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4684014" y="3538728"/>
            <a:ext cx="48006" cy="528066"/>
          </a:xfrm>
          <a:prstGeom prst="rect">
            <a:avLst/>
          </a:prstGeom>
          <a:solidFill>
            <a:srgbClr val="B23B3B"/>
          </a:solidFill>
          <a:ln w="12700">
            <a:solidFill>
              <a:srgbClr val="B23B3B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4766310" y="3538728"/>
            <a:ext cx="78867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~92%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5609844" y="3559302"/>
            <a:ext cx="3120390" cy="4869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"/>
              </a:spcAft>
              <a:buNone/>
            </a:pPr>
            <a:r>
              <a:rPr lang="en-US" sz="68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and fully priced: </a:t>
            </a:r>
            <a:pPr indent="0" marL="0">
              <a:spcAft>
                <a:spcPts val="100"/>
              </a:spcAft>
              <a:buNone/>
            </a:pPr>
            <a:r>
              <a:rPr lang="en-US" sz="6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advanced chips come from Taiwan; Nikkei CAPE 38.6×.</a:t>
            </a:r>
            <a:endParaRPr lang="en-US" sz="68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68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Diversified five-ETF basket; capping upside at the coupon costs little</a:t>
            </a:r>
            <a:endParaRPr lang="en-US" sz="680" dirty="0"/>
          </a:p>
        </p:txBody>
      </p:sp>
      <p:sp>
        <p:nvSpPr>
          <p:cNvPr id="43" name="Shape 39"/>
          <p:cNvSpPr/>
          <p:nvPr/>
        </p:nvSpPr>
        <p:spPr>
          <a:xfrm>
            <a:off x="342900" y="4155948"/>
            <a:ext cx="8455914" cy="3429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445770" y="4155948"/>
            <a:ext cx="82501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Whichever AI company wins, it needs Asia's chips, memory and tools. In 2026's market, the way to own them is an autocall with a 30% buffer and a 70% floor.</a:t>
            </a:r>
            <a:endParaRPr lang="en-US" sz="860" dirty="0"/>
          </a:p>
        </p:txBody>
      </p:sp>
      <p:sp>
        <p:nvSpPr>
          <p:cNvPr id="45" name="Text 41"/>
          <p:cNvSpPr txBox="1"/>
          <p:nvPr/>
        </p:nvSpPr>
        <p:spPr>
          <a:xfrm>
            <a:off x="342900" y="4526280"/>
            <a:ext cx="84559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WSTS; company capex guidance; Counterpoint (foundry, HBM); TrendForce (DRAM); industry research (test equipment); J.P. Morgan AWM 2026 Outlook; Federal Reserve SEP (16 Sep 2026, dots read from chart); Herald / SBS (VKOSPI); FN News, BIT Research (KOSPI); Siblis (CAPE); case USD funding grid. Full list: deck/thesis_sources.md.</a:t>
            </a:r>
            <a:endParaRPr lang="en-US" sz="560" dirty="0"/>
          </a:p>
        </p:txBody>
      </p:sp>
      <p:sp>
        <p:nvSpPr>
          <p:cNvPr id="47" name="Text 42"/>
          <p:cNvSpPr txBox="1"/>
          <p:nvPr/>
        </p:nvSpPr>
        <p:spPr>
          <a:xfrm>
            <a:off x="8503920" y="4834890"/>
            <a:ext cx="2926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Strategy: our five-ETF basket sits at the low-risk edge of every possible mix</a:t>
            </a:r>
            <a:endParaRPr lang="en-US" sz="1650" dirty="0"/>
          </a:p>
        </p:txBody>
      </p:sp>
      <p:sp>
        <p:nvSpPr>
          <p:cNvPr id="3" name="Shape 1"/>
          <p:cNvSpPr/>
          <p:nvPr/>
        </p:nvSpPr>
        <p:spPr>
          <a:xfrm>
            <a:off x="342900" y="672084"/>
            <a:ext cx="8455914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2900" y="4786884"/>
            <a:ext cx="8455914" cy="0"/>
          </a:xfrm>
          <a:prstGeom prst="line">
            <a:avLst/>
          </a:prstGeom>
          <a:noFill/>
          <a:ln w="7144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627882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342900" y="726948"/>
            <a:ext cx="8455914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100mn across five Bloomberg-listed ETFs; our weights (red star) deliver ~26% expected return for only ~17% volatility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342900" y="994410"/>
            <a:ext cx="2571750" cy="24688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" y="994410"/>
            <a:ext cx="257175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Allocation</a:t>
            </a:r>
            <a:endParaRPr lang="en-US" sz="86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582930" y="1268730"/>
          <a:ext cx="1405890" cy="140589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939546" y="1783080"/>
            <a:ext cx="685800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</a:t>
            </a:r>
            <a:endParaRPr lang="en-US" sz="900" dirty="0"/>
          </a:p>
          <a:p>
            <a:pPr algn="ctr" indent="0" marL="0">
              <a:buNone/>
            </a:pPr>
            <a:r>
              <a:rPr lang="en-US" sz="98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100mn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2057400" y="1405890"/>
            <a:ext cx="857250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4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in the semiconductor core</a:t>
            </a:r>
            <a:endParaRPr lang="en-US" sz="640" dirty="0"/>
          </a:p>
          <a:p>
            <a:pPr indent="0" marL="0">
              <a:buNone/>
            </a:pPr>
            <a:r>
              <a:rPr lang="en-US" sz="64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3119 HK + 2644 JP = 50%; Korea adds memory, Taiwan the foundry, 00878 the ESG income.</a:t>
            </a:r>
            <a:endParaRPr lang="en-US" sz="64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" y="2777490"/>
          <a:ext cx="2571750" cy="914400"/>
        </p:xfrm>
        <a:graphic>
          <a:graphicData uri="http://schemas.openxmlformats.org/drawingml/2006/table">
            <a:tbl>
              <a:tblPr/>
              <a:tblGrid>
                <a:gridCol w="205740"/>
                <a:gridCol w="582930"/>
                <a:gridCol w="1371600"/>
                <a:gridCol w="41148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Pan-Asian chip leaders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F86A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Korea: memory for AI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DB3D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Taiwan: the AI foundry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A6A6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Japan: chip-making tools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E9E4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■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1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 dividend anchor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1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71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Shape 12"/>
          <p:cNvSpPr/>
          <p:nvPr/>
        </p:nvSpPr>
        <p:spPr>
          <a:xfrm>
            <a:off x="3051810" y="994410"/>
            <a:ext cx="3429000" cy="24688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3051810" y="994410"/>
            <a:ext cx="3429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vs return: single ETFs and random mixes</a:t>
            </a:r>
            <a:endParaRPr lang="en-US" sz="860" dirty="0"/>
          </a:p>
        </p:txBody>
      </p:sp>
      <p:pic>
        <p:nvPicPr>
          <p:cNvPr id="18" name="Image 0" descr="/home/user/natixis-case-comp/strategy/risk_return_clou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0" y="1289304"/>
            <a:ext cx="3360420" cy="2640626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617970" y="994410"/>
            <a:ext cx="2180844" cy="24688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6617970" y="994410"/>
            <a:ext cx="218084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860" dirty="0"/>
          </a:p>
        </p:txBody>
      </p:sp>
      <p:sp>
        <p:nvSpPr>
          <p:cNvPr id="21" name="Text 16"/>
          <p:cNvSpPr txBox="1"/>
          <p:nvPr/>
        </p:nvSpPr>
        <p:spPr>
          <a:xfrm>
            <a:off x="6652260" y="1289304"/>
            <a:ext cx="2125980" cy="994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68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dots: </a:t>
            </a:r>
            <a:pPr indent="0" marL="0">
              <a:spcAft>
                <a:spcPts val="300"/>
              </a:spcAft>
              <a:buNone/>
            </a:pPr>
            <a:r>
              <a:rPr lang="en-US" sz="6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ETF on its own (2644 is the dot near 0.26, 0.25).</a:t>
            </a:r>
            <a:endParaRPr lang="en-US" sz="68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68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star: </a:t>
            </a:r>
            <a:pPr indent="0" marL="0">
              <a:spcAft>
                <a:spcPts val="300"/>
              </a:spcAft>
              <a:buNone/>
            </a:pPr>
            <a:r>
              <a:rPr lang="en-US" sz="6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(35 / 20 / 15 / 15 / 15).</a:t>
            </a:r>
            <a:endParaRPr lang="en-US" sz="68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68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dots: </a:t>
            </a:r>
            <a:pPr indent="0" marL="0">
              <a:spcAft>
                <a:spcPts val="300"/>
              </a:spcAft>
              <a:buNone/>
            </a:pPr>
            <a:r>
              <a:rPr lang="en-US" sz="6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thousands of random weightings of the five ETFs; lighter = more return per unit of risk.</a:t>
            </a:r>
            <a:endParaRPr lang="en-US" sz="68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680" b="1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Axes: </a:t>
            </a:r>
            <a:pPr indent="0" marL="0">
              <a:spcAft>
                <a:spcPts val="300"/>
              </a:spcAft>
              <a:buNone/>
            </a:pPr>
            <a:r>
              <a:rPr lang="en-US" sz="6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annualised volatility (risk) and expected return.</a:t>
            </a:r>
            <a:endParaRPr lang="en-US" sz="680" dirty="0"/>
          </a:p>
        </p:txBody>
      </p:sp>
      <p:sp>
        <p:nvSpPr>
          <p:cNvPr id="22" name="Shape 17"/>
          <p:cNvSpPr/>
          <p:nvPr/>
        </p:nvSpPr>
        <p:spPr>
          <a:xfrm>
            <a:off x="6617970" y="2331720"/>
            <a:ext cx="2180844" cy="174879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686550" y="2386584"/>
            <a:ext cx="2057400" cy="1659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</a:t>
            </a:r>
            <a:endParaRPr lang="en-US" sz="71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at ~17% volatility, the lowest risk of all the mixes shown.</a:t>
            </a:r>
            <a:endParaRPr lang="en-US" sz="71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random mixes need 22–32% volatility for the same 25–28% return: our weights get it with less risk.</a:t>
            </a:r>
            <a:endParaRPr lang="en-US" sz="71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risk than any single ETF, about a third of EWY's (~49%), while giving up only a few points versus EWT's ~31%.</a:t>
            </a:r>
            <a:endParaRPr lang="en-US" sz="71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71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3119 HK (35%) anchors the basket; the other four move differently enough to pull risk down.</a:t>
            </a:r>
            <a:endParaRPr lang="en-US" sz="710" dirty="0"/>
          </a:p>
        </p:txBody>
      </p:sp>
      <p:sp>
        <p:nvSpPr>
          <p:cNvPr id="24" name="Shape 19"/>
          <p:cNvSpPr/>
          <p:nvPr/>
        </p:nvSpPr>
        <p:spPr>
          <a:xfrm>
            <a:off x="342900" y="4183380"/>
            <a:ext cx="8455914" cy="3429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445770" y="4183380"/>
            <a:ext cx="825017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basket (red star): ~26% return for ~17% volatility, less risk than any single ETF or random mix</a:t>
            </a:r>
            <a:endParaRPr lang="en-US" sz="900" dirty="0"/>
          </a:p>
        </p:txBody>
      </p:sp>
      <p:sp>
        <p:nvSpPr>
          <p:cNvPr id="26" name="Text 21"/>
          <p:cNvSpPr txBox="1"/>
          <p:nvPr/>
        </p:nvSpPr>
        <p:spPr>
          <a:xfrm>
            <a:off x="342900" y="4567428"/>
            <a:ext cx="845591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Risk/return chart: team analysis app (annualised from historical data; red star = our basket at 35/20/15/15/15; values read from the chart). Liquidity: 3119 HK is borderline against the USD 5M/day rule, verify on Bloomberg.</a:t>
            </a:r>
            <a:endParaRPr lang="en-US" sz="600" dirty="0"/>
          </a:p>
        </p:txBody>
      </p:sp>
      <p:sp>
        <p:nvSpPr>
          <p:cNvPr id="27" name="Text 22"/>
          <p:cNvSpPr txBox="1"/>
          <p:nvPr/>
        </p:nvSpPr>
        <p:spPr>
          <a:xfrm>
            <a:off x="8503920" y="4834890"/>
            <a:ext cx="2926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4786884"/>
            <a:ext cx="84582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27882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Underlying: five Asian ETFs across the AI-hardware chain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42900" y="672084"/>
            <a:ext cx="84582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" y="717804"/>
            <a:ext cx="8458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Bespoke weighted basket, USD payout (quanto on the HKD, JPY and TWD lines); all Bloomberg-listed</a:t>
            </a:r>
            <a:endParaRPr lang="en-US" sz="8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20040" y="1004697"/>
          <a:ext cx="2560320" cy="2451735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1143000" y="2012137"/>
            <a:ext cx="9144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9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Basket</a:t>
            </a:r>
            <a:endParaRPr lang="en-US" sz="1290" dirty="0"/>
          </a:p>
        </p:txBody>
      </p:sp>
      <p:sp>
        <p:nvSpPr>
          <p:cNvPr id="12" name="Shape 9"/>
          <p:cNvSpPr/>
          <p:nvPr/>
        </p:nvSpPr>
        <p:spPr>
          <a:xfrm>
            <a:off x="457200" y="3572332"/>
            <a:ext cx="118872" cy="11590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40080" y="3536671"/>
            <a:ext cx="256032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Asia Semiconductor (3119 HK)</a:t>
            </a:r>
            <a:endParaRPr lang="en-US" sz="780" dirty="0"/>
          </a:p>
        </p:txBody>
      </p:sp>
      <p:sp>
        <p:nvSpPr>
          <p:cNvPr id="14" name="Shape 11"/>
          <p:cNvSpPr/>
          <p:nvPr/>
        </p:nvSpPr>
        <p:spPr>
          <a:xfrm>
            <a:off x="457200" y="3759556"/>
            <a:ext cx="118872" cy="115900"/>
          </a:xfrm>
          <a:prstGeom prst="rect">
            <a:avLst/>
          </a:prstGeom>
          <a:solidFill>
            <a:srgbClr val="A6A6A6"/>
          </a:solidFill>
          <a:ln w="12700">
            <a:solidFill>
              <a:srgbClr val="A6A6A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0080" y="3723894"/>
            <a:ext cx="256032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Japan Semiconductor (2644 JP)</a:t>
            </a:r>
            <a:endParaRPr lang="en-US" sz="780" dirty="0"/>
          </a:p>
        </p:txBody>
      </p:sp>
      <p:sp>
        <p:nvSpPr>
          <p:cNvPr id="16" name="Shape 13"/>
          <p:cNvSpPr/>
          <p:nvPr/>
        </p:nvSpPr>
        <p:spPr>
          <a:xfrm>
            <a:off x="457200" y="3946779"/>
            <a:ext cx="118872" cy="115900"/>
          </a:xfrm>
          <a:prstGeom prst="rect">
            <a:avLst/>
          </a:prstGeom>
          <a:solidFill>
            <a:srgbClr val="8DB3D1"/>
          </a:solidFill>
          <a:ln w="12700">
            <a:solidFill>
              <a:srgbClr val="8DB3D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3911117"/>
            <a:ext cx="256032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iShares MSCI Taiwan (EWT)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457200" y="4134002"/>
            <a:ext cx="118872" cy="115900"/>
          </a:xfrm>
          <a:prstGeom prst="rect">
            <a:avLst/>
          </a:prstGeom>
          <a:solidFill>
            <a:srgbClr val="4F86AE"/>
          </a:solidFill>
          <a:ln w="12700">
            <a:solidFill>
              <a:srgbClr val="4F86A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40080" y="4098341"/>
            <a:ext cx="256032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iShares MSCI South Korea (EWY)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457200" y="4321226"/>
            <a:ext cx="118872" cy="115900"/>
          </a:xfrm>
          <a:prstGeom prst="rect">
            <a:avLst/>
          </a:prstGeom>
          <a:solidFill>
            <a:srgbClr val="2E9E44"/>
          </a:solidFill>
          <a:ln w="12700">
            <a:solidFill>
              <a:srgbClr val="2E9E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40080" y="4285564"/>
            <a:ext cx="2560320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 ESG High Dividend (00878 TT)</a:t>
            </a:r>
            <a:endParaRPr lang="en-US" sz="78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1049274"/>
          <a:ext cx="5577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84048"/>
                <a:gridCol w="3246120"/>
                <a:gridCol w="484632"/>
              </a:tblGrid>
              <a:tr h="231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 (Bloomberg)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 in the basket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Vol*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4636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Asia Semiconductor (3119 HK)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Pan-Asian chip leaders (40 names; TSMC, Samsung, SK hynix the largest): the core AI-hardware exposure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36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 Semiconductor (2644 JP)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Japanese semiconductor stocks (FactSet Japan Semiconductor Index, e.g. Tokyo Electron, Advantest): the family's home market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36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iShares MSCI Taiwan (EWT)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 large caps (TSMC, MediaTek, Delta): AI foundry and server chain in the family's Greater China region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36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iShares MSCI South Korea (EWY)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Korea large caps (Samsung + SK hynix ~44%): high-bandwidth memory for AI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360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Taiwan ESG High Dividend (00878 TT)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ESG-screened Taiwan high-dividend leaders (Quanta, UMC, MediaTek): ESG sleeve and lower-volatility anchor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19"/>
          <p:cNvSpPr txBox="1"/>
          <p:nvPr/>
        </p:nvSpPr>
        <p:spPr>
          <a:xfrm>
            <a:off x="3108960" y="3679317"/>
            <a:ext cx="557784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weighted basket, not worst-of: </a:t>
            </a:r>
            <a:pPr indent="0" marL="0">
              <a:buNone/>
            </a:pPr>
            <a:r>
              <a:rPr lang="en-US" sz="87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shock to one ETF is cushioned by the others: basket vol ~26% vs 18%–38% alone. Overlap (TSMC, Samsung, SK hynix sit in several ETFs) keeps correlations high (0.45–0.85).</a:t>
            </a:r>
            <a:endParaRPr lang="en-US" sz="870" dirty="0"/>
          </a:p>
        </p:txBody>
      </p:sp>
      <p:sp>
        <p:nvSpPr>
          <p:cNvPr id="24" name="Text 20"/>
          <p:cNvSpPr txBox="1"/>
          <p:nvPr/>
        </p:nvSpPr>
        <p:spPr>
          <a:xfrm>
            <a:off x="342900" y="4562856"/>
            <a:ext cx="8046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*Assumed 5Y vols. USD 5M/day ETF rule: EWY, EWT, 2644, 00878 pass; 3119 is borderline (~USD 4–5M/day), verify the 6-month average on Bloomberg. 00878 distributes ~7.6% a year, which lowers its price path.</a:t>
            </a:r>
            <a:endParaRPr lang="en-US" sz="680" dirty="0"/>
          </a:p>
        </p:txBody>
      </p:sp>
      <p:sp>
        <p:nvSpPr>
          <p:cNvPr id="25" name="Text 21"/>
          <p:cNvSpPr txBox="1"/>
          <p:nvPr/>
        </p:nvSpPr>
        <p:spPr>
          <a:xfrm>
            <a:off x="8503920" y="4834890"/>
            <a:ext cx="2926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4786884"/>
            <a:ext cx="84582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27882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sheet: 5-year buffered autocallable, 10.25% coupon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42900" y="672084"/>
            <a:ext cx="84582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" y="717804"/>
            <a:ext cx="8458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design: a double-digit coupon, with the loss at maturity capped at 30%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3851"/>
          <a:ext cx="42062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880360"/>
              </a:tblGrid>
              <a:tr h="303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Issuer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Natixis SA (BPCE Group)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03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Notional / currency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 100,000,000 · quanto USD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03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 / maturity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 Sep 2026 / 17 Sep 2031 (5Y)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03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Underlying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Weighted basket of 5 Asian ETFs (slide 5)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03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Observation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Quarterly, 20 dates; autocall from Q4 (Year 1)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03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10.25% p.a. (2.56% per quarter), paid if basket ≥ 100%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03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Missed coupons paid on the next date basket ≥ 100%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03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Autocall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Basket ≥ 100% from Q4: 100% + coupons due, note ends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03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 maturity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if basket ≥ 70%; otherwise 70% (embedded 70% put)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  <a:tr h="3031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 price / fair value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/ 97.1%</a:t>
                      </a:r>
                      <a:endParaRPr lang="en-US" sz="8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92040" y="1093851"/>
          <a:ext cx="3840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66928"/>
                <a:gridCol w="603504"/>
                <a:gridCol w="658368"/>
              </a:tblGrid>
              <a:tr h="26746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Autocall design (same basket, issued at 98%)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cpn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risk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loss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294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Classic fixed coupon, 70% barrier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4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Snowball, 65% barrier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4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coupon, 70% barrier, no put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 to 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4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coupon, 100% protected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42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coupon, 70% barrier + 70% put (ours)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5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892040" y="3010662"/>
            <a:ext cx="3840480" cy="1248156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0" y="3081985"/>
            <a:ext cx="3566160" cy="1141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b="1" dirty="0">
                <a:solidFill>
                  <a:srgbClr val="BFD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call: </a:t>
            </a:r>
            <a:pPr indent="0" marL="0">
              <a:buNone/>
            </a:pPr>
            <a:r>
              <a:rPr lang="en-US" sz="8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draft's 8.5% fixed coupon is worth 100.3%, so Natixis cannot fund it. Full protection pays only 7.8%. Without a put the coupon is 13.5%, but a crash can wipe out the capital. The embedded 70% put costs ~2.4pts of coupon and caps the loss at 30%: fair 11.1%, we offer 10.25%.</a:t>
            </a:r>
            <a:endParaRPr lang="en-US" sz="870" dirty="0"/>
          </a:p>
        </p:txBody>
      </p:sp>
      <p:sp>
        <p:nvSpPr>
          <p:cNvPr id="14" name="Text 10"/>
          <p:cNvSpPr txBox="1"/>
          <p:nvPr/>
        </p:nvSpPr>
        <p:spPr>
          <a:xfrm>
            <a:off x="342900" y="4562856"/>
            <a:ext cx="8046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Carlo, 200k paths. Vols, dividends and correlations are assumptions to refresh with Bloomberg data as of the 17 Sep 2026 trade date; discounting uses the USD funding grid. Loss risk = probability the note returns less than 100% at maturity (risk-neutral).</a:t>
            </a:r>
            <a:endParaRPr lang="en-US" sz="680" dirty="0"/>
          </a:p>
        </p:txBody>
      </p:sp>
      <p:sp>
        <p:nvSpPr>
          <p:cNvPr id="15" name="Text 11"/>
          <p:cNvSpPr txBox="1"/>
          <p:nvPr/>
        </p:nvSpPr>
        <p:spPr>
          <a:xfrm>
            <a:off x="8503920" y="4834890"/>
            <a:ext cx="2926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4786884"/>
            <a:ext cx="84582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27882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pays: one question every quarter, three outcomes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42900" y="672084"/>
            <a:ext cx="84582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" y="717804"/>
            <a:ext cx="8458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basket at or above 100% of its starting level? (checked quarterly; one date per year shown)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960120"/>
            <a:ext cx="722376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Q1–Q3: coupon only (2.56% if basket ≥ 100%). From Q4: coupon plus autocall. Missed coupons are always caught up.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731520" y="1450467"/>
            <a:ext cx="7680960" cy="0"/>
          </a:xfrm>
          <a:prstGeom prst="line">
            <a:avLst/>
          </a:prstGeom>
          <a:noFill/>
          <a:ln w="25400">
            <a:solidFill>
              <a:srgbClr val="A6A6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2920" y="1263244"/>
            <a:ext cx="384048" cy="374447"/>
          </a:xfrm>
          <a:prstGeom prst="ellipse">
            <a:avLst/>
          </a:prstGeom>
          <a:solidFill>
            <a:srgbClr val="A6A6A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1263244"/>
            <a:ext cx="3840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" y="1673352"/>
            <a:ext cx="1143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date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Sep 2026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1965960" y="1263244"/>
            <a:ext cx="384048" cy="374447"/>
          </a:xfrm>
          <a:prstGeom prst="ellipse">
            <a:avLst/>
          </a:prstGeom>
          <a:solidFill>
            <a:srgbClr val="2C5F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965960" y="1263244"/>
            <a:ext cx="3840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Y1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508760" y="1673352"/>
            <a:ext cx="12984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≥ 100%: called,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110.3% total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2038883"/>
            <a:ext cx="1298448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P(called by Y1) 49%</a:t>
            </a:r>
            <a:endParaRPr lang="en-US" sz="740" dirty="0"/>
          </a:p>
        </p:txBody>
      </p:sp>
      <p:sp>
        <p:nvSpPr>
          <p:cNvPr id="19" name="Shape 17"/>
          <p:cNvSpPr/>
          <p:nvPr/>
        </p:nvSpPr>
        <p:spPr>
          <a:xfrm>
            <a:off x="3429000" y="1263244"/>
            <a:ext cx="384048" cy="374447"/>
          </a:xfrm>
          <a:prstGeom prst="ellipse">
            <a:avLst/>
          </a:prstGeom>
          <a:solidFill>
            <a:srgbClr val="2C5F8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29000" y="1263244"/>
            <a:ext cx="3840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971800" y="1673352"/>
            <a:ext cx="12984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≥ 100%: called,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120.5% total</a:t>
            </a:r>
            <a:endParaRPr lang="en-US" sz="830" dirty="0"/>
          </a:p>
        </p:txBody>
      </p:sp>
      <p:sp>
        <p:nvSpPr>
          <p:cNvPr id="22" name="Text 20"/>
          <p:cNvSpPr txBox="1"/>
          <p:nvPr/>
        </p:nvSpPr>
        <p:spPr>
          <a:xfrm>
            <a:off x="2971800" y="2038883"/>
            <a:ext cx="1298448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P(called by Y2) 66%</a:t>
            </a:r>
            <a:endParaRPr lang="en-US" sz="740" dirty="0"/>
          </a:p>
        </p:txBody>
      </p:sp>
      <p:sp>
        <p:nvSpPr>
          <p:cNvPr id="23" name="Shape 21"/>
          <p:cNvSpPr/>
          <p:nvPr/>
        </p:nvSpPr>
        <p:spPr>
          <a:xfrm>
            <a:off x="4892040" y="1263244"/>
            <a:ext cx="384048" cy="374447"/>
          </a:xfrm>
          <a:prstGeom prst="ellipse">
            <a:avLst/>
          </a:prstGeom>
          <a:solidFill>
            <a:srgbClr val="2C5F8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92040" y="1263244"/>
            <a:ext cx="3840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434840" y="1673352"/>
            <a:ext cx="12984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≥ 100%: called,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130.8% total</a:t>
            </a:r>
            <a:endParaRPr lang="en-US" sz="830" dirty="0"/>
          </a:p>
        </p:txBody>
      </p:sp>
      <p:sp>
        <p:nvSpPr>
          <p:cNvPr id="26" name="Text 24"/>
          <p:cNvSpPr txBox="1"/>
          <p:nvPr/>
        </p:nvSpPr>
        <p:spPr>
          <a:xfrm>
            <a:off x="4434840" y="2038883"/>
            <a:ext cx="1298448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P(called by Y3) 73%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6355080" y="1263244"/>
            <a:ext cx="384048" cy="374447"/>
          </a:xfrm>
          <a:prstGeom prst="ellipse">
            <a:avLst/>
          </a:prstGeom>
          <a:solidFill>
            <a:srgbClr val="2C5F8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55080" y="1263244"/>
            <a:ext cx="3840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897880" y="1673352"/>
            <a:ext cx="12984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≥ 100%: called,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141.0% total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5897880" y="2038883"/>
            <a:ext cx="1298448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P(called by Y4) 76%</a:t>
            </a:r>
            <a:endParaRPr lang="en-US" sz="740" dirty="0"/>
          </a:p>
        </p:txBody>
      </p:sp>
      <p:sp>
        <p:nvSpPr>
          <p:cNvPr id="31" name="Shape 29"/>
          <p:cNvSpPr/>
          <p:nvPr/>
        </p:nvSpPr>
        <p:spPr>
          <a:xfrm>
            <a:off x="7818120" y="1263244"/>
            <a:ext cx="384048" cy="374447"/>
          </a:xfrm>
          <a:prstGeom prst="ellipse">
            <a:avLst/>
          </a:prstGeom>
          <a:solidFill>
            <a:srgbClr val="4F86A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818120" y="1263244"/>
            <a:ext cx="3840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Y5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360920" y="1673352"/>
            <a:ext cx="12984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4F8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≥ 100%: called,</a:t>
            </a:r>
            <a:endParaRPr lang="en-US" sz="830" dirty="0"/>
          </a:p>
          <a:p>
            <a:pPr algn="ctr" indent="0" marL="0">
              <a:buNone/>
            </a:pPr>
            <a:r>
              <a:rPr lang="en-US" sz="830" b="1" dirty="0">
                <a:solidFill>
                  <a:srgbClr val="4F86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151.3% total</a:t>
            </a:r>
            <a:endParaRPr lang="en-US" sz="830" dirty="0"/>
          </a:p>
        </p:txBody>
      </p:sp>
      <p:sp>
        <p:nvSpPr>
          <p:cNvPr id="34" name="Text 32"/>
          <p:cNvSpPr txBox="1"/>
          <p:nvPr/>
        </p:nvSpPr>
        <p:spPr>
          <a:xfrm>
            <a:off x="7360920" y="2038883"/>
            <a:ext cx="1298448" cy="1961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4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P(called by Y5) 79%</a:t>
            </a:r>
            <a:endParaRPr lang="en-US" sz="740" dirty="0"/>
          </a:p>
        </p:txBody>
      </p:sp>
      <p:graphicFrame>
        <p:nvGraphicFramePr>
          <p:cNvPr id="35" name="Chart 0" descr=""/>
          <p:cNvGraphicFramePr/>
          <p:nvPr/>
        </p:nvGraphicFramePr>
        <p:xfrm>
          <a:off x="320040" y="2342007"/>
          <a:ext cx="4206240" cy="2184273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6" name="Shape 33"/>
          <p:cNvSpPr/>
          <p:nvPr/>
        </p:nvSpPr>
        <p:spPr>
          <a:xfrm>
            <a:off x="4709160" y="2386584"/>
            <a:ext cx="4023360" cy="641909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818888" y="2520315"/>
            <a:ext cx="384048" cy="374447"/>
          </a:xfrm>
          <a:prstGeom prst="ellipse">
            <a:avLst/>
          </a:prstGeom>
          <a:solidFill>
            <a:srgbClr val="2C5F82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818888" y="2520315"/>
            <a:ext cx="3840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5303520" y="2440076"/>
            <a:ext cx="2606040" cy="240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Autocalled</a:t>
            </a:r>
            <a:endParaRPr lang="en-US" sz="970" dirty="0"/>
          </a:p>
        </p:txBody>
      </p:sp>
      <p:sp>
        <p:nvSpPr>
          <p:cNvPr id="40" name="Text 37"/>
          <p:cNvSpPr txBox="1"/>
          <p:nvPr/>
        </p:nvSpPr>
        <p:spPr>
          <a:xfrm>
            <a:off x="5303520" y="2671877"/>
            <a:ext cx="2606040" cy="338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Basket ≥ 100% on any date from Q4: 100% plus every coupon to date. The note ends.</a:t>
            </a:r>
            <a:endParaRPr lang="en-US" sz="780" dirty="0"/>
          </a:p>
        </p:txBody>
      </p:sp>
      <p:sp>
        <p:nvSpPr>
          <p:cNvPr id="41" name="Text 38"/>
          <p:cNvSpPr txBox="1"/>
          <p:nvPr/>
        </p:nvSpPr>
        <p:spPr>
          <a:xfrm>
            <a:off x="7909560" y="2431161"/>
            <a:ext cx="777240" cy="552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</a:t>
            </a:r>
            <a:endParaRPr lang="en-US" sz="1010" dirty="0"/>
          </a:p>
          <a:p>
            <a:pPr algn="ctr" indent="0" marL="0">
              <a:buNone/>
            </a:pPr>
            <a:r>
              <a:rPr lang="en-US" sz="69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risk-neutral</a:t>
            </a:r>
            <a:endParaRPr lang="en-US" sz="1010" dirty="0"/>
          </a:p>
        </p:txBody>
      </p:sp>
      <p:sp>
        <p:nvSpPr>
          <p:cNvPr id="42" name="Shape 39"/>
          <p:cNvSpPr/>
          <p:nvPr/>
        </p:nvSpPr>
        <p:spPr>
          <a:xfrm>
            <a:off x="4709160" y="3099816"/>
            <a:ext cx="4023360" cy="641909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818888" y="3233547"/>
            <a:ext cx="384048" cy="374447"/>
          </a:xfrm>
          <a:prstGeom prst="ellipse">
            <a:avLst/>
          </a:prstGeom>
          <a:solidFill>
            <a:srgbClr val="A6A6A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4818888" y="3233547"/>
            <a:ext cx="3840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5303520" y="3153308"/>
            <a:ext cx="2606040" cy="240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called, basket ≥ 70% at Y5</a:t>
            </a:r>
            <a:endParaRPr lang="en-US" sz="970" dirty="0"/>
          </a:p>
        </p:txBody>
      </p:sp>
      <p:sp>
        <p:nvSpPr>
          <p:cNvPr id="46" name="Text 43"/>
          <p:cNvSpPr txBox="1"/>
          <p:nvPr/>
        </p:nvSpPr>
        <p:spPr>
          <a:xfrm>
            <a:off x="5303520" y="3385109"/>
            <a:ext cx="2606040" cy="338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30% buffer absorbs the fall: 100% back, plus any early coupons.</a:t>
            </a:r>
            <a:endParaRPr lang="en-US" sz="780" dirty="0"/>
          </a:p>
        </p:txBody>
      </p:sp>
      <p:sp>
        <p:nvSpPr>
          <p:cNvPr id="47" name="Text 44"/>
          <p:cNvSpPr txBox="1"/>
          <p:nvPr/>
        </p:nvSpPr>
        <p:spPr>
          <a:xfrm>
            <a:off x="7909560" y="3144393"/>
            <a:ext cx="777240" cy="552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010" dirty="0"/>
          </a:p>
          <a:p>
            <a:pPr algn="ctr" indent="0" marL="0">
              <a:buNone/>
            </a:pPr>
            <a:r>
              <a:rPr lang="en-US" sz="69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risk-neutral</a:t>
            </a:r>
            <a:endParaRPr lang="en-US" sz="1010" dirty="0"/>
          </a:p>
        </p:txBody>
      </p:sp>
      <p:sp>
        <p:nvSpPr>
          <p:cNvPr id="48" name="Shape 45"/>
          <p:cNvSpPr/>
          <p:nvPr/>
        </p:nvSpPr>
        <p:spPr>
          <a:xfrm>
            <a:off x="4709160" y="3813048"/>
            <a:ext cx="4023360" cy="641909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818888" y="3946779"/>
            <a:ext cx="384048" cy="374447"/>
          </a:xfrm>
          <a:prstGeom prst="ellipse">
            <a:avLst/>
          </a:prstGeom>
          <a:solidFill>
            <a:srgbClr val="B23B3B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4818888" y="3946779"/>
            <a:ext cx="384048" cy="3744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5303520" y="3866540"/>
            <a:ext cx="2606040" cy="2407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called, basket &lt; 70% at Y5</a:t>
            </a:r>
            <a:endParaRPr lang="en-US" sz="970" dirty="0"/>
          </a:p>
        </p:txBody>
      </p:sp>
      <p:sp>
        <p:nvSpPr>
          <p:cNvPr id="52" name="Text 49"/>
          <p:cNvSpPr txBox="1"/>
          <p:nvPr/>
        </p:nvSpPr>
        <p:spPr>
          <a:xfrm>
            <a:off x="5303520" y="4098341"/>
            <a:ext cx="2606040" cy="338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embedded put pays 70% back. Maximum loss 30%.</a:t>
            </a:r>
            <a:endParaRPr lang="en-US" sz="780" dirty="0"/>
          </a:p>
        </p:txBody>
      </p:sp>
      <p:sp>
        <p:nvSpPr>
          <p:cNvPr id="53" name="Text 50"/>
          <p:cNvSpPr txBox="1"/>
          <p:nvPr/>
        </p:nvSpPr>
        <p:spPr>
          <a:xfrm>
            <a:off x="7909560" y="3857625"/>
            <a:ext cx="777240" cy="5527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1010" dirty="0"/>
          </a:p>
          <a:p>
            <a:pPr algn="ctr" indent="0" marL="0">
              <a:buNone/>
            </a:pPr>
            <a:r>
              <a:rPr lang="en-US" sz="69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risk-neutral</a:t>
            </a:r>
            <a:endParaRPr lang="en-US" sz="1010" dirty="0"/>
          </a:p>
        </p:txBody>
      </p:sp>
      <p:sp>
        <p:nvSpPr>
          <p:cNvPr id="54" name="Text 51"/>
          <p:cNvSpPr txBox="1"/>
          <p:nvPr/>
        </p:nvSpPr>
        <p:spPr>
          <a:xfrm>
            <a:off x="342900" y="4562856"/>
            <a:ext cx="8046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Probabilities are risk-neutral (drift = funding rate − dividends); real-world outcomes are on slide 9. The desk's replication (bond, coupon digitals, 70% put pair) is in Appendix B.</a:t>
            </a:r>
            <a:endParaRPr lang="en-US" sz="680" dirty="0"/>
          </a:p>
        </p:txBody>
      </p:sp>
      <p:sp>
        <p:nvSpPr>
          <p:cNvPr id="55" name="Text 52"/>
          <p:cNvSpPr txBox="1"/>
          <p:nvPr/>
        </p:nvSpPr>
        <p:spPr>
          <a:xfrm>
            <a:off x="8503920" y="4834890"/>
            <a:ext cx="2926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4786884"/>
            <a:ext cx="84582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27882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analysis: five paths for Asian markets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42900" y="672084"/>
            <a:ext cx="84582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" y="717804"/>
            <a:ext cx="8458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Hypothetical quarterly basket paths and what the USD 100mn note returns in each</a:t>
            </a:r>
            <a:endParaRPr lang="en-US" sz="8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20040" y="1004697"/>
          <a:ext cx="4206240" cy="3209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93851"/>
          <a:ext cx="4069080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896112"/>
                <a:gridCol w="530352"/>
                <a:gridCol w="475488"/>
                <a:gridCol w="429768"/>
                <a:gridCol w="438912"/>
              </a:tblGrid>
              <a:tr h="3744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Outcome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 mn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Basket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3744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capex boom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Q4 (1y)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110.3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4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E67E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Range-bound Asia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Q6 (1.5y)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15.4%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115.4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4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1F3B5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2022-style tech drawdown, slow recovery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Q15 (3.75y)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38.4%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138.4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4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59595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Lost decade (sideways below par)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back at Y5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4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B23B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Geopolitical shock, no recovery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 back at Y5 (put)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70.0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-6.9%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663440" y="3456432"/>
            <a:ext cx="4069080" cy="1025271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800600" y="3527755"/>
            <a:ext cx="3840480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Reading: </a:t>
            </a:r>
            <a:pPr indent="0" marL="0">
              <a:buNone/>
            </a:pPr>
            <a:r>
              <a:rPr lang="en-US" sz="87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note earns ~9.1%–10.7% a year whenever the basket gets back to 100%, even after a 30% drawdown: memory pays all 15 missed coupons at Q15. In a lost decade (basket −12%) the buffer returns 100%; in a lasting shock (basket −45%) the embedded put returns 70%.</a:t>
            </a:r>
            <a:endParaRPr lang="en-US" sz="870" dirty="0"/>
          </a:p>
        </p:txBody>
      </p:sp>
      <p:sp>
        <p:nvSpPr>
          <p:cNvPr id="14" name="Text 10"/>
          <p:cNvSpPr txBox="1"/>
          <p:nvPr/>
        </p:nvSpPr>
        <p:spPr>
          <a:xfrm>
            <a:off x="342900" y="4562856"/>
            <a:ext cx="8046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Paths are illustrative and not forecasts. 'Basket' = direct basket return at Y5 when the note is not called. Historical back-test to run on Bloomberg history (appendix).</a:t>
            </a:r>
            <a:endParaRPr lang="en-US" sz="680" dirty="0"/>
          </a:p>
        </p:txBody>
      </p:sp>
      <p:sp>
        <p:nvSpPr>
          <p:cNvPr id="15" name="Text 11"/>
          <p:cNvSpPr txBox="1"/>
          <p:nvPr/>
        </p:nvSpPr>
        <p:spPr>
          <a:xfrm>
            <a:off x="8503920" y="4834890"/>
            <a:ext cx="2926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4786884"/>
            <a:ext cx="84582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27882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back-test: most paths end early with full coupons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42900" y="672084"/>
            <a:ext cx="84582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" y="717804"/>
            <a:ext cx="8458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 outcome distribution: risk-neutral and under three real-world equity return assumptions</a:t>
            </a:r>
            <a:endParaRPr lang="en-US" sz="8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20040" y="1004697"/>
          <a:ext cx="3566160" cy="23180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1049274"/>
          <a:ext cx="4663440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841248"/>
                <a:gridCol w="841248"/>
                <a:gridCol w="841248"/>
                <a:gridCol w="841248"/>
              </a:tblGrid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Risk-neutral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 equity p.a.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 equity p.a.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 equity p.a.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Called within 5Y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life (yrs)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IRR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Median IRR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10.4%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Avg coupons received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12.3%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12.8%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return (100% back)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 back (put pays)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411480" y="3456432"/>
            <a:ext cx="2606040" cy="98069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48640" y="3518840"/>
            <a:ext cx="105156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1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49%</a:t>
            </a:r>
            <a:endParaRPr lang="en-US" sz="2210" dirty="0"/>
          </a:p>
        </p:txBody>
      </p:sp>
      <p:sp>
        <p:nvSpPr>
          <p:cNvPr id="14" name="Text 10"/>
          <p:cNvSpPr txBox="1"/>
          <p:nvPr/>
        </p:nvSpPr>
        <p:spPr>
          <a:xfrm>
            <a:off x="1600200" y="3518840"/>
            <a:ext cx="132588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called at the first review (110.3% total)</a:t>
            </a:r>
            <a:endParaRPr lang="en-US" sz="920" dirty="0"/>
          </a:p>
        </p:txBody>
      </p:sp>
      <p:sp>
        <p:nvSpPr>
          <p:cNvPr id="15" name="Shape 11"/>
          <p:cNvSpPr/>
          <p:nvPr/>
        </p:nvSpPr>
        <p:spPr>
          <a:xfrm>
            <a:off x="3200400" y="3456432"/>
            <a:ext cx="2606040" cy="980694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337560" y="3518840"/>
            <a:ext cx="105156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1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16%</a:t>
            </a:r>
            <a:endParaRPr lang="en-US" sz="2210" dirty="0"/>
          </a:p>
        </p:txBody>
      </p:sp>
      <p:sp>
        <p:nvSpPr>
          <p:cNvPr id="17" name="Text 13"/>
          <p:cNvSpPr txBox="1"/>
          <p:nvPr/>
        </p:nvSpPr>
        <p:spPr>
          <a:xfrm>
            <a:off x="4389120" y="3518840"/>
            <a:ext cx="132588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chance of 70% back: loss capped at 30%</a:t>
            </a:r>
            <a:endParaRPr lang="en-US" sz="920" dirty="0"/>
          </a:p>
        </p:txBody>
      </p:sp>
      <p:sp>
        <p:nvSpPr>
          <p:cNvPr id="18" name="Shape 14"/>
          <p:cNvSpPr/>
          <p:nvPr/>
        </p:nvSpPr>
        <p:spPr>
          <a:xfrm>
            <a:off x="5989320" y="3456432"/>
            <a:ext cx="2606040" cy="980694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126480" y="3518840"/>
            <a:ext cx="105156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10" b="1" dirty="0">
                <a:solidFill>
                  <a:srgbClr val="BFD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2210" dirty="0"/>
          </a:p>
        </p:txBody>
      </p:sp>
      <p:sp>
        <p:nvSpPr>
          <p:cNvPr id="20" name="Text 16"/>
          <p:cNvSpPr txBox="1"/>
          <p:nvPr/>
        </p:nvSpPr>
        <p:spPr>
          <a:xfrm>
            <a:off x="7178040" y="3518840"/>
            <a:ext cx="1325880" cy="8469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worst case at maturity, in every path</a:t>
            </a:r>
            <a:endParaRPr lang="en-US" sz="920" dirty="0"/>
          </a:p>
        </p:txBody>
      </p:sp>
      <p:sp>
        <p:nvSpPr>
          <p:cNvPr id="21" name="Text 17"/>
          <p:cNvSpPr txBox="1"/>
          <p:nvPr/>
        </p:nvSpPr>
        <p:spPr>
          <a:xfrm>
            <a:off x="342900" y="4562856"/>
            <a:ext cx="8046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Carlo, 200k paths. Vols, dividends and correlations are assumptions to refresh with Bloomberg data as of the 17 Sep 2026 trade date; discounting uses the USD funding grid. IRR uses actual quarterly coupon dates.</a:t>
            </a:r>
            <a:endParaRPr lang="en-US" sz="680" dirty="0"/>
          </a:p>
        </p:txBody>
      </p:sp>
      <p:sp>
        <p:nvSpPr>
          <p:cNvPr id="22" name="Text 18"/>
          <p:cNvSpPr txBox="1"/>
          <p:nvPr/>
        </p:nvSpPr>
        <p:spPr>
          <a:xfrm>
            <a:off x="8503920" y="4834890"/>
            <a:ext cx="2926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4786884"/>
            <a:ext cx="84582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27882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for the family, and how Natixis hedges its side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42900" y="672084"/>
            <a:ext cx="84582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" y="717804"/>
            <a:ext cx="8458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Transparent disclosure plus a desk hedging plan for every exposure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49274"/>
          <a:ext cx="49377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65960"/>
                <a:gridCol w="1920240"/>
              </a:tblGrid>
              <a:tr h="2407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could happen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Mitigant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4992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Capital loss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Basket below 70% at Y5: 70% back, a 30% loss (~16% of paths)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Embedded 70% put caps the loss; diversified basket; only 5% of wealth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Capped upside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Basket +80% still pays 10.25% p.a. and is called at Y1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 of family wealth keeps direct equity exposure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 structure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pays ~7.6% a year out, lowering its price path; 3119 trading is thin; ETF tracking error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held at 15%; verify volumes; Natixis can reference total-return versions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Issuer credit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Repayment and the 70% floor depend on Natixis / BPCE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BPCE senior rating; optional collateralised wrapper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926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Liquidity / MTM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Sold before maturity, the price can be below 100%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Natixis daily indicative price; hold to call or maturity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532120" y="1049274"/>
            <a:ext cx="3200400" cy="775640"/>
          </a:xfrm>
          <a:prstGeom prst="rect">
            <a:avLst/>
          </a:prstGeom>
          <a:solidFill>
            <a:srgbClr val="F2F7F6"/>
          </a:solidFill>
          <a:ln w="12700">
            <a:solidFill>
              <a:srgbClr val="F2F7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650992" y="1111682"/>
            <a:ext cx="2971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 digitals</a:t>
            </a:r>
            <a:endParaRPr lang="en-US" sz="970" dirty="0"/>
          </a:p>
        </p:txBody>
      </p:sp>
      <p:sp>
        <p:nvSpPr>
          <p:cNvPr id="13" name="Text 10"/>
          <p:cNvSpPr txBox="1"/>
          <p:nvPr/>
        </p:nvSpPr>
        <p:spPr>
          <a:xfrm>
            <a:off x="5650992" y="1334567"/>
            <a:ext cx="297180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Natixis owes basket digitals struck at 100%: replicated with tight basket call spreads, delta-hedged with ETF units, constituent stocks and index futures as proxies; listed options on EWY/EWT</a:t>
            </a:r>
            <a:endParaRPr lang="en-US" sz="780" dirty="0"/>
          </a:p>
        </p:txBody>
      </p:sp>
      <p:sp>
        <p:nvSpPr>
          <p:cNvPr id="14" name="Shape 11"/>
          <p:cNvSpPr/>
          <p:nvPr/>
        </p:nvSpPr>
        <p:spPr>
          <a:xfrm>
            <a:off x="5532120" y="1914068"/>
            <a:ext cx="3200400" cy="77564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50992" y="1976476"/>
            <a:ext cx="2971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 &amp; correlation</a:t>
            </a:r>
            <a:endParaRPr lang="en-US" sz="970" dirty="0"/>
          </a:p>
        </p:txBody>
      </p:sp>
      <p:sp>
        <p:nvSpPr>
          <p:cNvPr id="16" name="Text 13"/>
          <p:cNvSpPr txBox="1"/>
          <p:nvPr/>
        </p:nvSpPr>
        <p:spPr>
          <a:xfrm>
            <a:off x="5650992" y="2199361"/>
            <a:ext cx="297180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 value moves with basket vol and correlation (fair 10.3%–11.9% for vol ±3pts): managed with listed index options and correlation trades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5532120" y="2778862"/>
            <a:ext cx="3200400" cy="775640"/>
          </a:xfrm>
          <a:prstGeom prst="rect">
            <a:avLst/>
          </a:prstGeom>
          <a:solidFill>
            <a:srgbClr val="F2F7F6"/>
          </a:solidFill>
          <a:ln w="12700">
            <a:solidFill>
              <a:srgbClr val="F2F7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650992" y="2841269"/>
            <a:ext cx="2971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FX</a:t>
            </a:r>
            <a:endParaRPr lang="en-US" sz="970" dirty="0"/>
          </a:p>
        </p:txBody>
      </p:sp>
      <p:sp>
        <p:nvSpPr>
          <p:cNvPr id="19" name="Text 16"/>
          <p:cNvSpPr txBox="1"/>
          <p:nvPr/>
        </p:nvSpPr>
        <p:spPr>
          <a:xfrm>
            <a:off x="5650992" y="3064154"/>
            <a:ext cx="297180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EWT and EWY already trade in USD; 3119 (HKD, pegged), 2644 (JPY) and 00878 (TWD) need FX forwards and a quanto adjustment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5532120" y="3643655"/>
            <a:ext cx="3200400" cy="775640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50992" y="3706063"/>
            <a:ext cx="2971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 pair &amp; funding</a:t>
            </a:r>
            <a:endParaRPr lang="en-US" sz="970" dirty="0"/>
          </a:p>
        </p:txBody>
      </p:sp>
      <p:sp>
        <p:nvSpPr>
          <p:cNvPr id="22" name="Text 19"/>
          <p:cNvSpPr txBox="1"/>
          <p:nvPr/>
        </p:nvSpPr>
        <p:spPr>
          <a:xfrm>
            <a:off x="5650992" y="3928948"/>
            <a:ext cx="2971800" cy="4636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Natixis is long the client's 70% barrier put and short the embedded 70% put: a 30% digital put, hedged with basket put spreads. Principal funded at 5.69%</a:t>
            </a:r>
            <a:endParaRPr lang="en-US" sz="780" dirty="0"/>
          </a:p>
        </p:txBody>
      </p:sp>
      <p:sp>
        <p:nvSpPr>
          <p:cNvPr id="23" name="Text 20"/>
          <p:cNvSpPr txBox="1"/>
          <p:nvPr/>
        </p:nvSpPr>
        <p:spPr>
          <a:xfrm>
            <a:off x="411480" y="3902202"/>
            <a:ext cx="4937760" cy="624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sensitivity (fair coupon): </a:t>
            </a:r>
            <a:pPr indent="0" marL="0">
              <a:buNone/>
            </a:pPr>
            <a:r>
              <a:rPr lang="en-US" sz="83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11.1% · vol ±3pts 10.3%–11.9% · corr ±0.15 10.6%–11.6% · equity drift −1/−2% 12.0%–13.2%. The 10.25% offer stays fundable in every case.</a:t>
            </a:r>
            <a:endParaRPr lang="en-US" sz="830" dirty="0"/>
          </a:p>
        </p:txBody>
      </p:sp>
      <p:sp>
        <p:nvSpPr>
          <p:cNvPr id="24" name="Text 21"/>
          <p:cNvSpPr txBox="1"/>
          <p:nvPr/>
        </p:nvSpPr>
        <p:spPr>
          <a:xfrm>
            <a:off x="8503920" y="4834890"/>
            <a:ext cx="292608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4786884"/>
            <a:ext cx="84582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08242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A: pricing assumptions and methodology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42900" y="672084"/>
            <a:ext cx="84582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" y="717804"/>
            <a:ext cx="8458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to refresh on Bloomberg at trade date (BVOL / OVDV for vols, CORR for correlations)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93851"/>
          <a:ext cx="47548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566928"/>
                <a:gridCol w="475488"/>
                <a:gridCol w="475488"/>
                <a:gridCol w="482803"/>
                <a:gridCol w="482803"/>
                <a:gridCol w="482803"/>
                <a:gridCol w="482803"/>
                <a:gridCol w="482803"/>
              </a:tblGrid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ETF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Div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3119 HK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2644 JP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EWT US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0.85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EWY US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746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b="1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00878 TT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0.45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0.75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0.55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11480" y="2832354"/>
            <a:ext cx="47548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Model. </a:t>
            </a:r>
            <a:pPr indent="0" marL="0">
              <a:spcAft>
                <a:spcPts val="300"/>
              </a:spcAft>
              <a:buNone/>
            </a:pPr>
            <a:r>
              <a:rPr lang="en-US" sz="83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Correlated GBM for each ETF, 200,000 paths, quarterly steps. Risk-neutral drift = USD funding (linear interpolation of case grid) − dividend yield. Quanto adjustment ignored (assumed hedged by the desk; to be added with FX-equity correlations).</a:t>
            </a:r>
            <a:endParaRPr lang="en-US" sz="83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Discounting. </a:t>
            </a:r>
            <a:pPr indent="0" marL="0">
              <a:spcAft>
                <a:spcPts val="300"/>
              </a:spcAft>
              <a:buNone/>
            </a:pPr>
            <a:r>
              <a:rPr lang="en-US" sz="83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funding grid from the case rules; 5Y discount factor 0.758.</a:t>
            </a:r>
            <a:endParaRPr lang="en-US" sz="83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 solve. </a:t>
            </a:r>
            <a:pPr indent="0" marL="0">
              <a:spcAft>
                <a:spcPts val="300"/>
              </a:spcAft>
              <a:buNone/>
            </a:pPr>
            <a:r>
              <a:rPr lang="en-US" sz="83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Bisection on coupon so that PV = 98% (2% hedging cost and margin).</a:t>
            </a:r>
            <a:endParaRPr lang="en-US" sz="83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back-test (to run). </a:t>
            </a:r>
            <a:pPr indent="0" marL="0">
              <a:spcAft>
                <a:spcPts val="300"/>
              </a:spcAft>
              <a:buNone/>
            </a:pPr>
            <a:r>
              <a:rPr lang="en-US" sz="83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Bloomberg history since 2021 for all five ETFs (00878 and 3119 launched in 2020–21). Launch a hypothetical note every month, apply the same coupon, memory and autocall rules, and record coupons, life and IRR by launch year.</a:t>
            </a:r>
            <a:endParaRPr lang="en-US" sz="83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093851"/>
          <a:ext cx="3291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</a:tblGrid>
              <a:tr h="2585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Variant of our note (70% barrier + put)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Fair cpn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2585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 barrier 100% (base)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11.1%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85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 barrier 95%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85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Coupon barrier 90%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85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autocall at Y2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10.7%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85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Equity drift −1%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85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Equity drift −2%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854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 +3pts / −3pts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11.9% / 10.3%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5440680" y="3233547"/>
            <a:ext cx="3291840" cy="401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variants priced at 98% with the same basket and inputs. Code: pricing/scenario2_autocall_mc.py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4786884"/>
            <a:ext cx="84582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08242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B: how Natixis replicates the note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42900" y="672084"/>
            <a:ext cx="84582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" y="717804"/>
            <a:ext cx="8458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Replication used by the Natixis desk to price and hedge (values in % of notional, at trade date)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11480" y="1093851"/>
            <a:ext cx="1956816" cy="2719197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21208" y="1165174"/>
            <a:ext cx="178308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</a:t>
            </a:r>
            <a:endParaRPr lang="en-US" sz="1060" dirty="0"/>
          </a:p>
        </p:txBody>
      </p:sp>
      <p:sp>
        <p:nvSpPr>
          <p:cNvPr id="12" name="Text 10"/>
          <p:cNvSpPr txBox="1"/>
          <p:nvPr/>
        </p:nvSpPr>
        <p:spPr>
          <a:xfrm>
            <a:off x="521208" y="1432636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repaid at autocall or maturity. Worth 89.4%</a:t>
            </a:r>
            <a:endParaRPr lang="en-US" sz="78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38912" y="2163699"/>
          <a:ext cx="1901952" cy="158694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2350008" y="2564892"/>
            <a:ext cx="182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470" dirty="0"/>
          </a:p>
        </p:txBody>
      </p:sp>
      <p:sp>
        <p:nvSpPr>
          <p:cNvPr id="15" name="Shape 12"/>
          <p:cNvSpPr/>
          <p:nvPr/>
        </p:nvSpPr>
        <p:spPr>
          <a:xfrm>
            <a:off x="2532888" y="1093851"/>
            <a:ext cx="1956816" cy="2719197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642616" y="1165174"/>
            <a:ext cx="178308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Coupon digitals</a:t>
            </a:r>
            <a:endParaRPr lang="en-US" sz="1060" dirty="0"/>
          </a:p>
        </p:txBody>
      </p:sp>
      <p:sp>
        <p:nvSpPr>
          <p:cNvPr id="17" name="Text 14"/>
          <p:cNvSpPr txBox="1"/>
          <p:nvPr/>
        </p:nvSpPr>
        <p:spPr>
          <a:xfrm>
            <a:off x="2642616" y="1432636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2.56% plus missed coupons on each date ≥ 100%. Worth 11.3% (net of autocall)</a:t>
            </a:r>
            <a:endParaRPr lang="en-US" sz="780" dirty="0"/>
          </a:p>
        </p:txBody>
      </p:sp>
      <p:graphicFrame>
        <p:nvGraphicFramePr>
          <p:cNvPr id="18" name="Chart 1" descr=""/>
          <p:cNvGraphicFramePr/>
          <p:nvPr/>
        </p:nvGraphicFramePr>
        <p:xfrm>
          <a:off x="2560320" y="2163699"/>
          <a:ext cx="1901952" cy="158694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4471416" y="2564892"/>
            <a:ext cx="182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1470" dirty="0"/>
          </a:p>
        </p:txBody>
      </p:sp>
      <p:sp>
        <p:nvSpPr>
          <p:cNvPr id="20" name="Shape 16"/>
          <p:cNvSpPr/>
          <p:nvPr/>
        </p:nvSpPr>
        <p:spPr>
          <a:xfrm>
            <a:off x="4654296" y="1093851"/>
            <a:ext cx="1956816" cy="2719197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764024" y="1165174"/>
            <a:ext cx="178308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Autocall (Natixis)</a:t>
            </a:r>
            <a:endParaRPr lang="en-US" sz="1060" dirty="0"/>
          </a:p>
        </p:txBody>
      </p:sp>
      <p:sp>
        <p:nvSpPr>
          <p:cNvPr id="22" name="Text 18"/>
          <p:cNvSpPr txBox="1"/>
          <p:nvPr/>
        </p:nvSpPr>
        <p:spPr>
          <a:xfrm>
            <a:off x="4764024" y="1432636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Q4, basket ≥ 100%: remaining coupons cancelled, note ends. Keeps the coupon affordable</a:t>
            </a:r>
            <a:endParaRPr lang="en-US" sz="780" dirty="0"/>
          </a:p>
        </p:txBody>
      </p:sp>
      <p:graphicFrame>
        <p:nvGraphicFramePr>
          <p:cNvPr id="23" name="Chart 2" descr=""/>
          <p:cNvGraphicFramePr/>
          <p:nvPr/>
        </p:nvGraphicFramePr>
        <p:xfrm>
          <a:off x="4681728" y="2163699"/>
          <a:ext cx="1901952" cy="158694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4" name="Text 19"/>
          <p:cNvSpPr txBox="1"/>
          <p:nvPr/>
        </p:nvSpPr>
        <p:spPr>
          <a:xfrm>
            <a:off x="6592824" y="2564892"/>
            <a:ext cx="182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7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</a:t>
            </a:r>
            <a:endParaRPr lang="en-US" sz="1470" dirty="0"/>
          </a:p>
        </p:txBody>
      </p:sp>
      <p:sp>
        <p:nvSpPr>
          <p:cNvPr id="25" name="Shape 20"/>
          <p:cNvSpPr/>
          <p:nvPr/>
        </p:nvSpPr>
        <p:spPr>
          <a:xfrm>
            <a:off x="6775704" y="1093851"/>
            <a:ext cx="1956816" cy="2719197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85432" y="1165174"/>
            <a:ext cx="178308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B23B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put pair</a:t>
            </a:r>
            <a:endParaRPr lang="en-US" sz="1060" dirty="0"/>
          </a:p>
        </p:txBody>
      </p:sp>
      <p:sp>
        <p:nvSpPr>
          <p:cNvPr id="27" name="Text 22"/>
          <p:cNvSpPr txBox="1"/>
          <p:nvPr/>
        </p:nvSpPr>
        <p:spPr>
          <a:xfrm>
            <a:off x="6885432" y="1432636"/>
            <a:ext cx="1783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sells a 70% barrier put (6.3%); the note embeds a 70% put back (2.7%). Net: −30% only if &lt; 70% at Y5</a:t>
            </a:r>
            <a:endParaRPr lang="en-US" sz="780" dirty="0"/>
          </a:p>
        </p:txBody>
      </p:sp>
      <p:graphicFrame>
        <p:nvGraphicFramePr>
          <p:cNvPr id="28" name="Chart 3" descr=""/>
          <p:cNvGraphicFramePr/>
          <p:nvPr/>
        </p:nvGraphicFramePr>
        <p:xfrm>
          <a:off x="6803136" y="2163699"/>
          <a:ext cx="1901952" cy="1586941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9" name="Shape 23"/>
          <p:cNvSpPr/>
          <p:nvPr/>
        </p:nvSpPr>
        <p:spPr>
          <a:xfrm>
            <a:off x="411480" y="3902202"/>
            <a:ext cx="8321040" cy="624078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548640" y="3964610"/>
            <a:ext cx="8046720" cy="5349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BFD7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value 97.1% = principal 89.4% + coupons 11.3% − put pair 3.6%.  </a:t>
            </a:r>
            <a:pPr indent="0" marL="0">
              <a:buNone/>
            </a:pPr>
            <a:r>
              <a:rPr lang="en-US" sz="9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Issued at 100%, leaving 2.9% for hedging and margin. The short barrier put funds the higher coupon; the embedded put stops the loss at 30%.</a:t>
            </a:r>
            <a:endParaRPr lang="en-US" sz="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2900" y="4786884"/>
            <a:ext cx="8458200" cy="0"/>
          </a:xfrm>
          <a:prstGeom prst="line">
            <a:avLst/>
          </a:prstGeom>
          <a:noFill/>
          <a:ln w="7112">
            <a:solidFill>
              <a:srgbClr val="BFBFB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42900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21640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00" kern="0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08242" y="4773168"/>
            <a:ext cx="1885950" cy="34290"/>
          </a:xfrm>
          <a:prstGeom prst="rect">
            <a:avLst/>
          </a:prstGeom>
          <a:solidFill>
            <a:srgbClr val="2C5F82"/>
          </a:solidFill>
          <a:ln w="12700">
            <a:solidFill>
              <a:srgbClr val="2C5F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096762" y="4834890"/>
            <a:ext cx="270891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342900" y="205740"/>
            <a:ext cx="8435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C: alternatives for the investment committee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342900" y="672084"/>
            <a:ext cx="8458200" cy="0"/>
          </a:xfrm>
          <a:prstGeom prst="line">
            <a:avLst/>
          </a:prstGeom>
          <a:noFill/>
          <a:ln w="9525">
            <a:solidFill>
              <a:srgbClr val="2C5F8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" y="717804"/>
            <a:ext cx="8458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basket: full protection, a higher-coupon at-risk snowball, and a pure participation note</a:t>
            </a:r>
            <a:endParaRPr lang="en-US" sz="8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365760" y="1049274"/>
          <a:ext cx="4572000" cy="3209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12080" y="1093851"/>
          <a:ext cx="35204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25880"/>
                <a:gridCol w="731520"/>
              </a:tblGrid>
              <a:tr h="320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Option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Return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risk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82"/>
                    </a:solidFill>
                  </a:tcPr>
                </a:tc>
              </a:tr>
              <a:tr h="320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b="1" dirty="0">
                          <a:solidFill>
                            <a:srgbClr val="2C5F8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Buffered autocallable (ours)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10.25% p.a. memory coupon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 (max 30%)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protected autocallable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~7.8% fair coupon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Snowball, 65% barrier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 p.a., paid at call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95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Principal-protected note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84% of basket gain at Y5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26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5212080" y="2787777"/>
            <a:ext cx="3520440" cy="1114425"/>
          </a:xfrm>
          <a:prstGeom prst="rect">
            <a:avLst/>
          </a:prstGeom>
          <a:solidFill>
            <a:srgbClr val="E8EFF5"/>
          </a:solidFill>
          <a:ln w="12700">
            <a:solidFill>
              <a:srgbClr val="E8EFF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349240" y="2850185"/>
            <a:ext cx="3291840" cy="998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b="1" dirty="0">
                <a:solidFill>
                  <a:srgbClr val="2C5F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</a:t>
            </a:r>
            <a:pPr indent="0" marL="0">
              <a:buNone/>
            </a:pPr>
            <a:r>
              <a:rPr lang="en-US" sz="830" dirty="0">
                <a:solidFill>
                  <a:srgbClr val="26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snowball pays 9% but loses capital in ~14% of paths. Full protection pays only ~8%. The PPN pays nothing unless the basket ends above 100% after 5 years. Our note pays 10.25% and caps the loss at 30%, with money usually back within ~2 years.</a:t>
            </a:r>
            <a:endParaRPr lang="en-US" sz="830" dirty="0"/>
          </a:p>
        </p:txBody>
      </p:sp>
      <p:sp>
        <p:nvSpPr>
          <p:cNvPr id="14" name="Text 10"/>
          <p:cNvSpPr txBox="1"/>
          <p:nvPr/>
        </p:nvSpPr>
        <p:spPr>
          <a:xfrm>
            <a:off x="342900" y="4562856"/>
            <a:ext cx="8046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i="1" dirty="0">
                <a:solidFill>
                  <a:srgbClr val="5959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Monte Carlo, 200k paths. Vols, dividends and correlations are assumptions to refresh with Bloomberg data as of the 17 Sep 2026 trade date; discounting uses the USD funding grid.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Asian Digital Transformation Autocallable Note</dc:title>
  <dc:subject>PptxGenJS Presentation</dc:subject>
  <dc:creator>PptxGenJS</dc:creator>
  <cp:lastModifiedBy>PptxGenJS</cp:lastModifiedBy>
  <cp:revision>1</cp:revision>
  <dcterms:created xsi:type="dcterms:W3CDTF">2026-10-08T12:52:41Z</dcterms:created>
  <dcterms:modified xsi:type="dcterms:W3CDTF">2026-10-08T12:52:41Z</dcterms:modified>
</cp:coreProperties>
</file>