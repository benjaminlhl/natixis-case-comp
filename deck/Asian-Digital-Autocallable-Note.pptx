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D2B30"/>
                </a:solidFill>
                <a:latin typeface="Calibri"/>
              </a:defRPr>
            </a:pPr>
            <a:r>
              <a:rPr sz="1100" b="0" i="0" u="none" strike="noStrike">
                <a:solidFill>
                  <a:srgbClr val="1D2B30"/>
                </a:solidFill>
                <a:latin typeface="Calibri"/>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0F8B8D"/>
            </a:solidFill>
            <a:ln w="25400" cap="flat">
              <a:solidFill>
                <a:srgbClr val="0F8B8D"/>
              </a:solidFill>
              <a:prstDash val="solid"/>
              <a:round/>
            </a:ln>
            <a:effectLst/>
          </c:spPr>
          <c:invertIfNegative val="0"/>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c:symbol val="circle"/>
            <c:size val="5"/>
            <c:spPr>
              <a:solidFill>
                <a:srgbClr val="0F8B8D"/>
              </a:solidFill>
              <a:ln w="9525" cap="flat">
                <a:solidFill>
                  <a:srgbClr val="0F8B8D"/>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DCE7E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0B3C49"/>
              </a:solidFill>
              <a:effectLst/>
            </c:spPr>
          </c:dPt>
          <c:dPt>
            <c:idx val="1"/>
            <c:bubble3D val="0"/>
            <c:spPr>
              <a:solidFill>
                <a:srgbClr val="0F8B8D"/>
              </a:solidFill>
              <a:effectLst/>
            </c:spPr>
          </c:dPt>
          <c:dPt>
            <c:idx val="2"/>
            <c:bubble3D val="0"/>
            <c:spPr>
              <a:solidFill>
                <a:srgbClr val="D9961A"/>
              </a:solidFill>
              <a:effectLst/>
            </c:spPr>
          </c:dPt>
          <c:dPt>
            <c:idx val="3"/>
            <c:bubble3D val="0"/>
            <c:spPr>
              <a:solidFill>
                <a:srgbClr val="8FA6A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3"/>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Hang Seng TECH</c:v>
                </c:pt>
                <c:pt idx="1">
                  <c:v>Nikkei 225</c:v>
                </c:pt>
                <c:pt idx="2">
                  <c:v>Taiwan TAIEX</c:v>
                </c:pt>
                <c:pt idx="3">
                  <c:v>MSCI AC Asia Pacific Utilities</c:v>
                </c:pt>
              </c:strCache>
            </c:strRef>
          </c:cat>
          <c:val>
            <c:numRef>
              <c:f>Sheet1!$B$2:$B$5</c:f>
              <c:numCache>
                <c:ptCount val="4"/>
                <c:pt idx="0">
                  <c:v>30</c:v>
                </c:pt>
                <c:pt idx="1">
                  <c:v>30</c:v>
                </c:pt>
                <c:pt idx="2">
                  <c:v>25</c:v>
                </c:pt>
                <c:pt idx="3">
                  <c:v>15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Principal + all coupons (% of notional), by call quarter Q4–Q20</a:t>
            </a:r>
          </a:p>
        </c:rich>
      </c:tx>
      <c:layout/>
      <c:overlay val="0"/>
    </c:title>
    <c:autoTitleDeleted val="0"/>
    <c:plotArea>
      <c:layout/>
      <c:barChart>
        <c:barDir val="col"/>
        <c:grouping val="clustered"/>
        <c:varyColors val="0"/>
        <c:ser>
          <c:idx val="0"/>
          <c:order val="0"/>
          <c:tx>
            <c:strRef>
              <c:f>Sheet1!$B$1</c:f>
              <c:strCache>
                <c:ptCount val="1"/>
                <c:pt idx="0">
                  <c:v>Total cash if called</c:v>
                </c:pt>
              </c:strCache>
            </c:strRef>
          </c:tx>
          <c:spPr>
            <a:solidFill>
              <a:srgbClr val="0F8B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Y1</c:v>
                  </c:pt>
                  <c:pt idx="1">
                    <c:v/>
                  </c:pt>
                  <c:pt idx="2">
                    <c:v/>
                  </c:pt>
                  <c:pt idx="3">
                    <c:v/>
                  </c:pt>
                  <c:pt idx="4">
                    <c:v>Y2</c:v>
                  </c:pt>
                  <c:pt idx="5">
                    <c:v/>
                  </c:pt>
                  <c:pt idx="6">
                    <c:v/>
                  </c:pt>
                  <c:pt idx="7">
                    <c:v/>
                  </c:pt>
                  <c:pt idx="8">
                    <c:v>Y3</c:v>
                  </c:pt>
                  <c:pt idx="9">
                    <c:v/>
                  </c:pt>
                  <c:pt idx="10">
                    <c:v/>
                  </c:pt>
                  <c:pt idx="11">
                    <c:v/>
                  </c:pt>
                  <c:pt idx="12">
                    <c:v>Y4</c:v>
                  </c:pt>
                  <c:pt idx="13">
                    <c:v/>
                  </c:pt>
                  <c:pt idx="14">
                    <c:v/>
                  </c:pt>
                  <c:pt idx="15">
                    <c:v/>
                  </c:pt>
                  <c:pt idx="16">
                    <c:v>Y5</c:v>
                  </c:pt>
                </c:lvl>
              </c:multiLvlStrCache>
            </c:multiLvlStrRef>
          </c:cat>
          <c:val>
            <c:numRef>
              <c:f>Sheet1!$B$2:$B$18</c:f>
              <c:numCache>
                <c:formatCode>General</c:formatCode>
                <c:ptCount val="17"/>
                <c:pt idx="0">
                  <c:v>106.5</c:v>
                </c:pt>
                <c:pt idx="1">
                  <c:v>108.125</c:v>
                </c:pt>
                <c:pt idx="2">
                  <c:v>109.75</c:v>
                </c:pt>
                <c:pt idx="3">
                  <c:v>111.375</c:v>
                </c:pt>
                <c:pt idx="4">
                  <c:v>113</c:v>
                </c:pt>
                <c:pt idx="5">
                  <c:v>114.625</c:v>
                </c:pt>
                <c:pt idx="6">
                  <c:v>116.25</c:v>
                </c:pt>
                <c:pt idx="7">
                  <c:v>117.875</c:v>
                </c:pt>
                <c:pt idx="8">
                  <c:v>119.5</c:v>
                </c:pt>
                <c:pt idx="9">
                  <c:v>121.125</c:v>
                </c:pt>
                <c:pt idx="10">
                  <c:v>122.75</c:v>
                </c:pt>
                <c:pt idx="11">
                  <c:v>124.375</c:v>
                </c:pt>
                <c:pt idx="12">
                  <c:v>126</c:v>
                </c:pt>
                <c:pt idx="13">
                  <c:v>127.625</c:v>
                </c:pt>
                <c:pt idx="14">
                  <c:v>129.25</c:v>
                </c:pt>
                <c:pt idx="15">
                  <c:v>130.875</c:v>
                </c:pt>
                <c:pt idx="16">
                  <c:v>132.5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40"/>
          <c:min val="9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Payoff at Y5 (note not called earlier)</a:t>
            </a:r>
          </a:p>
        </c:rich>
      </c:tx>
      <c:layout/>
      <c:overlay val="0"/>
    </c:title>
    <c:autoTitleDeleted val="0"/>
    <c:plotArea>
      <c:layout/>
      <c:scatterChart>
        <c:scatterStyle val="lineMarker"/>
        <c:varyColors val="0"/>
        <c:ser>
          <c:idx val="0"/>
          <c:order val="0"/>
          <c:tx>
            <c:strRef>
              <c:f>Sheet1!$B$1</c:f>
              <c:strCache>
                <c:ptCount val="1"/>
                <c:pt idx="0">
                  <c:v>Autocallable note</c:v>
                </c:pt>
              </c:strCache>
            </c:strRef>
          </c:tx>
          <c:spPr>
            <a:solidFill>
              <a:srgbClr val="0F8B8D"/>
            </a:solidFill>
            <a:ln w="28575"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pt idx="121">
                  <c:v>100</c:v>
                </c:pt>
                <c:pt idx="122">
                  <c:v>100</c:v>
                </c:pt>
                <c:pt idx="123">
                  <c:v>100</c:v>
                </c:pt>
                <c:pt idx="124">
                  <c:v>100</c:v>
                </c:pt>
                <c:pt idx="125">
                  <c:v>100</c:v>
                </c:pt>
                <c:pt idx="126">
                  <c:v>100</c:v>
                </c:pt>
                <c:pt idx="127">
                  <c:v>100</c:v>
                </c:pt>
                <c:pt idx="128">
                  <c:v>100</c:v>
                </c:pt>
                <c:pt idx="129">
                  <c:v>100</c:v>
                </c:pt>
                <c:pt idx="130">
                  <c:v>100</c:v>
                </c:pt>
                <c:pt idx="131">
                  <c:v>100</c:v>
                </c:pt>
                <c:pt idx="132">
                  <c:v>100</c:v>
                </c:pt>
                <c:pt idx="133">
                  <c:v>100</c:v>
                </c:pt>
                <c:pt idx="134">
                  <c:v>100</c:v>
                </c:pt>
                <c:pt idx="135">
                  <c:v>100</c:v>
                </c:pt>
                <c:pt idx="136">
                  <c:v>100</c:v>
                </c:pt>
                <c:pt idx="137">
                  <c:v>100</c:v>
                </c:pt>
                <c:pt idx="138">
                  <c:v>100</c:v>
                </c:pt>
                <c:pt idx="139">
                  <c:v>100</c:v>
                </c:pt>
                <c:pt idx="140">
                  <c:v>132.5</c:v>
                </c:pt>
                <c:pt idx="141">
                  <c:v>132.5</c:v>
                </c:pt>
                <c:pt idx="142">
                  <c:v>132.5</c:v>
                </c:pt>
                <c:pt idx="143">
                  <c:v>132.5</c:v>
                </c:pt>
                <c:pt idx="144">
                  <c:v>132.5</c:v>
                </c:pt>
                <c:pt idx="145">
                  <c:v>132.5</c:v>
                </c:pt>
                <c:pt idx="146">
                  <c:v>132.5</c:v>
                </c:pt>
                <c:pt idx="147">
                  <c:v>132.5</c:v>
                </c:pt>
                <c:pt idx="148">
                  <c:v>132.5</c:v>
                </c:pt>
                <c:pt idx="149">
                  <c:v>132.5</c:v>
                </c:pt>
                <c:pt idx="150">
                  <c:v>132.5</c:v>
                </c:pt>
                <c:pt idx="151">
                  <c:v>132.5</c:v>
                </c:pt>
                <c:pt idx="152">
                  <c:v>132.5</c:v>
                </c:pt>
                <c:pt idx="153">
                  <c:v>132.5</c:v>
                </c:pt>
                <c:pt idx="154">
                  <c:v>132.5</c:v>
                </c:pt>
                <c:pt idx="155">
                  <c:v>132.5</c:v>
                </c:pt>
                <c:pt idx="156">
                  <c:v>132.5</c:v>
                </c:pt>
                <c:pt idx="157">
                  <c:v>132.5</c:v>
                </c:pt>
                <c:pt idx="158">
                  <c:v>132.5</c:v>
                </c:pt>
                <c:pt idx="159">
                  <c:v>132.5</c:v>
                </c:pt>
                <c:pt idx="160">
                  <c:v>132.5</c:v>
                </c:pt>
                <c:pt idx="161">
                  <c:v>132.5</c:v>
                </c:pt>
                <c:pt idx="162">
                  <c:v>132.5</c:v>
                </c:pt>
                <c:pt idx="163">
                  <c:v>132.5</c:v>
                </c:pt>
                <c:pt idx="164">
                  <c:v>132.5</c:v>
                </c:pt>
                <c:pt idx="165">
                  <c:v>132.5</c:v>
                </c:pt>
                <c:pt idx="166">
                  <c:v>132.5</c:v>
                </c:pt>
                <c:pt idx="167">
                  <c:v>132.5</c:v>
                </c:pt>
                <c:pt idx="168">
                  <c:v>132.5</c:v>
                </c:pt>
                <c:pt idx="169">
                  <c:v>132.5</c:v>
                </c:pt>
                <c:pt idx="170">
                  <c:v>132.5</c:v>
                </c:pt>
                <c:pt idx="171">
                  <c:v>132.5</c:v>
                </c:pt>
                <c:pt idx="172">
                  <c:v>132.5</c:v>
                </c:pt>
                <c:pt idx="173">
                  <c:v>132.5</c:v>
                </c:pt>
                <c:pt idx="174">
                  <c:v>132.5</c:v>
                </c:pt>
                <c:pt idx="175">
                  <c:v>132.5</c:v>
                </c:pt>
                <c:pt idx="176">
                  <c:v>132.5</c:v>
                </c:pt>
                <c:pt idx="177">
                  <c:v>132.5</c:v>
                </c:pt>
                <c:pt idx="178">
                  <c:v>132.5</c:v>
                </c:pt>
                <c:pt idx="179">
                  <c:v>132.5</c:v>
                </c:pt>
                <c:pt idx="180">
                  <c:v>132.5</c:v>
                </c:pt>
                <c:pt idx="181">
                  <c:v>132.5</c:v>
                </c:pt>
                <c:pt idx="182">
                  <c:v>132.5</c:v>
                </c:pt>
                <c:pt idx="183">
                  <c:v>132.5</c:v>
                </c:pt>
                <c:pt idx="184">
                  <c:v>132.5</c:v>
                </c:pt>
                <c:pt idx="185">
                  <c:v>132.5</c:v>
                </c:pt>
                <c:pt idx="186">
                  <c:v>132.5</c:v>
                </c:pt>
                <c:pt idx="187">
                  <c:v>132.5</c:v>
                </c:pt>
                <c:pt idx="188">
                  <c:v>132.5</c:v>
                </c:pt>
                <c:pt idx="189">
                  <c:v>132.5</c:v>
                </c:pt>
                <c:pt idx="190">
                  <c:v>132.5</c:v>
                </c:pt>
                <c:pt idx="191">
                  <c:v>132.5</c:v>
                </c:pt>
                <c:pt idx="192">
                  <c:v>132.5</c:v>
                </c:pt>
                <c:pt idx="193">
                  <c:v>132.5</c:v>
                </c:pt>
                <c:pt idx="194">
                  <c:v>132.5</c:v>
                </c:pt>
                <c:pt idx="195">
                  <c:v>132.5</c:v>
                </c:pt>
                <c:pt idx="196">
                  <c:v>132.5</c:v>
                </c:pt>
                <c:pt idx="197">
                  <c:v>132.5</c:v>
                </c:pt>
                <c:pt idx="198">
                  <c:v>132.5</c:v>
                </c:pt>
                <c:pt idx="199">
                  <c:v>132.5</c:v>
                </c:pt>
                <c:pt idx="200">
                  <c:v>132.5</c:v>
                </c:pt>
                <c:pt idx="201">
                  <c:v>132.5</c:v>
                </c:pt>
                <c:pt idx="202">
                  <c:v>132.5</c:v>
                </c:pt>
                <c:pt idx="203">
                  <c:v>132.5</c:v>
                </c:pt>
                <c:pt idx="204">
                  <c:v>132.5</c:v>
                </c:pt>
                <c:pt idx="205">
                  <c:v>132.5</c:v>
                </c:pt>
                <c:pt idx="206">
                  <c:v>132.5</c:v>
                </c:pt>
                <c:pt idx="207">
                  <c:v>132.5</c:v>
                </c:pt>
                <c:pt idx="208">
                  <c:v>132.5</c:v>
                </c:pt>
                <c:pt idx="209">
                  <c:v>132.5</c:v>
                </c:pt>
                <c:pt idx="210">
                  <c:v>132.5</c:v>
                </c:pt>
                <c:pt idx="211">
                  <c:v>132.5</c:v>
                </c:pt>
                <c:pt idx="212">
                  <c:v>132.5</c:v>
                </c:pt>
                <c:pt idx="213">
                  <c:v>132.5</c:v>
                </c:pt>
                <c:pt idx="214">
                  <c:v>132.5</c:v>
                </c:pt>
                <c:pt idx="215">
                  <c:v>132.5</c:v>
                </c:pt>
                <c:pt idx="216">
                  <c:v>132.5</c:v>
                </c:pt>
                <c:pt idx="217">
                  <c:v>132.5</c:v>
                </c:pt>
                <c:pt idx="218">
                  <c:v>132.5</c:v>
                </c:pt>
                <c:pt idx="219">
                  <c:v>132.5</c:v>
                </c:pt>
                <c:pt idx="220">
                  <c:v>132.5</c:v>
                </c:pt>
                <c:pt idx="221">
                  <c:v>132.5</c:v>
                </c:pt>
                <c:pt idx="222">
                  <c:v>132.5</c:v>
                </c:pt>
                <c:pt idx="223">
                  <c:v>132.5</c:v>
                </c:pt>
                <c:pt idx="224">
                  <c:v>132.5</c:v>
                </c:pt>
                <c:pt idx="225">
                  <c:v>132.5</c:v>
                </c:pt>
                <c:pt idx="226">
                  <c:v>132.5</c:v>
                </c:pt>
                <c:pt idx="227">
                  <c:v>132.5</c:v>
                </c:pt>
                <c:pt idx="228">
                  <c:v>132.5</c:v>
                </c:pt>
                <c:pt idx="229">
                  <c:v>132.5</c:v>
                </c:pt>
                <c:pt idx="230">
                  <c:v>132.5</c:v>
                </c:pt>
                <c:pt idx="231">
                  <c:v>132.5</c:v>
                </c:pt>
                <c:pt idx="232">
                  <c:v>132.5</c:v>
                </c:pt>
                <c:pt idx="233">
                  <c:v>132.5</c:v>
                </c:pt>
                <c:pt idx="234">
                  <c:v>132.5</c:v>
                </c:pt>
                <c:pt idx="235">
                  <c:v>132.5</c:v>
                </c:pt>
                <c:pt idx="236">
                  <c:v>132.5</c:v>
                </c:pt>
                <c:pt idx="237">
                  <c:v>132.5</c:v>
                </c:pt>
                <c:pt idx="238">
                  <c:v>132.5</c:v>
                </c:pt>
                <c:pt idx="239">
                  <c:v>132.5</c:v>
                </c:pt>
                <c:pt idx="240">
                  <c:v>132.5</c:v>
                </c:pt>
                <c:pt idx="241">
                  <c:v>132.5</c:v>
                </c:pt>
                <c:pt idx="242">
                  <c:v>132.5</c:v>
                </c:pt>
                <c:pt idx="243">
                  <c:v>132.5</c:v>
                </c:pt>
                <c:pt idx="244">
                  <c:v>132.5</c:v>
                </c:pt>
                <c:pt idx="245">
                  <c:v>132.5</c:v>
                </c:pt>
                <c:pt idx="246">
                  <c:v>132.5</c:v>
                </c:pt>
                <c:pt idx="247">
                  <c:v>132.5</c:v>
                </c:pt>
                <c:pt idx="248">
                  <c:v>132.5</c:v>
                </c:pt>
                <c:pt idx="249">
                  <c:v>132.5</c:v>
                </c:pt>
                <c:pt idx="250">
                  <c:v>132.5</c:v>
                </c:pt>
                <c:pt idx="251">
                  <c:v>132.5</c:v>
                </c:pt>
                <c:pt idx="252">
                  <c:v>132.5</c:v>
                </c:pt>
                <c:pt idx="253">
                  <c:v>132.5</c:v>
                </c:pt>
                <c:pt idx="254">
                  <c:v>132.5</c:v>
                </c:pt>
                <c:pt idx="255">
                  <c:v>132.5</c:v>
                </c:pt>
                <c:pt idx="256">
                  <c:v>132.5</c:v>
                </c:pt>
                <c:pt idx="257">
                  <c:v>132.5</c:v>
                </c:pt>
                <c:pt idx="258">
                  <c:v>132.5</c:v>
                </c:pt>
                <c:pt idx="259">
                  <c:v>132.5</c:v>
                </c:pt>
                <c:pt idx="260">
                  <c:v>132.5</c:v>
                </c:pt>
              </c:numCache>
            </c:numRef>
          </c:yVal>
          <c:smooth val="0"/>
        </c:ser>
        <c:ser>
          <c:idx val="1"/>
          <c:order val="1"/>
          <c:tx>
            <c:strRef>
              <c:f>Sheet1!$C$1</c:f>
              <c:strCache>
                <c:ptCount val="1"/>
                <c:pt idx="0">
                  <c:v>Basket directly</c:v>
                </c:pt>
              </c:strCache>
            </c:strRef>
          </c:tx>
          <c:spPr>
            <a:solidFill>
              <a:srgbClr val="8FA6AA"/>
            </a:solidFill>
            <a:ln w="28575"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900" b="0" i="0" u="none" strike="noStrike">
                    <a:solidFill>
                      <a:srgbClr val="5F7176"/>
                    </a:solidFill>
                    <a:latin typeface="Arial"/>
                  </a:defRPr>
                </a:pPr>
                <a:r>
                  <a:rPr sz="900" b="0" i="0" u="none" strike="noStrike">
                    <a:solidFill>
                      <a:srgbClr val="5F7176"/>
                    </a:solidFill>
                    <a:latin typeface="Arial"/>
                  </a:rPr>
                  <a:t>Final basket level (% of initial)</a:t>
                </a:r>
              </a:p>
            </c:rich>
          </c:tx>
          <c:layout/>
          <c:overlay val="0"/>
        </c:title>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60"/>
          <c:min val="20"/>
        </c:scaling>
        <c:delete val="0"/>
        <c:axPos val="l"/>
        <c:majorGridlines>
          <c:spPr>
            <a:ln w="6350" cap="flat">
              <a:solidFill>
                <a:srgbClr val="DCE7E5"/>
              </a:solidFill>
              <a:prstDash val="solid"/>
              <a:round/>
            </a:ln>
          </c:spPr>
        </c:majorGridlines>
        <c:title>
          <c:tx>
            <c:rich>
              <a:bodyPr/>
              <a:lstStyle/>
              <a:p>
                <a:pPr>
                  <a:defRPr sz="900" b="0" i="0" u="none" strike="noStrike">
                    <a:solidFill>
                      <a:srgbClr val="5F7176"/>
                    </a:solidFill>
                    <a:latin typeface="Arial"/>
                  </a:defRPr>
                </a:pPr>
                <a:r>
                  <a:rPr sz="900" b="0" i="0" u="none" strike="noStrike">
                    <a:solidFill>
                      <a:srgbClr val="5F7176"/>
                    </a:solidFill>
                    <a:latin typeface="Arial"/>
                  </a:rPr>
                  <a:t>Total received at Y5</a:t>
                </a:r>
              </a:p>
            </c:rich>
          </c:tx>
          <c:layout/>
          <c:overlay val="0"/>
        </c:title>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900">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Protected principal</c:v>
                </c:pt>
              </c:strCache>
            </c:strRef>
          </c:tx>
          <c:spPr>
            <a:solidFill>
              <a:srgbClr val="0B3C49"/>
            </a:solidFill>
            <a:ln w="25400" cap="flat">
              <a:solidFill>
                <a:srgbClr val="0B3C49"/>
              </a:solidFill>
              <a:prstDash val="solid"/>
              <a:round/>
            </a:ln>
            <a:effectLst/>
          </c:spPr>
          <c:marker>
            <c:symbol val="none"/>
            <c:size val="6"/>
            <c:spPr>
              <a:solidFill>
                <a:srgbClr val="0B3C49"/>
              </a:solidFill>
              <a:ln w="9525" cap="flat">
                <a:solidFill>
                  <a:srgbClr val="0B3C49"/>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20"/>
          <c:min val="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Long quarterly digitals</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1.625</c:v>
                </c:pt>
                <c:pt idx="61">
                  <c:v>1.625</c:v>
                </c:pt>
                <c:pt idx="62">
                  <c:v>1.625</c:v>
                </c:pt>
                <c:pt idx="63">
                  <c:v>1.625</c:v>
                </c:pt>
                <c:pt idx="64">
                  <c:v>1.625</c:v>
                </c:pt>
                <c:pt idx="65">
                  <c:v>1.625</c:v>
                </c:pt>
                <c:pt idx="66">
                  <c:v>1.625</c:v>
                </c:pt>
                <c:pt idx="67">
                  <c:v>1.625</c:v>
                </c:pt>
                <c:pt idx="68">
                  <c:v>1.625</c:v>
                </c:pt>
                <c:pt idx="69">
                  <c:v>1.625</c:v>
                </c:pt>
                <c:pt idx="70">
                  <c:v>1.625</c:v>
                </c:pt>
                <c:pt idx="71">
                  <c:v>1.625</c:v>
                </c:pt>
                <c:pt idx="72">
                  <c:v>1.625</c:v>
                </c:pt>
                <c:pt idx="73">
                  <c:v>1.625</c:v>
                </c:pt>
                <c:pt idx="74">
                  <c:v>1.625</c:v>
                </c:pt>
                <c:pt idx="75">
                  <c:v>1.625</c:v>
                </c:pt>
                <c:pt idx="76">
                  <c:v>1.625</c:v>
                </c:pt>
                <c:pt idx="77">
                  <c:v>1.625</c:v>
                </c:pt>
                <c:pt idx="78">
                  <c:v>1.625</c:v>
                </c:pt>
                <c:pt idx="79">
                  <c:v>1.625</c:v>
                </c:pt>
                <c:pt idx="80">
                  <c:v>1.625</c:v>
                </c:pt>
                <c:pt idx="81">
                  <c:v>1.625</c:v>
                </c:pt>
                <c:pt idx="82">
                  <c:v>1.625</c:v>
                </c:pt>
                <c:pt idx="83">
                  <c:v>1.625</c:v>
                </c:pt>
                <c:pt idx="84">
                  <c:v>1.625</c:v>
                </c:pt>
                <c:pt idx="85">
                  <c:v>1.625</c:v>
                </c:pt>
                <c:pt idx="86">
                  <c:v>1.625</c:v>
                </c:pt>
                <c:pt idx="87">
                  <c:v>1.625</c:v>
                </c:pt>
                <c:pt idx="88">
                  <c:v>1.625</c:v>
                </c:pt>
                <c:pt idx="89">
                  <c:v>1.625</c:v>
                </c:pt>
                <c:pt idx="90">
                  <c:v>1.625</c:v>
                </c:pt>
                <c:pt idx="91">
                  <c:v>1.625</c:v>
                </c:pt>
                <c:pt idx="92">
                  <c:v>1.625</c:v>
                </c:pt>
                <c:pt idx="93">
                  <c:v>1.625</c:v>
                </c:pt>
                <c:pt idx="94">
                  <c:v>1.625</c:v>
                </c:pt>
                <c:pt idx="95">
                  <c:v>1.625</c:v>
                </c:pt>
                <c:pt idx="96">
                  <c:v>1.625</c:v>
                </c:pt>
                <c:pt idx="97">
                  <c:v>1.625</c:v>
                </c:pt>
                <c:pt idx="98">
                  <c:v>1.625</c:v>
                </c:pt>
                <c:pt idx="99">
                  <c:v>1.625</c:v>
                </c:pt>
                <c:pt idx="100">
                  <c:v>1.625</c:v>
                </c:pt>
                <c:pt idx="101">
                  <c:v>1.625</c:v>
                </c:pt>
                <c:pt idx="102">
                  <c:v>1.625</c:v>
                </c:pt>
                <c:pt idx="103">
                  <c:v>1.625</c:v>
                </c:pt>
                <c:pt idx="104">
                  <c:v>1.625</c:v>
                </c:pt>
                <c:pt idx="105">
                  <c:v>1.625</c:v>
                </c:pt>
                <c:pt idx="106">
                  <c:v>1.625</c:v>
                </c:pt>
                <c:pt idx="107">
                  <c:v>1.625</c:v>
                </c:pt>
                <c:pt idx="108">
                  <c:v>1.625</c:v>
                </c:pt>
                <c:pt idx="109">
                  <c:v>1.625</c:v>
                </c:pt>
                <c:pt idx="110">
                  <c:v>1.625</c:v>
                </c:pt>
                <c:pt idx="111">
                  <c:v>1.625</c:v>
                </c:pt>
                <c:pt idx="112">
                  <c:v>1.625</c:v>
                </c:pt>
                <c:pt idx="113">
                  <c:v>1.625</c:v>
                </c:pt>
                <c:pt idx="114">
                  <c:v>1.625</c:v>
                </c:pt>
                <c:pt idx="115">
                  <c:v>1.625</c:v>
                </c:pt>
                <c:pt idx="116">
                  <c:v>1.625</c:v>
                </c:pt>
                <c:pt idx="117">
                  <c:v>1.625</c:v>
                </c:pt>
                <c:pt idx="118">
                  <c:v>1.625</c:v>
                </c:pt>
                <c:pt idx="119">
                  <c:v>1.625</c:v>
                </c:pt>
                <c:pt idx="120">
                  <c:v>1.625</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2.2"/>
          <c:min val="-0.5"/>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Autocall (Natixis's side)</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4"/>
          <c:min val="-0.3"/>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Basket level (% of initial); coupon and autocall level 100%</a:t>
            </a:r>
          </a:p>
        </c:rich>
      </c:tx>
      <c:layout/>
      <c:overlay val="0"/>
    </c:title>
    <c:autoTitleDeleted val="0"/>
    <c:plotArea>
      <c:layout/>
      <c:lineChart>
        <c:varyColors val="0"/>
        <c:ser>
          <c:idx val="0"/>
          <c:order val="0"/>
          <c:tx>
            <c:strRef>
              <c:f>Sheet1!$B$1</c:f>
              <c:strCache>
                <c:ptCount val="1"/>
                <c:pt idx="0">
                  <c:v>AI capex boom</c:v>
                </c:pt>
              </c:strCache>
            </c:strRef>
          </c:tx>
          <c:spPr>
            <a:solidFill>
              <a:srgbClr val="0F8B8D"/>
            </a:solidFill>
            <a:ln w="25400" cap="flat">
              <a:solidFill>
                <a:srgbClr val="0F8B8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8B8D"/>
              </a:solidFill>
              <a:ln w="9525" cap="flat">
                <a:solidFill>
                  <a:srgbClr val="0F8B8D"/>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D9961A"/>
            </a:solidFill>
            <a:ln w="25400" cap="flat">
              <a:solidFill>
                <a:srgbClr val="D996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961A"/>
              </a:solidFill>
              <a:ln w="9525" cap="flat">
                <a:solidFill>
                  <a:srgbClr val="D9961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0B3C49"/>
            </a:solidFill>
            <a:ln w="25400" cap="flat">
              <a:solidFill>
                <a:srgbClr val="0B3C4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3C49"/>
              </a:solidFill>
              <a:ln w="9525" cap="flat">
                <a:solidFill>
                  <a:srgbClr val="0B3C49"/>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8FA6AA"/>
            </a:solidFill>
            <a:ln w="25400" cap="flat">
              <a:solidFill>
                <a:srgbClr val="8FA6A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FA6AA"/>
              </a:solidFill>
              <a:ln w="9525" cap="flat">
                <a:solidFill>
                  <a:srgbClr val="8FA6A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8433A"/>
            </a:solidFill>
            <a:ln w="25400" cap="flat">
              <a:solidFill>
                <a:srgbClr val="B843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433A"/>
              </a:solidFill>
              <a:ln w="9525" cap="flat">
                <a:solidFill>
                  <a:srgbClr val="B8433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Cumulative autocall probability (risk-neutral)</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0F8B8D"/>
            </a:solidFill>
            <a:effectLst/>
          </c:spPr>
          <c:invertIfNegative val="0"/>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51.4</c:v>
                </c:pt>
                <c:pt idx="1">
                  <c:v>69.6</c:v>
                </c:pt>
                <c:pt idx="2">
                  <c:v>76.3</c:v>
                </c:pt>
                <c:pt idx="3">
                  <c:v>80.2</c:v>
                </c:pt>
                <c:pt idx="4">
                  <c:v>82.8</c:v>
                </c:pt>
              </c:numCache>
            </c:numRef>
          </c:val>
        </c:ser>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Total received at Y5 (not called earlier) vs final basket level</a:t>
            </a:r>
          </a:p>
        </c:rich>
      </c:tx>
      <c:layout/>
      <c:overlay val="0"/>
    </c:title>
    <c:autoTitleDeleted val="0"/>
    <c:plotArea>
      <c:layout/>
      <c:scatterChart>
        <c:scatterStyle val="lineMarker"/>
        <c:varyColors val="0"/>
        <c:ser>
          <c:idx val="0"/>
          <c:order val="0"/>
          <c:tx>
            <c:strRef>
              <c:f>Sheet1!$B$1</c:f>
              <c:strCache>
                <c:ptCount val="1"/>
                <c:pt idx="0">
                  <c:v>Our note (6.5%)</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132.5</c:v>
                </c:pt>
                <c:pt idx="61">
                  <c:v>132.5</c:v>
                </c:pt>
                <c:pt idx="62">
                  <c:v>132.5</c:v>
                </c:pt>
                <c:pt idx="63">
                  <c:v>132.5</c:v>
                </c:pt>
                <c:pt idx="64">
                  <c:v>132.5</c:v>
                </c:pt>
                <c:pt idx="65">
                  <c:v>132.5</c:v>
                </c:pt>
                <c:pt idx="66">
                  <c:v>132.5</c:v>
                </c:pt>
                <c:pt idx="67">
                  <c:v>132.5</c:v>
                </c:pt>
                <c:pt idx="68">
                  <c:v>132.5</c:v>
                </c:pt>
                <c:pt idx="69">
                  <c:v>132.5</c:v>
                </c:pt>
                <c:pt idx="70">
                  <c:v>132.5</c:v>
                </c:pt>
                <c:pt idx="71">
                  <c:v>132.5</c:v>
                </c:pt>
                <c:pt idx="72">
                  <c:v>132.5</c:v>
                </c:pt>
                <c:pt idx="73">
                  <c:v>132.5</c:v>
                </c:pt>
                <c:pt idx="74">
                  <c:v>132.5</c:v>
                </c:pt>
                <c:pt idx="75">
                  <c:v>132.5</c:v>
                </c:pt>
                <c:pt idx="76">
                  <c:v>132.5</c:v>
                </c:pt>
                <c:pt idx="77">
                  <c:v>132.5</c:v>
                </c:pt>
                <c:pt idx="78">
                  <c:v>132.5</c:v>
                </c:pt>
                <c:pt idx="79">
                  <c:v>132.5</c:v>
                </c:pt>
                <c:pt idx="80">
                  <c:v>132.5</c:v>
                </c:pt>
                <c:pt idx="81">
                  <c:v>132.5</c:v>
                </c:pt>
                <c:pt idx="82">
                  <c:v>132.5</c:v>
                </c:pt>
                <c:pt idx="83">
                  <c:v>132.5</c:v>
                </c:pt>
                <c:pt idx="84">
                  <c:v>132.5</c:v>
                </c:pt>
                <c:pt idx="85">
                  <c:v>132.5</c:v>
                </c:pt>
                <c:pt idx="86">
                  <c:v>132.5</c:v>
                </c:pt>
                <c:pt idx="87">
                  <c:v>132.5</c:v>
                </c:pt>
                <c:pt idx="88">
                  <c:v>132.5</c:v>
                </c:pt>
                <c:pt idx="89">
                  <c:v>132.5</c:v>
                </c:pt>
                <c:pt idx="90">
                  <c:v>132.5</c:v>
                </c:pt>
                <c:pt idx="91">
                  <c:v>132.5</c:v>
                </c:pt>
                <c:pt idx="92">
                  <c:v>132.5</c:v>
                </c:pt>
                <c:pt idx="93">
                  <c:v>132.5</c:v>
                </c:pt>
                <c:pt idx="94">
                  <c:v>132.5</c:v>
                </c:pt>
                <c:pt idx="95">
                  <c:v>132.5</c:v>
                </c:pt>
                <c:pt idx="96">
                  <c:v>132.5</c:v>
                </c:pt>
                <c:pt idx="97">
                  <c:v>132.5</c:v>
                </c:pt>
                <c:pt idx="98">
                  <c:v>132.5</c:v>
                </c:pt>
                <c:pt idx="99">
                  <c:v>132.5</c:v>
                </c:pt>
                <c:pt idx="100">
                  <c:v>132.5</c:v>
                </c:pt>
                <c:pt idx="101">
                  <c:v>132.5</c:v>
                </c:pt>
                <c:pt idx="102">
                  <c:v>132.5</c:v>
                </c:pt>
                <c:pt idx="103">
                  <c:v>132.5</c:v>
                </c:pt>
                <c:pt idx="104">
                  <c:v>132.5</c:v>
                </c:pt>
                <c:pt idx="105">
                  <c:v>132.5</c:v>
                </c:pt>
                <c:pt idx="106">
                  <c:v>132.5</c:v>
                </c:pt>
                <c:pt idx="107">
                  <c:v>132.5</c:v>
                </c:pt>
                <c:pt idx="108">
                  <c:v>132.5</c:v>
                </c:pt>
                <c:pt idx="109">
                  <c:v>132.5</c:v>
                </c:pt>
                <c:pt idx="110">
                  <c:v>132.5</c:v>
                </c:pt>
                <c:pt idx="111">
                  <c:v>132.5</c:v>
                </c:pt>
                <c:pt idx="112">
                  <c:v>132.5</c:v>
                </c:pt>
                <c:pt idx="113">
                  <c:v>132.5</c:v>
                </c:pt>
                <c:pt idx="114">
                  <c:v>132.5</c:v>
                </c:pt>
                <c:pt idx="115">
                  <c:v>132.5</c:v>
                </c:pt>
                <c:pt idx="116">
                  <c:v>132.5</c:v>
                </c:pt>
                <c:pt idx="117">
                  <c:v>132.5</c:v>
                </c:pt>
                <c:pt idx="118">
                  <c:v>132.5</c:v>
                </c:pt>
                <c:pt idx="119">
                  <c:v>132.5</c:v>
                </c:pt>
                <c:pt idx="120">
                  <c:v>132.5</c:v>
                </c:pt>
                <c:pt idx="121">
                  <c:v>132.5</c:v>
                </c:pt>
                <c:pt idx="122">
                  <c:v>132.5</c:v>
                </c:pt>
                <c:pt idx="123">
                  <c:v>132.5</c:v>
                </c:pt>
                <c:pt idx="124">
                  <c:v>132.5</c:v>
                </c:pt>
                <c:pt idx="125">
                  <c:v>132.5</c:v>
                </c:pt>
                <c:pt idx="126">
                  <c:v>132.5</c:v>
                </c:pt>
                <c:pt idx="127">
                  <c:v>132.5</c:v>
                </c:pt>
                <c:pt idx="128">
                  <c:v>132.5</c:v>
                </c:pt>
                <c:pt idx="129">
                  <c:v>132.5</c:v>
                </c:pt>
                <c:pt idx="130">
                  <c:v>132.5</c:v>
                </c:pt>
                <c:pt idx="131">
                  <c:v>132.5</c:v>
                </c:pt>
                <c:pt idx="132">
                  <c:v>132.5</c:v>
                </c:pt>
                <c:pt idx="133">
                  <c:v>132.5</c:v>
                </c:pt>
                <c:pt idx="134">
                  <c:v>132.5</c:v>
                </c:pt>
                <c:pt idx="135">
                  <c:v>132.5</c:v>
                </c:pt>
                <c:pt idx="136">
                  <c:v>132.5</c:v>
                </c:pt>
                <c:pt idx="137">
                  <c:v>132.5</c:v>
                </c:pt>
                <c:pt idx="138">
                  <c:v>132.5</c:v>
                </c:pt>
                <c:pt idx="139">
                  <c:v>132.5</c:v>
                </c:pt>
                <c:pt idx="140">
                  <c:v>132.5</c:v>
                </c:pt>
              </c:numCache>
            </c:numRef>
          </c:yVal>
          <c:smooth val="0"/>
        </c:ser>
        <c:ser>
          <c:idx val="1"/>
          <c:order val="1"/>
          <c:tx>
            <c:strRef>
              <c:f>Sheet1!$C$1</c:f>
              <c:strCache>
                <c:ptCount val="1"/>
                <c:pt idx="0">
                  <c:v>Snowball 9%, 65% barrier</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145</c:v>
                </c:pt>
                <c:pt idx="61">
                  <c:v>145</c:v>
                </c:pt>
                <c:pt idx="62">
                  <c:v>145</c:v>
                </c:pt>
                <c:pt idx="63">
                  <c:v>145</c:v>
                </c:pt>
                <c:pt idx="64">
                  <c:v>145</c:v>
                </c:pt>
                <c:pt idx="65">
                  <c:v>145</c:v>
                </c:pt>
                <c:pt idx="66">
                  <c:v>145</c:v>
                </c:pt>
                <c:pt idx="67">
                  <c:v>145</c:v>
                </c:pt>
                <c:pt idx="68">
                  <c:v>145</c:v>
                </c:pt>
                <c:pt idx="69">
                  <c:v>145</c:v>
                </c:pt>
                <c:pt idx="70">
                  <c:v>145</c:v>
                </c:pt>
                <c:pt idx="71">
                  <c:v>145</c:v>
                </c:pt>
                <c:pt idx="72">
                  <c:v>145</c:v>
                </c:pt>
                <c:pt idx="73">
                  <c:v>145</c:v>
                </c:pt>
                <c:pt idx="74">
                  <c:v>145</c:v>
                </c:pt>
                <c:pt idx="75">
                  <c:v>145</c:v>
                </c:pt>
                <c:pt idx="76">
                  <c:v>145</c:v>
                </c:pt>
                <c:pt idx="77">
                  <c:v>145</c:v>
                </c:pt>
                <c:pt idx="78">
                  <c:v>145</c:v>
                </c:pt>
                <c:pt idx="79">
                  <c:v>145</c:v>
                </c:pt>
                <c:pt idx="80">
                  <c:v>145</c:v>
                </c:pt>
                <c:pt idx="81">
                  <c:v>145</c:v>
                </c:pt>
                <c:pt idx="82">
                  <c:v>145</c:v>
                </c:pt>
                <c:pt idx="83">
                  <c:v>145</c:v>
                </c:pt>
                <c:pt idx="84">
                  <c:v>145</c:v>
                </c:pt>
                <c:pt idx="85">
                  <c:v>145</c:v>
                </c:pt>
                <c:pt idx="86">
                  <c:v>145</c:v>
                </c:pt>
                <c:pt idx="87">
                  <c:v>145</c:v>
                </c:pt>
                <c:pt idx="88">
                  <c:v>145</c:v>
                </c:pt>
                <c:pt idx="89">
                  <c:v>145</c:v>
                </c:pt>
                <c:pt idx="90">
                  <c:v>145</c:v>
                </c:pt>
                <c:pt idx="91">
                  <c:v>145</c:v>
                </c:pt>
                <c:pt idx="92">
                  <c:v>145</c:v>
                </c:pt>
                <c:pt idx="93">
                  <c:v>145</c:v>
                </c:pt>
                <c:pt idx="94">
                  <c:v>145</c:v>
                </c:pt>
                <c:pt idx="95">
                  <c:v>145</c:v>
                </c:pt>
                <c:pt idx="96">
                  <c:v>145</c:v>
                </c:pt>
                <c:pt idx="97">
                  <c:v>145</c:v>
                </c:pt>
                <c:pt idx="98">
                  <c:v>145</c:v>
                </c:pt>
                <c:pt idx="99">
                  <c:v>145</c:v>
                </c:pt>
                <c:pt idx="100">
                  <c:v>145</c:v>
                </c:pt>
                <c:pt idx="101">
                  <c:v>145</c:v>
                </c:pt>
                <c:pt idx="102">
                  <c:v>145</c:v>
                </c:pt>
                <c:pt idx="103">
                  <c:v>145</c:v>
                </c:pt>
                <c:pt idx="104">
                  <c:v>145</c:v>
                </c:pt>
                <c:pt idx="105">
                  <c:v>145</c:v>
                </c:pt>
                <c:pt idx="106">
                  <c:v>145</c:v>
                </c:pt>
                <c:pt idx="107">
                  <c:v>145</c:v>
                </c:pt>
                <c:pt idx="108">
                  <c:v>145</c:v>
                </c:pt>
                <c:pt idx="109">
                  <c:v>145</c:v>
                </c:pt>
                <c:pt idx="110">
                  <c:v>145</c:v>
                </c:pt>
                <c:pt idx="111">
                  <c:v>145</c:v>
                </c:pt>
                <c:pt idx="112">
                  <c:v>145</c:v>
                </c:pt>
                <c:pt idx="113">
                  <c:v>145</c:v>
                </c:pt>
                <c:pt idx="114">
                  <c:v>145</c:v>
                </c:pt>
                <c:pt idx="115">
                  <c:v>145</c:v>
                </c:pt>
                <c:pt idx="116">
                  <c:v>145</c:v>
                </c:pt>
                <c:pt idx="117">
                  <c:v>145</c:v>
                </c:pt>
                <c:pt idx="118">
                  <c:v>145</c:v>
                </c:pt>
                <c:pt idx="119">
                  <c:v>145</c:v>
                </c:pt>
                <c:pt idx="120">
                  <c:v>145</c:v>
                </c:pt>
                <c:pt idx="121">
                  <c:v>145</c:v>
                </c:pt>
                <c:pt idx="122">
                  <c:v>145</c:v>
                </c:pt>
                <c:pt idx="123">
                  <c:v>145</c:v>
                </c:pt>
                <c:pt idx="124">
                  <c:v>145</c:v>
                </c:pt>
                <c:pt idx="125">
                  <c:v>145</c:v>
                </c:pt>
                <c:pt idx="126">
                  <c:v>145</c:v>
                </c:pt>
                <c:pt idx="127">
                  <c:v>145</c:v>
                </c:pt>
                <c:pt idx="128">
                  <c:v>145</c:v>
                </c:pt>
                <c:pt idx="129">
                  <c:v>145</c:v>
                </c:pt>
                <c:pt idx="130">
                  <c:v>145</c:v>
                </c:pt>
                <c:pt idx="131">
                  <c:v>145</c:v>
                </c:pt>
                <c:pt idx="132">
                  <c:v>145</c:v>
                </c:pt>
                <c:pt idx="133">
                  <c:v>145</c:v>
                </c:pt>
                <c:pt idx="134">
                  <c:v>145</c:v>
                </c:pt>
                <c:pt idx="135">
                  <c:v>145</c:v>
                </c:pt>
                <c:pt idx="136">
                  <c:v>145</c:v>
                </c:pt>
                <c:pt idx="137">
                  <c:v>145</c:v>
                </c:pt>
                <c:pt idx="138">
                  <c:v>145</c:v>
                </c:pt>
                <c:pt idx="139">
                  <c:v>145</c:v>
                </c:pt>
                <c:pt idx="140">
                  <c:v>145</c:v>
                </c:pt>
              </c:numCache>
            </c:numRef>
          </c:yVal>
          <c:smooth val="0"/>
        </c:ser>
        <c:ser>
          <c:idx val="2"/>
          <c:order val="2"/>
          <c:tx>
            <c:strRef>
              <c:f>Sheet1!$D$1</c:f>
              <c:strCache>
                <c:ptCount val="1"/>
                <c:pt idx="0">
                  <c:v>PPN</c:v>
                </c:pt>
              </c:strCache>
            </c:strRef>
          </c:tx>
          <c:spPr>
            <a:solidFill>
              <a:srgbClr val="D9961A"/>
            </a:solidFill>
            <a:ln w="25400" cap="flat">
              <a:solidFill>
                <a:srgbClr val="D9961A"/>
              </a:solidFill>
              <a:prstDash val="solid"/>
              <a:round/>
            </a:ln>
            <a:effectLst/>
          </c:spPr>
          <c:marker>
            <c:symbol val="none"/>
            <c:size val="6"/>
            <c:spPr>
              <a:solidFill>
                <a:srgbClr val="D9961A"/>
              </a:solidFill>
              <a:ln w="9525" cap="flat">
                <a:solidFill>
                  <a:srgbClr val="D9961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101.02</c:v>
                </c:pt>
                <c:pt idx="62">
                  <c:v>102.04</c:v>
                </c:pt>
                <c:pt idx="63">
                  <c:v>103.06</c:v>
                </c:pt>
                <c:pt idx="64">
                  <c:v>104.08</c:v>
                </c:pt>
                <c:pt idx="65">
                  <c:v>105.1</c:v>
                </c:pt>
                <c:pt idx="66">
                  <c:v>106.12</c:v>
                </c:pt>
                <c:pt idx="67">
                  <c:v>107.14</c:v>
                </c:pt>
                <c:pt idx="68">
                  <c:v>108.16</c:v>
                </c:pt>
                <c:pt idx="69">
                  <c:v>109.18</c:v>
                </c:pt>
                <c:pt idx="70">
                  <c:v>110.2</c:v>
                </c:pt>
                <c:pt idx="71">
                  <c:v>111.22</c:v>
                </c:pt>
                <c:pt idx="72">
                  <c:v>112.24</c:v>
                </c:pt>
                <c:pt idx="73">
                  <c:v>113.26</c:v>
                </c:pt>
                <c:pt idx="74">
                  <c:v>114.28</c:v>
                </c:pt>
                <c:pt idx="75">
                  <c:v>115.3</c:v>
                </c:pt>
                <c:pt idx="76">
                  <c:v>116.32</c:v>
                </c:pt>
                <c:pt idx="77">
                  <c:v>117.34</c:v>
                </c:pt>
                <c:pt idx="78">
                  <c:v>118.36</c:v>
                </c:pt>
                <c:pt idx="79">
                  <c:v>119.38</c:v>
                </c:pt>
                <c:pt idx="80">
                  <c:v>120.4</c:v>
                </c:pt>
                <c:pt idx="81">
                  <c:v>121.42</c:v>
                </c:pt>
                <c:pt idx="82">
                  <c:v>122.44</c:v>
                </c:pt>
                <c:pt idx="83">
                  <c:v>123.46000000000001</c:v>
                </c:pt>
                <c:pt idx="84">
                  <c:v>124.48</c:v>
                </c:pt>
                <c:pt idx="85">
                  <c:v>125.5</c:v>
                </c:pt>
                <c:pt idx="86">
                  <c:v>126.52</c:v>
                </c:pt>
                <c:pt idx="87">
                  <c:v>127.53999999999999</c:v>
                </c:pt>
                <c:pt idx="88">
                  <c:v>128.56</c:v>
                </c:pt>
                <c:pt idx="89">
                  <c:v>129.58</c:v>
                </c:pt>
                <c:pt idx="90">
                  <c:v>130.6</c:v>
                </c:pt>
                <c:pt idx="91">
                  <c:v>131.62</c:v>
                </c:pt>
                <c:pt idx="92">
                  <c:v>132.64</c:v>
                </c:pt>
                <c:pt idx="93">
                  <c:v>133.66</c:v>
                </c:pt>
                <c:pt idx="94">
                  <c:v>134.68</c:v>
                </c:pt>
                <c:pt idx="95">
                  <c:v>135.7</c:v>
                </c:pt>
                <c:pt idx="96">
                  <c:v>136.72</c:v>
                </c:pt>
                <c:pt idx="97">
                  <c:v>137.74</c:v>
                </c:pt>
                <c:pt idx="98">
                  <c:v>138.76</c:v>
                </c:pt>
                <c:pt idx="99">
                  <c:v>139.78</c:v>
                </c:pt>
                <c:pt idx="100">
                  <c:v>140.8</c:v>
                </c:pt>
                <c:pt idx="101">
                  <c:v>141.82</c:v>
                </c:pt>
                <c:pt idx="102">
                  <c:v>142.84</c:v>
                </c:pt>
                <c:pt idx="103">
                  <c:v>143.86</c:v>
                </c:pt>
                <c:pt idx="104">
                  <c:v>144.88</c:v>
                </c:pt>
                <c:pt idx="105">
                  <c:v>145.9</c:v>
                </c:pt>
                <c:pt idx="106">
                  <c:v>146.92000000000002</c:v>
                </c:pt>
                <c:pt idx="107">
                  <c:v>147.94</c:v>
                </c:pt>
                <c:pt idx="108">
                  <c:v>148.96</c:v>
                </c:pt>
                <c:pt idx="109">
                  <c:v>149.98000000000002</c:v>
                </c:pt>
                <c:pt idx="110">
                  <c:v>151</c:v>
                </c:pt>
                <c:pt idx="111">
                  <c:v>152.02</c:v>
                </c:pt>
                <c:pt idx="112">
                  <c:v>153.04</c:v>
                </c:pt>
                <c:pt idx="113">
                  <c:v>154.06</c:v>
                </c:pt>
                <c:pt idx="114">
                  <c:v>155.07999999999998</c:v>
                </c:pt>
                <c:pt idx="115">
                  <c:v>156.1</c:v>
                </c:pt>
                <c:pt idx="116">
                  <c:v>157.12</c:v>
                </c:pt>
                <c:pt idx="117">
                  <c:v>158.14</c:v>
                </c:pt>
                <c:pt idx="118">
                  <c:v>159.16</c:v>
                </c:pt>
                <c:pt idx="119">
                  <c:v>160.18</c:v>
                </c:pt>
                <c:pt idx="120">
                  <c:v>161.2</c:v>
                </c:pt>
                <c:pt idx="121">
                  <c:v>162.22</c:v>
                </c:pt>
                <c:pt idx="122">
                  <c:v>163.24</c:v>
                </c:pt>
                <c:pt idx="123">
                  <c:v>164.26</c:v>
                </c:pt>
                <c:pt idx="124">
                  <c:v>165.28</c:v>
                </c:pt>
                <c:pt idx="125">
                  <c:v>166.3</c:v>
                </c:pt>
                <c:pt idx="126">
                  <c:v>167.32</c:v>
                </c:pt>
                <c:pt idx="127">
                  <c:v>168.34</c:v>
                </c:pt>
                <c:pt idx="128">
                  <c:v>169.36</c:v>
                </c:pt>
                <c:pt idx="129">
                  <c:v>170.38</c:v>
                </c:pt>
                <c:pt idx="130">
                  <c:v>171.4</c:v>
                </c:pt>
                <c:pt idx="131">
                  <c:v>172.42000000000002</c:v>
                </c:pt>
                <c:pt idx="132">
                  <c:v>173.44</c:v>
                </c:pt>
                <c:pt idx="133">
                  <c:v>174.46</c:v>
                </c:pt>
                <c:pt idx="134">
                  <c:v>175.48000000000002</c:v>
                </c:pt>
                <c:pt idx="135">
                  <c:v>176.5</c:v>
                </c:pt>
                <c:pt idx="136">
                  <c:v>177.51999999999998</c:v>
                </c:pt>
                <c:pt idx="137">
                  <c:v>178.54000000000002</c:v>
                </c:pt>
                <c:pt idx="138">
                  <c:v>179.56</c:v>
                </c:pt>
                <c:pt idx="139">
                  <c:v>180.57999999999998</c:v>
                </c:pt>
                <c:pt idx="140">
                  <c:v>181.6</c:v>
                </c:pt>
              </c:numCache>
            </c:numRef>
          </c:yVal>
          <c:smooth val="0"/>
        </c:ser>
        <c:ser>
          <c:idx val="3"/>
          <c:order val="3"/>
          <c:tx>
            <c:strRef>
              <c:f>Sheet1!$E$1</c:f>
              <c:strCache>
                <c:ptCount val="1"/>
                <c:pt idx="0">
                  <c:v>Basket</c:v>
                </c:pt>
              </c:strCache>
            </c:strRef>
          </c:tx>
          <c:spPr>
            <a:solidFill>
              <a:srgbClr val="8FA6AA"/>
            </a:solidFill>
            <a:ln w="25400"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Sheet1!$E$2:$E$142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DCE7E5"/>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85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capital-protected autocallable on the four Asian digital-transformation engines the Chak family already knows from its businesses. It pays 6.5% a year whenever the basket is at or above its starting level, catches up any missed coupons, and returns 100% of capital at maturity whatever the basket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this is legacy money. The family wants growth and Asian tech exposure, but the first rule is not to lose capital. That points us to an autocallable whose principal is fully protected, with a coupon that rewards recovery and is never lost, thanks to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Asia supplies AI hardware, Japan's reforms re-rate equities, China tech trades at a discount, and power demand grows. (2) Structuring: high USD rates make the protected principal cheap, and Asian volatility makes the 100% coupon trigger likely to be hit, so we can protect capital and still pay above the funding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index is a real Bloomberg ticker (verify MXAP0UT Index for MSCI AC Asia Pacific Utilities). Weights: 60% to the two tech engines the family knows best, 25% to the AI supply chain, and 15% to utilities as a low-vol anchor linked to their renewable assets. Quanto USD: the client takes no JPY/HKD/TWD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design argument. Every design that puts capital at risk only pays 6–10% for an 8–10% chance of a loss; pushing the loss probability down with a calmer basket kills the coupon. Protecting capital fully keeps a coupon above the funding rate because the principal is cheap at 5.69% rates and the autocall usually returns it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one question asked every quarter: is the basket at or above where it started? If yes, the family is paid 1.625% for that quarter plus any coupons missed before, and from Year 1 the note also ends with 100% back. If the answer is never yes, the family still gets 100% back at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chart: the cash ladder. Each quarter the note lives adds 1.625% of notional, paid either on the date or later through memory. Right chart: if the note reaches Year 5 without being called, there are only two zones. At or above 100% the family receives 132.5%; below 100% it receives 100%, plus any coupons already paid in Q1–Q3. Above +32.5% the basket beats the note: that is the capped upside.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on a single observation date against the basket level (the autocall leg is illustrative: it shows the remaining coupon stream switching off). Unlike a classic autocall, there is no short put: the coupon is funded by cheap protected principal and by the autocall cutting the coupon stream short when the basket is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pays all 15 quarterly coupons at once when the basket recovers at Q15. The two bad paths are where protection earns its keep: the basket is down 12% and 45%, the family gets 100%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answers 'what if markets go nowhere?'. Even at 0% equity return the note is called in ~68% of paths, because volatility alone takes the basket back to 100% on some date. The honest cost of protection: in ~11% of paths (risk-neutral) the family earns nothing for 5 years, but it never loses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There is no capital-loss line: the main honest risks are earning nothing for 5 years, capped upside, and Natixis credit. The 6.5% coupon sits below the 6.9% fair level in every sensitivity we ran, so the offer is robust to market moves before the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0F8B8D">
              <a:alpha val="65000"/>
            </a:srgbClr>
          </a:solidFill>
          <a:ln/>
        </p:spPr>
      </p:sp>
      <p:sp>
        <p:nvSpPr>
          <p:cNvPr id="3" name="Shape 1"/>
          <p:cNvSpPr/>
          <p:nvPr/>
        </p:nvSpPr>
        <p:spPr>
          <a:xfrm>
            <a:off x="7589520" y="3200400"/>
            <a:ext cx="2194560" cy="2194560"/>
          </a:xfrm>
          <a:prstGeom prst="ellipse">
            <a:avLst/>
          </a:prstGeom>
          <a:solidFill>
            <a:srgbClr val="D9961A">
              <a:alpha val="8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Calibri" pitchFamily="34" charset="0"/>
                <a:ea typeface="Calibri" pitchFamily="34" charset="-122"/>
                <a:cs typeface="Calibri"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Asian Digital Transformation Autocallable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Calibri" pitchFamily="34" charset="0"/>
                <a:ea typeface="Calibri" pitchFamily="34" charset="-122"/>
                <a:cs typeface="Calibri" pitchFamily="34" charset="-120"/>
              </a:rPr>
              <a:t>6.5% a year from Asia's digital build-out, with 100% of capital returned at maturity</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D9961A"/>
                </a:solidFill>
                <a:latin typeface="Calibri" pitchFamily="34" charset="0"/>
                <a:ea typeface="Calibri" pitchFamily="34" charset="-122"/>
                <a:cs typeface="Calibri" pitchFamily="34" charset="-120"/>
              </a:rPr>
              <a:t>USD 100mn · 5-year note issued by Natixis · 6.5% p.a. memory coupon · 100% capital protected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Agenda</a:t>
            </a:r>
            <a:endParaRPr lang="en-US" sz="2200" dirty="0"/>
          </a:p>
        </p:txBody>
      </p:sp>
      <p:sp>
        <p:nvSpPr>
          <p:cNvPr id="3" name="Shape 1"/>
          <p:cNvSpPr/>
          <p:nvPr/>
        </p:nvSpPr>
        <p:spPr>
          <a:xfrm>
            <a:off x="548640" y="1097280"/>
            <a:ext cx="457200" cy="457200"/>
          </a:xfrm>
          <a:prstGeom prst="ellipse">
            <a:avLst/>
          </a:prstGeom>
          <a:solidFill>
            <a:srgbClr val="0F8B8D"/>
          </a:solidFill>
          <a:ln/>
        </p:spPr>
      </p:sp>
      <p:sp>
        <p:nvSpPr>
          <p:cNvPr id="4" name="Text 2"/>
          <p:cNvSpPr txBox="1"/>
          <p:nvPr/>
        </p:nvSpPr>
        <p:spPr>
          <a:xfrm>
            <a:off x="548640" y="10972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234440" y="105156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Client &amp; market</a:t>
            </a:r>
            <a:endParaRPr lang="en-US" sz="1600" dirty="0"/>
          </a:p>
        </p:txBody>
      </p:sp>
      <p:sp>
        <p:nvSpPr>
          <p:cNvPr id="6" name="Text 4"/>
          <p:cNvSpPr txBox="1"/>
          <p:nvPr/>
        </p:nvSpPr>
        <p:spPr>
          <a:xfrm>
            <a:off x="1234440" y="135331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Who the Chak family is, what they need, and why Asia's digital build-out now</a:t>
            </a:r>
            <a:endParaRPr lang="en-US" sz="1150" dirty="0"/>
          </a:p>
        </p:txBody>
      </p:sp>
      <p:sp>
        <p:nvSpPr>
          <p:cNvPr id="7" name="Text 5"/>
          <p:cNvSpPr txBox="1"/>
          <p:nvPr/>
        </p:nvSpPr>
        <p:spPr>
          <a:xfrm>
            <a:off x="7315200" y="112471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1–2</a:t>
            </a:r>
            <a:endParaRPr lang="en-US" sz="1100" dirty="0"/>
          </a:p>
        </p:txBody>
      </p:sp>
      <p:sp>
        <p:nvSpPr>
          <p:cNvPr id="8" name="Shape 6"/>
          <p:cNvSpPr/>
          <p:nvPr/>
        </p:nvSpPr>
        <p:spPr>
          <a:xfrm>
            <a:off x="548640" y="1828800"/>
            <a:ext cx="457200" cy="457200"/>
          </a:xfrm>
          <a:prstGeom prst="ellipse">
            <a:avLst/>
          </a:prstGeom>
          <a:solidFill>
            <a:srgbClr val="D9961A"/>
          </a:solidFill>
          <a:ln/>
        </p:spPr>
      </p:sp>
      <p:sp>
        <p:nvSpPr>
          <p:cNvPr id="9" name="Text 7"/>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234440" y="178308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Product design</a:t>
            </a:r>
            <a:endParaRPr lang="en-US" sz="1600" dirty="0"/>
          </a:p>
        </p:txBody>
      </p:sp>
      <p:sp>
        <p:nvSpPr>
          <p:cNvPr id="11" name="Text 9"/>
          <p:cNvSpPr txBox="1"/>
          <p:nvPr/>
        </p:nvSpPr>
        <p:spPr>
          <a:xfrm>
            <a:off x="1234440" y="208483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Underlying basket, term sheet, and why a capital-protected autocallable</a:t>
            </a:r>
            <a:endParaRPr lang="en-US" sz="1150" dirty="0"/>
          </a:p>
        </p:txBody>
      </p:sp>
      <p:sp>
        <p:nvSpPr>
          <p:cNvPr id="12" name="Text 10"/>
          <p:cNvSpPr txBox="1"/>
          <p:nvPr/>
        </p:nvSpPr>
        <p:spPr>
          <a:xfrm>
            <a:off x="7315200" y="185623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3–4</a:t>
            </a:r>
            <a:endParaRPr lang="en-US" sz="1100" dirty="0"/>
          </a:p>
        </p:txBody>
      </p:sp>
      <p:sp>
        <p:nvSpPr>
          <p:cNvPr id="13" name="Shape 11"/>
          <p:cNvSpPr/>
          <p:nvPr/>
        </p:nvSpPr>
        <p:spPr>
          <a:xfrm>
            <a:off x="548640" y="2560320"/>
            <a:ext cx="457200" cy="457200"/>
          </a:xfrm>
          <a:prstGeom prst="ellipse">
            <a:avLst/>
          </a:prstGeom>
          <a:solidFill>
            <a:srgbClr val="0F8B8D"/>
          </a:solidFill>
          <a:ln/>
        </p:spPr>
      </p:sp>
      <p:sp>
        <p:nvSpPr>
          <p:cNvPr id="14" name="Text 12"/>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txBox="1"/>
          <p:nvPr/>
        </p:nvSpPr>
        <p:spPr>
          <a:xfrm>
            <a:off x="1234440" y="251460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Payoffs explained</a:t>
            </a:r>
            <a:endParaRPr lang="en-US" sz="1600" dirty="0"/>
          </a:p>
        </p:txBody>
      </p:sp>
      <p:sp>
        <p:nvSpPr>
          <p:cNvPr id="16" name="Text 14"/>
          <p:cNvSpPr txBox="1"/>
          <p:nvPr/>
        </p:nvSpPr>
        <p:spPr>
          <a:xfrm>
            <a:off x="1234440" y="281635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Observation timeline, payoff diagrams, and the building blocks the client owns</a:t>
            </a:r>
            <a:endParaRPr lang="en-US" sz="1150" dirty="0"/>
          </a:p>
        </p:txBody>
      </p:sp>
      <p:sp>
        <p:nvSpPr>
          <p:cNvPr id="17" name="Text 15"/>
          <p:cNvSpPr txBox="1"/>
          <p:nvPr/>
        </p:nvSpPr>
        <p:spPr>
          <a:xfrm>
            <a:off x="7315200" y="258775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5–7</a:t>
            </a:r>
            <a:endParaRPr lang="en-US" sz="1100" dirty="0"/>
          </a:p>
        </p:txBody>
      </p:sp>
      <p:sp>
        <p:nvSpPr>
          <p:cNvPr id="18" name="Shape 16"/>
          <p:cNvSpPr/>
          <p:nvPr/>
        </p:nvSpPr>
        <p:spPr>
          <a:xfrm>
            <a:off x="548640" y="3291840"/>
            <a:ext cx="457200" cy="457200"/>
          </a:xfrm>
          <a:prstGeom prst="ellipse">
            <a:avLst/>
          </a:prstGeom>
          <a:solidFill>
            <a:srgbClr val="D9961A"/>
          </a:solidFill>
          <a:ln/>
        </p:spPr>
      </p:sp>
      <p:sp>
        <p:nvSpPr>
          <p:cNvPr id="19" name="Text 17"/>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1234440" y="324612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Scenarios &amp; back-testing</a:t>
            </a:r>
            <a:endParaRPr lang="en-US" sz="1600" dirty="0"/>
          </a:p>
        </p:txBody>
      </p:sp>
      <p:sp>
        <p:nvSpPr>
          <p:cNvPr id="21" name="Text 19"/>
          <p:cNvSpPr txBox="1"/>
          <p:nvPr/>
        </p:nvSpPr>
        <p:spPr>
          <a:xfrm>
            <a:off x="1234440" y="354787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Stress paths and Monte Carlo outcome distributions</a:t>
            </a:r>
            <a:endParaRPr lang="en-US" sz="1150" dirty="0"/>
          </a:p>
        </p:txBody>
      </p:sp>
      <p:sp>
        <p:nvSpPr>
          <p:cNvPr id="22" name="Text 20"/>
          <p:cNvSpPr txBox="1"/>
          <p:nvPr/>
        </p:nvSpPr>
        <p:spPr>
          <a:xfrm>
            <a:off x="7315200" y="331927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8–9</a:t>
            </a:r>
            <a:endParaRPr lang="en-US" sz="1100" dirty="0"/>
          </a:p>
        </p:txBody>
      </p:sp>
      <p:sp>
        <p:nvSpPr>
          <p:cNvPr id="23" name="Shape 21"/>
          <p:cNvSpPr/>
          <p:nvPr/>
        </p:nvSpPr>
        <p:spPr>
          <a:xfrm>
            <a:off x="548640" y="4023360"/>
            <a:ext cx="457200" cy="457200"/>
          </a:xfrm>
          <a:prstGeom prst="ellipse">
            <a:avLst/>
          </a:prstGeom>
          <a:solidFill>
            <a:srgbClr val="0F8B8D"/>
          </a:solidFill>
          <a:ln/>
        </p:spPr>
      </p:sp>
      <p:sp>
        <p:nvSpPr>
          <p:cNvPr id="24" name="Text 22"/>
          <p:cNvSpPr txBox="1"/>
          <p:nvPr/>
        </p:nvSpPr>
        <p:spPr>
          <a:xfrm>
            <a:off x="548640" y="4023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234440" y="397764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Risks &amp; hedging</a:t>
            </a:r>
            <a:endParaRPr lang="en-US" sz="1600" dirty="0"/>
          </a:p>
        </p:txBody>
      </p:sp>
      <p:sp>
        <p:nvSpPr>
          <p:cNvPr id="26" name="Text 24"/>
          <p:cNvSpPr txBox="1"/>
          <p:nvPr/>
        </p:nvSpPr>
        <p:spPr>
          <a:xfrm>
            <a:off x="1234440" y="427939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Investor risks, mitigants, and how the Natixis desk hedges</a:t>
            </a:r>
            <a:endParaRPr lang="en-US" sz="1150" dirty="0"/>
          </a:p>
        </p:txBody>
      </p:sp>
      <p:sp>
        <p:nvSpPr>
          <p:cNvPr id="27" name="Text 25"/>
          <p:cNvSpPr txBox="1"/>
          <p:nvPr/>
        </p:nvSpPr>
        <p:spPr>
          <a:xfrm>
            <a:off x="7315200" y="405079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 10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Executive summary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One note that turns the family's operating expertise into protected returns</a:t>
            </a:r>
            <a:endParaRPr lang="en-US" sz="1250" dirty="0"/>
          </a:p>
        </p:txBody>
      </p:sp>
      <p:sp>
        <p:nvSpPr>
          <p:cNvPr id="4" name="Shape 2"/>
          <p:cNvSpPr/>
          <p:nvPr/>
        </p:nvSpPr>
        <p:spPr>
          <a:xfrm>
            <a:off x="457200" y="1234440"/>
            <a:ext cx="2606040" cy="2103120"/>
          </a:xfrm>
          <a:prstGeom prst="roundRect">
            <a:avLst>
              <a:gd name="adj" fmla="val 3043"/>
            </a:avLst>
          </a:prstGeom>
          <a:solidFill>
            <a:srgbClr val="E6F2F0"/>
          </a:solidFill>
          <a:ln w="12700">
            <a:solidFill>
              <a:srgbClr val="E6F2F0"/>
            </a:solidFill>
            <a:prstDash val="solid"/>
          </a:ln>
        </p:spPr>
      </p:sp>
      <p:sp>
        <p:nvSpPr>
          <p:cNvPr id="5" name="Text 3"/>
          <p:cNvSpPr txBox="1"/>
          <p:nvPr/>
        </p:nvSpPr>
        <p:spPr>
          <a:xfrm>
            <a:off x="65836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6.5%</a:t>
            </a:r>
            <a:endParaRPr lang="en-US" sz="3800" dirty="0"/>
          </a:p>
        </p:txBody>
      </p:sp>
      <p:sp>
        <p:nvSpPr>
          <p:cNvPr id="6" name="Text 4"/>
          <p:cNvSpPr txBox="1"/>
          <p:nvPr/>
        </p:nvSpPr>
        <p:spPr>
          <a:xfrm>
            <a:off x="65836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Memory coupon p.a.</a:t>
            </a:r>
            <a:endParaRPr lang="en-US" sz="1300" dirty="0"/>
          </a:p>
        </p:txBody>
      </p:sp>
      <p:sp>
        <p:nvSpPr>
          <p:cNvPr id="7" name="Text 5"/>
          <p:cNvSpPr txBox="1"/>
          <p:nvPr/>
        </p:nvSpPr>
        <p:spPr>
          <a:xfrm>
            <a:off x="65836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1.625% each quarter the basket is ≥ 100%; missed coupons are paid later when it recovers</a:t>
            </a:r>
            <a:endParaRPr lang="en-US" sz="1050" dirty="0"/>
          </a:p>
        </p:txBody>
      </p:sp>
      <p:sp>
        <p:nvSpPr>
          <p:cNvPr id="8" name="Shape 6"/>
          <p:cNvSpPr/>
          <p:nvPr/>
        </p:nvSpPr>
        <p:spPr>
          <a:xfrm>
            <a:off x="3246120" y="1234440"/>
            <a:ext cx="2606040" cy="2103120"/>
          </a:xfrm>
          <a:prstGeom prst="roundRect">
            <a:avLst>
              <a:gd name="adj" fmla="val 3043"/>
            </a:avLst>
          </a:prstGeom>
          <a:solidFill>
            <a:srgbClr val="E6F2F0"/>
          </a:solidFill>
          <a:ln w="12700">
            <a:solidFill>
              <a:srgbClr val="E6F2F0"/>
            </a:solidFill>
            <a:prstDash val="solid"/>
          </a:ln>
        </p:spPr>
      </p:sp>
      <p:sp>
        <p:nvSpPr>
          <p:cNvPr id="9" name="Text 7"/>
          <p:cNvSpPr txBox="1"/>
          <p:nvPr/>
        </p:nvSpPr>
        <p:spPr>
          <a:xfrm>
            <a:off x="3447288" y="1353312"/>
            <a:ext cx="2240280" cy="731520"/>
          </a:xfrm>
          <a:prstGeom prst="rect">
            <a:avLst/>
          </a:prstGeom>
          <a:noFill/>
          <a:ln/>
        </p:spPr>
        <p:txBody>
          <a:bodyPr wrap="square" lIns="0" tIns="0" rIns="0" bIns="0" rtlCol="0" anchor="ctr"/>
          <a:lstStyle/>
          <a:p>
            <a:pPr indent="0" marL="0">
              <a:buNone/>
            </a:pPr>
            <a:r>
              <a:rPr lang="en-US" sz="3800" b="1" dirty="0">
                <a:solidFill>
                  <a:srgbClr val="D9961A"/>
                </a:solidFill>
                <a:latin typeface="Cambria" pitchFamily="34" charset="0"/>
                <a:ea typeface="Cambria" pitchFamily="34" charset="-122"/>
                <a:cs typeface="Cambria" pitchFamily="34" charset="-120"/>
              </a:rPr>
              <a:t>100%</a:t>
            </a:r>
            <a:endParaRPr lang="en-US" sz="3800" dirty="0"/>
          </a:p>
        </p:txBody>
      </p:sp>
      <p:sp>
        <p:nvSpPr>
          <p:cNvPr id="10" name="Text 8"/>
          <p:cNvSpPr txBox="1"/>
          <p:nvPr/>
        </p:nvSpPr>
        <p:spPr>
          <a:xfrm>
            <a:off x="344728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Capital protected</a:t>
            </a:r>
            <a:endParaRPr lang="en-US" sz="1300" dirty="0"/>
          </a:p>
        </p:txBody>
      </p:sp>
      <p:sp>
        <p:nvSpPr>
          <p:cNvPr id="11" name="Text 9"/>
          <p:cNvSpPr txBox="1"/>
          <p:nvPr/>
        </p:nvSpPr>
        <p:spPr>
          <a:xfrm>
            <a:off x="344728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Principal returned in full at maturity whatever the basket does (Natixis credit risk only)</a:t>
            </a:r>
            <a:endParaRPr lang="en-US" sz="1050" dirty="0"/>
          </a:p>
        </p:txBody>
      </p:sp>
      <p:sp>
        <p:nvSpPr>
          <p:cNvPr id="12" name="Shape 10"/>
          <p:cNvSpPr/>
          <p:nvPr/>
        </p:nvSpPr>
        <p:spPr>
          <a:xfrm>
            <a:off x="6035040" y="1234440"/>
            <a:ext cx="2606040" cy="2103120"/>
          </a:xfrm>
          <a:prstGeom prst="roundRect">
            <a:avLst>
              <a:gd name="adj" fmla="val 3043"/>
            </a:avLst>
          </a:prstGeom>
          <a:solidFill>
            <a:srgbClr val="E6F2F0"/>
          </a:solidFill>
          <a:ln w="12700">
            <a:solidFill>
              <a:srgbClr val="E6F2F0"/>
            </a:solidFill>
            <a:prstDash val="solid"/>
          </a:ln>
        </p:spPr>
      </p:sp>
      <p:sp>
        <p:nvSpPr>
          <p:cNvPr id="13" name="Text 11"/>
          <p:cNvSpPr txBox="1"/>
          <p:nvPr/>
        </p:nvSpPr>
        <p:spPr>
          <a:xfrm>
            <a:off x="623620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51%</a:t>
            </a:r>
            <a:endParaRPr lang="en-US" sz="3800" dirty="0"/>
          </a:p>
        </p:txBody>
      </p:sp>
      <p:sp>
        <p:nvSpPr>
          <p:cNvPr id="14" name="Text 12"/>
          <p:cNvSpPr txBox="1"/>
          <p:nvPr/>
        </p:nvSpPr>
        <p:spPr>
          <a:xfrm>
            <a:off x="623620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Called at first review</a:t>
            </a:r>
            <a:endParaRPr lang="en-US" sz="1300" dirty="0"/>
          </a:p>
        </p:txBody>
      </p:sp>
      <p:sp>
        <p:nvSpPr>
          <p:cNvPr id="15" name="Text 13"/>
          <p:cNvSpPr txBox="1"/>
          <p:nvPr/>
        </p:nvSpPr>
        <p:spPr>
          <a:xfrm>
            <a:off x="623620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Risk-neutral. 83% called within 5 years; expected life 2.08 years</a:t>
            </a:r>
            <a:endParaRPr lang="en-US" sz="1050" dirty="0"/>
          </a:p>
        </p:txBody>
      </p:sp>
      <p:sp>
        <p:nvSpPr>
          <p:cNvPr id="16" name="Text 14"/>
          <p:cNvSpPr txBox="1"/>
          <p:nvPr/>
        </p:nvSpPr>
        <p:spPr>
          <a:xfrm>
            <a:off x="457200" y="3520440"/>
            <a:ext cx="8229600" cy="1188720"/>
          </a:xfrm>
          <a:prstGeom prst="rect">
            <a:avLst/>
          </a:prstGeom>
          <a:noFill/>
          <a:ln/>
        </p:spPr>
        <p:txBody>
          <a:bodyPr wrap="square" lIns="0" tIns="0" rIns="0" bIns="0" rtlCol="0" anchor="t"/>
          <a:lstStyle/>
          <a:p>
            <a:pPr indent="0" marL="0">
              <a:buNone/>
            </a:pPr>
            <a:r>
              <a:rPr lang="en-US" sz="1150" dirty="0">
                <a:solidFill>
                  <a:srgbClr val="1D2B30"/>
                </a:solidFill>
                <a:latin typeface="Calibri" pitchFamily="34" charset="0"/>
                <a:ea typeface="Calibri" pitchFamily="34" charset="-122"/>
                <a:cs typeface="Calibri" pitchFamily="34" charset="-120"/>
              </a:rPr>
              <a:t>We recommend </a:t>
            </a:r>
            <a:pPr indent="0" marL="0">
              <a:buNone/>
            </a:pPr>
            <a:r>
              <a:rPr lang="en-US" sz="1150" b="1" dirty="0">
                <a:solidFill>
                  <a:srgbClr val="0F8B8D"/>
                </a:solidFill>
                <a:latin typeface="Calibri" pitchFamily="34" charset="0"/>
                <a:ea typeface="Calibri" pitchFamily="34" charset="-122"/>
                <a:cs typeface="Calibri" pitchFamily="34" charset="-120"/>
              </a:rPr>
              <a:t>a USD 100mn, 5-year Natixis capital-protected autocallable note</a:t>
            </a:r>
            <a:pPr indent="0" marL="0">
              <a:buNone/>
            </a:pPr>
            <a:r>
              <a:rPr lang="en-US" sz="1150" dirty="0">
                <a:solidFill>
                  <a:srgbClr val="1D2B30"/>
                </a:solidFill>
                <a:latin typeface="Calibri" pitchFamily="34" charset="0"/>
                <a:ea typeface="Calibri" pitchFamily="34" charset="-122"/>
                <a:cs typeface="Calibri" pitchFamily="34" charset="-120"/>
              </a:rPr>
              <a:t> on a basket of four real, Bloomberg-listed Asian indices (Hang Seng TECH 30%, Nikkei 225 30%, TAIEX 25%, MSCI AC Asia Pacific Utilities 15%). These mirror the family's businesses in Greater China real estate, Japan technology infrastructure and renewable power. </a:t>
            </a:r>
            <a:pPr indent="0" marL="0">
              <a:buNone/>
            </a:pPr>
            <a:r>
              <a:rPr lang="en-US" sz="1150" b="1" dirty="0">
                <a:solidFill>
                  <a:srgbClr val="1D2B30"/>
                </a:solidFill>
                <a:latin typeface="Calibri" pitchFamily="34" charset="0"/>
                <a:ea typeface="Calibri" pitchFamily="34" charset="-122"/>
                <a:cs typeface="Calibri" pitchFamily="34" charset="-120"/>
              </a:rPr>
              <a:t>The family never loses capital at maturity, earns 6.5% a year in the 83% of paths where the basket gets back to its starting level, and gets 100% back in the rest. Fair value is 97.5%, so issuing at par leaves Natixis 2.5% for hedging and margin.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The family wants growth without putting the legacy at risk</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Client diagnosis: third-generation dynasty, succession done, now allocating for legacy</a:t>
            </a:r>
            <a:endParaRPr lang="en-US" sz="1250" dirty="0"/>
          </a:p>
        </p:txBody>
      </p:sp>
      <p:sp>
        <p:nvSpPr>
          <p:cNvPr id="4" name="Shape 2"/>
          <p:cNvSpPr/>
          <p:nvPr/>
        </p:nvSpPr>
        <p:spPr>
          <a:xfrm>
            <a:off x="457200" y="1188720"/>
            <a:ext cx="2606040" cy="2057400"/>
          </a:xfrm>
          <a:prstGeom prst="roundRect">
            <a:avLst>
              <a:gd name="adj" fmla="val 3111"/>
            </a:avLst>
          </a:prstGeom>
          <a:solidFill>
            <a:srgbClr val="E6F2F0"/>
          </a:solidFill>
          <a:ln w="12700">
            <a:solidFill>
              <a:srgbClr val="E6F2F0"/>
            </a:solidFill>
            <a:prstDash val="solid"/>
          </a:ln>
        </p:spPr>
      </p:sp>
      <p:sp>
        <p:nvSpPr>
          <p:cNvPr id="5" name="Text 3"/>
          <p:cNvSpPr txBox="1"/>
          <p:nvPr/>
        </p:nvSpPr>
        <p:spPr>
          <a:xfrm>
            <a:off x="64008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Who they are</a:t>
            </a:r>
            <a:endParaRPr lang="en-US" sz="1400" dirty="0"/>
          </a:p>
        </p:txBody>
      </p:sp>
      <p:sp>
        <p:nvSpPr>
          <p:cNvPr id="6" name="Text 4"/>
          <p:cNvSpPr txBox="1"/>
          <p:nvPr/>
        </p:nvSpPr>
        <p:spPr>
          <a:xfrm>
            <a:off x="64008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Single-family office: NKE Private Wealth</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Net worth &gt; USD 2bn; mandate USD 100mn (~5%)</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Businesses: tech infrastructure, renewable power plants, real estate in Japan and Greater China</a:t>
            </a:r>
            <a:endParaRPr lang="en-US" sz="1050" dirty="0"/>
          </a:p>
        </p:txBody>
      </p:sp>
      <p:sp>
        <p:nvSpPr>
          <p:cNvPr id="7" name="Shape 5"/>
          <p:cNvSpPr/>
          <p:nvPr/>
        </p:nvSpPr>
        <p:spPr>
          <a:xfrm>
            <a:off x="3246120" y="1188720"/>
            <a:ext cx="2606040" cy="2057400"/>
          </a:xfrm>
          <a:prstGeom prst="roundRect">
            <a:avLst>
              <a:gd name="adj" fmla="val 3111"/>
            </a:avLst>
          </a:prstGeom>
          <a:solidFill>
            <a:srgbClr val="E6F2F0"/>
          </a:solidFill>
          <a:ln w="12700">
            <a:solidFill>
              <a:srgbClr val="E6F2F0"/>
            </a:solidFill>
            <a:prstDash val="solid"/>
          </a:ln>
        </p:spPr>
      </p:sp>
      <p:sp>
        <p:nvSpPr>
          <p:cNvPr id="8" name="Text 6"/>
          <p:cNvSpPr txBox="1"/>
          <p:nvPr/>
        </p:nvSpPr>
        <p:spPr>
          <a:xfrm>
            <a:off x="342900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What they want</a:t>
            </a:r>
            <a:endParaRPr lang="en-US" sz="1400" dirty="0"/>
          </a:p>
        </p:txBody>
      </p:sp>
      <p:sp>
        <p:nvSpPr>
          <p:cNvPr id="9" name="Text 7"/>
          <p:cNvSpPr txBox="1"/>
          <p:nvPr/>
        </p:nvSpPr>
        <p:spPr>
          <a:xfrm>
            <a:off x="342900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Capital appreciation for future generations</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Meaningful exposure to Asia's digital transformation</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To bridge traditional Asian sectors with emerging tech they know</a:t>
            </a:r>
            <a:endParaRPr lang="en-US" sz="1050" dirty="0"/>
          </a:p>
        </p:txBody>
      </p:sp>
      <p:sp>
        <p:nvSpPr>
          <p:cNvPr id="10" name="Shape 8"/>
          <p:cNvSpPr/>
          <p:nvPr/>
        </p:nvSpPr>
        <p:spPr>
          <a:xfrm>
            <a:off x="6035040" y="1188720"/>
            <a:ext cx="2606040" cy="2057400"/>
          </a:xfrm>
          <a:prstGeom prst="roundRect">
            <a:avLst>
              <a:gd name="adj" fmla="val 3111"/>
            </a:avLst>
          </a:prstGeom>
          <a:solidFill>
            <a:srgbClr val="0B3C49"/>
          </a:solidFill>
          <a:ln w="12700">
            <a:solidFill>
              <a:srgbClr val="0B3C49"/>
            </a:solidFill>
            <a:prstDash val="solid"/>
          </a:ln>
        </p:spPr>
      </p:sp>
      <p:sp>
        <p:nvSpPr>
          <p:cNvPr id="11" name="Text 9"/>
          <p:cNvSpPr txBox="1"/>
          <p:nvPr/>
        </p:nvSpPr>
        <p:spPr>
          <a:xfrm>
            <a:off x="6217920" y="1298448"/>
            <a:ext cx="2286000" cy="292608"/>
          </a:xfrm>
          <a:prstGeom prst="rect">
            <a:avLst/>
          </a:prstGeom>
          <a:noFill/>
          <a:ln/>
        </p:spPr>
        <p:txBody>
          <a:bodyPr wrap="square" lIns="0" tIns="0" rIns="0" bIns="0" rtlCol="0" anchor="t"/>
          <a:lstStyle/>
          <a:p>
            <a:pPr indent="0" marL="0">
              <a:buNone/>
            </a:pPr>
            <a:r>
              <a:rPr lang="en-US" sz="1400" b="1" dirty="0">
                <a:solidFill>
                  <a:srgbClr val="D9961A"/>
                </a:solidFill>
                <a:latin typeface="Calibri" pitchFamily="34" charset="0"/>
                <a:ea typeface="Calibri" pitchFamily="34" charset="-122"/>
                <a:cs typeface="Calibri" pitchFamily="34" charset="-120"/>
              </a:rPr>
              <a:t>What they can bear</a:t>
            </a:r>
            <a:endParaRPr lang="en-US" sz="1400" dirty="0"/>
          </a:p>
        </p:txBody>
      </p:sp>
      <p:sp>
        <p:nvSpPr>
          <p:cNvPr id="12" name="Text 10"/>
          <p:cNvSpPr txBox="1"/>
          <p:nvPr/>
        </p:nvSpPr>
        <p:spPr>
          <a:xfrm>
            <a:off x="621792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Moderate risk: preserve the legacy first</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5-year horizon; coupons can be reinvested</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Accepts limited liquidity on 5% of wealth</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Volatile backdrop: no capital at risk</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2377440"/>
                <a:gridCol w="5852160"/>
              </a:tblGrid>
              <a:tr h="24688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Client need</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answer in our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Capital appreciation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6.5% p.a. coupon, above the 5.69% 5Y USD funding rate, in every path that autocalls; proceeds roll into the next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Exposure to Asian digital transformation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Four real indices mapped to the family's own industries (slide 3)</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Generational preservation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capital protection at maturity, diversified basket (not worst-of), BPCE-backed issuer</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Volatile markets</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Memory coupon: a missed coupon is not lost but paid when the basket recovers; drawdowns cannot touch the principal</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Why now: Asia builds the hardware of the AI economy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Investment thesis: structural growth themes, and a rate level that makes capital protection cheap</a:t>
            </a:r>
            <a:endParaRPr lang="en-US" sz="1250" dirty="0"/>
          </a:p>
        </p:txBody>
      </p:sp>
      <p:sp>
        <p:nvSpPr>
          <p:cNvPr id="4" name="Shape 2"/>
          <p:cNvSpPr/>
          <p:nvPr/>
        </p:nvSpPr>
        <p:spPr>
          <a:xfrm>
            <a:off x="457200" y="1188720"/>
            <a:ext cx="2377440" cy="1280160"/>
          </a:xfrm>
          <a:prstGeom prst="roundRect">
            <a:avLst>
              <a:gd name="adj" fmla="val 5000"/>
            </a:avLst>
          </a:prstGeom>
          <a:solidFill>
            <a:srgbClr val="E6F2F0"/>
          </a:solidFill>
          <a:ln w="12700">
            <a:solidFill>
              <a:srgbClr val="E6F2F0"/>
            </a:solidFill>
            <a:prstDash val="solid"/>
          </a:ln>
        </p:spPr>
      </p:sp>
      <p:sp>
        <p:nvSpPr>
          <p:cNvPr id="5" name="Shape 3"/>
          <p:cNvSpPr/>
          <p:nvPr/>
        </p:nvSpPr>
        <p:spPr>
          <a:xfrm>
            <a:off x="594360" y="1325880"/>
            <a:ext cx="347472" cy="347472"/>
          </a:xfrm>
          <a:prstGeom prst="ellipse">
            <a:avLst/>
          </a:prstGeom>
          <a:solidFill>
            <a:srgbClr val="0F8B8D"/>
          </a:solidFill>
          <a:ln/>
        </p:spPr>
      </p:sp>
      <p:sp>
        <p:nvSpPr>
          <p:cNvPr id="6" name="Text 4"/>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0241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AI hardware supply chain</a:t>
            </a:r>
            <a:endParaRPr lang="en-US" sz="1150" dirty="0"/>
          </a:p>
        </p:txBody>
      </p:sp>
      <p:sp>
        <p:nvSpPr>
          <p:cNvPr id="8" name="Text 6"/>
          <p:cNvSpPr txBox="1"/>
          <p:nvPr/>
        </p:nvSpPr>
        <p:spPr>
          <a:xfrm>
            <a:off x="5943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Taiwan and Japan make the chips, equipment and servers behind global AI capex (TSMC, Tokyo Electron, Advantest).</a:t>
            </a:r>
            <a:endParaRPr lang="en-US" sz="950" dirty="0"/>
          </a:p>
        </p:txBody>
      </p:sp>
      <p:sp>
        <p:nvSpPr>
          <p:cNvPr id="9" name="Shape 7"/>
          <p:cNvSpPr/>
          <p:nvPr/>
        </p:nvSpPr>
        <p:spPr>
          <a:xfrm>
            <a:off x="2971800" y="1188720"/>
            <a:ext cx="2377440" cy="1280160"/>
          </a:xfrm>
          <a:prstGeom prst="roundRect">
            <a:avLst>
              <a:gd name="adj" fmla="val 5000"/>
            </a:avLst>
          </a:prstGeom>
          <a:solidFill>
            <a:srgbClr val="E6F2F0"/>
          </a:solidFill>
          <a:ln w="12700">
            <a:solidFill>
              <a:srgbClr val="E6F2F0"/>
            </a:solidFill>
            <a:prstDash val="solid"/>
          </a:ln>
        </p:spPr>
      </p:sp>
      <p:sp>
        <p:nvSpPr>
          <p:cNvPr id="10" name="Shape 8"/>
          <p:cNvSpPr/>
          <p:nvPr/>
        </p:nvSpPr>
        <p:spPr>
          <a:xfrm>
            <a:off x="3108960" y="1325880"/>
            <a:ext cx="347472" cy="347472"/>
          </a:xfrm>
          <a:prstGeom prst="ellipse">
            <a:avLst/>
          </a:prstGeom>
          <a:solidFill>
            <a:srgbClr val="0F8B8D"/>
          </a:solidFill>
          <a:ln/>
        </p:spPr>
      </p:sp>
      <p:sp>
        <p:nvSpPr>
          <p:cNvPr id="11" name="Text 9"/>
          <p:cNvSpPr txBox="1"/>
          <p:nvPr/>
        </p:nvSpPr>
        <p:spPr>
          <a:xfrm>
            <a:off x="31089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35387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Japan corporate reform</a:t>
            </a:r>
            <a:endParaRPr lang="en-US" sz="1150" dirty="0"/>
          </a:p>
        </p:txBody>
      </p:sp>
      <p:sp>
        <p:nvSpPr>
          <p:cNvPr id="13" name="Text 11"/>
          <p:cNvSpPr txBox="1"/>
          <p:nvPr/>
        </p:nvSpPr>
        <p:spPr>
          <a:xfrm>
            <a:off x="31089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TSE pressure on capital efficiency and shareholder returns supports a re-rating of Japanese tech and industrials.</a:t>
            </a:r>
            <a:endParaRPr lang="en-US" sz="950" dirty="0"/>
          </a:p>
        </p:txBody>
      </p:sp>
      <p:sp>
        <p:nvSpPr>
          <p:cNvPr id="14" name="Shape 12"/>
          <p:cNvSpPr/>
          <p:nvPr/>
        </p:nvSpPr>
        <p:spPr>
          <a:xfrm>
            <a:off x="457200" y="2606040"/>
            <a:ext cx="2377440" cy="1280160"/>
          </a:xfrm>
          <a:prstGeom prst="roundRect">
            <a:avLst>
              <a:gd name="adj" fmla="val 5000"/>
            </a:avLst>
          </a:prstGeom>
          <a:solidFill>
            <a:srgbClr val="E6F2F0"/>
          </a:solidFill>
          <a:ln w="12700">
            <a:solidFill>
              <a:srgbClr val="E6F2F0"/>
            </a:solidFill>
            <a:prstDash val="solid"/>
          </a:ln>
        </p:spPr>
      </p:sp>
      <p:sp>
        <p:nvSpPr>
          <p:cNvPr id="15" name="Shape 13"/>
          <p:cNvSpPr/>
          <p:nvPr/>
        </p:nvSpPr>
        <p:spPr>
          <a:xfrm>
            <a:off x="594360" y="2743200"/>
            <a:ext cx="347472" cy="347472"/>
          </a:xfrm>
          <a:prstGeom prst="ellipse">
            <a:avLst/>
          </a:prstGeom>
          <a:solidFill>
            <a:srgbClr val="0F8B8D"/>
          </a:solidFill>
          <a:ln/>
        </p:spPr>
      </p:sp>
      <p:sp>
        <p:nvSpPr>
          <p:cNvPr id="16" name="Text 14"/>
          <p:cNvSpPr txBox="1"/>
          <p:nvPr/>
        </p:nvSpPr>
        <p:spPr>
          <a:xfrm>
            <a:off x="5943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0241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China platform tech reset</a:t>
            </a:r>
            <a:endParaRPr lang="en-US" sz="1150" dirty="0"/>
          </a:p>
        </p:txBody>
      </p:sp>
      <p:sp>
        <p:nvSpPr>
          <p:cNvPr id="18" name="Text 16"/>
          <p:cNvSpPr txBox="1"/>
          <p:nvPr/>
        </p:nvSpPr>
        <p:spPr>
          <a:xfrm>
            <a:off x="5943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After the 2021–22 regulatory drawdown, Greater China internet and EV leaders trade at a discount to global peers.</a:t>
            </a:r>
            <a:endParaRPr lang="en-US" sz="950" dirty="0"/>
          </a:p>
        </p:txBody>
      </p:sp>
      <p:sp>
        <p:nvSpPr>
          <p:cNvPr id="19" name="Shape 17"/>
          <p:cNvSpPr/>
          <p:nvPr/>
        </p:nvSpPr>
        <p:spPr>
          <a:xfrm>
            <a:off x="2971800" y="2606040"/>
            <a:ext cx="2377440" cy="1280160"/>
          </a:xfrm>
          <a:prstGeom prst="roundRect">
            <a:avLst>
              <a:gd name="adj" fmla="val 5000"/>
            </a:avLst>
          </a:prstGeom>
          <a:solidFill>
            <a:srgbClr val="E6F2F0"/>
          </a:solidFill>
          <a:ln w="12700">
            <a:solidFill>
              <a:srgbClr val="E6F2F0"/>
            </a:solidFill>
            <a:prstDash val="solid"/>
          </a:ln>
        </p:spPr>
      </p:sp>
      <p:sp>
        <p:nvSpPr>
          <p:cNvPr id="20" name="Shape 18"/>
          <p:cNvSpPr/>
          <p:nvPr/>
        </p:nvSpPr>
        <p:spPr>
          <a:xfrm>
            <a:off x="3108960" y="2743200"/>
            <a:ext cx="347472" cy="347472"/>
          </a:xfrm>
          <a:prstGeom prst="ellipse">
            <a:avLst/>
          </a:prstGeom>
          <a:solidFill>
            <a:srgbClr val="D9961A"/>
          </a:solidFill>
          <a:ln/>
        </p:spPr>
      </p:sp>
      <p:sp>
        <p:nvSpPr>
          <p:cNvPr id="21" name="Text 19"/>
          <p:cNvSpPr txBox="1"/>
          <p:nvPr/>
        </p:nvSpPr>
        <p:spPr>
          <a:xfrm>
            <a:off x="31089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txBox="1"/>
          <p:nvPr/>
        </p:nvSpPr>
        <p:spPr>
          <a:xfrm>
            <a:off x="35387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Power for data centres</a:t>
            </a:r>
            <a:endParaRPr lang="en-US" sz="1150" dirty="0"/>
          </a:p>
        </p:txBody>
      </p:sp>
      <p:sp>
        <p:nvSpPr>
          <p:cNvPr id="23" name="Text 21"/>
          <p:cNvSpPr txBox="1"/>
          <p:nvPr/>
        </p:nvSpPr>
        <p:spPr>
          <a:xfrm>
            <a:off x="31089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AI data centres drive grid and utility investment: steady, lower-volatility exposure that anchors the basket.</a:t>
            </a:r>
            <a:endParaRPr lang="en-US" sz="950" dirty="0"/>
          </a:p>
        </p:txBody>
      </p:sp>
      <p:graphicFrame>
        <p:nvGraphicFramePr>
          <p:cNvPr id="24" name="Chart 0" descr=""/>
          <p:cNvGraphicFramePr/>
          <p:nvPr/>
        </p:nvGraphicFramePr>
        <p:xfrm>
          <a:off x="5623560" y="1143000"/>
          <a:ext cx="3063240" cy="201168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5623560" y="3246120"/>
            <a:ext cx="3063240" cy="1417320"/>
          </a:xfrm>
          <a:prstGeom prst="roundRect">
            <a:avLst>
              <a:gd name="adj" fmla="val 4516"/>
            </a:avLst>
          </a:prstGeom>
          <a:solidFill>
            <a:srgbClr val="0B3C49"/>
          </a:solidFill>
          <a:ln w="12700">
            <a:solidFill>
              <a:srgbClr val="0B3C49"/>
            </a:solidFill>
            <a:prstDash val="solid"/>
          </a:ln>
        </p:spPr>
      </p:sp>
      <p:sp>
        <p:nvSpPr>
          <p:cNvPr id="26" name="Text 23"/>
          <p:cNvSpPr txBox="1"/>
          <p:nvPr/>
        </p:nvSpPr>
        <p:spPr>
          <a:xfrm>
            <a:off x="5760720" y="3337560"/>
            <a:ext cx="2788920" cy="1280160"/>
          </a:xfrm>
          <a:prstGeom prst="rect">
            <a:avLst/>
          </a:prstGeom>
          <a:noFill/>
          <a:ln/>
        </p:spPr>
        <p:txBody>
          <a:bodyPr wrap="square" lIns="0" tIns="0" rIns="0" bIns="0" rtlCol="0" anchor="t"/>
          <a:lstStyle/>
          <a:p>
            <a:pPr indent="0" marL="0">
              <a:buNone/>
            </a:pPr>
            <a:r>
              <a:rPr lang="en-US" sz="1000" b="1" dirty="0">
                <a:solidFill>
                  <a:srgbClr val="D9961A"/>
                </a:solidFill>
                <a:latin typeface="Calibri" pitchFamily="34" charset="0"/>
                <a:ea typeface="Calibri" pitchFamily="34" charset="-122"/>
                <a:cs typeface="Calibri" pitchFamily="34" charset="-120"/>
              </a:rPr>
              <a:t>What the curve means for structuring</a:t>
            </a:r>
            <a:endParaRPr lang="en-US" sz="1000" dirty="0"/>
          </a:p>
          <a:p>
            <a:pPr indent="0" marL="0">
              <a:buNone/>
            </a:pPr>
            <a:r>
              <a:rPr lang="en-US" sz="1000" dirty="0">
                <a:solidFill>
                  <a:srgbClr val="FFFFFF"/>
                </a:solidFill>
                <a:latin typeface="Calibri" pitchFamily="34" charset="0"/>
                <a:ea typeface="Calibri" pitchFamily="34" charset="-122"/>
                <a:cs typeface="Calibri" pitchFamily="34" charset="-120"/>
              </a:rPr>
              <a:t>High USD rates make the 5Y zero-coupon bond cheap (75.8%), so guaranteeing 100% back costs little. Asian equity volatility (basket ~19%) makes it likely the basket revisits 100%, which is what pays the 6.5% coupon.</a:t>
            </a:r>
            <a:endParaRPr lang="en-US" sz="1000" dirty="0"/>
          </a:p>
        </p:txBody>
      </p:sp>
      <p:sp>
        <p:nvSpPr>
          <p:cNvPr id="27" name="Text 2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Thesis is qualitative; index-level data to be refreshed on Bloomberg. Funding grid: Investment Strategy Challenge 2026 rules.</a:t>
            </a:r>
            <a:endParaRPr lang="en-US" sz="800" dirty="0"/>
          </a:p>
        </p:txBody>
      </p:sp>
      <p:sp>
        <p:nvSpPr>
          <p:cNvPr id="28" name="Text 2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Underlying: four indices that mirror the family's businesses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Bespoke weighted basket, USD quanto (FX risk sits with Natixis); all constituents searchable on Bloomberg</a:t>
            </a:r>
            <a:endParaRPr lang="en-US" sz="1250" dirty="0"/>
          </a:p>
        </p:txBody>
      </p:sp>
      <p:graphicFrame>
        <p:nvGraphicFramePr>
          <p:cNvPr id="4" name="Chart 0" descr=""/>
          <p:cNvGraphicFramePr/>
          <p:nvPr/>
        </p:nvGraphicFramePr>
        <p:xfrm>
          <a:off x="320040" y="1143000"/>
          <a:ext cx="274320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234440" y="2286000"/>
            <a:ext cx="914400" cy="457200"/>
          </a:xfrm>
          <a:prstGeom prst="rect">
            <a:avLst/>
          </a:prstGeom>
          <a:noFill/>
          <a:ln/>
        </p:spPr>
        <p:txBody>
          <a:bodyPr wrap="square" lIns="0" tIns="0" rIns="0" bIns="0" rtlCol="0" anchor="ctr"/>
          <a:lstStyle/>
          <a:p>
            <a:pPr algn="ctr" indent="0" marL="0">
              <a:buNone/>
            </a:pPr>
            <a:r>
              <a:rPr lang="en-US" sz="1400" b="1" dirty="0">
                <a:solidFill>
                  <a:srgbClr val="0B3C49"/>
                </a:solidFill>
                <a:latin typeface="Cambria" pitchFamily="34" charset="0"/>
                <a:ea typeface="Cambria" pitchFamily="34" charset="-122"/>
                <a:cs typeface="Cambria" pitchFamily="34" charset="-120"/>
              </a:rPr>
              <a:t>Basket</a:t>
            </a:r>
            <a:endParaRPr lang="en-US" sz="1400" dirty="0"/>
          </a:p>
        </p:txBody>
      </p:sp>
      <p:sp>
        <p:nvSpPr>
          <p:cNvPr id="6" name="Shape 3"/>
          <p:cNvSpPr/>
          <p:nvPr/>
        </p:nvSpPr>
        <p:spPr>
          <a:xfrm>
            <a:off x="548640" y="3977640"/>
            <a:ext cx="118872" cy="118872"/>
          </a:xfrm>
          <a:prstGeom prst="rect">
            <a:avLst/>
          </a:prstGeom>
          <a:solidFill>
            <a:srgbClr val="0B3C49"/>
          </a:solidFill>
          <a:ln w="12700">
            <a:solidFill>
              <a:srgbClr val="0B3C49"/>
            </a:solidFill>
            <a:prstDash val="solid"/>
          </a:ln>
        </p:spPr>
      </p:sp>
      <p:sp>
        <p:nvSpPr>
          <p:cNvPr id="7" name="Text 4"/>
          <p:cNvSpPr txBox="1"/>
          <p:nvPr/>
        </p:nvSpPr>
        <p:spPr>
          <a:xfrm>
            <a:off x="731520" y="394106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Hang Seng TECH</a:t>
            </a:r>
            <a:endParaRPr lang="en-US" sz="900" dirty="0"/>
          </a:p>
        </p:txBody>
      </p:sp>
      <p:sp>
        <p:nvSpPr>
          <p:cNvPr id="8" name="Shape 5"/>
          <p:cNvSpPr/>
          <p:nvPr/>
        </p:nvSpPr>
        <p:spPr>
          <a:xfrm>
            <a:off x="548640" y="4160520"/>
            <a:ext cx="118872" cy="118872"/>
          </a:xfrm>
          <a:prstGeom prst="rect">
            <a:avLst/>
          </a:prstGeom>
          <a:solidFill>
            <a:srgbClr val="0F8B8D"/>
          </a:solidFill>
          <a:ln w="12700">
            <a:solidFill>
              <a:srgbClr val="0F8B8D"/>
            </a:solidFill>
            <a:prstDash val="solid"/>
          </a:ln>
        </p:spPr>
      </p:sp>
      <p:sp>
        <p:nvSpPr>
          <p:cNvPr id="9" name="Text 6"/>
          <p:cNvSpPr txBox="1"/>
          <p:nvPr/>
        </p:nvSpPr>
        <p:spPr>
          <a:xfrm>
            <a:off x="731520" y="412394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Nikkei 225</a:t>
            </a:r>
            <a:endParaRPr lang="en-US" sz="900" dirty="0"/>
          </a:p>
        </p:txBody>
      </p:sp>
      <p:sp>
        <p:nvSpPr>
          <p:cNvPr id="10" name="Shape 7"/>
          <p:cNvSpPr/>
          <p:nvPr/>
        </p:nvSpPr>
        <p:spPr>
          <a:xfrm>
            <a:off x="548640" y="4343400"/>
            <a:ext cx="118872" cy="118872"/>
          </a:xfrm>
          <a:prstGeom prst="rect">
            <a:avLst/>
          </a:prstGeom>
          <a:solidFill>
            <a:srgbClr val="D9961A"/>
          </a:solidFill>
          <a:ln w="12700">
            <a:solidFill>
              <a:srgbClr val="D9961A"/>
            </a:solidFill>
            <a:prstDash val="solid"/>
          </a:ln>
        </p:spPr>
      </p:sp>
      <p:sp>
        <p:nvSpPr>
          <p:cNvPr id="11" name="Text 8"/>
          <p:cNvSpPr txBox="1"/>
          <p:nvPr/>
        </p:nvSpPr>
        <p:spPr>
          <a:xfrm>
            <a:off x="731520" y="430682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Taiwan TAIEX</a:t>
            </a:r>
            <a:endParaRPr lang="en-US" sz="900" dirty="0"/>
          </a:p>
        </p:txBody>
      </p:sp>
      <p:sp>
        <p:nvSpPr>
          <p:cNvPr id="12" name="Shape 9"/>
          <p:cNvSpPr/>
          <p:nvPr/>
        </p:nvSpPr>
        <p:spPr>
          <a:xfrm>
            <a:off x="548640" y="4526280"/>
            <a:ext cx="118872" cy="118872"/>
          </a:xfrm>
          <a:prstGeom prst="rect">
            <a:avLst/>
          </a:prstGeom>
          <a:solidFill>
            <a:srgbClr val="8FA6AA"/>
          </a:solidFill>
          <a:ln w="12700">
            <a:solidFill>
              <a:srgbClr val="8FA6AA"/>
            </a:solidFill>
            <a:prstDash val="solid"/>
          </a:ln>
        </p:spPr>
      </p:sp>
      <p:sp>
        <p:nvSpPr>
          <p:cNvPr id="13" name="Text 10"/>
          <p:cNvSpPr txBox="1"/>
          <p:nvPr/>
        </p:nvSpPr>
        <p:spPr>
          <a:xfrm>
            <a:off x="731520" y="448970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MSCI AC Asia Pacific Utilities</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46120" y="1188720"/>
          <a:ext cx="5440680" cy="914400"/>
        </p:xfrm>
        <a:graphic>
          <a:graphicData uri="http://schemas.openxmlformats.org/drawingml/2006/table">
            <a:tbl>
              <a:tblPr/>
              <a:tblGrid>
                <a:gridCol w="1417320"/>
                <a:gridCol w="411480"/>
                <a:gridCol w="3108960"/>
                <a:gridCol w="50292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Index (Bloomberg)</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Wt</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Why it belongs (link to family)</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Hang Seng TECH</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HSTECH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Greater China platform, PropTech and EV leaders: digitising the real-estate and consumer economy the family operates in</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Nikkei 225</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NKY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Japan tech and semiconductor equipment: home market of the family's technology infrastructure business</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Taiwan TAIEX</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TWSE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AI supply chain and machine learning hardware (foundry, servers, networking) feeding regional logistics and retail</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MSCI AC Asia Pacific Utilities</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MXAP0UT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Grid and power operators: the smart-grid layer above the family's renewable plants; lowers basket volatility</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5" name="Text 11"/>
          <p:cNvSpPr txBox="1"/>
          <p:nvPr/>
        </p:nvSpPr>
        <p:spPr>
          <a:xfrm>
            <a:off x="3246120" y="3977640"/>
            <a:ext cx="5440680" cy="548640"/>
          </a:xfrm>
          <a:prstGeom prst="rect">
            <a:avLst/>
          </a:prstGeom>
          <a:noFill/>
          <a:ln/>
        </p:spPr>
        <p:txBody>
          <a:bodyPr wrap="square" lIns="0" tIns="0" rIns="0" bIns="0" rtlCol="0" anchor="t"/>
          <a:lstStyle/>
          <a:p>
            <a:pPr indent="0" marL="0">
              <a:buNone/>
            </a:pPr>
            <a:r>
              <a:rPr lang="en-US" sz="1000" b="1" dirty="0">
                <a:solidFill>
                  <a:srgbClr val="0F8B8D"/>
                </a:solidFill>
                <a:latin typeface="Calibri" pitchFamily="34" charset="0"/>
                <a:ea typeface="Calibri" pitchFamily="34" charset="-122"/>
                <a:cs typeface="Calibri" pitchFamily="34" charset="-120"/>
              </a:rPr>
              <a:t>Why a weighted basket, not worst-of: </a:t>
            </a:r>
            <a:pPr indent="0" marL="0">
              <a:buNone/>
            </a:pPr>
            <a:r>
              <a:rPr lang="en-US" sz="1000" dirty="0">
                <a:solidFill>
                  <a:srgbClr val="1D2B30"/>
                </a:solidFill>
                <a:latin typeface="Calibri" pitchFamily="34" charset="0"/>
                <a:ea typeface="Calibri" pitchFamily="34" charset="-122"/>
                <a:cs typeface="Calibri" pitchFamily="34" charset="-120"/>
              </a:rPr>
              <a:t>one index collapsing (e.g. a China regulatory shock) is cushioned by the other three. Basket vol is ~19% vs 32% for HSTECH alone, and correlation risk stays with the desk.</a:t>
            </a:r>
            <a:endParaRPr lang="en-US" sz="1000" dirty="0"/>
          </a:p>
        </p:txBody>
      </p:sp>
      <p:sp>
        <p:nvSpPr>
          <p:cNvPr id="16" name="Text 12"/>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*Assumed 5Y implied vols for pricing. The draft's thematic indices (e.g. 'Greater China PropTech &amp; NLP') are not Bloomberg-listed, so we map each theme to a real index.</a:t>
            </a:r>
            <a:endParaRPr lang="en-US" sz="800" dirty="0"/>
          </a:p>
        </p:txBody>
      </p:sp>
      <p:sp>
        <p:nvSpPr>
          <p:cNvPr id="17" name="Text 13"/>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Term sheet: 5-year capital-protected autocallable, 6.5% coupon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Why this design: above the funding rate, with zero chance of losing capital at maturity</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06240" cy="914400"/>
        </p:xfrm>
        <a:graphic>
          <a:graphicData uri="http://schemas.openxmlformats.org/drawingml/2006/table">
            <a:tbl>
              <a:tblPr/>
              <a:tblGrid>
                <a:gridCol w="1325880"/>
                <a:gridCol w="2880360"/>
              </a:tblGrid>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Natixis SA (BPCE Group)</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Notional / currency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USD 100,000,000 · quanto USD</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Trade /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17 Sep 2026 / 17 Sep 2031 (5Y)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Underlying</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Weighted basket of 4 indices (slide 3)</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Observation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Quarterly, 20 dates; autocall from Q4 (Year 1)</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Coupon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6.5% p.a. (1.625% per quarter), paid if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Memory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Missed coupons paid on the next date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Autocall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Basket ≥ 100% from Q4: 100% + coupons due, note ends</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At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of principal, whatever the basket level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 price / fair value</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 97.5%</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892040" y="1188720"/>
          <a:ext cx="3840480" cy="914400"/>
        </p:xfrm>
        <a:graphic>
          <a:graphicData uri="http://schemas.openxmlformats.org/drawingml/2006/table">
            <a:tbl>
              <a:tblPr/>
              <a:tblGrid>
                <a:gridCol w="2514600"/>
                <a:gridCol w="640080"/>
                <a:gridCol w="68580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Autocall design (same basket, issued at 98%)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Fair cpn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Loss 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fixed coupon,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5.9%</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9.6%</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Phoenix memory (80% cpn barrier),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7.0%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9.6%</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Snowball, 65%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7.7%</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70% barrier, 10%-vol basket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Capital protected, memory coupon (ours)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6.9%</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r>
            </a:tbl>
          </a:graphicData>
        </a:graphic>
      </p:graphicFrame>
      <p:sp>
        <p:nvSpPr>
          <p:cNvPr id="6" name="Shape 2"/>
          <p:cNvSpPr/>
          <p:nvPr/>
        </p:nvSpPr>
        <p:spPr>
          <a:xfrm>
            <a:off x="4892040" y="3154680"/>
            <a:ext cx="3840480" cy="1280160"/>
          </a:xfrm>
          <a:prstGeom prst="roundRect">
            <a:avLst>
              <a:gd name="adj" fmla="val 5000"/>
            </a:avLst>
          </a:prstGeom>
          <a:solidFill>
            <a:srgbClr val="0B3C49"/>
          </a:solidFill>
          <a:ln w="12700">
            <a:solidFill>
              <a:srgbClr val="0B3C49"/>
            </a:solidFill>
            <a:prstDash val="solid"/>
          </a:ln>
        </p:spPr>
      </p:sp>
      <p:sp>
        <p:nvSpPr>
          <p:cNvPr id="7" name="Text 3"/>
          <p:cNvSpPr txBox="1"/>
          <p:nvPr/>
        </p:nvSpPr>
        <p:spPr>
          <a:xfrm>
            <a:off x="5029200" y="3227832"/>
            <a:ext cx="3566160" cy="1170432"/>
          </a:xfrm>
          <a:prstGeom prst="rect">
            <a:avLst/>
          </a:prstGeom>
          <a:noFill/>
          <a:ln/>
        </p:spPr>
        <p:txBody>
          <a:bodyPr wrap="square" lIns="0" tIns="0" rIns="0" bIns="0" rtlCol="0" anchor="t"/>
          <a:lstStyle/>
          <a:p>
            <a:pPr indent="0" marL="0">
              <a:buNone/>
            </a:pPr>
            <a:r>
              <a:rPr lang="en-US" sz="950" b="1" dirty="0">
                <a:solidFill>
                  <a:srgbClr val="D9961A"/>
                </a:solidFill>
                <a:latin typeface="Calibri" pitchFamily="34" charset="0"/>
                <a:ea typeface="Calibri" pitchFamily="34" charset="-122"/>
                <a:cs typeface="Calibri" pitchFamily="34" charset="-120"/>
              </a:rPr>
              <a:t>Design call: </a:t>
            </a:r>
            <a:pPr indent="0" marL="0">
              <a:buNone/>
            </a:pPr>
            <a:r>
              <a:rPr lang="en-US" sz="950" dirty="0">
                <a:solidFill>
                  <a:srgbClr val="FFFFFF"/>
                </a:solidFill>
                <a:latin typeface="Calibri" pitchFamily="34" charset="0"/>
                <a:ea typeface="Calibri" pitchFamily="34" charset="-122"/>
                <a:cs typeface="Calibri" pitchFamily="34" charset="-120"/>
              </a:rPr>
              <a:t>The draft's 8.5% fixed coupon is worth 103.1% to the client, so Natixis cannot fund it. At-risk designs pay 6%–10% for an 8–10% chance of losing capital. Cutting that to ~1% needs a 10%-vol basket and pays only 4.1%, below the 5.69% bond. Full protection prices at 6.9%; we offer 6.5%.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Loss risk = probability the note returns less than 100%.</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How it pays: one question every quarter</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Is the basket at or above 100% of its starting level? (checked quarterly; one date per year shown)</a:t>
            </a:r>
            <a:endParaRPr lang="en-US" sz="1250" dirty="0"/>
          </a:p>
        </p:txBody>
      </p:sp>
      <p:sp>
        <p:nvSpPr>
          <p:cNvPr id="4" name="Shape 2"/>
          <p:cNvSpPr/>
          <p:nvPr/>
        </p:nvSpPr>
        <p:spPr>
          <a:xfrm>
            <a:off x="731520" y="1691640"/>
            <a:ext cx="7680960" cy="0"/>
          </a:xfrm>
          <a:prstGeom prst="line">
            <a:avLst/>
          </a:prstGeom>
          <a:noFill/>
          <a:ln w="25400">
            <a:solidFill>
              <a:srgbClr val="8FA6AA"/>
            </a:solidFill>
            <a:prstDash val="solid"/>
          </a:ln>
        </p:spPr>
      </p:sp>
      <p:sp>
        <p:nvSpPr>
          <p:cNvPr id="5" name="Shape 3"/>
          <p:cNvSpPr/>
          <p:nvPr/>
        </p:nvSpPr>
        <p:spPr>
          <a:xfrm>
            <a:off x="502920" y="1499616"/>
            <a:ext cx="384048" cy="384048"/>
          </a:xfrm>
          <a:prstGeom prst="ellipse">
            <a:avLst/>
          </a:prstGeom>
          <a:solidFill>
            <a:srgbClr val="8FA6AA"/>
          </a:solidFill>
          <a:ln/>
        </p:spPr>
      </p:sp>
      <p:sp>
        <p:nvSpPr>
          <p:cNvPr id="6" name="Text 4"/>
          <p:cNvSpPr txBox="1"/>
          <p:nvPr/>
        </p:nvSpPr>
        <p:spPr>
          <a:xfrm>
            <a:off x="5029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0</a:t>
            </a:r>
            <a:endParaRPr lang="en-US" sz="1300" dirty="0"/>
          </a:p>
        </p:txBody>
      </p:sp>
      <p:sp>
        <p:nvSpPr>
          <p:cNvPr id="7" name="Text 5"/>
          <p:cNvSpPr txBox="1"/>
          <p:nvPr/>
        </p:nvSpPr>
        <p:spPr>
          <a:xfrm>
            <a:off x="137160" y="1938528"/>
            <a:ext cx="1143000" cy="54864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Trade date</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17 Sep 2026</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Initial = 100%</a:t>
            </a:r>
            <a:endParaRPr lang="en-US" sz="850" dirty="0"/>
          </a:p>
        </p:txBody>
      </p:sp>
      <p:sp>
        <p:nvSpPr>
          <p:cNvPr id="8" name="Shape 6"/>
          <p:cNvSpPr/>
          <p:nvPr/>
        </p:nvSpPr>
        <p:spPr>
          <a:xfrm>
            <a:off x="1965960" y="1499616"/>
            <a:ext cx="384048" cy="384048"/>
          </a:xfrm>
          <a:prstGeom prst="ellipse">
            <a:avLst/>
          </a:prstGeom>
          <a:solidFill>
            <a:srgbClr val="0F8B8D"/>
          </a:solidFill>
          <a:ln/>
        </p:spPr>
      </p:sp>
      <p:sp>
        <p:nvSpPr>
          <p:cNvPr id="9" name="Text 7"/>
          <p:cNvSpPr txBox="1"/>
          <p:nvPr/>
        </p:nvSpPr>
        <p:spPr>
          <a:xfrm>
            <a:off x="196596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Y1</a:t>
            </a:r>
            <a:endParaRPr lang="en-US" sz="1300" dirty="0"/>
          </a:p>
        </p:txBody>
      </p:sp>
      <p:sp>
        <p:nvSpPr>
          <p:cNvPr id="10" name="Text 8"/>
          <p:cNvSpPr txBox="1"/>
          <p:nvPr/>
        </p:nvSpPr>
        <p:spPr>
          <a:xfrm>
            <a:off x="150876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106.5% total</a:t>
            </a:r>
            <a:endParaRPr lang="en-US" sz="950" dirty="0"/>
          </a:p>
        </p:txBody>
      </p:sp>
      <p:sp>
        <p:nvSpPr>
          <p:cNvPr id="11" name="Text 9"/>
          <p:cNvSpPr txBox="1"/>
          <p:nvPr/>
        </p:nvSpPr>
        <p:spPr>
          <a:xfrm>
            <a:off x="150876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Y1) 51%</a:t>
            </a:r>
            <a:endParaRPr lang="en-US" sz="850" dirty="0"/>
          </a:p>
        </p:txBody>
      </p:sp>
      <p:sp>
        <p:nvSpPr>
          <p:cNvPr id="12" name="Shape 10"/>
          <p:cNvSpPr/>
          <p:nvPr/>
        </p:nvSpPr>
        <p:spPr>
          <a:xfrm>
            <a:off x="3429000" y="1499616"/>
            <a:ext cx="384048" cy="384048"/>
          </a:xfrm>
          <a:prstGeom prst="ellipse">
            <a:avLst/>
          </a:prstGeom>
          <a:solidFill>
            <a:srgbClr val="0F8B8D"/>
          </a:solidFill>
          <a:ln/>
        </p:spPr>
      </p:sp>
      <p:sp>
        <p:nvSpPr>
          <p:cNvPr id="13" name="Text 11"/>
          <p:cNvSpPr txBox="1"/>
          <p:nvPr/>
        </p:nvSpPr>
        <p:spPr>
          <a:xfrm>
            <a:off x="34290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Y2</a:t>
            </a:r>
            <a:endParaRPr lang="en-US" sz="1300" dirty="0"/>
          </a:p>
        </p:txBody>
      </p:sp>
      <p:sp>
        <p:nvSpPr>
          <p:cNvPr id="14" name="Text 12"/>
          <p:cNvSpPr txBox="1"/>
          <p:nvPr/>
        </p:nvSpPr>
        <p:spPr>
          <a:xfrm>
            <a:off x="297180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113.0% total</a:t>
            </a:r>
            <a:endParaRPr lang="en-US" sz="950" dirty="0"/>
          </a:p>
        </p:txBody>
      </p:sp>
      <p:sp>
        <p:nvSpPr>
          <p:cNvPr id="15" name="Text 13"/>
          <p:cNvSpPr txBox="1"/>
          <p:nvPr/>
        </p:nvSpPr>
        <p:spPr>
          <a:xfrm>
            <a:off x="297180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Y2) 70%</a:t>
            </a:r>
            <a:endParaRPr lang="en-US" sz="850" dirty="0"/>
          </a:p>
        </p:txBody>
      </p:sp>
      <p:sp>
        <p:nvSpPr>
          <p:cNvPr id="16" name="Shape 14"/>
          <p:cNvSpPr/>
          <p:nvPr/>
        </p:nvSpPr>
        <p:spPr>
          <a:xfrm>
            <a:off x="4892040" y="1499616"/>
            <a:ext cx="384048" cy="384048"/>
          </a:xfrm>
          <a:prstGeom prst="ellipse">
            <a:avLst/>
          </a:prstGeom>
          <a:solidFill>
            <a:srgbClr val="0F8B8D"/>
          </a:solidFill>
          <a:ln/>
        </p:spPr>
      </p:sp>
      <p:sp>
        <p:nvSpPr>
          <p:cNvPr id="17" name="Text 15"/>
          <p:cNvSpPr txBox="1"/>
          <p:nvPr/>
        </p:nvSpPr>
        <p:spPr>
          <a:xfrm>
            <a:off x="489204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Y3</a:t>
            </a:r>
            <a:endParaRPr lang="en-US" sz="1300" dirty="0"/>
          </a:p>
        </p:txBody>
      </p:sp>
      <p:sp>
        <p:nvSpPr>
          <p:cNvPr id="18" name="Text 16"/>
          <p:cNvSpPr txBox="1"/>
          <p:nvPr/>
        </p:nvSpPr>
        <p:spPr>
          <a:xfrm>
            <a:off x="443484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119.5% total</a:t>
            </a:r>
            <a:endParaRPr lang="en-US" sz="950" dirty="0"/>
          </a:p>
        </p:txBody>
      </p:sp>
      <p:sp>
        <p:nvSpPr>
          <p:cNvPr id="19" name="Text 17"/>
          <p:cNvSpPr txBox="1"/>
          <p:nvPr/>
        </p:nvSpPr>
        <p:spPr>
          <a:xfrm>
            <a:off x="443484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Y3) 76%</a:t>
            </a:r>
            <a:endParaRPr lang="en-US" sz="850" dirty="0"/>
          </a:p>
        </p:txBody>
      </p:sp>
      <p:sp>
        <p:nvSpPr>
          <p:cNvPr id="20" name="Shape 18"/>
          <p:cNvSpPr/>
          <p:nvPr/>
        </p:nvSpPr>
        <p:spPr>
          <a:xfrm>
            <a:off x="6355080" y="1499616"/>
            <a:ext cx="384048" cy="384048"/>
          </a:xfrm>
          <a:prstGeom prst="ellipse">
            <a:avLst/>
          </a:prstGeom>
          <a:solidFill>
            <a:srgbClr val="0F8B8D"/>
          </a:solidFill>
          <a:ln/>
        </p:spPr>
      </p:sp>
      <p:sp>
        <p:nvSpPr>
          <p:cNvPr id="21" name="Text 19"/>
          <p:cNvSpPr txBox="1"/>
          <p:nvPr/>
        </p:nvSpPr>
        <p:spPr>
          <a:xfrm>
            <a:off x="635508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Y4</a:t>
            </a:r>
            <a:endParaRPr lang="en-US" sz="1300" dirty="0"/>
          </a:p>
        </p:txBody>
      </p:sp>
      <p:sp>
        <p:nvSpPr>
          <p:cNvPr id="22" name="Text 20"/>
          <p:cNvSpPr txBox="1"/>
          <p:nvPr/>
        </p:nvSpPr>
        <p:spPr>
          <a:xfrm>
            <a:off x="589788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126.0% total</a:t>
            </a:r>
            <a:endParaRPr lang="en-US" sz="950" dirty="0"/>
          </a:p>
        </p:txBody>
      </p:sp>
      <p:sp>
        <p:nvSpPr>
          <p:cNvPr id="23" name="Text 21"/>
          <p:cNvSpPr txBox="1"/>
          <p:nvPr/>
        </p:nvSpPr>
        <p:spPr>
          <a:xfrm>
            <a:off x="589788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Y4) 80%</a:t>
            </a:r>
            <a:endParaRPr lang="en-US" sz="850" dirty="0"/>
          </a:p>
        </p:txBody>
      </p:sp>
      <p:sp>
        <p:nvSpPr>
          <p:cNvPr id="24" name="Shape 22"/>
          <p:cNvSpPr/>
          <p:nvPr/>
        </p:nvSpPr>
        <p:spPr>
          <a:xfrm>
            <a:off x="7818120" y="1499616"/>
            <a:ext cx="384048" cy="384048"/>
          </a:xfrm>
          <a:prstGeom prst="ellipse">
            <a:avLst/>
          </a:prstGeom>
          <a:solidFill>
            <a:srgbClr val="D9961A"/>
          </a:solidFill>
          <a:ln/>
        </p:spPr>
      </p:sp>
      <p:sp>
        <p:nvSpPr>
          <p:cNvPr id="25" name="Text 23"/>
          <p:cNvSpPr txBox="1"/>
          <p:nvPr/>
        </p:nvSpPr>
        <p:spPr>
          <a:xfrm>
            <a:off x="78181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Y5</a:t>
            </a:r>
            <a:endParaRPr lang="en-US" sz="1300" dirty="0"/>
          </a:p>
        </p:txBody>
      </p:sp>
      <p:sp>
        <p:nvSpPr>
          <p:cNvPr id="26" name="Text 24"/>
          <p:cNvSpPr txBox="1"/>
          <p:nvPr/>
        </p:nvSpPr>
        <p:spPr>
          <a:xfrm>
            <a:off x="7360920" y="1938528"/>
            <a:ext cx="1298448" cy="411480"/>
          </a:xfrm>
          <a:prstGeom prst="rect">
            <a:avLst/>
          </a:prstGeom>
          <a:noFill/>
          <a:ln/>
        </p:spPr>
        <p:txBody>
          <a:bodyPr wrap="square" lIns="0" tIns="0" rIns="0" bIns="0" rtlCol="0" anchor="t"/>
          <a:lstStyle/>
          <a:p>
            <a:pPr algn="ctr" indent="0" marL="0">
              <a:buNone/>
            </a:pPr>
            <a:r>
              <a:rPr lang="en-US" sz="950" b="1" dirty="0">
                <a:solidFill>
                  <a:srgbClr val="D9961A"/>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D9961A"/>
                </a:solidFill>
                <a:latin typeface="Calibri" pitchFamily="34" charset="0"/>
                <a:ea typeface="Calibri" pitchFamily="34" charset="-122"/>
                <a:cs typeface="Calibri" pitchFamily="34" charset="-120"/>
              </a:rPr>
              <a:t>called, 132.5% total</a:t>
            </a:r>
            <a:endParaRPr lang="en-US" sz="950" dirty="0"/>
          </a:p>
        </p:txBody>
      </p:sp>
      <p:sp>
        <p:nvSpPr>
          <p:cNvPr id="27" name="Text 25"/>
          <p:cNvSpPr txBox="1"/>
          <p:nvPr/>
        </p:nvSpPr>
        <p:spPr>
          <a:xfrm>
            <a:off x="736092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Y5) 83%</a:t>
            </a:r>
            <a:endParaRPr lang="en-US" sz="850" dirty="0"/>
          </a:p>
        </p:txBody>
      </p:sp>
      <p:sp>
        <p:nvSpPr>
          <p:cNvPr id="28" name="Text 26"/>
          <p:cNvSpPr txBox="1"/>
          <p:nvPr/>
        </p:nvSpPr>
        <p:spPr>
          <a:xfrm>
            <a:off x="1280160" y="1143000"/>
            <a:ext cx="7223760" cy="228600"/>
          </a:xfrm>
          <a:prstGeom prst="rect">
            <a:avLst/>
          </a:prstGeom>
          <a:noFill/>
          <a:ln/>
        </p:spPr>
        <p:txBody>
          <a:bodyPr wrap="square" lIns="0" tIns="0" rIns="0" bIns="0" rtlCol="0" anchor="t"/>
          <a:lstStyle/>
          <a:p>
            <a:pPr algn="ctr" indent="0" marL="0">
              <a:buNone/>
            </a:pPr>
            <a:r>
              <a:rPr lang="en-US" sz="900" i="1" dirty="0">
                <a:solidFill>
                  <a:srgbClr val="5F7176"/>
                </a:solidFill>
                <a:latin typeface="Calibri" pitchFamily="34" charset="0"/>
                <a:ea typeface="Calibri" pitchFamily="34" charset="-122"/>
                <a:cs typeface="Calibri" pitchFamily="34" charset="-120"/>
              </a:rPr>
              <a:t>Q1–Q3: coupon only (1.625% if basket ≥ 100%). From Q4: coupon plus autocall. Missed coupons are always caught up.</a:t>
            </a:r>
            <a:endParaRPr lang="en-US" sz="900" dirty="0"/>
          </a:p>
        </p:txBody>
      </p:sp>
      <p:sp>
        <p:nvSpPr>
          <p:cNvPr id="29" name="Shape 27"/>
          <p:cNvSpPr/>
          <p:nvPr/>
        </p:nvSpPr>
        <p:spPr>
          <a:xfrm>
            <a:off x="457200" y="2788920"/>
            <a:ext cx="2606040" cy="1828800"/>
          </a:xfrm>
          <a:prstGeom prst="roundRect">
            <a:avLst>
              <a:gd name="adj" fmla="val 3500"/>
            </a:avLst>
          </a:prstGeom>
          <a:solidFill>
            <a:srgbClr val="E6F2F0"/>
          </a:solidFill>
          <a:ln w="12700">
            <a:solidFill>
              <a:srgbClr val="E6F2F0"/>
            </a:solidFill>
            <a:prstDash val="solid"/>
          </a:ln>
        </p:spPr>
      </p:sp>
      <p:sp>
        <p:nvSpPr>
          <p:cNvPr id="30" name="Shape 28"/>
          <p:cNvSpPr/>
          <p:nvPr/>
        </p:nvSpPr>
        <p:spPr>
          <a:xfrm>
            <a:off x="621792" y="2907792"/>
            <a:ext cx="384048" cy="384048"/>
          </a:xfrm>
          <a:prstGeom prst="ellipse">
            <a:avLst/>
          </a:prstGeom>
          <a:solidFill>
            <a:srgbClr val="0F8B8D"/>
          </a:solidFill>
          <a:ln/>
        </p:spPr>
      </p:sp>
      <p:sp>
        <p:nvSpPr>
          <p:cNvPr id="31" name="Text 29"/>
          <p:cNvSpPr txBox="1"/>
          <p:nvPr/>
        </p:nvSpPr>
        <p:spPr>
          <a:xfrm>
            <a:off x="62179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a:t>
            </a:r>
            <a:endParaRPr lang="en-US" sz="1300" dirty="0"/>
          </a:p>
        </p:txBody>
      </p:sp>
      <p:sp>
        <p:nvSpPr>
          <p:cNvPr id="32" name="Text 30"/>
          <p:cNvSpPr txBox="1"/>
          <p:nvPr/>
        </p:nvSpPr>
        <p:spPr>
          <a:xfrm>
            <a:off x="109728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Autocalled</a:t>
            </a:r>
            <a:endParaRPr lang="en-US" sz="1200" dirty="0"/>
          </a:p>
        </p:txBody>
      </p:sp>
      <p:sp>
        <p:nvSpPr>
          <p:cNvPr id="33" name="Text 31"/>
          <p:cNvSpPr txBox="1"/>
          <p:nvPr/>
        </p:nvSpPr>
        <p:spPr>
          <a:xfrm>
            <a:off x="62179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on any date from Q4: 100% plus every coupon to date, including missed ones. The note ends.</a:t>
            </a:r>
            <a:endParaRPr lang="en-US" sz="1000" dirty="0"/>
          </a:p>
        </p:txBody>
      </p:sp>
      <p:sp>
        <p:nvSpPr>
          <p:cNvPr id="34" name="Text 32"/>
          <p:cNvSpPr txBox="1"/>
          <p:nvPr/>
        </p:nvSpPr>
        <p:spPr>
          <a:xfrm>
            <a:off x="621792" y="4160520"/>
            <a:ext cx="2286000" cy="365760"/>
          </a:xfrm>
          <a:prstGeom prst="rect">
            <a:avLst/>
          </a:prstGeom>
          <a:noFill/>
          <a:ln/>
        </p:spPr>
        <p:txBody>
          <a:bodyPr wrap="square" lIns="0" tIns="0" rIns="0" bIns="0" rtlCol="0" anchor="ctr"/>
          <a:lstStyle/>
          <a:p>
            <a:pPr indent="0" marL="0">
              <a:buNone/>
            </a:pPr>
            <a:r>
              <a:rPr lang="en-US" sz="1600" b="1" dirty="0">
                <a:solidFill>
                  <a:srgbClr val="0F8B8D"/>
                </a:solidFill>
                <a:latin typeface="Calibri" pitchFamily="34" charset="0"/>
                <a:ea typeface="Calibri" pitchFamily="34" charset="-122"/>
                <a:cs typeface="Calibri" pitchFamily="34" charset="-120"/>
              </a:rPr>
              <a:t>83%</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35" name="Shape 33"/>
          <p:cNvSpPr/>
          <p:nvPr/>
        </p:nvSpPr>
        <p:spPr>
          <a:xfrm>
            <a:off x="3246120" y="2788920"/>
            <a:ext cx="2606040" cy="1828800"/>
          </a:xfrm>
          <a:prstGeom prst="roundRect">
            <a:avLst>
              <a:gd name="adj" fmla="val 3500"/>
            </a:avLst>
          </a:prstGeom>
          <a:solidFill>
            <a:srgbClr val="E6F2F0"/>
          </a:solidFill>
          <a:ln w="12700">
            <a:solidFill>
              <a:srgbClr val="E6F2F0"/>
            </a:solidFill>
            <a:prstDash val="solid"/>
          </a:ln>
        </p:spPr>
      </p:sp>
      <p:sp>
        <p:nvSpPr>
          <p:cNvPr id="36" name="Shape 34"/>
          <p:cNvSpPr/>
          <p:nvPr/>
        </p:nvSpPr>
        <p:spPr>
          <a:xfrm>
            <a:off x="3410712" y="2907792"/>
            <a:ext cx="384048" cy="384048"/>
          </a:xfrm>
          <a:prstGeom prst="ellipse">
            <a:avLst/>
          </a:prstGeom>
          <a:solidFill>
            <a:srgbClr val="8FA6AA"/>
          </a:solidFill>
          <a:ln/>
        </p:spPr>
      </p:sp>
      <p:sp>
        <p:nvSpPr>
          <p:cNvPr id="37" name="Text 35"/>
          <p:cNvSpPr txBox="1"/>
          <p:nvPr/>
        </p:nvSpPr>
        <p:spPr>
          <a:xfrm>
            <a:off x="341071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a:t>
            </a:r>
            <a:endParaRPr lang="en-US" sz="1300" dirty="0"/>
          </a:p>
        </p:txBody>
      </p:sp>
      <p:sp>
        <p:nvSpPr>
          <p:cNvPr id="38" name="Text 36"/>
          <p:cNvSpPr txBox="1"/>
          <p:nvPr/>
        </p:nvSpPr>
        <p:spPr>
          <a:xfrm>
            <a:off x="388620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early coupons</a:t>
            </a:r>
            <a:endParaRPr lang="en-US" sz="1200" dirty="0"/>
          </a:p>
        </p:txBody>
      </p:sp>
      <p:sp>
        <p:nvSpPr>
          <p:cNvPr id="39" name="Text 37"/>
          <p:cNvSpPr txBox="1"/>
          <p:nvPr/>
        </p:nvSpPr>
        <p:spPr>
          <a:xfrm>
            <a:off x="341071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in Q1–Q3 only, never afterwards. The family keeps those coupons and gets 100% back at Y5.</a:t>
            </a:r>
            <a:endParaRPr lang="en-US" sz="1000" dirty="0"/>
          </a:p>
        </p:txBody>
      </p:sp>
      <p:sp>
        <p:nvSpPr>
          <p:cNvPr id="40" name="Text 38"/>
          <p:cNvSpPr txBox="1"/>
          <p:nvPr/>
        </p:nvSpPr>
        <p:spPr>
          <a:xfrm>
            <a:off x="3410712" y="4160520"/>
            <a:ext cx="2286000" cy="365760"/>
          </a:xfrm>
          <a:prstGeom prst="rect">
            <a:avLst/>
          </a:prstGeom>
          <a:noFill/>
          <a:ln/>
        </p:spPr>
        <p:txBody>
          <a:bodyPr wrap="square" lIns="0" tIns="0" rIns="0" bIns="0" rtlCol="0" anchor="ctr"/>
          <a:lstStyle/>
          <a:p>
            <a:pPr indent="0" marL="0">
              <a:buNone/>
            </a:pPr>
            <a:r>
              <a:rPr lang="en-US" sz="1600" b="1" dirty="0">
                <a:solidFill>
                  <a:srgbClr val="8FA6AA"/>
                </a:solidFill>
                <a:latin typeface="Calibri" pitchFamily="34" charset="0"/>
                <a:ea typeface="Calibri" pitchFamily="34" charset="-122"/>
                <a:cs typeface="Calibri" pitchFamily="34" charset="-120"/>
              </a:rPr>
              <a:t>6%</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1" name="Shape 39"/>
          <p:cNvSpPr/>
          <p:nvPr/>
        </p:nvSpPr>
        <p:spPr>
          <a:xfrm>
            <a:off x="6035040" y="2788920"/>
            <a:ext cx="2606040" cy="1828800"/>
          </a:xfrm>
          <a:prstGeom prst="roundRect">
            <a:avLst>
              <a:gd name="adj" fmla="val 3500"/>
            </a:avLst>
          </a:prstGeom>
          <a:solidFill>
            <a:srgbClr val="E6F2F0"/>
          </a:solidFill>
          <a:ln w="12700">
            <a:solidFill>
              <a:srgbClr val="E6F2F0"/>
            </a:solidFill>
            <a:prstDash val="solid"/>
          </a:ln>
        </p:spPr>
      </p:sp>
      <p:sp>
        <p:nvSpPr>
          <p:cNvPr id="42" name="Shape 40"/>
          <p:cNvSpPr/>
          <p:nvPr/>
        </p:nvSpPr>
        <p:spPr>
          <a:xfrm>
            <a:off x="6199632" y="2907792"/>
            <a:ext cx="384048" cy="384048"/>
          </a:xfrm>
          <a:prstGeom prst="ellipse">
            <a:avLst/>
          </a:prstGeom>
          <a:solidFill>
            <a:srgbClr val="D9961A"/>
          </a:solidFill>
          <a:ln/>
        </p:spPr>
      </p:sp>
      <p:sp>
        <p:nvSpPr>
          <p:cNvPr id="43" name="Text 41"/>
          <p:cNvSpPr txBox="1"/>
          <p:nvPr/>
        </p:nvSpPr>
        <p:spPr>
          <a:xfrm>
            <a:off x="619963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C</a:t>
            </a:r>
            <a:endParaRPr lang="en-US" sz="1300" dirty="0"/>
          </a:p>
        </p:txBody>
      </p:sp>
      <p:sp>
        <p:nvSpPr>
          <p:cNvPr id="44" name="Text 42"/>
          <p:cNvSpPr txBox="1"/>
          <p:nvPr/>
        </p:nvSpPr>
        <p:spPr>
          <a:xfrm>
            <a:off x="667512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no coupon</a:t>
            </a:r>
            <a:endParaRPr lang="en-US" sz="1200" dirty="0"/>
          </a:p>
        </p:txBody>
      </p:sp>
      <p:sp>
        <p:nvSpPr>
          <p:cNvPr id="45" name="Text 43"/>
          <p:cNvSpPr txBox="1"/>
          <p:nvPr/>
        </p:nvSpPr>
        <p:spPr>
          <a:xfrm>
            <a:off x="619963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never back to 100%. The family gets 100% back at Y5: a 0% return, but no capital loss.</a:t>
            </a:r>
            <a:endParaRPr lang="en-US" sz="1000" dirty="0"/>
          </a:p>
        </p:txBody>
      </p:sp>
      <p:sp>
        <p:nvSpPr>
          <p:cNvPr id="46" name="Text 44"/>
          <p:cNvSpPr txBox="1"/>
          <p:nvPr/>
        </p:nvSpPr>
        <p:spPr>
          <a:xfrm>
            <a:off x="6199632" y="4160520"/>
            <a:ext cx="2286000" cy="365760"/>
          </a:xfrm>
          <a:prstGeom prst="rect">
            <a:avLst/>
          </a:prstGeom>
          <a:noFill/>
          <a:ln/>
        </p:spPr>
        <p:txBody>
          <a:bodyPr wrap="square" lIns="0" tIns="0" rIns="0" bIns="0" rtlCol="0" anchor="ctr"/>
          <a:lstStyle/>
          <a:p>
            <a:pPr indent="0" marL="0">
              <a:buNone/>
            </a:pPr>
            <a:r>
              <a:rPr lang="en-US" sz="1600" b="1" dirty="0">
                <a:solidFill>
                  <a:srgbClr val="D9961A"/>
                </a:solidFill>
                <a:latin typeface="Calibri" pitchFamily="34" charset="0"/>
                <a:ea typeface="Calibri" pitchFamily="34" charset="-122"/>
                <a:cs typeface="Calibri" pitchFamily="34" charset="-120"/>
              </a:rPr>
              <a:t>11%</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7" name="Text 45"/>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Probabilities are risk-neutral (drift = funding rate − dividends). Real-world outcomes under different equity returns are on slide 9.</a:t>
            </a:r>
            <a:endParaRPr lang="en-US" sz="800" dirty="0"/>
          </a:p>
        </p:txBody>
      </p:sp>
      <p:sp>
        <p:nvSpPr>
          <p:cNvPr id="48" name="Text 46"/>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Payoff diagrams: what the family receives, and when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Left: total cash if called at each date. Right: payoff at Y5 if never called earlier, vs. owning the basket directly</a:t>
            </a:r>
            <a:endParaRPr lang="en-US" sz="1250" dirty="0"/>
          </a:p>
        </p:txBody>
      </p:sp>
      <p:graphicFrame>
        <p:nvGraphicFramePr>
          <p:cNvPr id="4" name="Chart 0" descr=""/>
          <p:cNvGraphicFramePr/>
          <p:nvPr/>
        </p:nvGraphicFramePr>
        <p:xfrm>
          <a:off x="365760" y="1143000"/>
          <a:ext cx="402336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3840480"/>
            <a:ext cx="2103120" cy="8686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Y1: 106.5%  (USD 106.5mn)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Y2: 113.0%  (USD 113.0mn)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Y3: 119.5%  (USD 119.5mn)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Y4: 126.0%  (USD 126.0mn)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Y5: 132.5%  (USD 132.5mn)</a:t>
            </a:r>
            <a:endParaRPr lang="en-US" sz="900" dirty="0"/>
          </a:p>
        </p:txBody>
      </p:sp>
      <p:sp>
        <p:nvSpPr>
          <p:cNvPr id="6" name="Text 3"/>
          <p:cNvSpPr txBox="1"/>
          <p:nvPr/>
        </p:nvSpPr>
        <p:spPr>
          <a:xfrm>
            <a:off x="2606040" y="3840480"/>
            <a:ext cx="1783080" cy="868680"/>
          </a:xfrm>
          <a:prstGeom prst="rect">
            <a:avLst/>
          </a:prstGeom>
          <a:noFill/>
          <a:ln/>
        </p:spPr>
        <p:txBody>
          <a:bodyPr wrap="square" lIns="0" tIns="0" rIns="0" bIns="0" rtlCol="0" anchor="t"/>
          <a:lstStyle/>
          <a:p>
            <a:pPr indent="0" marL="0">
              <a:buNone/>
            </a:pPr>
            <a:r>
              <a:rPr lang="en-US" sz="900" i="1" dirty="0">
                <a:solidFill>
                  <a:srgbClr val="5F7176"/>
                </a:solidFill>
                <a:latin typeface="Calibri" pitchFamily="34" charset="0"/>
                <a:ea typeface="Calibri" pitchFamily="34" charset="-122"/>
                <a:cs typeface="Calibri" pitchFamily="34" charset="-120"/>
              </a:rPr>
              <a:t>With memory, the total depends only on when the note is called, not on how many coupon dates were missed along the way.</a:t>
            </a:r>
            <a:endParaRPr lang="en-US" sz="900" dirty="0"/>
          </a:p>
        </p:txBody>
      </p:sp>
      <p:graphicFrame>
        <p:nvGraphicFramePr>
          <p:cNvPr id="7" name="Chart 1" descr=""/>
          <p:cNvGraphicFramePr/>
          <p:nvPr/>
        </p:nvGraphicFramePr>
        <p:xfrm>
          <a:off x="4572000" y="114300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709160" y="4315968"/>
            <a:ext cx="91440" cy="91440"/>
          </a:xfrm>
          <a:prstGeom prst="ellipse">
            <a:avLst/>
          </a:prstGeom>
          <a:solidFill>
            <a:srgbClr val="D9961A"/>
          </a:solidFill>
          <a:ln w="12700">
            <a:solidFill>
              <a:srgbClr val="D9961A"/>
            </a:solidFill>
            <a:prstDash val="solid"/>
          </a:ln>
        </p:spPr>
      </p:sp>
      <p:sp>
        <p:nvSpPr>
          <p:cNvPr id="9" name="Text 5"/>
          <p:cNvSpPr txBox="1"/>
          <p:nvPr/>
        </p:nvSpPr>
        <p:spPr>
          <a:xfrm>
            <a:off x="4864608" y="4261104"/>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&lt; 100%: 100% back; capital protected however far the basket falls</a:t>
            </a:r>
            <a:endParaRPr lang="en-US" sz="850" dirty="0"/>
          </a:p>
        </p:txBody>
      </p:sp>
      <p:sp>
        <p:nvSpPr>
          <p:cNvPr id="10" name="Shape 6"/>
          <p:cNvSpPr/>
          <p:nvPr/>
        </p:nvSpPr>
        <p:spPr>
          <a:xfrm>
            <a:off x="4709160" y="4489704"/>
            <a:ext cx="91440" cy="91440"/>
          </a:xfrm>
          <a:prstGeom prst="ellipse">
            <a:avLst/>
          </a:prstGeom>
          <a:solidFill>
            <a:srgbClr val="0F8B8D"/>
          </a:solidFill>
          <a:ln w="12700">
            <a:solidFill>
              <a:srgbClr val="0F8B8D"/>
            </a:solidFill>
            <a:prstDash val="solid"/>
          </a:ln>
        </p:spPr>
      </p:sp>
      <p:sp>
        <p:nvSpPr>
          <p:cNvPr id="11" name="Text 7"/>
          <p:cNvSpPr txBox="1"/>
          <p:nvPr/>
        </p:nvSpPr>
        <p:spPr>
          <a:xfrm>
            <a:off x="4864608" y="4434840"/>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 100%: 132.5% (principal + all 20 coupons via memory)</a:t>
            </a:r>
            <a:endParaRPr lang="en-US" sz="850" dirty="0"/>
          </a:p>
        </p:txBody>
      </p:sp>
      <p:sp>
        <p:nvSpPr>
          <p:cNvPr id="12" name="Text 8"/>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 the hood: a bond plus a strip of digital options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Replication used by the Natixis desk to price and hedge (values in % of notional, at trade date)</a:t>
            </a:r>
            <a:endParaRPr lang="en-US" sz="1250" dirty="0"/>
          </a:p>
        </p:txBody>
      </p:sp>
      <p:sp>
        <p:nvSpPr>
          <p:cNvPr id="4" name="Shape 2"/>
          <p:cNvSpPr/>
          <p:nvPr/>
        </p:nvSpPr>
        <p:spPr>
          <a:xfrm>
            <a:off x="411480" y="1188720"/>
            <a:ext cx="2651760" cy="2788920"/>
          </a:xfrm>
          <a:prstGeom prst="roundRect">
            <a:avLst>
              <a:gd name="adj" fmla="val 2414"/>
            </a:avLst>
          </a:prstGeom>
          <a:solidFill>
            <a:srgbClr val="E6F2F0"/>
          </a:solidFill>
          <a:ln w="12700">
            <a:solidFill>
              <a:srgbClr val="E6F2F0"/>
            </a:solidFill>
            <a:prstDash val="solid"/>
          </a:ln>
        </p:spPr>
      </p:sp>
      <p:sp>
        <p:nvSpPr>
          <p:cNvPr id="5" name="Text 3"/>
          <p:cNvSpPr txBox="1"/>
          <p:nvPr/>
        </p:nvSpPr>
        <p:spPr>
          <a:xfrm>
            <a:off x="54864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Protected principal</a:t>
            </a:r>
            <a:endParaRPr lang="en-US" sz="1200" dirty="0"/>
          </a:p>
        </p:txBody>
      </p:sp>
      <p:sp>
        <p:nvSpPr>
          <p:cNvPr id="6" name="Text 4"/>
          <p:cNvSpPr txBox="1"/>
          <p:nvPr/>
        </p:nvSpPr>
        <p:spPr>
          <a:xfrm>
            <a:off x="54864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100% repaid at autocall or maturity. Worth 90.1%: early repayment is worth more than a 5Y bond (75.8%)</a:t>
            </a:r>
            <a:endParaRPr lang="en-US" sz="900" dirty="0"/>
          </a:p>
        </p:txBody>
      </p:sp>
      <p:graphicFrame>
        <p:nvGraphicFramePr>
          <p:cNvPr id="7" name="Chart 0" descr=""/>
          <p:cNvGraphicFramePr/>
          <p:nvPr/>
        </p:nvGraphicFramePr>
        <p:xfrm>
          <a:off x="457200" y="2148840"/>
          <a:ext cx="2560320" cy="17373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304495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9" name="Shape 6"/>
          <p:cNvSpPr/>
          <p:nvPr/>
        </p:nvSpPr>
        <p:spPr>
          <a:xfrm>
            <a:off x="3246120" y="1188720"/>
            <a:ext cx="2651760" cy="2788920"/>
          </a:xfrm>
          <a:prstGeom prst="roundRect">
            <a:avLst>
              <a:gd name="adj" fmla="val 2414"/>
            </a:avLst>
          </a:prstGeom>
          <a:solidFill>
            <a:srgbClr val="E6F2F0"/>
          </a:solidFill>
          <a:ln w="12700">
            <a:solidFill>
              <a:srgbClr val="E6F2F0"/>
            </a:solidFill>
            <a:prstDash val="solid"/>
          </a:ln>
        </p:spPr>
      </p:sp>
      <p:sp>
        <p:nvSpPr>
          <p:cNvPr id="10" name="Text 7"/>
          <p:cNvSpPr txBox="1"/>
          <p:nvPr/>
        </p:nvSpPr>
        <p:spPr>
          <a:xfrm>
            <a:off x="338328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Long quarterly digitals</a:t>
            </a:r>
            <a:endParaRPr lang="en-US" sz="1200" dirty="0"/>
          </a:p>
        </p:txBody>
      </p:sp>
      <p:sp>
        <p:nvSpPr>
          <p:cNvPr id="11" name="Text 8"/>
          <p:cNvSpPr txBox="1"/>
          <p:nvPr/>
        </p:nvSpPr>
        <p:spPr>
          <a:xfrm>
            <a:off x="338328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Pay 1.625%, plus missed coupons, on each date the basket is ≥ 100%. Worth 7.4%</a:t>
            </a:r>
            <a:endParaRPr lang="en-US" sz="900" dirty="0"/>
          </a:p>
        </p:txBody>
      </p:sp>
      <p:graphicFrame>
        <p:nvGraphicFramePr>
          <p:cNvPr id="12" name="Chart 1" descr=""/>
          <p:cNvGraphicFramePr/>
          <p:nvPr/>
        </p:nvGraphicFramePr>
        <p:xfrm>
          <a:off x="3291840" y="2148840"/>
          <a:ext cx="2560320" cy="17373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87959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14" name="Shape 10"/>
          <p:cNvSpPr/>
          <p:nvPr/>
        </p:nvSpPr>
        <p:spPr>
          <a:xfrm>
            <a:off x="6080760" y="1188720"/>
            <a:ext cx="2651760" cy="2788920"/>
          </a:xfrm>
          <a:prstGeom prst="roundRect">
            <a:avLst>
              <a:gd name="adj" fmla="val 2414"/>
            </a:avLst>
          </a:prstGeom>
          <a:solidFill>
            <a:srgbClr val="E6F2F0"/>
          </a:solidFill>
          <a:ln w="12700">
            <a:solidFill>
              <a:srgbClr val="E6F2F0"/>
            </a:solidFill>
            <a:prstDash val="solid"/>
          </a:ln>
        </p:spPr>
      </p:sp>
      <p:sp>
        <p:nvSpPr>
          <p:cNvPr id="15" name="Text 11"/>
          <p:cNvSpPr txBox="1"/>
          <p:nvPr/>
        </p:nvSpPr>
        <p:spPr>
          <a:xfrm>
            <a:off x="6217920" y="1261872"/>
            <a:ext cx="2377440" cy="274320"/>
          </a:xfrm>
          <a:prstGeom prst="rect">
            <a:avLst/>
          </a:prstGeom>
          <a:noFill/>
          <a:ln/>
        </p:spPr>
        <p:txBody>
          <a:bodyPr wrap="square" lIns="0" tIns="0" rIns="0" bIns="0" rtlCol="0" anchor="t"/>
          <a:lstStyle/>
          <a:p>
            <a:pPr indent="0" marL="0">
              <a:buNone/>
            </a:pPr>
            <a:r>
              <a:rPr lang="en-US" sz="1200" b="1" dirty="0">
                <a:solidFill>
                  <a:srgbClr val="B8433A"/>
                </a:solidFill>
                <a:latin typeface="Calibri" pitchFamily="34" charset="0"/>
                <a:ea typeface="Calibri" pitchFamily="34" charset="-122"/>
                <a:cs typeface="Calibri" pitchFamily="34" charset="-120"/>
              </a:rPr>
              <a:t>Autocall (Natixis's side)</a:t>
            </a:r>
            <a:endParaRPr lang="en-US" sz="1200" dirty="0"/>
          </a:p>
        </p:txBody>
      </p:sp>
      <p:sp>
        <p:nvSpPr>
          <p:cNvPr id="16" name="Text 12"/>
          <p:cNvSpPr txBox="1"/>
          <p:nvPr/>
        </p:nvSpPr>
        <p:spPr>
          <a:xfrm>
            <a:off x="621792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Remaining coupons: cancelled on a date from Q4 with basket ≥ 100%, when the note ends. This is what keeps the coupon affordable</a:t>
            </a:r>
            <a:endParaRPr lang="en-US" sz="900" dirty="0"/>
          </a:p>
        </p:txBody>
      </p:sp>
      <p:graphicFrame>
        <p:nvGraphicFramePr>
          <p:cNvPr id="17" name="Chart 2" descr=""/>
          <p:cNvGraphicFramePr/>
          <p:nvPr/>
        </p:nvGraphicFramePr>
        <p:xfrm>
          <a:off x="6126480" y="2148840"/>
          <a:ext cx="2560320" cy="1737360"/>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411480" y="4069080"/>
            <a:ext cx="8321040" cy="640080"/>
          </a:xfrm>
          <a:prstGeom prst="roundRect">
            <a:avLst>
              <a:gd name="adj" fmla="val 10000"/>
            </a:avLst>
          </a:prstGeom>
          <a:solidFill>
            <a:srgbClr val="0B3C49"/>
          </a:solidFill>
          <a:ln w="12700">
            <a:solidFill>
              <a:srgbClr val="0B3C49"/>
            </a:solidFill>
            <a:prstDash val="solid"/>
          </a:ln>
        </p:spPr>
      </p:sp>
      <p:sp>
        <p:nvSpPr>
          <p:cNvPr id="19" name="Text 14"/>
          <p:cNvSpPr txBox="1"/>
          <p:nvPr/>
        </p:nvSpPr>
        <p:spPr>
          <a:xfrm>
            <a:off x="548640" y="4133088"/>
            <a:ext cx="8046720" cy="548640"/>
          </a:xfrm>
          <a:prstGeom prst="rect">
            <a:avLst/>
          </a:prstGeom>
          <a:noFill/>
          <a:ln/>
        </p:spPr>
        <p:txBody>
          <a:bodyPr wrap="square" lIns="0" tIns="0" rIns="0" bIns="0" rtlCol="0" anchor="ctr"/>
          <a:lstStyle/>
          <a:p>
            <a:pPr indent="0" marL="0">
              <a:buNone/>
            </a:pPr>
            <a:r>
              <a:rPr lang="en-US" sz="1000" b="1" dirty="0">
                <a:solidFill>
                  <a:srgbClr val="D9961A"/>
                </a:solidFill>
                <a:latin typeface="Calibri" pitchFamily="34" charset="0"/>
                <a:ea typeface="Calibri" pitchFamily="34" charset="-122"/>
                <a:cs typeface="Calibri" pitchFamily="34" charset="-120"/>
              </a:rPr>
              <a:t>Fair value 97.5% = principal 90.1% + coupons 7.4% (net of autocall).  </a:t>
            </a:r>
            <a:pPr indent="0" marL="0">
              <a:buNone/>
            </a:pPr>
            <a:r>
              <a:rPr lang="en-US" sz="1000" dirty="0">
                <a:solidFill>
                  <a:srgbClr val="FFFFFF"/>
                </a:solidFill>
                <a:latin typeface="Calibri" pitchFamily="34" charset="0"/>
                <a:ea typeface="Calibri" pitchFamily="34" charset="-122"/>
                <a:cs typeface="Calibri" pitchFamily="34" charset="-120"/>
              </a:rPr>
              <a:t>Issued at 100%, leaving 2.5% for hedging costs and Natixis margin. The client sells no put, so it takes no equity downside: it gives up upside above the coupon instead.</a:t>
            </a:r>
            <a:endParaRPr lang="en-US" sz="1000" dirty="0"/>
          </a:p>
        </p:txBody>
      </p:sp>
      <p:sp>
        <p:nvSpPr>
          <p:cNvPr id="20"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Scenario analysis: five paths for Asian markets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Hypothetical quarterly basket paths and what the USD 100mn note returns in each</a:t>
            </a:r>
            <a:endParaRPr lang="en-US" sz="1250" dirty="0"/>
          </a:p>
        </p:txBody>
      </p:sp>
      <p:graphicFrame>
        <p:nvGraphicFramePr>
          <p:cNvPr id="4" name="Chart 0" descr=""/>
          <p:cNvGraphicFramePr/>
          <p:nvPr/>
        </p:nvGraphicFramePr>
        <p:xfrm>
          <a:off x="320040" y="109728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663440" y="1188720"/>
          <a:ext cx="4069080" cy="914400"/>
        </p:xfrm>
        <a:graphic>
          <a:graphicData uri="http://schemas.openxmlformats.org/drawingml/2006/table">
            <a:tbl>
              <a:tblPr/>
              <a:tblGrid>
                <a:gridCol w="1298448"/>
                <a:gridCol w="896112"/>
                <a:gridCol w="530352"/>
                <a:gridCol w="475488"/>
                <a:gridCol w="429768"/>
                <a:gridCol w="438912"/>
              </a:tblGrid>
              <a:tr h="38404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Scenario</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Outcome</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Coupons</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USD mn</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IRR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Basket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84048">
                <a:tc>
                  <a:txBody>
                    <a:bodyPr/>
                    <a:lstStyle/>
                    <a:p>
                      <a:pPr indent="0" marL="0">
                        <a:buNone/>
                      </a:pPr>
                      <a:r>
                        <a:rPr lang="en-US" sz="850" b="1" dirty="0">
                          <a:solidFill>
                            <a:srgbClr val="0F8B8D"/>
                          </a:solidFill>
                          <a:latin typeface="Calibri" pitchFamily="34" charset="0"/>
                          <a:ea typeface="Calibri" pitchFamily="34" charset="-122"/>
                          <a:cs typeface="Calibri" pitchFamily="34" charset="-120"/>
                        </a:rPr>
                        <a:t>AI capex boom</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Q4 (1y)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106.5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6.7%</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D9961A"/>
                          </a:solidFill>
                          <a:latin typeface="Calibri" pitchFamily="34" charset="0"/>
                          <a:ea typeface="Calibri" pitchFamily="34" charset="-122"/>
                          <a:cs typeface="Calibri" pitchFamily="34" charset="-120"/>
                        </a:rPr>
                        <a:t>Range-bound Asia</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Q6 (1.5y)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9.8%</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109.7</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6.4%</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2022-style tech drawdown, slow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Q15 (3.75y)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24.4%</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124.4</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5F7176"/>
                          </a:solidFill>
                          <a:latin typeface="Calibri" pitchFamily="34" charset="0"/>
                          <a:ea typeface="Calibri" pitchFamily="34" charset="-122"/>
                          <a:cs typeface="Calibri" pitchFamily="34" charset="-120"/>
                        </a:rPr>
                        <a:t>Lost decade (sideways below par)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B8433A"/>
                          </a:solidFill>
                          <a:latin typeface="Calibri" pitchFamily="34" charset="0"/>
                          <a:ea typeface="Calibri" pitchFamily="34" charset="-122"/>
                          <a:cs typeface="Calibri" pitchFamily="34" charset="-120"/>
                        </a:rPr>
                        <a:t>Geopolitical shock, no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663440" y="3611880"/>
            <a:ext cx="4069080" cy="1051560"/>
          </a:xfrm>
          <a:prstGeom prst="roundRect">
            <a:avLst>
              <a:gd name="adj" fmla="val 6087"/>
            </a:avLst>
          </a:prstGeom>
          <a:solidFill>
            <a:srgbClr val="E6F2F0"/>
          </a:solidFill>
          <a:ln w="12700">
            <a:solidFill>
              <a:srgbClr val="E6F2F0"/>
            </a:solidFill>
            <a:prstDash val="solid"/>
          </a:ln>
        </p:spPr>
      </p:sp>
      <p:sp>
        <p:nvSpPr>
          <p:cNvPr id="7" name="Text 3"/>
          <p:cNvSpPr txBox="1"/>
          <p:nvPr/>
        </p:nvSpPr>
        <p:spPr>
          <a:xfrm>
            <a:off x="4800600" y="3685032"/>
            <a:ext cx="3840480" cy="91440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Reading: </a:t>
            </a:r>
            <a:pPr indent="0" marL="0">
              <a:buNone/>
            </a:pPr>
            <a:r>
              <a:rPr lang="en-US" sz="950" dirty="0">
                <a:solidFill>
                  <a:srgbClr val="1D2B30"/>
                </a:solidFill>
                <a:latin typeface="Calibri" pitchFamily="34" charset="0"/>
                <a:ea typeface="Calibri" pitchFamily="34" charset="-122"/>
                <a:cs typeface="Calibri" pitchFamily="34" charset="-120"/>
              </a:rPr>
              <a:t>the note earns ~6–6.7% a year whenever the basket gets back to 100%, even after a 30% drawdown: memory pays all 15 missed coupons at Q15. In a lost decade or a lasting shock the family gets 100% back, while the basket itself is down 12–45%.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Paths are illustrative and not forecasts. 'Basket' = direct basket return at Y5 when the note is not called. Historical back-test to run on Bloomberg history (appendix).</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Simulation back-test: most paths end early with full coupons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Monte Carlo outcome distribution: risk-neutral and under three real-world equity return assumptions</a:t>
            </a:r>
            <a:endParaRPr lang="en-US" sz="1250" dirty="0"/>
          </a:p>
        </p:txBody>
      </p:sp>
      <p:graphicFrame>
        <p:nvGraphicFramePr>
          <p:cNvPr id="4" name="Chart 0" descr=""/>
          <p:cNvGraphicFramePr/>
          <p:nvPr/>
        </p:nvGraphicFramePr>
        <p:xfrm>
          <a:off x="320040" y="1097280"/>
          <a:ext cx="35661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143000"/>
          <a:ext cx="4663440" cy="914400"/>
        </p:xfrm>
        <a:graphic>
          <a:graphicData uri="http://schemas.openxmlformats.org/drawingml/2006/table">
            <a:tbl>
              <a:tblPr/>
              <a:tblGrid>
                <a:gridCol w="1298448"/>
                <a:gridCol w="841248"/>
                <a:gridCol w="841248"/>
                <a:gridCol w="841248"/>
                <a:gridCol w="841248"/>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Risk-neutral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0%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8%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Called within 5Y</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Expected life (yrs)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Median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Avg coupons received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Zero return (100% back)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Capital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3611880"/>
            <a:ext cx="2606040" cy="1005840"/>
          </a:xfrm>
          <a:prstGeom prst="roundRect">
            <a:avLst>
              <a:gd name="adj" fmla="val 6364"/>
            </a:avLst>
          </a:prstGeom>
          <a:solidFill>
            <a:srgbClr val="E6F2F0"/>
          </a:solidFill>
          <a:ln w="12700">
            <a:solidFill>
              <a:srgbClr val="E6F2F0"/>
            </a:solidFill>
            <a:prstDash val="solid"/>
          </a:ln>
        </p:spPr>
      </p:sp>
      <p:sp>
        <p:nvSpPr>
          <p:cNvPr id="7" name="Text 3"/>
          <p:cNvSpPr txBox="1"/>
          <p:nvPr/>
        </p:nvSpPr>
        <p:spPr>
          <a:xfrm>
            <a:off x="54864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51%</a:t>
            </a:r>
            <a:endParaRPr lang="en-US" sz="2400" dirty="0"/>
          </a:p>
        </p:txBody>
      </p:sp>
      <p:sp>
        <p:nvSpPr>
          <p:cNvPr id="8" name="Text 4"/>
          <p:cNvSpPr txBox="1"/>
          <p:nvPr/>
        </p:nvSpPr>
        <p:spPr>
          <a:xfrm>
            <a:off x="160020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called at the first review (106.5% total)</a:t>
            </a:r>
            <a:endParaRPr lang="en-US" sz="1000" dirty="0"/>
          </a:p>
        </p:txBody>
      </p:sp>
      <p:sp>
        <p:nvSpPr>
          <p:cNvPr id="9" name="Shape 5"/>
          <p:cNvSpPr/>
          <p:nvPr/>
        </p:nvSpPr>
        <p:spPr>
          <a:xfrm>
            <a:off x="3200400" y="3611880"/>
            <a:ext cx="2606040" cy="1005840"/>
          </a:xfrm>
          <a:prstGeom prst="roundRect">
            <a:avLst>
              <a:gd name="adj" fmla="val 6364"/>
            </a:avLst>
          </a:prstGeom>
          <a:solidFill>
            <a:srgbClr val="E6F2F0"/>
          </a:solidFill>
          <a:ln w="12700">
            <a:solidFill>
              <a:srgbClr val="E6F2F0"/>
            </a:solidFill>
            <a:prstDash val="solid"/>
          </a:ln>
        </p:spPr>
      </p:sp>
      <p:sp>
        <p:nvSpPr>
          <p:cNvPr id="10" name="Text 6"/>
          <p:cNvSpPr txBox="1"/>
          <p:nvPr/>
        </p:nvSpPr>
        <p:spPr>
          <a:xfrm>
            <a:off x="333756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0%</a:t>
            </a:r>
            <a:endParaRPr lang="en-US" sz="2400" dirty="0"/>
          </a:p>
        </p:txBody>
      </p:sp>
      <p:sp>
        <p:nvSpPr>
          <p:cNvPr id="11" name="Text 7"/>
          <p:cNvSpPr txBox="1"/>
          <p:nvPr/>
        </p:nvSpPr>
        <p:spPr>
          <a:xfrm>
            <a:off x="438912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chance of losing capital at maturity</a:t>
            </a:r>
            <a:endParaRPr lang="en-US" sz="1000" dirty="0"/>
          </a:p>
        </p:txBody>
      </p:sp>
      <p:sp>
        <p:nvSpPr>
          <p:cNvPr id="12" name="Shape 8"/>
          <p:cNvSpPr/>
          <p:nvPr/>
        </p:nvSpPr>
        <p:spPr>
          <a:xfrm>
            <a:off x="5989320" y="3611880"/>
            <a:ext cx="2606040" cy="1005840"/>
          </a:xfrm>
          <a:prstGeom prst="roundRect">
            <a:avLst>
              <a:gd name="adj" fmla="val 6364"/>
            </a:avLst>
          </a:prstGeom>
          <a:solidFill>
            <a:srgbClr val="0B3C49"/>
          </a:solidFill>
          <a:ln w="12700">
            <a:solidFill>
              <a:srgbClr val="0B3C49"/>
            </a:solidFill>
            <a:prstDash val="solid"/>
          </a:ln>
        </p:spPr>
      </p:sp>
      <p:sp>
        <p:nvSpPr>
          <p:cNvPr id="13" name="Text 9"/>
          <p:cNvSpPr txBox="1"/>
          <p:nvPr/>
        </p:nvSpPr>
        <p:spPr>
          <a:xfrm>
            <a:off x="6126480" y="3675888"/>
            <a:ext cx="1051560" cy="868680"/>
          </a:xfrm>
          <a:prstGeom prst="rect">
            <a:avLst/>
          </a:prstGeom>
          <a:noFill/>
          <a:ln/>
        </p:spPr>
        <p:txBody>
          <a:bodyPr wrap="square" lIns="0" tIns="0" rIns="0" bIns="0" rtlCol="0" anchor="ctr"/>
          <a:lstStyle/>
          <a:p>
            <a:pPr indent="0" marL="0">
              <a:buNone/>
            </a:pPr>
            <a:r>
              <a:rPr lang="en-US" sz="2400" b="1" dirty="0">
                <a:solidFill>
                  <a:srgbClr val="D9961A"/>
                </a:solidFill>
                <a:latin typeface="Cambria" pitchFamily="34" charset="0"/>
                <a:ea typeface="Cambria" pitchFamily="34" charset="-122"/>
                <a:cs typeface="Cambria" pitchFamily="34" charset="-120"/>
              </a:rPr>
              <a:t>11%</a:t>
            </a:r>
            <a:endParaRPr lang="en-US" sz="2400" dirty="0"/>
          </a:p>
        </p:txBody>
      </p:sp>
      <p:sp>
        <p:nvSpPr>
          <p:cNvPr id="14" name="Text 10"/>
          <p:cNvSpPr txBox="1"/>
          <p:nvPr/>
        </p:nvSpPr>
        <p:spPr>
          <a:xfrm>
            <a:off x="7178040" y="3675888"/>
            <a:ext cx="1325880" cy="86868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of paths earn nothing: 100% back after 5 years</a:t>
            </a:r>
            <a:endParaRPr lang="en-US" sz="1000" dirty="0"/>
          </a:p>
        </p:txBody>
      </p:sp>
      <p:sp>
        <p:nvSpPr>
          <p:cNvPr id="15" name="Text 11"/>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IRR uses actual quarterly coupon dates.</a:t>
            </a:r>
            <a:endParaRPr lang="en-US" sz="800" dirty="0"/>
          </a:p>
        </p:txBody>
      </p:sp>
      <p:sp>
        <p:nvSpPr>
          <p:cNvPr id="16" name="Text 12"/>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Risks for the family, and how Natixis hedges its side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Transparent disclosure plus a desk hedging plan for every exposure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4937760" cy="914400"/>
        </p:xfrm>
        <a:graphic>
          <a:graphicData uri="http://schemas.openxmlformats.org/drawingml/2006/table">
            <a:tbl>
              <a:tblPr/>
              <a:tblGrid>
                <a:gridCol w="1051560"/>
                <a:gridCol w="1965960"/>
                <a:gridCol w="1920240"/>
              </a:tblGrid>
              <a:tr h="24688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could happen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Mitigant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Opportunity cost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never back to 100%: 0% for 5 years (~11% of paths)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Coupon above the funding rate in most paths; only 5% of wealth</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Capped upside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+80% still pays 6.5% p.a. and is called at Y1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Rest of family wealth keeps direct equity exposure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Reinvestment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51% called at Y1: cash back at prevailing rates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offers a roll into a new note at call</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Issuer credit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Protection depends on Natixis / BPCE paying</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BPCE senior rating; optional collateralised wrapper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Liquidity / MTM</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Sold before maturity, the price can be below 100%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daily indicative price; hold to call or maturity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Shape 2"/>
          <p:cNvSpPr/>
          <p:nvPr/>
        </p:nvSpPr>
        <p:spPr>
          <a:xfrm>
            <a:off x="5532120" y="1143000"/>
            <a:ext cx="3200400" cy="795528"/>
          </a:xfrm>
          <a:prstGeom prst="roundRect">
            <a:avLst>
              <a:gd name="adj" fmla="val 8046"/>
            </a:avLst>
          </a:prstGeom>
          <a:solidFill>
            <a:srgbClr val="F2F7F6"/>
          </a:solidFill>
          <a:ln w="12700">
            <a:solidFill>
              <a:srgbClr val="F2F7F6"/>
            </a:solidFill>
            <a:prstDash val="solid"/>
          </a:ln>
        </p:spPr>
      </p:sp>
      <p:sp>
        <p:nvSpPr>
          <p:cNvPr id="6" name="Text 3"/>
          <p:cNvSpPr txBox="1"/>
          <p:nvPr/>
        </p:nvSpPr>
        <p:spPr>
          <a:xfrm>
            <a:off x="5650992" y="1207008"/>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Coupon digitals</a:t>
            </a:r>
            <a:endParaRPr lang="en-US" sz="1050" dirty="0"/>
          </a:p>
        </p:txBody>
      </p:sp>
      <p:sp>
        <p:nvSpPr>
          <p:cNvPr id="7" name="Text 4"/>
          <p:cNvSpPr txBox="1"/>
          <p:nvPr/>
        </p:nvSpPr>
        <p:spPr>
          <a:xfrm>
            <a:off x="5650992" y="1435608"/>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Natixis owes basket digitals struck at 100%: replicated with tight basket call spreads, delta-hedged with HSTECH / NKY / TAIEX futures</a:t>
            </a:r>
            <a:endParaRPr lang="en-US" sz="850" dirty="0"/>
          </a:p>
        </p:txBody>
      </p:sp>
      <p:sp>
        <p:nvSpPr>
          <p:cNvPr id="8" name="Shape 5"/>
          <p:cNvSpPr/>
          <p:nvPr/>
        </p:nvSpPr>
        <p:spPr>
          <a:xfrm>
            <a:off x="5532120" y="2029968"/>
            <a:ext cx="3200400" cy="795528"/>
          </a:xfrm>
          <a:prstGeom prst="roundRect">
            <a:avLst>
              <a:gd name="adj" fmla="val 8046"/>
            </a:avLst>
          </a:prstGeom>
          <a:solidFill>
            <a:srgbClr val="E6F2F0"/>
          </a:solidFill>
          <a:ln w="12700">
            <a:solidFill>
              <a:srgbClr val="E6F2F0"/>
            </a:solidFill>
            <a:prstDash val="solid"/>
          </a:ln>
        </p:spPr>
      </p:sp>
      <p:sp>
        <p:nvSpPr>
          <p:cNvPr id="9" name="Text 6"/>
          <p:cNvSpPr txBox="1"/>
          <p:nvPr/>
        </p:nvSpPr>
        <p:spPr>
          <a:xfrm>
            <a:off x="5650992" y="2093976"/>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Vol &amp; correlation</a:t>
            </a:r>
            <a:endParaRPr lang="en-US" sz="1050" dirty="0"/>
          </a:p>
        </p:txBody>
      </p:sp>
      <p:sp>
        <p:nvSpPr>
          <p:cNvPr id="10" name="Text 7"/>
          <p:cNvSpPr txBox="1"/>
          <p:nvPr/>
        </p:nvSpPr>
        <p:spPr>
          <a:xfrm>
            <a:off x="5650992" y="2322576"/>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Coupon value moves with basket vol and correlation (fair 6.6%–7.2% for vol ±3pts): managed with listed index options and correlation trades</a:t>
            </a:r>
            <a:endParaRPr lang="en-US" sz="850" dirty="0"/>
          </a:p>
        </p:txBody>
      </p:sp>
      <p:sp>
        <p:nvSpPr>
          <p:cNvPr id="11" name="Shape 8"/>
          <p:cNvSpPr/>
          <p:nvPr/>
        </p:nvSpPr>
        <p:spPr>
          <a:xfrm>
            <a:off x="5532120" y="2916936"/>
            <a:ext cx="3200400" cy="795528"/>
          </a:xfrm>
          <a:prstGeom prst="roundRect">
            <a:avLst>
              <a:gd name="adj" fmla="val 8046"/>
            </a:avLst>
          </a:prstGeom>
          <a:solidFill>
            <a:srgbClr val="F2F7F6"/>
          </a:solidFill>
          <a:ln w="12700">
            <a:solidFill>
              <a:srgbClr val="F2F7F6"/>
            </a:solidFill>
            <a:prstDash val="solid"/>
          </a:ln>
        </p:spPr>
      </p:sp>
      <p:sp>
        <p:nvSpPr>
          <p:cNvPr id="12" name="Text 9"/>
          <p:cNvSpPr txBox="1"/>
          <p:nvPr/>
        </p:nvSpPr>
        <p:spPr>
          <a:xfrm>
            <a:off x="5650992" y="2980944"/>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Quanto FX</a:t>
            </a:r>
            <a:endParaRPr lang="en-US" sz="1050" dirty="0"/>
          </a:p>
        </p:txBody>
      </p:sp>
      <p:sp>
        <p:nvSpPr>
          <p:cNvPr id="13" name="Text 10"/>
          <p:cNvSpPr txBox="1"/>
          <p:nvPr/>
        </p:nvSpPr>
        <p:spPr>
          <a:xfrm>
            <a:off x="5650992" y="3209544"/>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USD payout on JPY/HKD/TWD indices: FX forwards and quanto adjustment in price (FX-equity correlation)</a:t>
            </a:r>
            <a:endParaRPr lang="en-US" sz="850" dirty="0"/>
          </a:p>
        </p:txBody>
      </p:sp>
      <p:sp>
        <p:nvSpPr>
          <p:cNvPr id="14" name="Shape 11"/>
          <p:cNvSpPr/>
          <p:nvPr/>
        </p:nvSpPr>
        <p:spPr>
          <a:xfrm>
            <a:off x="5532120" y="3803904"/>
            <a:ext cx="3200400" cy="795528"/>
          </a:xfrm>
          <a:prstGeom prst="roundRect">
            <a:avLst>
              <a:gd name="adj" fmla="val 8046"/>
            </a:avLst>
          </a:prstGeom>
          <a:solidFill>
            <a:srgbClr val="E6F2F0"/>
          </a:solidFill>
          <a:ln w="12700">
            <a:solidFill>
              <a:srgbClr val="E6F2F0"/>
            </a:solidFill>
            <a:prstDash val="solid"/>
          </a:ln>
        </p:spPr>
      </p:sp>
      <p:sp>
        <p:nvSpPr>
          <p:cNvPr id="15" name="Text 12"/>
          <p:cNvSpPr txBox="1"/>
          <p:nvPr/>
        </p:nvSpPr>
        <p:spPr>
          <a:xfrm>
            <a:off x="5650992" y="3867912"/>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Rates &amp; funding</a:t>
            </a:r>
            <a:endParaRPr lang="en-US" sz="1050" dirty="0"/>
          </a:p>
        </p:txBody>
      </p:sp>
      <p:sp>
        <p:nvSpPr>
          <p:cNvPr id="16" name="Text 13"/>
          <p:cNvSpPr txBox="1"/>
          <p:nvPr/>
        </p:nvSpPr>
        <p:spPr>
          <a:xfrm>
            <a:off x="5650992" y="4096512"/>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Protected principal funded at the 5.69% curve and hedged with USD swaps; the autocall shortens the liability</a:t>
            </a:r>
            <a:endParaRPr lang="en-US" sz="850" dirty="0"/>
          </a:p>
        </p:txBody>
      </p:sp>
      <p:sp>
        <p:nvSpPr>
          <p:cNvPr id="17" name="Text 14"/>
          <p:cNvSpPr txBox="1"/>
          <p:nvPr/>
        </p:nvSpPr>
        <p:spPr>
          <a:xfrm>
            <a:off x="411480" y="4069080"/>
            <a:ext cx="4937760" cy="640080"/>
          </a:xfrm>
          <a:prstGeom prst="rect">
            <a:avLst/>
          </a:prstGeom>
          <a:noFill/>
          <a:ln/>
        </p:spPr>
        <p:txBody>
          <a:bodyPr wrap="square" lIns="0" tIns="0" rIns="0" bIns="0" rtlCol="0" anchor="t"/>
          <a:lstStyle/>
          <a:p>
            <a:pPr indent="0" marL="0">
              <a:buNone/>
            </a:pPr>
            <a:r>
              <a:rPr lang="en-US" sz="900" b="1" dirty="0">
                <a:solidFill>
                  <a:srgbClr val="0B3C49"/>
                </a:solidFill>
                <a:latin typeface="Calibri" pitchFamily="34" charset="0"/>
                <a:ea typeface="Calibri" pitchFamily="34" charset="-122"/>
                <a:cs typeface="Calibri" pitchFamily="34" charset="-120"/>
              </a:rPr>
              <a:t>Pricing sensitivity (fair coupon): </a:t>
            </a:r>
            <a:pPr indent="0" marL="0">
              <a:buNone/>
            </a:pPr>
            <a:r>
              <a:rPr lang="en-US" sz="900" dirty="0">
                <a:solidFill>
                  <a:srgbClr val="1D2B30"/>
                </a:solidFill>
                <a:latin typeface="Calibri" pitchFamily="34" charset="0"/>
                <a:ea typeface="Calibri" pitchFamily="34" charset="-122"/>
                <a:cs typeface="Calibri" pitchFamily="34" charset="-120"/>
              </a:rPr>
              <a:t>base 6.9% · vol ±3pts 6.6%–7.2% · corr ±0.15 6.7%–7.1% · equity drift −1/−2% 7.5%–8.1%. The 6.5% offer stays fundable in every case.</a:t>
            </a:r>
            <a:endParaRPr lang="en-US" sz="900" dirty="0"/>
          </a:p>
        </p:txBody>
      </p:sp>
      <p:sp>
        <p:nvSpPr>
          <p:cNvPr id="18"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A: pricing assumptions and methodology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Inputs to refresh on Bloomberg at trade date (BVOL / OVDV for vols, CORR for correlations)</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4754880" cy="914400"/>
        </p:xfrm>
        <a:graphic>
          <a:graphicData uri="http://schemas.openxmlformats.org/drawingml/2006/table">
            <a:tbl>
              <a:tblPr/>
              <a:tblGrid>
                <a:gridCol w="822960"/>
                <a:gridCol w="566928"/>
                <a:gridCol w="475488"/>
                <a:gridCol w="475488"/>
                <a:gridCol w="603504"/>
                <a:gridCol w="603504"/>
                <a:gridCol w="603504"/>
                <a:gridCol w="603504"/>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Index</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Weight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Div</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HSTECH</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MXAP0UT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HSTECH</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MXAP0UT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11480" y="2697480"/>
            <a:ext cx="4754880" cy="2011680"/>
          </a:xfrm>
          <a:prstGeom prst="rect">
            <a:avLst/>
          </a:prstGeom>
          <a:noFill/>
          <a:ln/>
        </p:spPr>
        <p:txBody>
          <a:bodyPr wrap="square" lIns="0" tIns="0" rIns="0" bIns="0" rtlCol="0" anchor="t"/>
          <a:lstStyle/>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Model.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Correlated GBM for each index, 200,000 paths, quarterly steps. Risk-neutral drift = USD funding (linear interpolation of case grid) − dividend yield. Quanto adjustment ignored (assumed hedged by the desk; to be added with FX-equity correlations).</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Discounting.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USD funding grid from the case rules; 5Y discount factor 0.758.</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Coupon solve.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Bisection on coupon so that PV = 98% (2% hedging cost and margin).</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Historical back-test (to run).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Monthly Bloomberg history since 2015 for all four indices. Launch a hypothetical note every month, apply the same coupon, memory and autocall rules, and record coupons, life and IRR by launch year.</a:t>
            </a:r>
            <a:endParaRPr lang="en-US" sz="9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188720"/>
          <a:ext cx="3291840" cy="914400"/>
        </p:xfrm>
        <a:graphic>
          <a:graphicData uri="http://schemas.openxmlformats.org/drawingml/2006/table">
            <a:tbl>
              <a:tblPr/>
              <a:tblGrid>
                <a:gridCol w="2286000"/>
                <a:gridCol w="1005840"/>
              </a:tblGrid>
              <a:tr h="26517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Design variant (capital protected)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Fair cpn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100% (base)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5.7%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First autocall at Y2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Vol +3pts / −3pts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7.2% / 6.6%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40680" y="3383280"/>
            <a:ext cx="3291840" cy="411480"/>
          </a:xfrm>
          <a:prstGeom prst="rect">
            <a:avLst/>
          </a:prstGeom>
          <a:noFill/>
          <a:ln/>
        </p:spPr>
        <p:txBody>
          <a:bodyPr wrap="square" lIns="0" tIns="0" rIns="0" bIns="0" rtlCol="0" anchor="t"/>
          <a:lstStyle/>
          <a:p>
            <a:pPr indent="0" marL="0">
              <a:buNone/>
            </a:pPr>
            <a:r>
              <a:rPr lang="en-US" sz="850" i="1" dirty="0">
                <a:solidFill>
                  <a:srgbClr val="5F7176"/>
                </a:solidFill>
                <a:latin typeface="Calibri" pitchFamily="34" charset="0"/>
                <a:ea typeface="Calibri" pitchFamily="34" charset="-122"/>
                <a:cs typeface="Calibri" pitchFamily="34" charset="-120"/>
              </a:rPr>
              <a:t>All variants priced at 98% with the same basket and inputs. Code: pricing/scenario2_autocall_mc.py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B: alternatives for the investment committee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Same basket: a higher-coupon at-risk snowball, and a pure participation note</a:t>
            </a:r>
            <a:endParaRPr lang="en-US" sz="1250" dirty="0"/>
          </a:p>
        </p:txBody>
      </p:sp>
      <p:graphicFrame>
        <p:nvGraphicFramePr>
          <p:cNvPr id="4" name="Chart 0" descr=""/>
          <p:cNvGraphicFramePr/>
          <p:nvPr/>
        </p:nvGraphicFramePr>
        <p:xfrm>
          <a:off x="365760" y="1143000"/>
          <a:ext cx="45720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212080" y="1188720"/>
          <a:ext cx="3520440" cy="914400"/>
        </p:xfrm>
        <a:graphic>
          <a:graphicData uri="http://schemas.openxmlformats.org/drawingml/2006/table">
            <a:tbl>
              <a:tblPr/>
              <a:tblGrid>
                <a:gridCol w="1463040"/>
                <a:gridCol w="1325880"/>
                <a:gridCol w="7315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Return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Loss risk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29184">
                <a:tc>
                  <a:txBody>
                    <a:bodyPr/>
                    <a:lstStyle/>
                    <a:p>
                      <a:pPr indent="0" marL="0">
                        <a:buNone/>
                      </a:pPr>
                      <a:r>
                        <a:rPr lang="en-US" sz="900" b="1" dirty="0">
                          <a:solidFill>
                            <a:srgbClr val="0F8B8D"/>
                          </a:solidFill>
                          <a:latin typeface="Calibri" pitchFamily="34" charset="0"/>
                          <a:ea typeface="Calibri" pitchFamily="34" charset="-122"/>
                          <a:cs typeface="Calibri" pitchFamily="34" charset="-120"/>
                        </a:rPr>
                        <a:t>Protected autocallable (ours)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6.5% p.a. memory coupon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65%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 p.a., paid at call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Principal-protected note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102% of basket gain at Y5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5212080" y="2606040"/>
            <a:ext cx="3520440" cy="1828800"/>
          </a:xfrm>
          <a:prstGeom prst="roundRect">
            <a:avLst>
              <a:gd name="adj" fmla="val 3500"/>
            </a:avLst>
          </a:prstGeom>
          <a:solidFill>
            <a:srgbClr val="E6F2F0"/>
          </a:solidFill>
          <a:ln w="12700">
            <a:solidFill>
              <a:srgbClr val="E6F2F0"/>
            </a:solidFill>
            <a:prstDash val="solid"/>
          </a:ln>
        </p:spPr>
      </p:sp>
      <p:sp>
        <p:nvSpPr>
          <p:cNvPr id="7" name="Text 3"/>
          <p:cNvSpPr txBox="1"/>
          <p:nvPr/>
        </p:nvSpPr>
        <p:spPr>
          <a:xfrm>
            <a:off x="5349240" y="2679192"/>
            <a:ext cx="3291840" cy="169164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Trade-off: </a:t>
            </a:r>
            <a:pPr indent="0" marL="0">
              <a:buNone/>
            </a:pPr>
            <a:r>
              <a:rPr lang="en-US" sz="950" dirty="0">
                <a:solidFill>
                  <a:srgbClr val="1D2B30"/>
                </a:solidFill>
                <a:latin typeface="Calibri" pitchFamily="34" charset="0"/>
                <a:ea typeface="Calibri" pitchFamily="34" charset="-122"/>
                <a:cs typeface="Calibri" pitchFamily="34" charset="-120"/>
              </a:rPr>
              <a:t>The snowball pays 9% but loses capital in ~8% of paths. The PPN keeps full protection with uncapped upside, but pays nothing unless the basket ends above 100% after 5 years and has no early exit. Our note sits between them: full protection, a coupon above the funding rate, and money usually back within ~2 years.</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Autocallable Note</dc:title>
  <dc:subject>PptxGenJS Presentation</dc:subject>
  <dc:creator>PptxGenJS</dc:creator>
  <cp:lastModifiedBy>PptxGenJS</cp:lastModifiedBy>
  <cp:revision>1</cp:revision>
  <dcterms:created xsi:type="dcterms:W3CDTF">2026-10-08T05:08:59Z</dcterms:created>
  <dcterms:modified xsi:type="dcterms:W3CDTF">2026-10-08T05:08:59Z</dcterms:modified>
</cp:coreProperties>
</file>