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D2B30"/>
                </a:solidFill>
                <a:latin typeface="Calibri"/>
              </a:rPr>
              <a:t>USD funding curve (case grid,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funding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F717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1Y</c:v>
                  </c:pt>
                  <c:pt idx="1">
                    <c:v>2Y</c:v>
                  </c:pt>
                  <c:pt idx="2">
                    <c:v>3Y</c:v>
                  </c:pt>
                  <c:pt idx="3">
                    <c:v>5Y</c:v>
                  </c:pt>
                  <c:pt idx="4">
                    <c:v>7Y</c:v>
                  </c:pt>
                  <c:pt idx="5">
                    <c:v>10Y</c:v>
                  </c:pt>
                  <c:pt idx="6">
                    <c:v>20Y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4.78</c:v>
                </c:pt>
                <c:pt idx="1">
                  <c:v>5.3</c:v>
                </c:pt>
                <c:pt idx="2">
                  <c:v>5.52</c:v>
                </c:pt>
                <c:pt idx="3">
                  <c:v>5.69</c:v>
                </c:pt>
                <c:pt idx="4">
                  <c:v>5.75</c:v>
                </c:pt>
                <c:pt idx="5">
                  <c:v>5.82</c:v>
                </c:pt>
                <c:pt idx="6">
                  <c:v>6.04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5F7176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25"/>
          <c:min val="4.5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bubble3D val="0"/>
            <c:spPr>
              <a:solidFill>
                <a:srgbClr val="0F8B8D"/>
              </a:solidFill>
              <a:effectLst/>
            </c:spPr>
          </c:dPt>
          <c:dPt>
            <c:idx val="2"/>
            <c:bubble3D val="0"/>
            <c:spPr>
              <a:solidFill>
                <a:srgbClr val="D9961A"/>
              </a:solidFill>
              <a:effectLst/>
            </c:spPr>
          </c:dPt>
          <c:dPt>
            <c:idx val="3"/>
            <c:bubble3D val="0"/>
            <c:spPr>
              <a:solidFill>
                <a:srgbClr val="8FA6AA"/>
              </a:solidFill>
              <a:effectLst/>
            </c:spPr>
          </c:dPt>
          <c:dPt>
            <c:idx val="4"/>
            <c:bubble3D val="0"/>
            <c:spPr>
              <a:solidFill>
                <a:srgbClr val="5BA37A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Asia Semiconductor (3119 HK)</c:v>
                </c:pt>
                <c:pt idx="1">
                  <c:v>Japan Semiconductor (2644 JP)</c:v>
                </c:pt>
                <c:pt idx="2">
                  <c:v>iShares MSCI Taiwan (EWT)</c:v>
                </c:pt>
                <c:pt idx="3">
                  <c:v>iShares MSCI South Korea (EWY)</c:v>
                </c:pt>
                <c:pt idx="4">
                  <c:v>Taiwan ESG High Dividend (00878 TT)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25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Principal + all coupons (% of notional), by call quarter Q4–Q20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cash if called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Y1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Y2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Y3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110.5</c:v>
                </c:pt>
                <c:pt idx="1">
                  <c:v>113.125</c:v>
                </c:pt>
                <c:pt idx="2">
                  <c:v>115.75</c:v>
                </c:pt>
                <c:pt idx="3">
                  <c:v>118.375</c:v>
                </c:pt>
                <c:pt idx="4">
                  <c:v>121</c:v>
                </c:pt>
                <c:pt idx="5">
                  <c:v>123.625</c:v>
                </c:pt>
                <c:pt idx="6">
                  <c:v>126.25</c:v>
                </c:pt>
                <c:pt idx="7">
                  <c:v>128.875</c:v>
                </c:pt>
                <c:pt idx="8">
                  <c:v>131.5</c:v>
                </c:pt>
                <c:pt idx="9">
                  <c:v>134.125</c:v>
                </c:pt>
                <c:pt idx="10">
                  <c:v>136.75</c:v>
                </c:pt>
                <c:pt idx="11">
                  <c:v>139.375</c:v>
                </c:pt>
                <c:pt idx="12">
                  <c:v>142</c:v>
                </c:pt>
                <c:pt idx="13">
                  <c:v>144.625</c:v>
                </c:pt>
                <c:pt idx="14">
                  <c:v>147.25</c:v>
                </c:pt>
                <c:pt idx="15">
                  <c:v>149.875</c:v>
                </c:pt>
                <c:pt idx="16">
                  <c:v>152.5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Payoff at Y5 (note not called earlier)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Autocallable note</c:v>
                </c:pt>
              </c:strCache>
            </c:strRef>
          </c:tx>
          <c:spPr>
            <a:solidFill>
              <a:srgbClr val="0F8B8D"/>
            </a:solidFill>
            <a:ln w="28575" cap="flat">
              <a:solidFill>
                <a:srgbClr val="0F8B8D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xVal>
            <c:numRef>
              <c:f>Sheet1!$A$2:$A$262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xVal>
          <c:yVal>
            <c:numRef>
              <c:f>Sheet1!$B$2:$B$262</c:f>
              <c:numCache>
                <c:formatCode>General</c:formatCode>
                <c:ptCount val="261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  <c:pt idx="8">
                  <c:v>70</c:v>
                </c:pt>
                <c:pt idx="9">
                  <c:v>70</c:v>
                </c:pt>
                <c:pt idx="10">
                  <c:v>70</c:v>
                </c:pt>
                <c:pt idx="11">
                  <c:v>70</c:v>
                </c:pt>
                <c:pt idx="12">
                  <c:v>70</c:v>
                </c:pt>
                <c:pt idx="13">
                  <c:v>70</c:v>
                </c:pt>
                <c:pt idx="14">
                  <c:v>70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  <c:pt idx="24">
                  <c:v>70</c:v>
                </c:pt>
                <c:pt idx="25">
                  <c:v>70</c:v>
                </c:pt>
                <c:pt idx="26">
                  <c:v>70</c:v>
                </c:pt>
                <c:pt idx="27">
                  <c:v>70</c:v>
                </c:pt>
                <c:pt idx="28">
                  <c:v>70</c:v>
                </c:pt>
                <c:pt idx="29">
                  <c:v>70</c:v>
                </c:pt>
                <c:pt idx="30">
                  <c:v>70</c:v>
                </c:pt>
                <c:pt idx="31">
                  <c:v>70</c:v>
                </c:pt>
                <c:pt idx="32">
                  <c:v>70</c:v>
                </c:pt>
                <c:pt idx="33">
                  <c:v>70</c:v>
                </c:pt>
                <c:pt idx="34">
                  <c:v>70</c:v>
                </c:pt>
                <c:pt idx="35">
                  <c:v>70</c:v>
                </c:pt>
                <c:pt idx="36">
                  <c:v>70</c:v>
                </c:pt>
                <c:pt idx="37">
                  <c:v>70</c:v>
                </c:pt>
                <c:pt idx="38">
                  <c:v>70</c:v>
                </c:pt>
                <c:pt idx="39">
                  <c:v>70</c:v>
                </c:pt>
                <c:pt idx="40">
                  <c:v>70</c:v>
                </c:pt>
                <c:pt idx="41">
                  <c:v>70</c:v>
                </c:pt>
                <c:pt idx="42">
                  <c:v>70</c:v>
                </c:pt>
                <c:pt idx="43">
                  <c:v>70</c:v>
                </c:pt>
                <c:pt idx="44">
                  <c:v>70</c:v>
                </c:pt>
                <c:pt idx="45">
                  <c:v>70</c:v>
                </c:pt>
                <c:pt idx="46">
                  <c:v>70</c:v>
                </c:pt>
                <c:pt idx="47">
                  <c:v>70</c:v>
                </c:pt>
                <c:pt idx="48">
                  <c:v>70</c:v>
                </c:pt>
                <c:pt idx="49">
                  <c:v>70</c:v>
                </c:pt>
                <c:pt idx="50">
                  <c:v>70</c:v>
                </c:pt>
                <c:pt idx="51">
                  <c:v>70</c:v>
                </c:pt>
                <c:pt idx="52">
                  <c:v>70</c:v>
                </c:pt>
                <c:pt idx="53">
                  <c:v>70</c:v>
                </c:pt>
                <c:pt idx="54">
                  <c:v>70</c:v>
                </c:pt>
                <c:pt idx="55">
                  <c:v>70</c:v>
                </c:pt>
                <c:pt idx="56">
                  <c:v>70</c:v>
                </c:pt>
                <c:pt idx="57">
                  <c:v>70</c:v>
                </c:pt>
                <c:pt idx="58">
                  <c:v>70</c:v>
                </c:pt>
                <c:pt idx="59">
                  <c:v>70</c:v>
                </c:pt>
                <c:pt idx="60">
                  <c:v>70</c:v>
                </c:pt>
                <c:pt idx="61">
                  <c:v>70</c:v>
                </c:pt>
                <c:pt idx="62">
                  <c:v>70</c:v>
                </c:pt>
                <c:pt idx="63">
                  <c:v>70</c:v>
                </c:pt>
                <c:pt idx="64">
                  <c:v>70</c:v>
                </c:pt>
                <c:pt idx="65">
                  <c:v>70</c:v>
                </c:pt>
                <c:pt idx="66">
                  <c:v>70</c:v>
                </c:pt>
                <c:pt idx="67">
                  <c:v>70</c:v>
                </c:pt>
                <c:pt idx="68">
                  <c:v>70</c:v>
                </c:pt>
                <c:pt idx="69">
                  <c:v>70</c:v>
                </c:pt>
                <c:pt idx="70">
                  <c:v>70</c:v>
                </c:pt>
                <c:pt idx="71">
                  <c:v>70</c:v>
                </c:pt>
                <c:pt idx="72">
                  <c:v>70</c:v>
                </c:pt>
                <c:pt idx="73">
                  <c:v>70</c:v>
                </c:pt>
                <c:pt idx="74">
                  <c:v>70</c:v>
                </c:pt>
                <c:pt idx="75">
                  <c:v>70</c:v>
                </c:pt>
                <c:pt idx="76">
                  <c:v>70</c:v>
                </c:pt>
                <c:pt idx="77">
                  <c:v>70</c:v>
                </c:pt>
                <c:pt idx="78">
                  <c:v>70</c:v>
                </c:pt>
                <c:pt idx="79">
                  <c:v>70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152.5</c:v>
                </c:pt>
                <c:pt idx="141">
                  <c:v>152.5</c:v>
                </c:pt>
                <c:pt idx="142">
                  <c:v>152.5</c:v>
                </c:pt>
                <c:pt idx="143">
                  <c:v>152.5</c:v>
                </c:pt>
                <c:pt idx="144">
                  <c:v>152.5</c:v>
                </c:pt>
                <c:pt idx="145">
                  <c:v>152.5</c:v>
                </c:pt>
                <c:pt idx="146">
                  <c:v>152.5</c:v>
                </c:pt>
                <c:pt idx="147">
                  <c:v>152.5</c:v>
                </c:pt>
                <c:pt idx="148">
                  <c:v>152.5</c:v>
                </c:pt>
                <c:pt idx="149">
                  <c:v>152.5</c:v>
                </c:pt>
                <c:pt idx="150">
                  <c:v>152.5</c:v>
                </c:pt>
                <c:pt idx="151">
                  <c:v>152.5</c:v>
                </c:pt>
                <c:pt idx="152">
                  <c:v>152.5</c:v>
                </c:pt>
                <c:pt idx="153">
                  <c:v>152.5</c:v>
                </c:pt>
                <c:pt idx="154">
                  <c:v>152.5</c:v>
                </c:pt>
                <c:pt idx="155">
                  <c:v>152.5</c:v>
                </c:pt>
                <c:pt idx="156">
                  <c:v>152.5</c:v>
                </c:pt>
                <c:pt idx="157">
                  <c:v>152.5</c:v>
                </c:pt>
                <c:pt idx="158">
                  <c:v>152.5</c:v>
                </c:pt>
                <c:pt idx="159">
                  <c:v>152.5</c:v>
                </c:pt>
                <c:pt idx="160">
                  <c:v>152.5</c:v>
                </c:pt>
                <c:pt idx="161">
                  <c:v>152.5</c:v>
                </c:pt>
                <c:pt idx="162">
                  <c:v>152.5</c:v>
                </c:pt>
                <c:pt idx="163">
                  <c:v>152.5</c:v>
                </c:pt>
                <c:pt idx="164">
                  <c:v>152.5</c:v>
                </c:pt>
                <c:pt idx="165">
                  <c:v>152.5</c:v>
                </c:pt>
                <c:pt idx="166">
                  <c:v>152.5</c:v>
                </c:pt>
                <c:pt idx="167">
                  <c:v>152.5</c:v>
                </c:pt>
                <c:pt idx="168">
                  <c:v>152.5</c:v>
                </c:pt>
                <c:pt idx="169">
                  <c:v>152.5</c:v>
                </c:pt>
                <c:pt idx="170">
                  <c:v>152.5</c:v>
                </c:pt>
                <c:pt idx="171">
                  <c:v>152.5</c:v>
                </c:pt>
                <c:pt idx="172">
                  <c:v>152.5</c:v>
                </c:pt>
                <c:pt idx="173">
                  <c:v>152.5</c:v>
                </c:pt>
                <c:pt idx="174">
                  <c:v>152.5</c:v>
                </c:pt>
                <c:pt idx="175">
                  <c:v>152.5</c:v>
                </c:pt>
                <c:pt idx="176">
                  <c:v>152.5</c:v>
                </c:pt>
                <c:pt idx="177">
                  <c:v>152.5</c:v>
                </c:pt>
                <c:pt idx="178">
                  <c:v>152.5</c:v>
                </c:pt>
                <c:pt idx="179">
                  <c:v>152.5</c:v>
                </c:pt>
                <c:pt idx="180">
                  <c:v>152.5</c:v>
                </c:pt>
                <c:pt idx="181">
                  <c:v>152.5</c:v>
                </c:pt>
                <c:pt idx="182">
                  <c:v>152.5</c:v>
                </c:pt>
                <c:pt idx="183">
                  <c:v>152.5</c:v>
                </c:pt>
                <c:pt idx="184">
                  <c:v>152.5</c:v>
                </c:pt>
                <c:pt idx="185">
                  <c:v>152.5</c:v>
                </c:pt>
                <c:pt idx="186">
                  <c:v>152.5</c:v>
                </c:pt>
                <c:pt idx="187">
                  <c:v>152.5</c:v>
                </c:pt>
                <c:pt idx="188">
                  <c:v>152.5</c:v>
                </c:pt>
                <c:pt idx="189">
                  <c:v>152.5</c:v>
                </c:pt>
                <c:pt idx="190">
                  <c:v>152.5</c:v>
                </c:pt>
                <c:pt idx="191">
                  <c:v>152.5</c:v>
                </c:pt>
                <c:pt idx="192">
                  <c:v>152.5</c:v>
                </c:pt>
                <c:pt idx="193">
                  <c:v>152.5</c:v>
                </c:pt>
                <c:pt idx="194">
                  <c:v>152.5</c:v>
                </c:pt>
                <c:pt idx="195">
                  <c:v>152.5</c:v>
                </c:pt>
                <c:pt idx="196">
                  <c:v>152.5</c:v>
                </c:pt>
                <c:pt idx="197">
                  <c:v>152.5</c:v>
                </c:pt>
                <c:pt idx="198">
                  <c:v>152.5</c:v>
                </c:pt>
                <c:pt idx="199">
                  <c:v>152.5</c:v>
                </c:pt>
                <c:pt idx="200">
                  <c:v>152.5</c:v>
                </c:pt>
                <c:pt idx="201">
                  <c:v>152.5</c:v>
                </c:pt>
                <c:pt idx="202">
                  <c:v>152.5</c:v>
                </c:pt>
                <c:pt idx="203">
                  <c:v>152.5</c:v>
                </c:pt>
                <c:pt idx="204">
                  <c:v>152.5</c:v>
                </c:pt>
                <c:pt idx="205">
                  <c:v>152.5</c:v>
                </c:pt>
                <c:pt idx="206">
                  <c:v>152.5</c:v>
                </c:pt>
                <c:pt idx="207">
                  <c:v>152.5</c:v>
                </c:pt>
                <c:pt idx="208">
                  <c:v>152.5</c:v>
                </c:pt>
                <c:pt idx="209">
                  <c:v>152.5</c:v>
                </c:pt>
                <c:pt idx="210">
                  <c:v>152.5</c:v>
                </c:pt>
                <c:pt idx="211">
                  <c:v>152.5</c:v>
                </c:pt>
                <c:pt idx="212">
                  <c:v>152.5</c:v>
                </c:pt>
                <c:pt idx="213">
                  <c:v>152.5</c:v>
                </c:pt>
                <c:pt idx="214">
                  <c:v>152.5</c:v>
                </c:pt>
                <c:pt idx="215">
                  <c:v>152.5</c:v>
                </c:pt>
                <c:pt idx="216">
                  <c:v>152.5</c:v>
                </c:pt>
                <c:pt idx="217">
                  <c:v>152.5</c:v>
                </c:pt>
                <c:pt idx="218">
                  <c:v>152.5</c:v>
                </c:pt>
                <c:pt idx="219">
                  <c:v>152.5</c:v>
                </c:pt>
                <c:pt idx="220">
                  <c:v>152.5</c:v>
                </c:pt>
                <c:pt idx="221">
                  <c:v>152.5</c:v>
                </c:pt>
                <c:pt idx="222">
                  <c:v>152.5</c:v>
                </c:pt>
                <c:pt idx="223">
                  <c:v>152.5</c:v>
                </c:pt>
                <c:pt idx="224">
                  <c:v>152.5</c:v>
                </c:pt>
                <c:pt idx="225">
                  <c:v>152.5</c:v>
                </c:pt>
                <c:pt idx="226">
                  <c:v>152.5</c:v>
                </c:pt>
                <c:pt idx="227">
                  <c:v>152.5</c:v>
                </c:pt>
                <c:pt idx="228">
                  <c:v>152.5</c:v>
                </c:pt>
                <c:pt idx="229">
                  <c:v>152.5</c:v>
                </c:pt>
                <c:pt idx="230">
                  <c:v>152.5</c:v>
                </c:pt>
                <c:pt idx="231">
                  <c:v>152.5</c:v>
                </c:pt>
                <c:pt idx="232">
                  <c:v>152.5</c:v>
                </c:pt>
                <c:pt idx="233">
                  <c:v>152.5</c:v>
                </c:pt>
                <c:pt idx="234">
                  <c:v>152.5</c:v>
                </c:pt>
                <c:pt idx="235">
                  <c:v>152.5</c:v>
                </c:pt>
                <c:pt idx="236">
                  <c:v>152.5</c:v>
                </c:pt>
                <c:pt idx="237">
                  <c:v>152.5</c:v>
                </c:pt>
                <c:pt idx="238">
                  <c:v>152.5</c:v>
                </c:pt>
                <c:pt idx="239">
                  <c:v>152.5</c:v>
                </c:pt>
                <c:pt idx="240">
                  <c:v>152.5</c:v>
                </c:pt>
                <c:pt idx="241">
                  <c:v>152.5</c:v>
                </c:pt>
                <c:pt idx="242">
                  <c:v>152.5</c:v>
                </c:pt>
                <c:pt idx="243">
                  <c:v>152.5</c:v>
                </c:pt>
                <c:pt idx="244">
                  <c:v>152.5</c:v>
                </c:pt>
                <c:pt idx="245">
                  <c:v>152.5</c:v>
                </c:pt>
                <c:pt idx="246">
                  <c:v>152.5</c:v>
                </c:pt>
                <c:pt idx="247">
                  <c:v>152.5</c:v>
                </c:pt>
                <c:pt idx="248">
                  <c:v>152.5</c:v>
                </c:pt>
                <c:pt idx="249">
                  <c:v>152.5</c:v>
                </c:pt>
                <c:pt idx="250">
                  <c:v>152.5</c:v>
                </c:pt>
                <c:pt idx="251">
                  <c:v>152.5</c:v>
                </c:pt>
                <c:pt idx="252">
                  <c:v>152.5</c:v>
                </c:pt>
                <c:pt idx="253">
                  <c:v>152.5</c:v>
                </c:pt>
                <c:pt idx="254">
                  <c:v>152.5</c:v>
                </c:pt>
                <c:pt idx="255">
                  <c:v>152.5</c:v>
                </c:pt>
                <c:pt idx="256">
                  <c:v>152.5</c:v>
                </c:pt>
                <c:pt idx="257">
                  <c:v>152.5</c:v>
                </c:pt>
                <c:pt idx="258">
                  <c:v>152.5</c:v>
                </c:pt>
                <c:pt idx="259">
                  <c:v>152.5</c:v>
                </c:pt>
                <c:pt idx="260">
                  <c:v>152.5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Basket directly</c:v>
                </c:pt>
              </c:strCache>
            </c:strRef>
          </c:tx>
          <c:spPr>
            <a:solidFill>
              <a:srgbClr val="8FA6AA"/>
            </a:solidFill>
            <a:ln w="28575" cap="flat">
              <a:solidFill>
                <a:srgbClr val="8FA6A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xVal>
            <c:numRef>
              <c:f>Sheet1!$A$2:$A$262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xVal>
          <c:yVal>
            <c:numRef>
              <c:f>Sheet1!$C$2:$C$262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3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F7176"/>
                    </a:solidFill>
                    <a:latin typeface="Arial"/>
                  </a:rPr>
                  <a:t>Final basket level (% of initial)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"/>
      </c:valAx>
      <c:valAx>
        <c:axId val="2094734552"/>
        <c:scaling>
          <c:orientation val="minMax"/>
          <c:max val="170"/>
          <c:min val="2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F7176"/>
                    </a:solidFill>
                    <a:latin typeface="Arial"/>
                  </a:rPr>
                  <a:t>Total received at Y5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Principal</c:v>
                </c:pt>
              </c:strCache>
            </c:strRef>
          </c:tx>
          <c:spPr>
            <a:solidFill>
              <a:srgbClr val="0B3C49"/>
            </a:solidFill>
            <a:ln w="25400" cap="flat">
              <a:solidFill>
                <a:srgbClr val="0B3C4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B3C49"/>
              </a:solidFill>
              <a:ln w="9525" cap="flat">
                <a:solidFill>
                  <a:srgbClr val="0B3C49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120"/>
          <c:min val="0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Coupon digitals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2.625</c:v>
                </c:pt>
                <c:pt idx="61">
                  <c:v>2.625</c:v>
                </c:pt>
                <c:pt idx="62">
                  <c:v>2.625</c:v>
                </c:pt>
                <c:pt idx="63">
                  <c:v>2.625</c:v>
                </c:pt>
                <c:pt idx="64">
                  <c:v>2.625</c:v>
                </c:pt>
                <c:pt idx="65">
                  <c:v>2.625</c:v>
                </c:pt>
                <c:pt idx="66">
                  <c:v>2.625</c:v>
                </c:pt>
                <c:pt idx="67">
                  <c:v>2.625</c:v>
                </c:pt>
                <c:pt idx="68">
                  <c:v>2.625</c:v>
                </c:pt>
                <c:pt idx="69">
                  <c:v>2.625</c:v>
                </c:pt>
                <c:pt idx="70">
                  <c:v>2.625</c:v>
                </c:pt>
                <c:pt idx="71">
                  <c:v>2.625</c:v>
                </c:pt>
                <c:pt idx="72">
                  <c:v>2.625</c:v>
                </c:pt>
                <c:pt idx="73">
                  <c:v>2.625</c:v>
                </c:pt>
                <c:pt idx="74">
                  <c:v>2.625</c:v>
                </c:pt>
                <c:pt idx="75">
                  <c:v>2.625</c:v>
                </c:pt>
                <c:pt idx="76">
                  <c:v>2.625</c:v>
                </c:pt>
                <c:pt idx="77">
                  <c:v>2.625</c:v>
                </c:pt>
                <c:pt idx="78">
                  <c:v>2.625</c:v>
                </c:pt>
                <c:pt idx="79">
                  <c:v>2.625</c:v>
                </c:pt>
                <c:pt idx="80">
                  <c:v>2.625</c:v>
                </c:pt>
                <c:pt idx="81">
                  <c:v>2.625</c:v>
                </c:pt>
                <c:pt idx="82">
                  <c:v>2.625</c:v>
                </c:pt>
                <c:pt idx="83">
                  <c:v>2.625</c:v>
                </c:pt>
                <c:pt idx="84">
                  <c:v>2.625</c:v>
                </c:pt>
                <c:pt idx="85">
                  <c:v>2.625</c:v>
                </c:pt>
                <c:pt idx="86">
                  <c:v>2.625</c:v>
                </c:pt>
                <c:pt idx="87">
                  <c:v>2.625</c:v>
                </c:pt>
                <c:pt idx="88">
                  <c:v>2.625</c:v>
                </c:pt>
                <c:pt idx="89">
                  <c:v>2.625</c:v>
                </c:pt>
                <c:pt idx="90">
                  <c:v>2.625</c:v>
                </c:pt>
                <c:pt idx="91">
                  <c:v>2.625</c:v>
                </c:pt>
                <c:pt idx="92">
                  <c:v>2.625</c:v>
                </c:pt>
                <c:pt idx="93">
                  <c:v>2.625</c:v>
                </c:pt>
                <c:pt idx="94">
                  <c:v>2.625</c:v>
                </c:pt>
                <c:pt idx="95">
                  <c:v>2.625</c:v>
                </c:pt>
                <c:pt idx="96">
                  <c:v>2.625</c:v>
                </c:pt>
                <c:pt idx="97">
                  <c:v>2.625</c:v>
                </c:pt>
                <c:pt idx="98">
                  <c:v>2.625</c:v>
                </c:pt>
                <c:pt idx="99">
                  <c:v>2.625</c:v>
                </c:pt>
                <c:pt idx="100">
                  <c:v>2.625</c:v>
                </c:pt>
                <c:pt idx="101">
                  <c:v>2.625</c:v>
                </c:pt>
                <c:pt idx="102">
                  <c:v>2.625</c:v>
                </c:pt>
                <c:pt idx="103">
                  <c:v>2.625</c:v>
                </c:pt>
                <c:pt idx="104">
                  <c:v>2.625</c:v>
                </c:pt>
                <c:pt idx="105">
                  <c:v>2.625</c:v>
                </c:pt>
                <c:pt idx="106">
                  <c:v>2.625</c:v>
                </c:pt>
                <c:pt idx="107">
                  <c:v>2.625</c:v>
                </c:pt>
                <c:pt idx="108">
                  <c:v>2.625</c:v>
                </c:pt>
                <c:pt idx="109">
                  <c:v>2.625</c:v>
                </c:pt>
                <c:pt idx="110">
                  <c:v>2.625</c:v>
                </c:pt>
                <c:pt idx="111">
                  <c:v>2.625</c:v>
                </c:pt>
                <c:pt idx="112">
                  <c:v>2.625</c:v>
                </c:pt>
                <c:pt idx="113">
                  <c:v>2.625</c:v>
                </c:pt>
                <c:pt idx="114">
                  <c:v>2.625</c:v>
                </c:pt>
                <c:pt idx="115">
                  <c:v>2.625</c:v>
                </c:pt>
                <c:pt idx="116">
                  <c:v>2.625</c:v>
                </c:pt>
                <c:pt idx="117">
                  <c:v>2.625</c:v>
                </c:pt>
                <c:pt idx="118">
                  <c:v>2.625</c:v>
                </c:pt>
                <c:pt idx="119">
                  <c:v>2.625</c:v>
                </c:pt>
                <c:pt idx="120">
                  <c:v>2.625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3.2"/>
          <c:min val="-0.5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 (Natixis)</c:v>
                </c:pt>
              </c:strCache>
            </c:strRef>
          </c:tx>
          <c:spPr>
            <a:solidFill>
              <a:srgbClr val="8FA6AA"/>
            </a:solidFill>
            <a:ln w="25400" cap="flat">
              <a:solidFill>
                <a:srgbClr val="8FA6A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1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1.4"/>
          <c:min val="-0.3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70% put pair</c:v>
                </c:pt>
              </c:strCache>
            </c:strRef>
          </c:tx>
          <c:spPr>
            <a:solidFill>
              <a:srgbClr val="B8433A"/>
            </a:solidFill>
            <a:ln w="25400" cap="flat">
              <a:solidFill>
                <a:srgbClr val="B8433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8433A"/>
              </a:solidFill>
              <a:ln w="9525" cap="flat">
                <a:solidFill>
                  <a:srgbClr val="B8433A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-30</c:v>
                </c:pt>
                <c:pt idx="1">
                  <c:v>-30</c:v>
                </c:pt>
                <c:pt idx="2">
                  <c:v>-30</c:v>
                </c:pt>
                <c:pt idx="3">
                  <c:v>-30</c:v>
                </c:pt>
                <c:pt idx="4">
                  <c:v>-30</c:v>
                </c:pt>
                <c:pt idx="5">
                  <c:v>-30</c:v>
                </c:pt>
                <c:pt idx="6">
                  <c:v>-30</c:v>
                </c:pt>
                <c:pt idx="7">
                  <c:v>-30</c:v>
                </c:pt>
                <c:pt idx="8">
                  <c:v>-30</c:v>
                </c:pt>
                <c:pt idx="9">
                  <c:v>-30</c:v>
                </c:pt>
                <c:pt idx="10">
                  <c:v>-30</c:v>
                </c:pt>
                <c:pt idx="11">
                  <c:v>-30</c:v>
                </c:pt>
                <c:pt idx="12">
                  <c:v>-30</c:v>
                </c:pt>
                <c:pt idx="13">
                  <c:v>-30</c:v>
                </c:pt>
                <c:pt idx="14">
                  <c:v>-30</c:v>
                </c:pt>
                <c:pt idx="15">
                  <c:v>-30</c:v>
                </c:pt>
                <c:pt idx="16">
                  <c:v>-30</c:v>
                </c:pt>
                <c:pt idx="17">
                  <c:v>-30</c:v>
                </c:pt>
                <c:pt idx="18">
                  <c:v>-30</c:v>
                </c:pt>
                <c:pt idx="19">
                  <c:v>-30</c:v>
                </c:pt>
                <c:pt idx="20">
                  <c:v>-30</c:v>
                </c:pt>
                <c:pt idx="21">
                  <c:v>-30</c:v>
                </c:pt>
                <c:pt idx="22">
                  <c:v>-30</c:v>
                </c:pt>
                <c:pt idx="23">
                  <c:v>-30</c:v>
                </c:pt>
                <c:pt idx="24">
                  <c:v>-30</c:v>
                </c:pt>
                <c:pt idx="25">
                  <c:v>-30</c:v>
                </c:pt>
                <c:pt idx="26">
                  <c:v>-30</c:v>
                </c:pt>
                <c:pt idx="27">
                  <c:v>-30</c:v>
                </c:pt>
                <c:pt idx="28">
                  <c:v>-30</c:v>
                </c:pt>
                <c:pt idx="29">
                  <c:v>-30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at Y5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6"/>
          <c:min val="-36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Basket level (% of initial); coupon and autocall level 100%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capex boom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</c:v>
                </c:pt>
                <c:pt idx="1">
                  <c:v>104.5</c:v>
                </c:pt>
                <c:pt idx="2">
                  <c:v>109</c:v>
                </c:pt>
                <c:pt idx="3">
                  <c:v>113.5</c:v>
                </c:pt>
                <c:pt idx="4">
                  <c:v>118</c:v>
                </c:pt>
                <c:pt idx="5">
                  <c:v>121.9</c:v>
                </c:pt>
                <c:pt idx="6">
                  <c:v>125.7</c:v>
                </c:pt>
                <c:pt idx="7">
                  <c:v>129.6</c:v>
                </c:pt>
                <c:pt idx="8">
                  <c:v>133.5</c:v>
                </c:pt>
                <c:pt idx="9">
                  <c:v>137.4</c:v>
                </c:pt>
                <c:pt idx="10">
                  <c:v>141.3</c:v>
                </c:pt>
                <c:pt idx="11">
                  <c:v>145.1</c:v>
                </c:pt>
                <c:pt idx="12">
                  <c:v>149</c:v>
                </c:pt>
                <c:pt idx="13">
                  <c:v>152.9</c:v>
                </c:pt>
                <c:pt idx="14">
                  <c:v>156.7</c:v>
                </c:pt>
                <c:pt idx="15">
                  <c:v>160.6</c:v>
                </c:pt>
                <c:pt idx="16">
                  <c:v>164.5</c:v>
                </c:pt>
                <c:pt idx="17">
                  <c:v>168.4</c:v>
                </c:pt>
                <c:pt idx="18">
                  <c:v>172.3</c:v>
                </c:pt>
                <c:pt idx="19">
                  <c:v>176.1</c:v>
                </c:pt>
                <c:pt idx="20">
                  <c:v>180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Range-bound Asia</c:v>
                </c:pt>
              </c:strCache>
            </c:strRef>
          </c:tx>
          <c:spPr>
            <a:solidFill>
              <a:srgbClr val="D9961A"/>
            </a:solidFill>
            <a:ln w="25400" cap="flat">
              <a:solidFill>
                <a:srgbClr val="D996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961A"/>
              </a:solidFill>
              <a:ln w="9525" cap="flat">
                <a:solidFill>
                  <a:srgbClr val="D996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100</c:v>
                </c:pt>
                <c:pt idx="1">
                  <c:v>99</c:v>
                </c:pt>
                <c:pt idx="2">
                  <c:v>98</c:v>
                </c:pt>
                <c:pt idx="3">
                  <c:v>97</c:v>
                </c:pt>
                <c:pt idx="4">
                  <c:v>96</c:v>
                </c:pt>
                <c:pt idx="5">
                  <c:v>98.5</c:v>
                </c:pt>
                <c:pt idx="6">
                  <c:v>101</c:v>
                </c:pt>
                <c:pt idx="7">
                  <c:v>101.1</c:v>
                </c:pt>
                <c:pt idx="8">
                  <c:v>101.3</c:v>
                </c:pt>
                <c:pt idx="9">
                  <c:v>101.4</c:v>
                </c:pt>
                <c:pt idx="10">
                  <c:v>101.6</c:v>
                </c:pt>
                <c:pt idx="11">
                  <c:v>101.7</c:v>
                </c:pt>
                <c:pt idx="12">
                  <c:v>101.9</c:v>
                </c:pt>
                <c:pt idx="13">
                  <c:v>102</c:v>
                </c:pt>
                <c:pt idx="14">
                  <c:v>102.1</c:v>
                </c:pt>
                <c:pt idx="15">
                  <c:v>102.3</c:v>
                </c:pt>
                <c:pt idx="16">
                  <c:v>102.4</c:v>
                </c:pt>
                <c:pt idx="17">
                  <c:v>102.6</c:v>
                </c:pt>
                <c:pt idx="18">
                  <c:v>102.7</c:v>
                </c:pt>
                <c:pt idx="19">
                  <c:v>102.9</c:v>
                </c:pt>
                <c:pt idx="20">
                  <c:v>103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2022-style tech drawdown, slow recovery</c:v>
                </c:pt>
              </c:strCache>
            </c:strRef>
          </c:tx>
          <c:spPr>
            <a:solidFill>
              <a:srgbClr val="0B3C49"/>
            </a:solidFill>
            <a:ln w="25400" cap="flat">
              <a:solidFill>
                <a:srgbClr val="0B3C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49"/>
              </a:solidFill>
              <a:ln w="9525" cap="flat">
                <a:solidFill>
                  <a:srgbClr val="0B3C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100</c:v>
                </c:pt>
                <c:pt idx="1">
                  <c:v>90</c:v>
                </c:pt>
                <c:pt idx="2">
                  <c:v>80</c:v>
                </c:pt>
                <c:pt idx="3">
                  <c:v>70</c:v>
                </c:pt>
                <c:pt idx="4">
                  <c:v>71.6</c:v>
                </c:pt>
                <c:pt idx="5">
                  <c:v>73.2</c:v>
                </c:pt>
                <c:pt idx="6">
                  <c:v>74.8</c:v>
                </c:pt>
                <c:pt idx="7">
                  <c:v>76.4</c:v>
                </c:pt>
                <c:pt idx="8">
                  <c:v>78</c:v>
                </c:pt>
                <c:pt idx="9">
                  <c:v>80.8</c:v>
                </c:pt>
                <c:pt idx="10">
                  <c:v>83.7</c:v>
                </c:pt>
                <c:pt idx="11">
                  <c:v>86.5</c:v>
                </c:pt>
                <c:pt idx="12">
                  <c:v>89.3</c:v>
                </c:pt>
                <c:pt idx="13">
                  <c:v>92.2</c:v>
                </c:pt>
                <c:pt idx="14">
                  <c:v>95</c:v>
                </c:pt>
                <c:pt idx="15">
                  <c:v>102</c:v>
                </c:pt>
                <c:pt idx="16">
                  <c:v>103.6</c:v>
                </c:pt>
                <c:pt idx="17">
                  <c:v>105.2</c:v>
                </c:pt>
                <c:pt idx="18">
                  <c:v>106.8</c:v>
                </c:pt>
                <c:pt idx="19">
                  <c:v>108.4</c:v>
                </c:pt>
                <c:pt idx="20">
                  <c:v>110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Lost decade (sideways below par)</c:v>
                </c:pt>
              </c:strCache>
            </c:strRef>
          </c:tx>
          <c:spPr>
            <a:solidFill>
              <a:srgbClr val="8FA6AA"/>
            </a:solidFill>
            <a:ln w="25400" cap="flat">
              <a:solidFill>
                <a:srgbClr val="8FA6A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100</c:v>
                </c:pt>
                <c:pt idx="1">
                  <c:v>96.3</c:v>
                </c:pt>
                <c:pt idx="2">
                  <c:v>92.5</c:v>
                </c:pt>
                <c:pt idx="3">
                  <c:v>88.7</c:v>
                </c:pt>
                <c:pt idx="4">
                  <c:v>85</c:v>
                </c:pt>
                <c:pt idx="5">
                  <c:v>84.2</c:v>
                </c:pt>
                <c:pt idx="6">
                  <c:v>83.3</c:v>
                </c:pt>
                <c:pt idx="7">
                  <c:v>82.5</c:v>
                </c:pt>
                <c:pt idx="8">
                  <c:v>81.7</c:v>
                </c:pt>
                <c:pt idx="9">
                  <c:v>80.8</c:v>
                </c:pt>
                <c:pt idx="10">
                  <c:v>80</c:v>
                </c:pt>
                <c:pt idx="11">
                  <c:v>80.8</c:v>
                </c:pt>
                <c:pt idx="12">
                  <c:v>81.6</c:v>
                </c:pt>
                <c:pt idx="13">
                  <c:v>82.4</c:v>
                </c:pt>
                <c:pt idx="14">
                  <c:v>83.2</c:v>
                </c:pt>
                <c:pt idx="15">
                  <c:v>84</c:v>
                </c:pt>
                <c:pt idx="16">
                  <c:v>84.8</c:v>
                </c:pt>
                <c:pt idx="17">
                  <c:v>85.6</c:v>
                </c:pt>
                <c:pt idx="18">
                  <c:v>86.4</c:v>
                </c:pt>
                <c:pt idx="19">
                  <c:v>87.2</c:v>
                </c:pt>
                <c:pt idx="20">
                  <c:v>88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Geopolitical shock, no recovery</c:v>
                </c:pt>
              </c:strCache>
            </c:strRef>
          </c:tx>
          <c:spPr>
            <a:solidFill>
              <a:srgbClr val="B8433A"/>
            </a:solidFill>
            <a:ln w="25400" cap="flat">
              <a:solidFill>
                <a:srgbClr val="B843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433A"/>
              </a:solidFill>
              <a:ln w="9525" cap="flat">
                <a:solidFill>
                  <a:srgbClr val="B84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58.3</c:v>
                </c:pt>
                <c:pt idx="4">
                  <c:v>56.7</c:v>
                </c:pt>
                <c:pt idx="5">
                  <c:v>55</c:v>
                </c:pt>
                <c:pt idx="6">
                  <c:v>53.3</c:v>
                </c:pt>
                <c:pt idx="7">
                  <c:v>51.7</c:v>
                </c:pt>
                <c:pt idx="8">
                  <c:v>50</c:v>
                </c:pt>
                <c:pt idx="9">
                  <c:v>50.4</c:v>
                </c:pt>
                <c:pt idx="10">
                  <c:v>50.8</c:v>
                </c:pt>
                <c:pt idx="11">
                  <c:v>51.2</c:v>
                </c:pt>
                <c:pt idx="12">
                  <c:v>51.7</c:v>
                </c:pt>
                <c:pt idx="13">
                  <c:v>52.1</c:v>
                </c:pt>
                <c:pt idx="14">
                  <c:v>52.5</c:v>
                </c:pt>
                <c:pt idx="15">
                  <c:v>52.9</c:v>
                </c:pt>
                <c:pt idx="16">
                  <c:v>53.3</c:v>
                </c:pt>
                <c:pt idx="17">
                  <c:v>53.8</c:v>
                </c:pt>
                <c:pt idx="18">
                  <c:v>54.2</c:v>
                </c:pt>
                <c:pt idx="19">
                  <c:v>54.6</c:v>
                </c:pt>
                <c:pt idx="20">
                  <c:v>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4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Cumulative autocall probability (risk-neutral)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call probability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D2B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48.2</c:v>
                </c:pt>
                <c:pt idx="1">
                  <c:v>65.9</c:v>
                </c:pt>
                <c:pt idx="2">
                  <c:v>72.4</c:v>
                </c:pt>
                <c:pt idx="3">
                  <c:v>76.1</c:v>
                </c:pt>
                <c:pt idx="4">
                  <c:v>78.6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D2B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Total received at Y5 (not called earlier) vs final basket level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note (10.50%)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Sheet1!$B$2:$B$142</c:f>
              <c:numCache>
                <c:formatCode>General</c:formatCode>
                <c:ptCount val="141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  <c:pt idx="8">
                  <c:v>70</c:v>
                </c:pt>
                <c:pt idx="9">
                  <c:v>70</c:v>
                </c:pt>
                <c:pt idx="10">
                  <c:v>70</c:v>
                </c:pt>
                <c:pt idx="11">
                  <c:v>70</c:v>
                </c:pt>
                <c:pt idx="12">
                  <c:v>70</c:v>
                </c:pt>
                <c:pt idx="13">
                  <c:v>70</c:v>
                </c:pt>
                <c:pt idx="14">
                  <c:v>70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  <c:pt idx="24">
                  <c:v>70</c:v>
                </c:pt>
                <c:pt idx="25">
                  <c:v>70</c:v>
                </c:pt>
                <c:pt idx="26">
                  <c:v>70</c:v>
                </c:pt>
                <c:pt idx="27">
                  <c:v>70</c:v>
                </c:pt>
                <c:pt idx="28">
                  <c:v>70</c:v>
                </c:pt>
                <c:pt idx="29">
                  <c:v>70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152.5</c:v>
                </c:pt>
                <c:pt idx="61">
                  <c:v>152.5</c:v>
                </c:pt>
                <c:pt idx="62">
                  <c:v>152.5</c:v>
                </c:pt>
                <c:pt idx="63">
                  <c:v>152.5</c:v>
                </c:pt>
                <c:pt idx="64">
                  <c:v>152.5</c:v>
                </c:pt>
                <c:pt idx="65">
                  <c:v>152.5</c:v>
                </c:pt>
                <c:pt idx="66">
                  <c:v>152.5</c:v>
                </c:pt>
                <c:pt idx="67">
                  <c:v>152.5</c:v>
                </c:pt>
                <c:pt idx="68">
                  <c:v>152.5</c:v>
                </c:pt>
                <c:pt idx="69">
                  <c:v>152.5</c:v>
                </c:pt>
                <c:pt idx="70">
                  <c:v>152.5</c:v>
                </c:pt>
                <c:pt idx="71">
                  <c:v>152.5</c:v>
                </c:pt>
                <c:pt idx="72">
                  <c:v>152.5</c:v>
                </c:pt>
                <c:pt idx="73">
                  <c:v>152.5</c:v>
                </c:pt>
                <c:pt idx="74">
                  <c:v>152.5</c:v>
                </c:pt>
                <c:pt idx="75">
                  <c:v>152.5</c:v>
                </c:pt>
                <c:pt idx="76">
                  <c:v>152.5</c:v>
                </c:pt>
                <c:pt idx="77">
                  <c:v>152.5</c:v>
                </c:pt>
                <c:pt idx="78">
                  <c:v>152.5</c:v>
                </c:pt>
                <c:pt idx="79">
                  <c:v>152.5</c:v>
                </c:pt>
                <c:pt idx="80">
                  <c:v>152.5</c:v>
                </c:pt>
                <c:pt idx="81">
                  <c:v>152.5</c:v>
                </c:pt>
                <c:pt idx="82">
                  <c:v>152.5</c:v>
                </c:pt>
                <c:pt idx="83">
                  <c:v>152.5</c:v>
                </c:pt>
                <c:pt idx="84">
                  <c:v>152.5</c:v>
                </c:pt>
                <c:pt idx="85">
                  <c:v>152.5</c:v>
                </c:pt>
                <c:pt idx="86">
                  <c:v>152.5</c:v>
                </c:pt>
                <c:pt idx="87">
                  <c:v>152.5</c:v>
                </c:pt>
                <c:pt idx="88">
                  <c:v>152.5</c:v>
                </c:pt>
                <c:pt idx="89">
                  <c:v>152.5</c:v>
                </c:pt>
                <c:pt idx="90">
                  <c:v>152.5</c:v>
                </c:pt>
                <c:pt idx="91">
                  <c:v>152.5</c:v>
                </c:pt>
                <c:pt idx="92">
                  <c:v>152.5</c:v>
                </c:pt>
                <c:pt idx="93">
                  <c:v>152.5</c:v>
                </c:pt>
                <c:pt idx="94">
                  <c:v>152.5</c:v>
                </c:pt>
                <c:pt idx="95">
                  <c:v>152.5</c:v>
                </c:pt>
                <c:pt idx="96">
                  <c:v>152.5</c:v>
                </c:pt>
                <c:pt idx="97">
                  <c:v>152.5</c:v>
                </c:pt>
                <c:pt idx="98">
                  <c:v>152.5</c:v>
                </c:pt>
                <c:pt idx="99">
                  <c:v>152.5</c:v>
                </c:pt>
                <c:pt idx="100">
                  <c:v>152.5</c:v>
                </c:pt>
                <c:pt idx="101">
                  <c:v>152.5</c:v>
                </c:pt>
                <c:pt idx="102">
                  <c:v>152.5</c:v>
                </c:pt>
                <c:pt idx="103">
                  <c:v>152.5</c:v>
                </c:pt>
                <c:pt idx="104">
                  <c:v>152.5</c:v>
                </c:pt>
                <c:pt idx="105">
                  <c:v>152.5</c:v>
                </c:pt>
                <c:pt idx="106">
                  <c:v>152.5</c:v>
                </c:pt>
                <c:pt idx="107">
                  <c:v>152.5</c:v>
                </c:pt>
                <c:pt idx="108">
                  <c:v>152.5</c:v>
                </c:pt>
                <c:pt idx="109">
                  <c:v>152.5</c:v>
                </c:pt>
                <c:pt idx="110">
                  <c:v>152.5</c:v>
                </c:pt>
                <c:pt idx="111">
                  <c:v>152.5</c:v>
                </c:pt>
                <c:pt idx="112">
                  <c:v>152.5</c:v>
                </c:pt>
                <c:pt idx="113">
                  <c:v>152.5</c:v>
                </c:pt>
                <c:pt idx="114">
                  <c:v>152.5</c:v>
                </c:pt>
                <c:pt idx="115">
                  <c:v>152.5</c:v>
                </c:pt>
                <c:pt idx="116">
                  <c:v>152.5</c:v>
                </c:pt>
                <c:pt idx="117">
                  <c:v>152.5</c:v>
                </c:pt>
                <c:pt idx="118">
                  <c:v>152.5</c:v>
                </c:pt>
                <c:pt idx="119">
                  <c:v>152.5</c:v>
                </c:pt>
                <c:pt idx="120">
                  <c:v>152.5</c:v>
                </c:pt>
                <c:pt idx="121">
                  <c:v>152.5</c:v>
                </c:pt>
                <c:pt idx="122">
                  <c:v>152.5</c:v>
                </c:pt>
                <c:pt idx="123">
                  <c:v>152.5</c:v>
                </c:pt>
                <c:pt idx="124">
                  <c:v>152.5</c:v>
                </c:pt>
                <c:pt idx="125">
                  <c:v>152.5</c:v>
                </c:pt>
                <c:pt idx="126">
                  <c:v>152.5</c:v>
                </c:pt>
                <c:pt idx="127">
                  <c:v>152.5</c:v>
                </c:pt>
                <c:pt idx="128">
                  <c:v>152.5</c:v>
                </c:pt>
                <c:pt idx="129">
                  <c:v>152.5</c:v>
                </c:pt>
                <c:pt idx="130">
                  <c:v>152.5</c:v>
                </c:pt>
                <c:pt idx="131">
                  <c:v>152.5</c:v>
                </c:pt>
                <c:pt idx="132">
                  <c:v>152.5</c:v>
                </c:pt>
                <c:pt idx="133">
                  <c:v>152.5</c:v>
                </c:pt>
                <c:pt idx="134">
                  <c:v>152.5</c:v>
                </c:pt>
                <c:pt idx="135">
                  <c:v>152.5</c:v>
                </c:pt>
                <c:pt idx="136">
                  <c:v>152.5</c:v>
                </c:pt>
                <c:pt idx="137">
                  <c:v>152.5</c:v>
                </c:pt>
                <c:pt idx="138">
                  <c:v>152.5</c:v>
                </c:pt>
                <c:pt idx="139">
                  <c:v>152.5</c:v>
                </c:pt>
                <c:pt idx="140">
                  <c:v>152.5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Snowball 9%, 65% barrier</c:v>
                </c:pt>
              </c:strCache>
            </c:strRef>
          </c:tx>
          <c:spPr>
            <a:solidFill>
              <a:srgbClr val="B8433A"/>
            </a:solidFill>
            <a:ln w="25400" cap="flat">
              <a:solidFill>
                <a:srgbClr val="B8433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8433A"/>
              </a:solidFill>
              <a:ln w="9525" cap="flat">
                <a:solidFill>
                  <a:srgbClr val="B8433A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Sheet1!$C$2:$C$142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145</c:v>
                </c:pt>
                <c:pt idx="61">
                  <c:v>145</c:v>
                </c:pt>
                <c:pt idx="62">
                  <c:v>145</c:v>
                </c:pt>
                <c:pt idx="63">
                  <c:v>145</c:v>
                </c:pt>
                <c:pt idx="64">
                  <c:v>145</c:v>
                </c:pt>
                <c:pt idx="65">
                  <c:v>145</c:v>
                </c:pt>
                <c:pt idx="66">
                  <c:v>145</c:v>
                </c:pt>
                <c:pt idx="67">
                  <c:v>145</c:v>
                </c:pt>
                <c:pt idx="68">
                  <c:v>145</c:v>
                </c:pt>
                <c:pt idx="69">
                  <c:v>145</c:v>
                </c:pt>
                <c:pt idx="70">
                  <c:v>145</c:v>
                </c:pt>
                <c:pt idx="71">
                  <c:v>145</c:v>
                </c:pt>
                <c:pt idx="72">
                  <c:v>145</c:v>
                </c:pt>
                <c:pt idx="73">
                  <c:v>145</c:v>
                </c:pt>
                <c:pt idx="74">
                  <c:v>145</c:v>
                </c:pt>
                <c:pt idx="75">
                  <c:v>145</c:v>
                </c:pt>
                <c:pt idx="76">
                  <c:v>145</c:v>
                </c:pt>
                <c:pt idx="77">
                  <c:v>145</c:v>
                </c:pt>
                <c:pt idx="78">
                  <c:v>145</c:v>
                </c:pt>
                <c:pt idx="79">
                  <c:v>145</c:v>
                </c:pt>
                <c:pt idx="80">
                  <c:v>145</c:v>
                </c:pt>
                <c:pt idx="81">
                  <c:v>145</c:v>
                </c:pt>
                <c:pt idx="82">
                  <c:v>145</c:v>
                </c:pt>
                <c:pt idx="83">
                  <c:v>145</c:v>
                </c:pt>
                <c:pt idx="84">
                  <c:v>145</c:v>
                </c:pt>
                <c:pt idx="85">
                  <c:v>145</c:v>
                </c:pt>
                <c:pt idx="86">
                  <c:v>145</c:v>
                </c:pt>
                <c:pt idx="87">
                  <c:v>145</c:v>
                </c:pt>
                <c:pt idx="88">
                  <c:v>145</c:v>
                </c:pt>
                <c:pt idx="89">
                  <c:v>145</c:v>
                </c:pt>
                <c:pt idx="90">
                  <c:v>145</c:v>
                </c:pt>
                <c:pt idx="91">
                  <c:v>145</c:v>
                </c:pt>
                <c:pt idx="92">
                  <c:v>145</c:v>
                </c:pt>
                <c:pt idx="93">
                  <c:v>145</c:v>
                </c:pt>
                <c:pt idx="94">
                  <c:v>145</c:v>
                </c:pt>
                <c:pt idx="95">
                  <c:v>145</c:v>
                </c:pt>
                <c:pt idx="96">
                  <c:v>145</c:v>
                </c:pt>
                <c:pt idx="97">
                  <c:v>145</c:v>
                </c:pt>
                <c:pt idx="98">
                  <c:v>145</c:v>
                </c:pt>
                <c:pt idx="99">
                  <c:v>145</c:v>
                </c:pt>
                <c:pt idx="100">
                  <c:v>145</c:v>
                </c:pt>
                <c:pt idx="101">
                  <c:v>145</c:v>
                </c:pt>
                <c:pt idx="102">
                  <c:v>145</c:v>
                </c:pt>
                <c:pt idx="103">
                  <c:v>145</c:v>
                </c:pt>
                <c:pt idx="104">
                  <c:v>145</c:v>
                </c:pt>
                <c:pt idx="105">
                  <c:v>145</c:v>
                </c:pt>
                <c:pt idx="106">
                  <c:v>145</c:v>
                </c:pt>
                <c:pt idx="107">
                  <c:v>145</c:v>
                </c:pt>
                <c:pt idx="108">
                  <c:v>145</c:v>
                </c:pt>
                <c:pt idx="109">
                  <c:v>145</c:v>
                </c:pt>
                <c:pt idx="110">
                  <c:v>145</c:v>
                </c:pt>
                <c:pt idx="111">
                  <c:v>145</c:v>
                </c:pt>
                <c:pt idx="112">
                  <c:v>145</c:v>
                </c:pt>
                <c:pt idx="113">
                  <c:v>145</c:v>
                </c:pt>
                <c:pt idx="114">
                  <c:v>145</c:v>
                </c:pt>
                <c:pt idx="115">
                  <c:v>145</c:v>
                </c:pt>
                <c:pt idx="116">
                  <c:v>145</c:v>
                </c:pt>
                <c:pt idx="117">
                  <c:v>145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145</c:v>
                </c:pt>
                <c:pt idx="132">
                  <c:v>145</c:v>
                </c:pt>
                <c:pt idx="133">
                  <c:v>145</c:v>
                </c:pt>
                <c:pt idx="134">
                  <c:v>145</c:v>
                </c:pt>
                <c:pt idx="135">
                  <c:v>145</c:v>
                </c:pt>
                <c:pt idx="136">
                  <c:v>145</c:v>
                </c:pt>
                <c:pt idx="137">
                  <c:v>145</c:v>
                </c:pt>
                <c:pt idx="138">
                  <c:v>145</c:v>
                </c:pt>
                <c:pt idx="139">
                  <c:v>145</c:v>
                </c:pt>
                <c:pt idx="140">
                  <c:v>145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PPN</c:v>
                </c:pt>
              </c:strCache>
            </c:strRef>
          </c:tx>
          <c:spPr>
            <a:solidFill>
              <a:srgbClr val="D9961A"/>
            </a:solidFill>
            <a:ln w="25400" cap="flat">
              <a:solidFill>
                <a:srgbClr val="D9961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D9961A"/>
              </a:solidFill>
              <a:ln w="9525" cap="flat">
                <a:solidFill>
                  <a:srgbClr val="D9961A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Sheet1!$D$2:$D$142</c:f>
              <c:numCache>
                <c:formatCode>General</c:formatCode>
                <c:ptCount val="14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100.874</c:v>
                </c:pt>
                <c:pt idx="62">
                  <c:v>101.748</c:v>
                </c:pt>
                <c:pt idx="63">
                  <c:v>102.622</c:v>
                </c:pt>
                <c:pt idx="64">
                  <c:v>103.496</c:v>
                </c:pt>
                <c:pt idx="65">
                  <c:v>104.37</c:v>
                </c:pt>
                <c:pt idx="66">
                  <c:v>105.244</c:v>
                </c:pt>
                <c:pt idx="67">
                  <c:v>106.118</c:v>
                </c:pt>
                <c:pt idx="68">
                  <c:v>106.992</c:v>
                </c:pt>
                <c:pt idx="69">
                  <c:v>107.866</c:v>
                </c:pt>
                <c:pt idx="70">
                  <c:v>108.74</c:v>
                </c:pt>
                <c:pt idx="71">
                  <c:v>109.614</c:v>
                </c:pt>
                <c:pt idx="72">
                  <c:v>110.488</c:v>
                </c:pt>
                <c:pt idx="73">
                  <c:v>111.362</c:v>
                </c:pt>
                <c:pt idx="74">
                  <c:v>112.236</c:v>
                </c:pt>
                <c:pt idx="75">
                  <c:v>113.11</c:v>
                </c:pt>
                <c:pt idx="76">
                  <c:v>113.984</c:v>
                </c:pt>
                <c:pt idx="77">
                  <c:v>114.858</c:v>
                </c:pt>
                <c:pt idx="78">
                  <c:v>115.732</c:v>
                </c:pt>
                <c:pt idx="79">
                  <c:v>116.606</c:v>
                </c:pt>
                <c:pt idx="80">
                  <c:v>117.48</c:v>
                </c:pt>
                <c:pt idx="81">
                  <c:v>118.354</c:v>
                </c:pt>
                <c:pt idx="82">
                  <c:v>119.22800000000001</c:v>
                </c:pt>
                <c:pt idx="83">
                  <c:v>120.102</c:v>
                </c:pt>
                <c:pt idx="84">
                  <c:v>120.976</c:v>
                </c:pt>
                <c:pt idx="85">
                  <c:v>121.85</c:v>
                </c:pt>
                <c:pt idx="86">
                  <c:v>122.724</c:v>
                </c:pt>
                <c:pt idx="87">
                  <c:v>123.598</c:v>
                </c:pt>
                <c:pt idx="88">
                  <c:v>124.47200000000001</c:v>
                </c:pt>
                <c:pt idx="89">
                  <c:v>125.346</c:v>
                </c:pt>
                <c:pt idx="90">
                  <c:v>126.22</c:v>
                </c:pt>
                <c:pt idx="91">
                  <c:v>127.094</c:v>
                </c:pt>
                <c:pt idx="92">
                  <c:v>127.968</c:v>
                </c:pt>
                <c:pt idx="93">
                  <c:v>128.84199999999998</c:v>
                </c:pt>
                <c:pt idx="94">
                  <c:v>129.716</c:v>
                </c:pt>
                <c:pt idx="95">
                  <c:v>130.59</c:v>
                </c:pt>
                <c:pt idx="96">
                  <c:v>131.464</c:v>
                </c:pt>
                <c:pt idx="97">
                  <c:v>132.338</c:v>
                </c:pt>
                <c:pt idx="98">
                  <c:v>133.212</c:v>
                </c:pt>
                <c:pt idx="99">
                  <c:v>134.086</c:v>
                </c:pt>
                <c:pt idx="100">
                  <c:v>134.96</c:v>
                </c:pt>
                <c:pt idx="101">
                  <c:v>135.834</c:v>
                </c:pt>
                <c:pt idx="102">
                  <c:v>136.708</c:v>
                </c:pt>
                <c:pt idx="103">
                  <c:v>137.582</c:v>
                </c:pt>
                <c:pt idx="104">
                  <c:v>138.45600000000002</c:v>
                </c:pt>
                <c:pt idx="105">
                  <c:v>139.32999999999998</c:v>
                </c:pt>
                <c:pt idx="106">
                  <c:v>140.204</c:v>
                </c:pt>
                <c:pt idx="107">
                  <c:v>141.078</c:v>
                </c:pt>
                <c:pt idx="108">
                  <c:v>141.952</c:v>
                </c:pt>
                <c:pt idx="109">
                  <c:v>142.826</c:v>
                </c:pt>
                <c:pt idx="110">
                  <c:v>143.7</c:v>
                </c:pt>
                <c:pt idx="111">
                  <c:v>144.574</c:v>
                </c:pt>
                <c:pt idx="112">
                  <c:v>145.448</c:v>
                </c:pt>
                <c:pt idx="113">
                  <c:v>146.322</c:v>
                </c:pt>
                <c:pt idx="114">
                  <c:v>147.196</c:v>
                </c:pt>
                <c:pt idx="115">
                  <c:v>148.07</c:v>
                </c:pt>
                <c:pt idx="116">
                  <c:v>148.94400000000002</c:v>
                </c:pt>
                <c:pt idx="117">
                  <c:v>149.81799999999998</c:v>
                </c:pt>
                <c:pt idx="118">
                  <c:v>150.692</c:v>
                </c:pt>
                <c:pt idx="119">
                  <c:v>151.566</c:v>
                </c:pt>
                <c:pt idx="120">
                  <c:v>152.44</c:v>
                </c:pt>
                <c:pt idx="121">
                  <c:v>153.314</c:v>
                </c:pt>
                <c:pt idx="122">
                  <c:v>154.188</c:v>
                </c:pt>
                <c:pt idx="123">
                  <c:v>155.062</c:v>
                </c:pt>
                <c:pt idx="124">
                  <c:v>155.936</c:v>
                </c:pt>
                <c:pt idx="125">
                  <c:v>156.81</c:v>
                </c:pt>
                <c:pt idx="126">
                  <c:v>157.684</c:v>
                </c:pt>
                <c:pt idx="127">
                  <c:v>158.558</c:v>
                </c:pt>
                <c:pt idx="128">
                  <c:v>159.43200000000002</c:v>
                </c:pt>
                <c:pt idx="129">
                  <c:v>160.30599999999998</c:v>
                </c:pt>
                <c:pt idx="130">
                  <c:v>161.18</c:v>
                </c:pt>
                <c:pt idx="131">
                  <c:v>162.054</c:v>
                </c:pt>
                <c:pt idx="132">
                  <c:v>162.928</c:v>
                </c:pt>
                <c:pt idx="133">
                  <c:v>163.802</c:v>
                </c:pt>
                <c:pt idx="134">
                  <c:v>164.676</c:v>
                </c:pt>
                <c:pt idx="135">
                  <c:v>165.55</c:v>
                </c:pt>
                <c:pt idx="136">
                  <c:v>166.424</c:v>
                </c:pt>
                <c:pt idx="137">
                  <c:v>167.298</c:v>
                </c:pt>
                <c:pt idx="138">
                  <c:v>168.172</c:v>
                </c:pt>
                <c:pt idx="139">
                  <c:v>169.046</c:v>
                </c:pt>
                <c:pt idx="140">
                  <c:v>169.92000000000002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Basket</c:v>
                </c:pt>
              </c:strCache>
            </c:strRef>
          </c:tx>
          <c:spPr>
            <a:solidFill>
              <a:srgbClr val="8FA6AA"/>
            </a:solidFill>
            <a:ln w="25400" cap="flat">
              <a:solidFill>
                <a:srgbClr val="8FA6A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Sheet1!$E$2:$E$142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80"/>
          <c:min val="40"/>
        </c:scaling>
        <c:delete val="0"/>
        <c:axPos val="b"/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"/>
      </c:valAx>
      <c:valAx>
        <c:axId val="2094734552"/>
        <c:scaling>
          <c:orientation val="minMax"/>
          <c:max val="190"/>
          <c:min val="3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One-line pitch: a buffered autocallable on five Asian ETFs covering the AI-hardware supply chain (pan-Asian and Japanese semiconductors, Taiwan, Korea) plus an ESG sleeve. It pays a coupon whenever the basket is at or above its starting level and catches up any missed coupons. At maturity the family gets 100% back unless the basket has fallen more than 30%; even then an embedded 70% put returns 70%, so the loss is capped at 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 (does not count toward the 10-slide limit).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 needs translate one-for-one into design features. The key insight: this is legacy money. The family wants growth and Asian tech exposure, but the first rule is to never suffer a large loss. That points us to an autocallable with a 30% buffer and a hard 70% floor, paying a double-digit coupon that rewards recovery and is never lost, thanks to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arguments. (1) Structural: AI spending flows straight into Asian semiconductors: Taiwan makes the chips, Korea the memory, Japan the chip-making tools, plus an ESG-screened Taiwan sleeve. (2) Structuring: high USD rates make the principal cheap, Asian volatility makes the 100% coupon trigger likely to be hit, and a 70% put caps the downside, so we can pay a double-digit coupon with a hard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Bloomberg-listed ETFs: 3119 HK (Asia semiconductors), 2644 JP (Japan semiconductors), EWT and EWY (US-listed Taiwan and Korea country funds) and 00878 TT (Taiwan ESG high dividend). EWT and EWY trade in USD, so no quanto is needed; the HKD, JPY and TWD lines are quantoed into USD. Check: 3119 trading value against the USD 5M/day rule, 2644 top holdings, and 00878 distributions (~7.6% a year), which reduce its price-return path and so the chance of the basket getting back to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is the key design argument. Full protection is safe but pays under 8%. Removing all protection pays more but exposes the family to the whole drawdown in a crash. Our design sits between: the family accepts the first 30% of loss below the barrier risk only in a deep fall, and Natixis embeds a 70% put so the worst case is 70% back. The put costs a little over 2 points of coupon, which is the price of the hard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note as one question asked every quarter: is the basket at or above where it started? If yes, the family is paid 2.63% for that quarter plus any coupons missed before, and from Year 1 the note also ends with 100% back. If the answer is never yes, the family gets 100% back at Year 5 as long as the basket is at or above 70%, and 70% back if it is lower.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chart: the cash ladder. Each quarter the note lives adds 2.63% of notional, paid either on the date or later through memory. Right chart: if the note reaches Year 5 without being called, there are three zones. At or above 100% the family receives 152.5%; between 70% and 100% it receives 100%; below 70% the embedded put pays 70%, so the loss stops at 30% however far the basket falls. Above +52.5% the basket beats the note: that is the capped upside.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Mini-charts show each leg's payoff against the basket level (the autocall leg is illustrative: it shows the remaining coupon stream switching off). The put pair is the key: like a classic autocall, the client sells a put at the 70% barrier, which funds the double-digit coupon; unlike a classic autocall, the note buys a 70% put back, so below 70% the loss is a fixed 30% instead of the whole fall. Together they are a 30% digital put struck at 70%, observed only at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scenarios. The 2022-style path is the key one: a 30% drawdown in the first year that would scare a direct investor, yet the note pays all 15 quarterly coupons at once when the basket recovers at Q15. The two bad paths show the two layers of protection: at −12% the 30% buffer returns 100%; at −45% the embedded put returns 70%, so the family loses 30% instead of 45%.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answers 'what if markets go nowhere?'. Even at 0% equity return the note is called in ~67% of paths, because volatility alone takes the basket back to 100% on some date. The honest cost of the higher coupon: in ~16% of paths (risk-neutral; 12% at 8% equity returns) the basket ends below 70% and the family gets 70% back, but never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risks on the left, desk hedges on the right. The capital-loss line is explicit: below 70% at maturity the family loses 30%, never more. The other honest risks are capped upside and Natixis credit. The 10.50% coupon sits below the 11.2% fair level in every sensitivity we ran, so the offer is robust to market moves before the trade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280160"/>
            <a:ext cx="4937760" cy="4937760"/>
          </a:xfrm>
          <a:prstGeom prst="ellipse">
            <a:avLst/>
          </a:prstGeom>
          <a:solidFill>
            <a:srgbClr val="0F8B8D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00400"/>
            <a:ext cx="2194560" cy="2194560"/>
          </a:xfrm>
          <a:prstGeom prst="ellipse">
            <a:avLst/>
          </a:prstGeom>
          <a:solidFill>
            <a:srgbClr val="D9961A">
              <a:alpha val="8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FD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Challenge 2026 · Proposal for NKE Private Wealth (Chak family)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Asian Digital Transformation Autocallable Note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3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10.50% a year from Asia's semiconductor build-out, with at least 70% of capital back whatever happens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100mn · 5-year note issued by Natixis · 10.50% p.a. memory coupon · 70% barrier + embedded 70% put · Trade date 17 Sep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51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&amp; market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3533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Chak family is, what they need, and why Asia's digital build-out now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124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1–2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design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084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basket, term sheet, and why a buffered autocallable (70% barrier + 70% put)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3–4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514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Payoffs explained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8163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timeline, payoff diagrams, and the building blocks the client owns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587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5–7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2461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&amp; back-testing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5478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paths and Monte Carlo outcome distributions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33192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8–9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9776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hedging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42793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risks, mitigants, and how the Natixis desk hedges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050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note that turns the family's operating expertise into double-digit income with a capped downside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06040" cy="2103120"/>
          </a:xfrm>
          <a:prstGeom prst="roundRect">
            <a:avLst>
              <a:gd name="adj" fmla="val 3043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5331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10.50%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coupon p.a.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423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2.63% each quarter the basket is ≥ 100%; missed coupons are paid later when it recovers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234440"/>
            <a:ext cx="2606040" cy="2103120"/>
          </a:xfrm>
          <a:prstGeom prst="roundRect">
            <a:avLst>
              <a:gd name="adj" fmla="val 3043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7288" y="135331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9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repayment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2423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back unless the basket ends below 70%; then the embedded put still pays 70%. Maximum loss 30% (plus Natixis credit)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234440"/>
            <a:ext cx="2606040" cy="2103120"/>
          </a:xfrm>
          <a:prstGeom prst="roundRect">
            <a:avLst>
              <a:gd name="adj" fmla="val 3043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6208" y="135331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236208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first review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2423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Risk-neutral. 79% called within 5 years; expected life 2.24 years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</a:t>
            </a:r>
            <a:pPr indent="0" marL="0">
              <a:buNone/>
            </a:pPr>
            <a:r>
              <a:rPr lang="en-US" sz="11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USD 100mn, 5-year Natixis buffered autocallable note</a:t>
            </a:r>
            <a:pPr indent="0" marL="0">
              <a:buNone/>
            </a:pPr>
            <a:r>
              <a:rPr lang="en-US" sz="11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 basket of five Bloomberg-listed Asian ETFs: Global X Asia Semiconductor (3119 HK) 25%, Global X Japan Semiconductor (2644 JP) 25%, iShares MSCI Taiwan (EWT) 15%, iShares MSCI South Korea (EWY) 15% and Cathay Taiwan ESG High Dividend (00878 TT) 20%. It gives the family the AI hardware layer (chips, memory and chip-making equipment) that complements, rather than duplicates, the infrastructure, power and property they already own. </a:t>
            </a:r>
            <a:pPr indent="0" marL="0">
              <a:buNone/>
            </a:pPr>
            <a:r>
              <a:rPr lang="en-US" sz="1150" b="1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earns 10.50% a year in the 79% of paths where the basket gets back to its starting level, gets 100% back if it ends anywhere above 70%, and never less than 70% (16% of paths, risk-neutral). Fair value is 97.2%, so issuing at par leaves Natixis 2.8% for hedging and margin.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family wants growth without putting the legacy at risk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diagnosis: third-generation dynasty, succession done, now allocating for legacy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2057400"/>
          </a:xfrm>
          <a:prstGeom prst="roundRect">
            <a:avLst>
              <a:gd name="adj" fmla="val 311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459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Single-family office: NKE Private Wealth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&gt; USD 2bn; mandate USD 100mn (~5%)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Businesses: tech infrastructure, renewable power plants, real estate in Japan and Greater China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06040" cy="2057400"/>
          </a:xfrm>
          <a:prstGeom prst="roundRect">
            <a:avLst>
              <a:gd name="adj" fmla="val 311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want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6459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appreciation for future generations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 exposure to Asia's digital transformation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bridge traditional Asian sectors with emerging tech they know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2606040" cy="2057400"/>
          </a:xfrm>
          <a:prstGeom prst="roundRect">
            <a:avLst>
              <a:gd name="adj" fmla="val 3111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can bear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6459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risk: preserve the legacy first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horizon; coupons can be reinvested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limited liquidity on 5% of wealth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backdrop: loss must be capped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need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answer in our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appreciation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10.50% p.a. coupon, above the 5.69% 5Y USD funding rate, in every path that autocalls; proceeds roll into the next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 to Asian digital transformation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Semiconductor-heavy basket: the AI hardware layer behind the family's tech-infrastructure business (slide 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Generational preservation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barrier plus embedded 70% put: maximum loss 30% at maturity; diversified basket (not worst-of); BPCE-backed issuer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markets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coupon: a missed coupon is paid when the basket recovers; a fall of up to 30% at maturity costs nothing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now: Asia builds the hardware of the AI economy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thesis: structural growth themes, and high rates and volatility that pay for a coupon with a floor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347472" cy="347472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325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Taiwan: the AI foundry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556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TSMC and its supply chain make most of the world's advanced AI chips; Taiwan's index is dominated by semiconductors.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71800" y="118872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1325880"/>
            <a:ext cx="347472" cy="347472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0896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1325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Korea: memory for AI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17556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and SK hynix supply the high-bandwidth memory every AI accelerator needs; together ~44% of EWY.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743200"/>
            <a:ext cx="347472" cy="347472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743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7432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Japan: chip-making tools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172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Electron, Advantest and peers make the equipment and testers chip factories need, alongside TSE governance reforms.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71800" y="260604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2743200"/>
            <a:ext cx="347472" cy="347472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08960" y="2743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538728" y="27432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sleeve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108960" y="3172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00878 adds ESG-screened Taiwan leaders (MSCI ESG methodology) and a lower-volatility, high-dividend anchor to the basket.</a:t>
            </a:r>
            <a:endParaRPr lang="en-US" sz="95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5623560" y="1143000"/>
          <a:ext cx="30632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5623560" y="3246120"/>
            <a:ext cx="3063240" cy="1417320"/>
          </a:xfrm>
          <a:prstGeom prst="roundRect">
            <a:avLst>
              <a:gd name="adj" fmla="val 4516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760720" y="333756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curve means for structuring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USD rates make the principal cheap to fund (5Y zero-coupon 75.8%). Asian volatility (basket ~25%) makes the basket likely to revisit 100%, which pays the 10.50% coupon, and the embedded 70% put caps the loss at 30%.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is qualitative; index-level data to be refreshed on Bloomberg. Funding grid: Investment Strategy Challenge 2026 rules.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Underlying: five Asian ETFs across the AI-hardware chain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weighted basket, USD payout (quanto on the HKD, JPY and TWD lines); all Bloomberg-listed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097280"/>
          <a:ext cx="25603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43000" y="21305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Basket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3730752"/>
            <a:ext cx="118872" cy="118872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36941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Semiconductor (3119 HK)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57200" y="3922776"/>
            <a:ext cx="118872" cy="11887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8862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Semiconductor (2644 JP)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57200" y="4114800"/>
            <a:ext cx="118872" cy="118872"/>
          </a:xfrm>
          <a:prstGeom prst="rect">
            <a:avLst/>
          </a:prstGeom>
          <a:solidFill>
            <a:srgbClr val="D9961A"/>
          </a:solidFill>
          <a:ln w="12700">
            <a:solidFill>
              <a:srgbClr val="D9961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0782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iShares MSCI Taiwan (EWT)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57200" y="4306824"/>
            <a:ext cx="118872" cy="118872"/>
          </a:xfrm>
          <a:prstGeom prst="rect">
            <a:avLst/>
          </a:prstGeom>
          <a:solidFill>
            <a:srgbClr val="8FA6AA"/>
          </a:solidFill>
          <a:ln w="12700">
            <a:solidFill>
              <a:srgbClr val="8FA6A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42702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iShares MSCI South Korea (EWY)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" y="4498848"/>
            <a:ext cx="118872" cy="118872"/>
          </a:xfrm>
          <a:prstGeom prst="rect">
            <a:avLst/>
          </a:prstGeom>
          <a:solidFill>
            <a:srgbClr val="5BA37A"/>
          </a:solidFill>
          <a:ln w="12700">
            <a:solidFill>
              <a:srgbClr val="5BA3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4462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ESG High Dividend (00878 TT)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143000"/>
          <a:ext cx="5577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"/>
                <a:gridCol w="3246120"/>
                <a:gridCol w="484632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ETF (Bloomberg)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basket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Vol*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 Semiconductor (3119 HK)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Pan-Asian chip leaders (40 names; TSMC, Samsung, SK hynix the largest): the core AI-hardware exposure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Semiconductor (2644 JP)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Japanese semiconductor stocks (FactSet Japan Semiconductor Index, e.g. Tokyo Electron, Advantest): the family's home market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iShares MSCI Taiwan (EWT)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large caps (TSMC, MediaTek, Delta): AI foundry and server chain in the family's Greater China 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iShares MSCI South Korea (EWY)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 large caps (Samsung + SK hynix ~44%): high-bandwidth memory for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ESG High Dividend (00878 TT)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ESG-screened Taiwan high-dividend leaders (Quanta, UMC, MediaTek): ESG sleeve and lower-volatility anchor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3108960" y="38404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weighted basket, not worst-of: </a:t>
            </a:r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shock to one ETF is cushioned by the others: basket vol ~25% vs 18%–38% alone. Overlap (TSMC, Samsung, SK hynix sit in several ETFs) keeps correlations high (0.45–0.85).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*Assumed 5Y vols. USD 5M/day ETF rule: EWY, EWT, 2644, 00878 pass; 3119 is borderline (~USD 4–5M/day), verify the 6-month average on Bloomberg. 00878 distributes ~7.6% a year, which lowers its price path.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 sheet: 5-year buffered autocallable, 10.50% coupon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design: a double-digit coupon, with the loss at maturity capped at 30%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2062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880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SA (BPCE Group)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Notional / currency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100,000,000 · quanto USD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/ maturity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Sep 2026 / 17 Sep 2031 (5Y)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Underlying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basket of 5 Asian ETFs (slide 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Quarterly, 20 dates; autocall from Q4 (Year 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10.50% p.a. (2.63% per quarter), paid if basket ≥ 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coupons paid on the next date basket ≥ 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≥ 100% from Q4: 100% + coupons due, note ends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maturity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if basket ≥ 70%; otherwise 70% (embedded 70% put)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price / fair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/ 97.2%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18872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66928"/>
                <a:gridCol w="603504"/>
                <a:gridCol w="65836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Autocall design (same basket, issued at 98%)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cpn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risk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loss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fixed coupon, 70% barrier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Snowball, 65% barrier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coupon, 70% barrier, no put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coupon, 100% protected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coupon, 70% barrier + 70% put (ours)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892040" y="3154680"/>
            <a:ext cx="3840480" cy="128016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029200" y="3227832"/>
            <a:ext cx="3566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call: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draft's 8.5% fixed coupon is worth 100.3%, so Natixis cannot fund it. Full protection pays only 7.9%. Without a put the coupon is 13.6%, but a crash can wipe out the capital. The embedded 70% put costs ~2.4pts of coupon and caps the loss at 30%: fair 11.2%, we offer 10.50%.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200k paths. Vols, dividends and correlations are assumptions to refresh with Bloomberg data as of the 17 Sep 2026 trade date; discounting uses the USD funding grid. Loss risk = probability the note returns less than 100% at maturity (risk-neutral).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pays: one question every quarter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basket at or above 100% of its starting level? (checked quarterly; one date per year shown)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8FA6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99616"/>
            <a:ext cx="384048" cy="384048"/>
          </a:xfrm>
          <a:prstGeom prst="ellipse">
            <a:avLst/>
          </a:prstGeom>
          <a:solidFill>
            <a:srgbClr val="8FA6A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7160" y="1938528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date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Sep 2026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= 100%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965960" y="149961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96596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938528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basket ≥ 100%: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called, 110.5% total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331720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Y1) 48%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429000" y="149961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1938528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basket ≥ 100%: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called, 121.0% total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2331720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Y2) 66%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92040" y="149961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1938528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basket ≥ 100%: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called, 131.5% total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2331720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Y3) 72%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355080" y="149961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508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1938528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basket ≥ 100%: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called, 142.0% total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2331720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Y4) 76%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818120" y="1499616"/>
            <a:ext cx="384048" cy="384048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1812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938528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basket ≥ 100%: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called, 152.5% total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2331720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Y5) 79%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114300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Q1–Q3: coupon only (2.63% if basket ≥ 100%). From Q4: coupon plus autocall. Missed coupons are always caught up.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788920"/>
            <a:ext cx="2606040" cy="1828800"/>
          </a:xfrm>
          <a:prstGeom prst="roundRect">
            <a:avLst>
              <a:gd name="adj" fmla="val 35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" y="2907792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1792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" y="29260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Autocalled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3383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≥ 100% on any date from Q4: 100% plus every coupon to date, including missed ones. The note ends.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160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risk-neutral probability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46120" y="2788920"/>
            <a:ext cx="2606040" cy="1828800"/>
          </a:xfrm>
          <a:prstGeom prst="roundRect">
            <a:avLst>
              <a:gd name="adj" fmla="val 35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10712" y="2907792"/>
            <a:ext cx="384048" cy="384048"/>
          </a:xfrm>
          <a:prstGeom prst="ellipse">
            <a:avLst/>
          </a:prstGeom>
          <a:solidFill>
            <a:srgbClr val="8FA6A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410712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886200" y="29260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called, basket ≥ 70%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410712" y="3383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never back to 100% after Q3 but ends at or above 70%: 100% back at Y5, plus any early coupons.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410712" y="4160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A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risk-neutral probability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035040" y="2788920"/>
            <a:ext cx="2606040" cy="1828800"/>
          </a:xfrm>
          <a:prstGeom prst="roundRect">
            <a:avLst>
              <a:gd name="adj" fmla="val 35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99632" y="2907792"/>
            <a:ext cx="384048" cy="384048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99632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675120" y="29260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called, basket &lt; 70%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199632" y="3383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ends more than 30% down: the embedded put pays 70% back at Y5. Maximum loss 30%.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199632" y="4160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risk-neutral probability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Probabilities are risk-neutral (drift = funding rate − dividends). Real-world outcomes under different equity returns are on slide 9.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Payoff diagrams: what the family receives, and when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total cash if called at each date. Right: payoff at Y5 if never called earlier, vs. owning the basket directly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402336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8404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Y1: 110.5%  (USD 110.5mn)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Y2: 121.0%  (USD 121.0mn)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Y3: 131.5%  (USD 131.5mn)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Y4: 142.0%  (USD 142.0mn)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Y5: 152.5%  (USD 152.5mn)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2606040" y="38404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memory, the total depends only on when the note is called, not on how many coupon dates were missed along the way.</a:t>
            </a:r>
            <a:endParaRPr lang="en-US" sz="9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572000" y="114300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4709160" y="4261104"/>
            <a:ext cx="91440" cy="91440"/>
          </a:xfrm>
          <a:prstGeom prst="ellipse">
            <a:avLst/>
          </a:prstGeom>
          <a:solidFill>
            <a:srgbClr val="B8433A"/>
          </a:solidFill>
          <a:ln w="12700">
            <a:solidFill>
              <a:srgbClr val="B8433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864608" y="42062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70%: 70% back (embedded put): maximum loss 30%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4709160" y="4434840"/>
            <a:ext cx="91440" cy="91440"/>
          </a:xfrm>
          <a:prstGeom prst="ellipse">
            <a:avLst/>
          </a:prstGeom>
          <a:solidFill>
            <a:srgbClr val="D9961A"/>
          </a:solidFill>
          <a:ln w="12700">
            <a:solidFill>
              <a:srgbClr val="D9961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864608" y="437997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70–100%: 100% back, the 30% buffer absorbs the fall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709160" y="4608576"/>
            <a:ext cx="91440" cy="9144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64608" y="455371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100%: 152.5% (principal + all 20 coupons via memory)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hood: a bond, coupon digitals, and a 70% put pair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used by the Natixis desk to price and hedge (values in % of notional, at trade date)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21208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21208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repaid at autocall or maturity. Worth 89.3%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38912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2350008" y="26974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532888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42616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digitals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642616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2.63% plus missed coupons on each date ≥ 100%. Worth 11.6% (net of autocall)</a:t>
            </a:r>
            <a:endParaRPr lang="en-US" sz="8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2560320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471416" y="26974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54296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64024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Autocall (Natixis)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764024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Q4, basket ≥ 100%: remaining coupons cancelled, note ends. Keeps the coupon affordable</a:t>
            </a:r>
            <a:endParaRPr lang="en-US" sz="85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4681728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592824" y="26974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775704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85432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put pair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6885432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sells a 70% barrier put (6.3%); the note embeds a 70% put back (2.6%). Net: −30% only if &lt; 70% at Y5</a:t>
            </a:r>
            <a:endParaRPr lang="en-US" sz="850" dirty="0"/>
          </a:p>
        </p:txBody>
      </p:sp>
      <p:graphicFrame>
        <p:nvGraphicFramePr>
          <p:cNvPr id="22" name="Chart 3" descr=""/>
          <p:cNvGraphicFramePr/>
          <p:nvPr/>
        </p:nvGraphicFramePr>
        <p:xfrm>
          <a:off x="6803136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Shape 17"/>
          <p:cNvSpPr/>
          <p:nvPr/>
        </p:nvSpPr>
        <p:spPr>
          <a:xfrm>
            <a:off x="411480" y="4069080"/>
            <a:ext cx="8321040" cy="640080"/>
          </a:xfrm>
          <a:prstGeom prst="roundRect">
            <a:avLst>
              <a:gd name="adj" fmla="val 100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48640" y="413308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value 97.2% = principal 89.3% + coupons 11.6% − put pair 3.7%.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at 100%, leaving 2.8% for hedging and margin. The short barrier put funds the higher coupon; the embedded put stops the loss at 30%.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 analysis: five paths for Asian markets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Hypothetical quarterly basket paths and what the USD 100mn note returns in each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097280"/>
          <a:ext cx="4206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896112"/>
                <a:gridCol w="530352"/>
                <a:gridCol w="475488"/>
                <a:gridCol w="429768"/>
                <a:gridCol w="4389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capex boom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Q4 (1y)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D996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Range-bound Asia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Q6 (1.5y)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2022-style tech drawdown, slow recovery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Q15 (3.75y)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F71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decade (sideways below par)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back at Y5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84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Geopolitical shock, no recovery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back at Y5 (put)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663440" y="3611880"/>
            <a:ext cx="4069080" cy="1051560"/>
          </a:xfrm>
          <a:prstGeom prst="roundRect">
            <a:avLst>
              <a:gd name="adj" fmla="val 6087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800600" y="368503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</a:t>
            </a:r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earns ~9.3%–10.9% a year whenever the basket gets back to 100%, even after a 30% drawdown: memory pays all 15 missed coupons at Q15. In a lost decade (basket −12%) the buffer returns 100%; in a lasting shock (basket −45%) the embedded put returns 70%.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are illustrative and not forecasts. 'Basket' = direct basket return at Y5 when the note is not called. Historical back-test to run on Bloomberg history (appendix).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back-test: most paths end early with full coupons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outcome distribution: risk-neutral and under three real-world equity return assumptions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097280"/>
          <a:ext cx="35661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143000"/>
          <a:ext cx="466344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841248"/>
                <a:gridCol w="841248"/>
                <a:gridCol w="841248"/>
                <a:gridCol w="84124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Risk-neutral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equity p.a.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equity p.a.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 equity p.a.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within 5Y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life (yrs)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IRR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IRR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coupons received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return (100% back)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back (put pays)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11480" y="36118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6758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1600200" y="36758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the first review (110.5% total)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200400" y="36118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37560" y="36758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4389120" y="36758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of 70% back: loss capped at 30%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989320" y="36118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126480" y="36758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9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36758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at maturity, in every path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200k paths. Vols, dividends and correlations are assumptions to refresh with Bloomberg data as of the 17 Sep 2026 trade date; discounting uses the USD funding grid. IRR uses actual quarterly coupon dates.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for the family, and how Natixis hedges its side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disclosure plus a desk hedging plan for every exposure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4937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65960"/>
                <a:gridCol w="19202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could happen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loss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below 70% at Y5: 70% back, a 30% loss (~16% of paths)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70% put caps the loss; diversified basket; only 5% of wealth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Capped upside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+80% still pays 10.50% p.a. and is called at Y1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of family wealth keeps direct equity exposure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ETF structure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pays ~7.6% a year out, lowering its price path; 3119 trading is thin; ETF tracking error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capped at 20%; verify volumes; Natixis can reference total-return versions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credit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Repayment and the 70% floor depend on Natixis / BPCE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BPCE senior rating; optional collateralised wrapper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 / MTM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 before maturity, the price can be below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daily indicative price; hold to call or maturity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532120" y="1143000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50992" y="120700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digitals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650992" y="143560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owes basket digitals struck at 100%: replicated with tight basket call spreads, delta-hedged with ETF units, constituent stocks and index futures as proxies; listed options on EWY/EWT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532120" y="2029968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50992" y="2093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&amp; correlation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650992" y="23225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value moves with basket vol and correlation (fair 10.6%–12.0% for vol ±3pts): managed with listed index options and correlation trades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532120" y="2916936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50992" y="298094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FX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50992" y="32095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EWT and EWY already trade in USD; 3119 (HKD, pegged), 2644 (JPY) and 00878 (TWD) need FX forwards and a quanto adjustment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532120" y="3803904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50992" y="386791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pair &amp; funding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40965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is long the client's 70% barrier put and short the embedded 70% put: a 30% digital put, hedged with basket put spreads. Principal funded at 5.69%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" y="40690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sensitivity (fair coupon): </a:t>
            </a:r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11.2% · vol ±3pts 10.6%–12.0% · corr ±0.15 10.8%–11.8% · equity drift −1/−2% 12.3%–13.5%. The 10.50% offer stays fundable in every case.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A: pricing assumptions and methodology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to refresh on Bloomberg at trade date (BVOL / OVDV for vols, CORR for correlations)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4754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66928"/>
                <a:gridCol w="475488"/>
                <a:gridCol w="475488"/>
                <a:gridCol w="482803"/>
                <a:gridCol w="482803"/>
                <a:gridCol w="482803"/>
                <a:gridCol w="482803"/>
                <a:gridCol w="482803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3119 HK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2644 JP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EWT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EWY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3119 HK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2644 JP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EWT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EWY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11480" y="29718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GBM for each ETF, 200,000 paths, quarterly steps. Risk-neutral drift = USD funding (linear interpolation of case grid) − dividend yield. Quanto adjustment ignored (assumed hedged by the desk; to be added with FX-equity correlations).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funding grid from the case rules; 5Y discount factor 0.758.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solve.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Bisection on coupon so that PV = 98% (2% hedging cost and margin).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back-test (to run).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Bloomberg history since 2021 for all five ETFs (00878 and 3119 launched in 2020–21). Launch a hypothetical note every month, apply the same coupon, memory and autocall rules, and record coupons, life and IRR by launch year.</a:t>
            </a:r>
            <a:endParaRPr lang="en-US" sz="9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188720"/>
          <a:ext cx="3291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of our note (70% barrier + put)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cpn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barrier 100% (base)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barrier 95%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barrier 90%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autocall at Y2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drift −1%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drift −2%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 +3pts / −3pts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 / 10.6%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40680" y="3383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variants priced at 98% with the same basket and inputs. Code: pricing/scenario2_autocall_mc.py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B: alternatives for the investment committee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basket: full protection, a higher-coupon at-risk snowball, and a pure participation note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188720"/>
          <a:ext cx="3520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2588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 autocallable (ours)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10.50% p.a. memory coupon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 (max 30%)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protected autocallable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~7.9% fair coupon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Snowball, 65% barrier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 p.a., paid at call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Principal-protected note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 of basket gain at Y5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212080" y="2926080"/>
            <a:ext cx="3520440" cy="1143000"/>
          </a:xfrm>
          <a:prstGeom prst="roundRect">
            <a:avLst>
              <a:gd name="adj" fmla="val 56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349240" y="2990088"/>
            <a:ext cx="3291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snowball pays 9% but loses capital in ~14% of paths. Full protection pays only ~8%. The PPN pays nothing unless the basket ends above 100% after 5 years. Our note pays 10.50% and caps the loss at 30%, with money usually back within ~2 years.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200k paths. Vols, dividends and correlations are assumptions to refresh with Bloomberg data as of the 17 Sep 2026 trade date; discounting uses the USD funding grid.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Asian Digital Transformation Autocallable Note</dc:title>
  <dc:subject>PptxGenJS Presentation</dc:subject>
  <dc:creator>PptxGenJS</dc:creator>
  <cp:lastModifiedBy>PptxGenJS</cp:lastModifiedBy>
  <cp:revision>1</cp:revision>
  <dcterms:created xsi:type="dcterms:W3CDTF">2026-10-08T09:25:56Z</dcterms:created>
  <dcterms:modified xsi:type="dcterms:W3CDTF">2026-10-08T09:25:56Z</dcterms:modified>
</cp:coreProperties>
</file>