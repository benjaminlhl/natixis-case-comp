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8.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9.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0.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D2B30"/>
                </a:solidFill>
                <a:latin typeface="Calibri"/>
              </a:defRPr>
            </a:pPr>
            <a:r>
              <a:rPr sz="1100" b="0" i="0" u="none" strike="noStrike">
                <a:solidFill>
                  <a:srgbClr val="1D2B30"/>
                </a:solidFill>
                <a:latin typeface="Calibri"/>
              </a:rPr>
              <a:t>USD funding curve (case grid, %)</a:t>
            </a:r>
          </a:p>
        </c:rich>
      </c:tx>
      <c:layout/>
      <c:overlay val="0"/>
    </c:title>
    <c:autoTitleDeleted val="0"/>
    <c:plotArea>
      <c:layout/>
      <c:lineChart>
        <c:varyColors val="0"/>
        <c:ser>
          <c:idx val="0"/>
          <c:order val="0"/>
          <c:tx>
            <c:strRef>
              <c:f>Sheet1!$B$1</c:f>
              <c:strCache>
                <c:ptCount val="1"/>
                <c:pt idx="0">
                  <c:v>USD funding</c:v>
                </c:pt>
              </c:strCache>
            </c:strRef>
          </c:tx>
          <c:spPr>
            <a:solidFill>
              <a:srgbClr val="0F8B8D"/>
            </a:solidFill>
            <a:ln w="25400" cap="flat">
              <a:solidFill>
                <a:srgbClr val="0F8B8D"/>
              </a:solidFill>
              <a:prstDash val="solid"/>
              <a:round/>
            </a:ln>
            <a:effectLst/>
          </c:spPr>
          <c:invertIfNegative val="0"/>
          <c:dLbls>
            <c:numFmt formatCode="0.00" sourceLinked="0"/>
            <c:txPr>
              <a:bodyPr/>
              <a:lstStyle/>
              <a:p>
                <a:pPr>
                  <a:defRPr b="0" i="0" strike="noStrike" sz="750" u="none">
                    <a:solidFill>
                      <a:srgbClr val="5F7176"/>
                    </a:solidFill>
                    <a:latin typeface="Arial"/>
                  </a:defRPr>
                </a:pPr>
              </a:p>
            </c:txPr>
            <c:dLblPos val="t"/>
            <c:showLegendKey val="0"/>
            <c:showVal val="1"/>
            <c:showCatName val="0"/>
            <c:showSerName val="0"/>
            <c:showPercent val="0"/>
            <c:showBubbleSize val="0"/>
            <c:showLeaderLines val="0"/>
          </c:dLbls>
          <c:marker>
            <c:symbol val="circle"/>
            <c:size val="5"/>
            <c:spPr>
              <a:solidFill>
                <a:srgbClr val="0F8B8D"/>
              </a:solidFill>
              <a:ln w="9525" cap="flat">
                <a:solidFill>
                  <a:srgbClr val="0F8B8D"/>
                </a:solidFill>
                <a:prstDash val="solid"/>
                <a:round/>
              </a:ln>
              <a:effectLst/>
            </c:spPr>
          </c:marker>
          <c:cat>
            <c:multiLvlStrRef>
              <c:f>Sheet1!$A$2:$A$8</c:f>
              <c:multiLvlStrCache>
                <c:ptCount val="7"/>
                <c:lvl>
                  <c:pt idx="0">
                    <c:v>1Y</c:v>
                  </c:pt>
                  <c:pt idx="1">
                    <c:v>2Y</c:v>
                  </c:pt>
                  <c:pt idx="2">
                    <c:v>3Y</c:v>
                  </c:pt>
                  <c:pt idx="3">
                    <c:v>5Y</c:v>
                  </c:pt>
                  <c:pt idx="4">
                    <c:v>7Y</c:v>
                  </c:pt>
                  <c:pt idx="5">
                    <c:v>10Y</c:v>
                  </c:pt>
                  <c:pt idx="6">
                    <c:v>20Y</c:v>
                  </c:pt>
                </c:lvl>
              </c:multiLvlStrCache>
            </c:multiLvlStrRef>
          </c:cat>
          <c:val>
            <c:numRef>
              <c:f>Sheet1!$B$2:$B$8</c:f>
              <c:numCache>
                <c:formatCode>General</c:formatCode>
                <c:ptCount val="7"/>
                <c:pt idx="0">
                  <c:v>4.78</c:v>
                </c:pt>
                <c:pt idx="1">
                  <c:v>5.3</c:v>
                </c:pt>
                <c:pt idx="2">
                  <c:v>5.52</c:v>
                </c:pt>
                <c:pt idx="3">
                  <c:v>5.69</c:v>
                </c:pt>
                <c:pt idx="4">
                  <c:v>5.75</c:v>
                </c:pt>
                <c:pt idx="5">
                  <c:v>5.82</c:v>
                </c:pt>
                <c:pt idx="6">
                  <c:v>6.04</c:v>
                </c:pt>
              </c:numCache>
            </c:numRef>
          </c:val>
          <c:smooth val="0"/>
        </c:ser>
        <c:dLbls>
          <c:numFmt formatCode="0.00" sourceLinked="0"/>
          <c:txPr>
            <a:bodyPr/>
            <a:lstStyle/>
            <a:p>
              <a:pPr>
                <a:defRPr b="0" i="0" strike="noStrike" sz="750" u="none">
                  <a:solidFill>
                    <a:srgbClr val="5F7176"/>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FA6AA"/>
            </a:solidFill>
            <a:prstDash val="solid"/>
            <a:round/>
          </a:ln>
        </c:spPr>
        <c:txPr>
          <a:bodyPr/>
          <a:lstStyle/>
          <a:p>
            <a:pPr>
              <a:defRPr sz="900" b="0" i="0" u="none" strike="noStrike">
                <a:solidFill>
                  <a:srgbClr val="5F7176"/>
                </a:solidFill>
                <a:latin typeface="Calibri"/>
              </a:defRPr>
            </a:pPr>
            <a:endParaRPr lang="en-US"/>
          </a:p>
        </c:txPr>
        <c:crossAx val="2094734552"/>
        <c:crosses val="autoZero"/>
        <c:auto val="1"/>
        <c:lblAlgn val="ctr"/>
        <c:noMultiLvlLbl val="1"/>
      </c:catAx>
      <c:valAx>
        <c:axId val="2094734552"/>
        <c:scaling>
          <c:orientation val="minMax"/>
          <c:max val="6.25"/>
          <c:min val="4.5"/>
        </c:scaling>
        <c:delete val="0"/>
        <c:axPos val="l"/>
        <c:majorGridlines>
          <c:spPr>
            <a:ln w="6350" cap="flat">
              <a:solidFill>
                <a:srgbClr val="DCE7E5"/>
              </a:solidFill>
              <a:prstDash val="solid"/>
              <a:round/>
            </a:ln>
          </c:spPr>
        </c:majorGridlines>
        <c:numFmt formatCode="0.0" sourceLinked="0"/>
        <c:majorTickMark val="out"/>
        <c:minorTickMark val="none"/>
        <c:tickLblPos val="nextTo"/>
        <c:spPr>
          <a:ln w="12700" cap="flat">
            <a:noFill/>
            <a:prstDash val="solid"/>
            <a:round/>
          </a:ln>
        </c:spPr>
        <c:txPr>
          <a:bodyPr/>
          <a:lstStyle/>
          <a:p>
            <a:pPr>
              <a:defRPr sz="900" b="0" i="0" u="none" strike="noStrike">
                <a:solidFill>
                  <a:srgbClr val="5F7176"/>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Weight</c:v>
                </c:pt>
              </c:strCache>
            </c:strRef>
          </c:tx>
          <c:spPr>
            <a:solidFill>
              <a:schemeClr val="accent1"/>
            </a:solidFill>
            <a:ln w="9525" cap="flat">
              <a:solidFill>
                <a:srgbClr val="F9F9F9"/>
              </a:solidFill>
              <a:prstDash val="solid"/>
              <a:round/>
            </a:ln>
            <a:effectLst/>
          </c:spPr>
          <c:dPt>
            <c:idx val="0"/>
            <c:bubble3D val="0"/>
            <c:spPr>
              <a:solidFill>
                <a:srgbClr val="0B3C49"/>
              </a:solidFill>
              <a:effectLst/>
            </c:spPr>
          </c:dPt>
          <c:dPt>
            <c:idx val="1"/>
            <c:bubble3D val="0"/>
            <c:spPr>
              <a:solidFill>
                <a:srgbClr val="0F8B8D"/>
              </a:solidFill>
              <a:effectLst/>
            </c:spPr>
          </c:dPt>
          <c:dPt>
            <c:idx val="2"/>
            <c:bubble3D val="0"/>
            <c:spPr>
              <a:solidFill>
                <a:srgbClr val="D9961A"/>
              </a:solidFill>
              <a:effectLst/>
            </c:spPr>
          </c:dPt>
          <c:dPt>
            <c:idx val="3"/>
            <c:bubble3D val="0"/>
            <c:spPr>
              <a:solidFill>
                <a:srgbClr val="8FA6AA"/>
              </a:solidFill>
              <a:effectLst/>
            </c:spPr>
          </c:dPt>
          <c:dPt>
            <c:idx val="4"/>
            <c:bubble3D val="0"/>
            <c:spPr>
              <a:solidFill>
                <a:srgbClr val="5BA37A"/>
              </a:solidFill>
              <a:effectLst/>
            </c:spPr>
          </c:dPt>
          <c:dLbls>
            <c:dLbl>
              <c:idx val="0"/>
              <c:numFmt formatCode="0&quot;%&quot;" sourceLinked="0"/>
              <c:spPr/>
              <c:txPr>
                <a:bodyPr/>
                <a:lstStyle/>
                <a:p>
                  <a:pPr>
                    <a:defRPr sz="1000" b="1"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000" b="1"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000" b="1" i="0" u="none" strike="noStrike">
                      <a:solidFill>
                        <a:srgbClr val="FFFFFF"/>
                      </a:solidFill>
                      <a:latin typeface="Arial"/>
                    </a:defRPr>
                  </a:pPr>
                </a:p>
              </c:txPr>
              <c:showLegendKey val="0"/>
              <c:showVal val="1"/>
              <c:showCatName val="0"/>
              <c:showSerName val="0"/>
              <c:showPercent val="0"/>
              <c:showBubbleSize val="0"/>
            </c:dLbl>
            <c:dLbl>
              <c:idx val="3"/>
              <c:numFmt formatCode="0&quot;%&quot;" sourceLinked="0"/>
              <c:spPr/>
              <c:txPr>
                <a:bodyPr/>
                <a:lstStyle/>
                <a:p>
                  <a:pPr>
                    <a:defRPr sz="1000" b="1" i="0" u="none" strike="noStrike">
                      <a:solidFill>
                        <a:srgbClr val="FFFFFF"/>
                      </a:solidFill>
                      <a:latin typeface="Arial"/>
                    </a:defRPr>
                  </a:pPr>
                </a:p>
              </c:txPr>
              <c:showLegendKey val="0"/>
              <c:showVal val="1"/>
              <c:showCatName val="0"/>
              <c:showSerName val="0"/>
              <c:showPercent val="0"/>
              <c:showBubbleSize val="0"/>
            </c:dLbl>
            <c:dLbl>
              <c:idx val="4"/>
              <c:numFmt formatCode="0&quot;%&quot;" sourceLinked="0"/>
              <c:spPr/>
              <c:txPr>
                <a:bodyPr/>
                <a:lstStyle/>
                <a:p>
                  <a:pPr>
                    <a:defRPr sz="1000" b="1"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Asia Semiconductor (3119 HK)</c:v>
                </c:pt>
                <c:pt idx="1">
                  <c:v>Japan Semiconductor (2644 JP)</c:v>
                </c:pt>
                <c:pt idx="2">
                  <c:v>iShares MSCI Taiwan (EWT)</c:v>
                </c:pt>
                <c:pt idx="3">
                  <c:v>iShares MSCI South Korea (EWY)</c:v>
                </c:pt>
                <c:pt idx="4">
                  <c:v>Taiwan ESG High Dividend (00878 TT)</c:v>
                </c:pt>
              </c:strCache>
            </c:strRef>
          </c:cat>
          <c:val>
            <c:numRef>
              <c:f>Sheet1!$B$2:$B$6</c:f>
              <c:numCache>
                <c:ptCount val="5"/>
                <c:pt idx="0">
                  <c:v>25</c:v>
                </c:pt>
                <c:pt idx="1">
                  <c:v>25</c:v>
                </c:pt>
                <c:pt idx="2">
                  <c:v>15</c:v>
                </c:pt>
                <c:pt idx="3">
                  <c:v>15</c:v>
                </c:pt>
                <c:pt idx="4">
                  <c:v>20</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D2B30"/>
                </a:solidFill>
                <a:latin typeface="Calibri"/>
              </a:defRPr>
            </a:pPr>
            <a:r>
              <a:rPr sz="950" b="0" i="0" u="none" strike="noStrike">
                <a:solidFill>
                  <a:srgbClr val="1D2B30"/>
                </a:solidFill>
                <a:latin typeface="Calibri"/>
              </a:rPr>
              <a:t>Principal + all coupons (% of notional), by call quarter Q4–Q20</a:t>
            </a:r>
          </a:p>
        </c:rich>
      </c:tx>
      <c:layout/>
      <c:overlay val="0"/>
    </c:title>
    <c:autoTitleDeleted val="0"/>
    <c:plotArea>
      <c:layout/>
      <c:barChart>
        <c:barDir val="col"/>
        <c:grouping val="clustered"/>
        <c:varyColors val="0"/>
        <c:ser>
          <c:idx val="0"/>
          <c:order val="0"/>
          <c:tx>
            <c:strRef>
              <c:f>Sheet1!$B$1</c:f>
              <c:strCache>
                <c:ptCount val="1"/>
                <c:pt idx="0">
                  <c:v>Total cash if called</c:v>
                </c:pt>
              </c:strCache>
            </c:strRef>
          </c:tx>
          <c:spPr>
            <a:solidFill>
              <a:srgbClr val="0F8B8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Sheet1!$A$2:$A$18</c:f>
              <c:multiLvlStrCache>
                <c:ptCount val="17"/>
                <c:lvl>
                  <c:pt idx="0">
                    <c:v>Y1</c:v>
                  </c:pt>
                  <c:pt idx="1">
                    <c:v/>
                  </c:pt>
                  <c:pt idx="2">
                    <c:v/>
                  </c:pt>
                  <c:pt idx="3">
                    <c:v/>
                  </c:pt>
                  <c:pt idx="4">
                    <c:v>Y2</c:v>
                  </c:pt>
                  <c:pt idx="5">
                    <c:v/>
                  </c:pt>
                  <c:pt idx="6">
                    <c:v/>
                  </c:pt>
                  <c:pt idx="7">
                    <c:v/>
                  </c:pt>
                  <c:pt idx="8">
                    <c:v>Y3</c:v>
                  </c:pt>
                  <c:pt idx="9">
                    <c:v/>
                  </c:pt>
                  <c:pt idx="10">
                    <c:v/>
                  </c:pt>
                  <c:pt idx="11">
                    <c:v/>
                  </c:pt>
                  <c:pt idx="12">
                    <c:v>Y4</c:v>
                  </c:pt>
                  <c:pt idx="13">
                    <c:v/>
                  </c:pt>
                  <c:pt idx="14">
                    <c:v/>
                  </c:pt>
                  <c:pt idx="15">
                    <c:v/>
                  </c:pt>
                  <c:pt idx="16">
                    <c:v>Y5</c:v>
                  </c:pt>
                </c:lvl>
              </c:multiLvlStrCache>
            </c:multiLvlStrRef>
          </c:cat>
          <c:val>
            <c:numRef>
              <c:f>Sheet1!$B$2:$B$18</c:f>
              <c:numCache>
                <c:formatCode>General</c:formatCode>
                <c:ptCount val="17"/>
                <c:pt idx="0">
                  <c:v>107.2</c:v>
                </c:pt>
                <c:pt idx="1">
                  <c:v>109</c:v>
                </c:pt>
                <c:pt idx="2">
                  <c:v>110.8</c:v>
                </c:pt>
                <c:pt idx="3">
                  <c:v>112.6</c:v>
                </c:pt>
                <c:pt idx="4">
                  <c:v>114.4</c:v>
                </c:pt>
                <c:pt idx="5">
                  <c:v>116.2</c:v>
                </c:pt>
                <c:pt idx="6">
                  <c:v>118</c:v>
                </c:pt>
                <c:pt idx="7">
                  <c:v>119.8</c:v>
                </c:pt>
                <c:pt idx="8">
                  <c:v>121.6</c:v>
                </c:pt>
                <c:pt idx="9">
                  <c:v>123.4</c:v>
                </c:pt>
                <c:pt idx="10">
                  <c:v>125.2</c:v>
                </c:pt>
                <c:pt idx="11">
                  <c:v>127</c:v>
                </c:pt>
                <c:pt idx="12">
                  <c:v>128.8</c:v>
                </c:pt>
                <c:pt idx="13">
                  <c:v>130.6</c:v>
                </c:pt>
                <c:pt idx="14">
                  <c:v>132.4</c:v>
                </c:pt>
                <c:pt idx="15">
                  <c:v>134.2</c:v>
                </c:pt>
                <c:pt idx="16">
                  <c:v>136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FA6AA"/>
            </a:solidFill>
            <a:prstDash val="solid"/>
            <a:round/>
          </a:ln>
        </c:spPr>
        <c:txPr>
          <a:bodyPr/>
          <a:lstStyle/>
          <a:p>
            <a:pPr>
              <a:defRPr sz="900" b="0" i="0" u="none" strike="noStrike">
                <a:solidFill>
                  <a:srgbClr val="5F7176"/>
                </a:solidFill>
                <a:latin typeface="Calibri"/>
              </a:defRPr>
            </a:pPr>
            <a:endParaRPr lang="en-US"/>
          </a:p>
        </c:txPr>
        <c:crossAx val="2094734552"/>
        <c:crosses val="autoZero"/>
        <c:auto val="1"/>
        <c:lblAlgn val="ctr"/>
        <c:noMultiLvlLbl val="1"/>
      </c:catAx>
      <c:valAx>
        <c:axId val="2094734552"/>
        <c:scaling>
          <c:orientation val="minMax"/>
          <c:max val="140"/>
          <c:min val="90"/>
        </c:scaling>
        <c:delete val="0"/>
        <c:axPos val="l"/>
        <c:majorGridlines>
          <c:spPr>
            <a:ln w="6350" cap="flat">
              <a:solidFill>
                <a:srgbClr val="DCE7E5"/>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900" b="0" i="0" u="none" strike="noStrike">
                <a:solidFill>
                  <a:srgbClr val="5F7176"/>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D2B30"/>
                </a:solidFill>
                <a:latin typeface="Calibri"/>
              </a:defRPr>
            </a:pPr>
            <a:r>
              <a:rPr sz="950" b="0" i="0" u="none" strike="noStrike">
                <a:solidFill>
                  <a:srgbClr val="1D2B30"/>
                </a:solidFill>
                <a:latin typeface="Calibri"/>
              </a:rPr>
              <a:t>Payoff at Y5 (note not called earlier)</a:t>
            </a:r>
          </a:p>
        </c:rich>
      </c:tx>
      <c:layout/>
      <c:overlay val="0"/>
    </c:title>
    <c:autoTitleDeleted val="0"/>
    <c:plotArea>
      <c:layout/>
      <c:scatterChart>
        <c:scatterStyle val="lineMarker"/>
        <c:varyColors val="0"/>
        <c:ser>
          <c:idx val="0"/>
          <c:order val="0"/>
          <c:tx>
            <c:strRef>
              <c:f>Sheet1!$B$1</c:f>
              <c:strCache>
                <c:ptCount val="1"/>
                <c:pt idx="0">
                  <c:v>Autocallable note</c:v>
                </c:pt>
              </c:strCache>
            </c:strRef>
          </c:tx>
          <c:spPr>
            <a:solidFill>
              <a:srgbClr val="0F8B8D"/>
            </a:solidFill>
            <a:ln w="28575" cap="flat">
              <a:solidFill>
                <a:srgbClr val="0F8B8D"/>
              </a:solidFill>
              <a:prstDash val="solid"/>
              <a:round/>
            </a:ln>
            <a:effectLst/>
          </c:spPr>
          <c:marker>
            <c:symbol val="none"/>
            <c:size val="6"/>
            <c:spPr>
              <a:solidFill>
                <a:srgbClr val="0F8B8D"/>
              </a:solidFill>
              <a:ln w="9525" cap="flat">
                <a:solidFill>
                  <a:srgbClr val="0F8B8D"/>
                </a:solidFill>
                <a:prstDash val="solid"/>
                <a:round/>
              </a:ln>
              <a:effectLst/>
            </c:spPr>
          </c:marker>
          <c:xVal>
            <c:numRef>
              <c:f>Sheet1!$A$2:$A$262</c:f>
              <c:numCache>
                <c:formatCode>General</c:formatCode>
                <c:ptCount val="261"/>
                <c:pt idx="0">
                  <c:v>30</c:v>
                </c:pt>
                <c:pt idx="1">
                  <c:v>30.5</c:v>
                </c:pt>
                <c:pt idx="2">
                  <c:v>31</c:v>
                </c:pt>
                <c:pt idx="3">
                  <c:v>31.5</c:v>
                </c:pt>
                <c:pt idx="4">
                  <c:v>32</c:v>
                </c:pt>
                <c:pt idx="5">
                  <c:v>32.5</c:v>
                </c:pt>
                <c:pt idx="6">
                  <c:v>33</c:v>
                </c:pt>
                <c:pt idx="7">
                  <c:v>33.5</c:v>
                </c:pt>
                <c:pt idx="8">
                  <c:v>34</c:v>
                </c:pt>
                <c:pt idx="9">
                  <c:v>34.5</c:v>
                </c:pt>
                <c:pt idx="10">
                  <c:v>35</c:v>
                </c:pt>
                <c:pt idx="11">
                  <c:v>35.5</c:v>
                </c:pt>
                <c:pt idx="12">
                  <c:v>36</c:v>
                </c:pt>
                <c:pt idx="13">
                  <c:v>36.5</c:v>
                </c:pt>
                <c:pt idx="14">
                  <c:v>37</c:v>
                </c:pt>
                <c:pt idx="15">
                  <c:v>37.5</c:v>
                </c:pt>
                <c:pt idx="16">
                  <c:v>38</c:v>
                </c:pt>
                <c:pt idx="17">
                  <c:v>38.5</c:v>
                </c:pt>
                <c:pt idx="18">
                  <c:v>39</c:v>
                </c:pt>
                <c:pt idx="19">
                  <c:v>39.5</c:v>
                </c:pt>
                <c:pt idx="20">
                  <c:v>40</c:v>
                </c:pt>
                <c:pt idx="21">
                  <c:v>40.5</c:v>
                </c:pt>
                <c:pt idx="22">
                  <c:v>41</c:v>
                </c:pt>
                <c:pt idx="23">
                  <c:v>41.5</c:v>
                </c:pt>
                <c:pt idx="24">
                  <c:v>42</c:v>
                </c:pt>
                <c:pt idx="25">
                  <c:v>42.5</c:v>
                </c:pt>
                <c:pt idx="26">
                  <c:v>43</c:v>
                </c:pt>
                <c:pt idx="27">
                  <c:v>43.5</c:v>
                </c:pt>
                <c:pt idx="28">
                  <c:v>44</c:v>
                </c:pt>
                <c:pt idx="29">
                  <c:v>44.5</c:v>
                </c:pt>
                <c:pt idx="30">
                  <c:v>45</c:v>
                </c:pt>
                <c:pt idx="31">
                  <c:v>45.5</c:v>
                </c:pt>
                <c:pt idx="32">
                  <c:v>46</c:v>
                </c:pt>
                <c:pt idx="33">
                  <c:v>46.5</c:v>
                </c:pt>
                <c:pt idx="34">
                  <c:v>47</c:v>
                </c:pt>
                <c:pt idx="35">
                  <c:v>47.5</c:v>
                </c:pt>
                <c:pt idx="36">
                  <c:v>48</c:v>
                </c:pt>
                <c:pt idx="37">
                  <c:v>48.5</c:v>
                </c:pt>
                <c:pt idx="38">
                  <c:v>49</c:v>
                </c:pt>
                <c:pt idx="39">
                  <c:v>49.5</c:v>
                </c:pt>
                <c:pt idx="40">
                  <c:v>50</c:v>
                </c:pt>
                <c:pt idx="41">
                  <c:v>50.5</c:v>
                </c:pt>
                <c:pt idx="42">
                  <c:v>51</c:v>
                </c:pt>
                <c:pt idx="43">
                  <c:v>51.5</c:v>
                </c:pt>
                <c:pt idx="44">
                  <c:v>52</c:v>
                </c:pt>
                <c:pt idx="45">
                  <c:v>52.5</c:v>
                </c:pt>
                <c:pt idx="46">
                  <c:v>53</c:v>
                </c:pt>
                <c:pt idx="47">
                  <c:v>53.5</c:v>
                </c:pt>
                <c:pt idx="48">
                  <c:v>54</c:v>
                </c:pt>
                <c:pt idx="49">
                  <c:v>54.5</c:v>
                </c:pt>
                <c:pt idx="50">
                  <c:v>55</c:v>
                </c:pt>
                <c:pt idx="51">
                  <c:v>55.5</c:v>
                </c:pt>
                <c:pt idx="52">
                  <c:v>56</c:v>
                </c:pt>
                <c:pt idx="53">
                  <c:v>56.5</c:v>
                </c:pt>
                <c:pt idx="54">
                  <c:v>57</c:v>
                </c:pt>
                <c:pt idx="55">
                  <c:v>57.5</c:v>
                </c:pt>
                <c:pt idx="56">
                  <c:v>58</c:v>
                </c:pt>
                <c:pt idx="57">
                  <c:v>58.5</c:v>
                </c:pt>
                <c:pt idx="58">
                  <c:v>59</c:v>
                </c:pt>
                <c:pt idx="59">
                  <c:v>59.5</c:v>
                </c:pt>
                <c:pt idx="60">
                  <c:v>60</c:v>
                </c:pt>
                <c:pt idx="61">
                  <c:v>60.5</c:v>
                </c:pt>
                <c:pt idx="62">
                  <c:v>61</c:v>
                </c:pt>
                <c:pt idx="63">
                  <c:v>61.5</c:v>
                </c:pt>
                <c:pt idx="64">
                  <c:v>62</c:v>
                </c:pt>
                <c:pt idx="65">
                  <c:v>62.5</c:v>
                </c:pt>
                <c:pt idx="66">
                  <c:v>63</c:v>
                </c:pt>
                <c:pt idx="67">
                  <c:v>63.5</c:v>
                </c:pt>
                <c:pt idx="68">
                  <c:v>64</c:v>
                </c:pt>
                <c:pt idx="69">
                  <c:v>64.5</c:v>
                </c:pt>
                <c:pt idx="70">
                  <c:v>65</c:v>
                </c:pt>
                <c:pt idx="71">
                  <c:v>65.5</c:v>
                </c:pt>
                <c:pt idx="72">
                  <c:v>66</c:v>
                </c:pt>
                <c:pt idx="73">
                  <c:v>66.5</c:v>
                </c:pt>
                <c:pt idx="74">
                  <c:v>67</c:v>
                </c:pt>
                <c:pt idx="75">
                  <c:v>67.5</c:v>
                </c:pt>
                <c:pt idx="76">
                  <c:v>68</c:v>
                </c:pt>
                <c:pt idx="77">
                  <c:v>68.5</c:v>
                </c:pt>
                <c:pt idx="78">
                  <c:v>69</c:v>
                </c:pt>
                <c:pt idx="79">
                  <c:v>69.5</c:v>
                </c:pt>
                <c:pt idx="80">
                  <c:v>70</c:v>
                </c:pt>
                <c:pt idx="81">
                  <c:v>70.5</c:v>
                </c:pt>
                <c:pt idx="82">
                  <c:v>71</c:v>
                </c:pt>
                <c:pt idx="83">
                  <c:v>71.5</c:v>
                </c:pt>
                <c:pt idx="84">
                  <c:v>72</c:v>
                </c:pt>
                <c:pt idx="85">
                  <c:v>72.5</c:v>
                </c:pt>
                <c:pt idx="86">
                  <c:v>73</c:v>
                </c:pt>
                <c:pt idx="87">
                  <c:v>73.5</c:v>
                </c:pt>
                <c:pt idx="88">
                  <c:v>74</c:v>
                </c:pt>
                <c:pt idx="89">
                  <c:v>74.5</c:v>
                </c:pt>
                <c:pt idx="90">
                  <c:v>75</c:v>
                </c:pt>
                <c:pt idx="91">
                  <c:v>75.5</c:v>
                </c:pt>
                <c:pt idx="92">
                  <c:v>76</c:v>
                </c:pt>
                <c:pt idx="93">
                  <c:v>76.5</c:v>
                </c:pt>
                <c:pt idx="94">
                  <c:v>77</c:v>
                </c:pt>
                <c:pt idx="95">
                  <c:v>77.5</c:v>
                </c:pt>
                <c:pt idx="96">
                  <c:v>78</c:v>
                </c:pt>
                <c:pt idx="97">
                  <c:v>78.5</c:v>
                </c:pt>
                <c:pt idx="98">
                  <c:v>79</c:v>
                </c:pt>
                <c:pt idx="99">
                  <c:v>79.5</c:v>
                </c:pt>
                <c:pt idx="100">
                  <c:v>80</c:v>
                </c:pt>
                <c:pt idx="101">
                  <c:v>80.5</c:v>
                </c:pt>
                <c:pt idx="102">
                  <c:v>81</c:v>
                </c:pt>
                <c:pt idx="103">
                  <c:v>81.5</c:v>
                </c:pt>
                <c:pt idx="104">
                  <c:v>82</c:v>
                </c:pt>
                <c:pt idx="105">
                  <c:v>82.5</c:v>
                </c:pt>
                <c:pt idx="106">
                  <c:v>83</c:v>
                </c:pt>
                <c:pt idx="107">
                  <c:v>83.5</c:v>
                </c:pt>
                <c:pt idx="108">
                  <c:v>84</c:v>
                </c:pt>
                <c:pt idx="109">
                  <c:v>84.5</c:v>
                </c:pt>
                <c:pt idx="110">
                  <c:v>85</c:v>
                </c:pt>
                <c:pt idx="111">
                  <c:v>85.5</c:v>
                </c:pt>
                <c:pt idx="112">
                  <c:v>86</c:v>
                </c:pt>
                <c:pt idx="113">
                  <c:v>86.5</c:v>
                </c:pt>
                <c:pt idx="114">
                  <c:v>87</c:v>
                </c:pt>
                <c:pt idx="115">
                  <c:v>87.5</c:v>
                </c:pt>
                <c:pt idx="116">
                  <c:v>88</c:v>
                </c:pt>
                <c:pt idx="117">
                  <c:v>88.5</c:v>
                </c:pt>
                <c:pt idx="118">
                  <c:v>89</c:v>
                </c:pt>
                <c:pt idx="119">
                  <c:v>89.5</c:v>
                </c:pt>
                <c:pt idx="120">
                  <c:v>90</c:v>
                </c:pt>
                <c:pt idx="121">
                  <c:v>90.5</c:v>
                </c:pt>
                <c:pt idx="122">
                  <c:v>91</c:v>
                </c:pt>
                <c:pt idx="123">
                  <c:v>91.5</c:v>
                </c:pt>
                <c:pt idx="124">
                  <c:v>92</c:v>
                </c:pt>
                <c:pt idx="125">
                  <c:v>92.5</c:v>
                </c:pt>
                <c:pt idx="126">
                  <c:v>93</c:v>
                </c:pt>
                <c:pt idx="127">
                  <c:v>93.5</c:v>
                </c:pt>
                <c:pt idx="128">
                  <c:v>94</c:v>
                </c:pt>
                <c:pt idx="129">
                  <c:v>94.5</c:v>
                </c:pt>
                <c:pt idx="130">
                  <c:v>95</c:v>
                </c:pt>
                <c:pt idx="131">
                  <c:v>95.5</c:v>
                </c:pt>
                <c:pt idx="132">
                  <c:v>96</c:v>
                </c:pt>
                <c:pt idx="133">
                  <c:v>96.5</c:v>
                </c:pt>
                <c:pt idx="134">
                  <c:v>97</c:v>
                </c:pt>
                <c:pt idx="135">
                  <c:v>97.5</c:v>
                </c:pt>
                <c:pt idx="136">
                  <c:v>98</c:v>
                </c:pt>
                <c:pt idx="137">
                  <c:v>98.5</c:v>
                </c:pt>
                <c:pt idx="138">
                  <c:v>99</c:v>
                </c:pt>
                <c:pt idx="139">
                  <c:v>99.5</c:v>
                </c:pt>
                <c:pt idx="140">
                  <c:v>100</c:v>
                </c:pt>
                <c:pt idx="141">
                  <c:v>100.5</c:v>
                </c:pt>
                <c:pt idx="142">
                  <c:v>101</c:v>
                </c:pt>
                <c:pt idx="143">
                  <c:v>101.5</c:v>
                </c:pt>
                <c:pt idx="144">
                  <c:v>102</c:v>
                </c:pt>
                <c:pt idx="145">
                  <c:v>102.5</c:v>
                </c:pt>
                <c:pt idx="146">
                  <c:v>103</c:v>
                </c:pt>
                <c:pt idx="147">
                  <c:v>103.5</c:v>
                </c:pt>
                <c:pt idx="148">
                  <c:v>104</c:v>
                </c:pt>
                <c:pt idx="149">
                  <c:v>104.5</c:v>
                </c:pt>
                <c:pt idx="150">
                  <c:v>105</c:v>
                </c:pt>
                <c:pt idx="151">
                  <c:v>105.5</c:v>
                </c:pt>
                <c:pt idx="152">
                  <c:v>106</c:v>
                </c:pt>
                <c:pt idx="153">
                  <c:v>106.5</c:v>
                </c:pt>
                <c:pt idx="154">
                  <c:v>107</c:v>
                </c:pt>
                <c:pt idx="155">
                  <c:v>107.5</c:v>
                </c:pt>
                <c:pt idx="156">
                  <c:v>108</c:v>
                </c:pt>
                <c:pt idx="157">
                  <c:v>108.5</c:v>
                </c:pt>
                <c:pt idx="158">
                  <c:v>109</c:v>
                </c:pt>
                <c:pt idx="159">
                  <c:v>109.5</c:v>
                </c:pt>
                <c:pt idx="160">
                  <c:v>110</c:v>
                </c:pt>
                <c:pt idx="161">
                  <c:v>110.5</c:v>
                </c:pt>
                <c:pt idx="162">
                  <c:v>111</c:v>
                </c:pt>
                <c:pt idx="163">
                  <c:v>111.5</c:v>
                </c:pt>
                <c:pt idx="164">
                  <c:v>112</c:v>
                </c:pt>
                <c:pt idx="165">
                  <c:v>112.5</c:v>
                </c:pt>
                <c:pt idx="166">
                  <c:v>113</c:v>
                </c:pt>
                <c:pt idx="167">
                  <c:v>113.5</c:v>
                </c:pt>
                <c:pt idx="168">
                  <c:v>114</c:v>
                </c:pt>
                <c:pt idx="169">
                  <c:v>114.5</c:v>
                </c:pt>
                <c:pt idx="170">
                  <c:v>115</c:v>
                </c:pt>
                <c:pt idx="171">
                  <c:v>115.5</c:v>
                </c:pt>
                <c:pt idx="172">
                  <c:v>116</c:v>
                </c:pt>
                <c:pt idx="173">
                  <c:v>116.5</c:v>
                </c:pt>
                <c:pt idx="174">
                  <c:v>117</c:v>
                </c:pt>
                <c:pt idx="175">
                  <c:v>117.5</c:v>
                </c:pt>
                <c:pt idx="176">
                  <c:v>118</c:v>
                </c:pt>
                <c:pt idx="177">
                  <c:v>118.5</c:v>
                </c:pt>
                <c:pt idx="178">
                  <c:v>119</c:v>
                </c:pt>
                <c:pt idx="179">
                  <c:v>119.5</c:v>
                </c:pt>
                <c:pt idx="180">
                  <c:v>120</c:v>
                </c:pt>
                <c:pt idx="181">
                  <c:v>120.5</c:v>
                </c:pt>
                <c:pt idx="182">
                  <c:v>121</c:v>
                </c:pt>
                <c:pt idx="183">
                  <c:v>121.5</c:v>
                </c:pt>
                <c:pt idx="184">
                  <c:v>122</c:v>
                </c:pt>
                <c:pt idx="185">
                  <c:v>122.5</c:v>
                </c:pt>
                <c:pt idx="186">
                  <c:v>123</c:v>
                </c:pt>
                <c:pt idx="187">
                  <c:v>123.5</c:v>
                </c:pt>
                <c:pt idx="188">
                  <c:v>124</c:v>
                </c:pt>
                <c:pt idx="189">
                  <c:v>124.5</c:v>
                </c:pt>
                <c:pt idx="190">
                  <c:v>125</c:v>
                </c:pt>
                <c:pt idx="191">
                  <c:v>125.5</c:v>
                </c:pt>
                <c:pt idx="192">
                  <c:v>126</c:v>
                </c:pt>
                <c:pt idx="193">
                  <c:v>126.5</c:v>
                </c:pt>
                <c:pt idx="194">
                  <c:v>127</c:v>
                </c:pt>
                <c:pt idx="195">
                  <c:v>127.5</c:v>
                </c:pt>
                <c:pt idx="196">
                  <c:v>128</c:v>
                </c:pt>
                <c:pt idx="197">
                  <c:v>128.5</c:v>
                </c:pt>
                <c:pt idx="198">
                  <c:v>129</c:v>
                </c:pt>
                <c:pt idx="199">
                  <c:v>129.5</c:v>
                </c:pt>
                <c:pt idx="200">
                  <c:v>130</c:v>
                </c:pt>
                <c:pt idx="201">
                  <c:v>130.5</c:v>
                </c:pt>
                <c:pt idx="202">
                  <c:v>131</c:v>
                </c:pt>
                <c:pt idx="203">
                  <c:v>131.5</c:v>
                </c:pt>
                <c:pt idx="204">
                  <c:v>132</c:v>
                </c:pt>
                <c:pt idx="205">
                  <c:v>132.5</c:v>
                </c:pt>
                <c:pt idx="206">
                  <c:v>133</c:v>
                </c:pt>
                <c:pt idx="207">
                  <c:v>133.5</c:v>
                </c:pt>
                <c:pt idx="208">
                  <c:v>134</c:v>
                </c:pt>
                <c:pt idx="209">
                  <c:v>134.5</c:v>
                </c:pt>
                <c:pt idx="210">
                  <c:v>135</c:v>
                </c:pt>
                <c:pt idx="211">
                  <c:v>135.5</c:v>
                </c:pt>
                <c:pt idx="212">
                  <c:v>136</c:v>
                </c:pt>
                <c:pt idx="213">
                  <c:v>136.5</c:v>
                </c:pt>
                <c:pt idx="214">
                  <c:v>137</c:v>
                </c:pt>
                <c:pt idx="215">
                  <c:v>137.5</c:v>
                </c:pt>
                <c:pt idx="216">
                  <c:v>138</c:v>
                </c:pt>
                <c:pt idx="217">
                  <c:v>138.5</c:v>
                </c:pt>
                <c:pt idx="218">
                  <c:v>139</c:v>
                </c:pt>
                <c:pt idx="219">
                  <c:v>139.5</c:v>
                </c:pt>
                <c:pt idx="220">
                  <c:v>140</c:v>
                </c:pt>
                <c:pt idx="221">
                  <c:v>140.5</c:v>
                </c:pt>
                <c:pt idx="222">
                  <c:v>141</c:v>
                </c:pt>
                <c:pt idx="223">
                  <c:v>141.5</c:v>
                </c:pt>
                <c:pt idx="224">
                  <c:v>142</c:v>
                </c:pt>
                <c:pt idx="225">
                  <c:v>142.5</c:v>
                </c:pt>
                <c:pt idx="226">
                  <c:v>143</c:v>
                </c:pt>
                <c:pt idx="227">
                  <c:v>143.5</c:v>
                </c:pt>
                <c:pt idx="228">
                  <c:v>144</c:v>
                </c:pt>
                <c:pt idx="229">
                  <c:v>144.5</c:v>
                </c:pt>
                <c:pt idx="230">
                  <c:v>145</c:v>
                </c:pt>
                <c:pt idx="231">
                  <c:v>145.5</c:v>
                </c:pt>
                <c:pt idx="232">
                  <c:v>146</c:v>
                </c:pt>
                <c:pt idx="233">
                  <c:v>146.5</c:v>
                </c:pt>
                <c:pt idx="234">
                  <c:v>147</c:v>
                </c:pt>
                <c:pt idx="235">
                  <c:v>147.5</c:v>
                </c:pt>
                <c:pt idx="236">
                  <c:v>148</c:v>
                </c:pt>
                <c:pt idx="237">
                  <c:v>148.5</c:v>
                </c:pt>
                <c:pt idx="238">
                  <c:v>149</c:v>
                </c:pt>
                <c:pt idx="239">
                  <c:v>149.5</c:v>
                </c:pt>
                <c:pt idx="240">
                  <c:v>150</c:v>
                </c:pt>
                <c:pt idx="241">
                  <c:v>150.5</c:v>
                </c:pt>
                <c:pt idx="242">
                  <c:v>151</c:v>
                </c:pt>
                <c:pt idx="243">
                  <c:v>151.5</c:v>
                </c:pt>
                <c:pt idx="244">
                  <c:v>152</c:v>
                </c:pt>
                <c:pt idx="245">
                  <c:v>152.5</c:v>
                </c:pt>
                <c:pt idx="246">
                  <c:v>153</c:v>
                </c:pt>
                <c:pt idx="247">
                  <c:v>153.5</c:v>
                </c:pt>
                <c:pt idx="248">
                  <c:v>154</c:v>
                </c:pt>
                <c:pt idx="249">
                  <c:v>154.5</c:v>
                </c:pt>
                <c:pt idx="250">
                  <c:v>155</c:v>
                </c:pt>
                <c:pt idx="251">
                  <c:v>155.5</c:v>
                </c:pt>
                <c:pt idx="252">
                  <c:v>156</c:v>
                </c:pt>
                <c:pt idx="253">
                  <c:v>156.5</c:v>
                </c:pt>
                <c:pt idx="254">
                  <c:v>157</c:v>
                </c:pt>
                <c:pt idx="255">
                  <c:v>157.5</c:v>
                </c:pt>
                <c:pt idx="256">
                  <c:v>158</c:v>
                </c:pt>
                <c:pt idx="257">
                  <c:v>158.5</c:v>
                </c:pt>
                <c:pt idx="258">
                  <c:v>159</c:v>
                </c:pt>
                <c:pt idx="259">
                  <c:v>159.5</c:v>
                </c:pt>
                <c:pt idx="260">
                  <c:v>160</c:v>
                </c:pt>
              </c:numCache>
            </c:numRef>
          </c:xVal>
          <c:yVal>
            <c:numRef>
              <c:f>Sheet1!$B$2:$B$262</c:f>
              <c:numCache>
                <c:formatCode>General</c:formatCode>
                <c:ptCount val="261"/>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pt idx="26">
                  <c:v>100</c:v>
                </c:pt>
                <c:pt idx="27">
                  <c:v>100</c:v>
                </c:pt>
                <c:pt idx="28">
                  <c:v>100</c:v>
                </c:pt>
                <c:pt idx="29">
                  <c:v>100</c:v>
                </c:pt>
                <c:pt idx="30">
                  <c:v>100</c:v>
                </c:pt>
                <c:pt idx="31">
                  <c:v>100</c:v>
                </c:pt>
                <c:pt idx="32">
                  <c:v>100</c:v>
                </c:pt>
                <c:pt idx="33">
                  <c:v>100</c:v>
                </c:pt>
                <c:pt idx="34">
                  <c:v>100</c:v>
                </c:pt>
                <c:pt idx="35">
                  <c:v>100</c:v>
                </c:pt>
                <c:pt idx="36">
                  <c:v>100</c:v>
                </c:pt>
                <c:pt idx="37">
                  <c:v>100</c:v>
                </c:pt>
                <c:pt idx="38">
                  <c:v>100</c:v>
                </c:pt>
                <c:pt idx="39">
                  <c:v>100</c:v>
                </c:pt>
                <c:pt idx="40">
                  <c:v>100</c:v>
                </c:pt>
                <c:pt idx="41">
                  <c:v>100</c:v>
                </c:pt>
                <c:pt idx="42">
                  <c:v>100</c:v>
                </c:pt>
                <c:pt idx="43">
                  <c:v>100</c:v>
                </c:pt>
                <c:pt idx="44">
                  <c:v>100</c:v>
                </c:pt>
                <c:pt idx="45">
                  <c:v>100</c:v>
                </c:pt>
                <c:pt idx="46">
                  <c:v>100</c:v>
                </c:pt>
                <c:pt idx="47">
                  <c:v>100</c:v>
                </c:pt>
                <c:pt idx="48">
                  <c:v>100</c:v>
                </c:pt>
                <c:pt idx="49">
                  <c:v>100</c:v>
                </c:pt>
                <c:pt idx="50">
                  <c:v>100</c:v>
                </c:pt>
                <c:pt idx="51">
                  <c:v>100</c:v>
                </c:pt>
                <c:pt idx="52">
                  <c:v>100</c:v>
                </c:pt>
                <c:pt idx="53">
                  <c:v>100</c:v>
                </c:pt>
                <c:pt idx="54">
                  <c:v>100</c:v>
                </c:pt>
                <c:pt idx="55">
                  <c:v>100</c:v>
                </c:pt>
                <c:pt idx="56">
                  <c:v>100</c:v>
                </c:pt>
                <c:pt idx="57">
                  <c:v>100</c:v>
                </c:pt>
                <c:pt idx="58">
                  <c:v>100</c:v>
                </c:pt>
                <c:pt idx="59">
                  <c:v>100</c:v>
                </c:pt>
                <c:pt idx="60">
                  <c:v>100</c:v>
                </c:pt>
                <c:pt idx="61">
                  <c:v>100</c:v>
                </c:pt>
                <c:pt idx="62">
                  <c:v>100</c:v>
                </c:pt>
                <c:pt idx="63">
                  <c:v>100</c:v>
                </c:pt>
                <c:pt idx="64">
                  <c:v>100</c:v>
                </c:pt>
                <c:pt idx="65">
                  <c:v>100</c:v>
                </c:pt>
                <c:pt idx="66">
                  <c:v>100</c:v>
                </c:pt>
                <c:pt idx="67">
                  <c:v>100</c:v>
                </c:pt>
                <c:pt idx="68">
                  <c:v>100</c:v>
                </c:pt>
                <c:pt idx="69">
                  <c:v>100</c:v>
                </c:pt>
                <c:pt idx="70">
                  <c:v>100</c:v>
                </c:pt>
                <c:pt idx="71">
                  <c:v>100</c:v>
                </c:pt>
                <c:pt idx="72">
                  <c:v>100</c:v>
                </c:pt>
                <c:pt idx="73">
                  <c:v>100</c:v>
                </c:pt>
                <c:pt idx="74">
                  <c:v>100</c:v>
                </c:pt>
                <c:pt idx="75">
                  <c:v>100</c:v>
                </c:pt>
                <c:pt idx="76">
                  <c:v>100</c:v>
                </c:pt>
                <c:pt idx="77">
                  <c:v>100</c:v>
                </c:pt>
                <c:pt idx="78">
                  <c:v>100</c:v>
                </c:pt>
                <c:pt idx="79">
                  <c:v>100</c:v>
                </c:pt>
                <c:pt idx="80">
                  <c:v>100</c:v>
                </c:pt>
                <c:pt idx="81">
                  <c:v>100</c:v>
                </c:pt>
                <c:pt idx="82">
                  <c:v>100</c:v>
                </c:pt>
                <c:pt idx="83">
                  <c:v>100</c:v>
                </c:pt>
                <c:pt idx="84">
                  <c:v>100</c:v>
                </c:pt>
                <c:pt idx="85">
                  <c:v>100</c:v>
                </c:pt>
                <c:pt idx="86">
                  <c:v>100</c:v>
                </c:pt>
                <c:pt idx="87">
                  <c:v>100</c:v>
                </c:pt>
                <c:pt idx="88">
                  <c:v>100</c:v>
                </c:pt>
                <c:pt idx="89">
                  <c:v>100</c:v>
                </c:pt>
                <c:pt idx="90">
                  <c:v>100</c:v>
                </c:pt>
                <c:pt idx="91">
                  <c:v>100</c:v>
                </c:pt>
                <c:pt idx="92">
                  <c:v>100</c:v>
                </c:pt>
                <c:pt idx="93">
                  <c:v>100</c:v>
                </c:pt>
                <c:pt idx="94">
                  <c:v>100</c:v>
                </c:pt>
                <c:pt idx="95">
                  <c:v>100</c:v>
                </c:pt>
                <c:pt idx="96">
                  <c:v>100</c:v>
                </c:pt>
                <c:pt idx="97">
                  <c:v>100</c:v>
                </c:pt>
                <c:pt idx="98">
                  <c:v>100</c:v>
                </c:pt>
                <c:pt idx="99">
                  <c:v>100</c:v>
                </c:pt>
                <c:pt idx="100">
                  <c:v>100</c:v>
                </c:pt>
                <c:pt idx="101">
                  <c:v>100</c:v>
                </c:pt>
                <c:pt idx="102">
                  <c:v>100</c:v>
                </c:pt>
                <c:pt idx="103">
                  <c:v>100</c:v>
                </c:pt>
                <c:pt idx="104">
                  <c:v>100</c:v>
                </c:pt>
                <c:pt idx="105">
                  <c:v>100</c:v>
                </c:pt>
                <c:pt idx="106">
                  <c:v>100</c:v>
                </c:pt>
                <c:pt idx="107">
                  <c:v>100</c:v>
                </c:pt>
                <c:pt idx="108">
                  <c:v>100</c:v>
                </c:pt>
                <c:pt idx="109">
                  <c:v>100</c:v>
                </c:pt>
                <c:pt idx="110">
                  <c:v>100</c:v>
                </c:pt>
                <c:pt idx="111">
                  <c:v>100</c:v>
                </c:pt>
                <c:pt idx="112">
                  <c:v>100</c:v>
                </c:pt>
                <c:pt idx="113">
                  <c:v>100</c:v>
                </c:pt>
                <c:pt idx="114">
                  <c:v>100</c:v>
                </c:pt>
                <c:pt idx="115">
                  <c:v>100</c:v>
                </c:pt>
                <c:pt idx="116">
                  <c:v>100</c:v>
                </c:pt>
                <c:pt idx="117">
                  <c:v>100</c:v>
                </c:pt>
                <c:pt idx="118">
                  <c:v>100</c:v>
                </c:pt>
                <c:pt idx="119">
                  <c:v>100</c:v>
                </c:pt>
                <c:pt idx="120">
                  <c:v>100</c:v>
                </c:pt>
                <c:pt idx="121">
                  <c:v>100</c:v>
                </c:pt>
                <c:pt idx="122">
                  <c:v>100</c:v>
                </c:pt>
                <c:pt idx="123">
                  <c:v>100</c:v>
                </c:pt>
                <c:pt idx="124">
                  <c:v>100</c:v>
                </c:pt>
                <c:pt idx="125">
                  <c:v>100</c:v>
                </c:pt>
                <c:pt idx="126">
                  <c:v>100</c:v>
                </c:pt>
                <c:pt idx="127">
                  <c:v>100</c:v>
                </c:pt>
                <c:pt idx="128">
                  <c:v>100</c:v>
                </c:pt>
                <c:pt idx="129">
                  <c:v>100</c:v>
                </c:pt>
                <c:pt idx="130">
                  <c:v>100</c:v>
                </c:pt>
                <c:pt idx="131">
                  <c:v>100</c:v>
                </c:pt>
                <c:pt idx="132">
                  <c:v>100</c:v>
                </c:pt>
                <c:pt idx="133">
                  <c:v>100</c:v>
                </c:pt>
                <c:pt idx="134">
                  <c:v>100</c:v>
                </c:pt>
                <c:pt idx="135">
                  <c:v>100</c:v>
                </c:pt>
                <c:pt idx="136">
                  <c:v>100</c:v>
                </c:pt>
                <c:pt idx="137">
                  <c:v>100</c:v>
                </c:pt>
                <c:pt idx="138">
                  <c:v>100</c:v>
                </c:pt>
                <c:pt idx="139">
                  <c:v>100</c:v>
                </c:pt>
                <c:pt idx="140">
                  <c:v>136</c:v>
                </c:pt>
                <c:pt idx="141">
                  <c:v>136</c:v>
                </c:pt>
                <c:pt idx="142">
                  <c:v>136</c:v>
                </c:pt>
                <c:pt idx="143">
                  <c:v>136</c:v>
                </c:pt>
                <c:pt idx="144">
                  <c:v>136</c:v>
                </c:pt>
                <c:pt idx="145">
                  <c:v>136</c:v>
                </c:pt>
                <c:pt idx="146">
                  <c:v>136</c:v>
                </c:pt>
                <c:pt idx="147">
                  <c:v>136</c:v>
                </c:pt>
                <c:pt idx="148">
                  <c:v>136</c:v>
                </c:pt>
                <c:pt idx="149">
                  <c:v>136</c:v>
                </c:pt>
                <c:pt idx="150">
                  <c:v>136</c:v>
                </c:pt>
                <c:pt idx="151">
                  <c:v>136</c:v>
                </c:pt>
                <c:pt idx="152">
                  <c:v>136</c:v>
                </c:pt>
                <c:pt idx="153">
                  <c:v>136</c:v>
                </c:pt>
                <c:pt idx="154">
                  <c:v>136</c:v>
                </c:pt>
                <c:pt idx="155">
                  <c:v>136</c:v>
                </c:pt>
                <c:pt idx="156">
                  <c:v>136</c:v>
                </c:pt>
                <c:pt idx="157">
                  <c:v>136</c:v>
                </c:pt>
                <c:pt idx="158">
                  <c:v>136</c:v>
                </c:pt>
                <c:pt idx="159">
                  <c:v>136</c:v>
                </c:pt>
                <c:pt idx="160">
                  <c:v>136</c:v>
                </c:pt>
                <c:pt idx="161">
                  <c:v>136</c:v>
                </c:pt>
                <c:pt idx="162">
                  <c:v>136</c:v>
                </c:pt>
                <c:pt idx="163">
                  <c:v>136</c:v>
                </c:pt>
                <c:pt idx="164">
                  <c:v>136</c:v>
                </c:pt>
                <c:pt idx="165">
                  <c:v>136</c:v>
                </c:pt>
                <c:pt idx="166">
                  <c:v>136</c:v>
                </c:pt>
                <c:pt idx="167">
                  <c:v>136</c:v>
                </c:pt>
                <c:pt idx="168">
                  <c:v>136</c:v>
                </c:pt>
                <c:pt idx="169">
                  <c:v>136</c:v>
                </c:pt>
                <c:pt idx="170">
                  <c:v>136</c:v>
                </c:pt>
                <c:pt idx="171">
                  <c:v>136</c:v>
                </c:pt>
                <c:pt idx="172">
                  <c:v>136</c:v>
                </c:pt>
                <c:pt idx="173">
                  <c:v>136</c:v>
                </c:pt>
                <c:pt idx="174">
                  <c:v>136</c:v>
                </c:pt>
                <c:pt idx="175">
                  <c:v>136</c:v>
                </c:pt>
                <c:pt idx="176">
                  <c:v>136</c:v>
                </c:pt>
                <c:pt idx="177">
                  <c:v>136</c:v>
                </c:pt>
                <c:pt idx="178">
                  <c:v>136</c:v>
                </c:pt>
                <c:pt idx="179">
                  <c:v>136</c:v>
                </c:pt>
                <c:pt idx="180">
                  <c:v>136</c:v>
                </c:pt>
                <c:pt idx="181">
                  <c:v>136</c:v>
                </c:pt>
                <c:pt idx="182">
                  <c:v>136</c:v>
                </c:pt>
                <c:pt idx="183">
                  <c:v>136</c:v>
                </c:pt>
                <c:pt idx="184">
                  <c:v>136</c:v>
                </c:pt>
                <c:pt idx="185">
                  <c:v>136</c:v>
                </c:pt>
                <c:pt idx="186">
                  <c:v>136</c:v>
                </c:pt>
                <c:pt idx="187">
                  <c:v>136</c:v>
                </c:pt>
                <c:pt idx="188">
                  <c:v>136</c:v>
                </c:pt>
                <c:pt idx="189">
                  <c:v>136</c:v>
                </c:pt>
                <c:pt idx="190">
                  <c:v>136</c:v>
                </c:pt>
                <c:pt idx="191">
                  <c:v>136</c:v>
                </c:pt>
                <c:pt idx="192">
                  <c:v>136</c:v>
                </c:pt>
                <c:pt idx="193">
                  <c:v>136</c:v>
                </c:pt>
                <c:pt idx="194">
                  <c:v>136</c:v>
                </c:pt>
                <c:pt idx="195">
                  <c:v>136</c:v>
                </c:pt>
                <c:pt idx="196">
                  <c:v>136</c:v>
                </c:pt>
                <c:pt idx="197">
                  <c:v>136</c:v>
                </c:pt>
                <c:pt idx="198">
                  <c:v>136</c:v>
                </c:pt>
                <c:pt idx="199">
                  <c:v>136</c:v>
                </c:pt>
                <c:pt idx="200">
                  <c:v>136</c:v>
                </c:pt>
                <c:pt idx="201">
                  <c:v>136</c:v>
                </c:pt>
                <c:pt idx="202">
                  <c:v>136</c:v>
                </c:pt>
                <c:pt idx="203">
                  <c:v>136</c:v>
                </c:pt>
                <c:pt idx="204">
                  <c:v>136</c:v>
                </c:pt>
                <c:pt idx="205">
                  <c:v>136</c:v>
                </c:pt>
                <c:pt idx="206">
                  <c:v>136</c:v>
                </c:pt>
                <c:pt idx="207">
                  <c:v>136</c:v>
                </c:pt>
                <c:pt idx="208">
                  <c:v>136</c:v>
                </c:pt>
                <c:pt idx="209">
                  <c:v>136</c:v>
                </c:pt>
                <c:pt idx="210">
                  <c:v>136</c:v>
                </c:pt>
                <c:pt idx="211">
                  <c:v>136</c:v>
                </c:pt>
                <c:pt idx="212">
                  <c:v>136</c:v>
                </c:pt>
                <c:pt idx="213">
                  <c:v>136</c:v>
                </c:pt>
                <c:pt idx="214">
                  <c:v>136</c:v>
                </c:pt>
                <c:pt idx="215">
                  <c:v>136</c:v>
                </c:pt>
                <c:pt idx="216">
                  <c:v>136</c:v>
                </c:pt>
                <c:pt idx="217">
                  <c:v>136</c:v>
                </c:pt>
                <c:pt idx="218">
                  <c:v>136</c:v>
                </c:pt>
                <c:pt idx="219">
                  <c:v>136</c:v>
                </c:pt>
                <c:pt idx="220">
                  <c:v>136</c:v>
                </c:pt>
                <c:pt idx="221">
                  <c:v>136</c:v>
                </c:pt>
                <c:pt idx="222">
                  <c:v>136</c:v>
                </c:pt>
                <c:pt idx="223">
                  <c:v>136</c:v>
                </c:pt>
                <c:pt idx="224">
                  <c:v>136</c:v>
                </c:pt>
                <c:pt idx="225">
                  <c:v>136</c:v>
                </c:pt>
                <c:pt idx="226">
                  <c:v>136</c:v>
                </c:pt>
                <c:pt idx="227">
                  <c:v>136</c:v>
                </c:pt>
                <c:pt idx="228">
                  <c:v>136</c:v>
                </c:pt>
                <c:pt idx="229">
                  <c:v>136</c:v>
                </c:pt>
                <c:pt idx="230">
                  <c:v>136</c:v>
                </c:pt>
                <c:pt idx="231">
                  <c:v>136</c:v>
                </c:pt>
                <c:pt idx="232">
                  <c:v>136</c:v>
                </c:pt>
                <c:pt idx="233">
                  <c:v>136</c:v>
                </c:pt>
                <c:pt idx="234">
                  <c:v>136</c:v>
                </c:pt>
                <c:pt idx="235">
                  <c:v>136</c:v>
                </c:pt>
                <c:pt idx="236">
                  <c:v>136</c:v>
                </c:pt>
                <c:pt idx="237">
                  <c:v>136</c:v>
                </c:pt>
                <c:pt idx="238">
                  <c:v>136</c:v>
                </c:pt>
                <c:pt idx="239">
                  <c:v>136</c:v>
                </c:pt>
                <c:pt idx="240">
                  <c:v>136</c:v>
                </c:pt>
                <c:pt idx="241">
                  <c:v>136</c:v>
                </c:pt>
                <c:pt idx="242">
                  <c:v>136</c:v>
                </c:pt>
                <c:pt idx="243">
                  <c:v>136</c:v>
                </c:pt>
                <c:pt idx="244">
                  <c:v>136</c:v>
                </c:pt>
                <c:pt idx="245">
                  <c:v>136</c:v>
                </c:pt>
                <c:pt idx="246">
                  <c:v>136</c:v>
                </c:pt>
                <c:pt idx="247">
                  <c:v>136</c:v>
                </c:pt>
                <c:pt idx="248">
                  <c:v>136</c:v>
                </c:pt>
                <c:pt idx="249">
                  <c:v>136</c:v>
                </c:pt>
                <c:pt idx="250">
                  <c:v>136</c:v>
                </c:pt>
                <c:pt idx="251">
                  <c:v>136</c:v>
                </c:pt>
                <c:pt idx="252">
                  <c:v>136</c:v>
                </c:pt>
                <c:pt idx="253">
                  <c:v>136</c:v>
                </c:pt>
                <c:pt idx="254">
                  <c:v>136</c:v>
                </c:pt>
                <c:pt idx="255">
                  <c:v>136</c:v>
                </c:pt>
                <c:pt idx="256">
                  <c:v>136</c:v>
                </c:pt>
                <c:pt idx="257">
                  <c:v>136</c:v>
                </c:pt>
                <c:pt idx="258">
                  <c:v>136</c:v>
                </c:pt>
                <c:pt idx="259">
                  <c:v>136</c:v>
                </c:pt>
                <c:pt idx="260">
                  <c:v>136</c:v>
                </c:pt>
              </c:numCache>
            </c:numRef>
          </c:yVal>
          <c:smooth val="0"/>
        </c:ser>
        <c:ser>
          <c:idx val="1"/>
          <c:order val="1"/>
          <c:tx>
            <c:strRef>
              <c:f>Sheet1!$C$1</c:f>
              <c:strCache>
                <c:ptCount val="1"/>
                <c:pt idx="0">
                  <c:v>Basket directly</c:v>
                </c:pt>
              </c:strCache>
            </c:strRef>
          </c:tx>
          <c:spPr>
            <a:solidFill>
              <a:srgbClr val="8FA6AA"/>
            </a:solidFill>
            <a:ln w="28575" cap="flat">
              <a:solidFill>
                <a:srgbClr val="8FA6AA"/>
              </a:solidFill>
              <a:prstDash val="solid"/>
              <a:round/>
            </a:ln>
            <a:effectLst/>
          </c:spPr>
          <c:marker>
            <c:symbol val="none"/>
            <c:size val="6"/>
            <c:spPr>
              <a:solidFill>
                <a:srgbClr val="8FA6AA"/>
              </a:solidFill>
              <a:ln w="9525" cap="flat">
                <a:solidFill>
                  <a:srgbClr val="8FA6AA"/>
                </a:solidFill>
                <a:prstDash val="solid"/>
                <a:round/>
              </a:ln>
              <a:effectLst/>
            </c:spPr>
          </c:marker>
          <c:xVal>
            <c:numRef>
              <c:f>Sheet1!$A$2:$A$262</c:f>
              <c:numCache>
                <c:formatCode>General</c:formatCode>
                <c:ptCount val="261"/>
                <c:pt idx="0">
                  <c:v>30</c:v>
                </c:pt>
                <c:pt idx="1">
                  <c:v>30.5</c:v>
                </c:pt>
                <c:pt idx="2">
                  <c:v>31</c:v>
                </c:pt>
                <c:pt idx="3">
                  <c:v>31.5</c:v>
                </c:pt>
                <c:pt idx="4">
                  <c:v>32</c:v>
                </c:pt>
                <c:pt idx="5">
                  <c:v>32.5</c:v>
                </c:pt>
                <c:pt idx="6">
                  <c:v>33</c:v>
                </c:pt>
                <c:pt idx="7">
                  <c:v>33.5</c:v>
                </c:pt>
                <c:pt idx="8">
                  <c:v>34</c:v>
                </c:pt>
                <c:pt idx="9">
                  <c:v>34.5</c:v>
                </c:pt>
                <c:pt idx="10">
                  <c:v>35</c:v>
                </c:pt>
                <c:pt idx="11">
                  <c:v>35.5</c:v>
                </c:pt>
                <c:pt idx="12">
                  <c:v>36</c:v>
                </c:pt>
                <c:pt idx="13">
                  <c:v>36.5</c:v>
                </c:pt>
                <c:pt idx="14">
                  <c:v>37</c:v>
                </c:pt>
                <c:pt idx="15">
                  <c:v>37.5</c:v>
                </c:pt>
                <c:pt idx="16">
                  <c:v>38</c:v>
                </c:pt>
                <c:pt idx="17">
                  <c:v>38.5</c:v>
                </c:pt>
                <c:pt idx="18">
                  <c:v>39</c:v>
                </c:pt>
                <c:pt idx="19">
                  <c:v>39.5</c:v>
                </c:pt>
                <c:pt idx="20">
                  <c:v>40</c:v>
                </c:pt>
                <c:pt idx="21">
                  <c:v>40.5</c:v>
                </c:pt>
                <c:pt idx="22">
                  <c:v>41</c:v>
                </c:pt>
                <c:pt idx="23">
                  <c:v>41.5</c:v>
                </c:pt>
                <c:pt idx="24">
                  <c:v>42</c:v>
                </c:pt>
                <c:pt idx="25">
                  <c:v>42.5</c:v>
                </c:pt>
                <c:pt idx="26">
                  <c:v>43</c:v>
                </c:pt>
                <c:pt idx="27">
                  <c:v>43.5</c:v>
                </c:pt>
                <c:pt idx="28">
                  <c:v>44</c:v>
                </c:pt>
                <c:pt idx="29">
                  <c:v>44.5</c:v>
                </c:pt>
                <c:pt idx="30">
                  <c:v>45</c:v>
                </c:pt>
                <c:pt idx="31">
                  <c:v>45.5</c:v>
                </c:pt>
                <c:pt idx="32">
                  <c:v>46</c:v>
                </c:pt>
                <c:pt idx="33">
                  <c:v>46.5</c:v>
                </c:pt>
                <c:pt idx="34">
                  <c:v>47</c:v>
                </c:pt>
                <c:pt idx="35">
                  <c:v>47.5</c:v>
                </c:pt>
                <c:pt idx="36">
                  <c:v>48</c:v>
                </c:pt>
                <c:pt idx="37">
                  <c:v>48.5</c:v>
                </c:pt>
                <c:pt idx="38">
                  <c:v>49</c:v>
                </c:pt>
                <c:pt idx="39">
                  <c:v>49.5</c:v>
                </c:pt>
                <c:pt idx="40">
                  <c:v>50</c:v>
                </c:pt>
                <c:pt idx="41">
                  <c:v>50.5</c:v>
                </c:pt>
                <c:pt idx="42">
                  <c:v>51</c:v>
                </c:pt>
                <c:pt idx="43">
                  <c:v>51.5</c:v>
                </c:pt>
                <c:pt idx="44">
                  <c:v>52</c:v>
                </c:pt>
                <c:pt idx="45">
                  <c:v>52.5</c:v>
                </c:pt>
                <c:pt idx="46">
                  <c:v>53</c:v>
                </c:pt>
                <c:pt idx="47">
                  <c:v>53.5</c:v>
                </c:pt>
                <c:pt idx="48">
                  <c:v>54</c:v>
                </c:pt>
                <c:pt idx="49">
                  <c:v>54.5</c:v>
                </c:pt>
                <c:pt idx="50">
                  <c:v>55</c:v>
                </c:pt>
                <c:pt idx="51">
                  <c:v>55.5</c:v>
                </c:pt>
                <c:pt idx="52">
                  <c:v>56</c:v>
                </c:pt>
                <c:pt idx="53">
                  <c:v>56.5</c:v>
                </c:pt>
                <c:pt idx="54">
                  <c:v>57</c:v>
                </c:pt>
                <c:pt idx="55">
                  <c:v>57.5</c:v>
                </c:pt>
                <c:pt idx="56">
                  <c:v>58</c:v>
                </c:pt>
                <c:pt idx="57">
                  <c:v>58.5</c:v>
                </c:pt>
                <c:pt idx="58">
                  <c:v>59</c:v>
                </c:pt>
                <c:pt idx="59">
                  <c:v>59.5</c:v>
                </c:pt>
                <c:pt idx="60">
                  <c:v>60</c:v>
                </c:pt>
                <c:pt idx="61">
                  <c:v>60.5</c:v>
                </c:pt>
                <c:pt idx="62">
                  <c:v>61</c:v>
                </c:pt>
                <c:pt idx="63">
                  <c:v>61.5</c:v>
                </c:pt>
                <c:pt idx="64">
                  <c:v>62</c:v>
                </c:pt>
                <c:pt idx="65">
                  <c:v>62.5</c:v>
                </c:pt>
                <c:pt idx="66">
                  <c:v>63</c:v>
                </c:pt>
                <c:pt idx="67">
                  <c:v>63.5</c:v>
                </c:pt>
                <c:pt idx="68">
                  <c:v>64</c:v>
                </c:pt>
                <c:pt idx="69">
                  <c:v>64.5</c:v>
                </c:pt>
                <c:pt idx="70">
                  <c:v>65</c:v>
                </c:pt>
                <c:pt idx="71">
                  <c:v>65.5</c:v>
                </c:pt>
                <c:pt idx="72">
                  <c:v>66</c:v>
                </c:pt>
                <c:pt idx="73">
                  <c:v>66.5</c:v>
                </c:pt>
                <c:pt idx="74">
                  <c:v>67</c:v>
                </c:pt>
                <c:pt idx="75">
                  <c:v>67.5</c:v>
                </c:pt>
                <c:pt idx="76">
                  <c:v>68</c:v>
                </c:pt>
                <c:pt idx="77">
                  <c:v>68.5</c:v>
                </c:pt>
                <c:pt idx="78">
                  <c:v>69</c:v>
                </c:pt>
                <c:pt idx="79">
                  <c:v>69.5</c:v>
                </c:pt>
                <c:pt idx="80">
                  <c:v>70</c:v>
                </c:pt>
                <c:pt idx="81">
                  <c:v>70.5</c:v>
                </c:pt>
                <c:pt idx="82">
                  <c:v>71</c:v>
                </c:pt>
                <c:pt idx="83">
                  <c:v>71.5</c:v>
                </c:pt>
                <c:pt idx="84">
                  <c:v>72</c:v>
                </c:pt>
                <c:pt idx="85">
                  <c:v>72.5</c:v>
                </c:pt>
                <c:pt idx="86">
                  <c:v>73</c:v>
                </c:pt>
                <c:pt idx="87">
                  <c:v>73.5</c:v>
                </c:pt>
                <c:pt idx="88">
                  <c:v>74</c:v>
                </c:pt>
                <c:pt idx="89">
                  <c:v>74.5</c:v>
                </c:pt>
                <c:pt idx="90">
                  <c:v>75</c:v>
                </c:pt>
                <c:pt idx="91">
                  <c:v>75.5</c:v>
                </c:pt>
                <c:pt idx="92">
                  <c:v>76</c:v>
                </c:pt>
                <c:pt idx="93">
                  <c:v>76.5</c:v>
                </c:pt>
                <c:pt idx="94">
                  <c:v>77</c:v>
                </c:pt>
                <c:pt idx="95">
                  <c:v>77.5</c:v>
                </c:pt>
                <c:pt idx="96">
                  <c:v>78</c:v>
                </c:pt>
                <c:pt idx="97">
                  <c:v>78.5</c:v>
                </c:pt>
                <c:pt idx="98">
                  <c:v>79</c:v>
                </c:pt>
                <c:pt idx="99">
                  <c:v>79.5</c:v>
                </c:pt>
                <c:pt idx="100">
                  <c:v>80</c:v>
                </c:pt>
                <c:pt idx="101">
                  <c:v>80.5</c:v>
                </c:pt>
                <c:pt idx="102">
                  <c:v>81</c:v>
                </c:pt>
                <c:pt idx="103">
                  <c:v>81.5</c:v>
                </c:pt>
                <c:pt idx="104">
                  <c:v>82</c:v>
                </c:pt>
                <c:pt idx="105">
                  <c:v>82.5</c:v>
                </c:pt>
                <c:pt idx="106">
                  <c:v>83</c:v>
                </c:pt>
                <c:pt idx="107">
                  <c:v>83.5</c:v>
                </c:pt>
                <c:pt idx="108">
                  <c:v>84</c:v>
                </c:pt>
                <c:pt idx="109">
                  <c:v>84.5</c:v>
                </c:pt>
                <c:pt idx="110">
                  <c:v>85</c:v>
                </c:pt>
                <c:pt idx="111">
                  <c:v>85.5</c:v>
                </c:pt>
                <c:pt idx="112">
                  <c:v>86</c:v>
                </c:pt>
                <c:pt idx="113">
                  <c:v>86.5</c:v>
                </c:pt>
                <c:pt idx="114">
                  <c:v>87</c:v>
                </c:pt>
                <c:pt idx="115">
                  <c:v>87.5</c:v>
                </c:pt>
                <c:pt idx="116">
                  <c:v>88</c:v>
                </c:pt>
                <c:pt idx="117">
                  <c:v>88.5</c:v>
                </c:pt>
                <c:pt idx="118">
                  <c:v>89</c:v>
                </c:pt>
                <c:pt idx="119">
                  <c:v>89.5</c:v>
                </c:pt>
                <c:pt idx="120">
                  <c:v>90</c:v>
                </c:pt>
                <c:pt idx="121">
                  <c:v>90.5</c:v>
                </c:pt>
                <c:pt idx="122">
                  <c:v>91</c:v>
                </c:pt>
                <c:pt idx="123">
                  <c:v>91.5</c:v>
                </c:pt>
                <c:pt idx="124">
                  <c:v>92</c:v>
                </c:pt>
                <c:pt idx="125">
                  <c:v>92.5</c:v>
                </c:pt>
                <c:pt idx="126">
                  <c:v>93</c:v>
                </c:pt>
                <c:pt idx="127">
                  <c:v>93.5</c:v>
                </c:pt>
                <c:pt idx="128">
                  <c:v>94</c:v>
                </c:pt>
                <c:pt idx="129">
                  <c:v>94.5</c:v>
                </c:pt>
                <c:pt idx="130">
                  <c:v>95</c:v>
                </c:pt>
                <c:pt idx="131">
                  <c:v>95.5</c:v>
                </c:pt>
                <c:pt idx="132">
                  <c:v>96</c:v>
                </c:pt>
                <c:pt idx="133">
                  <c:v>96.5</c:v>
                </c:pt>
                <c:pt idx="134">
                  <c:v>97</c:v>
                </c:pt>
                <c:pt idx="135">
                  <c:v>97.5</c:v>
                </c:pt>
                <c:pt idx="136">
                  <c:v>98</c:v>
                </c:pt>
                <c:pt idx="137">
                  <c:v>98.5</c:v>
                </c:pt>
                <c:pt idx="138">
                  <c:v>99</c:v>
                </c:pt>
                <c:pt idx="139">
                  <c:v>99.5</c:v>
                </c:pt>
                <c:pt idx="140">
                  <c:v>100</c:v>
                </c:pt>
                <c:pt idx="141">
                  <c:v>100.5</c:v>
                </c:pt>
                <c:pt idx="142">
                  <c:v>101</c:v>
                </c:pt>
                <c:pt idx="143">
                  <c:v>101.5</c:v>
                </c:pt>
                <c:pt idx="144">
                  <c:v>102</c:v>
                </c:pt>
                <c:pt idx="145">
                  <c:v>102.5</c:v>
                </c:pt>
                <c:pt idx="146">
                  <c:v>103</c:v>
                </c:pt>
                <c:pt idx="147">
                  <c:v>103.5</c:v>
                </c:pt>
                <c:pt idx="148">
                  <c:v>104</c:v>
                </c:pt>
                <c:pt idx="149">
                  <c:v>104.5</c:v>
                </c:pt>
                <c:pt idx="150">
                  <c:v>105</c:v>
                </c:pt>
                <c:pt idx="151">
                  <c:v>105.5</c:v>
                </c:pt>
                <c:pt idx="152">
                  <c:v>106</c:v>
                </c:pt>
                <c:pt idx="153">
                  <c:v>106.5</c:v>
                </c:pt>
                <c:pt idx="154">
                  <c:v>107</c:v>
                </c:pt>
                <c:pt idx="155">
                  <c:v>107.5</c:v>
                </c:pt>
                <c:pt idx="156">
                  <c:v>108</c:v>
                </c:pt>
                <c:pt idx="157">
                  <c:v>108.5</c:v>
                </c:pt>
                <c:pt idx="158">
                  <c:v>109</c:v>
                </c:pt>
                <c:pt idx="159">
                  <c:v>109.5</c:v>
                </c:pt>
                <c:pt idx="160">
                  <c:v>110</c:v>
                </c:pt>
                <c:pt idx="161">
                  <c:v>110.5</c:v>
                </c:pt>
                <c:pt idx="162">
                  <c:v>111</c:v>
                </c:pt>
                <c:pt idx="163">
                  <c:v>111.5</c:v>
                </c:pt>
                <c:pt idx="164">
                  <c:v>112</c:v>
                </c:pt>
                <c:pt idx="165">
                  <c:v>112.5</c:v>
                </c:pt>
                <c:pt idx="166">
                  <c:v>113</c:v>
                </c:pt>
                <c:pt idx="167">
                  <c:v>113.5</c:v>
                </c:pt>
                <c:pt idx="168">
                  <c:v>114</c:v>
                </c:pt>
                <c:pt idx="169">
                  <c:v>114.5</c:v>
                </c:pt>
                <c:pt idx="170">
                  <c:v>115</c:v>
                </c:pt>
                <c:pt idx="171">
                  <c:v>115.5</c:v>
                </c:pt>
                <c:pt idx="172">
                  <c:v>116</c:v>
                </c:pt>
                <c:pt idx="173">
                  <c:v>116.5</c:v>
                </c:pt>
                <c:pt idx="174">
                  <c:v>117</c:v>
                </c:pt>
                <c:pt idx="175">
                  <c:v>117.5</c:v>
                </c:pt>
                <c:pt idx="176">
                  <c:v>118</c:v>
                </c:pt>
                <c:pt idx="177">
                  <c:v>118.5</c:v>
                </c:pt>
                <c:pt idx="178">
                  <c:v>119</c:v>
                </c:pt>
                <c:pt idx="179">
                  <c:v>119.5</c:v>
                </c:pt>
                <c:pt idx="180">
                  <c:v>120</c:v>
                </c:pt>
                <c:pt idx="181">
                  <c:v>120.5</c:v>
                </c:pt>
                <c:pt idx="182">
                  <c:v>121</c:v>
                </c:pt>
                <c:pt idx="183">
                  <c:v>121.5</c:v>
                </c:pt>
                <c:pt idx="184">
                  <c:v>122</c:v>
                </c:pt>
                <c:pt idx="185">
                  <c:v>122.5</c:v>
                </c:pt>
                <c:pt idx="186">
                  <c:v>123</c:v>
                </c:pt>
                <c:pt idx="187">
                  <c:v>123.5</c:v>
                </c:pt>
                <c:pt idx="188">
                  <c:v>124</c:v>
                </c:pt>
                <c:pt idx="189">
                  <c:v>124.5</c:v>
                </c:pt>
                <c:pt idx="190">
                  <c:v>125</c:v>
                </c:pt>
                <c:pt idx="191">
                  <c:v>125.5</c:v>
                </c:pt>
                <c:pt idx="192">
                  <c:v>126</c:v>
                </c:pt>
                <c:pt idx="193">
                  <c:v>126.5</c:v>
                </c:pt>
                <c:pt idx="194">
                  <c:v>127</c:v>
                </c:pt>
                <c:pt idx="195">
                  <c:v>127.5</c:v>
                </c:pt>
                <c:pt idx="196">
                  <c:v>128</c:v>
                </c:pt>
                <c:pt idx="197">
                  <c:v>128.5</c:v>
                </c:pt>
                <c:pt idx="198">
                  <c:v>129</c:v>
                </c:pt>
                <c:pt idx="199">
                  <c:v>129.5</c:v>
                </c:pt>
                <c:pt idx="200">
                  <c:v>130</c:v>
                </c:pt>
                <c:pt idx="201">
                  <c:v>130.5</c:v>
                </c:pt>
                <c:pt idx="202">
                  <c:v>131</c:v>
                </c:pt>
                <c:pt idx="203">
                  <c:v>131.5</c:v>
                </c:pt>
                <c:pt idx="204">
                  <c:v>132</c:v>
                </c:pt>
                <c:pt idx="205">
                  <c:v>132.5</c:v>
                </c:pt>
                <c:pt idx="206">
                  <c:v>133</c:v>
                </c:pt>
                <c:pt idx="207">
                  <c:v>133.5</c:v>
                </c:pt>
                <c:pt idx="208">
                  <c:v>134</c:v>
                </c:pt>
                <c:pt idx="209">
                  <c:v>134.5</c:v>
                </c:pt>
                <c:pt idx="210">
                  <c:v>135</c:v>
                </c:pt>
                <c:pt idx="211">
                  <c:v>135.5</c:v>
                </c:pt>
                <c:pt idx="212">
                  <c:v>136</c:v>
                </c:pt>
                <c:pt idx="213">
                  <c:v>136.5</c:v>
                </c:pt>
                <c:pt idx="214">
                  <c:v>137</c:v>
                </c:pt>
                <c:pt idx="215">
                  <c:v>137.5</c:v>
                </c:pt>
                <c:pt idx="216">
                  <c:v>138</c:v>
                </c:pt>
                <c:pt idx="217">
                  <c:v>138.5</c:v>
                </c:pt>
                <c:pt idx="218">
                  <c:v>139</c:v>
                </c:pt>
                <c:pt idx="219">
                  <c:v>139.5</c:v>
                </c:pt>
                <c:pt idx="220">
                  <c:v>140</c:v>
                </c:pt>
                <c:pt idx="221">
                  <c:v>140.5</c:v>
                </c:pt>
                <c:pt idx="222">
                  <c:v>141</c:v>
                </c:pt>
                <c:pt idx="223">
                  <c:v>141.5</c:v>
                </c:pt>
                <c:pt idx="224">
                  <c:v>142</c:v>
                </c:pt>
                <c:pt idx="225">
                  <c:v>142.5</c:v>
                </c:pt>
                <c:pt idx="226">
                  <c:v>143</c:v>
                </c:pt>
                <c:pt idx="227">
                  <c:v>143.5</c:v>
                </c:pt>
                <c:pt idx="228">
                  <c:v>144</c:v>
                </c:pt>
                <c:pt idx="229">
                  <c:v>144.5</c:v>
                </c:pt>
                <c:pt idx="230">
                  <c:v>145</c:v>
                </c:pt>
                <c:pt idx="231">
                  <c:v>145.5</c:v>
                </c:pt>
                <c:pt idx="232">
                  <c:v>146</c:v>
                </c:pt>
                <c:pt idx="233">
                  <c:v>146.5</c:v>
                </c:pt>
                <c:pt idx="234">
                  <c:v>147</c:v>
                </c:pt>
                <c:pt idx="235">
                  <c:v>147.5</c:v>
                </c:pt>
                <c:pt idx="236">
                  <c:v>148</c:v>
                </c:pt>
                <c:pt idx="237">
                  <c:v>148.5</c:v>
                </c:pt>
                <c:pt idx="238">
                  <c:v>149</c:v>
                </c:pt>
                <c:pt idx="239">
                  <c:v>149.5</c:v>
                </c:pt>
                <c:pt idx="240">
                  <c:v>150</c:v>
                </c:pt>
                <c:pt idx="241">
                  <c:v>150.5</c:v>
                </c:pt>
                <c:pt idx="242">
                  <c:v>151</c:v>
                </c:pt>
                <c:pt idx="243">
                  <c:v>151.5</c:v>
                </c:pt>
                <c:pt idx="244">
                  <c:v>152</c:v>
                </c:pt>
                <c:pt idx="245">
                  <c:v>152.5</c:v>
                </c:pt>
                <c:pt idx="246">
                  <c:v>153</c:v>
                </c:pt>
                <c:pt idx="247">
                  <c:v>153.5</c:v>
                </c:pt>
                <c:pt idx="248">
                  <c:v>154</c:v>
                </c:pt>
                <c:pt idx="249">
                  <c:v>154.5</c:v>
                </c:pt>
                <c:pt idx="250">
                  <c:v>155</c:v>
                </c:pt>
                <c:pt idx="251">
                  <c:v>155.5</c:v>
                </c:pt>
                <c:pt idx="252">
                  <c:v>156</c:v>
                </c:pt>
                <c:pt idx="253">
                  <c:v>156.5</c:v>
                </c:pt>
                <c:pt idx="254">
                  <c:v>157</c:v>
                </c:pt>
                <c:pt idx="255">
                  <c:v>157.5</c:v>
                </c:pt>
                <c:pt idx="256">
                  <c:v>158</c:v>
                </c:pt>
                <c:pt idx="257">
                  <c:v>158.5</c:v>
                </c:pt>
                <c:pt idx="258">
                  <c:v>159</c:v>
                </c:pt>
                <c:pt idx="259">
                  <c:v>159.5</c:v>
                </c:pt>
                <c:pt idx="260">
                  <c:v>160</c:v>
                </c:pt>
              </c:numCache>
            </c:numRef>
          </c:xVal>
          <c:yVal>
            <c:numRef>
              <c:f>Sheet1!$C$2:$C$262</c:f>
              <c:numCache>
                <c:formatCode>General</c:formatCode>
                <c:ptCount val="261"/>
                <c:pt idx="0">
                  <c:v>30</c:v>
                </c:pt>
                <c:pt idx="1">
                  <c:v>30.5</c:v>
                </c:pt>
                <c:pt idx="2">
                  <c:v>31</c:v>
                </c:pt>
                <c:pt idx="3">
                  <c:v>31.5</c:v>
                </c:pt>
                <c:pt idx="4">
                  <c:v>32</c:v>
                </c:pt>
                <c:pt idx="5">
                  <c:v>32.5</c:v>
                </c:pt>
                <c:pt idx="6">
                  <c:v>33</c:v>
                </c:pt>
                <c:pt idx="7">
                  <c:v>33.5</c:v>
                </c:pt>
                <c:pt idx="8">
                  <c:v>34</c:v>
                </c:pt>
                <c:pt idx="9">
                  <c:v>34.5</c:v>
                </c:pt>
                <c:pt idx="10">
                  <c:v>35</c:v>
                </c:pt>
                <c:pt idx="11">
                  <c:v>35.5</c:v>
                </c:pt>
                <c:pt idx="12">
                  <c:v>36</c:v>
                </c:pt>
                <c:pt idx="13">
                  <c:v>36.5</c:v>
                </c:pt>
                <c:pt idx="14">
                  <c:v>37</c:v>
                </c:pt>
                <c:pt idx="15">
                  <c:v>37.5</c:v>
                </c:pt>
                <c:pt idx="16">
                  <c:v>38</c:v>
                </c:pt>
                <c:pt idx="17">
                  <c:v>38.5</c:v>
                </c:pt>
                <c:pt idx="18">
                  <c:v>39</c:v>
                </c:pt>
                <c:pt idx="19">
                  <c:v>39.5</c:v>
                </c:pt>
                <c:pt idx="20">
                  <c:v>40</c:v>
                </c:pt>
                <c:pt idx="21">
                  <c:v>40.5</c:v>
                </c:pt>
                <c:pt idx="22">
                  <c:v>41</c:v>
                </c:pt>
                <c:pt idx="23">
                  <c:v>41.5</c:v>
                </c:pt>
                <c:pt idx="24">
                  <c:v>42</c:v>
                </c:pt>
                <c:pt idx="25">
                  <c:v>42.5</c:v>
                </c:pt>
                <c:pt idx="26">
                  <c:v>43</c:v>
                </c:pt>
                <c:pt idx="27">
                  <c:v>43.5</c:v>
                </c:pt>
                <c:pt idx="28">
                  <c:v>44</c:v>
                </c:pt>
                <c:pt idx="29">
                  <c:v>44.5</c:v>
                </c:pt>
                <c:pt idx="30">
                  <c:v>45</c:v>
                </c:pt>
                <c:pt idx="31">
                  <c:v>45.5</c:v>
                </c:pt>
                <c:pt idx="32">
                  <c:v>46</c:v>
                </c:pt>
                <c:pt idx="33">
                  <c:v>46.5</c:v>
                </c:pt>
                <c:pt idx="34">
                  <c:v>47</c:v>
                </c:pt>
                <c:pt idx="35">
                  <c:v>47.5</c:v>
                </c:pt>
                <c:pt idx="36">
                  <c:v>48</c:v>
                </c:pt>
                <c:pt idx="37">
                  <c:v>48.5</c:v>
                </c:pt>
                <c:pt idx="38">
                  <c:v>49</c:v>
                </c:pt>
                <c:pt idx="39">
                  <c:v>49.5</c:v>
                </c:pt>
                <c:pt idx="40">
                  <c:v>50</c:v>
                </c:pt>
                <c:pt idx="41">
                  <c:v>50.5</c:v>
                </c:pt>
                <c:pt idx="42">
                  <c:v>51</c:v>
                </c:pt>
                <c:pt idx="43">
                  <c:v>51.5</c:v>
                </c:pt>
                <c:pt idx="44">
                  <c:v>52</c:v>
                </c:pt>
                <c:pt idx="45">
                  <c:v>52.5</c:v>
                </c:pt>
                <c:pt idx="46">
                  <c:v>53</c:v>
                </c:pt>
                <c:pt idx="47">
                  <c:v>53.5</c:v>
                </c:pt>
                <c:pt idx="48">
                  <c:v>54</c:v>
                </c:pt>
                <c:pt idx="49">
                  <c:v>54.5</c:v>
                </c:pt>
                <c:pt idx="50">
                  <c:v>55</c:v>
                </c:pt>
                <c:pt idx="51">
                  <c:v>55.5</c:v>
                </c:pt>
                <c:pt idx="52">
                  <c:v>56</c:v>
                </c:pt>
                <c:pt idx="53">
                  <c:v>56.5</c:v>
                </c:pt>
                <c:pt idx="54">
                  <c:v>57</c:v>
                </c:pt>
                <c:pt idx="55">
                  <c:v>57.5</c:v>
                </c:pt>
                <c:pt idx="56">
                  <c:v>58</c:v>
                </c:pt>
                <c:pt idx="57">
                  <c:v>58.5</c:v>
                </c:pt>
                <c:pt idx="58">
                  <c:v>59</c:v>
                </c:pt>
                <c:pt idx="59">
                  <c:v>59.5</c:v>
                </c:pt>
                <c:pt idx="60">
                  <c:v>60</c:v>
                </c:pt>
                <c:pt idx="61">
                  <c:v>60.5</c:v>
                </c:pt>
                <c:pt idx="62">
                  <c:v>61</c:v>
                </c:pt>
                <c:pt idx="63">
                  <c:v>61.5</c:v>
                </c:pt>
                <c:pt idx="64">
                  <c:v>62</c:v>
                </c:pt>
                <c:pt idx="65">
                  <c:v>62.5</c:v>
                </c:pt>
                <c:pt idx="66">
                  <c:v>63</c:v>
                </c:pt>
                <c:pt idx="67">
                  <c:v>63.5</c:v>
                </c:pt>
                <c:pt idx="68">
                  <c:v>64</c:v>
                </c:pt>
                <c:pt idx="69">
                  <c:v>64.5</c:v>
                </c:pt>
                <c:pt idx="70">
                  <c:v>65</c:v>
                </c:pt>
                <c:pt idx="71">
                  <c:v>65.5</c:v>
                </c:pt>
                <c:pt idx="72">
                  <c:v>66</c:v>
                </c:pt>
                <c:pt idx="73">
                  <c:v>66.5</c:v>
                </c:pt>
                <c:pt idx="74">
                  <c:v>67</c:v>
                </c:pt>
                <c:pt idx="75">
                  <c:v>67.5</c:v>
                </c:pt>
                <c:pt idx="76">
                  <c:v>68</c:v>
                </c:pt>
                <c:pt idx="77">
                  <c:v>68.5</c:v>
                </c:pt>
                <c:pt idx="78">
                  <c:v>69</c:v>
                </c:pt>
                <c:pt idx="79">
                  <c:v>69.5</c:v>
                </c:pt>
                <c:pt idx="80">
                  <c:v>70</c:v>
                </c:pt>
                <c:pt idx="81">
                  <c:v>70.5</c:v>
                </c:pt>
                <c:pt idx="82">
                  <c:v>71</c:v>
                </c:pt>
                <c:pt idx="83">
                  <c:v>71.5</c:v>
                </c:pt>
                <c:pt idx="84">
                  <c:v>72</c:v>
                </c:pt>
                <c:pt idx="85">
                  <c:v>72.5</c:v>
                </c:pt>
                <c:pt idx="86">
                  <c:v>73</c:v>
                </c:pt>
                <c:pt idx="87">
                  <c:v>73.5</c:v>
                </c:pt>
                <c:pt idx="88">
                  <c:v>74</c:v>
                </c:pt>
                <c:pt idx="89">
                  <c:v>74.5</c:v>
                </c:pt>
                <c:pt idx="90">
                  <c:v>75</c:v>
                </c:pt>
                <c:pt idx="91">
                  <c:v>75.5</c:v>
                </c:pt>
                <c:pt idx="92">
                  <c:v>76</c:v>
                </c:pt>
                <c:pt idx="93">
                  <c:v>76.5</c:v>
                </c:pt>
                <c:pt idx="94">
                  <c:v>77</c:v>
                </c:pt>
                <c:pt idx="95">
                  <c:v>77.5</c:v>
                </c:pt>
                <c:pt idx="96">
                  <c:v>78</c:v>
                </c:pt>
                <c:pt idx="97">
                  <c:v>78.5</c:v>
                </c:pt>
                <c:pt idx="98">
                  <c:v>79</c:v>
                </c:pt>
                <c:pt idx="99">
                  <c:v>79.5</c:v>
                </c:pt>
                <c:pt idx="100">
                  <c:v>80</c:v>
                </c:pt>
                <c:pt idx="101">
                  <c:v>80.5</c:v>
                </c:pt>
                <c:pt idx="102">
                  <c:v>81</c:v>
                </c:pt>
                <c:pt idx="103">
                  <c:v>81.5</c:v>
                </c:pt>
                <c:pt idx="104">
                  <c:v>82</c:v>
                </c:pt>
                <c:pt idx="105">
                  <c:v>82.5</c:v>
                </c:pt>
                <c:pt idx="106">
                  <c:v>83</c:v>
                </c:pt>
                <c:pt idx="107">
                  <c:v>83.5</c:v>
                </c:pt>
                <c:pt idx="108">
                  <c:v>84</c:v>
                </c:pt>
                <c:pt idx="109">
                  <c:v>84.5</c:v>
                </c:pt>
                <c:pt idx="110">
                  <c:v>85</c:v>
                </c:pt>
                <c:pt idx="111">
                  <c:v>85.5</c:v>
                </c:pt>
                <c:pt idx="112">
                  <c:v>86</c:v>
                </c:pt>
                <c:pt idx="113">
                  <c:v>86.5</c:v>
                </c:pt>
                <c:pt idx="114">
                  <c:v>87</c:v>
                </c:pt>
                <c:pt idx="115">
                  <c:v>87.5</c:v>
                </c:pt>
                <c:pt idx="116">
                  <c:v>88</c:v>
                </c:pt>
                <c:pt idx="117">
                  <c:v>88.5</c:v>
                </c:pt>
                <c:pt idx="118">
                  <c:v>89</c:v>
                </c:pt>
                <c:pt idx="119">
                  <c:v>89.5</c:v>
                </c:pt>
                <c:pt idx="120">
                  <c:v>90</c:v>
                </c:pt>
                <c:pt idx="121">
                  <c:v>90.5</c:v>
                </c:pt>
                <c:pt idx="122">
                  <c:v>91</c:v>
                </c:pt>
                <c:pt idx="123">
                  <c:v>91.5</c:v>
                </c:pt>
                <c:pt idx="124">
                  <c:v>92</c:v>
                </c:pt>
                <c:pt idx="125">
                  <c:v>92.5</c:v>
                </c:pt>
                <c:pt idx="126">
                  <c:v>93</c:v>
                </c:pt>
                <c:pt idx="127">
                  <c:v>93.5</c:v>
                </c:pt>
                <c:pt idx="128">
                  <c:v>94</c:v>
                </c:pt>
                <c:pt idx="129">
                  <c:v>94.5</c:v>
                </c:pt>
                <c:pt idx="130">
                  <c:v>95</c:v>
                </c:pt>
                <c:pt idx="131">
                  <c:v>95.5</c:v>
                </c:pt>
                <c:pt idx="132">
                  <c:v>96</c:v>
                </c:pt>
                <c:pt idx="133">
                  <c:v>96.5</c:v>
                </c:pt>
                <c:pt idx="134">
                  <c:v>97</c:v>
                </c:pt>
                <c:pt idx="135">
                  <c:v>97.5</c:v>
                </c:pt>
                <c:pt idx="136">
                  <c:v>98</c:v>
                </c:pt>
                <c:pt idx="137">
                  <c:v>98.5</c:v>
                </c:pt>
                <c:pt idx="138">
                  <c:v>99</c:v>
                </c:pt>
                <c:pt idx="139">
                  <c:v>99.5</c:v>
                </c:pt>
                <c:pt idx="140">
                  <c:v>100</c:v>
                </c:pt>
                <c:pt idx="141">
                  <c:v>100.5</c:v>
                </c:pt>
                <c:pt idx="142">
                  <c:v>101</c:v>
                </c:pt>
                <c:pt idx="143">
                  <c:v>101.5</c:v>
                </c:pt>
                <c:pt idx="144">
                  <c:v>102</c:v>
                </c:pt>
                <c:pt idx="145">
                  <c:v>102.5</c:v>
                </c:pt>
                <c:pt idx="146">
                  <c:v>103</c:v>
                </c:pt>
                <c:pt idx="147">
                  <c:v>103.5</c:v>
                </c:pt>
                <c:pt idx="148">
                  <c:v>104</c:v>
                </c:pt>
                <c:pt idx="149">
                  <c:v>104.5</c:v>
                </c:pt>
                <c:pt idx="150">
                  <c:v>105</c:v>
                </c:pt>
                <c:pt idx="151">
                  <c:v>105.5</c:v>
                </c:pt>
                <c:pt idx="152">
                  <c:v>106</c:v>
                </c:pt>
                <c:pt idx="153">
                  <c:v>106.5</c:v>
                </c:pt>
                <c:pt idx="154">
                  <c:v>107</c:v>
                </c:pt>
                <c:pt idx="155">
                  <c:v>107.5</c:v>
                </c:pt>
                <c:pt idx="156">
                  <c:v>108</c:v>
                </c:pt>
                <c:pt idx="157">
                  <c:v>108.5</c:v>
                </c:pt>
                <c:pt idx="158">
                  <c:v>109</c:v>
                </c:pt>
                <c:pt idx="159">
                  <c:v>109.5</c:v>
                </c:pt>
                <c:pt idx="160">
                  <c:v>110</c:v>
                </c:pt>
                <c:pt idx="161">
                  <c:v>110.5</c:v>
                </c:pt>
                <c:pt idx="162">
                  <c:v>111</c:v>
                </c:pt>
                <c:pt idx="163">
                  <c:v>111.5</c:v>
                </c:pt>
                <c:pt idx="164">
                  <c:v>112</c:v>
                </c:pt>
                <c:pt idx="165">
                  <c:v>112.5</c:v>
                </c:pt>
                <c:pt idx="166">
                  <c:v>113</c:v>
                </c:pt>
                <c:pt idx="167">
                  <c:v>113.5</c:v>
                </c:pt>
                <c:pt idx="168">
                  <c:v>114</c:v>
                </c:pt>
                <c:pt idx="169">
                  <c:v>114.5</c:v>
                </c:pt>
                <c:pt idx="170">
                  <c:v>115</c:v>
                </c:pt>
                <c:pt idx="171">
                  <c:v>115.5</c:v>
                </c:pt>
                <c:pt idx="172">
                  <c:v>116</c:v>
                </c:pt>
                <c:pt idx="173">
                  <c:v>116.5</c:v>
                </c:pt>
                <c:pt idx="174">
                  <c:v>117</c:v>
                </c:pt>
                <c:pt idx="175">
                  <c:v>117.5</c:v>
                </c:pt>
                <c:pt idx="176">
                  <c:v>118</c:v>
                </c:pt>
                <c:pt idx="177">
                  <c:v>118.5</c:v>
                </c:pt>
                <c:pt idx="178">
                  <c:v>119</c:v>
                </c:pt>
                <c:pt idx="179">
                  <c:v>119.5</c:v>
                </c:pt>
                <c:pt idx="180">
                  <c:v>120</c:v>
                </c:pt>
                <c:pt idx="181">
                  <c:v>120.5</c:v>
                </c:pt>
                <c:pt idx="182">
                  <c:v>121</c:v>
                </c:pt>
                <c:pt idx="183">
                  <c:v>121.5</c:v>
                </c:pt>
                <c:pt idx="184">
                  <c:v>122</c:v>
                </c:pt>
                <c:pt idx="185">
                  <c:v>122.5</c:v>
                </c:pt>
                <c:pt idx="186">
                  <c:v>123</c:v>
                </c:pt>
                <c:pt idx="187">
                  <c:v>123.5</c:v>
                </c:pt>
                <c:pt idx="188">
                  <c:v>124</c:v>
                </c:pt>
                <c:pt idx="189">
                  <c:v>124.5</c:v>
                </c:pt>
                <c:pt idx="190">
                  <c:v>125</c:v>
                </c:pt>
                <c:pt idx="191">
                  <c:v>125.5</c:v>
                </c:pt>
                <c:pt idx="192">
                  <c:v>126</c:v>
                </c:pt>
                <c:pt idx="193">
                  <c:v>126.5</c:v>
                </c:pt>
                <c:pt idx="194">
                  <c:v>127</c:v>
                </c:pt>
                <c:pt idx="195">
                  <c:v>127.5</c:v>
                </c:pt>
                <c:pt idx="196">
                  <c:v>128</c:v>
                </c:pt>
                <c:pt idx="197">
                  <c:v>128.5</c:v>
                </c:pt>
                <c:pt idx="198">
                  <c:v>129</c:v>
                </c:pt>
                <c:pt idx="199">
                  <c:v>129.5</c:v>
                </c:pt>
                <c:pt idx="200">
                  <c:v>130</c:v>
                </c:pt>
                <c:pt idx="201">
                  <c:v>130.5</c:v>
                </c:pt>
                <c:pt idx="202">
                  <c:v>131</c:v>
                </c:pt>
                <c:pt idx="203">
                  <c:v>131.5</c:v>
                </c:pt>
                <c:pt idx="204">
                  <c:v>132</c:v>
                </c:pt>
                <c:pt idx="205">
                  <c:v>132.5</c:v>
                </c:pt>
                <c:pt idx="206">
                  <c:v>133</c:v>
                </c:pt>
                <c:pt idx="207">
                  <c:v>133.5</c:v>
                </c:pt>
                <c:pt idx="208">
                  <c:v>134</c:v>
                </c:pt>
                <c:pt idx="209">
                  <c:v>134.5</c:v>
                </c:pt>
                <c:pt idx="210">
                  <c:v>135</c:v>
                </c:pt>
                <c:pt idx="211">
                  <c:v>135.5</c:v>
                </c:pt>
                <c:pt idx="212">
                  <c:v>136</c:v>
                </c:pt>
                <c:pt idx="213">
                  <c:v>136.5</c:v>
                </c:pt>
                <c:pt idx="214">
                  <c:v>137</c:v>
                </c:pt>
                <c:pt idx="215">
                  <c:v>137.5</c:v>
                </c:pt>
                <c:pt idx="216">
                  <c:v>138</c:v>
                </c:pt>
                <c:pt idx="217">
                  <c:v>138.5</c:v>
                </c:pt>
                <c:pt idx="218">
                  <c:v>139</c:v>
                </c:pt>
                <c:pt idx="219">
                  <c:v>139.5</c:v>
                </c:pt>
                <c:pt idx="220">
                  <c:v>140</c:v>
                </c:pt>
                <c:pt idx="221">
                  <c:v>140.5</c:v>
                </c:pt>
                <c:pt idx="222">
                  <c:v>141</c:v>
                </c:pt>
                <c:pt idx="223">
                  <c:v>141.5</c:v>
                </c:pt>
                <c:pt idx="224">
                  <c:v>142</c:v>
                </c:pt>
                <c:pt idx="225">
                  <c:v>142.5</c:v>
                </c:pt>
                <c:pt idx="226">
                  <c:v>143</c:v>
                </c:pt>
                <c:pt idx="227">
                  <c:v>143.5</c:v>
                </c:pt>
                <c:pt idx="228">
                  <c:v>144</c:v>
                </c:pt>
                <c:pt idx="229">
                  <c:v>144.5</c:v>
                </c:pt>
                <c:pt idx="230">
                  <c:v>145</c:v>
                </c:pt>
                <c:pt idx="231">
                  <c:v>145.5</c:v>
                </c:pt>
                <c:pt idx="232">
                  <c:v>146</c:v>
                </c:pt>
                <c:pt idx="233">
                  <c:v>146.5</c:v>
                </c:pt>
                <c:pt idx="234">
                  <c:v>147</c:v>
                </c:pt>
                <c:pt idx="235">
                  <c:v>147.5</c:v>
                </c:pt>
                <c:pt idx="236">
                  <c:v>148</c:v>
                </c:pt>
                <c:pt idx="237">
                  <c:v>148.5</c:v>
                </c:pt>
                <c:pt idx="238">
                  <c:v>149</c:v>
                </c:pt>
                <c:pt idx="239">
                  <c:v>149.5</c:v>
                </c:pt>
                <c:pt idx="240">
                  <c:v>150</c:v>
                </c:pt>
                <c:pt idx="241">
                  <c:v>150.5</c:v>
                </c:pt>
                <c:pt idx="242">
                  <c:v>151</c:v>
                </c:pt>
                <c:pt idx="243">
                  <c:v>151.5</c:v>
                </c:pt>
                <c:pt idx="244">
                  <c:v>152</c:v>
                </c:pt>
                <c:pt idx="245">
                  <c:v>152.5</c:v>
                </c:pt>
                <c:pt idx="246">
                  <c:v>153</c:v>
                </c:pt>
                <c:pt idx="247">
                  <c:v>153.5</c:v>
                </c:pt>
                <c:pt idx="248">
                  <c:v>154</c:v>
                </c:pt>
                <c:pt idx="249">
                  <c:v>154.5</c:v>
                </c:pt>
                <c:pt idx="250">
                  <c:v>155</c:v>
                </c:pt>
                <c:pt idx="251">
                  <c:v>155.5</c:v>
                </c:pt>
                <c:pt idx="252">
                  <c:v>156</c:v>
                </c:pt>
                <c:pt idx="253">
                  <c:v>156.5</c:v>
                </c:pt>
                <c:pt idx="254">
                  <c:v>157</c:v>
                </c:pt>
                <c:pt idx="255">
                  <c:v>157.5</c:v>
                </c:pt>
                <c:pt idx="256">
                  <c:v>158</c:v>
                </c:pt>
                <c:pt idx="257">
                  <c:v>158.5</c:v>
                </c:pt>
                <c:pt idx="258">
                  <c:v>159</c:v>
                </c:pt>
                <c:pt idx="259">
                  <c:v>159.5</c:v>
                </c:pt>
                <c:pt idx="260">
                  <c:v>160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60"/>
          <c:min val="30"/>
        </c:scaling>
        <c:delete val="0"/>
        <c:axPos val="b"/>
        <c:title>
          <c:tx>
            <c:rich>
              <a:bodyPr/>
              <a:lstStyle/>
              <a:p>
                <a:pPr>
                  <a:defRPr sz="900" b="0" i="0" u="none" strike="noStrike">
                    <a:solidFill>
                      <a:srgbClr val="5F7176"/>
                    </a:solidFill>
                    <a:latin typeface="Arial"/>
                  </a:defRPr>
                </a:pPr>
                <a:r>
                  <a:rPr sz="900" b="0" i="0" u="none" strike="noStrike">
                    <a:solidFill>
                      <a:srgbClr val="5F7176"/>
                    </a:solidFill>
                    <a:latin typeface="Arial"/>
                  </a:rPr>
                  <a:t>Final basket level (% of initial)</a:t>
                </a:r>
              </a:p>
            </c:rich>
          </c:tx>
          <c:layout/>
          <c:overlay val="0"/>
        </c:title>
        <c:numFmt formatCode="0&quot;%&quot;" sourceLinked="1"/>
        <c:majorTickMark val="none"/>
        <c:minorTickMark val="none"/>
        <c:tickLblPos val="nextTo"/>
        <c:spPr>
          <a:ln w="12700" cap="flat">
            <a:solidFill>
              <a:srgbClr val="8FA6AA"/>
            </a:solidFill>
            <a:prstDash val="solid"/>
            <a:round/>
          </a:ln>
        </c:spPr>
        <c:txPr>
          <a:bodyPr/>
          <a:lstStyle/>
          <a:p>
            <a:pPr>
              <a:defRPr sz="900" b="0" i="0" u="none" strike="noStrike">
                <a:solidFill>
                  <a:srgbClr val="5F7176"/>
                </a:solidFill>
                <a:latin typeface="Calibri"/>
              </a:defRPr>
            </a:pPr>
            <a:endParaRPr lang="en-US"/>
          </a:p>
        </c:txPr>
        <c:crossAx val="2094734552"/>
        <c:crosses val="autoZero"/>
        <c:auto val="1"/>
        <c:lblAlgn val="ctr"/>
        <c:noMultiLvlLbl val="1"/>
        <c:majorUnit val="20"/>
      </c:valAx>
      <c:valAx>
        <c:axId val="2094734552"/>
        <c:scaling>
          <c:orientation val="minMax"/>
          <c:max val="160"/>
          <c:min val="20"/>
        </c:scaling>
        <c:delete val="0"/>
        <c:axPos val="l"/>
        <c:majorGridlines>
          <c:spPr>
            <a:ln w="6350" cap="flat">
              <a:solidFill>
                <a:srgbClr val="DCE7E5"/>
              </a:solidFill>
              <a:prstDash val="solid"/>
              <a:round/>
            </a:ln>
          </c:spPr>
        </c:majorGridlines>
        <c:title>
          <c:tx>
            <c:rich>
              <a:bodyPr/>
              <a:lstStyle/>
              <a:p>
                <a:pPr>
                  <a:defRPr sz="900" b="0" i="0" u="none" strike="noStrike">
                    <a:solidFill>
                      <a:srgbClr val="5F7176"/>
                    </a:solidFill>
                    <a:latin typeface="Arial"/>
                  </a:defRPr>
                </a:pPr>
                <a:r>
                  <a:rPr sz="900" b="0" i="0" u="none" strike="noStrike">
                    <a:solidFill>
                      <a:srgbClr val="5F7176"/>
                    </a:solidFill>
                    <a:latin typeface="Arial"/>
                  </a:rPr>
                  <a:t>Total received at Y5</a:t>
                </a:r>
              </a:p>
            </c:rich>
          </c:tx>
          <c:layout/>
          <c:overlay val="0"/>
        </c:title>
        <c:numFmt formatCode="0&quot;%&quot;" sourceLinked="0"/>
        <c:majorTickMark val="none"/>
        <c:minorTickMark val="none"/>
        <c:tickLblPos val="nextTo"/>
        <c:spPr>
          <a:ln w="12700" cap="flat">
            <a:noFill/>
            <a:prstDash val="solid"/>
            <a:round/>
          </a:ln>
        </c:spPr>
        <c:txPr>
          <a:bodyPr/>
          <a:lstStyle/>
          <a:p>
            <a:pPr>
              <a:defRPr sz="900" b="0" i="0" u="none" strike="noStrike">
                <a:solidFill>
                  <a:srgbClr val="5F7176"/>
                </a:solidFill>
                <a:latin typeface="Calibri"/>
              </a:defRPr>
            </a:pPr>
            <a:endParaRPr lang="en-US"/>
          </a:p>
        </c:txPr>
        <c:crossAx val="2094734554"/>
        <c:crosses val="autoZero"/>
        <c:crossBetween val="midCat"/>
      </c:valAx>
      <c:spPr>
        <a:noFill/>
        <a:ln>
          <a:noFill/>
        </a:ln>
        <a:effectLst/>
      </c:spPr>
    </c:plotArea>
    <c:legend>
      <c:legendPos val="b"/>
      <c:overlay val="0"/>
      <c:txPr>
        <a:bodyPr/>
        <a:lstStyle/>
        <a:p>
          <a:pPr>
            <a:defRPr sz="900">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Protected principal</c:v>
                </c:pt>
              </c:strCache>
            </c:strRef>
          </c:tx>
          <c:spPr>
            <a:solidFill>
              <a:srgbClr val="0B3C49"/>
            </a:solidFill>
            <a:ln w="25400" cap="flat">
              <a:solidFill>
                <a:srgbClr val="0B3C49"/>
              </a:solidFill>
              <a:prstDash val="solid"/>
              <a:round/>
            </a:ln>
            <a:effectLst/>
          </c:spPr>
          <c:marker>
            <c:symbol val="none"/>
            <c:size val="6"/>
            <c:spPr>
              <a:solidFill>
                <a:srgbClr val="0B3C49"/>
              </a:solidFill>
              <a:ln w="9525" cap="flat">
                <a:solidFill>
                  <a:srgbClr val="0B3C49"/>
                </a:solidFill>
                <a:prstDash val="solid"/>
                <a:round/>
              </a:ln>
              <a:effectLst/>
            </c:spPr>
          </c:marker>
          <c:xVal>
            <c:numRef>
              <c:f>Sheet1!$A$2:$A$122</c:f>
              <c:numCache>
                <c:formatCode>General</c:formatCode>
                <c:ptCount val="12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pt idx="101">
                  <c:v>141</c:v>
                </c:pt>
                <c:pt idx="102">
                  <c:v>142</c:v>
                </c:pt>
                <c:pt idx="103">
                  <c:v>143</c:v>
                </c:pt>
                <c:pt idx="104">
                  <c:v>144</c:v>
                </c:pt>
                <c:pt idx="105">
                  <c:v>145</c:v>
                </c:pt>
                <c:pt idx="106">
                  <c:v>146</c:v>
                </c:pt>
                <c:pt idx="107">
                  <c:v>147</c:v>
                </c:pt>
                <c:pt idx="108">
                  <c:v>148</c:v>
                </c:pt>
                <c:pt idx="109">
                  <c:v>149</c:v>
                </c:pt>
                <c:pt idx="110">
                  <c:v>150</c:v>
                </c:pt>
                <c:pt idx="111">
                  <c:v>151</c:v>
                </c:pt>
                <c:pt idx="112">
                  <c:v>152</c:v>
                </c:pt>
                <c:pt idx="113">
                  <c:v>153</c:v>
                </c:pt>
                <c:pt idx="114">
                  <c:v>154</c:v>
                </c:pt>
                <c:pt idx="115">
                  <c:v>155</c:v>
                </c:pt>
                <c:pt idx="116">
                  <c:v>156</c:v>
                </c:pt>
                <c:pt idx="117">
                  <c:v>157</c:v>
                </c:pt>
                <c:pt idx="118">
                  <c:v>158</c:v>
                </c:pt>
                <c:pt idx="119">
                  <c:v>159</c:v>
                </c:pt>
                <c:pt idx="120">
                  <c:v>160</c:v>
                </c:pt>
              </c:numCache>
            </c:numRef>
          </c:xVal>
          <c:yVal>
            <c:numRef>
              <c:f>Sheet1!$B$2:$B$122</c:f>
              <c:numCache>
                <c:formatCode>General</c:formatCode>
                <c:ptCount val="121"/>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pt idx="26">
                  <c:v>100</c:v>
                </c:pt>
                <c:pt idx="27">
                  <c:v>100</c:v>
                </c:pt>
                <c:pt idx="28">
                  <c:v>100</c:v>
                </c:pt>
                <c:pt idx="29">
                  <c:v>100</c:v>
                </c:pt>
                <c:pt idx="30">
                  <c:v>100</c:v>
                </c:pt>
                <c:pt idx="31">
                  <c:v>100</c:v>
                </c:pt>
                <c:pt idx="32">
                  <c:v>100</c:v>
                </c:pt>
                <c:pt idx="33">
                  <c:v>100</c:v>
                </c:pt>
                <c:pt idx="34">
                  <c:v>100</c:v>
                </c:pt>
                <c:pt idx="35">
                  <c:v>100</c:v>
                </c:pt>
                <c:pt idx="36">
                  <c:v>100</c:v>
                </c:pt>
                <c:pt idx="37">
                  <c:v>100</c:v>
                </c:pt>
                <c:pt idx="38">
                  <c:v>100</c:v>
                </c:pt>
                <c:pt idx="39">
                  <c:v>100</c:v>
                </c:pt>
                <c:pt idx="40">
                  <c:v>100</c:v>
                </c:pt>
                <c:pt idx="41">
                  <c:v>100</c:v>
                </c:pt>
                <c:pt idx="42">
                  <c:v>100</c:v>
                </c:pt>
                <c:pt idx="43">
                  <c:v>100</c:v>
                </c:pt>
                <c:pt idx="44">
                  <c:v>100</c:v>
                </c:pt>
                <c:pt idx="45">
                  <c:v>100</c:v>
                </c:pt>
                <c:pt idx="46">
                  <c:v>100</c:v>
                </c:pt>
                <c:pt idx="47">
                  <c:v>100</c:v>
                </c:pt>
                <c:pt idx="48">
                  <c:v>100</c:v>
                </c:pt>
                <c:pt idx="49">
                  <c:v>100</c:v>
                </c:pt>
                <c:pt idx="50">
                  <c:v>100</c:v>
                </c:pt>
                <c:pt idx="51">
                  <c:v>100</c:v>
                </c:pt>
                <c:pt idx="52">
                  <c:v>100</c:v>
                </c:pt>
                <c:pt idx="53">
                  <c:v>100</c:v>
                </c:pt>
                <c:pt idx="54">
                  <c:v>100</c:v>
                </c:pt>
                <c:pt idx="55">
                  <c:v>100</c:v>
                </c:pt>
                <c:pt idx="56">
                  <c:v>100</c:v>
                </c:pt>
                <c:pt idx="57">
                  <c:v>100</c:v>
                </c:pt>
                <c:pt idx="58">
                  <c:v>100</c:v>
                </c:pt>
                <c:pt idx="59">
                  <c:v>100</c:v>
                </c:pt>
                <c:pt idx="60">
                  <c:v>100</c:v>
                </c:pt>
                <c:pt idx="61">
                  <c:v>100</c:v>
                </c:pt>
                <c:pt idx="62">
                  <c:v>100</c:v>
                </c:pt>
                <c:pt idx="63">
                  <c:v>100</c:v>
                </c:pt>
                <c:pt idx="64">
                  <c:v>100</c:v>
                </c:pt>
                <c:pt idx="65">
                  <c:v>100</c:v>
                </c:pt>
                <c:pt idx="66">
                  <c:v>100</c:v>
                </c:pt>
                <c:pt idx="67">
                  <c:v>100</c:v>
                </c:pt>
                <c:pt idx="68">
                  <c:v>100</c:v>
                </c:pt>
                <c:pt idx="69">
                  <c:v>100</c:v>
                </c:pt>
                <c:pt idx="70">
                  <c:v>100</c:v>
                </c:pt>
                <c:pt idx="71">
                  <c:v>100</c:v>
                </c:pt>
                <c:pt idx="72">
                  <c:v>100</c:v>
                </c:pt>
                <c:pt idx="73">
                  <c:v>100</c:v>
                </c:pt>
                <c:pt idx="74">
                  <c:v>100</c:v>
                </c:pt>
                <c:pt idx="75">
                  <c:v>100</c:v>
                </c:pt>
                <c:pt idx="76">
                  <c:v>100</c:v>
                </c:pt>
                <c:pt idx="77">
                  <c:v>100</c:v>
                </c:pt>
                <c:pt idx="78">
                  <c:v>100</c:v>
                </c:pt>
                <c:pt idx="79">
                  <c:v>100</c:v>
                </c:pt>
                <c:pt idx="80">
                  <c:v>100</c:v>
                </c:pt>
                <c:pt idx="81">
                  <c:v>100</c:v>
                </c:pt>
                <c:pt idx="82">
                  <c:v>100</c:v>
                </c:pt>
                <c:pt idx="83">
                  <c:v>100</c:v>
                </c:pt>
                <c:pt idx="84">
                  <c:v>100</c:v>
                </c:pt>
                <c:pt idx="85">
                  <c:v>100</c:v>
                </c:pt>
                <c:pt idx="86">
                  <c:v>100</c:v>
                </c:pt>
                <c:pt idx="87">
                  <c:v>100</c:v>
                </c:pt>
                <c:pt idx="88">
                  <c:v>100</c:v>
                </c:pt>
                <c:pt idx="89">
                  <c:v>100</c:v>
                </c:pt>
                <c:pt idx="90">
                  <c:v>100</c:v>
                </c:pt>
                <c:pt idx="91">
                  <c:v>100</c:v>
                </c:pt>
                <c:pt idx="92">
                  <c:v>100</c:v>
                </c:pt>
                <c:pt idx="93">
                  <c:v>100</c:v>
                </c:pt>
                <c:pt idx="94">
                  <c:v>100</c:v>
                </c:pt>
                <c:pt idx="95">
                  <c:v>100</c:v>
                </c:pt>
                <c:pt idx="96">
                  <c:v>100</c:v>
                </c:pt>
                <c:pt idx="97">
                  <c:v>100</c:v>
                </c:pt>
                <c:pt idx="98">
                  <c:v>100</c:v>
                </c:pt>
                <c:pt idx="99">
                  <c:v>100</c:v>
                </c:pt>
                <c:pt idx="100">
                  <c:v>100</c:v>
                </c:pt>
                <c:pt idx="101">
                  <c:v>100</c:v>
                </c:pt>
                <c:pt idx="102">
                  <c:v>100</c:v>
                </c:pt>
                <c:pt idx="103">
                  <c:v>100</c:v>
                </c:pt>
                <c:pt idx="104">
                  <c:v>100</c:v>
                </c:pt>
                <c:pt idx="105">
                  <c:v>100</c:v>
                </c:pt>
                <c:pt idx="106">
                  <c:v>100</c:v>
                </c:pt>
                <c:pt idx="107">
                  <c:v>100</c:v>
                </c:pt>
                <c:pt idx="108">
                  <c:v>100</c:v>
                </c:pt>
                <c:pt idx="109">
                  <c:v>100</c:v>
                </c:pt>
                <c:pt idx="110">
                  <c:v>100</c:v>
                </c:pt>
                <c:pt idx="111">
                  <c:v>100</c:v>
                </c:pt>
                <c:pt idx="112">
                  <c:v>100</c:v>
                </c:pt>
                <c:pt idx="113">
                  <c:v>100</c:v>
                </c:pt>
                <c:pt idx="114">
                  <c:v>100</c:v>
                </c:pt>
                <c:pt idx="115">
                  <c:v>100</c:v>
                </c:pt>
                <c:pt idx="116">
                  <c:v>100</c:v>
                </c:pt>
                <c:pt idx="117">
                  <c:v>100</c:v>
                </c:pt>
                <c:pt idx="118">
                  <c:v>100</c:v>
                </c:pt>
                <c:pt idx="119">
                  <c:v>100</c:v>
                </c:pt>
                <c:pt idx="120">
                  <c:v>100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60"/>
          <c:min val="40"/>
        </c:scaling>
        <c:delete val="0"/>
        <c:axPos val="b"/>
        <c:title>
          <c:tx>
            <c:rich>
              <a:bodyPr/>
              <a:lstStyle/>
              <a:p>
                <a:pPr>
                  <a:defRPr sz="700" b="0" i="0" u="none" strike="noStrike">
                    <a:solidFill>
                      <a:srgbClr val="5F7176"/>
                    </a:solidFill>
                    <a:latin typeface="Arial"/>
                  </a:defRPr>
                </a:pPr>
                <a:r>
                  <a:rPr sz="700" b="0" i="0" u="none" strike="noStrike">
                    <a:solidFill>
                      <a:srgbClr val="5F7176"/>
                    </a:solidFill>
                    <a:latin typeface="Arial"/>
                  </a:rPr>
                  <a:t>Basket on observation date</a:t>
                </a:r>
              </a:p>
            </c:rich>
          </c:tx>
          <c:layout/>
          <c:overlay val="0"/>
        </c:title>
        <c:numFmt formatCode="General" sourceLinked="1"/>
        <c:majorTickMark val="none"/>
        <c:minorTickMark val="none"/>
        <c:tickLblPos val="nextTo"/>
        <c:spPr>
          <a:ln w="12700" cap="flat">
            <a:solidFill>
              <a:srgbClr val="8FA6AA"/>
            </a:solidFill>
            <a:prstDash val="solid"/>
            <a:round/>
          </a:ln>
        </c:spPr>
        <c:txPr>
          <a:bodyPr/>
          <a:lstStyle/>
          <a:p>
            <a:pPr>
              <a:defRPr sz="700" b="0" i="0" u="none" strike="noStrike">
                <a:solidFill>
                  <a:srgbClr val="5F7176"/>
                </a:solidFill>
                <a:latin typeface="Calibri"/>
              </a:defRPr>
            </a:pPr>
            <a:endParaRPr lang="en-US"/>
          </a:p>
        </c:txPr>
        <c:crossAx val="2094734552"/>
        <c:crosses val="autoZero"/>
        <c:auto val="1"/>
        <c:lblAlgn val="ctr"/>
        <c:noMultiLvlLbl val="1"/>
        <c:majorUnit val="30"/>
      </c:valAx>
      <c:valAx>
        <c:axId val="2094734552"/>
        <c:scaling>
          <c:orientation val="minMax"/>
          <c:max val="120"/>
          <c:min val="0"/>
        </c:scaling>
        <c:delete val="1"/>
        <c:axPos val="l"/>
        <c:majorGridlines>
          <c:spPr>
            <a:ln w="6350" cap="flat">
              <a:solidFill>
                <a:srgbClr val="DCE7E5"/>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F7176"/>
                </a:solidFill>
                <a:latin typeface="Calibri"/>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Long quarterly digitals</c:v>
                </c:pt>
              </c:strCache>
            </c:strRef>
          </c:tx>
          <c:spPr>
            <a:solidFill>
              <a:srgbClr val="0F8B8D"/>
            </a:solidFill>
            <a:ln w="25400" cap="flat">
              <a:solidFill>
                <a:srgbClr val="0F8B8D"/>
              </a:solidFill>
              <a:prstDash val="solid"/>
              <a:round/>
            </a:ln>
            <a:effectLst/>
          </c:spPr>
          <c:marker>
            <c:symbol val="none"/>
            <c:size val="6"/>
            <c:spPr>
              <a:solidFill>
                <a:srgbClr val="0F8B8D"/>
              </a:solidFill>
              <a:ln w="9525" cap="flat">
                <a:solidFill>
                  <a:srgbClr val="0F8B8D"/>
                </a:solidFill>
                <a:prstDash val="solid"/>
                <a:round/>
              </a:ln>
              <a:effectLst/>
            </c:spPr>
          </c:marker>
          <c:xVal>
            <c:numRef>
              <c:f>Sheet1!$A$2:$A$122</c:f>
              <c:numCache>
                <c:formatCode>General</c:formatCode>
                <c:ptCount val="12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pt idx="101">
                  <c:v>141</c:v>
                </c:pt>
                <c:pt idx="102">
                  <c:v>142</c:v>
                </c:pt>
                <c:pt idx="103">
                  <c:v>143</c:v>
                </c:pt>
                <c:pt idx="104">
                  <c:v>144</c:v>
                </c:pt>
                <c:pt idx="105">
                  <c:v>145</c:v>
                </c:pt>
                <c:pt idx="106">
                  <c:v>146</c:v>
                </c:pt>
                <c:pt idx="107">
                  <c:v>147</c:v>
                </c:pt>
                <c:pt idx="108">
                  <c:v>148</c:v>
                </c:pt>
                <c:pt idx="109">
                  <c:v>149</c:v>
                </c:pt>
                <c:pt idx="110">
                  <c:v>150</c:v>
                </c:pt>
                <c:pt idx="111">
                  <c:v>151</c:v>
                </c:pt>
                <c:pt idx="112">
                  <c:v>152</c:v>
                </c:pt>
                <c:pt idx="113">
                  <c:v>153</c:v>
                </c:pt>
                <c:pt idx="114">
                  <c:v>154</c:v>
                </c:pt>
                <c:pt idx="115">
                  <c:v>155</c:v>
                </c:pt>
                <c:pt idx="116">
                  <c:v>156</c:v>
                </c:pt>
                <c:pt idx="117">
                  <c:v>157</c:v>
                </c:pt>
                <c:pt idx="118">
                  <c:v>158</c:v>
                </c:pt>
                <c:pt idx="119">
                  <c:v>159</c:v>
                </c:pt>
                <c:pt idx="120">
                  <c:v>160</c:v>
                </c:pt>
              </c:numCache>
            </c:numRef>
          </c:xVal>
          <c:yVal>
            <c:numRef>
              <c:f>Sheet1!$B$2:$B$122</c:f>
              <c:numCache>
                <c:formatCode>General</c:formatCode>
                <c:ptCount val="1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1.7999999999999998</c:v>
                </c:pt>
                <c:pt idx="61">
                  <c:v>1.7999999999999998</c:v>
                </c:pt>
                <c:pt idx="62">
                  <c:v>1.7999999999999998</c:v>
                </c:pt>
                <c:pt idx="63">
                  <c:v>1.7999999999999998</c:v>
                </c:pt>
                <c:pt idx="64">
                  <c:v>1.7999999999999998</c:v>
                </c:pt>
                <c:pt idx="65">
                  <c:v>1.7999999999999998</c:v>
                </c:pt>
                <c:pt idx="66">
                  <c:v>1.7999999999999998</c:v>
                </c:pt>
                <c:pt idx="67">
                  <c:v>1.7999999999999998</c:v>
                </c:pt>
                <c:pt idx="68">
                  <c:v>1.7999999999999998</c:v>
                </c:pt>
                <c:pt idx="69">
                  <c:v>1.7999999999999998</c:v>
                </c:pt>
                <c:pt idx="70">
                  <c:v>1.7999999999999998</c:v>
                </c:pt>
                <c:pt idx="71">
                  <c:v>1.7999999999999998</c:v>
                </c:pt>
                <c:pt idx="72">
                  <c:v>1.7999999999999998</c:v>
                </c:pt>
                <c:pt idx="73">
                  <c:v>1.7999999999999998</c:v>
                </c:pt>
                <c:pt idx="74">
                  <c:v>1.7999999999999998</c:v>
                </c:pt>
                <c:pt idx="75">
                  <c:v>1.7999999999999998</c:v>
                </c:pt>
                <c:pt idx="76">
                  <c:v>1.7999999999999998</c:v>
                </c:pt>
                <c:pt idx="77">
                  <c:v>1.7999999999999998</c:v>
                </c:pt>
                <c:pt idx="78">
                  <c:v>1.7999999999999998</c:v>
                </c:pt>
                <c:pt idx="79">
                  <c:v>1.7999999999999998</c:v>
                </c:pt>
                <c:pt idx="80">
                  <c:v>1.7999999999999998</c:v>
                </c:pt>
                <c:pt idx="81">
                  <c:v>1.7999999999999998</c:v>
                </c:pt>
                <c:pt idx="82">
                  <c:v>1.7999999999999998</c:v>
                </c:pt>
                <c:pt idx="83">
                  <c:v>1.7999999999999998</c:v>
                </c:pt>
                <c:pt idx="84">
                  <c:v>1.7999999999999998</c:v>
                </c:pt>
                <c:pt idx="85">
                  <c:v>1.7999999999999998</c:v>
                </c:pt>
                <c:pt idx="86">
                  <c:v>1.7999999999999998</c:v>
                </c:pt>
                <c:pt idx="87">
                  <c:v>1.7999999999999998</c:v>
                </c:pt>
                <c:pt idx="88">
                  <c:v>1.7999999999999998</c:v>
                </c:pt>
                <c:pt idx="89">
                  <c:v>1.7999999999999998</c:v>
                </c:pt>
                <c:pt idx="90">
                  <c:v>1.7999999999999998</c:v>
                </c:pt>
                <c:pt idx="91">
                  <c:v>1.7999999999999998</c:v>
                </c:pt>
                <c:pt idx="92">
                  <c:v>1.7999999999999998</c:v>
                </c:pt>
                <c:pt idx="93">
                  <c:v>1.7999999999999998</c:v>
                </c:pt>
                <c:pt idx="94">
                  <c:v>1.7999999999999998</c:v>
                </c:pt>
                <c:pt idx="95">
                  <c:v>1.7999999999999998</c:v>
                </c:pt>
                <c:pt idx="96">
                  <c:v>1.7999999999999998</c:v>
                </c:pt>
                <c:pt idx="97">
                  <c:v>1.7999999999999998</c:v>
                </c:pt>
                <c:pt idx="98">
                  <c:v>1.7999999999999998</c:v>
                </c:pt>
                <c:pt idx="99">
                  <c:v>1.7999999999999998</c:v>
                </c:pt>
                <c:pt idx="100">
                  <c:v>1.7999999999999998</c:v>
                </c:pt>
                <c:pt idx="101">
                  <c:v>1.7999999999999998</c:v>
                </c:pt>
                <c:pt idx="102">
                  <c:v>1.7999999999999998</c:v>
                </c:pt>
                <c:pt idx="103">
                  <c:v>1.7999999999999998</c:v>
                </c:pt>
                <c:pt idx="104">
                  <c:v>1.7999999999999998</c:v>
                </c:pt>
                <c:pt idx="105">
                  <c:v>1.7999999999999998</c:v>
                </c:pt>
                <c:pt idx="106">
                  <c:v>1.7999999999999998</c:v>
                </c:pt>
                <c:pt idx="107">
                  <c:v>1.7999999999999998</c:v>
                </c:pt>
                <c:pt idx="108">
                  <c:v>1.7999999999999998</c:v>
                </c:pt>
                <c:pt idx="109">
                  <c:v>1.7999999999999998</c:v>
                </c:pt>
                <c:pt idx="110">
                  <c:v>1.7999999999999998</c:v>
                </c:pt>
                <c:pt idx="111">
                  <c:v>1.7999999999999998</c:v>
                </c:pt>
                <c:pt idx="112">
                  <c:v>1.7999999999999998</c:v>
                </c:pt>
                <c:pt idx="113">
                  <c:v>1.7999999999999998</c:v>
                </c:pt>
                <c:pt idx="114">
                  <c:v>1.7999999999999998</c:v>
                </c:pt>
                <c:pt idx="115">
                  <c:v>1.7999999999999998</c:v>
                </c:pt>
                <c:pt idx="116">
                  <c:v>1.7999999999999998</c:v>
                </c:pt>
                <c:pt idx="117">
                  <c:v>1.7999999999999998</c:v>
                </c:pt>
                <c:pt idx="118">
                  <c:v>1.7999999999999998</c:v>
                </c:pt>
                <c:pt idx="119">
                  <c:v>1.7999999999999998</c:v>
                </c:pt>
                <c:pt idx="120">
                  <c:v>1.7999999999999998</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60"/>
          <c:min val="40"/>
        </c:scaling>
        <c:delete val="0"/>
        <c:axPos val="b"/>
        <c:title>
          <c:tx>
            <c:rich>
              <a:bodyPr/>
              <a:lstStyle/>
              <a:p>
                <a:pPr>
                  <a:defRPr sz="700" b="0" i="0" u="none" strike="noStrike">
                    <a:solidFill>
                      <a:srgbClr val="5F7176"/>
                    </a:solidFill>
                    <a:latin typeface="Arial"/>
                  </a:defRPr>
                </a:pPr>
                <a:r>
                  <a:rPr sz="700" b="0" i="0" u="none" strike="noStrike">
                    <a:solidFill>
                      <a:srgbClr val="5F7176"/>
                    </a:solidFill>
                    <a:latin typeface="Arial"/>
                  </a:rPr>
                  <a:t>Basket on observation date</a:t>
                </a:r>
              </a:p>
            </c:rich>
          </c:tx>
          <c:layout/>
          <c:overlay val="0"/>
        </c:title>
        <c:numFmt formatCode="General" sourceLinked="1"/>
        <c:majorTickMark val="none"/>
        <c:minorTickMark val="none"/>
        <c:tickLblPos val="nextTo"/>
        <c:spPr>
          <a:ln w="12700" cap="flat">
            <a:solidFill>
              <a:srgbClr val="8FA6AA"/>
            </a:solidFill>
            <a:prstDash val="solid"/>
            <a:round/>
          </a:ln>
        </c:spPr>
        <c:txPr>
          <a:bodyPr/>
          <a:lstStyle/>
          <a:p>
            <a:pPr>
              <a:defRPr sz="700" b="0" i="0" u="none" strike="noStrike">
                <a:solidFill>
                  <a:srgbClr val="5F7176"/>
                </a:solidFill>
                <a:latin typeface="Calibri"/>
              </a:defRPr>
            </a:pPr>
            <a:endParaRPr lang="en-US"/>
          </a:p>
        </c:txPr>
        <c:crossAx val="2094734552"/>
        <c:crosses val="autoZero"/>
        <c:auto val="1"/>
        <c:lblAlgn val="ctr"/>
        <c:noMultiLvlLbl val="1"/>
        <c:majorUnit val="30"/>
      </c:valAx>
      <c:valAx>
        <c:axId val="2094734552"/>
        <c:scaling>
          <c:orientation val="minMax"/>
          <c:max val="2.2"/>
          <c:min val="-0.5"/>
        </c:scaling>
        <c:delete val="1"/>
        <c:axPos val="l"/>
        <c:majorGridlines>
          <c:spPr>
            <a:ln w="6350" cap="flat">
              <a:solidFill>
                <a:srgbClr val="DCE7E5"/>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F7176"/>
                </a:solidFill>
                <a:latin typeface="Calibri"/>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Autocall (Natixis's side)</c:v>
                </c:pt>
              </c:strCache>
            </c:strRef>
          </c:tx>
          <c:spPr>
            <a:solidFill>
              <a:srgbClr val="B8433A"/>
            </a:solidFill>
            <a:ln w="25400" cap="flat">
              <a:solidFill>
                <a:srgbClr val="B8433A"/>
              </a:solidFill>
              <a:prstDash val="solid"/>
              <a:round/>
            </a:ln>
            <a:effectLst/>
          </c:spPr>
          <c:marker>
            <c:symbol val="none"/>
            <c:size val="6"/>
            <c:spPr>
              <a:solidFill>
                <a:srgbClr val="B8433A"/>
              </a:solidFill>
              <a:ln w="9525" cap="flat">
                <a:solidFill>
                  <a:srgbClr val="B8433A"/>
                </a:solidFill>
                <a:prstDash val="solid"/>
                <a:round/>
              </a:ln>
              <a:effectLst/>
            </c:spPr>
          </c:marker>
          <c:xVal>
            <c:numRef>
              <c:f>Sheet1!$A$2:$A$122</c:f>
              <c:numCache>
                <c:formatCode>General</c:formatCode>
                <c:ptCount val="12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pt idx="101">
                  <c:v>141</c:v>
                </c:pt>
                <c:pt idx="102">
                  <c:v>142</c:v>
                </c:pt>
                <c:pt idx="103">
                  <c:v>143</c:v>
                </c:pt>
                <c:pt idx="104">
                  <c:v>144</c:v>
                </c:pt>
                <c:pt idx="105">
                  <c:v>145</c:v>
                </c:pt>
                <c:pt idx="106">
                  <c:v>146</c:v>
                </c:pt>
                <c:pt idx="107">
                  <c:v>147</c:v>
                </c:pt>
                <c:pt idx="108">
                  <c:v>148</c:v>
                </c:pt>
                <c:pt idx="109">
                  <c:v>149</c:v>
                </c:pt>
                <c:pt idx="110">
                  <c:v>150</c:v>
                </c:pt>
                <c:pt idx="111">
                  <c:v>151</c:v>
                </c:pt>
                <c:pt idx="112">
                  <c:v>152</c:v>
                </c:pt>
                <c:pt idx="113">
                  <c:v>153</c:v>
                </c:pt>
                <c:pt idx="114">
                  <c:v>154</c:v>
                </c:pt>
                <c:pt idx="115">
                  <c:v>155</c:v>
                </c:pt>
                <c:pt idx="116">
                  <c:v>156</c:v>
                </c:pt>
                <c:pt idx="117">
                  <c:v>157</c:v>
                </c:pt>
                <c:pt idx="118">
                  <c:v>158</c:v>
                </c:pt>
                <c:pt idx="119">
                  <c:v>159</c:v>
                </c:pt>
                <c:pt idx="120">
                  <c:v>160</c:v>
                </c:pt>
              </c:numCache>
            </c:numRef>
          </c:xVal>
          <c:yVal>
            <c:numRef>
              <c:f>Sheet1!$B$2:$B$122</c:f>
              <c:numCache>
                <c:formatCode>General</c:formatCode>
                <c:ptCount val="12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60"/>
          <c:min val="40"/>
        </c:scaling>
        <c:delete val="0"/>
        <c:axPos val="b"/>
        <c:title>
          <c:tx>
            <c:rich>
              <a:bodyPr/>
              <a:lstStyle/>
              <a:p>
                <a:pPr>
                  <a:defRPr sz="700" b="0" i="0" u="none" strike="noStrike">
                    <a:solidFill>
                      <a:srgbClr val="5F7176"/>
                    </a:solidFill>
                    <a:latin typeface="Arial"/>
                  </a:defRPr>
                </a:pPr>
                <a:r>
                  <a:rPr sz="700" b="0" i="0" u="none" strike="noStrike">
                    <a:solidFill>
                      <a:srgbClr val="5F7176"/>
                    </a:solidFill>
                    <a:latin typeface="Arial"/>
                  </a:rPr>
                  <a:t>Basket on observation date</a:t>
                </a:r>
              </a:p>
            </c:rich>
          </c:tx>
          <c:layout/>
          <c:overlay val="0"/>
        </c:title>
        <c:numFmt formatCode="General" sourceLinked="1"/>
        <c:majorTickMark val="none"/>
        <c:minorTickMark val="none"/>
        <c:tickLblPos val="nextTo"/>
        <c:spPr>
          <a:ln w="12700" cap="flat">
            <a:solidFill>
              <a:srgbClr val="8FA6AA"/>
            </a:solidFill>
            <a:prstDash val="solid"/>
            <a:round/>
          </a:ln>
        </c:spPr>
        <c:txPr>
          <a:bodyPr/>
          <a:lstStyle/>
          <a:p>
            <a:pPr>
              <a:defRPr sz="700" b="0" i="0" u="none" strike="noStrike">
                <a:solidFill>
                  <a:srgbClr val="5F7176"/>
                </a:solidFill>
                <a:latin typeface="Calibri"/>
              </a:defRPr>
            </a:pPr>
            <a:endParaRPr lang="en-US"/>
          </a:p>
        </c:txPr>
        <c:crossAx val="2094734552"/>
        <c:crosses val="autoZero"/>
        <c:auto val="1"/>
        <c:lblAlgn val="ctr"/>
        <c:noMultiLvlLbl val="1"/>
        <c:majorUnit val="30"/>
      </c:valAx>
      <c:valAx>
        <c:axId val="2094734552"/>
        <c:scaling>
          <c:orientation val="minMax"/>
          <c:max val="1.4"/>
          <c:min val="-0.3"/>
        </c:scaling>
        <c:delete val="1"/>
        <c:axPos val="l"/>
        <c:majorGridlines>
          <c:spPr>
            <a:ln w="6350" cap="flat">
              <a:solidFill>
                <a:srgbClr val="DCE7E5"/>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F7176"/>
                </a:solidFill>
                <a:latin typeface="Calibri"/>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D2B30"/>
                </a:solidFill>
                <a:latin typeface="Calibri"/>
              </a:defRPr>
            </a:pPr>
            <a:r>
              <a:rPr sz="950" b="0" i="0" u="none" strike="noStrike">
                <a:solidFill>
                  <a:srgbClr val="1D2B30"/>
                </a:solidFill>
                <a:latin typeface="Calibri"/>
              </a:rPr>
              <a:t>Basket level (% of initial); coupon and autocall level 100%</a:t>
            </a:r>
          </a:p>
        </c:rich>
      </c:tx>
      <c:layout/>
      <c:overlay val="0"/>
    </c:title>
    <c:autoTitleDeleted val="0"/>
    <c:plotArea>
      <c:layout/>
      <c:lineChart>
        <c:varyColors val="0"/>
        <c:ser>
          <c:idx val="0"/>
          <c:order val="0"/>
          <c:tx>
            <c:strRef>
              <c:f>Sheet1!$B$1</c:f>
              <c:strCache>
                <c:ptCount val="1"/>
                <c:pt idx="0">
                  <c:v>AI capex boom</c:v>
                </c:pt>
              </c:strCache>
            </c:strRef>
          </c:tx>
          <c:spPr>
            <a:solidFill>
              <a:srgbClr val="0F8B8D"/>
            </a:solidFill>
            <a:ln w="25400" cap="flat">
              <a:solidFill>
                <a:srgbClr val="0F8B8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8B8D"/>
              </a:solidFill>
              <a:ln w="9525" cap="flat">
                <a:solidFill>
                  <a:srgbClr val="0F8B8D"/>
                </a:solidFill>
                <a:prstDash val="solid"/>
                <a:round/>
              </a:ln>
              <a:effectLst/>
            </c:spPr>
          </c:marker>
          <c:cat>
            <c:multiLvlStrRef>
              <c:f>Sheet1!$A$2:$A$22</c:f>
              <c:multiLvlStrCache>
                <c:ptCount val="21"/>
                <c:lvl>
                  <c:pt idx="0">
                    <c:v>Y0</c:v>
                  </c:pt>
                  <c:pt idx="1">
                    <c:v/>
                  </c:pt>
                  <c:pt idx="2">
                    <c:v/>
                  </c:pt>
                  <c:pt idx="3">
                    <c:v/>
                  </c:pt>
                  <c:pt idx="4">
                    <c:v>Y1</c:v>
                  </c:pt>
                  <c:pt idx="5">
                    <c:v/>
                  </c:pt>
                  <c:pt idx="6">
                    <c:v/>
                  </c:pt>
                  <c:pt idx="7">
                    <c:v/>
                  </c:pt>
                  <c:pt idx="8">
                    <c:v>Y2</c:v>
                  </c:pt>
                  <c:pt idx="9">
                    <c:v/>
                  </c:pt>
                  <c:pt idx="10">
                    <c:v/>
                  </c:pt>
                  <c:pt idx="11">
                    <c:v/>
                  </c:pt>
                  <c:pt idx="12">
                    <c:v>Y3</c:v>
                  </c:pt>
                  <c:pt idx="13">
                    <c:v/>
                  </c:pt>
                  <c:pt idx="14">
                    <c:v/>
                  </c:pt>
                  <c:pt idx="15">
                    <c:v/>
                  </c:pt>
                  <c:pt idx="16">
                    <c:v>Y4</c:v>
                  </c:pt>
                  <c:pt idx="17">
                    <c:v/>
                  </c:pt>
                  <c:pt idx="18">
                    <c:v/>
                  </c:pt>
                  <c:pt idx="19">
                    <c:v/>
                  </c:pt>
                  <c:pt idx="20">
                    <c:v>Y5</c:v>
                  </c:pt>
                </c:lvl>
              </c:multiLvlStrCache>
            </c:multiLvlStrRef>
          </c:cat>
          <c:val>
            <c:numRef>
              <c:f>Sheet1!$B$2:$B$22</c:f>
              <c:numCache>
                <c:formatCode>General</c:formatCode>
                <c:ptCount val="21"/>
                <c:pt idx="0">
                  <c:v>100</c:v>
                </c:pt>
                <c:pt idx="1">
                  <c:v>104.5</c:v>
                </c:pt>
                <c:pt idx="2">
                  <c:v>109</c:v>
                </c:pt>
                <c:pt idx="3">
                  <c:v>113.5</c:v>
                </c:pt>
                <c:pt idx="4">
                  <c:v>118</c:v>
                </c:pt>
                <c:pt idx="5">
                  <c:v>121.9</c:v>
                </c:pt>
                <c:pt idx="6">
                  <c:v>125.7</c:v>
                </c:pt>
                <c:pt idx="7">
                  <c:v>129.6</c:v>
                </c:pt>
                <c:pt idx="8">
                  <c:v>133.5</c:v>
                </c:pt>
                <c:pt idx="9">
                  <c:v>137.4</c:v>
                </c:pt>
                <c:pt idx="10">
                  <c:v>141.3</c:v>
                </c:pt>
                <c:pt idx="11">
                  <c:v>145.1</c:v>
                </c:pt>
                <c:pt idx="12">
                  <c:v>149</c:v>
                </c:pt>
                <c:pt idx="13">
                  <c:v>152.9</c:v>
                </c:pt>
                <c:pt idx="14">
                  <c:v>156.7</c:v>
                </c:pt>
                <c:pt idx="15">
                  <c:v>160.6</c:v>
                </c:pt>
                <c:pt idx="16">
                  <c:v>164.5</c:v>
                </c:pt>
                <c:pt idx="17">
                  <c:v>168.4</c:v>
                </c:pt>
                <c:pt idx="18">
                  <c:v>172.3</c:v>
                </c:pt>
                <c:pt idx="19">
                  <c:v>176.1</c:v>
                </c:pt>
                <c:pt idx="20">
                  <c:v>180</c:v>
                </c:pt>
              </c:numCache>
            </c:numRef>
          </c:val>
          <c:smooth val="0"/>
        </c:ser>
        <c:ser>
          <c:idx val="1"/>
          <c:order val="1"/>
          <c:tx>
            <c:strRef>
              <c:f>Sheet1!$C$1</c:f>
              <c:strCache>
                <c:ptCount val="1"/>
                <c:pt idx="0">
                  <c:v>Range-bound Asia</c:v>
                </c:pt>
              </c:strCache>
            </c:strRef>
          </c:tx>
          <c:spPr>
            <a:solidFill>
              <a:srgbClr val="D9961A"/>
            </a:solidFill>
            <a:ln w="25400" cap="flat">
              <a:solidFill>
                <a:srgbClr val="D9961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961A"/>
              </a:solidFill>
              <a:ln w="9525" cap="flat">
                <a:solidFill>
                  <a:srgbClr val="D9961A"/>
                </a:solidFill>
                <a:prstDash val="solid"/>
                <a:round/>
              </a:ln>
              <a:effectLst/>
            </c:spPr>
          </c:marker>
          <c:cat>
            <c:multiLvlStrRef>
              <c:f>Sheet1!$A$2:$A$22</c:f>
              <c:multiLvlStrCache>
                <c:ptCount val="21"/>
                <c:lvl>
                  <c:pt idx="0">
                    <c:v>Y0</c:v>
                  </c:pt>
                  <c:pt idx="1">
                    <c:v/>
                  </c:pt>
                  <c:pt idx="2">
                    <c:v/>
                  </c:pt>
                  <c:pt idx="3">
                    <c:v/>
                  </c:pt>
                  <c:pt idx="4">
                    <c:v>Y1</c:v>
                  </c:pt>
                  <c:pt idx="5">
                    <c:v/>
                  </c:pt>
                  <c:pt idx="6">
                    <c:v/>
                  </c:pt>
                  <c:pt idx="7">
                    <c:v/>
                  </c:pt>
                  <c:pt idx="8">
                    <c:v>Y2</c:v>
                  </c:pt>
                  <c:pt idx="9">
                    <c:v/>
                  </c:pt>
                  <c:pt idx="10">
                    <c:v/>
                  </c:pt>
                  <c:pt idx="11">
                    <c:v/>
                  </c:pt>
                  <c:pt idx="12">
                    <c:v>Y3</c:v>
                  </c:pt>
                  <c:pt idx="13">
                    <c:v/>
                  </c:pt>
                  <c:pt idx="14">
                    <c:v/>
                  </c:pt>
                  <c:pt idx="15">
                    <c:v/>
                  </c:pt>
                  <c:pt idx="16">
                    <c:v>Y4</c:v>
                  </c:pt>
                  <c:pt idx="17">
                    <c:v/>
                  </c:pt>
                  <c:pt idx="18">
                    <c:v/>
                  </c:pt>
                  <c:pt idx="19">
                    <c:v/>
                  </c:pt>
                  <c:pt idx="20">
                    <c:v>Y5</c:v>
                  </c:pt>
                </c:lvl>
              </c:multiLvlStrCache>
            </c:multiLvlStrRef>
          </c:cat>
          <c:val>
            <c:numRef>
              <c:f>Sheet1!$C$2:$C$22</c:f>
              <c:numCache>
                <c:formatCode>General</c:formatCode>
                <c:ptCount val="21"/>
                <c:pt idx="0">
                  <c:v>100</c:v>
                </c:pt>
                <c:pt idx="1">
                  <c:v>99</c:v>
                </c:pt>
                <c:pt idx="2">
                  <c:v>98</c:v>
                </c:pt>
                <c:pt idx="3">
                  <c:v>97</c:v>
                </c:pt>
                <c:pt idx="4">
                  <c:v>96</c:v>
                </c:pt>
                <c:pt idx="5">
                  <c:v>98.5</c:v>
                </c:pt>
                <c:pt idx="6">
                  <c:v>101</c:v>
                </c:pt>
                <c:pt idx="7">
                  <c:v>101.1</c:v>
                </c:pt>
                <c:pt idx="8">
                  <c:v>101.3</c:v>
                </c:pt>
                <c:pt idx="9">
                  <c:v>101.4</c:v>
                </c:pt>
                <c:pt idx="10">
                  <c:v>101.6</c:v>
                </c:pt>
                <c:pt idx="11">
                  <c:v>101.7</c:v>
                </c:pt>
                <c:pt idx="12">
                  <c:v>101.9</c:v>
                </c:pt>
                <c:pt idx="13">
                  <c:v>102</c:v>
                </c:pt>
                <c:pt idx="14">
                  <c:v>102.1</c:v>
                </c:pt>
                <c:pt idx="15">
                  <c:v>102.3</c:v>
                </c:pt>
                <c:pt idx="16">
                  <c:v>102.4</c:v>
                </c:pt>
                <c:pt idx="17">
                  <c:v>102.6</c:v>
                </c:pt>
                <c:pt idx="18">
                  <c:v>102.7</c:v>
                </c:pt>
                <c:pt idx="19">
                  <c:v>102.9</c:v>
                </c:pt>
                <c:pt idx="20">
                  <c:v>103</c:v>
                </c:pt>
              </c:numCache>
            </c:numRef>
          </c:val>
          <c:smooth val="0"/>
        </c:ser>
        <c:ser>
          <c:idx val="2"/>
          <c:order val="2"/>
          <c:tx>
            <c:strRef>
              <c:f>Sheet1!$D$1</c:f>
              <c:strCache>
                <c:ptCount val="1"/>
                <c:pt idx="0">
                  <c:v>2022-style tech drawdown, slow recovery</c:v>
                </c:pt>
              </c:strCache>
            </c:strRef>
          </c:tx>
          <c:spPr>
            <a:solidFill>
              <a:srgbClr val="0B3C49"/>
            </a:solidFill>
            <a:ln w="25400" cap="flat">
              <a:solidFill>
                <a:srgbClr val="0B3C4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3C49"/>
              </a:solidFill>
              <a:ln w="9525" cap="flat">
                <a:solidFill>
                  <a:srgbClr val="0B3C49"/>
                </a:solidFill>
                <a:prstDash val="solid"/>
                <a:round/>
              </a:ln>
              <a:effectLst/>
            </c:spPr>
          </c:marker>
          <c:cat>
            <c:multiLvlStrRef>
              <c:f>Sheet1!$A$2:$A$22</c:f>
              <c:multiLvlStrCache>
                <c:ptCount val="21"/>
                <c:lvl>
                  <c:pt idx="0">
                    <c:v>Y0</c:v>
                  </c:pt>
                  <c:pt idx="1">
                    <c:v/>
                  </c:pt>
                  <c:pt idx="2">
                    <c:v/>
                  </c:pt>
                  <c:pt idx="3">
                    <c:v/>
                  </c:pt>
                  <c:pt idx="4">
                    <c:v>Y1</c:v>
                  </c:pt>
                  <c:pt idx="5">
                    <c:v/>
                  </c:pt>
                  <c:pt idx="6">
                    <c:v/>
                  </c:pt>
                  <c:pt idx="7">
                    <c:v/>
                  </c:pt>
                  <c:pt idx="8">
                    <c:v>Y2</c:v>
                  </c:pt>
                  <c:pt idx="9">
                    <c:v/>
                  </c:pt>
                  <c:pt idx="10">
                    <c:v/>
                  </c:pt>
                  <c:pt idx="11">
                    <c:v/>
                  </c:pt>
                  <c:pt idx="12">
                    <c:v>Y3</c:v>
                  </c:pt>
                  <c:pt idx="13">
                    <c:v/>
                  </c:pt>
                  <c:pt idx="14">
                    <c:v/>
                  </c:pt>
                  <c:pt idx="15">
                    <c:v/>
                  </c:pt>
                  <c:pt idx="16">
                    <c:v>Y4</c:v>
                  </c:pt>
                  <c:pt idx="17">
                    <c:v/>
                  </c:pt>
                  <c:pt idx="18">
                    <c:v/>
                  </c:pt>
                  <c:pt idx="19">
                    <c:v/>
                  </c:pt>
                  <c:pt idx="20">
                    <c:v>Y5</c:v>
                  </c:pt>
                </c:lvl>
              </c:multiLvlStrCache>
            </c:multiLvlStrRef>
          </c:cat>
          <c:val>
            <c:numRef>
              <c:f>Sheet1!$D$2:$D$22</c:f>
              <c:numCache>
                <c:formatCode>General</c:formatCode>
                <c:ptCount val="21"/>
                <c:pt idx="0">
                  <c:v>100</c:v>
                </c:pt>
                <c:pt idx="1">
                  <c:v>90</c:v>
                </c:pt>
                <c:pt idx="2">
                  <c:v>80</c:v>
                </c:pt>
                <c:pt idx="3">
                  <c:v>70</c:v>
                </c:pt>
                <c:pt idx="4">
                  <c:v>71.6</c:v>
                </c:pt>
                <c:pt idx="5">
                  <c:v>73.2</c:v>
                </c:pt>
                <c:pt idx="6">
                  <c:v>74.8</c:v>
                </c:pt>
                <c:pt idx="7">
                  <c:v>76.4</c:v>
                </c:pt>
                <c:pt idx="8">
                  <c:v>78</c:v>
                </c:pt>
                <c:pt idx="9">
                  <c:v>80.8</c:v>
                </c:pt>
                <c:pt idx="10">
                  <c:v>83.7</c:v>
                </c:pt>
                <c:pt idx="11">
                  <c:v>86.5</c:v>
                </c:pt>
                <c:pt idx="12">
                  <c:v>89.3</c:v>
                </c:pt>
                <c:pt idx="13">
                  <c:v>92.2</c:v>
                </c:pt>
                <c:pt idx="14">
                  <c:v>95</c:v>
                </c:pt>
                <c:pt idx="15">
                  <c:v>102</c:v>
                </c:pt>
                <c:pt idx="16">
                  <c:v>103.6</c:v>
                </c:pt>
                <c:pt idx="17">
                  <c:v>105.2</c:v>
                </c:pt>
                <c:pt idx="18">
                  <c:v>106.8</c:v>
                </c:pt>
                <c:pt idx="19">
                  <c:v>108.4</c:v>
                </c:pt>
                <c:pt idx="20">
                  <c:v>110</c:v>
                </c:pt>
              </c:numCache>
            </c:numRef>
          </c:val>
          <c:smooth val="0"/>
        </c:ser>
        <c:ser>
          <c:idx val="3"/>
          <c:order val="3"/>
          <c:tx>
            <c:strRef>
              <c:f>Sheet1!$E$1</c:f>
              <c:strCache>
                <c:ptCount val="1"/>
                <c:pt idx="0">
                  <c:v>Lost decade (sideways below par)</c:v>
                </c:pt>
              </c:strCache>
            </c:strRef>
          </c:tx>
          <c:spPr>
            <a:solidFill>
              <a:srgbClr val="8FA6AA"/>
            </a:solidFill>
            <a:ln w="25400" cap="flat">
              <a:solidFill>
                <a:srgbClr val="8FA6A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FA6AA"/>
              </a:solidFill>
              <a:ln w="9525" cap="flat">
                <a:solidFill>
                  <a:srgbClr val="8FA6AA"/>
                </a:solidFill>
                <a:prstDash val="solid"/>
                <a:round/>
              </a:ln>
              <a:effectLst/>
            </c:spPr>
          </c:marker>
          <c:cat>
            <c:multiLvlStrRef>
              <c:f>Sheet1!$A$2:$A$22</c:f>
              <c:multiLvlStrCache>
                <c:ptCount val="21"/>
                <c:lvl>
                  <c:pt idx="0">
                    <c:v>Y0</c:v>
                  </c:pt>
                  <c:pt idx="1">
                    <c:v/>
                  </c:pt>
                  <c:pt idx="2">
                    <c:v/>
                  </c:pt>
                  <c:pt idx="3">
                    <c:v/>
                  </c:pt>
                  <c:pt idx="4">
                    <c:v>Y1</c:v>
                  </c:pt>
                  <c:pt idx="5">
                    <c:v/>
                  </c:pt>
                  <c:pt idx="6">
                    <c:v/>
                  </c:pt>
                  <c:pt idx="7">
                    <c:v/>
                  </c:pt>
                  <c:pt idx="8">
                    <c:v>Y2</c:v>
                  </c:pt>
                  <c:pt idx="9">
                    <c:v/>
                  </c:pt>
                  <c:pt idx="10">
                    <c:v/>
                  </c:pt>
                  <c:pt idx="11">
                    <c:v/>
                  </c:pt>
                  <c:pt idx="12">
                    <c:v>Y3</c:v>
                  </c:pt>
                  <c:pt idx="13">
                    <c:v/>
                  </c:pt>
                  <c:pt idx="14">
                    <c:v/>
                  </c:pt>
                  <c:pt idx="15">
                    <c:v/>
                  </c:pt>
                  <c:pt idx="16">
                    <c:v>Y4</c:v>
                  </c:pt>
                  <c:pt idx="17">
                    <c:v/>
                  </c:pt>
                  <c:pt idx="18">
                    <c:v/>
                  </c:pt>
                  <c:pt idx="19">
                    <c:v/>
                  </c:pt>
                  <c:pt idx="20">
                    <c:v>Y5</c:v>
                  </c:pt>
                </c:lvl>
              </c:multiLvlStrCache>
            </c:multiLvlStrRef>
          </c:cat>
          <c:val>
            <c:numRef>
              <c:f>Sheet1!$E$2:$E$22</c:f>
              <c:numCache>
                <c:formatCode>General</c:formatCode>
                <c:ptCount val="21"/>
                <c:pt idx="0">
                  <c:v>100</c:v>
                </c:pt>
                <c:pt idx="1">
                  <c:v>96.3</c:v>
                </c:pt>
                <c:pt idx="2">
                  <c:v>92.5</c:v>
                </c:pt>
                <c:pt idx="3">
                  <c:v>88.7</c:v>
                </c:pt>
                <c:pt idx="4">
                  <c:v>85</c:v>
                </c:pt>
                <c:pt idx="5">
                  <c:v>84.2</c:v>
                </c:pt>
                <c:pt idx="6">
                  <c:v>83.3</c:v>
                </c:pt>
                <c:pt idx="7">
                  <c:v>82.5</c:v>
                </c:pt>
                <c:pt idx="8">
                  <c:v>81.7</c:v>
                </c:pt>
                <c:pt idx="9">
                  <c:v>80.8</c:v>
                </c:pt>
                <c:pt idx="10">
                  <c:v>80</c:v>
                </c:pt>
                <c:pt idx="11">
                  <c:v>80.8</c:v>
                </c:pt>
                <c:pt idx="12">
                  <c:v>81.6</c:v>
                </c:pt>
                <c:pt idx="13">
                  <c:v>82.4</c:v>
                </c:pt>
                <c:pt idx="14">
                  <c:v>83.2</c:v>
                </c:pt>
                <c:pt idx="15">
                  <c:v>84</c:v>
                </c:pt>
                <c:pt idx="16">
                  <c:v>84.8</c:v>
                </c:pt>
                <c:pt idx="17">
                  <c:v>85.6</c:v>
                </c:pt>
                <c:pt idx="18">
                  <c:v>86.4</c:v>
                </c:pt>
                <c:pt idx="19">
                  <c:v>87.2</c:v>
                </c:pt>
                <c:pt idx="20">
                  <c:v>88</c:v>
                </c:pt>
              </c:numCache>
            </c:numRef>
          </c:val>
          <c:smooth val="0"/>
        </c:ser>
        <c:ser>
          <c:idx val="4"/>
          <c:order val="4"/>
          <c:tx>
            <c:strRef>
              <c:f>Sheet1!$F$1</c:f>
              <c:strCache>
                <c:ptCount val="1"/>
                <c:pt idx="0">
                  <c:v>Geopolitical shock, no recovery</c:v>
                </c:pt>
              </c:strCache>
            </c:strRef>
          </c:tx>
          <c:spPr>
            <a:solidFill>
              <a:srgbClr val="B8433A"/>
            </a:solidFill>
            <a:ln w="25400" cap="flat">
              <a:solidFill>
                <a:srgbClr val="B843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8433A"/>
              </a:solidFill>
              <a:ln w="9525" cap="flat">
                <a:solidFill>
                  <a:srgbClr val="B8433A"/>
                </a:solidFill>
                <a:prstDash val="solid"/>
                <a:round/>
              </a:ln>
              <a:effectLst/>
            </c:spPr>
          </c:marker>
          <c:cat>
            <c:multiLvlStrRef>
              <c:f>Sheet1!$A$2:$A$22</c:f>
              <c:multiLvlStrCache>
                <c:ptCount val="21"/>
                <c:lvl>
                  <c:pt idx="0">
                    <c:v>Y0</c:v>
                  </c:pt>
                  <c:pt idx="1">
                    <c:v/>
                  </c:pt>
                  <c:pt idx="2">
                    <c:v/>
                  </c:pt>
                  <c:pt idx="3">
                    <c:v/>
                  </c:pt>
                  <c:pt idx="4">
                    <c:v>Y1</c:v>
                  </c:pt>
                  <c:pt idx="5">
                    <c:v/>
                  </c:pt>
                  <c:pt idx="6">
                    <c:v/>
                  </c:pt>
                  <c:pt idx="7">
                    <c:v/>
                  </c:pt>
                  <c:pt idx="8">
                    <c:v>Y2</c:v>
                  </c:pt>
                  <c:pt idx="9">
                    <c:v/>
                  </c:pt>
                  <c:pt idx="10">
                    <c:v/>
                  </c:pt>
                  <c:pt idx="11">
                    <c:v/>
                  </c:pt>
                  <c:pt idx="12">
                    <c:v>Y3</c:v>
                  </c:pt>
                  <c:pt idx="13">
                    <c:v/>
                  </c:pt>
                  <c:pt idx="14">
                    <c:v/>
                  </c:pt>
                  <c:pt idx="15">
                    <c:v/>
                  </c:pt>
                  <c:pt idx="16">
                    <c:v>Y4</c:v>
                  </c:pt>
                  <c:pt idx="17">
                    <c:v/>
                  </c:pt>
                  <c:pt idx="18">
                    <c:v/>
                  </c:pt>
                  <c:pt idx="19">
                    <c:v/>
                  </c:pt>
                  <c:pt idx="20">
                    <c:v>Y5</c:v>
                  </c:pt>
                </c:lvl>
              </c:multiLvlStrCache>
            </c:multiLvlStrRef>
          </c:cat>
          <c:val>
            <c:numRef>
              <c:f>Sheet1!$F$2:$F$22</c:f>
              <c:numCache>
                <c:formatCode>General</c:formatCode>
                <c:ptCount val="21"/>
                <c:pt idx="0">
                  <c:v>100</c:v>
                </c:pt>
                <c:pt idx="1">
                  <c:v>80</c:v>
                </c:pt>
                <c:pt idx="2">
                  <c:v>60</c:v>
                </c:pt>
                <c:pt idx="3">
                  <c:v>58.3</c:v>
                </c:pt>
                <c:pt idx="4">
                  <c:v>56.7</c:v>
                </c:pt>
                <c:pt idx="5">
                  <c:v>55</c:v>
                </c:pt>
                <c:pt idx="6">
                  <c:v>53.3</c:v>
                </c:pt>
                <c:pt idx="7">
                  <c:v>51.7</c:v>
                </c:pt>
                <c:pt idx="8">
                  <c:v>50</c:v>
                </c:pt>
                <c:pt idx="9">
                  <c:v>50.4</c:v>
                </c:pt>
                <c:pt idx="10">
                  <c:v>50.8</c:v>
                </c:pt>
                <c:pt idx="11">
                  <c:v>51.2</c:v>
                </c:pt>
                <c:pt idx="12">
                  <c:v>51.7</c:v>
                </c:pt>
                <c:pt idx="13">
                  <c:v>52.1</c:v>
                </c:pt>
                <c:pt idx="14">
                  <c:v>52.5</c:v>
                </c:pt>
                <c:pt idx="15">
                  <c:v>52.9</c:v>
                </c:pt>
                <c:pt idx="16">
                  <c:v>53.3</c:v>
                </c:pt>
                <c:pt idx="17">
                  <c:v>53.8</c:v>
                </c:pt>
                <c:pt idx="18">
                  <c:v>54.2</c:v>
                </c:pt>
                <c:pt idx="19">
                  <c:v>54.6</c:v>
                </c:pt>
                <c:pt idx="20">
                  <c:v>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FA6AA"/>
            </a:solidFill>
            <a:prstDash val="solid"/>
            <a:round/>
          </a:ln>
        </c:spPr>
        <c:txPr>
          <a:bodyPr/>
          <a:lstStyle/>
          <a:p>
            <a:pPr>
              <a:defRPr sz="900" b="0" i="0" u="none" strike="noStrike">
                <a:solidFill>
                  <a:srgbClr val="5F7176"/>
                </a:solidFill>
                <a:latin typeface="Calibri"/>
              </a:defRPr>
            </a:pPr>
            <a:endParaRPr lang="en-US"/>
          </a:p>
        </c:txPr>
        <c:crossAx val="2094734552"/>
        <c:crosses val="autoZero"/>
        <c:auto val="1"/>
        <c:lblAlgn val="ctr"/>
        <c:noMultiLvlLbl val="1"/>
      </c:catAx>
      <c:valAx>
        <c:axId val="2094734552"/>
        <c:scaling>
          <c:orientation val="minMax"/>
          <c:max val="180"/>
          <c:min val="40"/>
        </c:scaling>
        <c:delete val="0"/>
        <c:axPos val="l"/>
        <c:majorGridlines>
          <c:spPr>
            <a:ln w="6350" cap="flat">
              <a:solidFill>
                <a:srgbClr val="DCE7E5"/>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900" b="0" i="0" u="none" strike="noStrike">
                <a:solidFill>
                  <a:srgbClr val="5F7176"/>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D2B30"/>
                </a:solidFill>
                <a:latin typeface="Calibri"/>
              </a:defRPr>
            </a:pPr>
            <a:r>
              <a:rPr sz="950" b="0" i="0" u="none" strike="noStrike">
                <a:solidFill>
                  <a:srgbClr val="1D2B30"/>
                </a:solidFill>
                <a:latin typeface="Calibri"/>
              </a:rPr>
              <a:t>Cumulative autocall probability (risk-neutral)</a:t>
            </a:r>
          </a:p>
        </c:rich>
      </c:tx>
      <c:layout/>
      <c:overlay val="0"/>
    </c:title>
    <c:autoTitleDeleted val="0"/>
    <c:plotArea>
      <c:layout/>
      <c:barChart>
        <c:barDir val="col"/>
        <c:grouping val="clustered"/>
        <c:varyColors val="0"/>
        <c:ser>
          <c:idx val="0"/>
          <c:order val="0"/>
          <c:tx>
            <c:strRef>
              <c:f>Sheet1!$B$1</c:f>
              <c:strCache>
                <c:ptCount val="1"/>
                <c:pt idx="0">
                  <c:v>Cumulative call probability</c:v>
                </c:pt>
              </c:strCache>
            </c:strRef>
          </c:tx>
          <c:spPr>
            <a:solidFill>
              <a:srgbClr val="0F8B8D"/>
            </a:solidFill>
            <a:effectLst/>
          </c:spPr>
          <c:invertIfNegative val="0"/>
          <c:dLbls>
            <c:numFmt formatCode="0&quot;%&quot;" sourceLinked="0"/>
            <c:txPr>
              <a:bodyPr/>
              <a:lstStyle/>
              <a:p>
                <a:pPr>
                  <a:defRPr b="0" i="0" strike="noStrike" sz="900" u="none">
                    <a:solidFill>
                      <a:srgbClr val="1D2B30"/>
                    </a:solidFill>
                    <a:latin typeface="Arial"/>
                  </a:defRPr>
                </a:pPr>
              </a:p>
            </c:txPr>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48.2</c:v>
                </c:pt>
                <c:pt idx="1">
                  <c:v>65.9</c:v>
                </c:pt>
                <c:pt idx="2">
                  <c:v>72.4</c:v>
                </c:pt>
                <c:pt idx="3">
                  <c:v>76.1</c:v>
                </c:pt>
                <c:pt idx="4">
                  <c:v>78.6</c:v>
                </c:pt>
              </c:numCache>
            </c:numRef>
          </c:val>
        </c:ser>
        <c:dLbls>
          <c:numFmt formatCode="0&quot;%&quot;" sourceLinked="0"/>
          <c:txPr>
            <a:bodyPr/>
            <a:lstStyle/>
            <a:p>
              <a:pPr>
                <a:defRPr b="0" i="0" strike="noStrike" sz="900" u="none">
                  <a:solidFill>
                    <a:srgbClr val="1D2B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FA6AA"/>
            </a:solidFill>
            <a:prstDash val="solid"/>
            <a:round/>
          </a:ln>
        </c:spPr>
        <c:txPr>
          <a:bodyPr/>
          <a:lstStyle/>
          <a:p>
            <a:pPr>
              <a:defRPr sz="900" b="0" i="0" u="none" strike="noStrike">
                <a:solidFill>
                  <a:srgbClr val="5F7176"/>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CE7E5"/>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900" b="0" i="0" u="none" strike="noStrike">
                <a:solidFill>
                  <a:srgbClr val="5F7176"/>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D2B30"/>
                </a:solidFill>
                <a:latin typeface="Calibri"/>
              </a:defRPr>
            </a:pPr>
            <a:r>
              <a:rPr sz="950" b="0" i="0" u="none" strike="noStrike">
                <a:solidFill>
                  <a:srgbClr val="1D2B30"/>
                </a:solidFill>
                <a:latin typeface="Calibri"/>
              </a:rPr>
              <a:t>Total received at Y5 (not called earlier) vs final basket level</a:t>
            </a:r>
          </a:p>
        </c:rich>
      </c:tx>
      <c:layout/>
      <c:overlay val="0"/>
    </c:title>
    <c:autoTitleDeleted val="0"/>
    <c:plotArea>
      <c:layout/>
      <c:scatterChart>
        <c:scatterStyle val="lineMarker"/>
        <c:varyColors val="0"/>
        <c:ser>
          <c:idx val="0"/>
          <c:order val="0"/>
          <c:tx>
            <c:strRef>
              <c:f>Sheet1!$B$1</c:f>
              <c:strCache>
                <c:ptCount val="1"/>
                <c:pt idx="0">
                  <c:v>Our note (7.20%)</c:v>
                </c:pt>
              </c:strCache>
            </c:strRef>
          </c:tx>
          <c:spPr>
            <a:solidFill>
              <a:srgbClr val="0F8B8D"/>
            </a:solidFill>
            <a:ln w="25400" cap="flat">
              <a:solidFill>
                <a:srgbClr val="0F8B8D"/>
              </a:solidFill>
              <a:prstDash val="solid"/>
              <a:round/>
            </a:ln>
            <a:effectLst/>
          </c:spPr>
          <c:marker>
            <c:symbol val="none"/>
            <c:size val="6"/>
            <c:spPr>
              <a:solidFill>
                <a:srgbClr val="0F8B8D"/>
              </a:solidFill>
              <a:ln w="9525" cap="flat">
                <a:solidFill>
                  <a:srgbClr val="0F8B8D"/>
                </a:solidFill>
                <a:prstDash val="solid"/>
                <a:round/>
              </a:ln>
              <a:effectLst/>
            </c:spPr>
          </c:marker>
          <c:xVal>
            <c:numRef>
              <c:f>Sheet1!$A$2:$A$142</c:f>
              <c:numCache>
                <c:formatCode>General</c:formatCode>
                <c:ptCount val="14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pt idx="101">
                  <c:v>141</c:v>
                </c:pt>
                <c:pt idx="102">
                  <c:v>142</c:v>
                </c:pt>
                <c:pt idx="103">
                  <c:v>143</c:v>
                </c:pt>
                <c:pt idx="104">
                  <c:v>144</c:v>
                </c:pt>
                <c:pt idx="105">
                  <c:v>145</c:v>
                </c:pt>
                <c:pt idx="106">
                  <c:v>146</c:v>
                </c:pt>
                <c:pt idx="107">
                  <c:v>147</c:v>
                </c:pt>
                <c:pt idx="108">
                  <c:v>148</c:v>
                </c:pt>
                <c:pt idx="109">
                  <c:v>149</c:v>
                </c:pt>
                <c:pt idx="110">
                  <c:v>150</c:v>
                </c:pt>
                <c:pt idx="111">
                  <c:v>151</c:v>
                </c:pt>
                <c:pt idx="112">
                  <c:v>152</c:v>
                </c:pt>
                <c:pt idx="113">
                  <c:v>153</c:v>
                </c:pt>
                <c:pt idx="114">
                  <c:v>154</c:v>
                </c:pt>
                <c:pt idx="115">
                  <c:v>155</c:v>
                </c:pt>
                <c:pt idx="116">
                  <c:v>156</c:v>
                </c:pt>
                <c:pt idx="117">
                  <c:v>157</c:v>
                </c:pt>
                <c:pt idx="118">
                  <c:v>158</c:v>
                </c:pt>
                <c:pt idx="119">
                  <c:v>159</c:v>
                </c:pt>
                <c:pt idx="120">
                  <c:v>160</c:v>
                </c:pt>
                <c:pt idx="121">
                  <c:v>161</c:v>
                </c:pt>
                <c:pt idx="122">
                  <c:v>162</c:v>
                </c:pt>
                <c:pt idx="123">
                  <c:v>163</c:v>
                </c:pt>
                <c:pt idx="124">
                  <c:v>164</c:v>
                </c:pt>
                <c:pt idx="125">
                  <c:v>165</c:v>
                </c:pt>
                <c:pt idx="126">
                  <c:v>166</c:v>
                </c:pt>
                <c:pt idx="127">
                  <c:v>167</c:v>
                </c:pt>
                <c:pt idx="128">
                  <c:v>168</c:v>
                </c:pt>
                <c:pt idx="129">
                  <c:v>169</c:v>
                </c:pt>
                <c:pt idx="130">
                  <c:v>170</c:v>
                </c:pt>
                <c:pt idx="131">
                  <c:v>171</c:v>
                </c:pt>
                <c:pt idx="132">
                  <c:v>172</c:v>
                </c:pt>
                <c:pt idx="133">
                  <c:v>173</c:v>
                </c:pt>
                <c:pt idx="134">
                  <c:v>174</c:v>
                </c:pt>
                <c:pt idx="135">
                  <c:v>175</c:v>
                </c:pt>
                <c:pt idx="136">
                  <c:v>176</c:v>
                </c:pt>
                <c:pt idx="137">
                  <c:v>177</c:v>
                </c:pt>
                <c:pt idx="138">
                  <c:v>178</c:v>
                </c:pt>
                <c:pt idx="139">
                  <c:v>179</c:v>
                </c:pt>
                <c:pt idx="140">
                  <c:v>180</c:v>
                </c:pt>
              </c:numCache>
            </c:numRef>
          </c:xVal>
          <c:yVal>
            <c:numRef>
              <c:f>Sheet1!$B$2:$B$142</c:f>
              <c:numCache>
                <c:formatCode>General</c:formatCode>
                <c:ptCount val="141"/>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pt idx="26">
                  <c:v>100</c:v>
                </c:pt>
                <c:pt idx="27">
                  <c:v>100</c:v>
                </c:pt>
                <c:pt idx="28">
                  <c:v>100</c:v>
                </c:pt>
                <c:pt idx="29">
                  <c:v>100</c:v>
                </c:pt>
                <c:pt idx="30">
                  <c:v>100</c:v>
                </c:pt>
                <c:pt idx="31">
                  <c:v>100</c:v>
                </c:pt>
                <c:pt idx="32">
                  <c:v>100</c:v>
                </c:pt>
                <c:pt idx="33">
                  <c:v>100</c:v>
                </c:pt>
                <c:pt idx="34">
                  <c:v>100</c:v>
                </c:pt>
                <c:pt idx="35">
                  <c:v>100</c:v>
                </c:pt>
                <c:pt idx="36">
                  <c:v>100</c:v>
                </c:pt>
                <c:pt idx="37">
                  <c:v>100</c:v>
                </c:pt>
                <c:pt idx="38">
                  <c:v>100</c:v>
                </c:pt>
                <c:pt idx="39">
                  <c:v>100</c:v>
                </c:pt>
                <c:pt idx="40">
                  <c:v>100</c:v>
                </c:pt>
                <c:pt idx="41">
                  <c:v>100</c:v>
                </c:pt>
                <c:pt idx="42">
                  <c:v>100</c:v>
                </c:pt>
                <c:pt idx="43">
                  <c:v>100</c:v>
                </c:pt>
                <c:pt idx="44">
                  <c:v>100</c:v>
                </c:pt>
                <c:pt idx="45">
                  <c:v>100</c:v>
                </c:pt>
                <c:pt idx="46">
                  <c:v>100</c:v>
                </c:pt>
                <c:pt idx="47">
                  <c:v>100</c:v>
                </c:pt>
                <c:pt idx="48">
                  <c:v>100</c:v>
                </c:pt>
                <c:pt idx="49">
                  <c:v>100</c:v>
                </c:pt>
                <c:pt idx="50">
                  <c:v>100</c:v>
                </c:pt>
                <c:pt idx="51">
                  <c:v>100</c:v>
                </c:pt>
                <c:pt idx="52">
                  <c:v>100</c:v>
                </c:pt>
                <c:pt idx="53">
                  <c:v>100</c:v>
                </c:pt>
                <c:pt idx="54">
                  <c:v>100</c:v>
                </c:pt>
                <c:pt idx="55">
                  <c:v>100</c:v>
                </c:pt>
                <c:pt idx="56">
                  <c:v>100</c:v>
                </c:pt>
                <c:pt idx="57">
                  <c:v>100</c:v>
                </c:pt>
                <c:pt idx="58">
                  <c:v>100</c:v>
                </c:pt>
                <c:pt idx="59">
                  <c:v>100</c:v>
                </c:pt>
                <c:pt idx="60">
                  <c:v>136</c:v>
                </c:pt>
                <c:pt idx="61">
                  <c:v>136</c:v>
                </c:pt>
                <c:pt idx="62">
                  <c:v>136</c:v>
                </c:pt>
                <c:pt idx="63">
                  <c:v>136</c:v>
                </c:pt>
                <c:pt idx="64">
                  <c:v>136</c:v>
                </c:pt>
                <c:pt idx="65">
                  <c:v>136</c:v>
                </c:pt>
                <c:pt idx="66">
                  <c:v>136</c:v>
                </c:pt>
                <c:pt idx="67">
                  <c:v>136</c:v>
                </c:pt>
                <c:pt idx="68">
                  <c:v>136</c:v>
                </c:pt>
                <c:pt idx="69">
                  <c:v>136</c:v>
                </c:pt>
                <c:pt idx="70">
                  <c:v>136</c:v>
                </c:pt>
                <c:pt idx="71">
                  <c:v>136</c:v>
                </c:pt>
                <c:pt idx="72">
                  <c:v>136</c:v>
                </c:pt>
                <c:pt idx="73">
                  <c:v>136</c:v>
                </c:pt>
                <c:pt idx="74">
                  <c:v>136</c:v>
                </c:pt>
                <c:pt idx="75">
                  <c:v>136</c:v>
                </c:pt>
                <c:pt idx="76">
                  <c:v>136</c:v>
                </c:pt>
                <c:pt idx="77">
                  <c:v>136</c:v>
                </c:pt>
                <c:pt idx="78">
                  <c:v>136</c:v>
                </c:pt>
                <c:pt idx="79">
                  <c:v>136</c:v>
                </c:pt>
                <c:pt idx="80">
                  <c:v>136</c:v>
                </c:pt>
                <c:pt idx="81">
                  <c:v>136</c:v>
                </c:pt>
                <c:pt idx="82">
                  <c:v>136</c:v>
                </c:pt>
                <c:pt idx="83">
                  <c:v>136</c:v>
                </c:pt>
                <c:pt idx="84">
                  <c:v>136</c:v>
                </c:pt>
                <c:pt idx="85">
                  <c:v>136</c:v>
                </c:pt>
                <c:pt idx="86">
                  <c:v>136</c:v>
                </c:pt>
                <c:pt idx="87">
                  <c:v>136</c:v>
                </c:pt>
                <c:pt idx="88">
                  <c:v>136</c:v>
                </c:pt>
                <c:pt idx="89">
                  <c:v>136</c:v>
                </c:pt>
                <c:pt idx="90">
                  <c:v>136</c:v>
                </c:pt>
                <c:pt idx="91">
                  <c:v>136</c:v>
                </c:pt>
                <c:pt idx="92">
                  <c:v>136</c:v>
                </c:pt>
                <c:pt idx="93">
                  <c:v>136</c:v>
                </c:pt>
                <c:pt idx="94">
                  <c:v>136</c:v>
                </c:pt>
                <c:pt idx="95">
                  <c:v>136</c:v>
                </c:pt>
                <c:pt idx="96">
                  <c:v>136</c:v>
                </c:pt>
                <c:pt idx="97">
                  <c:v>136</c:v>
                </c:pt>
                <c:pt idx="98">
                  <c:v>136</c:v>
                </c:pt>
                <c:pt idx="99">
                  <c:v>136</c:v>
                </c:pt>
                <c:pt idx="100">
                  <c:v>136</c:v>
                </c:pt>
                <c:pt idx="101">
                  <c:v>136</c:v>
                </c:pt>
                <c:pt idx="102">
                  <c:v>136</c:v>
                </c:pt>
                <c:pt idx="103">
                  <c:v>136</c:v>
                </c:pt>
                <c:pt idx="104">
                  <c:v>136</c:v>
                </c:pt>
                <c:pt idx="105">
                  <c:v>136</c:v>
                </c:pt>
                <c:pt idx="106">
                  <c:v>136</c:v>
                </c:pt>
                <c:pt idx="107">
                  <c:v>136</c:v>
                </c:pt>
                <c:pt idx="108">
                  <c:v>136</c:v>
                </c:pt>
                <c:pt idx="109">
                  <c:v>136</c:v>
                </c:pt>
                <c:pt idx="110">
                  <c:v>136</c:v>
                </c:pt>
                <c:pt idx="111">
                  <c:v>136</c:v>
                </c:pt>
                <c:pt idx="112">
                  <c:v>136</c:v>
                </c:pt>
                <c:pt idx="113">
                  <c:v>136</c:v>
                </c:pt>
                <c:pt idx="114">
                  <c:v>136</c:v>
                </c:pt>
                <c:pt idx="115">
                  <c:v>136</c:v>
                </c:pt>
                <c:pt idx="116">
                  <c:v>136</c:v>
                </c:pt>
                <c:pt idx="117">
                  <c:v>136</c:v>
                </c:pt>
                <c:pt idx="118">
                  <c:v>136</c:v>
                </c:pt>
                <c:pt idx="119">
                  <c:v>136</c:v>
                </c:pt>
                <c:pt idx="120">
                  <c:v>136</c:v>
                </c:pt>
                <c:pt idx="121">
                  <c:v>136</c:v>
                </c:pt>
                <c:pt idx="122">
                  <c:v>136</c:v>
                </c:pt>
                <c:pt idx="123">
                  <c:v>136</c:v>
                </c:pt>
                <c:pt idx="124">
                  <c:v>136</c:v>
                </c:pt>
                <c:pt idx="125">
                  <c:v>136</c:v>
                </c:pt>
                <c:pt idx="126">
                  <c:v>136</c:v>
                </c:pt>
                <c:pt idx="127">
                  <c:v>136</c:v>
                </c:pt>
                <c:pt idx="128">
                  <c:v>136</c:v>
                </c:pt>
                <c:pt idx="129">
                  <c:v>136</c:v>
                </c:pt>
                <c:pt idx="130">
                  <c:v>136</c:v>
                </c:pt>
                <c:pt idx="131">
                  <c:v>136</c:v>
                </c:pt>
                <c:pt idx="132">
                  <c:v>136</c:v>
                </c:pt>
                <c:pt idx="133">
                  <c:v>136</c:v>
                </c:pt>
                <c:pt idx="134">
                  <c:v>136</c:v>
                </c:pt>
                <c:pt idx="135">
                  <c:v>136</c:v>
                </c:pt>
                <c:pt idx="136">
                  <c:v>136</c:v>
                </c:pt>
                <c:pt idx="137">
                  <c:v>136</c:v>
                </c:pt>
                <c:pt idx="138">
                  <c:v>136</c:v>
                </c:pt>
                <c:pt idx="139">
                  <c:v>136</c:v>
                </c:pt>
                <c:pt idx="140">
                  <c:v>136</c:v>
                </c:pt>
              </c:numCache>
            </c:numRef>
          </c:yVal>
          <c:smooth val="0"/>
        </c:ser>
        <c:ser>
          <c:idx val="1"/>
          <c:order val="1"/>
          <c:tx>
            <c:strRef>
              <c:f>Sheet1!$C$1</c:f>
              <c:strCache>
                <c:ptCount val="1"/>
                <c:pt idx="0">
                  <c:v>Snowball 9%, 65% barrier</c:v>
                </c:pt>
              </c:strCache>
            </c:strRef>
          </c:tx>
          <c:spPr>
            <a:solidFill>
              <a:srgbClr val="B8433A"/>
            </a:solidFill>
            <a:ln w="25400" cap="flat">
              <a:solidFill>
                <a:srgbClr val="B8433A"/>
              </a:solidFill>
              <a:prstDash val="solid"/>
              <a:round/>
            </a:ln>
            <a:effectLst/>
          </c:spPr>
          <c:marker>
            <c:symbol val="none"/>
            <c:size val="6"/>
            <c:spPr>
              <a:solidFill>
                <a:srgbClr val="B8433A"/>
              </a:solidFill>
              <a:ln w="9525" cap="flat">
                <a:solidFill>
                  <a:srgbClr val="B8433A"/>
                </a:solidFill>
                <a:prstDash val="solid"/>
                <a:round/>
              </a:ln>
              <a:effectLst/>
            </c:spPr>
          </c:marker>
          <c:xVal>
            <c:numRef>
              <c:f>Sheet1!$A$2:$A$142</c:f>
              <c:numCache>
                <c:formatCode>General</c:formatCode>
                <c:ptCount val="14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pt idx="101">
                  <c:v>141</c:v>
                </c:pt>
                <c:pt idx="102">
                  <c:v>142</c:v>
                </c:pt>
                <c:pt idx="103">
                  <c:v>143</c:v>
                </c:pt>
                <c:pt idx="104">
                  <c:v>144</c:v>
                </c:pt>
                <c:pt idx="105">
                  <c:v>145</c:v>
                </c:pt>
                <c:pt idx="106">
                  <c:v>146</c:v>
                </c:pt>
                <c:pt idx="107">
                  <c:v>147</c:v>
                </c:pt>
                <c:pt idx="108">
                  <c:v>148</c:v>
                </c:pt>
                <c:pt idx="109">
                  <c:v>149</c:v>
                </c:pt>
                <c:pt idx="110">
                  <c:v>150</c:v>
                </c:pt>
                <c:pt idx="111">
                  <c:v>151</c:v>
                </c:pt>
                <c:pt idx="112">
                  <c:v>152</c:v>
                </c:pt>
                <c:pt idx="113">
                  <c:v>153</c:v>
                </c:pt>
                <c:pt idx="114">
                  <c:v>154</c:v>
                </c:pt>
                <c:pt idx="115">
                  <c:v>155</c:v>
                </c:pt>
                <c:pt idx="116">
                  <c:v>156</c:v>
                </c:pt>
                <c:pt idx="117">
                  <c:v>157</c:v>
                </c:pt>
                <c:pt idx="118">
                  <c:v>158</c:v>
                </c:pt>
                <c:pt idx="119">
                  <c:v>159</c:v>
                </c:pt>
                <c:pt idx="120">
                  <c:v>160</c:v>
                </c:pt>
                <c:pt idx="121">
                  <c:v>161</c:v>
                </c:pt>
                <c:pt idx="122">
                  <c:v>162</c:v>
                </c:pt>
                <c:pt idx="123">
                  <c:v>163</c:v>
                </c:pt>
                <c:pt idx="124">
                  <c:v>164</c:v>
                </c:pt>
                <c:pt idx="125">
                  <c:v>165</c:v>
                </c:pt>
                <c:pt idx="126">
                  <c:v>166</c:v>
                </c:pt>
                <c:pt idx="127">
                  <c:v>167</c:v>
                </c:pt>
                <c:pt idx="128">
                  <c:v>168</c:v>
                </c:pt>
                <c:pt idx="129">
                  <c:v>169</c:v>
                </c:pt>
                <c:pt idx="130">
                  <c:v>170</c:v>
                </c:pt>
                <c:pt idx="131">
                  <c:v>171</c:v>
                </c:pt>
                <c:pt idx="132">
                  <c:v>172</c:v>
                </c:pt>
                <c:pt idx="133">
                  <c:v>173</c:v>
                </c:pt>
                <c:pt idx="134">
                  <c:v>174</c:v>
                </c:pt>
                <c:pt idx="135">
                  <c:v>175</c:v>
                </c:pt>
                <c:pt idx="136">
                  <c:v>176</c:v>
                </c:pt>
                <c:pt idx="137">
                  <c:v>177</c:v>
                </c:pt>
                <c:pt idx="138">
                  <c:v>178</c:v>
                </c:pt>
                <c:pt idx="139">
                  <c:v>179</c:v>
                </c:pt>
                <c:pt idx="140">
                  <c:v>180</c:v>
                </c:pt>
              </c:numCache>
            </c:numRef>
          </c:xVal>
          <c:yVal>
            <c:numRef>
              <c:f>Sheet1!$C$2:$C$142</c:f>
              <c:numCache>
                <c:formatCode>General</c:formatCode>
                <c:ptCount val="14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100</c:v>
                </c:pt>
                <c:pt idx="26">
                  <c:v>100</c:v>
                </c:pt>
                <c:pt idx="27">
                  <c:v>100</c:v>
                </c:pt>
                <c:pt idx="28">
                  <c:v>100</c:v>
                </c:pt>
                <c:pt idx="29">
                  <c:v>100</c:v>
                </c:pt>
                <c:pt idx="30">
                  <c:v>100</c:v>
                </c:pt>
                <c:pt idx="31">
                  <c:v>100</c:v>
                </c:pt>
                <c:pt idx="32">
                  <c:v>100</c:v>
                </c:pt>
                <c:pt idx="33">
                  <c:v>100</c:v>
                </c:pt>
                <c:pt idx="34">
                  <c:v>100</c:v>
                </c:pt>
                <c:pt idx="35">
                  <c:v>100</c:v>
                </c:pt>
                <c:pt idx="36">
                  <c:v>100</c:v>
                </c:pt>
                <c:pt idx="37">
                  <c:v>100</c:v>
                </c:pt>
                <c:pt idx="38">
                  <c:v>100</c:v>
                </c:pt>
                <c:pt idx="39">
                  <c:v>100</c:v>
                </c:pt>
                <c:pt idx="40">
                  <c:v>100</c:v>
                </c:pt>
                <c:pt idx="41">
                  <c:v>100</c:v>
                </c:pt>
                <c:pt idx="42">
                  <c:v>100</c:v>
                </c:pt>
                <c:pt idx="43">
                  <c:v>100</c:v>
                </c:pt>
                <c:pt idx="44">
                  <c:v>100</c:v>
                </c:pt>
                <c:pt idx="45">
                  <c:v>100</c:v>
                </c:pt>
                <c:pt idx="46">
                  <c:v>100</c:v>
                </c:pt>
                <c:pt idx="47">
                  <c:v>100</c:v>
                </c:pt>
                <c:pt idx="48">
                  <c:v>100</c:v>
                </c:pt>
                <c:pt idx="49">
                  <c:v>100</c:v>
                </c:pt>
                <c:pt idx="50">
                  <c:v>100</c:v>
                </c:pt>
                <c:pt idx="51">
                  <c:v>100</c:v>
                </c:pt>
                <c:pt idx="52">
                  <c:v>100</c:v>
                </c:pt>
                <c:pt idx="53">
                  <c:v>100</c:v>
                </c:pt>
                <c:pt idx="54">
                  <c:v>100</c:v>
                </c:pt>
                <c:pt idx="55">
                  <c:v>100</c:v>
                </c:pt>
                <c:pt idx="56">
                  <c:v>100</c:v>
                </c:pt>
                <c:pt idx="57">
                  <c:v>100</c:v>
                </c:pt>
                <c:pt idx="58">
                  <c:v>100</c:v>
                </c:pt>
                <c:pt idx="59">
                  <c:v>100</c:v>
                </c:pt>
                <c:pt idx="60">
                  <c:v>145</c:v>
                </c:pt>
                <c:pt idx="61">
                  <c:v>145</c:v>
                </c:pt>
                <c:pt idx="62">
                  <c:v>145</c:v>
                </c:pt>
                <c:pt idx="63">
                  <c:v>145</c:v>
                </c:pt>
                <c:pt idx="64">
                  <c:v>145</c:v>
                </c:pt>
                <c:pt idx="65">
                  <c:v>145</c:v>
                </c:pt>
                <c:pt idx="66">
                  <c:v>145</c:v>
                </c:pt>
                <c:pt idx="67">
                  <c:v>145</c:v>
                </c:pt>
                <c:pt idx="68">
                  <c:v>145</c:v>
                </c:pt>
                <c:pt idx="69">
                  <c:v>145</c:v>
                </c:pt>
                <c:pt idx="70">
                  <c:v>145</c:v>
                </c:pt>
                <c:pt idx="71">
                  <c:v>145</c:v>
                </c:pt>
                <c:pt idx="72">
                  <c:v>145</c:v>
                </c:pt>
                <c:pt idx="73">
                  <c:v>145</c:v>
                </c:pt>
                <c:pt idx="74">
                  <c:v>145</c:v>
                </c:pt>
                <c:pt idx="75">
                  <c:v>145</c:v>
                </c:pt>
                <c:pt idx="76">
                  <c:v>145</c:v>
                </c:pt>
                <c:pt idx="77">
                  <c:v>145</c:v>
                </c:pt>
                <c:pt idx="78">
                  <c:v>145</c:v>
                </c:pt>
                <c:pt idx="79">
                  <c:v>145</c:v>
                </c:pt>
                <c:pt idx="80">
                  <c:v>145</c:v>
                </c:pt>
                <c:pt idx="81">
                  <c:v>145</c:v>
                </c:pt>
                <c:pt idx="82">
                  <c:v>145</c:v>
                </c:pt>
                <c:pt idx="83">
                  <c:v>145</c:v>
                </c:pt>
                <c:pt idx="84">
                  <c:v>145</c:v>
                </c:pt>
                <c:pt idx="85">
                  <c:v>145</c:v>
                </c:pt>
                <c:pt idx="86">
                  <c:v>145</c:v>
                </c:pt>
                <c:pt idx="87">
                  <c:v>145</c:v>
                </c:pt>
                <c:pt idx="88">
                  <c:v>145</c:v>
                </c:pt>
                <c:pt idx="89">
                  <c:v>145</c:v>
                </c:pt>
                <c:pt idx="90">
                  <c:v>145</c:v>
                </c:pt>
                <c:pt idx="91">
                  <c:v>145</c:v>
                </c:pt>
                <c:pt idx="92">
                  <c:v>145</c:v>
                </c:pt>
                <c:pt idx="93">
                  <c:v>145</c:v>
                </c:pt>
                <c:pt idx="94">
                  <c:v>145</c:v>
                </c:pt>
                <c:pt idx="95">
                  <c:v>145</c:v>
                </c:pt>
                <c:pt idx="96">
                  <c:v>145</c:v>
                </c:pt>
                <c:pt idx="97">
                  <c:v>145</c:v>
                </c:pt>
                <c:pt idx="98">
                  <c:v>145</c:v>
                </c:pt>
                <c:pt idx="99">
                  <c:v>145</c:v>
                </c:pt>
                <c:pt idx="100">
                  <c:v>145</c:v>
                </c:pt>
                <c:pt idx="101">
                  <c:v>145</c:v>
                </c:pt>
                <c:pt idx="102">
                  <c:v>145</c:v>
                </c:pt>
                <c:pt idx="103">
                  <c:v>145</c:v>
                </c:pt>
                <c:pt idx="104">
                  <c:v>145</c:v>
                </c:pt>
                <c:pt idx="105">
                  <c:v>145</c:v>
                </c:pt>
                <c:pt idx="106">
                  <c:v>145</c:v>
                </c:pt>
                <c:pt idx="107">
                  <c:v>145</c:v>
                </c:pt>
                <c:pt idx="108">
                  <c:v>145</c:v>
                </c:pt>
                <c:pt idx="109">
                  <c:v>145</c:v>
                </c:pt>
                <c:pt idx="110">
                  <c:v>145</c:v>
                </c:pt>
                <c:pt idx="111">
                  <c:v>145</c:v>
                </c:pt>
                <c:pt idx="112">
                  <c:v>145</c:v>
                </c:pt>
                <c:pt idx="113">
                  <c:v>145</c:v>
                </c:pt>
                <c:pt idx="114">
                  <c:v>145</c:v>
                </c:pt>
                <c:pt idx="115">
                  <c:v>145</c:v>
                </c:pt>
                <c:pt idx="116">
                  <c:v>145</c:v>
                </c:pt>
                <c:pt idx="117">
                  <c:v>145</c:v>
                </c:pt>
                <c:pt idx="118">
                  <c:v>145</c:v>
                </c:pt>
                <c:pt idx="119">
                  <c:v>145</c:v>
                </c:pt>
                <c:pt idx="120">
                  <c:v>145</c:v>
                </c:pt>
                <c:pt idx="121">
                  <c:v>145</c:v>
                </c:pt>
                <c:pt idx="122">
                  <c:v>145</c:v>
                </c:pt>
                <c:pt idx="123">
                  <c:v>145</c:v>
                </c:pt>
                <c:pt idx="124">
                  <c:v>145</c:v>
                </c:pt>
                <c:pt idx="125">
                  <c:v>145</c:v>
                </c:pt>
                <c:pt idx="126">
                  <c:v>145</c:v>
                </c:pt>
                <c:pt idx="127">
                  <c:v>145</c:v>
                </c:pt>
                <c:pt idx="128">
                  <c:v>145</c:v>
                </c:pt>
                <c:pt idx="129">
                  <c:v>145</c:v>
                </c:pt>
                <c:pt idx="130">
                  <c:v>145</c:v>
                </c:pt>
                <c:pt idx="131">
                  <c:v>145</c:v>
                </c:pt>
                <c:pt idx="132">
                  <c:v>145</c:v>
                </c:pt>
                <c:pt idx="133">
                  <c:v>145</c:v>
                </c:pt>
                <c:pt idx="134">
                  <c:v>145</c:v>
                </c:pt>
                <c:pt idx="135">
                  <c:v>145</c:v>
                </c:pt>
                <c:pt idx="136">
                  <c:v>145</c:v>
                </c:pt>
                <c:pt idx="137">
                  <c:v>145</c:v>
                </c:pt>
                <c:pt idx="138">
                  <c:v>145</c:v>
                </c:pt>
                <c:pt idx="139">
                  <c:v>145</c:v>
                </c:pt>
                <c:pt idx="140">
                  <c:v>145</c:v>
                </c:pt>
              </c:numCache>
            </c:numRef>
          </c:yVal>
          <c:smooth val="0"/>
        </c:ser>
        <c:ser>
          <c:idx val="2"/>
          <c:order val="2"/>
          <c:tx>
            <c:strRef>
              <c:f>Sheet1!$D$1</c:f>
              <c:strCache>
                <c:ptCount val="1"/>
                <c:pt idx="0">
                  <c:v>PPN</c:v>
                </c:pt>
              </c:strCache>
            </c:strRef>
          </c:tx>
          <c:spPr>
            <a:solidFill>
              <a:srgbClr val="D9961A"/>
            </a:solidFill>
            <a:ln w="25400" cap="flat">
              <a:solidFill>
                <a:srgbClr val="D9961A"/>
              </a:solidFill>
              <a:prstDash val="solid"/>
              <a:round/>
            </a:ln>
            <a:effectLst/>
          </c:spPr>
          <c:marker>
            <c:symbol val="none"/>
            <c:size val="6"/>
            <c:spPr>
              <a:solidFill>
                <a:srgbClr val="D9961A"/>
              </a:solidFill>
              <a:ln w="9525" cap="flat">
                <a:solidFill>
                  <a:srgbClr val="D9961A"/>
                </a:solidFill>
                <a:prstDash val="solid"/>
                <a:round/>
              </a:ln>
              <a:effectLst/>
            </c:spPr>
          </c:marker>
          <c:xVal>
            <c:numRef>
              <c:f>Sheet1!$A$2:$A$142</c:f>
              <c:numCache>
                <c:formatCode>General</c:formatCode>
                <c:ptCount val="14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pt idx="101">
                  <c:v>141</c:v>
                </c:pt>
                <c:pt idx="102">
                  <c:v>142</c:v>
                </c:pt>
                <c:pt idx="103">
                  <c:v>143</c:v>
                </c:pt>
                <c:pt idx="104">
                  <c:v>144</c:v>
                </c:pt>
                <c:pt idx="105">
                  <c:v>145</c:v>
                </c:pt>
                <c:pt idx="106">
                  <c:v>146</c:v>
                </c:pt>
                <c:pt idx="107">
                  <c:v>147</c:v>
                </c:pt>
                <c:pt idx="108">
                  <c:v>148</c:v>
                </c:pt>
                <c:pt idx="109">
                  <c:v>149</c:v>
                </c:pt>
                <c:pt idx="110">
                  <c:v>150</c:v>
                </c:pt>
                <c:pt idx="111">
                  <c:v>151</c:v>
                </c:pt>
                <c:pt idx="112">
                  <c:v>152</c:v>
                </c:pt>
                <c:pt idx="113">
                  <c:v>153</c:v>
                </c:pt>
                <c:pt idx="114">
                  <c:v>154</c:v>
                </c:pt>
                <c:pt idx="115">
                  <c:v>155</c:v>
                </c:pt>
                <c:pt idx="116">
                  <c:v>156</c:v>
                </c:pt>
                <c:pt idx="117">
                  <c:v>157</c:v>
                </c:pt>
                <c:pt idx="118">
                  <c:v>158</c:v>
                </c:pt>
                <c:pt idx="119">
                  <c:v>159</c:v>
                </c:pt>
                <c:pt idx="120">
                  <c:v>160</c:v>
                </c:pt>
                <c:pt idx="121">
                  <c:v>161</c:v>
                </c:pt>
                <c:pt idx="122">
                  <c:v>162</c:v>
                </c:pt>
                <c:pt idx="123">
                  <c:v>163</c:v>
                </c:pt>
                <c:pt idx="124">
                  <c:v>164</c:v>
                </c:pt>
                <c:pt idx="125">
                  <c:v>165</c:v>
                </c:pt>
                <c:pt idx="126">
                  <c:v>166</c:v>
                </c:pt>
                <c:pt idx="127">
                  <c:v>167</c:v>
                </c:pt>
                <c:pt idx="128">
                  <c:v>168</c:v>
                </c:pt>
                <c:pt idx="129">
                  <c:v>169</c:v>
                </c:pt>
                <c:pt idx="130">
                  <c:v>170</c:v>
                </c:pt>
                <c:pt idx="131">
                  <c:v>171</c:v>
                </c:pt>
                <c:pt idx="132">
                  <c:v>172</c:v>
                </c:pt>
                <c:pt idx="133">
                  <c:v>173</c:v>
                </c:pt>
                <c:pt idx="134">
                  <c:v>174</c:v>
                </c:pt>
                <c:pt idx="135">
                  <c:v>175</c:v>
                </c:pt>
                <c:pt idx="136">
                  <c:v>176</c:v>
                </c:pt>
                <c:pt idx="137">
                  <c:v>177</c:v>
                </c:pt>
                <c:pt idx="138">
                  <c:v>178</c:v>
                </c:pt>
                <c:pt idx="139">
                  <c:v>179</c:v>
                </c:pt>
                <c:pt idx="140">
                  <c:v>180</c:v>
                </c:pt>
              </c:numCache>
            </c:numRef>
          </c:xVal>
          <c:yVal>
            <c:numRef>
              <c:f>Sheet1!$D$2:$D$142</c:f>
              <c:numCache>
                <c:formatCode>General</c:formatCode>
                <c:ptCount val="141"/>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pt idx="26">
                  <c:v>100</c:v>
                </c:pt>
                <c:pt idx="27">
                  <c:v>100</c:v>
                </c:pt>
                <c:pt idx="28">
                  <c:v>100</c:v>
                </c:pt>
                <c:pt idx="29">
                  <c:v>100</c:v>
                </c:pt>
                <c:pt idx="30">
                  <c:v>100</c:v>
                </c:pt>
                <c:pt idx="31">
                  <c:v>100</c:v>
                </c:pt>
                <c:pt idx="32">
                  <c:v>100</c:v>
                </c:pt>
                <c:pt idx="33">
                  <c:v>100</c:v>
                </c:pt>
                <c:pt idx="34">
                  <c:v>100</c:v>
                </c:pt>
                <c:pt idx="35">
                  <c:v>100</c:v>
                </c:pt>
                <c:pt idx="36">
                  <c:v>100</c:v>
                </c:pt>
                <c:pt idx="37">
                  <c:v>100</c:v>
                </c:pt>
                <c:pt idx="38">
                  <c:v>100</c:v>
                </c:pt>
                <c:pt idx="39">
                  <c:v>100</c:v>
                </c:pt>
                <c:pt idx="40">
                  <c:v>100</c:v>
                </c:pt>
                <c:pt idx="41">
                  <c:v>100</c:v>
                </c:pt>
                <c:pt idx="42">
                  <c:v>100</c:v>
                </c:pt>
                <c:pt idx="43">
                  <c:v>100</c:v>
                </c:pt>
                <c:pt idx="44">
                  <c:v>100</c:v>
                </c:pt>
                <c:pt idx="45">
                  <c:v>100</c:v>
                </c:pt>
                <c:pt idx="46">
                  <c:v>100</c:v>
                </c:pt>
                <c:pt idx="47">
                  <c:v>100</c:v>
                </c:pt>
                <c:pt idx="48">
                  <c:v>100</c:v>
                </c:pt>
                <c:pt idx="49">
                  <c:v>100</c:v>
                </c:pt>
                <c:pt idx="50">
                  <c:v>100</c:v>
                </c:pt>
                <c:pt idx="51">
                  <c:v>100</c:v>
                </c:pt>
                <c:pt idx="52">
                  <c:v>100</c:v>
                </c:pt>
                <c:pt idx="53">
                  <c:v>100</c:v>
                </c:pt>
                <c:pt idx="54">
                  <c:v>100</c:v>
                </c:pt>
                <c:pt idx="55">
                  <c:v>100</c:v>
                </c:pt>
                <c:pt idx="56">
                  <c:v>100</c:v>
                </c:pt>
                <c:pt idx="57">
                  <c:v>100</c:v>
                </c:pt>
                <c:pt idx="58">
                  <c:v>100</c:v>
                </c:pt>
                <c:pt idx="59">
                  <c:v>100</c:v>
                </c:pt>
                <c:pt idx="60">
                  <c:v>100</c:v>
                </c:pt>
                <c:pt idx="61">
                  <c:v>100.874</c:v>
                </c:pt>
                <c:pt idx="62">
                  <c:v>101.748</c:v>
                </c:pt>
                <c:pt idx="63">
                  <c:v>102.622</c:v>
                </c:pt>
                <c:pt idx="64">
                  <c:v>103.496</c:v>
                </c:pt>
                <c:pt idx="65">
                  <c:v>104.37</c:v>
                </c:pt>
                <c:pt idx="66">
                  <c:v>105.244</c:v>
                </c:pt>
                <c:pt idx="67">
                  <c:v>106.118</c:v>
                </c:pt>
                <c:pt idx="68">
                  <c:v>106.992</c:v>
                </c:pt>
                <c:pt idx="69">
                  <c:v>107.866</c:v>
                </c:pt>
                <c:pt idx="70">
                  <c:v>108.74</c:v>
                </c:pt>
                <c:pt idx="71">
                  <c:v>109.614</c:v>
                </c:pt>
                <c:pt idx="72">
                  <c:v>110.488</c:v>
                </c:pt>
                <c:pt idx="73">
                  <c:v>111.362</c:v>
                </c:pt>
                <c:pt idx="74">
                  <c:v>112.236</c:v>
                </c:pt>
                <c:pt idx="75">
                  <c:v>113.11</c:v>
                </c:pt>
                <c:pt idx="76">
                  <c:v>113.984</c:v>
                </c:pt>
                <c:pt idx="77">
                  <c:v>114.858</c:v>
                </c:pt>
                <c:pt idx="78">
                  <c:v>115.732</c:v>
                </c:pt>
                <c:pt idx="79">
                  <c:v>116.606</c:v>
                </c:pt>
                <c:pt idx="80">
                  <c:v>117.48</c:v>
                </c:pt>
                <c:pt idx="81">
                  <c:v>118.354</c:v>
                </c:pt>
                <c:pt idx="82">
                  <c:v>119.22800000000001</c:v>
                </c:pt>
                <c:pt idx="83">
                  <c:v>120.102</c:v>
                </c:pt>
                <c:pt idx="84">
                  <c:v>120.976</c:v>
                </c:pt>
                <c:pt idx="85">
                  <c:v>121.85</c:v>
                </c:pt>
                <c:pt idx="86">
                  <c:v>122.724</c:v>
                </c:pt>
                <c:pt idx="87">
                  <c:v>123.598</c:v>
                </c:pt>
                <c:pt idx="88">
                  <c:v>124.47200000000001</c:v>
                </c:pt>
                <c:pt idx="89">
                  <c:v>125.346</c:v>
                </c:pt>
                <c:pt idx="90">
                  <c:v>126.22</c:v>
                </c:pt>
                <c:pt idx="91">
                  <c:v>127.094</c:v>
                </c:pt>
                <c:pt idx="92">
                  <c:v>127.968</c:v>
                </c:pt>
                <c:pt idx="93">
                  <c:v>128.84199999999998</c:v>
                </c:pt>
                <c:pt idx="94">
                  <c:v>129.716</c:v>
                </c:pt>
                <c:pt idx="95">
                  <c:v>130.59</c:v>
                </c:pt>
                <c:pt idx="96">
                  <c:v>131.464</c:v>
                </c:pt>
                <c:pt idx="97">
                  <c:v>132.338</c:v>
                </c:pt>
                <c:pt idx="98">
                  <c:v>133.212</c:v>
                </c:pt>
                <c:pt idx="99">
                  <c:v>134.086</c:v>
                </c:pt>
                <c:pt idx="100">
                  <c:v>134.96</c:v>
                </c:pt>
                <c:pt idx="101">
                  <c:v>135.834</c:v>
                </c:pt>
                <c:pt idx="102">
                  <c:v>136.708</c:v>
                </c:pt>
                <c:pt idx="103">
                  <c:v>137.582</c:v>
                </c:pt>
                <c:pt idx="104">
                  <c:v>138.45600000000002</c:v>
                </c:pt>
                <c:pt idx="105">
                  <c:v>139.32999999999998</c:v>
                </c:pt>
                <c:pt idx="106">
                  <c:v>140.204</c:v>
                </c:pt>
                <c:pt idx="107">
                  <c:v>141.078</c:v>
                </c:pt>
                <c:pt idx="108">
                  <c:v>141.952</c:v>
                </c:pt>
                <c:pt idx="109">
                  <c:v>142.826</c:v>
                </c:pt>
                <c:pt idx="110">
                  <c:v>143.7</c:v>
                </c:pt>
                <c:pt idx="111">
                  <c:v>144.574</c:v>
                </c:pt>
                <c:pt idx="112">
                  <c:v>145.448</c:v>
                </c:pt>
                <c:pt idx="113">
                  <c:v>146.322</c:v>
                </c:pt>
                <c:pt idx="114">
                  <c:v>147.196</c:v>
                </c:pt>
                <c:pt idx="115">
                  <c:v>148.07</c:v>
                </c:pt>
                <c:pt idx="116">
                  <c:v>148.94400000000002</c:v>
                </c:pt>
                <c:pt idx="117">
                  <c:v>149.81799999999998</c:v>
                </c:pt>
                <c:pt idx="118">
                  <c:v>150.692</c:v>
                </c:pt>
                <c:pt idx="119">
                  <c:v>151.566</c:v>
                </c:pt>
                <c:pt idx="120">
                  <c:v>152.44</c:v>
                </c:pt>
                <c:pt idx="121">
                  <c:v>153.314</c:v>
                </c:pt>
                <c:pt idx="122">
                  <c:v>154.188</c:v>
                </c:pt>
                <c:pt idx="123">
                  <c:v>155.062</c:v>
                </c:pt>
                <c:pt idx="124">
                  <c:v>155.936</c:v>
                </c:pt>
                <c:pt idx="125">
                  <c:v>156.81</c:v>
                </c:pt>
                <c:pt idx="126">
                  <c:v>157.684</c:v>
                </c:pt>
                <c:pt idx="127">
                  <c:v>158.558</c:v>
                </c:pt>
                <c:pt idx="128">
                  <c:v>159.43200000000002</c:v>
                </c:pt>
                <c:pt idx="129">
                  <c:v>160.30599999999998</c:v>
                </c:pt>
                <c:pt idx="130">
                  <c:v>161.18</c:v>
                </c:pt>
                <c:pt idx="131">
                  <c:v>162.054</c:v>
                </c:pt>
                <c:pt idx="132">
                  <c:v>162.928</c:v>
                </c:pt>
                <c:pt idx="133">
                  <c:v>163.802</c:v>
                </c:pt>
                <c:pt idx="134">
                  <c:v>164.676</c:v>
                </c:pt>
                <c:pt idx="135">
                  <c:v>165.55</c:v>
                </c:pt>
                <c:pt idx="136">
                  <c:v>166.424</c:v>
                </c:pt>
                <c:pt idx="137">
                  <c:v>167.298</c:v>
                </c:pt>
                <c:pt idx="138">
                  <c:v>168.172</c:v>
                </c:pt>
                <c:pt idx="139">
                  <c:v>169.046</c:v>
                </c:pt>
                <c:pt idx="140">
                  <c:v>169.92000000000002</c:v>
                </c:pt>
              </c:numCache>
            </c:numRef>
          </c:yVal>
          <c:smooth val="0"/>
        </c:ser>
        <c:ser>
          <c:idx val="3"/>
          <c:order val="3"/>
          <c:tx>
            <c:strRef>
              <c:f>Sheet1!$E$1</c:f>
              <c:strCache>
                <c:ptCount val="1"/>
                <c:pt idx="0">
                  <c:v>Basket</c:v>
                </c:pt>
              </c:strCache>
            </c:strRef>
          </c:tx>
          <c:spPr>
            <a:solidFill>
              <a:srgbClr val="8FA6AA"/>
            </a:solidFill>
            <a:ln w="25400" cap="flat">
              <a:solidFill>
                <a:srgbClr val="8FA6AA"/>
              </a:solidFill>
              <a:prstDash val="solid"/>
              <a:round/>
            </a:ln>
            <a:effectLst/>
          </c:spPr>
          <c:marker>
            <c:symbol val="none"/>
            <c:size val="6"/>
            <c:spPr>
              <a:solidFill>
                <a:srgbClr val="8FA6AA"/>
              </a:solidFill>
              <a:ln w="9525" cap="flat">
                <a:solidFill>
                  <a:srgbClr val="8FA6AA"/>
                </a:solidFill>
                <a:prstDash val="solid"/>
                <a:round/>
              </a:ln>
              <a:effectLst/>
            </c:spPr>
          </c:marker>
          <c:xVal>
            <c:numRef>
              <c:f>Sheet1!$A$2:$A$142</c:f>
              <c:numCache>
                <c:formatCode>General</c:formatCode>
                <c:ptCount val="14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pt idx="101">
                  <c:v>141</c:v>
                </c:pt>
                <c:pt idx="102">
                  <c:v>142</c:v>
                </c:pt>
                <c:pt idx="103">
                  <c:v>143</c:v>
                </c:pt>
                <c:pt idx="104">
                  <c:v>144</c:v>
                </c:pt>
                <c:pt idx="105">
                  <c:v>145</c:v>
                </c:pt>
                <c:pt idx="106">
                  <c:v>146</c:v>
                </c:pt>
                <c:pt idx="107">
                  <c:v>147</c:v>
                </c:pt>
                <c:pt idx="108">
                  <c:v>148</c:v>
                </c:pt>
                <c:pt idx="109">
                  <c:v>149</c:v>
                </c:pt>
                <c:pt idx="110">
                  <c:v>150</c:v>
                </c:pt>
                <c:pt idx="111">
                  <c:v>151</c:v>
                </c:pt>
                <c:pt idx="112">
                  <c:v>152</c:v>
                </c:pt>
                <c:pt idx="113">
                  <c:v>153</c:v>
                </c:pt>
                <c:pt idx="114">
                  <c:v>154</c:v>
                </c:pt>
                <c:pt idx="115">
                  <c:v>155</c:v>
                </c:pt>
                <c:pt idx="116">
                  <c:v>156</c:v>
                </c:pt>
                <c:pt idx="117">
                  <c:v>157</c:v>
                </c:pt>
                <c:pt idx="118">
                  <c:v>158</c:v>
                </c:pt>
                <c:pt idx="119">
                  <c:v>159</c:v>
                </c:pt>
                <c:pt idx="120">
                  <c:v>160</c:v>
                </c:pt>
                <c:pt idx="121">
                  <c:v>161</c:v>
                </c:pt>
                <c:pt idx="122">
                  <c:v>162</c:v>
                </c:pt>
                <c:pt idx="123">
                  <c:v>163</c:v>
                </c:pt>
                <c:pt idx="124">
                  <c:v>164</c:v>
                </c:pt>
                <c:pt idx="125">
                  <c:v>165</c:v>
                </c:pt>
                <c:pt idx="126">
                  <c:v>166</c:v>
                </c:pt>
                <c:pt idx="127">
                  <c:v>167</c:v>
                </c:pt>
                <c:pt idx="128">
                  <c:v>168</c:v>
                </c:pt>
                <c:pt idx="129">
                  <c:v>169</c:v>
                </c:pt>
                <c:pt idx="130">
                  <c:v>170</c:v>
                </c:pt>
                <c:pt idx="131">
                  <c:v>171</c:v>
                </c:pt>
                <c:pt idx="132">
                  <c:v>172</c:v>
                </c:pt>
                <c:pt idx="133">
                  <c:v>173</c:v>
                </c:pt>
                <c:pt idx="134">
                  <c:v>174</c:v>
                </c:pt>
                <c:pt idx="135">
                  <c:v>175</c:v>
                </c:pt>
                <c:pt idx="136">
                  <c:v>176</c:v>
                </c:pt>
                <c:pt idx="137">
                  <c:v>177</c:v>
                </c:pt>
                <c:pt idx="138">
                  <c:v>178</c:v>
                </c:pt>
                <c:pt idx="139">
                  <c:v>179</c:v>
                </c:pt>
                <c:pt idx="140">
                  <c:v>180</c:v>
                </c:pt>
              </c:numCache>
            </c:numRef>
          </c:xVal>
          <c:yVal>
            <c:numRef>
              <c:f>Sheet1!$E$2:$E$142</c:f>
              <c:numCache>
                <c:formatCode>General</c:formatCode>
                <c:ptCount val="14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pt idx="101">
                  <c:v>141</c:v>
                </c:pt>
                <c:pt idx="102">
                  <c:v>142</c:v>
                </c:pt>
                <c:pt idx="103">
                  <c:v>143</c:v>
                </c:pt>
                <c:pt idx="104">
                  <c:v>144</c:v>
                </c:pt>
                <c:pt idx="105">
                  <c:v>145</c:v>
                </c:pt>
                <c:pt idx="106">
                  <c:v>146</c:v>
                </c:pt>
                <c:pt idx="107">
                  <c:v>147</c:v>
                </c:pt>
                <c:pt idx="108">
                  <c:v>148</c:v>
                </c:pt>
                <c:pt idx="109">
                  <c:v>149</c:v>
                </c:pt>
                <c:pt idx="110">
                  <c:v>150</c:v>
                </c:pt>
                <c:pt idx="111">
                  <c:v>151</c:v>
                </c:pt>
                <c:pt idx="112">
                  <c:v>152</c:v>
                </c:pt>
                <c:pt idx="113">
                  <c:v>153</c:v>
                </c:pt>
                <c:pt idx="114">
                  <c:v>154</c:v>
                </c:pt>
                <c:pt idx="115">
                  <c:v>155</c:v>
                </c:pt>
                <c:pt idx="116">
                  <c:v>156</c:v>
                </c:pt>
                <c:pt idx="117">
                  <c:v>157</c:v>
                </c:pt>
                <c:pt idx="118">
                  <c:v>158</c:v>
                </c:pt>
                <c:pt idx="119">
                  <c:v>159</c:v>
                </c:pt>
                <c:pt idx="120">
                  <c:v>160</c:v>
                </c:pt>
                <c:pt idx="121">
                  <c:v>161</c:v>
                </c:pt>
                <c:pt idx="122">
                  <c:v>162</c:v>
                </c:pt>
                <c:pt idx="123">
                  <c:v>163</c:v>
                </c:pt>
                <c:pt idx="124">
                  <c:v>164</c:v>
                </c:pt>
                <c:pt idx="125">
                  <c:v>165</c:v>
                </c:pt>
                <c:pt idx="126">
                  <c:v>166</c:v>
                </c:pt>
                <c:pt idx="127">
                  <c:v>167</c:v>
                </c:pt>
                <c:pt idx="128">
                  <c:v>168</c:v>
                </c:pt>
                <c:pt idx="129">
                  <c:v>169</c:v>
                </c:pt>
                <c:pt idx="130">
                  <c:v>170</c:v>
                </c:pt>
                <c:pt idx="131">
                  <c:v>171</c:v>
                </c:pt>
                <c:pt idx="132">
                  <c:v>172</c:v>
                </c:pt>
                <c:pt idx="133">
                  <c:v>173</c:v>
                </c:pt>
                <c:pt idx="134">
                  <c:v>174</c:v>
                </c:pt>
                <c:pt idx="135">
                  <c:v>175</c:v>
                </c:pt>
                <c:pt idx="136">
                  <c:v>176</c:v>
                </c:pt>
                <c:pt idx="137">
                  <c:v>177</c:v>
                </c:pt>
                <c:pt idx="138">
                  <c:v>178</c:v>
                </c:pt>
                <c:pt idx="139">
                  <c:v>179</c:v>
                </c:pt>
                <c:pt idx="140">
                  <c:v>180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80"/>
          <c:min val="40"/>
        </c:scaling>
        <c:delete val="0"/>
        <c:axPos val="b"/>
        <c:numFmt formatCode="0&quot;%&quot;" sourceLinked="1"/>
        <c:majorTickMark val="none"/>
        <c:minorTickMark val="none"/>
        <c:tickLblPos val="nextTo"/>
        <c:spPr>
          <a:ln w="12700" cap="flat">
            <a:solidFill>
              <a:srgbClr val="8FA6AA"/>
            </a:solidFill>
            <a:prstDash val="solid"/>
            <a:round/>
          </a:ln>
        </c:spPr>
        <c:txPr>
          <a:bodyPr/>
          <a:lstStyle/>
          <a:p>
            <a:pPr>
              <a:defRPr sz="900" b="0" i="0" u="none" strike="noStrike">
                <a:solidFill>
                  <a:srgbClr val="5F7176"/>
                </a:solidFill>
                <a:latin typeface="Calibri"/>
              </a:defRPr>
            </a:pPr>
            <a:endParaRPr lang="en-US"/>
          </a:p>
        </c:txPr>
        <c:crossAx val="2094734552"/>
        <c:crosses val="autoZero"/>
        <c:auto val="1"/>
        <c:lblAlgn val="ctr"/>
        <c:noMultiLvlLbl val="1"/>
        <c:majorUnit val="20"/>
      </c:valAx>
      <c:valAx>
        <c:axId val="2094734552"/>
        <c:scaling>
          <c:orientation val="minMax"/>
          <c:max val="190"/>
          <c:min val="30"/>
        </c:scaling>
        <c:delete val="0"/>
        <c:axPos val="l"/>
        <c:majorGridlines>
          <c:spPr>
            <a:ln w="6350" cap="flat">
              <a:solidFill>
                <a:srgbClr val="DCE7E5"/>
              </a:solidFill>
              <a:prstDash val="solid"/>
              <a:round/>
            </a:ln>
          </c:spPr>
        </c:majorGridlines>
        <c:numFmt formatCode="0&quot;%&quot;" sourceLinked="0"/>
        <c:majorTickMark val="none"/>
        <c:minorTickMark val="none"/>
        <c:tickLblPos val="nextTo"/>
        <c:spPr>
          <a:ln w="12700" cap="flat">
            <a:noFill/>
            <a:prstDash val="solid"/>
            <a:round/>
          </a:ln>
        </c:spPr>
        <c:txPr>
          <a:bodyPr/>
          <a:lstStyle/>
          <a:p>
            <a:pPr>
              <a:defRPr sz="900" b="0" i="0" u="none" strike="noStrike">
                <a:solidFill>
                  <a:srgbClr val="5F7176"/>
                </a:solidFill>
                <a:latin typeface="Calibri"/>
              </a:defRPr>
            </a:pPr>
            <a:endParaRPr lang="en-US"/>
          </a:p>
        </c:txPr>
        <c:crossAx val="2094734554"/>
        <c:crosses val="autoZero"/>
        <c:crossBetween val="midCat"/>
      </c:valAx>
      <c:spPr>
        <a:noFill/>
        <a:ln>
          <a:noFill/>
        </a:ln>
        <a:effectLst/>
      </c:spPr>
    </c:plotArea>
    <c:legend>
      <c:legendPos val="b"/>
      <c:overlay val="0"/>
      <c:txPr>
        <a:bodyPr/>
        <a:lstStyle/>
        <a:p>
          <a:pPr>
            <a:defRPr sz="850">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One-line pitch: a capital-protected autocallable on five Asian ETFs covering the AI-hardware supply chain (pan-Asian and Japanese semiconductors, Taiwan, Korea) plus an ESG sleeve. It pays a coupon whenever the basket is at or above its starting level, catches up any missed coupons, and returns 100% of capital at maturity whatever the basket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(does not count toward the 10-slide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needs translate one-for-one into design features. The key insight: this is legacy money. The family wants growth and Asian tech exposure, but the first rule is not to lose capital. That points us to an autocallable whose principal is fully protected, with a coupon that rewards recovery and is never lost, thanks to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arguments. (1) Structural: AI spending flows straight into Asian semiconductors: Taiwan makes the chips, Korea the memory, Japan the chip-making tools, plus an ESG-screened Taiwan sleeve. (2) Structuring: high USD rates make the protected principal cheap, and Asian volatility makes the 100% coupon trigger likely to be hit, so we can protect capital and still pay above the funding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Bloomberg-listed ETFs: 3119 HK (Asia semiconductors), 2644 JP (Japan semiconductors), EWT and EWY (US-listed Taiwan and Korea country funds) and 00878 TT (Taiwan ESG high dividend). EWT and EWY trade in USD, so no quanto is needed; the HKD, JPY and TWD lines are quantoed into USD. Check: 3119 trading value against the USD 5M/day rule, 2644 top holdings, and 00878 distributions (~7.6% a year), which reduce its price-return path and so the chance of the basket getting back to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the key design argument. Every design that puts capital at risk only pays 6–11% for a roughly 10–11% chance of a loss; pushing the loss probability down with a calmer basket kills the coupon. Protecting capital fully keeps a coupon above the funding rate because the principal is cheap at 5.69% rates and the autocall usually returns it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note as one question asked every quarter: is the basket at or above where it started? If yes, the family is paid 1.80% for that quarter plus any coupons missed before, and from Year 1 the note also ends with 100% back. If the answer is never yes, the family still gets 100% back at Year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chart: the cash ladder. Each quarter the note lives adds 1.80% of notional, paid either on the date or later through memory. Right chart: if the note reaches Year 5 without being called, there are only two zones. At or above 100% the family receives 136.0%; below 100% it receives 100%, plus any coupons already paid in Q1–Q3. Above +36.0% the basket beats the note: that is the capped upside.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Mini-charts show each leg's payoff on a single observation date against the basket level (the autocall leg is illustrative: it shows the remaining coupon stream switching off). Unlike a classic autocall, there is no short put: the coupon is funded by cheap protected principal and by the autocall cutting the coupon stream short when the basket is strong.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scenarios. The 2022-style path is the key one: a 30% drawdown in the first year that would scare a direct investor, yet the note pays all 15 quarterly coupons at once when the basket recovers at Q15. The two bad paths are where protection earns its keep: the basket is down 12% and 45%, the family gets 100%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answers 'what if markets go nowhere?'. Even at 0% equity return the note is called in ~67% of paths, because volatility alone takes the basket back to 100% on some date. The honest cost of protection: in ~13% of paths (risk-neutral) the family earns nothing for 5 years, but it never loses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Investor risks on the left, desk hedges on the right. There is no capital-loss line: the main honest risks are earning nothing for 5 years, capped upside, and Natixis credit. The 7.20% coupon sits below the 7.9% fair level in every sensitivity we ran, so the offer is robust to market moves before the trade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5852160" y="-1280160"/>
            <a:ext cx="4937760" cy="4937760"/>
          </a:xfrm>
          <a:prstGeom prst="ellipse">
            <a:avLst/>
          </a:prstGeom>
          <a:solidFill>
            <a:srgbClr val="0F8B8D">
              <a:alpha val="65000"/>
            </a:srgbClr>
          </a:solidFill>
          <a:ln/>
        </p:spPr>
      </p:sp>
      <p:sp>
        <p:nvSpPr>
          <p:cNvPr id="3" name="Shape 1"/>
          <p:cNvSpPr/>
          <p:nvPr/>
        </p:nvSpPr>
        <p:spPr>
          <a:xfrm>
            <a:off x="7589520" y="3200400"/>
            <a:ext cx="2194560" cy="2194560"/>
          </a:xfrm>
          <a:prstGeom prst="ellipse">
            <a:avLst/>
          </a:prstGeom>
          <a:solidFill>
            <a:srgbClr val="D9961A">
              <a:alpha val="85000"/>
            </a:srgbClr>
          </a:solidFill>
          <a:ln/>
        </p:spPr>
      </p:sp>
      <p:sp>
        <p:nvSpPr>
          <p:cNvPr id="4" name="Text 2"/>
          <p:cNvSpPr txBox="1"/>
          <p:nvPr/>
        </p:nvSpPr>
        <p:spPr>
          <a:xfrm>
            <a:off x="548640" y="548640"/>
            <a:ext cx="6858000" cy="320040"/>
          </a:xfrm>
          <a:prstGeom prst="rect">
            <a:avLst/>
          </a:prstGeom>
          <a:noFill/>
          <a:ln/>
        </p:spPr>
        <p:txBody>
          <a:bodyPr wrap="square" lIns="0" tIns="0" rIns="0" bIns="0" rtlCol="0" anchor="t"/>
          <a:lstStyle/>
          <a:p>
            <a:pPr indent="0" marL="0">
              <a:buNone/>
            </a:pPr>
            <a:r>
              <a:rPr lang="en-US" sz="1250" dirty="0">
                <a:solidFill>
                  <a:srgbClr val="BFDCD8"/>
                </a:solidFill>
                <a:latin typeface="Calibri" pitchFamily="34" charset="0"/>
                <a:ea typeface="Calibri" pitchFamily="34" charset="-122"/>
                <a:cs typeface="Calibri" pitchFamily="34" charset="-120"/>
              </a:rPr>
              <a:t>Investment Strategy Challenge 2026 · Proposal for NKE Private Wealth (Chak family)</a:t>
            </a:r>
            <a:endParaRPr lang="en-US" sz="1250" dirty="0"/>
          </a:p>
        </p:txBody>
      </p:sp>
      <p:sp>
        <p:nvSpPr>
          <p:cNvPr id="5" name="Text 3"/>
          <p:cNvSpPr txBox="1"/>
          <p:nvPr/>
        </p:nvSpPr>
        <p:spPr>
          <a:xfrm>
            <a:off x="548640" y="960120"/>
            <a:ext cx="5669280" cy="16002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Asian Digital Transformation Autocallable Note</a:t>
            </a:r>
            <a:endParaRPr lang="en-US" sz="3400" dirty="0"/>
          </a:p>
        </p:txBody>
      </p:sp>
      <p:sp>
        <p:nvSpPr>
          <p:cNvPr id="6" name="Text 4"/>
          <p:cNvSpPr txBox="1"/>
          <p:nvPr/>
        </p:nvSpPr>
        <p:spPr>
          <a:xfrm>
            <a:off x="548640" y="2743200"/>
            <a:ext cx="5486400" cy="777240"/>
          </a:xfrm>
          <a:prstGeom prst="rect">
            <a:avLst/>
          </a:prstGeom>
          <a:noFill/>
          <a:ln/>
        </p:spPr>
        <p:txBody>
          <a:bodyPr wrap="square" lIns="0" tIns="0" rIns="0" bIns="0" rtlCol="0" anchor="t"/>
          <a:lstStyle/>
          <a:p>
            <a:pPr indent="0" marL="0">
              <a:buNone/>
            </a:pPr>
            <a:r>
              <a:rPr lang="en-US" sz="1500" i="1" dirty="0">
                <a:solidFill>
                  <a:srgbClr val="E3F1EF"/>
                </a:solidFill>
                <a:latin typeface="Calibri" pitchFamily="34" charset="0"/>
                <a:ea typeface="Calibri" pitchFamily="34" charset="-122"/>
                <a:cs typeface="Calibri" pitchFamily="34" charset="-120"/>
              </a:rPr>
              <a:t>7.20% a year from Asia's semiconductor build-out, with 100% of capital returned at maturity</a:t>
            </a:r>
            <a:endParaRPr lang="en-US" sz="1500" dirty="0"/>
          </a:p>
        </p:txBody>
      </p:sp>
      <p:sp>
        <p:nvSpPr>
          <p:cNvPr id="7" name="Text 5"/>
          <p:cNvSpPr txBox="1"/>
          <p:nvPr/>
        </p:nvSpPr>
        <p:spPr>
          <a:xfrm>
            <a:off x="548640" y="4069080"/>
            <a:ext cx="6949440" cy="365760"/>
          </a:xfrm>
          <a:prstGeom prst="rect">
            <a:avLst/>
          </a:prstGeom>
          <a:noFill/>
          <a:ln/>
        </p:spPr>
        <p:txBody>
          <a:bodyPr wrap="square" lIns="0" tIns="0" rIns="0" bIns="0" rtlCol="0" anchor="t"/>
          <a:lstStyle/>
          <a:p>
            <a:pPr indent="0" marL="0">
              <a:buNone/>
            </a:pPr>
            <a:r>
              <a:rPr lang="en-US" sz="1150" b="1" dirty="0">
                <a:solidFill>
                  <a:srgbClr val="D9961A"/>
                </a:solidFill>
                <a:latin typeface="Calibri" pitchFamily="34" charset="0"/>
                <a:ea typeface="Calibri" pitchFamily="34" charset="-122"/>
                <a:cs typeface="Calibri" pitchFamily="34" charset="-120"/>
              </a:rPr>
              <a:t>USD 100mn · 5-year note issued by Natixis · 7.20% p.a. memory coupon · 100% capital protected · Trade date 17 Sep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Agenda</a:t>
            </a:r>
            <a:endParaRPr lang="en-US" sz="2200" dirty="0"/>
          </a:p>
        </p:txBody>
      </p:sp>
      <p:sp>
        <p:nvSpPr>
          <p:cNvPr id="3" name="Shape 1"/>
          <p:cNvSpPr/>
          <p:nvPr/>
        </p:nvSpPr>
        <p:spPr>
          <a:xfrm>
            <a:off x="548640" y="1097280"/>
            <a:ext cx="457200" cy="457200"/>
          </a:xfrm>
          <a:prstGeom prst="ellipse">
            <a:avLst/>
          </a:prstGeom>
          <a:solidFill>
            <a:srgbClr val="0F8B8D"/>
          </a:solidFill>
          <a:ln/>
        </p:spPr>
      </p:sp>
      <p:sp>
        <p:nvSpPr>
          <p:cNvPr id="4" name="Text 2"/>
          <p:cNvSpPr txBox="1"/>
          <p:nvPr/>
        </p:nvSpPr>
        <p:spPr>
          <a:xfrm>
            <a:off x="548640" y="1097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5" name="Text 3"/>
          <p:cNvSpPr txBox="1"/>
          <p:nvPr/>
        </p:nvSpPr>
        <p:spPr>
          <a:xfrm>
            <a:off x="1234440" y="1051560"/>
            <a:ext cx="4572000" cy="292608"/>
          </a:xfrm>
          <a:prstGeom prst="rect">
            <a:avLst/>
          </a:prstGeom>
          <a:noFill/>
          <a:ln/>
        </p:spPr>
        <p:txBody>
          <a:bodyPr wrap="square" lIns="0" tIns="0" rIns="0" bIns="0" rtlCol="0" anchor="t"/>
          <a:lstStyle/>
          <a:p>
            <a:pPr indent="0" marL="0">
              <a:buNone/>
            </a:pPr>
            <a:r>
              <a:rPr lang="en-US" sz="1600" b="1" dirty="0">
                <a:solidFill>
                  <a:srgbClr val="0B3C49"/>
                </a:solidFill>
                <a:latin typeface="Calibri" pitchFamily="34" charset="0"/>
                <a:ea typeface="Calibri" pitchFamily="34" charset="-122"/>
                <a:cs typeface="Calibri" pitchFamily="34" charset="-120"/>
              </a:rPr>
              <a:t>Client &amp; market</a:t>
            </a:r>
            <a:endParaRPr lang="en-US" sz="1600" dirty="0"/>
          </a:p>
        </p:txBody>
      </p:sp>
      <p:sp>
        <p:nvSpPr>
          <p:cNvPr id="6" name="Text 4"/>
          <p:cNvSpPr txBox="1"/>
          <p:nvPr/>
        </p:nvSpPr>
        <p:spPr>
          <a:xfrm>
            <a:off x="1234440" y="1353312"/>
            <a:ext cx="6400800" cy="274320"/>
          </a:xfrm>
          <a:prstGeom prst="rect">
            <a:avLst/>
          </a:prstGeom>
          <a:noFill/>
          <a:ln/>
        </p:spPr>
        <p:txBody>
          <a:bodyPr wrap="square" lIns="0" tIns="0" rIns="0" bIns="0" rtlCol="0" anchor="t"/>
          <a:lstStyle/>
          <a:p>
            <a:pPr indent="0" marL="0">
              <a:buNone/>
            </a:pPr>
            <a:r>
              <a:rPr lang="en-US" sz="1150" dirty="0">
                <a:solidFill>
                  <a:srgbClr val="5F7176"/>
                </a:solidFill>
                <a:latin typeface="Calibri" pitchFamily="34" charset="0"/>
                <a:ea typeface="Calibri" pitchFamily="34" charset="-122"/>
                <a:cs typeface="Calibri" pitchFamily="34" charset="-120"/>
              </a:rPr>
              <a:t>Who the Chak family is, what they need, and why Asia's digital build-out now</a:t>
            </a:r>
            <a:endParaRPr lang="en-US" sz="1150" dirty="0"/>
          </a:p>
        </p:txBody>
      </p:sp>
      <p:sp>
        <p:nvSpPr>
          <p:cNvPr id="7" name="Text 5"/>
          <p:cNvSpPr txBox="1"/>
          <p:nvPr/>
        </p:nvSpPr>
        <p:spPr>
          <a:xfrm>
            <a:off x="7315200" y="1124712"/>
            <a:ext cx="1371600" cy="274320"/>
          </a:xfrm>
          <a:prstGeom prst="rect">
            <a:avLst/>
          </a:prstGeom>
          <a:noFill/>
          <a:ln/>
        </p:spPr>
        <p:txBody>
          <a:bodyPr wrap="square" lIns="0" tIns="0" rIns="0" bIns="0" rtlCol="0" anchor="t"/>
          <a:lstStyle/>
          <a:p>
            <a:pPr algn="r" indent="0" marL="0">
              <a:buNone/>
            </a:pPr>
            <a:r>
              <a:rPr lang="en-US" sz="1100" dirty="0">
                <a:solidFill>
                  <a:srgbClr val="5F7176"/>
                </a:solidFill>
                <a:latin typeface="Calibri" pitchFamily="34" charset="0"/>
                <a:ea typeface="Calibri" pitchFamily="34" charset="-122"/>
                <a:cs typeface="Calibri" pitchFamily="34" charset="-120"/>
              </a:rPr>
              <a:t>Slides 1–2</a:t>
            </a:r>
            <a:endParaRPr lang="en-US" sz="1100" dirty="0"/>
          </a:p>
        </p:txBody>
      </p:sp>
      <p:sp>
        <p:nvSpPr>
          <p:cNvPr id="8" name="Shape 6"/>
          <p:cNvSpPr/>
          <p:nvPr/>
        </p:nvSpPr>
        <p:spPr>
          <a:xfrm>
            <a:off x="548640" y="1828800"/>
            <a:ext cx="457200" cy="457200"/>
          </a:xfrm>
          <a:prstGeom prst="ellipse">
            <a:avLst/>
          </a:prstGeom>
          <a:solidFill>
            <a:srgbClr val="D9961A"/>
          </a:solidFill>
          <a:ln/>
        </p:spPr>
      </p:sp>
      <p:sp>
        <p:nvSpPr>
          <p:cNvPr id="9" name="Text 7"/>
          <p:cNvSpPr txBox="1"/>
          <p:nvPr/>
        </p:nvSpPr>
        <p:spPr>
          <a:xfrm>
            <a:off x="548640"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p:cNvSpPr txBox="1"/>
          <p:nvPr/>
        </p:nvSpPr>
        <p:spPr>
          <a:xfrm>
            <a:off x="1234440" y="1783080"/>
            <a:ext cx="4572000" cy="292608"/>
          </a:xfrm>
          <a:prstGeom prst="rect">
            <a:avLst/>
          </a:prstGeom>
          <a:noFill/>
          <a:ln/>
        </p:spPr>
        <p:txBody>
          <a:bodyPr wrap="square" lIns="0" tIns="0" rIns="0" bIns="0" rtlCol="0" anchor="t"/>
          <a:lstStyle/>
          <a:p>
            <a:pPr indent="0" marL="0">
              <a:buNone/>
            </a:pPr>
            <a:r>
              <a:rPr lang="en-US" sz="1600" b="1" dirty="0">
                <a:solidFill>
                  <a:srgbClr val="0B3C49"/>
                </a:solidFill>
                <a:latin typeface="Calibri" pitchFamily="34" charset="0"/>
                <a:ea typeface="Calibri" pitchFamily="34" charset="-122"/>
                <a:cs typeface="Calibri" pitchFamily="34" charset="-120"/>
              </a:rPr>
              <a:t>Product design</a:t>
            </a:r>
            <a:endParaRPr lang="en-US" sz="1600" dirty="0"/>
          </a:p>
        </p:txBody>
      </p:sp>
      <p:sp>
        <p:nvSpPr>
          <p:cNvPr id="11" name="Text 9"/>
          <p:cNvSpPr txBox="1"/>
          <p:nvPr/>
        </p:nvSpPr>
        <p:spPr>
          <a:xfrm>
            <a:off x="1234440" y="2084832"/>
            <a:ext cx="6400800" cy="274320"/>
          </a:xfrm>
          <a:prstGeom prst="rect">
            <a:avLst/>
          </a:prstGeom>
          <a:noFill/>
          <a:ln/>
        </p:spPr>
        <p:txBody>
          <a:bodyPr wrap="square" lIns="0" tIns="0" rIns="0" bIns="0" rtlCol="0" anchor="t"/>
          <a:lstStyle/>
          <a:p>
            <a:pPr indent="0" marL="0">
              <a:buNone/>
            </a:pPr>
            <a:r>
              <a:rPr lang="en-US" sz="1150" dirty="0">
                <a:solidFill>
                  <a:srgbClr val="5F7176"/>
                </a:solidFill>
                <a:latin typeface="Calibri" pitchFamily="34" charset="0"/>
                <a:ea typeface="Calibri" pitchFamily="34" charset="-122"/>
                <a:cs typeface="Calibri" pitchFamily="34" charset="-120"/>
              </a:rPr>
              <a:t>Underlying basket, term sheet, and why a capital-protected autocallable</a:t>
            </a:r>
            <a:endParaRPr lang="en-US" sz="1150" dirty="0"/>
          </a:p>
        </p:txBody>
      </p:sp>
      <p:sp>
        <p:nvSpPr>
          <p:cNvPr id="12" name="Text 10"/>
          <p:cNvSpPr txBox="1"/>
          <p:nvPr/>
        </p:nvSpPr>
        <p:spPr>
          <a:xfrm>
            <a:off x="7315200" y="1856232"/>
            <a:ext cx="1371600" cy="274320"/>
          </a:xfrm>
          <a:prstGeom prst="rect">
            <a:avLst/>
          </a:prstGeom>
          <a:noFill/>
          <a:ln/>
        </p:spPr>
        <p:txBody>
          <a:bodyPr wrap="square" lIns="0" tIns="0" rIns="0" bIns="0" rtlCol="0" anchor="t"/>
          <a:lstStyle/>
          <a:p>
            <a:pPr algn="r" indent="0" marL="0">
              <a:buNone/>
            </a:pPr>
            <a:r>
              <a:rPr lang="en-US" sz="1100" dirty="0">
                <a:solidFill>
                  <a:srgbClr val="5F7176"/>
                </a:solidFill>
                <a:latin typeface="Calibri" pitchFamily="34" charset="0"/>
                <a:ea typeface="Calibri" pitchFamily="34" charset="-122"/>
                <a:cs typeface="Calibri" pitchFamily="34" charset="-120"/>
              </a:rPr>
              <a:t>Slides 3–4</a:t>
            </a:r>
            <a:endParaRPr lang="en-US" sz="1100" dirty="0"/>
          </a:p>
        </p:txBody>
      </p:sp>
      <p:sp>
        <p:nvSpPr>
          <p:cNvPr id="13" name="Shape 11"/>
          <p:cNvSpPr/>
          <p:nvPr/>
        </p:nvSpPr>
        <p:spPr>
          <a:xfrm>
            <a:off x="548640" y="2560320"/>
            <a:ext cx="457200" cy="457200"/>
          </a:xfrm>
          <a:prstGeom prst="ellipse">
            <a:avLst/>
          </a:prstGeom>
          <a:solidFill>
            <a:srgbClr val="0F8B8D"/>
          </a:solidFill>
          <a:ln/>
        </p:spPr>
      </p:sp>
      <p:sp>
        <p:nvSpPr>
          <p:cNvPr id="14" name="Text 12"/>
          <p:cNvSpPr txBox="1"/>
          <p:nvPr/>
        </p:nvSpPr>
        <p:spPr>
          <a:xfrm>
            <a:off x="548640" y="25603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5" name="Text 13"/>
          <p:cNvSpPr txBox="1"/>
          <p:nvPr/>
        </p:nvSpPr>
        <p:spPr>
          <a:xfrm>
            <a:off x="1234440" y="2514600"/>
            <a:ext cx="4572000" cy="292608"/>
          </a:xfrm>
          <a:prstGeom prst="rect">
            <a:avLst/>
          </a:prstGeom>
          <a:noFill/>
          <a:ln/>
        </p:spPr>
        <p:txBody>
          <a:bodyPr wrap="square" lIns="0" tIns="0" rIns="0" bIns="0" rtlCol="0" anchor="t"/>
          <a:lstStyle/>
          <a:p>
            <a:pPr indent="0" marL="0">
              <a:buNone/>
            </a:pPr>
            <a:r>
              <a:rPr lang="en-US" sz="1600" b="1" dirty="0">
                <a:solidFill>
                  <a:srgbClr val="0B3C49"/>
                </a:solidFill>
                <a:latin typeface="Calibri" pitchFamily="34" charset="0"/>
                <a:ea typeface="Calibri" pitchFamily="34" charset="-122"/>
                <a:cs typeface="Calibri" pitchFamily="34" charset="-120"/>
              </a:rPr>
              <a:t>Payoffs explained</a:t>
            </a:r>
            <a:endParaRPr lang="en-US" sz="1600" dirty="0"/>
          </a:p>
        </p:txBody>
      </p:sp>
      <p:sp>
        <p:nvSpPr>
          <p:cNvPr id="16" name="Text 14"/>
          <p:cNvSpPr txBox="1"/>
          <p:nvPr/>
        </p:nvSpPr>
        <p:spPr>
          <a:xfrm>
            <a:off x="1234440" y="2816352"/>
            <a:ext cx="6400800" cy="274320"/>
          </a:xfrm>
          <a:prstGeom prst="rect">
            <a:avLst/>
          </a:prstGeom>
          <a:noFill/>
          <a:ln/>
        </p:spPr>
        <p:txBody>
          <a:bodyPr wrap="square" lIns="0" tIns="0" rIns="0" bIns="0" rtlCol="0" anchor="t"/>
          <a:lstStyle/>
          <a:p>
            <a:pPr indent="0" marL="0">
              <a:buNone/>
            </a:pPr>
            <a:r>
              <a:rPr lang="en-US" sz="1150" dirty="0">
                <a:solidFill>
                  <a:srgbClr val="5F7176"/>
                </a:solidFill>
                <a:latin typeface="Calibri" pitchFamily="34" charset="0"/>
                <a:ea typeface="Calibri" pitchFamily="34" charset="-122"/>
                <a:cs typeface="Calibri" pitchFamily="34" charset="-120"/>
              </a:rPr>
              <a:t>Observation timeline, payoff diagrams, and the building blocks the client owns</a:t>
            </a:r>
            <a:endParaRPr lang="en-US" sz="1150" dirty="0"/>
          </a:p>
        </p:txBody>
      </p:sp>
      <p:sp>
        <p:nvSpPr>
          <p:cNvPr id="17" name="Text 15"/>
          <p:cNvSpPr txBox="1"/>
          <p:nvPr/>
        </p:nvSpPr>
        <p:spPr>
          <a:xfrm>
            <a:off x="7315200" y="2587752"/>
            <a:ext cx="1371600" cy="274320"/>
          </a:xfrm>
          <a:prstGeom prst="rect">
            <a:avLst/>
          </a:prstGeom>
          <a:noFill/>
          <a:ln/>
        </p:spPr>
        <p:txBody>
          <a:bodyPr wrap="square" lIns="0" tIns="0" rIns="0" bIns="0" rtlCol="0" anchor="t"/>
          <a:lstStyle/>
          <a:p>
            <a:pPr algn="r" indent="0" marL="0">
              <a:buNone/>
            </a:pPr>
            <a:r>
              <a:rPr lang="en-US" sz="1100" dirty="0">
                <a:solidFill>
                  <a:srgbClr val="5F7176"/>
                </a:solidFill>
                <a:latin typeface="Calibri" pitchFamily="34" charset="0"/>
                <a:ea typeface="Calibri" pitchFamily="34" charset="-122"/>
                <a:cs typeface="Calibri" pitchFamily="34" charset="-120"/>
              </a:rPr>
              <a:t>Slides 5–7</a:t>
            </a:r>
            <a:endParaRPr lang="en-US" sz="1100" dirty="0"/>
          </a:p>
        </p:txBody>
      </p:sp>
      <p:sp>
        <p:nvSpPr>
          <p:cNvPr id="18" name="Shape 16"/>
          <p:cNvSpPr/>
          <p:nvPr/>
        </p:nvSpPr>
        <p:spPr>
          <a:xfrm>
            <a:off x="548640" y="3291840"/>
            <a:ext cx="457200" cy="457200"/>
          </a:xfrm>
          <a:prstGeom prst="ellipse">
            <a:avLst/>
          </a:prstGeom>
          <a:solidFill>
            <a:srgbClr val="D9961A"/>
          </a:solidFill>
          <a:ln/>
        </p:spPr>
      </p:sp>
      <p:sp>
        <p:nvSpPr>
          <p:cNvPr id="19" name="Text 17"/>
          <p:cNvSpPr txBox="1"/>
          <p:nvPr/>
        </p:nvSpPr>
        <p:spPr>
          <a:xfrm>
            <a:off x="548640" y="32918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0" name="Text 18"/>
          <p:cNvSpPr txBox="1"/>
          <p:nvPr/>
        </p:nvSpPr>
        <p:spPr>
          <a:xfrm>
            <a:off x="1234440" y="3246120"/>
            <a:ext cx="4572000" cy="292608"/>
          </a:xfrm>
          <a:prstGeom prst="rect">
            <a:avLst/>
          </a:prstGeom>
          <a:noFill/>
          <a:ln/>
        </p:spPr>
        <p:txBody>
          <a:bodyPr wrap="square" lIns="0" tIns="0" rIns="0" bIns="0" rtlCol="0" anchor="t"/>
          <a:lstStyle/>
          <a:p>
            <a:pPr indent="0" marL="0">
              <a:buNone/>
            </a:pPr>
            <a:r>
              <a:rPr lang="en-US" sz="1600" b="1" dirty="0">
                <a:solidFill>
                  <a:srgbClr val="0B3C49"/>
                </a:solidFill>
                <a:latin typeface="Calibri" pitchFamily="34" charset="0"/>
                <a:ea typeface="Calibri" pitchFamily="34" charset="-122"/>
                <a:cs typeface="Calibri" pitchFamily="34" charset="-120"/>
              </a:rPr>
              <a:t>Scenarios &amp; back-testing</a:t>
            </a:r>
            <a:endParaRPr lang="en-US" sz="1600" dirty="0"/>
          </a:p>
        </p:txBody>
      </p:sp>
      <p:sp>
        <p:nvSpPr>
          <p:cNvPr id="21" name="Text 19"/>
          <p:cNvSpPr txBox="1"/>
          <p:nvPr/>
        </p:nvSpPr>
        <p:spPr>
          <a:xfrm>
            <a:off x="1234440" y="3547872"/>
            <a:ext cx="6400800" cy="274320"/>
          </a:xfrm>
          <a:prstGeom prst="rect">
            <a:avLst/>
          </a:prstGeom>
          <a:noFill/>
          <a:ln/>
        </p:spPr>
        <p:txBody>
          <a:bodyPr wrap="square" lIns="0" tIns="0" rIns="0" bIns="0" rtlCol="0" anchor="t"/>
          <a:lstStyle/>
          <a:p>
            <a:pPr indent="0" marL="0">
              <a:buNone/>
            </a:pPr>
            <a:r>
              <a:rPr lang="en-US" sz="1150" dirty="0">
                <a:solidFill>
                  <a:srgbClr val="5F7176"/>
                </a:solidFill>
                <a:latin typeface="Calibri" pitchFamily="34" charset="0"/>
                <a:ea typeface="Calibri" pitchFamily="34" charset="-122"/>
                <a:cs typeface="Calibri" pitchFamily="34" charset="-120"/>
              </a:rPr>
              <a:t>Stress paths and Monte Carlo outcome distributions</a:t>
            </a:r>
            <a:endParaRPr lang="en-US" sz="1150" dirty="0"/>
          </a:p>
        </p:txBody>
      </p:sp>
      <p:sp>
        <p:nvSpPr>
          <p:cNvPr id="22" name="Text 20"/>
          <p:cNvSpPr txBox="1"/>
          <p:nvPr/>
        </p:nvSpPr>
        <p:spPr>
          <a:xfrm>
            <a:off x="7315200" y="3319272"/>
            <a:ext cx="1371600" cy="274320"/>
          </a:xfrm>
          <a:prstGeom prst="rect">
            <a:avLst/>
          </a:prstGeom>
          <a:noFill/>
          <a:ln/>
        </p:spPr>
        <p:txBody>
          <a:bodyPr wrap="square" lIns="0" tIns="0" rIns="0" bIns="0" rtlCol="0" anchor="t"/>
          <a:lstStyle/>
          <a:p>
            <a:pPr algn="r" indent="0" marL="0">
              <a:buNone/>
            </a:pPr>
            <a:r>
              <a:rPr lang="en-US" sz="1100" dirty="0">
                <a:solidFill>
                  <a:srgbClr val="5F7176"/>
                </a:solidFill>
                <a:latin typeface="Calibri" pitchFamily="34" charset="0"/>
                <a:ea typeface="Calibri" pitchFamily="34" charset="-122"/>
                <a:cs typeface="Calibri" pitchFamily="34" charset="-120"/>
              </a:rPr>
              <a:t>Slides 8–9</a:t>
            </a:r>
            <a:endParaRPr lang="en-US" sz="1100" dirty="0"/>
          </a:p>
        </p:txBody>
      </p:sp>
      <p:sp>
        <p:nvSpPr>
          <p:cNvPr id="23" name="Shape 21"/>
          <p:cNvSpPr/>
          <p:nvPr/>
        </p:nvSpPr>
        <p:spPr>
          <a:xfrm>
            <a:off x="548640" y="4023360"/>
            <a:ext cx="457200" cy="457200"/>
          </a:xfrm>
          <a:prstGeom prst="ellipse">
            <a:avLst/>
          </a:prstGeom>
          <a:solidFill>
            <a:srgbClr val="0F8B8D"/>
          </a:solidFill>
          <a:ln/>
        </p:spPr>
      </p:sp>
      <p:sp>
        <p:nvSpPr>
          <p:cNvPr id="24" name="Text 22"/>
          <p:cNvSpPr txBox="1"/>
          <p:nvPr/>
        </p:nvSpPr>
        <p:spPr>
          <a:xfrm>
            <a:off x="548640" y="40233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5" name="Text 23"/>
          <p:cNvSpPr txBox="1"/>
          <p:nvPr/>
        </p:nvSpPr>
        <p:spPr>
          <a:xfrm>
            <a:off x="1234440" y="3977640"/>
            <a:ext cx="4572000" cy="292608"/>
          </a:xfrm>
          <a:prstGeom prst="rect">
            <a:avLst/>
          </a:prstGeom>
          <a:noFill/>
          <a:ln/>
        </p:spPr>
        <p:txBody>
          <a:bodyPr wrap="square" lIns="0" tIns="0" rIns="0" bIns="0" rtlCol="0" anchor="t"/>
          <a:lstStyle/>
          <a:p>
            <a:pPr indent="0" marL="0">
              <a:buNone/>
            </a:pPr>
            <a:r>
              <a:rPr lang="en-US" sz="1600" b="1" dirty="0">
                <a:solidFill>
                  <a:srgbClr val="0B3C49"/>
                </a:solidFill>
                <a:latin typeface="Calibri" pitchFamily="34" charset="0"/>
                <a:ea typeface="Calibri" pitchFamily="34" charset="-122"/>
                <a:cs typeface="Calibri" pitchFamily="34" charset="-120"/>
              </a:rPr>
              <a:t>Risks &amp; hedging</a:t>
            </a:r>
            <a:endParaRPr lang="en-US" sz="1600" dirty="0"/>
          </a:p>
        </p:txBody>
      </p:sp>
      <p:sp>
        <p:nvSpPr>
          <p:cNvPr id="26" name="Text 24"/>
          <p:cNvSpPr txBox="1"/>
          <p:nvPr/>
        </p:nvSpPr>
        <p:spPr>
          <a:xfrm>
            <a:off x="1234440" y="4279392"/>
            <a:ext cx="6400800" cy="274320"/>
          </a:xfrm>
          <a:prstGeom prst="rect">
            <a:avLst/>
          </a:prstGeom>
          <a:noFill/>
          <a:ln/>
        </p:spPr>
        <p:txBody>
          <a:bodyPr wrap="square" lIns="0" tIns="0" rIns="0" bIns="0" rtlCol="0" anchor="t"/>
          <a:lstStyle/>
          <a:p>
            <a:pPr indent="0" marL="0">
              <a:buNone/>
            </a:pPr>
            <a:r>
              <a:rPr lang="en-US" sz="1150" dirty="0">
                <a:solidFill>
                  <a:srgbClr val="5F7176"/>
                </a:solidFill>
                <a:latin typeface="Calibri" pitchFamily="34" charset="0"/>
                <a:ea typeface="Calibri" pitchFamily="34" charset="-122"/>
                <a:cs typeface="Calibri" pitchFamily="34" charset="-120"/>
              </a:rPr>
              <a:t>Investor risks, mitigants, and how the Natixis desk hedges</a:t>
            </a:r>
            <a:endParaRPr lang="en-US" sz="1150" dirty="0"/>
          </a:p>
        </p:txBody>
      </p:sp>
      <p:sp>
        <p:nvSpPr>
          <p:cNvPr id="27" name="Text 25"/>
          <p:cNvSpPr txBox="1"/>
          <p:nvPr/>
        </p:nvSpPr>
        <p:spPr>
          <a:xfrm>
            <a:off x="7315200" y="4050792"/>
            <a:ext cx="1371600" cy="274320"/>
          </a:xfrm>
          <a:prstGeom prst="rect">
            <a:avLst/>
          </a:prstGeom>
          <a:noFill/>
          <a:ln/>
        </p:spPr>
        <p:txBody>
          <a:bodyPr wrap="square" lIns="0" tIns="0" rIns="0" bIns="0" rtlCol="0" anchor="t"/>
          <a:lstStyle/>
          <a:p>
            <a:pPr algn="r" indent="0" marL="0">
              <a:buNone/>
            </a:pPr>
            <a:r>
              <a:rPr lang="en-US" sz="1100" dirty="0">
                <a:solidFill>
                  <a:srgbClr val="5F7176"/>
                </a:solidFill>
                <a:latin typeface="Calibri" pitchFamily="34" charset="0"/>
                <a:ea typeface="Calibri" pitchFamily="34" charset="-122"/>
                <a:cs typeface="Calibri" pitchFamily="34" charset="-120"/>
              </a:rPr>
              <a:t>Slide 10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Executive summary</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One note that turns the family's operating expertise into protected returns</a:t>
            </a:r>
            <a:endParaRPr lang="en-US" sz="1250" dirty="0"/>
          </a:p>
        </p:txBody>
      </p:sp>
      <p:sp>
        <p:nvSpPr>
          <p:cNvPr id="4" name="Shape 2"/>
          <p:cNvSpPr/>
          <p:nvPr/>
        </p:nvSpPr>
        <p:spPr>
          <a:xfrm>
            <a:off x="457200" y="1234440"/>
            <a:ext cx="2606040" cy="2103120"/>
          </a:xfrm>
          <a:prstGeom prst="roundRect">
            <a:avLst>
              <a:gd name="adj" fmla="val 3043"/>
            </a:avLst>
          </a:prstGeom>
          <a:solidFill>
            <a:srgbClr val="E6F2F0"/>
          </a:solidFill>
          <a:ln w="12700">
            <a:solidFill>
              <a:srgbClr val="E6F2F0"/>
            </a:solidFill>
            <a:prstDash val="solid"/>
          </a:ln>
        </p:spPr>
      </p:sp>
      <p:sp>
        <p:nvSpPr>
          <p:cNvPr id="5" name="Text 3"/>
          <p:cNvSpPr txBox="1"/>
          <p:nvPr/>
        </p:nvSpPr>
        <p:spPr>
          <a:xfrm>
            <a:off x="658368" y="1353312"/>
            <a:ext cx="2240280" cy="731520"/>
          </a:xfrm>
          <a:prstGeom prst="rect">
            <a:avLst/>
          </a:prstGeom>
          <a:noFill/>
          <a:ln/>
        </p:spPr>
        <p:txBody>
          <a:bodyPr wrap="square" lIns="0" tIns="0" rIns="0" bIns="0" rtlCol="0" anchor="ctr"/>
          <a:lstStyle/>
          <a:p>
            <a:pPr indent="0" marL="0">
              <a:buNone/>
            </a:pPr>
            <a:r>
              <a:rPr lang="en-US" sz="3800" b="1" dirty="0">
                <a:solidFill>
                  <a:srgbClr val="0F8B8D"/>
                </a:solidFill>
                <a:latin typeface="Cambria" pitchFamily="34" charset="0"/>
                <a:ea typeface="Cambria" pitchFamily="34" charset="-122"/>
                <a:cs typeface="Cambria" pitchFamily="34" charset="-120"/>
              </a:rPr>
              <a:t>7.20%</a:t>
            </a:r>
            <a:endParaRPr lang="en-US" sz="3800" dirty="0"/>
          </a:p>
        </p:txBody>
      </p:sp>
      <p:sp>
        <p:nvSpPr>
          <p:cNvPr id="6" name="Text 4"/>
          <p:cNvSpPr txBox="1"/>
          <p:nvPr/>
        </p:nvSpPr>
        <p:spPr>
          <a:xfrm>
            <a:off x="658368" y="2103120"/>
            <a:ext cx="2240280" cy="292608"/>
          </a:xfrm>
          <a:prstGeom prst="rect">
            <a:avLst/>
          </a:prstGeom>
          <a:noFill/>
          <a:ln/>
        </p:spPr>
        <p:txBody>
          <a:bodyPr wrap="square" lIns="0" tIns="0" rIns="0" bIns="0" rtlCol="0" anchor="t"/>
          <a:lstStyle/>
          <a:p>
            <a:pPr indent="0" marL="0">
              <a:buNone/>
            </a:pPr>
            <a:r>
              <a:rPr lang="en-US" sz="1300" b="1" dirty="0">
                <a:solidFill>
                  <a:srgbClr val="0B3C49"/>
                </a:solidFill>
                <a:latin typeface="Calibri" pitchFamily="34" charset="0"/>
                <a:ea typeface="Calibri" pitchFamily="34" charset="-122"/>
                <a:cs typeface="Calibri" pitchFamily="34" charset="-120"/>
              </a:rPr>
              <a:t>Memory coupon p.a.</a:t>
            </a:r>
            <a:endParaRPr lang="en-US" sz="1300" dirty="0"/>
          </a:p>
        </p:txBody>
      </p:sp>
      <p:sp>
        <p:nvSpPr>
          <p:cNvPr id="7" name="Text 5"/>
          <p:cNvSpPr txBox="1"/>
          <p:nvPr/>
        </p:nvSpPr>
        <p:spPr>
          <a:xfrm>
            <a:off x="658368" y="2423160"/>
            <a:ext cx="2240280" cy="868680"/>
          </a:xfrm>
          <a:prstGeom prst="rect">
            <a:avLst/>
          </a:prstGeom>
          <a:noFill/>
          <a:ln/>
        </p:spPr>
        <p:txBody>
          <a:bodyPr wrap="square" lIns="0" tIns="0" rIns="0" bIns="0" rtlCol="0" anchor="t"/>
          <a:lstStyle/>
          <a:p>
            <a:pPr indent="0" marL="0">
              <a:buNone/>
            </a:pPr>
            <a:r>
              <a:rPr lang="en-US" sz="1050" dirty="0">
                <a:solidFill>
                  <a:srgbClr val="5F7176"/>
                </a:solidFill>
                <a:latin typeface="Calibri" pitchFamily="34" charset="0"/>
                <a:ea typeface="Calibri" pitchFamily="34" charset="-122"/>
                <a:cs typeface="Calibri" pitchFamily="34" charset="-120"/>
              </a:rPr>
              <a:t>1.80% each quarter the basket is ≥ 100%; missed coupons are paid later when it recovers</a:t>
            </a:r>
            <a:endParaRPr lang="en-US" sz="1050" dirty="0"/>
          </a:p>
        </p:txBody>
      </p:sp>
      <p:sp>
        <p:nvSpPr>
          <p:cNvPr id="8" name="Shape 6"/>
          <p:cNvSpPr/>
          <p:nvPr/>
        </p:nvSpPr>
        <p:spPr>
          <a:xfrm>
            <a:off x="3246120" y="1234440"/>
            <a:ext cx="2606040" cy="2103120"/>
          </a:xfrm>
          <a:prstGeom prst="roundRect">
            <a:avLst>
              <a:gd name="adj" fmla="val 3043"/>
            </a:avLst>
          </a:prstGeom>
          <a:solidFill>
            <a:srgbClr val="E6F2F0"/>
          </a:solidFill>
          <a:ln w="12700">
            <a:solidFill>
              <a:srgbClr val="E6F2F0"/>
            </a:solidFill>
            <a:prstDash val="solid"/>
          </a:ln>
        </p:spPr>
      </p:sp>
      <p:sp>
        <p:nvSpPr>
          <p:cNvPr id="9" name="Text 7"/>
          <p:cNvSpPr txBox="1"/>
          <p:nvPr/>
        </p:nvSpPr>
        <p:spPr>
          <a:xfrm>
            <a:off x="3447288" y="1353312"/>
            <a:ext cx="2240280" cy="731520"/>
          </a:xfrm>
          <a:prstGeom prst="rect">
            <a:avLst/>
          </a:prstGeom>
          <a:noFill/>
          <a:ln/>
        </p:spPr>
        <p:txBody>
          <a:bodyPr wrap="square" lIns="0" tIns="0" rIns="0" bIns="0" rtlCol="0" anchor="ctr"/>
          <a:lstStyle/>
          <a:p>
            <a:pPr indent="0" marL="0">
              <a:buNone/>
            </a:pPr>
            <a:r>
              <a:rPr lang="en-US" sz="3800" b="1" dirty="0">
                <a:solidFill>
                  <a:srgbClr val="D9961A"/>
                </a:solidFill>
                <a:latin typeface="Cambria" pitchFamily="34" charset="0"/>
                <a:ea typeface="Cambria" pitchFamily="34" charset="-122"/>
                <a:cs typeface="Cambria" pitchFamily="34" charset="-120"/>
              </a:rPr>
              <a:t>100%</a:t>
            </a:r>
            <a:endParaRPr lang="en-US" sz="3800" dirty="0"/>
          </a:p>
        </p:txBody>
      </p:sp>
      <p:sp>
        <p:nvSpPr>
          <p:cNvPr id="10" name="Text 8"/>
          <p:cNvSpPr txBox="1"/>
          <p:nvPr/>
        </p:nvSpPr>
        <p:spPr>
          <a:xfrm>
            <a:off x="3447288" y="2103120"/>
            <a:ext cx="2240280" cy="292608"/>
          </a:xfrm>
          <a:prstGeom prst="rect">
            <a:avLst/>
          </a:prstGeom>
          <a:noFill/>
          <a:ln/>
        </p:spPr>
        <p:txBody>
          <a:bodyPr wrap="square" lIns="0" tIns="0" rIns="0" bIns="0" rtlCol="0" anchor="t"/>
          <a:lstStyle/>
          <a:p>
            <a:pPr indent="0" marL="0">
              <a:buNone/>
            </a:pPr>
            <a:r>
              <a:rPr lang="en-US" sz="1300" b="1" dirty="0">
                <a:solidFill>
                  <a:srgbClr val="0B3C49"/>
                </a:solidFill>
                <a:latin typeface="Calibri" pitchFamily="34" charset="0"/>
                <a:ea typeface="Calibri" pitchFamily="34" charset="-122"/>
                <a:cs typeface="Calibri" pitchFamily="34" charset="-120"/>
              </a:rPr>
              <a:t>Capital protected</a:t>
            </a:r>
            <a:endParaRPr lang="en-US" sz="1300" dirty="0"/>
          </a:p>
        </p:txBody>
      </p:sp>
      <p:sp>
        <p:nvSpPr>
          <p:cNvPr id="11" name="Text 9"/>
          <p:cNvSpPr txBox="1"/>
          <p:nvPr/>
        </p:nvSpPr>
        <p:spPr>
          <a:xfrm>
            <a:off x="3447288" y="2423160"/>
            <a:ext cx="2240280" cy="868680"/>
          </a:xfrm>
          <a:prstGeom prst="rect">
            <a:avLst/>
          </a:prstGeom>
          <a:noFill/>
          <a:ln/>
        </p:spPr>
        <p:txBody>
          <a:bodyPr wrap="square" lIns="0" tIns="0" rIns="0" bIns="0" rtlCol="0" anchor="t"/>
          <a:lstStyle/>
          <a:p>
            <a:pPr indent="0" marL="0">
              <a:buNone/>
            </a:pPr>
            <a:r>
              <a:rPr lang="en-US" sz="1050" dirty="0">
                <a:solidFill>
                  <a:srgbClr val="5F7176"/>
                </a:solidFill>
                <a:latin typeface="Calibri" pitchFamily="34" charset="0"/>
                <a:ea typeface="Calibri" pitchFamily="34" charset="-122"/>
                <a:cs typeface="Calibri" pitchFamily="34" charset="-120"/>
              </a:rPr>
              <a:t>Principal returned in full at maturity whatever the basket does (Natixis credit risk only)</a:t>
            </a:r>
            <a:endParaRPr lang="en-US" sz="1050" dirty="0"/>
          </a:p>
        </p:txBody>
      </p:sp>
      <p:sp>
        <p:nvSpPr>
          <p:cNvPr id="12" name="Shape 10"/>
          <p:cNvSpPr/>
          <p:nvPr/>
        </p:nvSpPr>
        <p:spPr>
          <a:xfrm>
            <a:off x="6035040" y="1234440"/>
            <a:ext cx="2606040" cy="2103120"/>
          </a:xfrm>
          <a:prstGeom prst="roundRect">
            <a:avLst>
              <a:gd name="adj" fmla="val 3043"/>
            </a:avLst>
          </a:prstGeom>
          <a:solidFill>
            <a:srgbClr val="E6F2F0"/>
          </a:solidFill>
          <a:ln w="12700">
            <a:solidFill>
              <a:srgbClr val="E6F2F0"/>
            </a:solidFill>
            <a:prstDash val="solid"/>
          </a:ln>
        </p:spPr>
      </p:sp>
      <p:sp>
        <p:nvSpPr>
          <p:cNvPr id="13" name="Text 11"/>
          <p:cNvSpPr txBox="1"/>
          <p:nvPr/>
        </p:nvSpPr>
        <p:spPr>
          <a:xfrm>
            <a:off x="6236208" y="1353312"/>
            <a:ext cx="2240280" cy="731520"/>
          </a:xfrm>
          <a:prstGeom prst="rect">
            <a:avLst/>
          </a:prstGeom>
          <a:noFill/>
          <a:ln/>
        </p:spPr>
        <p:txBody>
          <a:bodyPr wrap="square" lIns="0" tIns="0" rIns="0" bIns="0" rtlCol="0" anchor="ctr"/>
          <a:lstStyle/>
          <a:p>
            <a:pPr indent="0" marL="0">
              <a:buNone/>
            </a:pPr>
            <a:r>
              <a:rPr lang="en-US" sz="3800" b="1" dirty="0">
                <a:solidFill>
                  <a:srgbClr val="0F8B8D"/>
                </a:solidFill>
                <a:latin typeface="Cambria" pitchFamily="34" charset="0"/>
                <a:ea typeface="Cambria" pitchFamily="34" charset="-122"/>
                <a:cs typeface="Cambria" pitchFamily="34" charset="-120"/>
              </a:rPr>
              <a:t>48%</a:t>
            </a:r>
            <a:endParaRPr lang="en-US" sz="3800" dirty="0"/>
          </a:p>
        </p:txBody>
      </p:sp>
      <p:sp>
        <p:nvSpPr>
          <p:cNvPr id="14" name="Text 12"/>
          <p:cNvSpPr txBox="1"/>
          <p:nvPr/>
        </p:nvSpPr>
        <p:spPr>
          <a:xfrm>
            <a:off x="6236208" y="2103120"/>
            <a:ext cx="2240280" cy="292608"/>
          </a:xfrm>
          <a:prstGeom prst="rect">
            <a:avLst/>
          </a:prstGeom>
          <a:noFill/>
          <a:ln/>
        </p:spPr>
        <p:txBody>
          <a:bodyPr wrap="square" lIns="0" tIns="0" rIns="0" bIns="0" rtlCol="0" anchor="t"/>
          <a:lstStyle/>
          <a:p>
            <a:pPr indent="0" marL="0">
              <a:buNone/>
            </a:pPr>
            <a:r>
              <a:rPr lang="en-US" sz="1300" b="1" dirty="0">
                <a:solidFill>
                  <a:srgbClr val="0B3C49"/>
                </a:solidFill>
                <a:latin typeface="Calibri" pitchFamily="34" charset="0"/>
                <a:ea typeface="Calibri" pitchFamily="34" charset="-122"/>
                <a:cs typeface="Calibri" pitchFamily="34" charset="-120"/>
              </a:rPr>
              <a:t>Called at first review</a:t>
            </a:r>
            <a:endParaRPr lang="en-US" sz="1300" dirty="0"/>
          </a:p>
        </p:txBody>
      </p:sp>
      <p:sp>
        <p:nvSpPr>
          <p:cNvPr id="15" name="Text 13"/>
          <p:cNvSpPr txBox="1"/>
          <p:nvPr/>
        </p:nvSpPr>
        <p:spPr>
          <a:xfrm>
            <a:off x="6236208" y="2423160"/>
            <a:ext cx="2240280" cy="868680"/>
          </a:xfrm>
          <a:prstGeom prst="rect">
            <a:avLst/>
          </a:prstGeom>
          <a:noFill/>
          <a:ln/>
        </p:spPr>
        <p:txBody>
          <a:bodyPr wrap="square" lIns="0" tIns="0" rIns="0" bIns="0" rtlCol="0" anchor="t"/>
          <a:lstStyle/>
          <a:p>
            <a:pPr indent="0" marL="0">
              <a:buNone/>
            </a:pPr>
            <a:r>
              <a:rPr lang="en-US" sz="1050" dirty="0">
                <a:solidFill>
                  <a:srgbClr val="5F7176"/>
                </a:solidFill>
                <a:latin typeface="Calibri" pitchFamily="34" charset="0"/>
                <a:ea typeface="Calibri" pitchFamily="34" charset="-122"/>
                <a:cs typeface="Calibri" pitchFamily="34" charset="-120"/>
              </a:rPr>
              <a:t>Risk-neutral. 79% called within 5 years; expected life 2.24 years</a:t>
            </a:r>
            <a:endParaRPr lang="en-US" sz="1050" dirty="0"/>
          </a:p>
        </p:txBody>
      </p:sp>
      <p:sp>
        <p:nvSpPr>
          <p:cNvPr id="16" name="Text 14"/>
          <p:cNvSpPr txBox="1"/>
          <p:nvPr/>
        </p:nvSpPr>
        <p:spPr>
          <a:xfrm>
            <a:off x="457200" y="3520440"/>
            <a:ext cx="8229600" cy="1188720"/>
          </a:xfrm>
          <a:prstGeom prst="rect">
            <a:avLst/>
          </a:prstGeom>
          <a:noFill/>
          <a:ln/>
        </p:spPr>
        <p:txBody>
          <a:bodyPr wrap="square" lIns="0" tIns="0" rIns="0" bIns="0" rtlCol="0" anchor="t"/>
          <a:lstStyle/>
          <a:p>
            <a:pPr indent="0" marL="0">
              <a:buNone/>
            </a:pPr>
            <a:r>
              <a:rPr lang="en-US" sz="1150" dirty="0">
                <a:solidFill>
                  <a:srgbClr val="1D2B30"/>
                </a:solidFill>
                <a:latin typeface="Calibri" pitchFamily="34" charset="0"/>
                <a:ea typeface="Calibri" pitchFamily="34" charset="-122"/>
                <a:cs typeface="Calibri" pitchFamily="34" charset="-120"/>
              </a:rPr>
              <a:t>We recommend </a:t>
            </a:r>
            <a:pPr indent="0" marL="0">
              <a:buNone/>
            </a:pPr>
            <a:r>
              <a:rPr lang="en-US" sz="1150" b="1" dirty="0">
                <a:solidFill>
                  <a:srgbClr val="0F8B8D"/>
                </a:solidFill>
                <a:latin typeface="Calibri" pitchFamily="34" charset="0"/>
                <a:ea typeface="Calibri" pitchFamily="34" charset="-122"/>
                <a:cs typeface="Calibri" pitchFamily="34" charset="-120"/>
              </a:rPr>
              <a:t>a USD 100mn, 5-year Natixis capital-protected autocallable note</a:t>
            </a:r>
            <a:pPr indent="0" marL="0">
              <a:buNone/>
            </a:pPr>
            <a:r>
              <a:rPr lang="en-US" sz="1150" dirty="0">
                <a:solidFill>
                  <a:srgbClr val="1D2B30"/>
                </a:solidFill>
                <a:latin typeface="Calibri" pitchFamily="34" charset="0"/>
                <a:ea typeface="Calibri" pitchFamily="34" charset="-122"/>
                <a:cs typeface="Calibri" pitchFamily="34" charset="-120"/>
              </a:rPr>
              <a:t> on a basket of five Bloomberg-listed Asian ETFs: Global X Asia Semiconductor (3119 HK) 25%, Global X Japan Semiconductor (2644 JP) 25%, iShares MSCI Taiwan (EWT) 15%, iShares MSCI South Korea (EWY) 15% and Cathay Taiwan ESG High Dividend (00878 TT) 20%. It gives the family the AI hardware layer (chips, memory and chip-making equipment) that complements, rather than duplicates, the infrastructure, power and property they already own. </a:t>
            </a:r>
            <a:pPr indent="0" marL="0">
              <a:buNone/>
            </a:pPr>
            <a:r>
              <a:rPr lang="en-US" sz="1150" b="1" dirty="0">
                <a:solidFill>
                  <a:srgbClr val="1D2B30"/>
                </a:solidFill>
                <a:latin typeface="Calibri" pitchFamily="34" charset="0"/>
                <a:ea typeface="Calibri" pitchFamily="34" charset="-122"/>
                <a:cs typeface="Calibri" pitchFamily="34" charset="-120"/>
              </a:rPr>
              <a:t>The family never loses capital at maturity, earns 7.20% a year in the 79% of paths where the basket gets back to its starting level, and gets 100% back in the rest. Fair value is 97.3%, so issuing at par leaves Natixis 2.8% for hedging and margin.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The family wants growth without putting the legacy at risk</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Client diagnosis: third-generation dynasty, succession done, now allocating for legacy</a:t>
            </a:r>
            <a:endParaRPr lang="en-US" sz="1250" dirty="0"/>
          </a:p>
        </p:txBody>
      </p:sp>
      <p:sp>
        <p:nvSpPr>
          <p:cNvPr id="4" name="Shape 2"/>
          <p:cNvSpPr/>
          <p:nvPr/>
        </p:nvSpPr>
        <p:spPr>
          <a:xfrm>
            <a:off x="457200" y="1188720"/>
            <a:ext cx="2606040" cy="2057400"/>
          </a:xfrm>
          <a:prstGeom prst="roundRect">
            <a:avLst>
              <a:gd name="adj" fmla="val 3111"/>
            </a:avLst>
          </a:prstGeom>
          <a:solidFill>
            <a:srgbClr val="E6F2F0"/>
          </a:solidFill>
          <a:ln w="12700">
            <a:solidFill>
              <a:srgbClr val="E6F2F0"/>
            </a:solidFill>
            <a:prstDash val="solid"/>
          </a:ln>
        </p:spPr>
      </p:sp>
      <p:sp>
        <p:nvSpPr>
          <p:cNvPr id="5" name="Text 3"/>
          <p:cNvSpPr txBox="1"/>
          <p:nvPr/>
        </p:nvSpPr>
        <p:spPr>
          <a:xfrm>
            <a:off x="640080" y="1298448"/>
            <a:ext cx="2286000" cy="292608"/>
          </a:xfrm>
          <a:prstGeom prst="rect">
            <a:avLst/>
          </a:prstGeom>
          <a:noFill/>
          <a:ln/>
        </p:spPr>
        <p:txBody>
          <a:bodyPr wrap="square" lIns="0" tIns="0" rIns="0" bIns="0" rtlCol="0" anchor="t"/>
          <a:lstStyle/>
          <a:p>
            <a:pPr indent="0" marL="0">
              <a:buNone/>
            </a:pPr>
            <a:r>
              <a:rPr lang="en-US" sz="1400" b="1" dirty="0">
                <a:solidFill>
                  <a:srgbClr val="0B3C49"/>
                </a:solidFill>
                <a:latin typeface="Calibri" pitchFamily="34" charset="0"/>
                <a:ea typeface="Calibri" pitchFamily="34" charset="-122"/>
                <a:cs typeface="Calibri" pitchFamily="34" charset="-120"/>
              </a:rPr>
              <a:t>Who they are</a:t>
            </a:r>
            <a:endParaRPr lang="en-US" sz="1400" dirty="0"/>
          </a:p>
        </p:txBody>
      </p:sp>
      <p:sp>
        <p:nvSpPr>
          <p:cNvPr id="6" name="Text 4"/>
          <p:cNvSpPr txBox="1"/>
          <p:nvPr/>
        </p:nvSpPr>
        <p:spPr>
          <a:xfrm>
            <a:off x="640080" y="1645920"/>
            <a:ext cx="2286000" cy="155448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1D2B30"/>
                </a:solidFill>
                <a:latin typeface="Calibri" pitchFamily="34" charset="0"/>
                <a:ea typeface="Calibri" pitchFamily="34" charset="-122"/>
                <a:cs typeface="Calibri" pitchFamily="34" charset="-120"/>
              </a:rPr>
              <a:t>Single-family office: NKE Private Wealth</a:t>
            </a:r>
            <a:endParaRPr lang="en-US" sz="1050" dirty="0"/>
          </a:p>
          <a:p>
            <a:pPr marL="342900" indent="-342900">
              <a:spcAft>
                <a:spcPts val="300"/>
              </a:spcAft>
              <a:buSzPct val="100000"/>
              <a:buChar char="•"/>
            </a:pPr>
            <a:r>
              <a:rPr lang="en-US" sz="1050" dirty="0">
                <a:solidFill>
                  <a:srgbClr val="1D2B30"/>
                </a:solidFill>
                <a:latin typeface="Calibri" pitchFamily="34" charset="0"/>
                <a:ea typeface="Calibri" pitchFamily="34" charset="-122"/>
                <a:cs typeface="Calibri" pitchFamily="34" charset="-120"/>
              </a:rPr>
              <a:t>Net worth &gt; USD 2bn; mandate USD 100mn (~5%)</a:t>
            </a:r>
            <a:endParaRPr lang="en-US" sz="1050" dirty="0"/>
          </a:p>
          <a:p>
            <a:pPr marL="342900" indent="-342900">
              <a:spcAft>
                <a:spcPts val="300"/>
              </a:spcAft>
              <a:buSzPct val="100000"/>
              <a:buChar char="•"/>
            </a:pPr>
            <a:r>
              <a:rPr lang="en-US" sz="1050" dirty="0">
                <a:solidFill>
                  <a:srgbClr val="1D2B30"/>
                </a:solidFill>
                <a:latin typeface="Calibri" pitchFamily="34" charset="0"/>
                <a:ea typeface="Calibri" pitchFamily="34" charset="-122"/>
                <a:cs typeface="Calibri" pitchFamily="34" charset="-120"/>
              </a:rPr>
              <a:t>Businesses: tech infrastructure, renewable power plants, real estate in Japan and Greater China</a:t>
            </a:r>
            <a:endParaRPr lang="en-US" sz="1050" dirty="0"/>
          </a:p>
        </p:txBody>
      </p:sp>
      <p:sp>
        <p:nvSpPr>
          <p:cNvPr id="7" name="Shape 5"/>
          <p:cNvSpPr/>
          <p:nvPr/>
        </p:nvSpPr>
        <p:spPr>
          <a:xfrm>
            <a:off x="3246120" y="1188720"/>
            <a:ext cx="2606040" cy="2057400"/>
          </a:xfrm>
          <a:prstGeom prst="roundRect">
            <a:avLst>
              <a:gd name="adj" fmla="val 3111"/>
            </a:avLst>
          </a:prstGeom>
          <a:solidFill>
            <a:srgbClr val="E6F2F0"/>
          </a:solidFill>
          <a:ln w="12700">
            <a:solidFill>
              <a:srgbClr val="E6F2F0"/>
            </a:solidFill>
            <a:prstDash val="solid"/>
          </a:ln>
        </p:spPr>
      </p:sp>
      <p:sp>
        <p:nvSpPr>
          <p:cNvPr id="8" name="Text 6"/>
          <p:cNvSpPr txBox="1"/>
          <p:nvPr/>
        </p:nvSpPr>
        <p:spPr>
          <a:xfrm>
            <a:off x="3429000" y="1298448"/>
            <a:ext cx="2286000" cy="292608"/>
          </a:xfrm>
          <a:prstGeom prst="rect">
            <a:avLst/>
          </a:prstGeom>
          <a:noFill/>
          <a:ln/>
        </p:spPr>
        <p:txBody>
          <a:bodyPr wrap="square" lIns="0" tIns="0" rIns="0" bIns="0" rtlCol="0" anchor="t"/>
          <a:lstStyle/>
          <a:p>
            <a:pPr indent="0" marL="0">
              <a:buNone/>
            </a:pPr>
            <a:r>
              <a:rPr lang="en-US" sz="1400" b="1" dirty="0">
                <a:solidFill>
                  <a:srgbClr val="0B3C49"/>
                </a:solidFill>
                <a:latin typeface="Calibri" pitchFamily="34" charset="0"/>
                <a:ea typeface="Calibri" pitchFamily="34" charset="-122"/>
                <a:cs typeface="Calibri" pitchFamily="34" charset="-120"/>
              </a:rPr>
              <a:t>What they want</a:t>
            </a:r>
            <a:endParaRPr lang="en-US" sz="1400" dirty="0"/>
          </a:p>
        </p:txBody>
      </p:sp>
      <p:sp>
        <p:nvSpPr>
          <p:cNvPr id="9" name="Text 7"/>
          <p:cNvSpPr txBox="1"/>
          <p:nvPr/>
        </p:nvSpPr>
        <p:spPr>
          <a:xfrm>
            <a:off x="3429000" y="1645920"/>
            <a:ext cx="2286000" cy="155448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1D2B30"/>
                </a:solidFill>
                <a:latin typeface="Calibri" pitchFamily="34" charset="0"/>
                <a:ea typeface="Calibri" pitchFamily="34" charset="-122"/>
                <a:cs typeface="Calibri" pitchFamily="34" charset="-120"/>
              </a:rPr>
              <a:t>Capital appreciation for future generations</a:t>
            </a:r>
            <a:endParaRPr lang="en-US" sz="1050" dirty="0"/>
          </a:p>
          <a:p>
            <a:pPr marL="342900" indent="-342900">
              <a:spcAft>
                <a:spcPts val="300"/>
              </a:spcAft>
              <a:buSzPct val="100000"/>
              <a:buChar char="•"/>
            </a:pPr>
            <a:r>
              <a:rPr lang="en-US" sz="1050" dirty="0">
                <a:solidFill>
                  <a:srgbClr val="1D2B30"/>
                </a:solidFill>
                <a:latin typeface="Calibri" pitchFamily="34" charset="0"/>
                <a:ea typeface="Calibri" pitchFamily="34" charset="-122"/>
                <a:cs typeface="Calibri" pitchFamily="34" charset="-120"/>
              </a:rPr>
              <a:t>Meaningful exposure to Asia's digital transformation</a:t>
            </a:r>
            <a:endParaRPr lang="en-US" sz="1050" dirty="0"/>
          </a:p>
          <a:p>
            <a:pPr marL="342900" indent="-342900">
              <a:spcAft>
                <a:spcPts val="300"/>
              </a:spcAft>
              <a:buSzPct val="100000"/>
              <a:buChar char="•"/>
            </a:pPr>
            <a:r>
              <a:rPr lang="en-US" sz="1050" dirty="0">
                <a:solidFill>
                  <a:srgbClr val="1D2B30"/>
                </a:solidFill>
                <a:latin typeface="Calibri" pitchFamily="34" charset="0"/>
                <a:ea typeface="Calibri" pitchFamily="34" charset="-122"/>
                <a:cs typeface="Calibri" pitchFamily="34" charset="-120"/>
              </a:rPr>
              <a:t>To bridge traditional Asian sectors with emerging tech they know</a:t>
            </a:r>
            <a:endParaRPr lang="en-US" sz="1050" dirty="0"/>
          </a:p>
        </p:txBody>
      </p:sp>
      <p:sp>
        <p:nvSpPr>
          <p:cNvPr id="10" name="Shape 8"/>
          <p:cNvSpPr/>
          <p:nvPr/>
        </p:nvSpPr>
        <p:spPr>
          <a:xfrm>
            <a:off x="6035040" y="1188720"/>
            <a:ext cx="2606040" cy="2057400"/>
          </a:xfrm>
          <a:prstGeom prst="roundRect">
            <a:avLst>
              <a:gd name="adj" fmla="val 3111"/>
            </a:avLst>
          </a:prstGeom>
          <a:solidFill>
            <a:srgbClr val="0B3C49"/>
          </a:solidFill>
          <a:ln w="12700">
            <a:solidFill>
              <a:srgbClr val="0B3C49"/>
            </a:solidFill>
            <a:prstDash val="solid"/>
          </a:ln>
        </p:spPr>
      </p:sp>
      <p:sp>
        <p:nvSpPr>
          <p:cNvPr id="11" name="Text 9"/>
          <p:cNvSpPr txBox="1"/>
          <p:nvPr/>
        </p:nvSpPr>
        <p:spPr>
          <a:xfrm>
            <a:off x="6217920" y="1298448"/>
            <a:ext cx="2286000" cy="292608"/>
          </a:xfrm>
          <a:prstGeom prst="rect">
            <a:avLst/>
          </a:prstGeom>
          <a:noFill/>
          <a:ln/>
        </p:spPr>
        <p:txBody>
          <a:bodyPr wrap="square" lIns="0" tIns="0" rIns="0" bIns="0" rtlCol="0" anchor="t"/>
          <a:lstStyle/>
          <a:p>
            <a:pPr indent="0" marL="0">
              <a:buNone/>
            </a:pPr>
            <a:r>
              <a:rPr lang="en-US" sz="1400" b="1" dirty="0">
                <a:solidFill>
                  <a:srgbClr val="D9961A"/>
                </a:solidFill>
                <a:latin typeface="Calibri" pitchFamily="34" charset="0"/>
                <a:ea typeface="Calibri" pitchFamily="34" charset="-122"/>
                <a:cs typeface="Calibri" pitchFamily="34" charset="-120"/>
              </a:rPr>
              <a:t>What they can bear</a:t>
            </a:r>
            <a:endParaRPr lang="en-US" sz="1400" dirty="0"/>
          </a:p>
        </p:txBody>
      </p:sp>
      <p:sp>
        <p:nvSpPr>
          <p:cNvPr id="12" name="Text 10"/>
          <p:cNvSpPr txBox="1"/>
          <p:nvPr/>
        </p:nvSpPr>
        <p:spPr>
          <a:xfrm>
            <a:off x="6217920" y="1645920"/>
            <a:ext cx="2286000" cy="155448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Moderate risk: preserve the legacy first</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5-year horizon; coupons can be reinvested</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Accepts limited liquidity on 5% of wealth</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Volatile backdrop: no capital at risk</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3383280"/>
          <a:ext cx="8229600" cy="914400"/>
        </p:xfrm>
        <a:graphic>
          <a:graphicData uri="http://schemas.openxmlformats.org/drawingml/2006/table">
            <a:tbl>
              <a:tblPr/>
              <a:tblGrid>
                <a:gridCol w="2377440"/>
                <a:gridCol w="5852160"/>
              </a:tblGrid>
              <a:tr h="24688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Client need</a:t>
                      </a:r>
                      <a:endParaRPr lang="en-US" sz="950" dirty="0">
                        <a:latin typeface="Calibri" charset="0"/>
                        <a:ea typeface="Calibri" charset="0"/>
                        <a:cs typeface="Calibri" charset="0"/>
                      </a:endParaRPr>
                    </a:p>
                  </a:txBody>
                  <a:tcPr marL="63500" marR="63500" marT="25400" marB="25400">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Design answer in our note</a:t>
                      </a:r>
                      <a:endParaRPr lang="en-US" sz="950" dirty="0">
                        <a:latin typeface="Calibri" charset="0"/>
                        <a:ea typeface="Calibri" charset="0"/>
                        <a:cs typeface="Calibri" charset="0"/>
                      </a:endParaRPr>
                    </a:p>
                  </a:txBody>
                  <a:tcPr marL="63500" marR="63500" marT="25400" marB="25400">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r>
              <a:tr h="246888">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Capital appreciation</a:t>
                      </a:r>
                      <a:endParaRPr lang="en-US" sz="950" dirty="0">
                        <a:latin typeface="Calibri" charset="0"/>
                        <a:ea typeface="Calibri" charset="0"/>
                        <a:cs typeface="Calibri" charset="0"/>
                      </a:endParaRPr>
                    </a:p>
                  </a:txBody>
                  <a:tcPr marL="63500" marR="63500" marT="25400" marB="25400">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7.20% p.a. coupon, above the 5.69% 5Y USD funding rate, in every path that autocalls; proceeds roll into the next note</a:t>
                      </a:r>
                      <a:endParaRPr lang="en-US" sz="950" dirty="0">
                        <a:latin typeface="Calibri" charset="0"/>
                        <a:ea typeface="Calibri" charset="0"/>
                        <a:cs typeface="Calibri" charset="0"/>
                      </a:endParaRPr>
                    </a:p>
                  </a:txBody>
                  <a:tcPr marL="63500" marR="63500" marT="25400" marB="25400">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Exposure to Asian digital transformation</a:t>
                      </a:r>
                      <a:endParaRPr lang="en-US" sz="950" dirty="0">
                        <a:latin typeface="Calibri" charset="0"/>
                        <a:ea typeface="Calibri" charset="0"/>
                        <a:cs typeface="Calibri" charset="0"/>
                      </a:endParaRPr>
                    </a:p>
                  </a:txBody>
                  <a:tcPr marL="63500" marR="63500" marT="25400" marB="25400">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Semiconductor-heavy basket: the AI hardware layer behind the family's tech-infrastructure business (slide 3)</a:t>
                      </a:r>
                      <a:endParaRPr lang="en-US" sz="950" dirty="0">
                        <a:latin typeface="Calibri" charset="0"/>
                        <a:ea typeface="Calibri" charset="0"/>
                        <a:cs typeface="Calibri" charset="0"/>
                      </a:endParaRPr>
                    </a:p>
                  </a:txBody>
                  <a:tcPr marL="63500" marR="63500" marT="25400" marB="25400">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Generational preservation</a:t>
                      </a:r>
                      <a:endParaRPr lang="en-US" sz="950" dirty="0">
                        <a:latin typeface="Calibri" charset="0"/>
                        <a:ea typeface="Calibri" charset="0"/>
                        <a:cs typeface="Calibri" charset="0"/>
                      </a:endParaRPr>
                    </a:p>
                  </a:txBody>
                  <a:tcPr marL="63500" marR="63500" marT="25400" marB="25400">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100% capital protection at maturity, diversified basket (not worst-of), BPCE-backed issuer</a:t>
                      </a:r>
                      <a:endParaRPr lang="en-US" sz="950" dirty="0">
                        <a:latin typeface="Calibri" charset="0"/>
                        <a:ea typeface="Calibri" charset="0"/>
                        <a:cs typeface="Calibri" charset="0"/>
                      </a:endParaRPr>
                    </a:p>
                  </a:txBody>
                  <a:tcPr marL="63500" marR="63500" marT="25400" marB="25400">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46888">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Volatile markets</a:t>
                      </a:r>
                      <a:endParaRPr lang="en-US" sz="950" dirty="0">
                        <a:latin typeface="Calibri" charset="0"/>
                        <a:ea typeface="Calibri" charset="0"/>
                        <a:cs typeface="Calibri" charset="0"/>
                      </a:endParaRPr>
                    </a:p>
                  </a:txBody>
                  <a:tcPr marL="63500" marR="63500" marT="25400" marB="25400">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Memory coupon: a missed coupon is not lost but paid when the basket recovers; drawdowns cannot touch the principal</a:t>
                      </a:r>
                      <a:endParaRPr lang="en-US" sz="950" dirty="0">
                        <a:latin typeface="Calibri" charset="0"/>
                        <a:ea typeface="Calibri" charset="0"/>
                        <a:cs typeface="Calibri" charset="0"/>
                      </a:endParaRPr>
                    </a:p>
                  </a:txBody>
                  <a:tcPr marL="63500" marR="63500" marT="25400" marB="25400">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bl>
          </a:graphicData>
        </a:graphic>
      </p:graphicFrame>
      <p:sp>
        <p:nvSpPr>
          <p:cNvPr id="14" name="Text 11"/>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900" dirty="0">
                <a:solidFill>
                  <a:srgbClr val="5F717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Why now: Asia builds the hardware of the AI economy</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Investment thesis: structural growth themes, and a rate level that makes capital protection cheap</a:t>
            </a:r>
            <a:endParaRPr lang="en-US" sz="1250" dirty="0"/>
          </a:p>
        </p:txBody>
      </p:sp>
      <p:sp>
        <p:nvSpPr>
          <p:cNvPr id="4" name="Shape 2"/>
          <p:cNvSpPr/>
          <p:nvPr/>
        </p:nvSpPr>
        <p:spPr>
          <a:xfrm>
            <a:off x="457200" y="1188720"/>
            <a:ext cx="2377440" cy="1280160"/>
          </a:xfrm>
          <a:prstGeom prst="roundRect">
            <a:avLst>
              <a:gd name="adj" fmla="val 5000"/>
            </a:avLst>
          </a:prstGeom>
          <a:solidFill>
            <a:srgbClr val="E6F2F0"/>
          </a:solidFill>
          <a:ln w="12700">
            <a:solidFill>
              <a:srgbClr val="E6F2F0"/>
            </a:solidFill>
            <a:prstDash val="solid"/>
          </a:ln>
        </p:spPr>
      </p:sp>
      <p:sp>
        <p:nvSpPr>
          <p:cNvPr id="5" name="Shape 3"/>
          <p:cNvSpPr/>
          <p:nvPr/>
        </p:nvSpPr>
        <p:spPr>
          <a:xfrm>
            <a:off x="594360" y="1325880"/>
            <a:ext cx="347472" cy="347472"/>
          </a:xfrm>
          <a:prstGeom prst="ellipse">
            <a:avLst/>
          </a:prstGeom>
          <a:solidFill>
            <a:srgbClr val="0F8B8D"/>
          </a:solidFill>
          <a:ln/>
        </p:spPr>
      </p:sp>
      <p:sp>
        <p:nvSpPr>
          <p:cNvPr id="6" name="Text 4"/>
          <p:cNvSpPr txBox="1"/>
          <p:nvPr/>
        </p:nvSpPr>
        <p:spPr>
          <a:xfrm>
            <a:off x="594360" y="13258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1024128" y="1325880"/>
            <a:ext cx="1737360" cy="384048"/>
          </a:xfrm>
          <a:prstGeom prst="rect">
            <a:avLst/>
          </a:prstGeom>
          <a:noFill/>
          <a:ln/>
        </p:spPr>
        <p:txBody>
          <a:bodyPr wrap="square" lIns="0" tIns="0" rIns="0" bIns="0" rtlCol="0" anchor="ctr"/>
          <a:lstStyle/>
          <a:p>
            <a:pPr indent="0" marL="0">
              <a:buNone/>
            </a:pPr>
            <a:r>
              <a:rPr lang="en-US" sz="1150" b="1" dirty="0">
                <a:solidFill>
                  <a:srgbClr val="0B3C49"/>
                </a:solidFill>
                <a:latin typeface="Calibri" pitchFamily="34" charset="0"/>
                <a:ea typeface="Calibri" pitchFamily="34" charset="-122"/>
                <a:cs typeface="Calibri" pitchFamily="34" charset="-120"/>
              </a:rPr>
              <a:t>Taiwan: the AI foundry</a:t>
            </a:r>
            <a:endParaRPr lang="en-US" sz="1150" dirty="0"/>
          </a:p>
        </p:txBody>
      </p:sp>
      <p:sp>
        <p:nvSpPr>
          <p:cNvPr id="8" name="Text 6"/>
          <p:cNvSpPr txBox="1"/>
          <p:nvPr/>
        </p:nvSpPr>
        <p:spPr>
          <a:xfrm>
            <a:off x="594360" y="1755648"/>
            <a:ext cx="2148840" cy="685800"/>
          </a:xfrm>
          <a:prstGeom prst="rect">
            <a:avLst/>
          </a:prstGeom>
          <a:noFill/>
          <a:ln/>
        </p:spPr>
        <p:txBody>
          <a:bodyPr wrap="square" lIns="0" tIns="0" rIns="0" bIns="0" rtlCol="0" anchor="t"/>
          <a:lstStyle/>
          <a:p>
            <a:pPr indent="0" marL="0">
              <a:buNone/>
            </a:pPr>
            <a:r>
              <a:rPr lang="en-US" sz="950" dirty="0">
                <a:solidFill>
                  <a:srgbClr val="1D2B30"/>
                </a:solidFill>
                <a:latin typeface="Calibri" pitchFamily="34" charset="0"/>
                <a:ea typeface="Calibri" pitchFamily="34" charset="-122"/>
                <a:cs typeface="Calibri" pitchFamily="34" charset="-120"/>
              </a:rPr>
              <a:t>TSMC and its supply chain make most of the world's advanced AI chips; Taiwan's index is dominated by semiconductors.</a:t>
            </a:r>
            <a:endParaRPr lang="en-US" sz="950" dirty="0"/>
          </a:p>
        </p:txBody>
      </p:sp>
      <p:sp>
        <p:nvSpPr>
          <p:cNvPr id="9" name="Shape 7"/>
          <p:cNvSpPr/>
          <p:nvPr/>
        </p:nvSpPr>
        <p:spPr>
          <a:xfrm>
            <a:off x="2971800" y="1188720"/>
            <a:ext cx="2377440" cy="1280160"/>
          </a:xfrm>
          <a:prstGeom prst="roundRect">
            <a:avLst>
              <a:gd name="adj" fmla="val 5000"/>
            </a:avLst>
          </a:prstGeom>
          <a:solidFill>
            <a:srgbClr val="E6F2F0"/>
          </a:solidFill>
          <a:ln w="12700">
            <a:solidFill>
              <a:srgbClr val="E6F2F0"/>
            </a:solidFill>
            <a:prstDash val="solid"/>
          </a:ln>
        </p:spPr>
      </p:sp>
      <p:sp>
        <p:nvSpPr>
          <p:cNvPr id="10" name="Shape 8"/>
          <p:cNvSpPr/>
          <p:nvPr/>
        </p:nvSpPr>
        <p:spPr>
          <a:xfrm>
            <a:off x="3108960" y="1325880"/>
            <a:ext cx="347472" cy="347472"/>
          </a:xfrm>
          <a:prstGeom prst="ellipse">
            <a:avLst/>
          </a:prstGeom>
          <a:solidFill>
            <a:srgbClr val="0F8B8D"/>
          </a:solidFill>
          <a:ln/>
        </p:spPr>
      </p:sp>
      <p:sp>
        <p:nvSpPr>
          <p:cNvPr id="11" name="Text 9"/>
          <p:cNvSpPr txBox="1"/>
          <p:nvPr/>
        </p:nvSpPr>
        <p:spPr>
          <a:xfrm>
            <a:off x="3108960" y="13258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10"/>
          <p:cNvSpPr txBox="1"/>
          <p:nvPr/>
        </p:nvSpPr>
        <p:spPr>
          <a:xfrm>
            <a:off x="3538728" y="1325880"/>
            <a:ext cx="1737360" cy="384048"/>
          </a:xfrm>
          <a:prstGeom prst="rect">
            <a:avLst/>
          </a:prstGeom>
          <a:noFill/>
          <a:ln/>
        </p:spPr>
        <p:txBody>
          <a:bodyPr wrap="square" lIns="0" tIns="0" rIns="0" bIns="0" rtlCol="0" anchor="ctr"/>
          <a:lstStyle/>
          <a:p>
            <a:pPr indent="0" marL="0">
              <a:buNone/>
            </a:pPr>
            <a:r>
              <a:rPr lang="en-US" sz="1150" b="1" dirty="0">
                <a:solidFill>
                  <a:srgbClr val="0B3C49"/>
                </a:solidFill>
                <a:latin typeface="Calibri" pitchFamily="34" charset="0"/>
                <a:ea typeface="Calibri" pitchFamily="34" charset="-122"/>
                <a:cs typeface="Calibri" pitchFamily="34" charset="-120"/>
              </a:rPr>
              <a:t>Korea: memory for AI</a:t>
            </a:r>
            <a:endParaRPr lang="en-US" sz="1150" dirty="0"/>
          </a:p>
        </p:txBody>
      </p:sp>
      <p:sp>
        <p:nvSpPr>
          <p:cNvPr id="13" name="Text 11"/>
          <p:cNvSpPr txBox="1"/>
          <p:nvPr/>
        </p:nvSpPr>
        <p:spPr>
          <a:xfrm>
            <a:off x="3108960" y="1755648"/>
            <a:ext cx="2148840" cy="685800"/>
          </a:xfrm>
          <a:prstGeom prst="rect">
            <a:avLst/>
          </a:prstGeom>
          <a:noFill/>
          <a:ln/>
        </p:spPr>
        <p:txBody>
          <a:bodyPr wrap="square" lIns="0" tIns="0" rIns="0" bIns="0" rtlCol="0" anchor="t"/>
          <a:lstStyle/>
          <a:p>
            <a:pPr indent="0" marL="0">
              <a:buNone/>
            </a:pPr>
            <a:r>
              <a:rPr lang="en-US" sz="950" dirty="0">
                <a:solidFill>
                  <a:srgbClr val="1D2B30"/>
                </a:solidFill>
                <a:latin typeface="Calibri" pitchFamily="34" charset="0"/>
                <a:ea typeface="Calibri" pitchFamily="34" charset="-122"/>
                <a:cs typeface="Calibri" pitchFamily="34" charset="-120"/>
              </a:rPr>
              <a:t>Samsung and SK hynix supply the high-bandwidth memory every AI accelerator needs; together ~44% of EWY.</a:t>
            </a:r>
            <a:endParaRPr lang="en-US" sz="950" dirty="0"/>
          </a:p>
        </p:txBody>
      </p:sp>
      <p:sp>
        <p:nvSpPr>
          <p:cNvPr id="14" name="Shape 12"/>
          <p:cNvSpPr/>
          <p:nvPr/>
        </p:nvSpPr>
        <p:spPr>
          <a:xfrm>
            <a:off x="457200" y="2606040"/>
            <a:ext cx="2377440" cy="1280160"/>
          </a:xfrm>
          <a:prstGeom prst="roundRect">
            <a:avLst>
              <a:gd name="adj" fmla="val 5000"/>
            </a:avLst>
          </a:prstGeom>
          <a:solidFill>
            <a:srgbClr val="E6F2F0"/>
          </a:solidFill>
          <a:ln w="12700">
            <a:solidFill>
              <a:srgbClr val="E6F2F0"/>
            </a:solidFill>
            <a:prstDash val="solid"/>
          </a:ln>
        </p:spPr>
      </p:sp>
      <p:sp>
        <p:nvSpPr>
          <p:cNvPr id="15" name="Shape 13"/>
          <p:cNvSpPr/>
          <p:nvPr/>
        </p:nvSpPr>
        <p:spPr>
          <a:xfrm>
            <a:off x="594360" y="2743200"/>
            <a:ext cx="347472" cy="347472"/>
          </a:xfrm>
          <a:prstGeom prst="ellipse">
            <a:avLst/>
          </a:prstGeom>
          <a:solidFill>
            <a:srgbClr val="0F8B8D"/>
          </a:solidFill>
          <a:ln/>
        </p:spPr>
      </p:sp>
      <p:sp>
        <p:nvSpPr>
          <p:cNvPr id="16" name="Text 14"/>
          <p:cNvSpPr txBox="1"/>
          <p:nvPr/>
        </p:nvSpPr>
        <p:spPr>
          <a:xfrm>
            <a:off x="594360" y="27432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7" name="Text 15"/>
          <p:cNvSpPr txBox="1"/>
          <p:nvPr/>
        </p:nvSpPr>
        <p:spPr>
          <a:xfrm>
            <a:off x="1024128" y="2743200"/>
            <a:ext cx="1737360" cy="384048"/>
          </a:xfrm>
          <a:prstGeom prst="rect">
            <a:avLst/>
          </a:prstGeom>
          <a:noFill/>
          <a:ln/>
        </p:spPr>
        <p:txBody>
          <a:bodyPr wrap="square" lIns="0" tIns="0" rIns="0" bIns="0" rtlCol="0" anchor="ctr"/>
          <a:lstStyle/>
          <a:p>
            <a:pPr indent="0" marL="0">
              <a:buNone/>
            </a:pPr>
            <a:r>
              <a:rPr lang="en-US" sz="1150" b="1" dirty="0">
                <a:solidFill>
                  <a:srgbClr val="0B3C49"/>
                </a:solidFill>
                <a:latin typeface="Calibri" pitchFamily="34" charset="0"/>
                <a:ea typeface="Calibri" pitchFamily="34" charset="-122"/>
                <a:cs typeface="Calibri" pitchFamily="34" charset="-120"/>
              </a:rPr>
              <a:t>Japan: chip-making tools</a:t>
            </a:r>
            <a:endParaRPr lang="en-US" sz="1150" dirty="0"/>
          </a:p>
        </p:txBody>
      </p:sp>
      <p:sp>
        <p:nvSpPr>
          <p:cNvPr id="18" name="Text 16"/>
          <p:cNvSpPr txBox="1"/>
          <p:nvPr/>
        </p:nvSpPr>
        <p:spPr>
          <a:xfrm>
            <a:off x="594360" y="3172968"/>
            <a:ext cx="2148840" cy="685800"/>
          </a:xfrm>
          <a:prstGeom prst="rect">
            <a:avLst/>
          </a:prstGeom>
          <a:noFill/>
          <a:ln/>
        </p:spPr>
        <p:txBody>
          <a:bodyPr wrap="square" lIns="0" tIns="0" rIns="0" bIns="0" rtlCol="0" anchor="t"/>
          <a:lstStyle/>
          <a:p>
            <a:pPr indent="0" marL="0">
              <a:buNone/>
            </a:pPr>
            <a:r>
              <a:rPr lang="en-US" sz="950" dirty="0">
                <a:solidFill>
                  <a:srgbClr val="1D2B30"/>
                </a:solidFill>
                <a:latin typeface="Calibri" pitchFamily="34" charset="0"/>
                <a:ea typeface="Calibri" pitchFamily="34" charset="-122"/>
                <a:cs typeface="Calibri" pitchFamily="34" charset="-120"/>
              </a:rPr>
              <a:t>Tokyo Electron, Advantest and peers make the equipment and testers chip factories need, alongside TSE governance reforms.</a:t>
            </a:r>
            <a:endParaRPr lang="en-US" sz="950" dirty="0"/>
          </a:p>
        </p:txBody>
      </p:sp>
      <p:sp>
        <p:nvSpPr>
          <p:cNvPr id="19" name="Shape 17"/>
          <p:cNvSpPr/>
          <p:nvPr/>
        </p:nvSpPr>
        <p:spPr>
          <a:xfrm>
            <a:off x="2971800" y="2606040"/>
            <a:ext cx="2377440" cy="1280160"/>
          </a:xfrm>
          <a:prstGeom prst="roundRect">
            <a:avLst>
              <a:gd name="adj" fmla="val 5000"/>
            </a:avLst>
          </a:prstGeom>
          <a:solidFill>
            <a:srgbClr val="E6F2F0"/>
          </a:solidFill>
          <a:ln w="12700">
            <a:solidFill>
              <a:srgbClr val="E6F2F0"/>
            </a:solidFill>
            <a:prstDash val="solid"/>
          </a:ln>
        </p:spPr>
      </p:sp>
      <p:sp>
        <p:nvSpPr>
          <p:cNvPr id="20" name="Shape 18"/>
          <p:cNvSpPr/>
          <p:nvPr/>
        </p:nvSpPr>
        <p:spPr>
          <a:xfrm>
            <a:off x="3108960" y="2743200"/>
            <a:ext cx="347472" cy="347472"/>
          </a:xfrm>
          <a:prstGeom prst="ellipse">
            <a:avLst/>
          </a:prstGeom>
          <a:solidFill>
            <a:srgbClr val="D9961A"/>
          </a:solidFill>
          <a:ln/>
        </p:spPr>
      </p:sp>
      <p:sp>
        <p:nvSpPr>
          <p:cNvPr id="21" name="Text 19"/>
          <p:cNvSpPr txBox="1"/>
          <p:nvPr/>
        </p:nvSpPr>
        <p:spPr>
          <a:xfrm>
            <a:off x="3108960" y="27432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2" name="Text 20"/>
          <p:cNvSpPr txBox="1"/>
          <p:nvPr/>
        </p:nvSpPr>
        <p:spPr>
          <a:xfrm>
            <a:off x="3538728" y="2743200"/>
            <a:ext cx="1737360" cy="384048"/>
          </a:xfrm>
          <a:prstGeom prst="rect">
            <a:avLst/>
          </a:prstGeom>
          <a:noFill/>
          <a:ln/>
        </p:spPr>
        <p:txBody>
          <a:bodyPr wrap="square" lIns="0" tIns="0" rIns="0" bIns="0" rtlCol="0" anchor="ctr"/>
          <a:lstStyle/>
          <a:p>
            <a:pPr indent="0" marL="0">
              <a:buNone/>
            </a:pPr>
            <a:r>
              <a:rPr lang="en-US" sz="1150" b="1" dirty="0">
                <a:solidFill>
                  <a:srgbClr val="0B3C49"/>
                </a:solidFill>
                <a:latin typeface="Calibri" pitchFamily="34" charset="0"/>
                <a:ea typeface="Calibri" pitchFamily="34" charset="-122"/>
                <a:cs typeface="Calibri" pitchFamily="34" charset="-120"/>
              </a:rPr>
              <a:t>ESG sleeve</a:t>
            </a:r>
            <a:endParaRPr lang="en-US" sz="1150" dirty="0"/>
          </a:p>
        </p:txBody>
      </p:sp>
      <p:sp>
        <p:nvSpPr>
          <p:cNvPr id="23" name="Text 21"/>
          <p:cNvSpPr txBox="1"/>
          <p:nvPr/>
        </p:nvSpPr>
        <p:spPr>
          <a:xfrm>
            <a:off x="3108960" y="3172968"/>
            <a:ext cx="2148840" cy="685800"/>
          </a:xfrm>
          <a:prstGeom prst="rect">
            <a:avLst/>
          </a:prstGeom>
          <a:noFill/>
          <a:ln/>
        </p:spPr>
        <p:txBody>
          <a:bodyPr wrap="square" lIns="0" tIns="0" rIns="0" bIns="0" rtlCol="0" anchor="t"/>
          <a:lstStyle/>
          <a:p>
            <a:pPr indent="0" marL="0">
              <a:buNone/>
            </a:pPr>
            <a:r>
              <a:rPr lang="en-US" sz="950" dirty="0">
                <a:solidFill>
                  <a:srgbClr val="1D2B30"/>
                </a:solidFill>
                <a:latin typeface="Calibri" pitchFamily="34" charset="0"/>
                <a:ea typeface="Calibri" pitchFamily="34" charset="-122"/>
                <a:cs typeface="Calibri" pitchFamily="34" charset="-120"/>
              </a:rPr>
              <a:t>00878 adds ESG-screened Taiwan leaders (MSCI ESG methodology) and a lower-volatility, high-dividend anchor to the basket.</a:t>
            </a:r>
            <a:endParaRPr lang="en-US" sz="950" dirty="0"/>
          </a:p>
        </p:txBody>
      </p:sp>
      <p:graphicFrame>
        <p:nvGraphicFramePr>
          <p:cNvPr id="24" name="Chart 0" descr=""/>
          <p:cNvGraphicFramePr/>
          <p:nvPr/>
        </p:nvGraphicFramePr>
        <p:xfrm>
          <a:off x="5623560" y="1143000"/>
          <a:ext cx="3063240" cy="2011680"/>
        </p:xfrm>
        <a:graphic xmlns:a="http://schemas.openxmlformats.org/drawingml/2006/main">
          <a:graphicData uri="http://schemas.openxmlformats.org/drawingml/2006/chart">
            <c:chart xmlns:c="http://schemas.openxmlformats.org/drawingml/2006/chart" r:id="rId1"/>
          </a:graphicData>
        </a:graphic>
      </p:graphicFrame>
      <p:sp>
        <p:nvSpPr>
          <p:cNvPr id="25" name="Shape 22"/>
          <p:cNvSpPr/>
          <p:nvPr/>
        </p:nvSpPr>
        <p:spPr>
          <a:xfrm>
            <a:off x="5623560" y="3246120"/>
            <a:ext cx="3063240" cy="1417320"/>
          </a:xfrm>
          <a:prstGeom prst="roundRect">
            <a:avLst>
              <a:gd name="adj" fmla="val 4516"/>
            </a:avLst>
          </a:prstGeom>
          <a:solidFill>
            <a:srgbClr val="0B3C49"/>
          </a:solidFill>
          <a:ln w="12700">
            <a:solidFill>
              <a:srgbClr val="0B3C49"/>
            </a:solidFill>
            <a:prstDash val="solid"/>
          </a:ln>
        </p:spPr>
      </p:sp>
      <p:sp>
        <p:nvSpPr>
          <p:cNvPr id="26" name="Text 23"/>
          <p:cNvSpPr txBox="1"/>
          <p:nvPr/>
        </p:nvSpPr>
        <p:spPr>
          <a:xfrm>
            <a:off x="5760720" y="3337560"/>
            <a:ext cx="2788920" cy="1280160"/>
          </a:xfrm>
          <a:prstGeom prst="rect">
            <a:avLst/>
          </a:prstGeom>
          <a:noFill/>
          <a:ln/>
        </p:spPr>
        <p:txBody>
          <a:bodyPr wrap="square" lIns="0" tIns="0" rIns="0" bIns="0" rtlCol="0" anchor="t"/>
          <a:lstStyle/>
          <a:p>
            <a:pPr indent="0" marL="0">
              <a:buNone/>
            </a:pPr>
            <a:r>
              <a:rPr lang="en-US" sz="1000" b="1" dirty="0">
                <a:solidFill>
                  <a:srgbClr val="D9961A"/>
                </a:solidFill>
                <a:latin typeface="Calibri" pitchFamily="34" charset="0"/>
                <a:ea typeface="Calibri" pitchFamily="34" charset="-122"/>
                <a:cs typeface="Calibri" pitchFamily="34" charset="-120"/>
              </a:rPr>
              <a:t>What the curve means for structuring</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High USD rates make the 5Y zero-coupon bond cheap (75.8%), so guaranteeing 100% back costs little. Asian equity volatility (basket ~25%) makes it likely the basket revisits 100%, which is what pays the 7.20% coupon.</a:t>
            </a:r>
            <a:endParaRPr lang="en-US" sz="1000" dirty="0"/>
          </a:p>
        </p:txBody>
      </p:sp>
      <p:sp>
        <p:nvSpPr>
          <p:cNvPr id="27" name="Text 24"/>
          <p:cNvSpPr txBox="1"/>
          <p:nvPr/>
        </p:nvSpPr>
        <p:spPr>
          <a:xfrm>
            <a:off x="457200" y="4773168"/>
            <a:ext cx="7680960" cy="274320"/>
          </a:xfrm>
          <a:prstGeom prst="rect">
            <a:avLst/>
          </a:prstGeom>
          <a:noFill/>
          <a:ln/>
        </p:spPr>
        <p:txBody>
          <a:bodyPr wrap="square" lIns="0" tIns="0" rIns="0" bIns="0" rtlCol="0" anchor="t"/>
          <a:lstStyle/>
          <a:p>
            <a:pPr indent="0" marL="0">
              <a:buNone/>
            </a:pPr>
            <a:r>
              <a:rPr lang="en-US" sz="800" i="1" dirty="0">
                <a:solidFill>
                  <a:srgbClr val="5F7176"/>
                </a:solidFill>
                <a:latin typeface="Calibri" pitchFamily="34" charset="0"/>
                <a:ea typeface="Calibri" pitchFamily="34" charset="-122"/>
                <a:cs typeface="Calibri" pitchFamily="34" charset="-120"/>
              </a:rPr>
              <a:t>Thesis is qualitative; index-level data to be refreshed on Bloomberg. Funding grid: Investment Strategy Challenge 2026 rules.</a:t>
            </a:r>
            <a:endParaRPr lang="en-US" sz="800" dirty="0"/>
          </a:p>
        </p:txBody>
      </p:sp>
      <p:sp>
        <p:nvSpPr>
          <p:cNvPr id="28" name="Text 25"/>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900" dirty="0">
                <a:solidFill>
                  <a:srgbClr val="5F717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Underlying: five Asian ETFs across the AI-hardware chain</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Bespoke weighted basket, USD payout (quanto on the HKD, JPY and TWD lines); all Bloomberg-listed</a:t>
            </a:r>
            <a:endParaRPr lang="en-US" sz="1250" dirty="0"/>
          </a:p>
        </p:txBody>
      </p:sp>
      <p:graphicFrame>
        <p:nvGraphicFramePr>
          <p:cNvPr id="4" name="Chart 0" descr=""/>
          <p:cNvGraphicFramePr/>
          <p:nvPr/>
        </p:nvGraphicFramePr>
        <p:xfrm>
          <a:off x="320040" y="1097280"/>
          <a:ext cx="2560320" cy="25146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1143000" y="2130552"/>
            <a:ext cx="914400" cy="457200"/>
          </a:xfrm>
          <a:prstGeom prst="rect">
            <a:avLst/>
          </a:prstGeom>
          <a:noFill/>
          <a:ln/>
        </p:spPr>
        <p:txBody>
          <a:bodyPr wrap="square" lIns="0" tIns="0" rIns="0" bIns="0" rtlCol="0" anchor="ctr"/>
          <a:lstStyle/>
          <a:p>
            <a:pPr algn="ctr" indent="0" marL="0">
              <a:buNone/>
            </a:pPr>
            <a:r>
              <a:rPr lang="en-US" sz="1400" b="1" dirty="0">
                <a:solidFill>
                  <a:srgbClr val="0B3C49"/>
                </a:solidFill>
                <a:latin typeface="Cambria" pitchFamily="34" charset="0"/>
                <a:ea typeface="Cambria" pitchFamily="34" charset="-122"/>
                <a:cs typeface="Cambria" pitchFamily="34" charset="-120"/>
              </a:rPr>
              <a:t>Basket</a:t>
            </a:r>
            <a:endParaRPr lang="en-US" sz="1400" dirty="0"/>
          </a:p>
        </p:txBody>
      </p:sp>
      <p:sp>
        <p:nvSpPr>
          <p:cNvPr id="6" name="Shape 3"/>
          <p:cNvSpPr/>
          <p:nvPr/>
        </p:nvSpPr>
        <p:spPr>
          <a:xfrm>
            <a:off x="457200" y="3730752"/>
            <a:ext cx="118872" cy="118872"/>
          </a:xfrm>
          <a:prstGeom prst="rect">
            <a:avLst/>
          </a:prstGeom>
          <a:solidFill>
            <a:srgbClr val="0B3C49"/>
          </a:solidFill>
          <a:ln w="12700">
            <a:solidFill>
              <a:srgbClr val="0B3C49"/>
            </a:solidFill>
            <a:prstDash val="solid"/>
          </a:ln>
        </p:spPr>
      </p:sp>
      <p:sp>
        <p:nvSpPr>
          <p:cNvPr id="7" name="Text 4"/>
          <p:cNvSpPr txBox="1"/>
          <p:nvPr/>
        </p:nvSpPr>
        <p:spPr>
          <a:xfrm>
            <a:off x="640080" y="3694176"/>
            <a:ext cx="2560320" cy="182880"/>
          </a:xfrm>
          <a:prstGeom prst="rect">
            <a:avLst/>
          </a:prstGeom>
          <a:noFill/>
          <a:ln/>
        </p:spPr>
        <p:txBody>
          <a:bodyPr wrap="square" lIns="0" tIns="0" rIns="0" bIns="0" rtlCol="0" anchor="t"/>
          <a:lstStyle/>
          <a:p>
            <a:pPr indent="0" marL="0">
              <a:buNone/>
            </a:pPr>
            <a:r>
              <a:rPr lang="en-US" sz="850" dirty="0">
                <a:solidFill>
                  <a:srgbClr val="1D2B30"/>
                </a:solidFill>
                <a:latin typeface="Calibri" pitchFamily="34" charset="0"/>
                <a:ea typeface="Calibri" pitchFamily="34" charset="-122"/>
                <a:cs typeface="Calibri" pitchFamily="34" charset="-120"/>
              </a:rPr>
              <a:t>Asia Semiconductor (3119 HK)</a:t>
            </a:r>
            <a:endParaRPr lang="en-US" sz="850" dirty="0"/>
          </a:p>
        </p:txBody>
      </p:sp>
      <p:sp>
        <p:nvSpPr>
          <p:cNvPr id="8" name="Shape 5"/>
          <p:cNvSpPr/>
          <p:nvPr/>
        </p:nvSpPr>
        <p:spPr>
          <a:xfrm>
            <a:off x="457200" y="3922776"/>
            <a:ext cx="118872" cy="118872"/>
          </a:xfrm>
          <a:prstGeom prst="rect">
            <a:avLst/>
          </a:prstGeom>
          <a:solidFill>
            <a:srgbClr val="0F8B8D"/>
          </a:solidFill>
          <a:ln w="12700">
            <a:solidFill>
              <a:srgbClr val="0F8B8D"/>
            </a:solidFill>
            <a:prstDash val="solid"/>
          </a:ln>
        </p:spPr>
      </p:sp>
      <p:sp>
        <p:nvSpPr>
          <p:cNvPr id="9" name="Text 6"/>
          <p:cNvSpPr txBox="1"/>
          <p:nvPr/>
        </p:nvSpPr>
        <p:spPr>
          <a:xfrm>
            <a:off x="640080" y="3886200"/>
            <a:ext cx="2560320" cy="182880"/>
          </a:xfrm>
          <a:prstGeom prst="rect">
            <a:avLst/>
          </a:prstGeom>
          <a:noFill/>
          <a:ln/>
        </p:spPr>
        <p:txBody>
          <a:bodyPr wrap="square" lIns="0" tIns="0" rIns="0" bIns="0" rtlCol="0" anchor="t"/>
          <a:lstStyle/>
          <a:p>
            <a:pPr indent="0" marL="0">
              <a:buNone/>
            </a:pPr>
            <a:r>
              <a:rPr lang="en-US" sz="850" dirty="0">
                <a:solidFill>
                  <a:srgbClr val="1D2B30"/>
                </a:solidFill>
                <a:latin typeface="Calibri" pitchFamily="34" charset="0"/>
                <a:ea typeface="Calibri" pitchFamily="34" charset="-122"/>
                <a:cs typeface="Calibri" pitchFamily="34" charset="-120"/>
              </a:rPr>
              <a:t>Japan Semiconductor (2644 JP)</a:t>
            </a:r>
            <a:endParaRPr lang="en-US" sz="850" dirty="0"/>
          </a:p>
        </p:txBody>
      </p:sp>
      <p:sp>
        <p:nvSpPr>
          <p:cNvPr id="10" name="Shape 7"/>
          <p:cNvSpPr/>
          <p:nvPr/>
        </p:nvSpPr>
        <p:spPr>
          <a:xfrm>
            <a:off x="457200" y="4114800"/>
            <a:ext cx="118872" cy="118872"/>
          </a:xfrm>
          <a:prstGeom prst="rect">
            <a:avLst/>
          </a:prstGeom>
          <a:solidFill>
            <a:srgbClr val="D9961A"/>
          </a:solidFill>
          <a:ln w="12700">
            <a:solidFill>
              <a:srgbClr val="D9961A"/>
            </a:solidFill>
            <a:prstDash val="solid"/>
          </a:ln>
        </p:spPr>
      </p:sp>
      <p:sp>
        <p:nvSpPr>
          <p:cNvPr id="11" name="Text 8"/>
          <p:cNvSpPr txBox="1"/>
          <p:nvPr/>
        </p:nvSpPr>
        <p:spPr>
          <a:xfrm>
            <a:off x="640080" y="4078224"/>
            <a:ext cx="2560320" cy="182880"/>
          </a:xfrm>
          <a:prstGeom prst="rect">
            <a:avLst/>
          </a:prstGeom>
          <a:noFill/>
          <a:ln/>
        </p:spPr>
        <p:txBody>
          <a:bodyPr wrap="square" lIns="0" tIns="0" rIns="0" bIns="0" rtlCol="0" anchor="t"/>
          <a:lstStyle/>
          <a:p>
            <a:pPr indent="0" marL="0">
              <a:buNone/>
            </a:pPr>
            <a:r>
              <a:rPr lang="en-US" sz="850" dirty="0">
                <a:solidFill>
                  <a:srgbClr val="1D2B30"/>
                </a:solidFill>
                <a:latin typeface="Calibri" pitchFamily="34" charset="0"/>
                <a:ea typeface="Calibri" pitchFamily="34" charset="-122"/>
                <a:cs typeface="Calibri" pitchFamily="34" charset="-120"/>
              </a:rPr>
              <a:t>iShares MSCI Taiwan (EWT)</a:t>
            </a:r>
            <a:endParaRPr lang="en-US" sz="850" dirty="0"/>
          </a:p>
        </p:txBody>
      </p:sp>
      <p:sp>
        <p:nvSpPr>
          <p:cNvPr id="12" name="Shape 9"/>
          <p:cNvSpPr/>
          <p:nvPr/>
        </p:nvSpPr>
        <p:spPr>
          <a:xfrm>
            <a:off x="457200" y="4306824"/>
            <a:ext cx="118872" cy="118872"/>
          </a:xfrm>
          <a:prstGeom prst="rect">
            <a:avLst/>
          </a:prstGeom>
          <a:solidFill>
            <a:srgbClr val="8FA6AA"/>
          </a:solidFill>
          <a:ln w="12700">
            <a:solidFill>
              <a:srgbClr val="8FA6AA"/>
            </a:solidFill>
            <a:prstDash val="solid"/>
          </a:ln>
        </p:spPr>
      </p:sp>
      <p:sp>
        <p:nvSpPr>
          <p:cNvPr id="13" name="Text 10"/>
          <p:cNvSpPr txBox="1"/>
          <p:nvPr/>
        </p:nvSpPr>
        <p:spPr>
          <a:xfrm>
            <a:off x="640080" y="4270248"/>
            <a:ext cx="2560320" cy="182880"/>
          </a:xfrm>
          <a:prstGeom prst="rect">
            <a:avLst/>
          </a:prstGeom>
          <a:noFill/>
          <a:ln/>
        </p:spPr>
        <p:txBody>
          <a:bodyPr wrap="square" lIns="0" tIns="0" rIns="0" bIns="0" rtlCol="0" anchor="t"/>
          <a:lstStyle/>
          <a:p>
            <a:pPr indent="0" marL="0">
              <a:buNone/>
            </a:pPr>
            <a:r>
              <a:rPr lang="en-US" sz="850" dirty="0">
                <a:solidFill>
                  <a:srgbClr val="1D2B30"/>
                </a:solidFill>
                <a:latin typeface="Calibri" pitchFamily="34" charset="0"/>
                <a:ea typeface="Calibri" pitchFamily="34" charset="-122"/>
                <a:cs typeface="Calibri" pitchFamily="34" charset="-120"/>
              </a:rPr>
              <a:t>iShares MSCI South Korea (EWY)</a:t>
            </a:r>
            <a:endParaRPr lang="en-US" sz="850" dirty="0"/>
          </a:p>
        </p:txBody>
      </p:sp>
      <p:sp>
        <p:nvSpPr>
          <p:cNvPr id="14" name="Shape 11"/>
          <p:cNvSpPr/>
          <p:nvPr/>
        </p:nvSpPr>
        <p:spPr>
          <a:xfrm>
            <a:off x="457200" y="4498848"/>
            <a:ext cx="118872" cy="118872"/>
          </a:xfrm>
          <a:prstGeom prst="rect">
            <a:avLst/>
          </a:prstGeom>
          <a:solidFill>
            <a:srgbClr val="5BA37A"/>
          </a:solidFill>
          <a:ln w="12700">
            <a:solidFill>
              <a:srgbClr val="5BA37A"/>
            </a:solidFill>
            <a:prstDash val="solid"/>
          </a:ln>
        </p:spPr>
      </p:sp>
      <p:sp>
        <p:nvSpPr>
          <p:cNvPr id="15" name="Text 12"/>
          <p:cNvSpPr txBox="1"/>
          <p:nvPr/>
        </p:nvSpPr>
        <p:spPr>
          <a:xfrm>
            <a:off x="640080" y="4462272"/>
            <a:ext cx="2560320" cy="182880"/>
          </a:xfrm>
          <a:prstGeom prst="rect">
            <a:avLst/>
          </a:prstGeom>
          <a:noFill/>
          <a:ln/>
        </p:spPr>
        <p:txBody>
          <a:bodyPr wrap="square" lIns="0" tIns="0" rIns="0" bIns="0" rtlCol="0" anchor="t"/>
          <a:lstStyle/>
          <a:p>
            <a:pPr indent="0" marL="0">
              <a:buNone/>
            </a:pPr>
            <a:r>
              <a:rPr lang="en-US" sz="850" dirty="0">
                <a:solidFill>
                  <a:srgbClr val="1D2B30"/>
                </a:solidFill>
                <a:latin typeface="Calibri" pitchFamily="34" charset="0"/>
                <a:ea typeface="Calibri" pitchFamily="34" charset="-122"/>
                <a:cs typeface="Calibri" pitchFamily="34" charset="-120"/>
              </a:rPr>
              <a:t>Taiwan ESG High Dividend (00878 TT)</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108960" y="1143000"/>
          <a:ext cx="5577840" cy="914400"/>
        </p:xfrm>
        <a:graphic>
          <a:graphicData uri="http://schemas.openxmlformats.org/drawingml/2006/table">
            <a:tbl>
              <a:tblPr/>
              <a:tblGrid>
                <a:gridCol w="1463040"/>
                <a:gridCol w="384048"/>
                <a:gridCol w="3246120"/>
                <a:gridCol w="484632"/>
              </a:tblGrid>
              <a:tr h="237744">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ETF (Bloomberg)</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Wt</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Role in the basket</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Vol*</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r>
              <a:tr h="475488">
                <a:tc>
                  <a:txBody>
                    <a:bodyPr/>
                    <a:lstStyle/>
                    <a:p>
                      <a:pPr indent="0" marL="0">
                        <a:buNone/>
                      </a:pPr>
                      <a:r>
                        <a:rPr lang="en-US" sz="850" b="1" dirty="0">
                          <a:solidFill>
                            <a:srgbClr val="1D2B30"/>
                          </a:solidFill>
                          <a:latin typeface="Calibri" pitchFamily="34" charset="0"/>
                          <a:ea typeface="Calibri" pitchFamily="34" charset="-122"/>
                          <a:cs typeface="Calibri" pitchFamily="34" charset="-120"/>
                        </a:rPr>
                        <a:t>Asia Semiconductor (3119 HK)</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25%</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Pan-Asian chip leaders (40 names; TSMC, Samsung, SK hynix the largest): the core AI-hardware exposure</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32%</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475488">
                <a:tc>
                  <a:txBody>
                    <a:bodyPr/>
                    <a:lstStyle/>
                    <a:p>
                      <a:pPr indent="0" marL="0">
                        <a:buNone/>
                      </a:pPr>
                      <a:r>
                        <a:rPr lang="en-US" sz="850" b="1" dirty="0">
                          <a:solidFill>
                            <a:srgbClr val="1D2B30"/>
                          </a:solidFill>
                          <a:latin typeface="Calibri" pitchFamily="34" charset="0"/>
                          <a:ea typeface="Calibri" pitchFamily="34" charset="-122"/>
                          <a:cs typeface="Calibri" pitchFamily="34" charset="-120"/>
                        </a:rPr>
                        <a:t>Japan Semiconductor (2644 JP)</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25%</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Japanese semiconductor stocks (FactSet Japan Semiconductor Index, e.g. Tokyo Electron, Advantest): the family's home market</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38%</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475488">
                <a:tc>
                  <a:txBody>
                    <a:bodyPr/>
                    <a:lstStyle/>
                    <a:p>
                      <a:pPr indent="0" marL="0">
                        <a:buNone/>
                      </a:pPr>
                      <a:r>
                        <a:rPr lang="en-US" sz="850" b="1" dirty="0">
                          <a:solidFill>
                            <a:srgbClr val="1D2B30"/>
                          </a:solidFill>
                          <a:latin typeface="Calibri" pitchFamily="34" charset="0"/>
                          <a:ea typeface="Calibri" pitchFamily="34" charset="-122"/>
                          <a:cs typeface="Calibri" pitchFamily="34" charset="-120"/>
                        </a:rPr>
                        <a:t>iShares MSCI Taiwan (EWT)</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15%</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Taiwan large caps (TSMC, MediaTek, Delta): AI foundry and server chain in the family's Greater China region</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26%</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475488">
                <a:tc>
                  <a:txBody>
                    <a:bodyPr/>
                    <a:lstStyle/>
                    <a:p>
                      <a:pPr indent="0" marL="0">
                        <a:buNone/>
                      </a:pPr>
                      <a:r>
                        <a:rPr lang="en-US" sz="850" b="1" dirty="0">
                          <a:solidFill>
                            <a:srgbClr val="1D2B30"/>
                          </a:solidFill>
                          <a:latin typeface="Calibri" pitchFamily="34" charset="0"/>
                          <a:ea typeface="Calibri" pitchFamily="34" charset="-122"/>
                          <a:cs typeface="Calibri" pitchFamily="34" charset="-120"/>
                        </a:rPr>
                        <a:t>iShares MSCI South Korea (EWY)</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15%</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Korea large caps (Samsung + SK hynix ~44%): high-bandwidth memory for AI</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30%</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475488">
                <a:tc>
                  <a:txBody>
                    <a:bodyPr/>
                    <a:lstStyle/>
                    <a:p>
                      <a:pPr indent="0" marL="0">
                        <a:buNone/>
                      </a:pPr>
                      <a:r>
                        <a:rPr lang="en-US" sz="850" b="1" dirty="0">
                          <a:solidFill>
                            <a:srgbClr val="1D2B30"/>
                          </a:solidFill>
                          <a:latin typeface="Calibri" pitchFamily="34" charset="0"/>
                          <a:ea typeface="Calibri" pitchFamily="34" charset="-122"/>
                          <a:cs typeface="Calibri" pitchFamily="34" charset="-120"/>
                        </a:rPr>
                        <a:t>Taiwan ESG High Dividend (00878 TT)</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20%</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ESG-screened Taiwan high-dividend leaders (Quanta, UMC, MediaTek): ESG sleeve and lower-volatility anchor</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18%</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bl>
          </a:graphicData>
        </a:graphic>
      </p:graphicFrame>
      <p:sp>
        <p:nvSpPr>
          <p:cNvPr id="17" name="Text 13"/>
          <p:cNvSpPr txBox="1"/>
          <p:nvPr/>
        </p:nvSpPr>
        <p:spPr>
          <a:xfrm>
            <a:off x="3108960" y="3840480"/>
            <a:ext cx="5577840" cy="548640"/>
          </a:xfrm>
          <a:prstGeom prst="rect">
            <a:avLst/>
          </a:prstGeom>
          <a:noFill/>
          <a:ln/>
        </p:spPr>
        <p:txBody>
          <a:bodyPr wrap="square" lIns="0" tIns="0" rIns="0" bIns="0" rtlCol="0" anchor="t"/>
          <a:lstStyle/>
          <a:p>
            <a:pPr indent="0" marL="0">
              <a:buNone/>
            </a:pPr>
            <a:r>
              <a:rPr lang="en-US" sz="950" b="1" dirty="0">
                <a:solidFill>
                  <a:srgbClr val="0F8B8D"/>
                </a:solidFill>
                <a:latin typeface="Calibri" pitchFamily="34" charset="0"/>
                <a:ea typeface="Calibri" pitchFamily="34" charset="-122"/>
                <a:cs typeface="Calibri" pitchFamily="34" charset="-120"/>
              </a:rPr>
              <a:t>Why a weighted basket, not worst-of: </a:t>
            </a:r>
            <a:pPr indent="0" marL="0">
              <a:buNone/>
            </a:pPr>
            <a:r>
              <a:rPr lang="en-US" sz="950" dirty="0">
                <a:solidFill>
                  <a:srgbClr val="1D2B30"/>
                </a:solidFill>
                <a:latin typeface="Calibri" pitchFamily="34" charset="0"/>
                <a:ea typeface="Calibri" pitchFamily="34" charset="-122"/>
                <a:cs typeface="Calibri" pitchFamily="34" charset="-120"/>
              </a:rPr>
              <a:t>a shock to one ETF is cushioned by the others: basket vol ~25% vs 18%–38% alone. Overlap (TSMC, Samsung, SK hynix sit in several ETFs) keeps correlations high (0.45–0.85).</a:t>
            </a:r>
            <a:endParaRPr lang="en-US" sz="950" dirty="0"/>
          </a:p>
        </p:txBody>
      </p:sp>
      <p:sp>
        <p:nvSpPr>
          <p:cNvPr id="18" name="Text 14"/>
          <p:cNvSpPr txBox="1"/>
          <p:nvPr/>
        </p:nvSpPr>
        <p:spPr>
          <a:xfrm>
            <a:off x="457200" y="4773168"/>
            <a:ext cx="7680960" cy="274320"/>
          </a:xfrm>
          <a:prstGeom prst="rect">
            <a:avLst/>
          </a:prstGeom>
          <a:noFill/>
          <a:ln/>
        </p:spPr>
        <p:txBody>
          <a:bodyPr wrap="square" lIns="0" tIns="0" rIns="0" bIns="0" rtlCol="0" anchor="t"/>
          <a:lstStyle/>
          <a:p>
            <a:pPr indent="0" marL="0">
              <a:buNone/>
            </a:pPr>
            <a:r>
              <a:rPr lang="en-US" sz="800" i="1" dirty="0">
                <a:solidFill>
                  <a:srgbClr val="5F7176"/>
                </a:solidFill>
                <a:latin typeface="Calibri" pitchFamily="34" charset="0"/>
                <a:ea typeface="Calibri" pitchFamily="34" charset="-122"/>
                <a:cs typeface="Calibri" pitchFamily="34" charset="-120"/>
              </a:rPr>
              <a:t>*Assumed 5Y vols. USD 5M/day ETF rule: EWY, EWT, 2644, 00878 pass; 3119 is borderline (~USD 4–5M/day), verify the 6-month average on Bloomberg. 00878 distributes ~7.6% a year, which lowers its price path.</a:t>
            </a:r>
            <a:endParaRPr lang="en-US" sz="800" dirty="0"/>
          </a:p>
        </p:txBody>
      </p:sp>
      <p:sp>
        <p:nvSpPr>
          <p:cNvPr id="19" name="Text 15"/>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900" dirty="0">
                <a:solidFill>
                  <a:srgbClr val="5F717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Term sheet: 5-year capital-protected autocallable, 7.20% coupon</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Why this design: above the funding rate, with zero chance of losing capital at maturity</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4206240" cy="914400"/>
        </p:xfrm>
        <a:graphic>
          <a:graphicData uri="http://schemas.openxmlformats.org/drawingml/2006/table">
            <a:tbl>
              <a:tblPr/>
              <a:tblGrid>
                <a:gridCol w="1325880"/>
                <a:gridCol w="2880360"/>
              </a:tblGrid>
              <a:tr h="310896">
                <a:tc>
                  <a:txBody>
                    <a:bodyPr/>
                    <a:lstStyle/>
                    <a:p>
                      <a:pPr indent="0" marL="0">
                        <a:buNone/>
                      </a:pPr>
                      <a:r>
                        <a:rPr lang="en-US" sz="950" b="1" dirty="0">
                          <a:solidFill>
                            <a:srgbClr val="0B3C49"/>
                          </a:solidFill>
                          <a:latin typeface="Calibri" pitchFamily="34" charset="0"/>
                          <a:ea typeface="Calibri" pitchFamily="34" charset="-122"/>
                          <a:cs typeface="Calibri" pitchFamily="34" charset="-120"/>
                        </a:rPr>
                        <a:t>Issuer</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6F2F0"/>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Natixis SA (BPCE Group)</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tr>
              <a:tr h="310896">
                <a:tc>
                  <a:txBody>
                    <a:bodyPr/>
                    <a:lstStyle/>
                    <a:p>
                      <a:pPr indent="0" marL="0">
                        <a:buNone/>
                      </a:pPr>
                      <a:r>
                        <a:rPr lang="en-US" sz="950" b="1" dirty="0">
                          <a:solidFill>
                            <a:srgbClr val="0B3C49"/>
                          </a:solidFill>
                          <a:latin typeface="Calibri" pitchFamily="34" charset="0"/>
                          <a:ea typeface="Calibri" pitchFamily="34" charset="-122"/>
                          <a:cs typeface="Calibri" pitchFamily="34" charset="-120"/>
                        </a:rPr>
                        <a:t>Notional / currency</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6F2F0"/>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USD 100,000,000 · quanto USD</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tr>
              <a:tr h="310896">
                <a:tc>
                  <a:txBody>
                    <a:bodyPr/>
                    <a:lstStyle/>
                    <a:p>
                      <a:pPr indent="0" marL="0">
                        <a:buNone/>
                      </a:pPr>
                      <a:r>
                        <a:rPr lang="en-US" sz="950" b="1" dirty="0">
                          <a:solidFill>
                            <a:srgbClr val="0B3C49"/>
                          </a:solidFill>
                          <a:latin typeface="Calibri" pitchFamily="34" charset="0"/>
                          <a:ea typeface="Calibri" pitchFamily="34" charset="-122"/>
                          <a:cs typeface="Calibri" pitchFamily="34" charset="-120"/>
                        </a:rPr>
                        <a:t>Trade / maturity</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6F2F0"/>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17 Sep 2026 / 17 Sep 2031 (5Y)</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tr>
              <a:tr h="310896">
                <a:tc>
                  <a:txBody>
                    <a:bodyPr/>
                    <a:lstStyle/>
                    <a:p>
                      <a:pPr indent="0" marL="0">
                        <a:buNone/>
                      </a:pPr>
                      <a:r>
                        <a:rPr lang="en-US" sz="950" b="1" dirty="0">
                          <a:solidFill>
                            <a:srgbClr val="0B3C49"/>
                          </a:solidFill>
                          <a:latin typeface="Calibri" pitchFamily="34" charset="0"/>
                          <a:ea typeface="Calibri" pitchFamily="34" charset="-122"/>
                          <a:cs typeface="Calibri" pitchFamily="34" charset="-120"/>
                        </a:rPr>
                        <a:t>Underlying</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6F2F0"/>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Weighted basket of 5 Asian ETFs (slide 3)</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tr>
              <a:tr h="310896">
                <a:tc>
                  <a:txBody>
                    <a:bodyPr/>
                    <a:lstStyle/>
                    <a:p>
                      <a:pPr indent="0" marL="0">
                        <a:buNone/>
                      </a:pPr>
                      <a:r>
                        <a:rPr lang="en-US" sz="950" b="1" dirty="0">
                          <a:solidFill>
                            <a:srgbClr val="0B3C49"/>
                          </a:solidFill>
                          <a:latin typeface="Calibri" pitchFamily="34" charset="0"/>
                          <a:ea typeface="Calibri" pitchFamily="34" charset="-122"/>
                          <a:cs typeface="Calibri" pitchFamily="34" charset="-120"/>
                        </a:rPr>
                        <a:t>Observation</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6F2F0"/>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Quarterly, 20 dates; autocall from Q4 (Year 1)</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tr>
              <a:tr h="310896">
                <a:tc>
                  <a:txBody>
                    <a:bodyPr/>
                    <a:lstStyle/>
                    <a:p>
                      <a:pPr indent="0" marL="0">
                        <a:buNone/>
                      </a:pPr>
                      <a:r>
                        <a:rPr lang="en-US" sz="950" b="1" dirty="0">
                          <a:solidFill>
                            <a:srgbClr val="0B3C49"/>
                          </a:solidFill>
                          <a:latin typeface="Calibri" pitchFamily="34" charset="0"/>
                          <a:ea typeface="Calibri" pitchFamily="34" charset="-122"/>
                          <a:cs typeface="Calibri" pitchFamily="34" charset="-120"/>
                        </a:rPr>
                        <a:t>Coupon</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6F2F0"/>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7.20% p.a. (1.80% per quarter), paid if basket ≥ 100%</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tr>
              <a:tr h="310896">
                <a:tc>
                  <a:txBody>
                    <a:bodyPr/>
                    <a:lstStyle/>
                    <a:p>
                      <a:pPr indent="0" marL="0">
                        <a:buNone/>
                      </a:pPr>
                      <a:r>
                        <a:rPr lang="en-US" sz="950" b="1" dirty="0">
                          <a:solidFill>
                            <a:srgbClr val="0B3C49"/>
                          </a:solidFill>
                          <a:latin typeface="Calibri" pitchFamily="34" charset="0"/>
                          <a:ea typeface="Calibri" pitchFamily="34" charset="-122"/>
                          <a:cs typeface="Calibri" pitchFamily="34" charset="-120"/>
                        </a:rPr>
                        <a:t>Memory</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6F2F0"/>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Missed coupons paid on the next date basket ≥ 100%</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tr>
              <a:tr h="310896">
                <a:tc>
                  <a:txBody>
                    <a:bodyPr/>
                    <a:lstStyle/>
                    <a:p>
                      <a:pPr indent="0" marL="0">
                        <a:buNone/>
                      </a:pPr>
                      <a:r>
                        <a:rPr lang="en-US" sz="950" b="1" dirty="0">
                          <a:solidFill>
                            <a:srgbClr val="0B3C49"/>
                          </a:solidFill>
                          <a:latin typeface="Calibri" pitchFamily="34" charset="0"/>
                          <a:ea typeface="Calibri" pitchFamily="34" charset="-122"/>
                          <a:cs typeface="Calibri" pitchFamily="34" charset="-120"/>
                        </a:rPr>
                        <a:t>Autocall</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6F2F0"/>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Basket ≥ 100% from Q4: 100% + coupons due, note ends</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tr>
              <a:tr h="310896">
                <a:tc>
                  <a:txBody>
                    <a:bodyPr/>
                    <a:lstStyle/>
                    <a:p>
                      <a:pPr indent="0" marL="0">
                        <a:buNone/>
                      </a:pPr>
                      <a:r>
                        <a:rPr lang="en-US" sz="950" b="1" dirty="0">
                          <a:solidFill>
                            <a:srgbClr val="0B3C49"/>
                          </a:solidFill>
                          <a:latin typeface="Calibri" pitchFamily="34" charset="0"/>
                          <a:ea typeface="Calibri" pitchFamily="34" charset="-122"/>
                          <a:cs typeface="Calibri" pitchFamily="34" charset="-120"/>
                        </a:rPr>
                        <a:t>At maturity</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6F2F0"/>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100% of principal, whatever the basket level</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tr>
              <a:tr h="310896">
                <a:tc>
                  <a:txBody>
                    <a:bodyPr/>
                    <a:lstStyle/>
                    <a:p>
                      <a:pPr indent="0" marL="0">
                        <a:buNone/>
                      </a:pPr>
                      <a:r>
                        <a:rPr lang="en-US" sz="950" b="1" dirty="0">
                          <a:solidFill>
                            <a:srgbClr val="0B3C49"/>
                          </a:solidFill>
                          <a:latin typeface="Calibri" pitchFamily="34" charset="0"/>
                          <a:ea typeface="Calibri" pitchFamily="34" charset="-122"/>
                          <a:cs typeface="Calibri" pitchFamily="34" charset="-120"/>
                        </a:rPr>
                        <a:t>Issue price / fair value</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6F2F0"/>
                    </a:solidFill>
                  </a:tcPr>
                </a:tc>
                <a:tc>
                  <a:txBody>
                    <a:bodyPr/>
                    <a:lstStyle/>
                    <a:p>
                      <a:pPr indent="0" marL="0">
                        <a:buNone/>
                      </a:pPr>
                      <a:r>
                        <a:rPr lang="en-US" sz="950" dirty="0">
                          <a:solidFill>
                            <a:srgbClr val="1D2B30"/>
                          </a:solidFill>
                          <a:latin typeface="Calibri" pitchFamily="34" charset="0"/>
                          <a:ea typeface="Calibri" pitchFamily="34" charset="-122"/>
                          <a:cs typeface="Calibri" pitchFamily="34" charset="-120"/>
                        </a:rPr>
                        <a:t>100% / 97.3%</a:t>
                      </a:r>
                      <a:endParaRPr lang="en-US" sz="950" dirty="0">
                        <a:latin typeface="Calibri" charset="0"/>
                        <a:ea typeface="Calibri" charset="0"/>
                        <a:cs typeface="Calibri"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4892040" y="1188720"/>
          <a:ext cx="3840480" cy="914400"/>
        </p:xfrm>
        <a:graphic>
          <a:graphicData uri="http://schemas.openxmlformats.org/drawingml/2006/table">
            <a:tbl>
              <a:tblPr/>
              <a:tblGrid>
                <a:gridCol w="2514600"/>
                <a:gridCol w="640080"/>
                <a:gridCol w="685800"/>
              </a:tblGrid>
              <a:tr h="274320">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Autocall design (same basket, issued at 98%)</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Fair cpn</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Loss risk</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r>
              <a:tr h="301752">
                <a:tc>
                  <a:txBody>
                    <a:bodyPr/>
                    <a:lstStyle/>
                    <a:p>
                      <a:pPr algn="l" indent="0" marL="0">
                        <a:buNone/>
                      </a:pPr>
                      <a:r>
                        <a:rPr lang="en-US" sz="850" dirty="0">
                          <a:solidFill>
                            <a:srgbClr val="1D2B30"/>
                          </a:solidFill>
                          <a:latin typeface="Calibri" pitchFamily="34" charset="0"/>
                          <a:ea typeface="Calibri" pitchFamily="34" charset="-122"/>
                          <a:cs typeface="Calibri" pitchFamily="34" charset="-120"/>
                        </a:rPr>
                        <a:t>Classic: fixed coupon, 70% barrier</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D2B30"/>
                          </a:solidFill>
                          <a:latin typeface="Calibri" pitchFamily="34" charset="0"/>
                          <a:ea typeface="Calibri" pitchFamily="34" charset="-122"/>
                          <a:cs typeface="Calibri" pitchFamily="34" charset="-120"/>
                        </a:rPr>
                        <a:t>7.4%</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D2B30"/>
                          </a:solidFill>
                          <a:latin typeface="Calibri" pitchFamily="34" charset="0"/>
                          <a:ea typeface="Calibri" pitchFamily="34" charset="-122"/>
                          <a:cs typeface="Calibri" pitchFamily="34" charset="-120"/>
                        </a:rPr>
                        <a:t>16.2%</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301752">
                <a:tc>
                  <a:txBody>
                    <a:bodyPr/>
                    <a:lstStyle/>
                    <a:p>
                      <a:pPr algn="l" indent="0" marL="0">
                        <a:buNone/>
                      </a:pPr>
                      <a:r>
                        <a:rPr lang="en-US" sz="850" dirty="0">
                          <a:solidFill>
                            <a:srgbClr val="1D2B30"/>
                          </a:solidFill>
                          <a:latin typeface="Calibri" pitchFamily="34" charset="0"/>
                          <a:ea typeface="Calibri" pitchFamily="34" charset="-122"/>
                          <a:cs typeface="Calibri" pitchFamily="34" charset="-120"/>
                        </a:rPr>
                        <a:t>Phoenix memory (80% cpn barrier), 70% barrier</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D2B30"/>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D2B30"/>
                          </a:solidFill>
                          <a:latin typeface="Calibri" pitchFamily="34" charset="0"/>
                          <a:ea typeface="Calibri" pitchFamily="34" charset="-122"/>
                          <a:cs typeface="Calibri" pitchFamily="34" charset="-120"/>
                        </a:rPr>
                        <a:t>16.2%</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301752">
                <a:tc>
                  <a:txBody>
                    <a:bodyPr/>
                    <a:lstStyle/>
                    <a:p>
                      <a:pPr algn="l" indent="0" marL="0">
                        <a:buNone/>
                      </a:pPr>
                      <a:r>
                        <a:rPr lang="en-US" sz="850" dirty="0">
                          <a:solidFill>
                            <a:srgbClr val="1D2B30"/>
                          </a:solidFill>
                          <a:latin typeface="Calibri" pitchFamily="34" charset="0"/>
                          <a:ea typeface="Calibri" pitchFamily="34" charset="-122"/>
                          <a:cs typeface="Calibri" pitchFamily="34" charset="-120"/>
                        </a:rPr>
                        <a:t>Snowball, 65% barrier</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D2B30"/>
                          </a:solidFill>
                          <a:latin typeface="Calibri" pitchFamily="34" charset="0"/>
                          <a:ea typeface="Calibri" pitchFamily="34" charset="-122"/>
                          <a:cs typeface="Calibri" pitchFamily="34" charset="-120"/>
                        </a:rPr>
                        <a:t>13.9%</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D2B30"/>
                          </a:solidFill>
                          <a:latin typeface="Calibri" pitchFamily="34" charset="0"/>
                          <a:ea typeface="Calibri" pitchFamily="34" charset="-122"/>
                          <a:cs typeface="Calibri" pitchFamily="34" charset="-120"/>
                        </a:rPr>
                        <a:t>14.5%</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301752">
                <a:tc>
                  <a:txBody>
                    <a:bodyPr/>
                    <a:lstStyle/>
                    <a:p>
                      <a:pPr algn="l" indent="0" marL="0">
                        <a:buNone/>
                      </a:pPr>
                      <a:r>
                        <a:rPr lang="en-US" sz="850" dirty="0">
                          <a:solidFill>
                            <a:srgbClr val="1D2B30"/>
                          </a:solidFill>
                          <a:latin typeface="Calibri" pitchFamily="34" charset="0"/>
                          <a:ea typeface="Calibri" pitchFamily="34" charset="-122"/>
                          <a:cs typeface="Calibri" pitchFamily="34" charset="-120"/>
                        </a:rPr>
                        <a:t>Classic, 70% barrier, 10%-vol basket</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D2B30"/>
                          </a:solidFill>
                          <a:latin typeface="Calibri" pitchFamily="34" charset="0"/>
                          <a:ea typeface="Calibri" pitchFamily="34" charset="-122"/>
                          <a:cs typeface="Calibri" pitchFamily="34" charset="-120"/>
                        </a:rPr>
                        <a:t>4.2%</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D2B30"/>
                          </a:solidFill>
                          <a:latin typeface="Calibri" pitchFamily="34" charset="0"/>
                          <a:ea typeface="Calibri" pitchFamily="34" charset="-122"/>
                          <a:cs typeface="Calibri" pitchFamily="34" charset="-120"/>
                        </a:rPr>
                        <a:t>1.3%</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301752">
                <a:tc>
                  <a:txBody>
                    <a:bodyPr/>
                    <a:lstStyle/>
                    <a:p>
                      <a:pPr algn="l" indent="0" marL="0">
                        <a:buNone/>
                      </a:pPr>
                      <a:r>
                        <a:rPr lang="en-US" sz="850" b="1" dirty="0">
                          <a:solidFill>
                            <a:srgbClr val="0F8B8D"/>
                          </a:solidFill>
                          <a:latin typeface="Calibri" pitchFamily="34" charset="0"/>
                          <a:ea typeface="Calibri" pitchFamily="34" charset="-122"/>
                          <a:cs typeface="Calibri" pitchFamily="34" charset="-120"/>
                        </a:rPr>
                        <a:t>Capital protected, memory coupon (ours)</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E6F2F0"/>
                    </a:solidFill>
                  </a:tcPr>
                </a:tc>
                <a:tc>
                  <a:txBody>
                    <a:bodyPr/>
                    <a:lstStyle/>
                    <a:p>
                      <a:pPr algn="l" indent="0" marL="0">
                        <a:buNone/>
                      </a:pPr>
                      <a:r>
                        <a:rPr lang="en-US" sz="850" b="1" dirty="0">
                          <a:solidFill>
                            <a:srgbClr val="0F8B8D"/>
                          </a:solidFill>
                          <a:latin typeface="Calibri" pitchFamily="34" charset="0"/>
                          <a:ea typeface="Calibri" pitchFamily="34" charset="-122"/>
                          <a:cs typeface="Calibri" pitchFamily="34" charset="-120"/>
                        </a:rPr>
                        <a:t>7.9%</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E6F2F0"/>
                    </a:solidFill>
                  </a:tcPr>
                </a:tc>
                <a:tc>
                  <a:txBody>
                    <a:bodyPr/>
                    <a:lstStyle/>
                    <a:p>
                      <a:pPr algn="l" indent="0" marL="0">
                        <a:buNone/>
                      </a:pPr>
                      <a:r>
                        <a:rPr lang="en-US" sz="850" b="1" dirty="0">
                          <a:solidFill>
                            <a:srgbClr val="0F8B8D"/>
                          </a:solidFill>
                          <a:latin typeface="Calibri" pitchFamily="34" charset="0"/>
                          <a:ea typeface="Calibri" pitchFamily="34" charset="-122"/>
                          <a:cs typeface="Calibri" pitchFamily="34" charset="-120"/>
                        </a:rPr>
                        <a:t>0.0%</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E6F2F0"/>
                    </a:solidFill>
                  </a:tcPr>
                </a:tc>
              </a:tr>
            </a:tbl>
          </a:graphicData>
        </a:graphic>
      </p:graphicFrame>
      <p:sp>
        <p:nvSpPr>
          <p:cNvPr id="6" name="Shape 2"/>
          <p:cNvSpPr/>
          <p:nvPr/>
        </p:nvSpPr>
        <p:spPr>
          <a:xfrm>
            <a:off x="4892040" y="3154680"/>
            <a:ext cx="3840480" cy="1280160"/>
          </a:xfrm>
          <a:prstGeom prst="roundRect">
            <a:avLst>
              <a:gd name="adj" fmla="val 5000"/>
            </a:avLst>
          </a:prstGeom>
          <a:solidFill>
            <a:srgbClr val="0B3C49"/>
          </a:solidFill>
          <a:ln w="12700">
            <a:solidFill>
              <a:srgbClr val="0B3C49"/>
            </a:solidFill>
            <a:prstDash val="solid"/>
          </a:ln>
        </p:spPr>
      </p:sp>
      <p:sp>
        <p:nvSpPr>
          <p:cNvPr id="7" name="Text 3"/>
          <p:cNvSpPr txBox="1"/>
          <p:nvPr/>
        </p:nvSpPr>
        <p:spPr>
          <a:xfrm>
            <a:off x="5029200" y="3227832"/>
            <a:ext cx="3566160" cy="1170432"/>
          </a:xfrm>
          <a:prstGeom prst="rect">
            <a:avLst/>
          </a:prstGeom>
          <a:noFill/>
          <a:ln/>
        </p:spPr>
        <p:txBody>
          <a:bodyPr wrap="square" lIns="0" tIns="0" rIns="0" bIns="0" rtlCol="0" anchor="t"/>
          <a:lstStyle/>
          <a:p>
            <a:pPr indent="0" marL="0">
              <a:buNone/>
            </a:pPr>
            <a:r>
              <a:rPr lang="en-US" sz="950" b="1" dirty="0">
                <a:solidFill>
                  <a:srgbClr val="D9961A"/>
                </a:solidFill>
                <a:latin typeface="Calibri" pitchFamily="34" charset="0"/>
                <a:ea typeface="Calibri" pitchFamily="34" charset="-122"/>
                <a:cs typeface="Calibri" pitchFamily="34" charset="-120"/>
              </a:rPr>
              <a:t>Design call: </a:t>
            </a:r>
            <a:pPr indent="0" marL="0">
              <a:buNone/>
            </a:pPr>
            <a:r>
              <a:rPr lang="en-US" sz="950" dirty="0">
                <a:solidFill>
                  <a:srgbClr val="FFFFFF"/>
                </a:solidFill>
                <a:latin typeface="Calibri" pitchFamily="34" charset="0"/>
                <a:ea typeface="Calibri" pitchFamily="34" charset="-122"/>
                <a:cs typeface="Calibri" pitchFamily="34" charset="-120"/>
              </a:rPr>
              <a:t>The draft's 8.5% fixed coupon is worth 100.3% to the client, so Natixis cannot fund it. At-risk designs pay 7%–14% for a 14%–16% chance of losing capital. Cutting that to ~1% needs a 10%-vol basket and pays only 4.2%, below the 5.69% bond. Full protection prices at 7.9%; we offer 7.20%.</a:t>
            </a:r>
            <a:endParaRPr lang="en-US" sz="950" dirty="0"/>
          </a:p>
        </p:txBody>
      </p:sp>
      <p:sp>
        <p:nvSpPr>
          <p:cNvPr id="8" name="Text 4"/>
          <p:cNvSpPr txBox="1"/>
          <p:nvPr/>
        </p:nvSpPr>
        <p:spPr>
          <a:xfrm>
            <a:off x="457200" y="4773168"/>
            <a:ext cx="7680960" cy="274320"/>
          </a:xfrm>
          <a:prstGeom prst="rect">
            <a:avLst/>
          </a:prstGeom>
          <a:noFill/>
          <a:ln/>
        </p:spPr>
        <p:txBody>
          <a:bodyPr wrap="square" lIns="0" tIns="0" rIns="0" bIns="0" rtlCol="0" anchor="t"/>
          <a:lstStyle/>
          <a:p>
            <a:pPr indent="0" marL="0">
              <a:buNone/>
            </a:pPr>
            <a:r>
              <a:rPr lang="en-US" sz="800" i="1" dirty="0">
                <a:solidFill>
                  <a:srgbClr val="5F7176"/>
                </a:solidFill>
                <a:latin typeface="Calibri" pitchFamily="34" charset="0"/>
                <a:ea typeface="Calibri" pitchFamily="34" charset="-122"/>
                <a:cs typeface="Calibri" pitchFamily="34" charset="-120"/>
              </a:rPr>
              <a:t>Monte Carlo, 200k paths. Vols, dividends and correlations are assumptions to refresh with Bloomberg data as of the 17 Sep 2026 trade date; discounting uses the USD funding grid. Loss risk = probability the note returns less than 100%.</a:t>
            </a:r>
            <a:endParaRPr lang="en-US" sz="800" dirty="0"/>
          </a:p>
        </p:txBody>
      </p:sp>
      <p:sp>
        <p:nvSpPr>
          <p:cNvPr id="9" name="Text 5"/>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900" dirty="0">
                <a:solidFill>
                  <a:srgbClr val="5F717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How it pays: one question every quarter</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Is the basket at or above 100% of its starting level? (checked quarterly; one date per year shown)</a:t>
            </a:r>
            <a:endParaRPr lang="en-US" sz="1250" dirty="0"/>
          </a:p>
        </p:txBody>
      </p:sp>
      <p:sp>
        <p:nvSpPr>
          <p:cNvPr id="4" name="Shape 2"/>
          <p:cNvSpPr/>
          <p:nvPr/>
        </p:nvSpPr>
        <p:spPr>
          <a:xfrm>
            <a:off x="731520" y="1691640"/>
            <a:ext cx="7680960" cy="0"/>
          </a:xfrm>
          <a:prstGeom prst="line">
            <a:avLst/>
          </a:prstGeom>
          <a:noFill/>
          <a:ln w="25400">
            <a:solidFill>
              <a:srgbClr val="8FA6AA"/>
            </a:solidFill>
            <a:prstDash val="solid"/>
          </a:ln>
        </p:spPr>
      </p:sp>
      <p:sp>
        <p:nvSpPr>
          <p:cNvPr id="5" name="Shape 3"/>
          <p:cNvSpPr/>
          <p:nvPr/>
        </p:nvSpPr>
        <p:spPr>
          <a:xfrm>
            <a:off x="502920" y="1499616"/>
            <a:ext cx="384048" cy="384048"/>
          </a:xfrm>
          <a:prstGeom prst="ellipse">
            <a:avLst/>
          </a:prstGeom>
          <a:solidFill>
            <a:srgbClr val="8FA6AA"/>
          </a:solidFill>
          <a:ln/>
        </p:spPr>
      </p:sp>
      <p:sp>
        <p:nvSpPr>
          <p:cNvPr id="6" name="Text 4"/>
          <p:cNvSpPr txBox="1"/>
          <p:nvPr/>
        </p:nvSpPr>
        <p:spPr>
          <a:xfrm>
            <a:off x="5029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a:t>
            </a:r>
            <a:endParaRPr lang="en-US" sz="1300" dirty="0"/>
          </a:p>
        </p:txBody>
      </p:sp>
      <p:sp>
        <p:nvSpPr>
          <p:cNvPr id="7" name="Text 5"/>
          <p:cNvSpPr txBox="1"/>
          <p:nvPr/>
        </p:nvSpPr>
        <p:spPr>
          <a:xfrm>
            <a:off x="137160" y="1938528"/>
            <a:ext cx="1143000" cy="548640"/>
          </a:xfrm>
          <a:prstGeom prst="rect">
            <a:avLst/>
          </a:prstGeom>
          <a:noFill/>
          <a:ln/>
        </p:spPr>
        <p:txBody>
          <a:bodyPr wrap="square" lIns="0" tIns="0" rIns="0" bIns="0" rtlCol="0" anchor="t"/>
          <a:lstStyle/>
          <a:p>
            <a:pPr algn="ctr" indent="0" marL="0">
              <a:buNone/>
            </a:pPr>
            <a:r>
              <a:rPr lang="en-US" sz="850" dirty="0">
                <a:solidFill>
                  <a:srgbClr val="5F7176"/>
                </a:solidFill>
                <a:latin typeface="Calibri" pitchFamily="34" charset="0"/>
                <a:ea typeface="Calibri" pitchFamily="34" charset="-122"/>
                <a:cs typeface="Calibri" pitchFamily="34" charset="-120"/>
              </a:rPr>
              <a:t>Trade date</a:t>
            </a:r>
            <a:endParaRPr lang="en-US" sz="850" dirty="0"/>
          </a:p>
          <a:p>
            <a:pPr algn="ctr" indent="0" marL="0">
              <a:buNone/>
            </a:pPr>
            <a:r>
              <a:rPr lang="en-US" sz="850" dirty="0">
                <a:solidFill>
                  <a:srgbClr val="5F7176"/>
                </a:solidFill>
                <a:latin typeface="Calibri" pitchFamily="34" charset="0"/>
                <a:ea typeface="Calibri" pitchFamily="34" charset="-122"/>
                <a:cs typeface="Calibri" pitchFamily="34" charset="-120"/>
              </a:rPr>
              <a:t>17 Sep 2026</a:t>
            </a:r>
            <a:endParaRPr lang="en-US" sz="850" dirty="0"/>
          </a:p>
          <a:p>
            <a:pPr algn="ctr" indent="0" marL="0">
              <a:buNone/>
            </a:pPr>
            <a:r>
              <a:rPr lang="en-US" sz="850" dirty="0">
                <a:solidFill>
                  <a:srgbClr val="5F7176"/>
                </a:solidFill>
                <a:latin typeface="Calibri" pitchFamily="34" charset="0"/>
                <a:ea typeface="Calibri" pitchFamily="34" charset="-122"/>
                <a:cs typeface="Calibri" pitchFamily="34" charset="-120"/>
              </a:rPr>
              <a:t>Initial = 100%</a:t>
            </a:r>
            <a:endParaRPr lang="en-US" sz="850" dirty="0"/>
          </a:p>
        </p:txBody>
      </p:sp>
      <p:sp>
        <p:nvSpPr>
          <p:cNvPr id="8" name="Shape 6"/>
          <p:cNvSpPr/>
          <p:nvPr/>
        </p:nvSpPr>
        <p:spPr>
          <a:xfrm>
            <a:off x="1965960" y="1499616"/>
            <a:ext cx="384048" cy="384048"/>
          </a:xfrm>
          <a:prstGeom prst="ellipse">
            <a:avLst/>
          </a:prstGeom>
          <a:solidFill>
            <a:srgbClr val="0F8B8D"/>
          </a:solidFill>
          <a:ln/>
        </p:spPr>
      </p:sp>
      <p:sp>
        <p:nvSpPr>
          <p:cNvPr id="9" name="Text 7"/>
          <p:cNvSpPr txBox="1"/>
          <p:nvPr/>
        </p:nvSpPr>
        <p:spPr>
          <a:xfrm>
            <a:off x="19659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Y1</a:t>
            </a:r>
            <a:endParaRPr lang="en-US" sz="1300" dirty="0"/>
          </a:p>
        </p:txBody>
      </p:sp>
      <p:sp>
        <p:nvSpPr>
          <p:cNvPr id="10" name="Text 8"/>
          <p:cNvSpPr txBox="1"/>
          <p:nvPr/>
        </p:nvSpPr>
        <p:spPr>
          <a:xfrm>
            <a:off x="1508760" y="1938528"/>
            <a:ext cx="1298448" cy="411480"/>
          </a:xfrm>
          <a:prstGeom prst="rect">
            <a:avLst/>
          </a:prstGeom>
          <a:noFill/>
          <a:ln/>
        </p:spPr>
        <p:txBody>
          <a:bodyPr wrap="square" lIns="0" tIns="0" rIns="0" bIns="0" rtlCol="0" anchor="t"/>
          <a:lstStyle/>
          <a:p>
            <a:pPr algn="ctr" indent="0" marL="0">
              <a:buNone/>
            </a:pPr>
            <a:r>
              <a:rPr lang="en-US" sz="950" b="1" dirty="0">
                <a:solidFill>
                  <a:srgbClr val="0F8B8D"/>
                </a:solidFill>
                <a:latin typeface="Calibri" pitchFamily="34" charset="0"/>
                <a:ea typeface="Calibri" pitchFamily="34" charset="-122"/>
                <a:cs typeface="Calibri" pitchFamily="34" charset="-120"/>
              </a:rPr>
              <a:t>If basket ≥ 100%:</a:t>
            </a:r>
            <a:endParaRPr lang="en-US" sz="950" dirty="0"/>
          </a:p>
          <a:p>
            <a:pPr algn="ctr" indent="0" marL="0">
              <a:buNone/>
            </a:pPr>
            <a:r>
              <a:rPr lang="en-US" sz="950" b="1" dirty="0">
                <a:solidFill>
                  <a:srgbClr val="0F8B8D"/>
                </a:solidFill>
                <a:latin typeface="Calibri" pitchFamily="34" charset="0"/>
                <a:ea typeface="Calibri" pitchFamily="34" charset="-122"/>
                <a:cs typeface="Calibri" pitchFamily="34" charset="-120"/>
              </a:rPr>
              <a:t>called, 107.2% total</a:t>
            </a:r>
            <a:endParaRPr lang="en-US" sz="950" dirty="0"/>
          </a:p>
        </p:txBody>
      </p:sp>
      <p:sp>
        <p:nvSpPr>
          <p:cNvPr id="11" name="Text 9"/>
          <p:cNvSpPr txBox="1"/>
          <p:nvPr/>
        </p:nvSpPr>
        <p:spPr>
          <a:xfrm>
            <a:off x="1508760" y="2331720"/>
            <a:ext cx="1298448" cy="228600"/>
          </a:xfrm>
          <a:prstGeom prst="rect">
            <a:avLst/>
          </a:prstGeom>
          <a:noFill/>
          <a:ln/>
        </p:spPr>
        <p:txBody>
          <a:bodyPr wrap="square" lIns="0" tIns="0" rIns="0" bIns="0" rtlCol="0" anchor="t"/>
          <a:lstStyle/>
          <a:p>
            <a:pPr algn="ctr" indent="0" marL="0">
              <a:buNone/>
            </a:pPr>
            <a:r>
              <a:rPr lang="en-US" sz="850" dirty="0">
                <a:solidFill>
                  <a:srgbClr val="5F7176"/>
                </a:solidFill>
                <a:latin typeface="Calibri" pitchFamily="34" charset="0"/>
                <a:ea typeface="Calibri" pitchFamily="34" charset="-122"/>
                <a:cs typeface="Calibri" pitchFamily="34" charset="-120"/>
              </a:rPr>
              <a:t>P(called by Y1) 48%</a:t>
            </a:r>
            <a:endParaRPr lang="en-US" sz="850" dirty="0"/>
          </a:p>
        </p:txBody>
      </p:sp>
      <p:sp>
        <p:nvSpPr>
          <p:cNvPr id="12" name="Shape 10"/>
          <p:cNvSpPr/>
          <p:nvPr/>
        </p:nvSpPr>
        <p:spPr>
          <a:xfrm>
            <a:off x="3429000" y="1499616"/>
            <a:ext cx="384048" cy="384048"/>
          </a:xfrm>
          <a:prstGeom prst="ellipse">
            <a:avLst/>
          </a:prstGeom>
          <a:solidFill>
            <a:srgbClr val="0F8B8D"/>
          </a:solidFill>
          <a:ln/>
        </p:spPr>
      </p:sp>
      <p:sp>
        <p:nvSpPr>
          <p:cNvPr id="13" name="Text 11"/>
          <p:cNvSpPr txBox="1"/>
          <p:nvPr/>
        </p:nvSpPr>
        <p:spPr>
          <a:xfrm>
            <a:off x="342900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Y2</a:t>
            </a:r>
            <a:endParaRPr lang="en-US" sz="1300" dirty="0"/>
          </a:p>
        </p:txBody>
      </p:sp>
      <p:sp>
        <p:nvSpPr>
          <p:cNvPr id="14" name="Text 12"/>
          <p:cNvSpPr txBox="1"/>
          <p:nvPr/>
        </p:nvSpPr>
        <p:spPr>
          <a:xfrm>
            <a:off x="2971800" y="1938528"/>
            <a:ext cx="1298448" cy="411480"/>
          </a:xfrm>
          <a:prstGeom prst="rect">
            <a:avLst/>
          </a:prstGeom>
          <a:noFill/>
          <a:ln/>
        </p:spPr>
        <p:txBody>
          <a:bodyPr wrap="square" lIns="0" tIns="0" rIns="0" bIns="0" rtlCol="0" anchor="t"/>
          <a:lstStyle/>
          <a:p>
            <a:pPr algn="ctr" indent="0" marL="0">
              <a:buNone/>
            </a:pPr>
            <a:r>
              <a:rPr lang="en-US" sz="950" b="1" dirty="0">
                <a:solidFill>
                  <a:srgbClr val="0F8B8D"/>
                </a:solidFill>
                <a:latin typeface="Calibri" pitchFamily="34" charset="0"/>
                <a:ea typeface="Calibri" pitchFamily="34" charset="-122"/>
                <a:cs typeface="Calibri" pitchFamily="34" charset="-120"/>
              </a:rPr>
              <a:t>If basket ≥ 100%:</a:t>
            </a:r>
            <a:endParaRPr lang="en-US" sz="950" dirty="0"/>
          </a:p>
          <a:p>
            <a:pPr algn="ctr" indent="0" marL="0">
              <a:buNone/>
            </a:pPr>
            <a:r>
              <a:rPr lang="en-US" sz="950" b="1" dirty="0">
                <a:solidFill>
                  <a:srgbClr val="0F8B8D"/>
                </a:solidFill>
                <a:latin typeface="Calibri" pitchFamily="34" charset="0"/>
                <a:ea typeface="Calibri" pitchFamily="34" charset="-122"/>
                <a:cs typeface="Calibri" pitchFamily="34" charset="-120"/>
              </a:rPr>
              <a:t>called, 114.4% total</a:t>
            </a:r>
            <a:endParaRPr lang="en-US" sz="950" dirty="0"/>
          </a:p>
        </p:txBody>
      </p:sp>
      <p:sp>
        <p:nvSpPr>
          <p:cNvPr id="15" name="Text 13"/>
          <p:cNvSpPr txBox="1"/>
          <p:nvPr/>
        </p:nvSpPr>
        <p:spPr>
          <a:xfrm>
            <a:off x="2971800" y="2331720"/>
            <a:ext cx="1298448" cy="228600"/>
          </a:xfrm>
          <a:prstGeom prst="rect">
            <a:avLst/>
          </a:prstGeom>
          <a:noFill/>
          <a:ln/>
        </p:spPr>
        <p:txBody>
          <a:bodyPr wrap="square" lIns="0" tIns="0" rIns="0" bIns="0" rtlCol="0" anchor="t"/>
          <a:lstStyle/>
          <a:p>
            <a:pPr algn="ctr" indent="0" marL="0">
              <a:buNone/>
            </a:pPr>
            <a:r>
              <a:rPr lang="en-US" sz="850" dirty="0">
                <a:solidFill>
                  <a:srgbClr val="5F7176"/>
                </a:solidFill>
                <a:latin typeface="Calibri" pitchFamily="34" charset="0"/>
                <a:ea typeface="Calibri" pitchFamily="34" charset="-122"/>
                <a:cs typeface="Calibri" pitchFamily="34" charset="-120"/>
              </a:rPr>
              <a:t>P(called by Y2) 66%</a:t>
            </a:r>
            <a:endParaRPr lang="en-US" sz="850" dirty="0"/>
          </a:p>
        </p:txBody>
      </p:sp>
      <p:sp>
        <p:nvSpPr>
          <p:cNvPr id="16" name="Shape 14"/>
          <p:cNvSpPr/>
          <p:nvPr/>
        </p:nvSpPr>
        <p:spPr>
          <a:xfrm>
            <a:off x="4892040" y="1499616"/>
            <a:ext cx="384048" cy="384048"/>
          </a:xfrm>
          <a:prstGeom prst="ellipse">
            <a:avLst/>
          </a:prstGeom>
          <a:solidFill>
            <a:srgbClr val="0F8B8D"/>
          </a:solidFill>
          <a:ln/>
        </p:spPr>
      </p:sp>
      <p:sp>
        <p:nvSpPr>
          <p:cNvPr id="17" name="Text 15"/>
          <p:cNvSpPr txBox="1"/>
          <p:nvPr/>
        </p:nvSpPr>
        <p:spPr>
          <a:xfrm>
            <a:off x="489204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Y3</a:t>
            </a:r>
            <a:endParaRPr lang="en-US" sz="1300" dirty="0"/>
          </a:p>
        </p:txBody>
      </p:sp>
      <p:sp>
        <p:nvSpPr>
          <p:cNvPr id="18" name="Text 16"/>
          <p:cNvSpPr txBox="1"/>
          <p:nvPr/>
        </p:nvSpPr>
        <p:spPr>
          <a:xfrm>
            <a:off x="4434840" y="1938528"/>
            <a:ext cx="1298448" cy="411480"/>
          </a:xfrm>
          <a:prstGeom prst="rect">
            <a:avLst/>
          </a:prstGeom>
          <a:noFill/>
          <a:ln/>
        </p:spPr>
        <p:txBody>
          <a:bodyPr wrap="square" lIns="0" tIns="0" rIns="0" bIns="0" rtlCol="0" anchor="t"/>
          <a:lstStyle/>
          <a:p>
            <a:pPr algn="ctr" indent="0" marL="0">
              <a:buNone/>
            </a:pPr>
            <a:r>
              <a:rPr lang="en-US" sz="950" b="1" dirty="0">
                <a:solidFill>
                  <a:srgbClr val="0F8B8D"/>
                </a:solidFill>
                <a:latin typeface="Calibri" pitchFamily="34" charset="0"/>
                <a:ea typeface="Calibri" pitchFamily="34" charset="-122"/>
                <a:cs typeface="Calibri" pitchFamily="34" charset="-120"/>
              </a:rPr>
              <a:t>If basket ≥ 100%:</a:t>
            </a:r>
            <a:endParaRPr lang="en-US" sz="950" dirty="0"/>
          </a:p>
          <a:p>
            <a:pPr algn="ctr" indent="0" marL="0">
              <a:buNone/>
            </a:pPr>
            <a:r>
              <a:rPr lang="en-US" sz="950" b="1" dirty="0">
                <a:solidFill>
                  <a:srgbClr val="0F8B8D"/>
                </a:solidFill>
                <a:latin typeface="Calibri" pitchFamily="34" charset="0"/>
                <a:ea typeface="Calibri" pitchFamily="34" charset="-122"/>
                <a:cs typeface="Calibri" pitchFamily="34" charset="-120"/>
              </a:rPr>
              <a:t>called, 121.6% total</a:t>
            </a:r>
            <a:endParaRPr lang="en-US" sz="950" dirty="0"/>
          </a:p>
        </p:txBody>
      </p:sp>
      <p:sp>
        <p:nvSpPr>
          <p:cNvPr id="19" name="Text 17"/>
          <p:cNvSpPr txBox="1"/>
          <p:nvPr/>
        </p:nvSpPr>
        <p:spPr>
          <a:xfrm>
            <a:off x="4434840" y="2331720"/>
            <a:ext cx="1298448" cy="228600"/>
          </a:xfrm>
          <a:prstGeom prst="rect">
            <a:avLst/>
          </a:prstGeom>
          <a:noFill/>
          <a:ln/>
        </p:spPr>
        <p:txBody>
          <a:bodyPr wrap="square" lIns="0" tIns="0" rIns="0" bIns="0" rtlCol="0" anchor="t"/>
          <a:lstStyle/>
          <a:p>
            <a:pPr algn="ctr" indent="0" marL="0">
              <a:buNone/>
            </a:pPr>
            <a:r>
              <a:rPr lang="en-US" sz="850" dirty="0">
                <a:solidFill>
                  <a:srgbClr val="5F7176"/>
                </a:solidFill>
                <a:latin typeface="Calibri" pitchFamily="34" charset="0"/>
                <a:ea typeface="Calibri" pitchFamily="34" charset="-122"/>
                <a:cs typeface="Calibri" pitchFamily="34" charset="-120"/>
              </a:rPr>
              <a:t>P(called by Y3) 72%</a:t>
            </a:r>
            <a:endParaRPr lang="en-US" sz="850" dirty="0"/>
          </a:p>
        </p:txBody>
      </p:sp>
      <p:sp>
        <p:nvSpPr>
          <p:cNvPr id="20" name="Shape 18"/>
          <p:cNvSpPr/>
          <p:nvPr/>
        </p:nvSpPr>
        <p:spPr>
          <a:xfrm>
            <a:off x="6355080" y="1499616"/>
            <a:ext cx="384048" cy="384048"/>
          </a:xfrm>
          <a:prstGeom prst="ellipse">
            <a:avLst/>
          </a:prstGeom>
          <a:solidFill>
            <a:srgbClr val="0F8B8D"/>
          </a:solidFill>
          <a:ln/>
        </p:spPr>
      </p:sp>
      <p:sp>
        <p:nvSpPr>
          <p:cNvPr id="21" name="Text 19"/>
          <p:cNvSpPr txBox="1"/>
          <p:nvPr/>
        </p:nvSpPr>
        <p:spPr>
          <a:xfrm>
            <a:off x="635508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Y4</a:t>
            </a:r>
            <a:endParaRPr lang="en-US" sz="1300" dirty="0"/>
          </a:p>
        </p:txBody>
      </p:sp>
      <p:sp>
        <p:nvSpPr>
          <p:cNvPr id="22" name="Text 20"/>
          <p:cNvSpPr txBox="1"/>
          <p:nvPr/>
        </p:nvSpPr>
        <p:spPr>
          <a:xfrm>
            <a:off x="5897880" y="1938528"/>
            <a:ext cx="1298448" cy="411480"/>
          </a:xfrm>
          <a:prstGeom prst="rect">
            <a:avLst/>
          </a:prstGeom>
          <a:noFill/>
          <a:ln/>
        </p:spPr>
        <p:txBody>
          <a:bodyPr wrap="square" lIns="0" tIns="0" rIns="0" bIns="0" rtlCol="0" anchor="t"/>
          <a:lstStyle/>
          <a:p>
            <a:pPr algn="ctr" indent="0" marL="0">
              <a:buNone/>
            </a:pPr>
            <a:r>
              <a:rPr lang="en-US" sz="950" b="1" dirty="0">
                <a:solidFill>
                  <a:srgbClr val="0F8B8D"/>
                </a:solidFill>
                <a:latin typeface="Calibri" pitchFamily="34" charset="0"/>
                <a:ea typeface="Calibri" pitchFamily="34" charset="-122"/>
                <a:cs typeface="Calibri" pitchFamily="34" charset="-120"/>
              </a:rPr>
              <a:t>If basket ≥ 100%:</a:t>
            </a:r>
            <a:endParaRPr lang="en-US" sz="950" dirty="0"/>
          </a:p>
          <a:p>
            <a:pPr algn="ctr" indent="0" marL="0">
              <a:buNone/>
            </a:pPr>
            <a:r>
              <a:rPr lang="en-US" sz="950" b="1" dirty="0">
                <a:solidFill>
                  <a:srgbClr val="0F8B8D"/>
                </a:solidFill>
                <a:latin typeface="Calibri" pitchFamily="34" charset="0"/>
                <a:ea typeface="Calibri" pitchFamily="34" charset="-122"/>
                <a:cs typeface="Calibri" pitchFamily="34" charset="-120"/>
              </a:rPr>
              <a:t>called, 128.8% total</a:t>
            </a:r>
            <a:endParaRPr lang="en-US" sz="950" dirty="0"/>
          </a:p>
        </p:txBody>
      </p:sp>
      <p:sp>
        <p:nvSpPr>
          <p:cNvPr id="23" name="Text 21"/>
          <p:cNvSpPr txBox="1"/>
          <p:nvPr/>
        </p:nvSpPr>
        <p:spPr>
          <a:xfrm>
            <a:off x="5897880" y="2331720"/>
            <a:ext cx="1298448" cy="228600"/>
          </a:xfrm>
          <a:prstGeom prst="rect">
            <a:avLst/>
          </a:prstGeom>
          <a:noFill/>
          <a:ln/>
        </p:spPr>
        <p:txBody>
          <a:bodyPr wrap="square" lIns="0" tIns="0" rIns="0" bIns="0" rtlCol="0" anchor="t"/>
          <a:lstStyle/>
          <a:p>
            <a:pPr algn="ctr" indent="0" marL="0">
              <a:buNone/>
            </a:pPr>
            <a:r>
              <a:rPr lang="en-US" sz="850" dirty="0">
                <a:solidFill>
                  <a:srgbClr val="5F7176"/>
                </a:solidFill>
                <a:latin typeface="Calibri" pitchFamily="34" charset="0"/>
                <a:ea typeface="Calibri" pitchFamily="34" charset="-122"/>
                <a:cs typeface="Calibri" pitchFamily="34" charset="-120"/>
              </a:rPr>
              <a:t>P(called by Y4) 76%</a:t>
            </a:r>
            <a:endParaRPr lang="en-US" sz="850" dirty="0"/>
          </a:p>
        </p:txBody>
      </p:sp>
      <p:sp>
        <p:nvSpPr>
          <p:cNvPr id="24" name="Shape 22"/>
          <p:cNvSpPr/>
          <p:nvPr/>
        </p:nvSpPr>
        <p:spPr>
          <a:xfrm>
            <a:off x="7818120" y="1499616"/>
            <a:ext cx="384048" cy="384048"/>
          </a:xfrm>
          <a:prstGeom prst="ellipse">
            <a:avLst/>
          </a:prstGeom>
          <a:solidFill>
            <a:srgbClr val="D9961A"/>
          </a:solidFill>
          <a:ln/>
        </p:spPr>
      </p:sp>
      <p:sp>
        <p:nvSpPr>
          <p:cNvPr id="25" name="Text 23"/>
          <p:cNvSpPr txBox="1"/>
          <p:nvPr/>
        </p:nvSpPr>
        <p:spPr>
          <a:xfrm>
            <a:off x="78181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Y5</a:t>
            </a:r>
            <a:endParaRPr lang="en-US" sz="1300" dirty="0"/>
          </a:p>
        </p:txBody>
      </p:sp>
      <p:sp>
        <p:nvSpPr>
          <p:cNvPr id="26" name="Text 24"/>
          <p:cNvSpPr txBox="1"/>
          <p:nvPr/>
        </p:nvSpPr>
        <p:spPr>
          <a:xfrm>
            <a:off x="7360920" y="1938528"/>
            <a:ext cx="1298448" cy="411480"/>
          </a:xfrm>
          <a:prstGeom prst="rect">
            <a:avLst/>
          </a:prstGeom>
          <a:noFill/>
          <a:ln/>
        </p:spPr>
        <p:txBody>
          <a:bodyPr wrap="square" lIns="0" tIns="0" rIns="0" bIns="0" rtlCol="0" anchor="t"/>
          <a:lstStyle/>
          <a:p>
            <a:pPr algn="ctr" indent="0" marL="0">
              <a:buNone/>
            </a:pPr>
            <a:r>
              <a:rPr lang="en-US" sz="950" b="1" dirty="0">
                <a:solidFill>
                  <a:srgbClr val="D9961A"/>
                </a:solidFill>
                <a:latin typeface="Calibri" pitchFamily="34" charset="0"/>
                <a:ea typeface="Calibri" pitchFamily="34" charset="-122"/>
                <a:cs typeface="Calibri" pitchFamily="34" charset="-120"/>
              </a:rPr>
              <a:t>If basket ≥ 100%:</a:t>
            </a:r>
            <a:endParaRPr lang="en-US" sz="950" dirty="0"/>
          </a:p>
          <a:p>
            <a:pPr algn="ctr" indent="0" marL="0">
              <a:buNone/>
            </a:pPr>
            <a:r>
              <a:rPr lang="en-US" sz="950" b="1" dirty="0">
                <a:solidFill>
                  <a:srgbClr val="D9961A"/>
                </a:solidFill>
                <a:latin typeface="Calibri" pitchFamily="34" charset="0"/>
                <a:ea typeface="Calibri" pitchFamily="34" charset="-122"/>
                <a:cs typeface="Calibri" pitchFamily="34" charset="-120"/>
              </a:rPr>
              <a:t>called, 136.0% total</a:t>
            </a:r>
            <a:endParaRPr lang="en-US" sz="950" dirty="0"/>
          </a:p>
        </p:txBody>
      </p:sp>
      <p:sp>
        <p:nvSpPr>
          <p:cNvPr id="27" name="Text 25"/>
          <p:cNvSpPr txBox="1"/>
          <p:nvPr/>
        </p:nvSpPr>
        <p:spPr>
          <a:xfrm>
            <a:off x="7360920" y="2331720"/>
            <a:ext cx="1298448" cy="228600"/>
          </a:xfrm>
          <a:prstGeom prst="rect">
            <a:avLst/>
          </a:prstGeom>
          <a:noFill/>
          <a:ln/>
        </p:spPr>
        <p:txBody>
          <a:bodyPr wrap="square" lIns="0" tIns="0" rIns="0" bIns="0" rtlCol="0" anchor="t"/>
          <a:lstStyle/>
          <a:p>
            <a:pPr algn="ctr" indent="0" marL="0">
              <a:buNone/>
            </a:pPr>
            <a:r>
              <a:rPr lang="en-US" sz="850" dirty="0">
                <a:solidFill>
                  <a:srgbClr val="5F7176"/>
                </a:solidFill>
                <a:latin typeface="Calibri" pitchFamily="34" charset="0"/>
                <a:ea typeface="Calibri" pitchFamily="34" charset="-122"/>
                <a:cs typeface="Calibri" pitchFamily="34" charset="-120"/>
              </a:rPr>
              <a:t>P(called by Y5) 79%</a:t>
            </a:r>
            <a:endParaRPr lang="en-US" sz="850" dirty="0"/>
          </a:p>
        </p:txBody>
      </p:sp>
      <p:sp>
        <p:nvSpPr>
          <p:cNvPr id="28" name="Text 26"/>
          <p:cNvSpPr txBox="1"/>
          <p:nvPr/>
        </p:nvSpPr>
        <p:spPr>
          <a:xfrm>
            <a:off x="1280160" y="1143000"/>
            <a:ext cx="7223760" cy="228600"/>
          </a:xfrm>
          <a:prstGeom prst="rect">
            <a:avLst/>
          </a:prstGeom>
          <a:noFill/>
          <a:ln/>
        </p:spPr>
        <p:txBody>
          <a:bodyPr wrap="square" lIns="0" tIns="0" rIns="0" bIns="0" rtlCol="0" anchor="t"/>
          <a:lstStyle/>
          <a:p>
            <a:pPr algn="ctr" indent="0" marL="0">
              <a:buNone/>
            </a:pPr>
            <a:r>
              <a:rPr lang="en-US" sz="900" i="1" dirty="0">
                <a:solidFill>
                  <a:srgbClr val="5F7176"/>
                </a:solidFill>
                <a:latin typeface="Calibri" pitchFamily="34" charset="0"/>
                <a:ea typeface="Calibri" pitchFamily="34" charset="-122"/>
                <a:cs typeface="Calibri" pitchFamily="34" charset="-120"/>
              </a:rPr>
              <a:t>Q1–Q3: coupon only (1.80% if basket ≥ 100%). From Q4: coupon plus autocall. Missed coupons are always caught up.</a:t>
            </a:r>
            <a:endParaRPr lang="en-US" sz="900" dirty="0"/>
          </a:p>
        </p:txBody>
      </p:sp>
      <p:sp>
        <p:nvSpPr>
          <p:cNvPr id="29" name="Shape 27"/>
          <p:cNvSpPr/>
          <p:nvPr/>
        </p:nvSpPr>
        <p:spPr>
          <a:xfrm>
            <a:off x="457200" y="2788920"/>
            <a:ext cx="2606040" cy="1828800"/>
          </a:xfrm>
          <a:prstGeom prst="roundRect">
            <a:avLst>
              <a:gd name="adj" fmla="val 3500"/>
            </a:avLst>
          </a:prstGeom>
          <a:solidFill>
            <a:srgbClr val="E6F2F0"/>
          </a:solidFill>
          <a:ln w="12700">
            <a:solidFill>
              <a:srgbClr val="E6F2F0"/>
            </a:solidFill>
            <a:prstDash val="solid"/>
          </a:ln>
        </p:spPr>
      </p:sp>
      <p:sp>
        <p:nvSpPr>
          <p:cNvPr id="30" name="Shape 28"/>
          <p:cNvSpPr/>
          <p:nvPr/>
        </p:nvSpPr>
        <p:spPr>
          <a:xfrm>
            <a:off x="621792" y="2907792"/>
            <a:ext cx="384048" cy="384048"/>
          </a:xfrm>
          <a:prstGeom prst="ellipse">
            <a:avLst/>
          </a:prstGeom>
          <a:solidFill>
            <a:srgbClr val="0F8B8D"/>
          </a:solidFill>
          <a:ln/>
        </p:spPr>
      </p:sp>
      <p:sp>
        <p:nvSpPr>
          <p:cNvPr id="31" name="Text 29"/>
          <p:cNvSpPr txBox="1"/>
          <p:nvPr/>
        </p:nvSpPr>
        <p:spPr>
          <a:xfrm>
            <a:off x="621792" y="2907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a:t>
            </a:r>
            <a:endParaRPr lang="en-US" sz="1300" dirty="0"/>
          </a:p>
        </p:txBody>
      </p:sp>
      <p:sp>
        <p:nvSpPr>
          <p:cNvPr id="32" name="Text 30"/>
          <p:cNvSpPr txBox="1"/>
          <p:nvPr/>
        </p:nvSpPr>
        <p:spPr>
          <a:xfrm>
            <a:off x="1097280" y="2926080"/>
            <a:ext cx="1874520" cy="347472"/>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Autocalled</a:t>
            </a:r>
            <a:endParaRPr lang="en-US" sz="1200" dirty="0"/>
          </a:p>
        </p:txBody>
      </p:sp>
      <p:sp>
        <p:nvSpPr>
          <p:cNvPr id="33" name="Text 31"/>
          <p:cNvSpPr txBox="1"/>
          <p:nvPr/>
        </p:nvSpPr>
        <p:spPr>
          <a:xfrm>
            <a:off x="621792" y="3383280"/>
            <a:ext cx="2286000" cy="731520"/>
          </a:xfrm>
          <a:prstGeom prst="rect">
            <a:avLst/>
          </a:prstGeom>
          <a:noFill/>
          <a:ln/>
        </p:spPr>
        <p:txBody>
          <a:bodyPr wrap="square" lIns="0" tIns="0" rIns="0" bIns="0" rtlCol="0" anchor="t"/>
          <a:lstStyle/>
          <a:p>
            <a:pPr indent="0" marL="0">
              <a:buNone/>
            </a:pPr>
            <a:r>
              <a:rPr lang="en-US" sz="1000" dirty="0">
                <a:solidFill>
                  <a:srgbClr val="1D2B30"/>
                </a:solidFill>
                <a:latin typeface="Calibri" pitchFamily="34" charset="0"/>
                <a:ea typeface="Calibri" pitchFamily="34" charset="-122"/>
                <a:cs typeface="Calibri" pitchFamily="34" charset="-120"/>
              </a:rPr>
              <a:t>Basket ≥ 100% on any date from Q4: 100% plus every coupon to date, including missed ones. The note ends.</a:t>
            </a:r>
            <a:endParaRPr lang="en-US" sz="1000" dirty="0"/>
          </a:p>
        </p:txBody>
      </p:sp>
      <p:sp>
        <p:nvSpPr>
          <p:cNvPr id="34" name="Text 32"/>
          <p:cNvSpPr txBox="1"/>
          <p:nvPr/>
        </p:nvSpPr>
        <p:spPr>
          <a:xfrm>
            <a:off x="621792" y="4160520"/>
            <a:ext cx="2286000" cy="365760"/>
          </a:xfrm>
          <a:prstGeom prst="rect">
            <a:avLst/>
          </a:prstGeom>
          <a:noFill/>
          <a:ln/>
        </p:spPr>
        <p:txBody>
          <a:bodyPr wrap="square" lIns="0" tIns="0" rIns="0" bIns="0" rtlCol="0" anchor="ctr"/>
          <a:lstStyle/>
          <a:p>
            <a:pPr indent="0" marL="0">
              <a:buNone/>
            </a:pPr>
            <a:r>
              <a:rPr lang="en-US" sz="1600" b="1" dirty="0">
                <a:solidFill>
                  <a:srgbClr val="0F8B8D"/>
                </a:solidFill>
                <a:latin typeface="Calibri" pitchFamily="34" charset="0"/>
                <a:ea typeface="Calibri" pitchFamily="34" charset="-122"/>
                <a:cs typeface="Calibri" pitchFamily="34" charset="-120"/>
              </a:rPr>
              <a:t>79%</a:t>
            </a:r>
            <a:pPr indent="0" marL="0">
              <a:buNone/>
            </a:pPr>
            <a:r>
              <a:rPr lang="en-US" sz="850" dirty="0">
                <a:solidFill>
                  <a:srgbClr val="5F7176"/>
                </a:solidFill>
                <a:latin typeface="Calibri" pitchFamily="34" charset="0"/>
                <a:ea typeface="Calibri" pitchFamily="34" charset="-122"/>
                <a:cs typeface="Calibri" pitchFamily="34" charset="-120"/>
              </a:rPr>
              <a:t>  risk-neutral probability</a:t>
            </a:r>
            <a:endParaRPr lang="en-US" sz="1100" dirty="0"/>
          </a:p>
        </p:txBody>
      </p:sp>
      <p:sp>
        <p:nvSpPr>
          <p:cNvPr id="35" name="Shape 33"/>
          <p:cNvSpPr/>
          <p:nvPr/>
        </p:nvSpPr>
        <p:spPr>
          <a:xfrm>
            <a:off x="3246120" y="2788920"/>
            <a:ext cx="2606040" cy="1828800"/>
          </a:xfrm>
          <a:prstGeom prst="roundRect">
            <a:avLst>
              <a:gd name="adj" fmla="val 3500"/>
            </a:avLst>
          </a:prstGeom>
          <a:solidFill>
            <a:srgbClr val="E6F2F0"/>
          </a:solidFill>
          <a:ln w="12700">
            <a:solidFill>
              <a:srgbClr val="E6F2F0"/>
            </a:solidFill>
            <a:prstDash val="solid"/>
          </a:ln>
        </p:spPr>
      </p:sp>
      <p:sp>
        <p:nvSpPr>
          <p:cNvPr id="36" name="Shape 34"/>
          <p:cNvSpPr/>
          <p:nvPr/>
        </p:nvSpPr>
        <p:spPr>
          <a:xfrm>
            <a:off x="3410712" y="2907792"/>
            <a:ext cx="384048" cy="384048"/>
          </a:xfrm>
          <a:prstGeom prst="ellipse">
            <a:avLst/>
          </a:prstGeom>
          <a:solidFill>
            <a:srgbClr val="8FA6AA"/>
          </a:solidFill>
          <a:ln/>
        </p:spPr>
      </p:sp>
      <p:sp>
        <p:nvSpPr>
          <p:cNvPr id="37" name="Text 35"/>
          <p:cNvSpPr txBox="1"/>
          <p:nvPr/>
        </p:nvSpPr>
        <p:spPr>
          <a:xfrm>
            <a:off x="3410712" y="2907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B</a:t>
            </a:r>
            <a:endParaRPr lang="en-US" sz="1300" dirty="0"/>
          </a:p>
        </p:txBody>
      </p:sp>
      <p:sp>
        <p:nvSpPr>
          <p:cNvPr id="38" name="Text 36"/>
          <p:cNvSpPr txBox="1"/>
          <p:nvPr/>
        </p:nvSpPr>
        <p:spPr>
          <a:xfrm>
            <a:off x="3886200" y="2926080"/>
            <a:ext cx="1874520" cy="347472"/>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Not called, early coupons</a:t>
            </a:r>
            <a:endParaRPr lang="en-US" sz="1200" dirty="0"/>
          </a:p>
        </p:txBody>
      </p:sp>
      <p:sp>
        <p:nvSpPr>
          <p:cNvPr id="39" name="Text 37"/>
          <p:cNvSpPr txBox="1"/>
          <p:nvPr/>
        </p:nvSpPr>
        <p:spPr>
          <a:xfrm>
            <a:off x="3410712" y="3383280"/>
            <a:ext cx="2286000" cy="731520"/>
          </a:xfrm>
          <a:prstGeom prst="rect">
            <a:avLst/>
          </a:prstGeom>
          <a:noFill/>
          <a:ln/>
        </p:spPr>
        <p:txBody>
          <a:bodyPr wrap="square" lIns="0" tIns="0" rIns="0" bIns="0" rtlCol="0" anchor="t"/>
          <a:lstStyle/>
          <a:p>
            <a:pPr indent="0" marL="0">
              <a:buNone/>
            </a:pPr>
            <a:r>
              <a:rPr lang="en-US" sz="1000" dirty="0">
                <a:solidFill>
                  <a:srgbClr val="1D2B30"/>
                </a:solidFill>
                <a:latin typeface="Calibri" pitchFamily="34" charset="0"/>
                <a:ea typeface="Calibri" pitchFamily="34" charset="-122"/>
                <a:cs typeface="Calibri" pitchFamily="34" charset="-120"/>
              </a:rPr>
              <a:t>Basket ≥ 100% in Q1–Q3 only, never afterwards. The family keeps those coupons and gets 100% back at Y5.</a:t>
            </a:r>
            <a:endParaRPr lang="en-US" sz="1000" dirty="0"/>
          </a:p>
        </p:txBody>
      </p:sp>
      <p:sp>
        <p:nvSpPr>
          <p:cNvPr id="40" name="Text 38"/>
          <p:cNvSpPr txBox="1"/>
          <p:nvPr/>
        </p:nvSpPr>
        <p:spPr>
          <a:xfrm>
            <a:off x="3410712" y="4160520"/>
            <a:ext cx="2286000" cy="365760"/>
          </a:xfrm>
          <a:prstGeom prst="rect">
            <a:avLst/>
          </a:prstGeom>
          <a:noFill/>
          <a:ln/>
        </p:spPr>
        <p:txBody>
          <a:bodyPr wrap="square" lIns="0" tIns="0" rIns="0" bIns="0" rtlCol="0" anchor="ctr"/>
          <a:lstStyle/>
          <a:p>
            <a:pPr indent="0" marL="0">
              <a:buNone/>
            </a:pPr>
            <a:r>
              <a:rPr lang="en-US" sz="1600" b="1" dirty="0">
                <a:solidFill>
                  <a:srgbClr val="8FA6AA"/>
                </a:solidFill>
                <a:latin typeface="Calibri" pitchFamily="34" charset="0"/>
                <a:ea typeface="Calibri" pitchFamily="34" charset="-122"/>
                <a:cs typeface="Calibri" pitchFamily="34" charset="-120"/>
              </a:rPr>
              <a:t>8%</a:t>
            </a:r>
            <a:pPr indent="0" marL="0">
              <a:buNone/>
            </a:pPr>
            <a:r>
              <a:rPr lang="en-US" sz="850" dirty="0">
                <a:solidFill>
                  <a:srgbClr val="5F7176"/>
                </a:solidFill>
                <a:latin typeface="Calibri" pitchFamily="34" charset="0"/>
                <a:ea typeface="Calibri" pitchFamily="34" charset="-122"/>
                <a:cs typeface="Calibri" pitchFamily="34" charset="-120"/>
              </a:rPr>
              <a:t>  risk-neutral probability</a:t>
            </a:r>
            <a:endParaRPr lang="en-US" sz="1100" dirty="0"/>
          </a:p>
        </p:txBody>
      </p:sp>
      <p:sp>
        <p:nvSpPr>
          <p:cNvPr id="41" name="Shape 39"/>
          <p:cNvSpPr/>
          <p:nvPr/>
        </p:nvSpPr>
        <p:spPr>
          <a:xfrm>
            <a:off x="6035040" y="2788920"/>
            <a:ext cx="2606040" cy="1828800"/>
          </a:xfrm>
          <a:prstGeom prst="roundRect">
            <a:avLst>
              <a:gd name="adj" fmla="val 3500"/>
            </a:avLst>
          </a:prstGeom>
          <a:solidFill>
            <a:srgbClr val="E6F2F0"/>
          </a:solidFill>
          <a:ln w="12700">
            <a:solidFill>
              <a:srgbClr val="E6F2F0"/>
            </a:solidFill>
            <a:prstDash val="solid"/>
          </a:ln>
        </p:spPr>
      </p:sp>
      <p:sp>
        <p:nvSpPr>
          <p:cNvPr id="42" name="Shape 40"/>
          <p:cNvSpPr/>
          <p:nvPr/>
        </p:nvSpPr>
        <p:spPr>
          <a:xfrm>
            <a:off x="6199632" y="2907792"/>
            <a:ext cx="384048" cy="384048"/>
          </a:xfrm>
          <a:prstGeom prst="ellipse">
            <a:avLst/>
          </a:prstGeom>
          <a:solidFill>
            <a:srgbClr val="D9961A"/>
          </a:solidFill>
          <a:ln/>
        </p:spPr>
      </p:sp>
      <p:sp>
        <p:nvSpPr>
          <p:cNvPr id="43" name="Text 41"/>
          <p:cNvSpPr txBox="1"/>
          <p:nvPr/>
        </p:nvSpPr>
        <p:spPr>
          <a:xfrm>
            <a:off x="6199632" y="2907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a:t>
            </a:r>
            <a:endParaRPr lang="en-US" sz="1300" dirty="0"/>
          </a:p>
        </p:txBody>
      </p:sp>
      <p:sp>
        <p:nvSpPr>
          <p:cNvPr id="44" name="Text 42"/>
          <p:cNvSpPr txBox="1"/>
          <p:nvPr/>
        </p:nvSpPr>
        <p:spPr>
          <a:xfrm>
            <a:off x="6675120" y="2926080"/>
            <a:ext cx="1874520" cy="347472"/>
          </a:xfrm>
          <a:prstGeom prst="rect">
            <a:avLst/>
          </a:prstGeom>
          <a:noFill/>
          <a:ln/>
        </p:spPr>
        <p:txBody>
          <a:bodyPr wrap="square" lIns="0" tIns="0" rIns="0" bIns="0" rtlCol="0" anchor="ctr"/>
          <a:lstStyle/>
          <a:p>
            <a:pPr indent="0" marL="0">
              <a:buNone/>
            </a:pPr>
            <a:r>
              <a:rPr lang="en-US" sz="1200" b="1" dirty="0">
                <a:solidFill>
                  <a:srgbClr val="0B3C49"/>
                </a:solidFill>
                <a:latin typeface="Calibri" pitchFamily="34" charset="0"/>
                <a:ea typeface="Calibri" pitchFamily="34" charset="-122"/>
                <a:cs typeface="Calibri" pitchFamily="34" charset="-120"/>
              </a:rPr>
              <a:t>Not called, no coupon</a:t>
            </a:r>
            <a:endParaRPr lang="en-US" sz="1200" dirty="0"/>
          </a:p>
        </p:txBody>
      </p:sp>
      <p:sp>
        <p:nvSpPr>
          <p:cNvPr id="45" name="Text 43"/>
          <p:cNvSpPr txBox="1"/>
          <p:nvPr/>
        </p:nvSpPr>
        <p:spPr>
          <a:xfrm>
            <a:off x="6199632" y="3383280"/>
            <a:ext cx="2286000" cy="731520"/>
          </a:xfrm>
          <a:prstGeom prst="rect">
            <a:avLst/>
          </a:prstGeom>
          <a:noFill/>
          <a:ln/>
        </p:spPr>
        <p:txBody>
          <a:bodyPr wrap="square" lIns="0" tIns="0" rIns="0" bIns="0" rtlCol="0" anchor="t"/>
          <a:lstStyle/>
          <a:p>
            <a:pPr indent="0" marL="0">
              <a:buNone/>
            </a:pPr>
            <a:r>
              <a:rPr lang="en-US" sz="1000" dirty="0">
                <a:solidFill>
                  <a:srgbClr val="1D2B30"/>
                </a:solidFill>
                <a:latin typeface="Calibri" pitchFamily="34" charset="0"/>
                <a:ea typeface="Calibri" pitchFamily="34" charset="-122"/>
                <a:cs typeface="Calibri" pitchFamily="34" charset="-120"/>
              </a:rPr>
              <a:t>Basket never back to 100%. The family gets 100% back at Y5: a 0% return, but no capital loss.</a:t>
            </a:r>
            <a:endParaRPr lang="en-US" sz="1000" dirty="0"/>
          </a:p>
        </p:txBody>
      </p:sp>
      <p:sp>
        <p:nvSpPr>
          <p:cNvPr id="46" name="Text 44"/>
          <p:cNvSpPr txBox="1"/>
          <p:nvPr/>
        </p:nvSpPr>
        <p:spPr>
          <a:xfrm>
            <a:off x="6199632" y="4160520"/>
            <a:ext cx="2286000" cy="365760"/>
          </a:xfrm>
          <a:prstGeom prst="rect">
            <a:avLst/>
          </a:prstGeom>
          <a:noFill/>
          <a:ln/>
        </p:spPr>
        <p:txBody>
          <a:bodyPr wrap="square" lIns="0" tIns="0" rIns="0" bIns="0" rtlCol="0" anchor="ctr"/>
          <a:lstStyle/>
          <a:p>
            <a:pPr indent="0" marL="0">
              <a:buNone/>
            </a:pPr>
            <a:r>
              <a:rPr lang="en-US" sz="1600" b="1" dirty="0">
                <a:solidFill>
                  <a:srgbClr val="D9961A"/>
                </a:solidFill>
                <a:latin typeface="Calibri" pitchFamily="34" charset="0"/>
                <a:ea typeface="Calibri" pitchFamily="34" charset="-122"/>
                <a:cs typeface="Calibri" pitchFamily="34" charset="-120"/>
              </a:rPr>
              <a:t>13%</a:t>
            </a:r>
            <a:pPr indent="0" marL="0">
              <a:buNone/>
            </a:pPr>
            <a:r>
              <a:rPr lang="en-US" sz="850" dirty="0">
                <a:solidFill>
                  <a:srgbClr val="5F7176"/>
                </a:solidFill>
                <a:latin typeface="Calibri" pitchFamily="34" charset="0"/>
                <a:ea typeface="Calibri" pitchFamily="34" charset="-122"/>
                <a:cs typeface="Calibri" pitchFamily="34" charset="-120"/>
              </a:rPr>
              <a:t>  risk-neutral probability</a:t>
            </a:r>
            <a:endParaRPr lang="en-US" sz="1100" dirty="0"/>
          </a:p>
        </p:txBody>
      </p:sp>
      <p:sp>
        <p:nvSpPr>
          <p:cNvPr id="47" name="Text 45"/>
          <p:cNvSpPr txBox="1"/>
          <p:nvPr/>
        </p:nvSpPr>
        <p:spPr>
          <a:xfrm>
            <a:off x="457200" y="4773168"/>
            <a:ext cx="7680960" cy="274320"/>
          </a:xfrm>
          <a:prstGeom prst="rect">
            <a:avLst/>
          </a:prstGeom>
          <a:noFill/>
          <a:ln/>
        </p:spPr>
        <p:txBody>
          <a:bodyPr wrap="square" lIns="0" tIns="0" rIns="0" bIns="0" rtlCol="0" anchor="t"/>
          <a:lstStyle/>
          <a:p>
            <a:pPr indent="0" marL="0">
              <a:buNone/>
            </a:pPr>
            <a:r>
              <a:rPr lang="en-US" sz="800" i="1" dirty="0">
                <a:solidFill>
                  <a:srgbClr val="5F7176"/>
                </a:solidFill>
                <a:latin typeface="Calibri" pitchFamily="34" charset="0"/>
                <a:ea typeface="Calibri" pitchFamily="34" charset="-122"/>
                <a:cs typeface="Calibri" pitchFamily="34" charset="-120"/>
              </a:rPr>
              <a:t>Probabilities are risk-neutral (drift = funding rate − dividends). Real-world outcomes under different equity returns are on slide 9.</a:t>
            </a:r>
            <a:endParaRPr lang="en-US" sz="800" dirty="0"/>
          </a:p>
        </p:txBody>
      </p:sp>
      <p:sp>
        <p:nvSpPr>
          <p:cNvPr id="48" name="Text 46"/>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900" dirty="0">
                <a:solidFill>
                  <a:srgbClr val="5F717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Payoff diagrams: what the family receives, and when</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Left: total cash if called at each date. Right: payoff at Y5 if never called earlier, vs. owning the basket directly</a:t>
            </a:r>
            <a:endParaRPr lang="en-US" sz="1250" dirty="0"/>
          </a:p>
        </p:txBody>
      </p:sp>
      <p:graphicFrame>
        <p:nvGraphicFramePr>
          <p:cNvPr id="4" name="Chart 0" descr=""/>
          <p:cNvGraphicFramePr/>
          <p:nvPr/>
        </p:nvGraphicFramePr>
        <p:xfrm>
          <a:off x="365760" y="1143000"/>
          <a:ext cx="4023360" cy="26060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02920" y="3840480"/>
            <a:ext cx="2103120" cy="868680"/>
          </a:xfrm>
          <a:prstGeom prst="rect">
            <a:avLst/>
          </a:prstGeom>
          <a:noFill/>
          <a:ln/>
        </p:spPr>
        <p:txBody>
          <a:bodyPr wrap="square" lIns="0" tIns="0" rIns="0" bIns="0" rtlCol="0" anchor="t"/>
          <a:lstStyle/>
          <a:p>
            <a:pPr indent="0" marL="0">
              <a:buNone/>
            </a:pPr>
            <a:r>
              <a:rPr lang="en-US" sz="900" dirty="0">
                <a:solidFill>
                  <a:srgbClr val="1D2B30"/>
                </a:solidFill>
                <a:latin typeface="Calibri" pitchFamily="34" charset="0"/>
                <a:ea typeface="Calibri" pitchFamily="34" charset="-122"/>
                <a:cs typeface="Calibri" pitchFamily="34" charset="-120"/>
              </a:rPr>
              <a:t>Y1: 107.2%  (USD 107.2mn)</a:t>
            </a:r>
            <a:endParaRPr lang="en-US" sz="900" dirty="0"/>
          </a:p>
          <a:p>
            <a:pPr indent="0" marL="0">
              <a:buNone/>
            </a:pPr>
            <a:r>
              <a:rPr lang="en-US" sz="900" dirty="0">
                <a:solidFill>
                  <a:srgbClr val="1D2B30"/>
                </a:solidFill>
                <a:latin typeface="Calibri" pitchFamily="34" charset="0"/>
                <a:ea typeface="Calibri" pitchFamily="34" charset="-122"/>
                <a:cs typeface="Calibri" pitchFamily="34" charset="-120"/>
              </a:rPr>
              <a:t>Y2: 114.4%  (USD 114.4mn)</a:t>
            </a:r>
            <a:endParaRPr lang="en-US" sz="900" dirty="0"/>
          </a:p>
          <a:p>
            <a:pPr indent="0" marL="0">
              <a:buNone/>
            </a:pPr>
            <a:r>
              <a:rPr lang="en-US" sz="900" dirty="0">
                <a:solidFill>
                  <a:srgbClr val="1D2B30"/>
                </a:solidFill>
                <a:latin typeface="Calibri" pitchFamily="34" charset="0"/>
                <a:ea typeface="Calibri" pitchFamily="34" charset="-122"/>
                <a:cs typeface="Calibri" pitchFamily="34" charset="-120"/>
              </a:rPr>
              <a:t>Y3: 121.6%  (USD 121.6mn)</a:t>
            </a:r>
            <a:endParaRPr lang="en-US" sz="900" dirty="0"/>
          </a:p>
          <a:p>
            <a:pPr indent="0" marL="0">
              <a:buNone/>
            </a:pPr>
            <a:r>
              <a:rPr lang="en-US" sz="900" dirty="0">
                <a:solidFill>
                  <a:srgbClr val="1D2B30"/>
                </a:solidFill>
                <a:latin typeface="Calibri" pitchFamily="34" charset="0"/>
                <a:ea typeface="Calibri" pitchFamily="34" charset="-122"/>
                <a:cs typeface="Calibri" pitchFamily="34" charset="-120"/>
              </a:rPr>
              <a:t>Y4: 128.8%  (USD 128.8mn)</a:t>
            </a:r>
            <a:endParaRPr lang="en-US" sz="900" dirty="0"/>
          </a:p>
          <a:p>
            <a:pPr indent="0" marL="0">
              <a:buNone/>
            </a:pPr>
            <a:r>
              <a:rPr lang="en-US" sz="900" dirty="0">
                <a:solidFill>
                  <a:srgbClr val="1D2B30"/>
                </a:solidFill>
                <a:latin typeface="Calibri" pitchFamily="34" charset="0"/>
                <a:ea typeface="Calibri" pitchFamily="34" charset="-122"/>
                <a:cs typeface="Calibri" pitchFamily="34" charset="-120"/>
              </a:rPr>
              <a:t>Y5: 136.0%  (USD 136.0mn)</a:t>
            </a:r>
            <a:endParaRPr lang="en-US" sz="900" dirty="0"/>
          </a:p>
        </p:txBody>
      </p:sp>
      <p:sp>
        <p:nvSpPr>
          <p:cNvPr id="6" name="Text 3"/>
          <p:cNvSpPr txBox="1"/>
          <p:nvPr/>
        </p:nvSpPr>
        <p:spPr>
          <a:xfrm>
            <a:off x="2606040" y="3840480"/>
            <a:ext cx="1783080" cy="868680"/>
          </a:xfrm>
          <a:prstGeom prst="rect">
            <a:avLst/>
          </a:prstGeom>
          <a:noFill/>
          <a:ln/>
        </p:spPr>
        <p:txBody>
          <a:bodyPr wrap="square" lIns="0" tIns="0" rIns="0" bIns="0" rtlCol="0" anchor="t"/>
          <a:lstStyle/>
          <a:p>
            <a:pPr indent="0" marL="0">
              <a:buNone/>
            </a:pPr>
            <a:r>
              <a:rPr lang="en-US" sz="900" i="1" dirty="0">
                <a:solidFill>
                  <a:srgbClr val="5F7176"/>
                </a:solidFill>
                <a:latin typeface="Calibri" pitchFamily="34" charset="0"/>
                <a:ea typeface="Calibri" pitchFamily="34" charset="-122"/>
                <a:cs typeface="Calibri" pitchFamily="34" charset="-120"/>
              </a:rPr>
              <a:t>With memory, the total depends only on when the note is called, not on how many coupon dates were missed along the way.</a:t>
            </a:r>
            <a:endParaRPr lang="en-US" sz="900" dirty="0"/>
          </a:p>
        </p:txBody>
      </p:sp>
      <p:graphicFrame>
        <p:nvGraphicFramePr>
          <p:cNvPr id="7" name="Chart 1" descr=""/>
          <p:cNvGraphicFramePr/>
          <p:nvPr/>
        </p:nvGraphicFramePr>
        <p:xfrm>
          <a:off x="4572000" y="1143000"/>
          <a:ext cx="4206240" cy="301752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4709160" y="4315968"/>
            <a:ext cx="91440" cy="91440"/>
          </a:xfrm>
          <a:prstGeom prst="ellipse">
            <a:avLst/>
          </a:prstGeom>
          <a:solidFill>
            <a:srgbClr val="D9961A"/>
          </a:solidFill>
          <a:ln w="12700">
            <a:solidFill>
              <a:srgbClr val="D9961A"/>
            </a:solidFill>
            <a:prstDash val="solid"/>
          </a:ln>
        </p:spPr>
      </p:sp>
      <p:sp>
        <p:nvSpPr>
          <p:cNvPr id="9" name="Text 5"/>
          <p:cNvSpPr txBox="1"/>
          <p:nvPr/>
        </p:nvSpPr>
        <p:spPr>
          <a:xfrm>
            <a:off x="4864608" y="4261104"/>
            <a:ext cx="3840480" cy="182880"/>
          </a:xfrm>
          <a:prstGeom prst="rect">
            <a:avLst/>
          </a:prstGeom>
          <a:noFill/>
          <a:ln/>
        </p:spPr>
        <p:txBody>
          <a:bodyPr wrap="square" lIns="0" tIns="0" rIns="0" bIns="0" rtlCol="0" anchor="t"/>
          <a:lstStyle/>
          <a:p>
            <a:pPr indent="0" marL="0">
              <a:buNone/>
            </a:pPr>
            <a:r>
              <a:rPr lang="en-US" sz="850" dirty="0">
                <a:solidFill>
                  <a:srgbClr val="1D2B30"/>
                </a:solidFill>
                <a:latin typeface="Calibri" pitchFamily="34" charset="0"/>
                <a:ea typeface="Calibri" pitchFamily="34" charset="-122"/>
                <a:cs typeface="Calibri" pitchFamily="34" charset="-120"/>
              </a:rPr>
              <a:t>&lt; 100%: 100% back; capital protected however far the basket falls</a:t>
            </a:r>
            <a:endParaRPr lang="en-US" sz="850" dirty="0"/>
          </a:p>
        </p:txBody>
      </p:sp>
      <p:sp>
        <p:nvSpPr>
          <p:cNvPr id="10" name="Shape 6"/>
          <p:cNvSpPr/>
          <p:nvPr/>
        </p:nvSpPr>
        <p:spPr>
          <a:xfrm>
            <a:off x="4709160" y="4489704"/>
            <a:ext cx="91440" cy="91440"/>
          </a:xfrm>
          <a:prstGeom prst="ellipse">
            <a:avLst/>
          </a:prstGeom>
          <a:solidFill>
            <a:srgbClr val="0F8B8D"/>
          </a:solidFill>
          <a:ln w="12700">
            <a:solidFill>
              <a:srgbClr val="0F8B8D"/>
            </a:solidFill>
            <a:prstDash val="solid"/>
          </a:ln>
        </p:spPr>
      </p:sp>
      <p:sp>
        <p:nvSpPr>
          <p:cNvPr id="11" name="Text 7"/>
          <p:cNvSpPr txBox="1"/>
          <p:nvPr/>
        </p:nvSpPr>
        <p:spPr>
          <a:xfrm>
            <a:off x="4864608" y="4434840"/>
            <a:ext cx="3840480" cy="182880"/>
          </a:xfrm>
          <a:prstGeom prst="rect">
            <a:avLst/>
          </a:prstGeom>
          <a:noFill/>
          <a:ln/>
        </p:spPr>
        <p:txBody>
          <a:bodyPr wrap="square" lIns="0" tIns="0" rIns="0" bIns="0" rtlCol="0" anchor="t"/>
          <a:lstStyle/>
          <a:p>
            <a:pPr indent="0" marL="0">
              <a:buNone/>
            </a:pPr>
            <a:r>
              <a:rPr lang="en-US" sz="850" dirty="0">
                <a:solidFill>
                  <a:srgbClr val="1D2B30"/>
                </a:solidFill>
                <a:latin typeface="Calibri" pitchFamily="34" charset="0"/>
                <a:ea typeface="Calibri" pitchFamily="34" charset="-122"/>
                <a:cs typeface="Calibri" pitchFamily="34" charset="-120"/>
              </a:rPr>
              <a:t>≥ 100%: 136.0% (principal + all 20 coupons via memory)</a:t>
            </a:r>
            <a:endParaRPr lang="en-US" sz="850" dirty="0"/>
          </a:p>
        </p:txBody>
      </p:sp>
      <p:sp>
        <p:nvSpPr>
          <p:cNvPr id="12" name="Text 8"/>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900" dirty="0">
                <a:solidFill>
                  <a:srgbClr val="5F717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Under the hood: a bond plus a strip of digital options</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Replication used by the Natixis desk to price and hedge (values in % of notional, at trade date)</a:t>
            </a:r>
            <a:endParaRPr lang="en-US" sz="1250" dirty="0"/>
          </a:p>
        </p:txBody>
      </p:sp>
      <p:sp>
        <p:nvSpPr>
          <p:cNvPr id="4" name="Shape 2"/>
          <p:cNvSpPr/>
          <p:nvPr/>
        </p:nvSpPr>
        <p:spPr>
          <a:xfrm>
            <a:off x="411480" y="1188720"/>
            <a:ext cx="2651760" cy="2788920"/>
          </a:xfrm>
          <a:prstGeom prst="roundRect">
            <a:avLst>
              <a:gd name="adj" fmla="val 2414"/>
            </a:avLst>
          </a:prstGeom>
          <a:solidFill>
            <a:srgbClr val="E6F2F0"/>
          </a:solidFill>
          <a:ln w="12700">
            <a:solidFill>
              <a:srgbClr val="E6F2F0"/>
            </a:solidFill>
            <a:prstDash val="solid"/>
          </a:ln>
        </p:spPr>
      </p:sp>
      <p:sp>
        <p:nvSpPr>
          <p:cNvPr id="5" name="Text 3"/>
          <p:cNvSpPr txBox="1"/>
          <p:nvPr/>
        </p:nvSpPr>
        <p:spPr>
          <a:xfrm>
            <a:off x="548640" y="1261872"/>
            <a:ext cx="2377440" cy="274320"/>
          </a:xfrm>
          <a:prstGeom prst="rect">
            <a:avLst/>
          </a:prstGeom>
          <a:noFill/>
          <a:ln/>
        </p:spPr>
        <p:txBody>
          <a:bodyPr wrap="square" lIns="0" tIns="0" rIns="0" bIns="0" rtlCol="0" anchor="t"/>
          <a:lstStyle/>
          <a:p>
            <a:pPr indent="0" marL="0">
              <a:buNone/>
            </a:pPr>
            <a:r>
              <a:rPr lang="en-US" sz="1200" b="1" dirty="0">
                <a:solidFill>
                  <a:srgbClr val="0B3C49"/>
                </a:solidFill>
                <a:latin typeface="Calibri" pitchFamily="34" charset="0"/>
                <a:ea typeface="Calibri" pitchFamily="34" charset="-122"/>
                <a:cs typeface="Calibri" pitchFamily="34" charset="-120"/>
              </a:rPr>
              <a:t>Protected principal</a:t>
            </a:r>
            <a:endParaRPr lang="en-US" sz="1200" dirty="0"/>
          </a:p>
        </p:txBody>
      </p:sp>
      <p:sp>
        <p:nvSpPr>
          <p:cNvPr id="6" name="Text 4"/>
          <p:cNvSpPr txBox="1"/>
          <p:nvPr/>
        </p:nvSpPr>
        <p:spPr>
          <a:xfrm>
            <a:off x="548640" y="1554480"/>
            <a:ext cx="2377440" cy="594360"/>
          </a:xfrm>
          <a:prstGeom prst="rect">
            <a:avLst/>
          </a:prstGeom>
          <a:noFill/>
          <a:ln/>
        </p:spPr>
        <p:txBody>
          <a:bodyPr wrap="square" lIns="0" tIns="0" rIns="0" bIns="0" rtlCol="0" anchor="t"/>
          <a:lstStyle/>
          <a:p>
            <a:pPr indent="0" marL="0">
              <a:buNone/>
            </a:pPr>
            <a:r>
              <a:rPr lang="en-US" sz="900" dirty="0">
                <a:solidFill>
                  <a:srgbClr val="5F7176"/>
                </a:solidFill>
                <a:latin typeface="Calibri" pitchFamily="34" charset="0"/>
                <a:ea typeface="Calibri" pitchFamily="34" charset="-122"/>
                <a:cs typeface="Calibri" pitchFamily="34" charset="-120"/>
              </a:rPr>
              <a:t>100% repaid at autocall or maturity. Worth 89.3%: early repayment is worth more than a 5Y bond (75.8%)</a:t>
            </a:r>
            <a:endParaRPr lang="en-US" sz="900" dirty="0"/>
          </a:p>
        </p:txBody>
      </p:sp>
      <p:graphicFrame>
        <p:nvGraphicFramePr>
          <p:cNvPr id="7" name="Chart 0" descr=""/>
          <p:cNvGraphicFramePr/>
          <p:nvPr/>
        </p:nvGraphicFramePr>
        <p:xfrm>
          <a:off x="457200" y="2148840"/>
          <a:ext cx="2560320" cy="17373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3044952" y="2697480"/>
            <a:ext cx="228600" cy="365760"/>
          </a:xfrm>
          <a:prstGeom prst="rect">
            <a:avLst/>
          </a:prstGeom>
          <a:noFill/>
          <a:ln/>
        </p:spPr>
        <p:txBody>
          <a:bodyPr wrap="square" lIns="0" tIns="0" rIns="0" bIns="0" rtlCol="0" anchor="t"/>
          <a:lstStyle/>
          <a:p>
            <a:pPr algn="ctr" indent="0" marL="0">
              <a:buNone/>
            </a:pPr>
            <a:r>
              <a:rPr lang="en-US" sz="1800" b="1" dirty="0">
                <a:solidFill>
                  <a:srgbClr val="0B3C49"/>
                </a:solidFill>
                <a:latin typeface="Calibri" pitchFamily="34" charset="0"/>
                <a:ea typeface="Calibri" pitchFamily="34" charset="-122"/>
                <a:cs typeface="Calibri" pitchFamily="34" charset="-120"/>
              </a:rPr>
              <a:t>+</a:t>
            </a:r>
            <a:endParaRPr lang="en-US" sz="1800" dirty="0"/>
          </a:p>
        </p:txBody>
      </p:sp>
      <p:sp>
        <p:nvSpPr>
          <p:cNvPr id="9" name="Shape 6"/>
          <p:cNvSpPr/>
          <p:nvPr/>
        </p:nvSpPr>
        <p:spPr>
          <a:xfrm>
            <a:off x="3246120" y="1188720"/>
            <a:ext cx="2651760" cy="2788920"/>
          </a:xfrm>
          <a:prstGeom prst="roundRect">
            <a:avLst>
              <a:gd name="adj" fmla="val 2414"/>
            </a:avLst>
          </a:prstGeom>
          <a:solidFill>
            <a:srgbClr val="E6F2F0"/>
          </a:solidFill>
          <a:ln w="12700">
            <a:solidFill>
              <a:srgbClr val="E6F2F0"/>
            </a:solidFill>
            <a:prstDash val="solid"/>
          </a:ln>
        </p:spPr>
      </p:sp>
      <p:sp>
        <p:nvSpPr>
          <p:cNvPr id="10" name="Text 7"/>
          <p:cNvSpPr txBox="1"/>
          <p:nvPr/>
        </p:nvSpPr>
        <p:spPr>
          <a:xfrm>
            <a:off x="3383280" y="1261872"/>
            <a:ext cx="2377440" cy="274320"/>
          </a:xfrm>
          <a:prstGeom prst="rect">
            <a:avLst/>
          </a:prstGeom>
          <a:noFill/>
          <a:ln/>
        </p:spPr>
        <p:txBody>
          <a:bodyPr wrap="square" lIns="0" tIns="0" rIns="0" bIns="0" rtlCol="0" anchor="t"/>
          <a:lstStyle/>
          <a:p>
            <a:pPr indent="0" marL="0">
              <a:buNone/>
            </a:pPr>
            <a:r>
              <a:rPr lang="en-US" sz="1200" b="1" dirty="0">
                <a:solidFill>
                  <a:srgbClr val="0B3C49"/>
                </a:solidFill>
                <a:latin typeface="Calibri" pitchFamily="34" charset="0"/>
                <a:ea typeface="Calibri" pitchFamily="34" charset="-122"/>
                <a:cs typeface="Calibri" pitchFamily="34" charset="-120"/>
              </a:rPr>
              <a:t>Long quarterly digitals</a:t>
            </a:r>
            <a:endParaRPr lang="en-US" sz="1200" dirty="0"/>
          </a:p>
        </p:txBody>
      </p:sp>
      <p:sp>
        <p:nvSpPr>
          <p:cNvPr id="11" name="Text 8"/>
          <p:cNvSpPr txBox="1"/>
          <p:nvPr/>
        </p:nvSpPr>
        <p:spPr>
          <a:xfrm>
            <a:off x="3383280" y="1554480"/>
            <a:ext cx="2377440" cy="594360"/>
          </a:xfrm>
          <a:prstGeom prst="rect">
            <a:avLst/>
          </a:prstGeom>
          <a:noFill/>
          <a:ln/>
        </p:spPr>
        <p:txBody>
          <a:bodyPr wrap="square" lIns="0" tIns="0" rIns="0" bIns="0" rtlCol="0" anchor="t"/>
          <a:lstStyle/>
          <a:p>
            <a:pPr indent="0" marL="0">
              <a:buNone/>
            </a:pPr>
            <a:r>
              <a:rPr lang="en-US" sz="900" dirty="0">
                <a:solidFill>
                  <a:srgbClr val="5F7176"/>
                </a:solidFill>
                <a:latin typeface="Calibri" pitchFamily="34" charset="0"/>
                <a:ea typeface="Calibri" pitchFamily="34" charset="-122"/>
                <a:cs typeface="Calibri" pitchFamily="34" charset="-120"/>
              </a:rPr>
              <a:t>Pay 1.80%, plus missed coupons, on each date the basket is ≥ 100%. Worth 7.9%</a:t>
            </a:r>
            <a:endParaRPr lang="en-US" sz="900" dirty="0"/>
          </a:p>
        </p:txBody>
      </p:sp>
      <p:graphicFrame>
        <p:nvGraphicFramePr>
          <p:cNvPr id="12" name="Chart 1" descr=""/>
          <p:cNvGraphicFramePr/>
          <p:nvPr/>
        </p:nvGraphicFramePr>
        <p:xfrm>
          <a:off x="3291840" y="2148840"/>
          <a:ext cx="2560320" cy="1737360"/>
        </p:xfrm>
        <a:graphic xmlns:a="http://schemas.openxmlformats.org/drawingml/2006/main">
          <a:graphicData uri="http://schemas.openxmlformats.org/drawingml/2006/chart">
            <c:chart xmlns:c="http://schemas.openxmlformats.org/drawingml/2006/chart" r:id="rId2"/>
          </a:graphicData>
        </a:graphic>
      </p:graphicFrame>
      <p:sp>
        <p:nvSpPr>
          <p:cNvPr id="13" name="Text 9"/>
          <p:cNvSpPr txBox="1"/>
          <p:nvPr/>
        </p:nvSpPr>
        <p:spPr>
          <a:xfrm>
            <a:off x="5879592" y="2697480"/>
            <a:ext cx="228600" cy="365760"/>
          </a:xfrm>
          <a:prstGeom prst="rect">
            <a:avLst/>
          </a:prstGeom>
          <a:noFill/>
          <a:ln/>
        </p:spPr>
        <p:txBody>
          <a:bodyPr wrap="square" lIns="0" tIns="0" rIns="0" bIns="0" rtlCol="0" anchor="t"/>
          <a:lstStyle/>
          <a:p>
            <a:pPr algn="ctr" indent="0" marL="0">
              <a:buNone/>
            </a:pPr>
            <a:r>
              <a:rPr lang="en-US" sz="1800" b="1" dirty="0">
                <a:solidFill>
                  <a:srgbClr val="0B3C49"/>
                </a:solidFill>
                <a:latin typeface="Calibri" pitchFamily="34" charset="0"/>
                <a:ea typeface="Calibri" pitchFamily="34" charset="-122"/>
                <a:cs typeface="Calibri" pitchFamily="34" charset="-120"/>
              </a:rPr>
              <a:t>−</a:t>
            </a:r>
            <a:endParaRPr lang="en-US" sz="1800" dirty="0"/>
          </a:p>
        </p:txBody>
      </p:sp>
      <p:sp>
        <p:nvSpPr>
          <p:cNvPr id="14" name="Shape 10"/>
          <p:cNvSpPr/>
          <p:nvPr/>
        </p:nvSpPr>
        <p:spPr>
          <a:xfrm>
            <a:off x="6080760" y="1188720"/>
            <a:ext cx="2651760" cy="2788920"/>
          </a:xfrm>
          <a:prstGeom prst="roundRect">
            <a:avLst>
              <a:gd name="adj" fmla="val 2414"/>
            </a:avLst>
          </a:prstGeom>
          <a:solidFill>
            <a:srgbClr val="E6F2F0"/>
          </a:solidFill>
          <a:ln w="12700">
            <a:solidFill>
              <a:srgbClr val="E6F2F0"/>
            </a:solidFill>
            <a:prstDash val="solid"/>
          </a:ln>
        </p:spPr>
      </p:sp>
      <p:sp>
        <p:nvSpPr>
          <p:cNvPr id="15" name="Text 11"/>
          <p:cNvSpPr txBox="1"/>
          <p:nvPr/>
        </p:nvSpPr>
        <p:spPr>
          <a:xfrm>
            <a:off x="6217920" y="1261872"/>
            <a:ext cx="2377440" cy="274320"/>
          </a:xfrm>
          <a:prstGeom prst="rect">
            <a:avLst/>
          </a:prstGeom>
          <a:noFill/>
          <a:ln/>
        </p:spPr>
        <p:txBody>
          <a:bodyPr wrap="square" lIns="0" tIns="0" rIns="0" bIns="0" rtlCol="0" anchor="t"/>
          <a:lstStyle/>
          <a:p>
            <a:pPr indent="0" marL="0">
              <a:buNone/>
            </a:pPr>
            <a:r>
              <a:rPr lang="en-US" sz="1200" b="1" dirty="0">
                <a:solidFill>
                  <a:srgbClr val="B8433A"/>
                </a:solidFill>
                <a:latin typeface="Calibri" pitchFamily="34" charset="0"/>
                <a:ea typeface="Calibri" pitchFamily="34" charset="-122"/>
                <a:cs typeface="Calibri" pitchFamily="34" charset="-120"/>
              </a:rPr>
              <a:t>Autocall (Natixis's side)</a:t>
            </a:r>
            <a:endParaRPr lang="en-US" sz="1200" dirty="0"/>
          </a:p>
        </p:txBody>
      </p:sp>
      <p:sp>
        <p:nvSpPr>
          <p:cNvPr id="16" name="Text 12"/>
          <p:cNvSpPr txBox="1"/>
          <p:nvPr/>
        </p:nvSpPr>
        <p:spPr>
          <a:xfrm>
            <a:off x="6217920" y="1554480"/>
            <a:ext cx="2377440" cy="594360"/>
          </a:xfrm>
          <a:prstGeom prst="rect">
            <a:avLst/>
          </a:prstGeom>
          <a:noFill/>
          <a:ln/>
        </p:spPr>
        <p:txBody>
          <a:bodyPr wrap="square" lIns="0" tIns="0" rIns="0" bIns="0" rtlCol="0" anchor="t"/>
          <a:lstStyle/>
          <a:p>
            <a:pPr indent="0" marL="0">
              <a:buNone/>
            </a:pPr>
            <a:r>
              <a:rPr lang="en-US" sz="900" dirty="0">
                <a:solidFill>
                  <a:srgbClr val="5F7176"/>
                </a:solidFill>
                <a:latin typeface="Calibri" pitchFamily="34" charset="0"/>
                <a:ea typeface="Calibri" pitchFamily="34" charset="-122"/>
                <a:cs typeface="Calibri" pitchFamily="34" charset="-120"/>
              </a:rPr>
              <a:t>Remaining coupons: cancelled on a date from Q4 with basket ≥ 100%, when the note ends. This is what keeps the coupon affordable</a:t>
            </a:r>
            <a:endParaRPr lang="en-US" sz="900" dirty="0"/>
          </a:p>
        </p:txBody>
      </p:sp>
      <p:graphicFrame>
        <p:nvGraphicFramePr>
          <p:cNvPr id="17" name="Chart 2" descr=""/>
          <p:cNvGraphicFramePr/>
          <p:nvPr/>
        </p:nvGraphicFramePr>
        <p:xfrm>
          <a:off x="6126480" y="2148840"/>
          <a:ext cx="2560320" cy="1737360"/>
        </p:xfrm>
        <a:graphic xmlns:a="http://schemas.openxmlformats.org/drawingml/2006/main">
          <a:graphicData uri="http://schemas.openxmlformats.org/drawingml/2006/chart">
            <c:chart xmlns:c="http://schemas.openxmlformats.org/drawingml/2006/chart" r:id="rId3"/>
          </a:graphicData>
        </a:graphic>
      </p:graphicFrame>
      <p:sp>
        <p:nvSpPr>
          <p:cNvPr id="18" name="Shape 13"/>
          <p:cNvSpPr/>
          <p:nvPr/>
        </p:nvSpPr>
        <p:spPr>
          <a:xfrm>
            <a:off x="411480" y="4069080"/>
            <a:ext cx="8321040" cy="640080"/>
          </a:xfrm>
          <a:prstGeom prst="roundRect">
            <a:avLst>
              <a:gd name="adj" fmla="val 10000"/>
            </a:avLst>
          </a:prstGeom>
          <a:solidFill>
            <a:srgbClr val="0B3C49"/>
          </a:solidFill>
          <a:ln w="12700">
            <a:solidFill>
              <a:srgbClr val="0B3C49"/>
            </a:solidFill>
            <a:prstDash val="solid"/>
          </a:ln>
        </p:spPr>
      </p:sp>
      <p:sp>
        <p:nvSpPr>
          <p:cNvPr id="19" name="Text 14"/>
          <p:cNvSpPr txBox="1"/>
          <p:nvPr/>
        </p:nvSpPr>
        <p:spPr>
          <a:xfrm>
            <a:off x="548640" y="4133088"/>
            <a:ext cx="8046720" cy="548640"/>
          </a:xfrm>
          <a:prstGeom prst="rect">
            <a:avLst/>
          </a:prstGeom>
          <a:noFill/>
          <a:ln/>
        </p:spPr>
        <p:txBody>
          <a:bodyPr wrap="square" lIns="0" tIns="0" rIns="0" bIns="0" rtlCol="0" anchor="ctr"/>
          <a:lstStyle/>
          <a:p>
            <a:pPr indent="0" marL="0">
              <a:buNone/>
            </a:pPr>
            <a:r>
              <a:rPr lang="en-US" sz="1000" b="1" dirty="0">
                <a:solidFill>
                  <a:srgbClr val="D9961A"/>
                </a:solidFill>
                <a:latin typeface="Calibri" pitchFamily="34" charset="0"/>
                <a:ea typeface="Calibri" pitchFamily="34" charset="-122"/>
                <a:cs typeface="Calibri" pitchFamily="34" charset="-120"/>
              </a:rPr>
              <a:t>Fair value 97.3% = principal 89.3% + coupons 7.9% (net of autocall).  </a:t>
            </a:r>
            <a:pPr indent="0" marL="0">
              <a:buNone/>
            </a:pPr>
            <a:r>
              <a:rPr lang="en-US" sz="1000" dirty="0">
                <a:solidFill>
                  <a:srgbClr val="FFFFFF"/>
                </a:solidFill>
                <a:latin typeface="Calibri" pitchFamily="34" charset="0"/>
                <a:ea typeface="Calibri" pitchFamily="34" charset="-122"/>
                <a:cs typeface="Calibri" pitchFamily="34" charset="-120"/>
              </a:rPr>
              <a:t>Issued at 100%, leaving 2.8% for hedging costs and Natixis margin. The client sells no put, so it takes no equity downside: it gives up upside above the coupon instead.</a:t>
            </a:r>
            <a:endParaRPr lang="en-US" sz="1000" dirty="0"/>
          </a:p>
        </p:txBody>
      </p:sp>
      <p:sp>
        <p:nvSpPr>
          <p:cNvPr id="20" name="Text 15"/>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900" dirty="0">
                <a:solidFill>
                  <a:srgbClr val="5F717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Scenario analysis: five paths for Asian markets</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Hypothetical quarterly basket paths and what the USD 100mn note returns in each</a:t>
            </a:r>
            <a:endParaRPr lang="en-US" sz="1250" dirty="0"/>
          </a:p>
        </p:txBody>
      </p:sp>
      <p:graphicFrame>
        <p:nvGraphicFramePr>
          <p:cNvPr id="4" name="Chart 0" descr=""/>
          <p:cNvGraphicFramePr/>
          <p:nvPr/>
        </p:nvGraphicFramePr>
        <p:xfrm>
          <a:off x="320040" y="1097280"/>
          <a:ext cx="420624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663440" y="1188720"/>
          <a:ext cx="4069080" cy="914400"/>
        </p:xfrm>
        <a:graphic>
          <a:graphicData uri="http://schemas.openxmlformats.org/drawingml/2006/table">
            <a:tbl>
              <a:tblPr/>
              <a:tblGrid>
                <a:gridCol w="1298448"/>
                <a:gridCol w="896112"/>
                <a:gridCol w="530352"/>
                <a:gridCol w="475488"/>
                <a:gridCol w="429768"/>
                <a:gridCol w="438912"/>
              </a:tblGrid>
              <a:tr h="384048">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Scenario</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Outcome</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Coupons</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USD mn</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IRR</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Basket</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r>
              <a:tr h="384048">
                <a:tc>
                  <a:txBody>
                    <a:bodyPr/>
                    <a:lstStyle/>
                    <a:p>
                      <a:pPr indent="0" marL="0">
                        <a:buNone/>
                      </a:pPr>
                      <a:r>
                        <a:rPr lang="en-US" sz="850" b="1" dirty="0">
                          <a:solidFill>
                            <a:srgbClr val="0F8B8D"/>
                          </a:solidFill>
                          <a:latin typeface="Calibri" pitchFamily="34" charset="0"/>
                          <a:ea typeface="Calibri" pitchFamily="34" charset="-122"/>
                          <a:cs typeface="Calibri" pitchFamily="34" charset="-120"/>
                        </a:rPr>
                        <a:t>AI capex boom</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Called Q4 (1y)</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7.2%</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107.2</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7.4%</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D9961A"/>
                          </a:solidFill>
                          <a:latin typeface="Calibri" pitchFamily="34" charset="0"/>
                          <a:ea typeface="Calibri" pitchFamily="34" charset="-122"/>
                          <a:cs typeface="Calibri" pitchFamily="34" charset="-120"/>
                        </a:rPr>
                        <a:t>Range-bound Asia</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Called Q6 (1.5y)</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10.8%</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110.8</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7.1%</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0B3C49"/>
                          </a:solidFill>
                          <a:latin typeface="Calibri" pitchFamily="34" charset="0"/>
                          <a:ea typeface="Calibri" pitchFamily="34" charset="-122"/>
                          <a:cs typeface="Calibri" pitchFamily="34" charset="-120"/>
                        </a:rPr>
                        <a:t>2022-style tech drawdown, slow recovery</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Called Q15 (3.75y)</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27.0%</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127.0</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6.6%</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5F7176"/>
                          </a:solidFill>
                          <a:latin typeface="Calibri" pitchFamily="34" charset="0"/>
                          <a:ea typeface="Calibri" pitchFamily="34" charset="-122"/>
                          <a:cs typeface="Calibri" pitchFamily="34" charset="-120"/>
                        </a:rPr>
                        <a:t>Lost decade (sideways below par)</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100% back at Y5</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0.0%</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0.0%</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B8433A"/>
                          </a:solidFill>
                          <a:latin typeface="Calibri" pitchFamily="34" charset="0"/>
                          <a:ea typeface="Calibri" pitchFamily="34" charset="-122"/>
                          <a:cs typeface="Calibri" pitchFamily="34" charset="-120"/>
                        </a:rPr>
                        <a:t>Geopolitical shock, no recovery</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100% back at Y5</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0.0%</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0.0%</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-45%</a:t>
                      </a:r>
                      <a:endParaRPr lang="en-US" sz="85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bl>
          </a:graphicData>
        </a:graphic>
      </p:graphicFrame>
      <p:sp>
        <p:nvSpPr>
          <p:cNvPr id="6" name="Shape 2"/>
          <p:cNvSpPr/>
          <p:nvPr/>
        </p:nvSpPr>
        <p:spPr>
          <a:xfrm>
            <a:off x="4663440" y="3611880"/>
            <a:ext cx="4069080" cy="1051560"/>
          </a:xfrm>
          <a:prstGeom prst="roundRect">
            <a:avLst>
              <a:gd name="adj" fmla="val 6087"/>
            </a:avLst>
          </a:prstGeom>
          <a:solidFill>
            <a:srgbClr val="E6F2F0"/>
          </a:solidFill>
          <a:ln w="12700">
            <a:solidFill>
              <a:srgbClr val="E6F2F0"/>
            </a:solidFill>
            <a:prstDash val="solid"/>
          </a:ln>
        </p:spPr>
      </p:sp>
      <p:sp>
        <p:nvSpPr>
          <p:cNvPr id="7" name="Text 3"/>
          <p:cNvSpPr txBox="1"/>
          <p:nvPr/>
        </p:nvSpPr>
        <p:spPr>
          <a:xfrm>
            <a:off x="4800600" y="3685032"/>
            <a:ext cx="3840480" cy="914400"/>
          </a:xfrm>
          <a:prstGeom prst="rect">
            <a:avLst/>
          </a:prstGeom>
          <a:noFill/>
          <a:ln/>
        </p:spPr>
        <p:txBody>
          <a:bodyPr wrap="square" lIns="0" tIns="0" rIns="0" bIns="0" rtlCol="0" anchor="t"/>
          <a:lstStyle/>
          <a:p>
            <a:pPr indent="0" marL="0">
              <a:buNone/>
            </a:pPr>
            <a:r>
              <a:rPr lang="en-US" sz="950" b="1" dirty="0">
                <a:solidFill>
                  <a:srgbClr val="0F8B8D"/>
                </a:solidFill>
                <a:latin typeface="Calibri" pitchFamily="34" charset="0"/>
                <a:ea typeface="Calibri" pitchFamily="34" charset="-122"/>
                <a:cs typeface="Calibri" pitchFamily="34" charset="-120"/>
              </a:rPr>
              <a:t>Reading: </a:t>
            </a:r>
            <a:pPr indent="0" marL="0">
              <a:buNone/>
            </a:pPr>
            <a:r>
              <a:rPr lang="en-US" sz="950" dirty="0">
                <a:solidFill>
                  <a:srgbClr val="1D2B30"/>
                </a:solidFill>
                <a:latin typeface="Calibri" pitchFamily="34" charset="0"/>
                <a:ea typeface="Calibri" pitchFamily="34" charset="-122"/>
                <a:cs typeface="Calibri" pitchFamily="34" charset="-120"/>
              </a:rPr>
              <a:t>the note earns ~6.6%–7.4% a year whenever the basket gets back to 100%, even after a 30% drawdown: memory pays all 15 missed coupons at Q15. In a lost decade or a lasting shock the family gets 100% back, while the basket itself is down 12–45%.</a:t>
            </a:r>
            <a:endParaRPr lang="en-US" sz="950" dirty="0"/>
          </a:p>
        </p:txBody>
      </p:sp>
      <p:sp>
        <p:nvSpPr>
          <p:cNvPr id="8" name="Text 4"/>
          <p:cNvSpPr txBox="1"/>
          <p:nvPr/>
        </p:nvSpPr>
        <p:spPr>
          <a:xfrm>
            <a:off x="457200" y="4773168"/>
            <a:ext cx="7680960" cy="274320"/>
          </a:xfrm>
          <a:prstGeom prst="rect">
            <a:avLst/>
          </a:prstGeom>
          <a:noFill/>
          <a:ln/>
        </p:spPr>
        <p:txBody>
          <a:bodyPr wrap="square" lIns="0" tIns="0" rIns="0" bIns="0" rtlCol="0" anchor="t"/>
          <a:lstStyle/>
          <a:p>
            <a:pPr indent="0" marL="0">
              <a:buNone/>
            </a:pPr>
            <a:r>
              <a:rPr lang="en-US" sz="800" i="1" dirty="0">
                <a:solidFill>
                  <a:srgbClr val="5F7176"/>
                </a:solidFill>
                <a:latin typeface="Calibri" pitchFamily="34" charset="0"/>
                <a:ea typeface="Calibri" pitchFamily="34" charset="-122"/>
                <a:cs typeface="Calibri" pitchFamily="34" charset="-120"/>
              </a:rPr>
              <a:t>Paths are illustrative and not forecasts. 'Basket' = direct basket return at Y5 when the note is not called. Historical back-test to run on Bloomberg history (appendix).</a:t>
            </a:r>
            <a:endParaRPr lang="en-US" sz="800" dirty="0"/>
          </a:p>
        </p:txBody>
      </p:sp>
      <p:sp>
        <p:nvSpPr>
          <p:cNvPr id="9" name="Text 5"/>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900" dirty="0">
                <a:solidFill>
                  <a:srgbClr val="5F717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Simulation back-test: most paths end early with full coupons</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Monte Carlo outcome distribution: risk-neutral and under three real-world equity return assumptions</a:t>
            </a:r>
            <a:endParaRPr lang="en-US" sz="1250" dirty="0"/>
          </a:p>
        </p:txBody>
      </p:sp>
      <p:graphicFrame>
        <p:nvGraphicFramePr>
          <p:cNvPr id="4" name="Chart 0" descr=""/>
          <p:cNvGraphicFramePr/>
          <p:nvPr/>
        </p:nvGraphicFramePr>
        <p:xfrm>
          <a:off x="320040" y="1097280"/>
          <a:ext cx="3566160" cy="237744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069080" y="1143000"/>
          <a:ext cx="4663440" cy="914400"/>
        </p:xfrm>
        <a:graphic>
          <a:graphicData uri="http://schemas.openxmlformats.org/drawingml/2006/table">
            <a:tbl>
              <a:tblPr/>
              <a:tblGrid>
                <a:gridCol w="1298448"/>
                <a:gridCol w="841248"/>
                <a:gridCol w="841248"/>
                <a:gridCol w="841248"/>
                <a:gridCol w="841248"/>
              </a:tblGrid>
              <a:tr h="27432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Metric</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Risk-neutral</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0% equity p.a.</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4% equity p.a.</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8% equity p.a.</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Called within 5Y</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79%</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67%</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76%</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84%</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Expected life (yrs)</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2.6</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2.3</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2.0</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Mean IRR</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5.7%</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4.9%</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5.6%</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6.1%</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Median IRR</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7.3%</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7.1%</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7.2%</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7.3%</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Avg coupons received</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8.7%</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7.6%</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8.4%</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8.9%</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Zero return (100% back)</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13%</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Capital loss</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bl>
          </a:graphicData>
        </a:graphic>
      </p:graphicFrame>
      <p:sp>
        <p:nvSpPr>
          <p:cNvPr id="6" name="Shape 2"/>
          <p:cNvSpPr/>
          <p:nvPr/>
        </p:nvSpPr>
        <p:spPr>
          <a:xfrm>
            <a:off x="411480" y="3611880"/>
            <a:ext cx="2606040" cy="1005840"/>
          </a:xfrm>
          <a:prstGeom prst="roundRect">
            <a:avLst>
              <a:gd name="adj" fmla="val 6364"/>
            </a:avLst>
          </a:prstGeom>
          <a:solidFill>
            <a:srgbClr val="E6F2F0"/>
          </a:solidFill>
          <a:ln w="12700">
            <a:solidFill>
              <a:srgbClr val="E6F2F0"/>
            </a:solidFill>
            <a:prstDash val="solid"/>
          </a:ln>
        </p:spPr>
      </p:sp>
      <p:sp>
        <p:nvSpPr>
          <p:cNvPr id="7" name="Text 3"/>
          <p:cNvSpPr txBox="1"/>
          <p:nvPr/>
        </p:nvSpPr>
        <p:spPr>
          <a:xfrm>
            <a:off x="548640" y="3675888"/>
            <a:ext cx="1051560" cy="868680"/>
          </a:xfrm>
          <a:prstGeom prst="rect">
            <a:avLst/>
          </a:prstGeom>
          <a:noFill/>
          <a:ln/>
        </p:spPr>
        <p:txBody>
          <a:bodyPr wrap="square" lIns="0" tIns="0" rIns="0" bIns="0" rtlCol="0" anchor="ctr"/>
          <a:lstStyle/>
          <a:p>
            <a:pPr indent="0" marL="0">
              <a:buNone/>
            </a:pPr>
            <a:r>
              <a:rPr lang="en-US" sz="2400" b="1" dirty="0">
                <a:solidFill>
                  <a:srgbClr val="0F8B8D"/>
                </a:solidFill>
                <a:latin typeface="Cambria" pitchFamily="34" charset="0"/>
                <a:ea typeface="Cambria" pitchFamily="34" charset="-122"/>
                <a:cs typeface="Cambria" pitchFamily="34" charset="-120"/>
              </a:rPr>
              <a:t>48%</a:t>
            </a:r>
            <a:endParaRPr lang="en-US" sz="2400" dirty="0"/>
          </a:p>
        </p:txBody>
      </p:sp>
      <p:sp>
        <p:nvSpPr>
          <p:cNvPr id="8" name="Text 4"/>
          <p:cNvSpPr txBox="1"/>
          <p:nvPr/>
        </p:nvSpPr>
        <p:spPr>
          <a:xfrm>
            <a:off x="1600200" y="3675888"/>
            <a:ext cx="1325880" cy="868680"/>
          </a:xfrm>
          <a:prstGeom prst="rect">
            <a:avLst/>
          </a:prstGeom>
          <a:noFill/>
          <a:ln/>
        </p:spPr>
        <p:txBody>
          <a:bodyPr wrap="square" lIns="0" tIns="0" rIns="0" bIns="0" rtlCol="0" anchor="ctr"/>
          <a:lstStyle/>
          <a:p>
            <a:pPr indent="0" marL="0">
              <a:buNone/>
            </a:pPr>
            <a:r>
              <a:rPr lang="en-US" sz="1000" dirty="0">
                <a:solidFill>
                  <a:srgbClr val="1D2B30"/>
                </a:solidFill>
                <a:latin typeface="Calibri" pitchFamily="34" charset="0"/>
                <a:ea typeface="Calibri" pitchFamily="34" charset="-122"/>
                <a:cs typeface="Calibri" pitchFamily="34" charset="-120"/>
              </a:rPr>
              <a:t>called at the first review (107.2% total)</a:t>
            </a:r>
            <a:endParaRPr lang="en-US" sz="1000" dirty="0"/>
          </a:p>
        </p:txBody>
      </p:sp>
      <p:sp>
        <p:nvSpPr>
          <p:cNvPr id="9" name="Shape 5"/>
          <p:cNvSpPr/>
          <p:nvPr/>
        </p:nvSpPr>
        <p:spPr>
          <a:xfrm>
            <a:off x="3200400" y="3611880"/>
            <a:ext cx="2606040" cy="1005840"/>
          </a:xfrm>
          <a:prstGeom prst="roundRect">
            <a:avLst>
              <a:gd name="adj" fmla="val 6364"/>
            </a:avLst>
          </a:prstGeom>
          <a:solidFill>
            <a:srgbClr val="E6F2F0"/>
          </a:solidFill>
          <a:ln w="12700">
            <a:solidFill>
              <a:srgbClr val="E6F2F0"/>
            </a:solidFill>
            <a:prstDash val="solid"/>
          </a:ln>
        </p:spPr>
      </p:sp>
      <p:sp>
        <p:nvSpPr>
          <p:cNvPr id="10" name="Text 6"/>
          <p:cNvSpPr txBox="1"/>
          <p:nvPr/>
        </p:nvSpPr>
        <p:spPr>
          <a:xfrm>
            <a:off x="3337560" y="3675888"/>
            <a:ext cx="1051560" cy="868680"/>
          </a:xfrm>
          <a:prstGeom prst="rect">
            <a:avLst/>
          </a:prstGeom>
          <a:noFill/>
          <a:ln/>
        </p:spPr>
        <p:txBody>
          <a:bodyPr wrap="square" lIns="0" tIns="0" rIns="0" bIns="0" rtlCol="0" anchor="ctr"/>
          <a:lstStyle/>
          <a:p>
            <a:pPr indent="0" marL="0">
              <a:buNone/>
            </a:pPr>
            <a:r>
              <a:rPr lang="en-US" sz="2400" b="1" dirty="0">
                <a:solidFill>
                  <a:srgbClr val="0F8B8D"/>
                </a:solidFill>
                <a:latin typeface="Cambria" pitchFamily="34" charset="0"/>
                <a:ea typeface="Cambria" pitchFamily="34" charset="-122"/>
                <a:cs typeface="Cambria" pitchFamily="34" charset="-120"/>
              </a:rPr>
              <a:t>0%</a:t>
            </a:r>
            <a:endParaRPr lang="en-US" sz="2400" dirty="0"/>
          </a:p>
        </p:txBody>
      </p:sp>
      <p:sp>
        <p:nvSpPr>
          <p:cNvPr id="11" name="Text 7"/>
          <p:cNvSpPr txBox="1"/>
          <p:nvPr/>
        </p:nvSpPr>
        <p:spPr>
          <a:xfrm>
            <a:off x="4389120" y="3675888"/>
            <a:ext cx="1325880" cy="868680"/>
          </a:xfrm>
          <a:prstGeom prst="rect">
            <a:avLst/>
          </a:prstGeom>
          <a:noFill/>
          <a:ln/>
        </p:spPr>
        <p:txBody>
          <a:bodyPr wrap="square" lIns="0" tIns="0" rIns="0" bIns="0" rtlCol="0" anchor="ctr"/>
          <a:lstStyle/>
          <a:p>
            <a:pPr indent="0" marL="0">
              <a:buNone/>
            </a:pPr>
            <a:r>
              <a:rPr lang="en-US" sz="1000" dirty="0">
                <a:solidFill>
                  <a:srgbClr val="1D2B30"/>
                </a:solidFill>
                <a:latin typeface="Calibri" pitchFamily="34" charset="0"/>
                <a:ea typeface="Calibri" pitchFamily="34" charset="-122"/>
                <a:cs typeface="Calibri" pitchFamily="34" charset="-120"/>
              </a:rPr>
              <a:t>chance of losing capital at maturity</a:t>
            </a:r>
            <a:endParaRPr lang="en-US" sz="1000" dirty="0"/>
          </a:p>
        </p:txBody>
      </p:sp>
      <p:sp>
        <p:nvSpPr>
          <p:cNvPr id="12" name="Shape 8"/>
          <p:cNvSpPr/>
          <p:nvPr/>
        </p:nvSpPr>
        <p:spPr>
          <a:xfrm>
            <a:off x="5989320" y="3611880"/>
            <a:ext cx="2606040" cy="1005840"/>
          </a:xfrm>
          <a:prstGeom prst="roundRect">
            <a:avLst>
              <a:gd name="adj" fmla="val 6364"/>
            </a:avLst>
          </a:prstGeom>
          <a:solidFill>
            <a:srgbClr val="0B3C49"/>
          </a:solidFill>
          <a:ln w="12700">
            <a:solidFill>
              <a:srgbClr val="0B3C49"/>
            </a:solidFill>
            <a:prstDash val="solid"/>
          </a:ln>
        </p:spPr>
      </p:sp>
      <p:sp>
        <p:nvSpPr>
          <p:cNvPr id="13" name="Text 9"/>
          <p:cNvSpPr txBox="1"/>
          <p:nvPr/>
        </p:nvSpPr>
        <p:spPr>
          <a:xfrm>
            <a:off x="6126480" y="3675888"/>
            <a:ext cx="1051560" cy="868680"/>
          </a:xfrm>
          <a:prstGeom prst="rect">
            <a:avLst/>
          </a:prstGeom>
          <a:noFill/>
          <a:ln/>
        </p:spPr>
        <p:txBody>
          <a:bodyPr wrap="square" lIns="0" tIns="0" rIns="0" bIns="0" rtlCol="0" anchor="ctr"/>
          <a:lstStyle/>
          <a:p>
            <a:pPr indent="0" marL="0">
              <a:buNone/>
            </a:pPr>
            <a:r>
              <a:rPr lang="en-US" sz="2400" b="1" dirty="0">
                <a:solidFill>
                  <a:srgbClr val="D9961A"/>
                </a:solidFill>
                <a:latin typeface="Cambria" pitchFamily="34" charset="0"/>
                <a:ea typeface="Cambria" pitchFamily="34" charset="-122"/>
                <a:cs typeface="Cambria" pitchFamily="34" charset="-120"/>
              </a:rPr>
              <a:t>13%</a:t>
            </a:r>
            <a:endParaRPr lang="en-US" sz="2400" dirty="0"/>
          </a:p>
        </p:txBody>
      </p:sp>
      <p:sp>
        <p:nvSpPr>
          <p:cNvPr id="14" name="Text 10"/>
          <p:cNvSpPr txBox="1"/>
          <p:nvPr/>
        </p:nvSpPr>
        <p:spPr>
          <a:xfrm>
            <a:off x="7178040" y="3675888"/>
            <a:ext cx="1325880" cy="86868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of paths earn nothing: 100% back after 5 years</a:t>
            </a:r>
            <a:endParaRPr lang="en-US" sz="1000" dirty="0"/>
          </a:p>
        </p:txBody>
      </p:sp>
      <p:sp>
        <p:nvSpPr>
          <p:cNvPr id="15" name="Text 11"/>
          <p:cNvSpPr txBox="1"/>
          <p:nvPr/>
        </p:nvSpPr>
        <p:spPr>
          <a:xfrm>
            <a:off x="457200" y="4773168"/>
            <a:ext cx="7680960" cy="274320"/>
          </a:xfrm>
          <a:prstGeom prst="rect">
            <a:avLst/>
          </a:prstGeom>
          <a:noFill/>
          <a:ln/>
        </p:spPr>
        <p:txBody>
          <a:bodyPr wrap="square" lIns="0" tIns="0" rIns="0" bIns="0" rtlCol="0" anchor="t"/>
          <a:lstStyle/>
          <a:p>
            <a:pPr indent="0" marL="0">
              <a:buNone/>
            </a:pPr>
            <a:r>
              <a:rPr lang="en-US" sz="800" i="1" dirty="0">
                <a:solidFill>
                  <a:srgbClr val="5F7176"/>
                </a:solidFill>
                <a:latin typeface="Calibri" pitchFamily="34" charset="0"/>
                <a:ea typeface="Calibri" pitchFamily="34" charset="-122"/>
                <a:cs typeface="Calibri" pitchFamily="34" charset="-120"/>
              </a:rPr>
              <a:t>Monte Carlo, 200k paths. Vols, dividends and correlations are assumptions to refresh with Bloomberg data as of the 17 Sep 2026 trade date; discounting uses the USD funding grid. IRR uses actual quarterly coupon dates.</a:t>
            </a:r>
            <a:endParaRPr lang="en-US" sz="800" dirty="0"/>
          </a:p>
        </p:txBody>
      </p:sp>
      <p:sp>
        <p:nvSpPr>
          <p:cNvPr id="16" name="Text 12"/>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900" dirty="0">
                <a:solidFill>
                  <a:srgbClr val="5F717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Risks for the family, and how Natixis hedges its side</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Transparent disclosure plus a desk hedging plan for every exposure</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4937760" cy="914400"/>
        </p:xfrm>
        <a:graphic>
          <a:graphicData uri="http://schemas.openxmlformats.org/drawingml/2006/table">
            <a:tbl>
              <a:tblPr/>
              <a:tblGrid>
                <a:gridCol w="1051560"/>
                <a:gridCol w="1965960"/>
                <a:gridCol w="1920240"/>
              </a:tblGrid>
              <a:tr h="246888">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Risk</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What could happen</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Mitigant</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r>
              <a:tr h="512064">
                <a:tc>
                  <a:txBody>
                    <a:bodyPr/>
                    <a:lstStyle/>
                    <a:p>
                      <a:pPr indent="0" marL="0">
                        <a:buNone/>
                      </a:pPr>
                      <a:r>
                        <a:rPr lang="en-US" sz="850" b="1" dirty="0">
                          <a:solidFill>
                            <a:srgbClr val="0B3C49"/>
                          </a:solidFill>
                          <a:latin typeface="Calibri" pitchFamily="34" charset="0"/>
                          <a:ea typeface="Calibri" pitchFamily="34" charset="-122"/>
                          <a:cs typeface="Calibri" pitchFamily="34" charset="-120"/>
                        </a:rPr>
                        <a:t>Opportunity cost</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Basket never back to 100%: 0% for 5 years (~13% of paths)</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Coupon above the funding rate in most paths; only 5% of wealth</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457200">
                <a:tc>
                  <a:txBody>
                    <a:bodyPr/>
                    <a:lstStyle/>
                    <a:p>
                      <a:pPr indent="0" marL="0">
                        <a:buNone/>
                      </a:pPr>
                      <a:r>
                        <a:rPr lang="en-US" sz="850" b="1" dirty="0">
                          <a:solidFill>
                            <a:srgbClr val="0B3C49"/>
                          </a:solidFill>
                          <a:latin typeface="Calibri" pitchFamily="34" charset="0"/>
                          <a:ea typeface="Calibri" pitchFamily="34" charset="-122"/>
                          <a:cs typeface="Calibri" pitchFamily="34" charset="-120"/>
                        </a:rPr>
                        <a:t>Capped upside</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Basket +80% still pays 7.20% p.a. and is called at Y1</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Rest of family wealth keeps direct equity exposure</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457200">
                <a:tc>
                  <a:txBody>
                    <a:bodyPr/>
                    <a:lstStyle/>
                    <a:p>
                      <a:pPr indent="0" marL="0">
                        <a:buNone/>
                      </a:pPr>
                      <a:r>
                        <a:rPr lang="en-US" sz="850" b="1" dirty="0">
                          <a:solidFill>
                            <a:srgbClr val="0B3C49"/>
                          </a:solidFill>
                          <a:latin typeface="Calibri" pitchFamily="34" charset="0"/>
                          <a:ea typeface="Calibri" pitchFamily="34" charset="-122"/>
                          <a:cs typeface="Calibri" pitchFamily="34" charset="-120"/>
                        </a:rPr>
                        <a:t>ETF structure</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00878 pays ~7.6% a year out, lowering its price path; 3119 trading is thin; ETF tracking error</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00878 capped at 20%; verify volumes; Natixis can reference total-return versions</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457200">
                <a:tc>
                  <a:txBody>
                    <a:bodyPr/>
                    <a:lstStyle/>
                    <a:p>
                      <a:pPr indent="0" marL="0">
                        <a:buNone/>
                      </a:pPr>
                      <a:r>
                        <a:rPr lang="en-US" sz="850" b="1" dirty="0">
                          <a:solidFill>
                            <a:srgbClr val="0B3C49"/>
                          </a:solidFill>
                          <a:latin typeface="Calibri" pitchFamily="34" charset="0"/>
                          <a:ea typeface="Calibri" pitchFamily="34" charset="-122"/>
                          <a:cs typeface="Calibri" pitchFamily="34" charset="-120"/>
                        </a:rPr>
                        <a:t>Issuer credit</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Protection depends on Natixis / BPCE paying</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BPCE senior rating; optional collateralised wrapper</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512064">
                <a:tc>
                  <a:txBody>
                    <a:bodyPr/>
                    <a:lstStyle/>
                    <a:p>
                      <a:pPr indent="0" marL="0">
                        <a:buNone/>
                      </a:pPr>
                      <a:r>
                        <a:rPr lang="en-US" sz="850" b="1" dirty="0">
                          <a:solidFill>
                            <a:srgbClr val="0B3C49"/>
                          </a:solidFill>
                          <a:latin typeface="Calibri" pitchFamily="34" charset="0"/>
                          <a:ea typeface="Calibri" pitchFamily="34" charset="-122"/>
                          <a:cs typeface="Calibri" pitchFamily="34" charset="-120"/>
                        </a:rPr>
                        <a:t>Liquidity / MTM</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Sold before maturity, the price can be below 100%</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850" dirty="0">
                          <a:solidFill>
                            <a:srgbClr val="1D2B30"/>
                          </a:solidFill>
                          <a:latin typeface="Calibri" pitchFamily="34" charset="0"/>
                          <a:ea typeface="Calibri" pitchFamily="34" charset="-122"/>
                          <a:cs typeface="Calibri" pitchFamily="34" charset="-120"/>
                        </a:rPr>
                        <a:t>Natixis daily indicative price; hold to call or maturity</a:t>
                      </a:r>
                      <a:endParaRPr lang="en-US" sz="85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bl>
          </a:graphicData>
        </a:graphic>
      </p:graphicFrame>
      <p:sp>
        <p:nvSpPr>
          <p:cNvPr id="5" name="Shape 2"/>
          <p:cNvSpPr/>
          <p:nvPr/>
        </p:nvSpPr>
        <p:spPr>
          <a:xfrm>
            <a:off x="5532120" y="1143000"/>
            <a:ext cx="3200400" cy="795528"/>
          </a:xfrm>
          <a:prstGeom prst="roundRect">
            <a:avLst>
              <a:gd name="adj" fmla="val 8046"/>
            </a:avLst>
          </a:prstGeom>
          <a:solidFill>
            <a:srgbClr val="F2F7F6"/>
          </a:solidFill>
          <a:ln w="12700">
            <a:solidFill>
              <a:srgbClr val="F2F7F6"/>
            </a:solidFill>
            <a:prstDash val="solid"/>
          </a:ln>
        </p:spPr>
      </p:sp>
      <p:sp>
        <p:nvSpPr>
          <p:cNvPr id="6" name="Text 3"/>
          <p:cNvSpPr txBox="1"/>
          <p:nvPr/>
        </p:nvSpPr>
        <p:spPr>
          <a:xfrm>
            <a:off x="5650992" y="1207008"/>
            <a:ext cx="2971800" cy="228600"/>
          </a:xfrm>
          <a:prstGeom prst="rect">
            <a:avLst/>
          </a:prstGeom>
          <a:noFill/>
          <a:ln/>
        </p:spPr>
        <p:txBody>
          <a:bodyPr wrap="square" lIns="0" tIns="0" rIns="0" bIns="0" rtlCol="0" anchor="t"/>
          <a:lstStyle/>
          <a:p>
            <a:pPr indent="0" marL="0">
              <a:buNone/>
            </a:pPr>
            <a:r>
              <a:rPr lang="en-US" sz="1050" b="1" dirty="0">
                <a:solidFill>
                  <a:srgbClr val="0F8B8D"/>
                </a:solidFill>
                <a:latin typeface="Calibri" pitchFamily="34" charset="0"/>
                <a:ea typeface="Calibri" pitchFamily="34" charset="-122"/>
                <a:cs typeface="Calibri" pitchFamily="34" charset="-120"/>
              </a:rPr>
              <a:t>Coupon digitals</a:t>
            </a:r>
            <a:endParaRPr lang="en-US" sz="1050" dirty="0"/>
          </a:p>
        </p:txBody>
      </p:sp>
      <p:sp>
        <p:nvSpPr>
          <p:cNvPr id="7" name="Text 4"/>
          <p:cNvSpPr txBox="1"/>
          <p:nvPr/>
        </p:nvSpPr>
        <p:spPr>
          <a:xfrm>
            <a:off x="5650992" y="1435608"/>
            <a:ext cx="2971800" cy="475488"/>
          </a:xfrm>
          <a:prstGeom prst="rect">
            <a:avLst/>
          </a:prstGeom>
          <a:noFill/>
          <a:ln/>
        </p:spPr>
        <p:txBody>
          <a:bodyPr wrap="square" lIns="0" tIns="0" rIns="0" bIns="0" rtlCol="0" anchor="t"/>
          <a:lstStyle/>
          <a:p>
            <a:pPr indent="0" marL="0">
              <a:buNone/>
            </a:pPr>
            <a:r>
              <a:rPr lang="en-US" sz="850" dirty="0">
                <a:solidFill>
                  <a:srgbClr val="1D2B30"/>
                </a:solidFill>
                <a:latin typeface="Calibri" pitchFamily="34" charset="0"/>
                <a:ea typeface="Calibri" pitchFamily="34" charset="-122"/>
                <a:cs typeface="Calibri" pitchFamily="34" charset="-120"/>
              </a:rPr>
              <a:t>Natixis owes basket digitals struck at 100%: replicated with tight basket call spreads, delta-hedged with ETF units, constituent stocks and index futures as proxies; listed options on EWY/EWT</a:t>
            </a:r>
            <a:endParaRPr lang="en-US" sz="850" dirty="0"/>
          </a:p>
        </p:txBody>
      </p:sp>
      <p:sp>
        <p:nvSpPr>
          <p:cNvPr id="8" name="Shape 5"/>
          <p:cNvSpPr/>
          <p:nvPr/>
        </p:nvSpPr>
        <p:spPr>
          <a:xfrm>
            <a:off x="5532120" y="2029968"/>
            <a:ext cx="3200400" cy="795528"/>
          </a:xfrm>
          <a:prstGeom prst="roundRect">
            <a:avLst>
              <a:gd name="adj" fmla="val 8046"/>
            </a:avLst>
          </a:prstGeom>
          <a:solidFill>
            <a:srgbClr val="E6F2F0"/>
          </a:solidFill>
          <a:ln w="12700">
            <a:solidFill>
              <a:srgbClr val="E6F2F0"/>
            </a:solidFill>
            <a:prstDash val="solid"/>
          </a:ln>
        </p:spPr>
      </p:sp>
      <p:sp>
        <p:nvSpPr>
          <p:cNvPr id="9" name="Text 6"/>
          <p:cNvSpPr txBox="1"/>
          <p:nvPr/>
        </p:nvSpPr>
        <p:spPr>
          <a:xfrm>
            <a:off x="5650992" y="2093976"/>
            <a:ext cx="2971800" cy="228600"/>
          </a:xfrm>
          <a:prstGeom prst="rect">
            <a:avLst/>
          </a:prstGeom>
          <a:noFill/>
          <a:ln/>
        </p:spPr>
        <p:txBody>
          <a:bodyPr wrap="square" lIns="0" tIns="0" rIns="0" bIns="0" rtlCol="0" anchor="t"/>
          <a:lstStyle/>
          <a:p>
            <a:pPr indent="0" marL="0">
              <a:buNone/>
            </a:pPr>
            <a:r>
              <a:rPr lang="en-US" sz="1050" b="1" dirty="0">
                <a:solidFill>
                  <a:srgbClr val="0F8B8D"/>
                </a:solidFill>
                <a:latin typeface="Calibri" pitchFamily="34" charset="0"/>
                <a:ea typeface="Calibri" pitchFamily="34" charset="-122"/>
                <a:cs typeface="Calibri" pitchFamily="34" charset="-120"/>
              </a:rPr>
              <a:t>Vol &amp; correlation</a:t>
            </a:r>
            <a:endParaRPr lang="en-US" sz="1050" dirty="0"/>
          </a:p>
        </p:txBody>
      </p:sp>
      <p:sp>
        <p:nvSpPr>
          <p:cNvPr id="10" name="Text 7"/>
          <p:cNvSpPr txBox="1"/>
          <p:nvPr/>
        </p:nvSpPr>
        <p:spPr>
          <a:xfrm>
            <a:off x="5650992" y="2322576"/>
            <a:ext cx="2971800" cy="475488"/>
          </a:xfrm>
          <a:prstGeom prst="rect">
            <a:avLst/>
          </a:prstGeom>
          <a:noFill/>
          <a:ln/>
        </p:spPr>
        <p:txBody>
          <a:bodyPr wrap="square" lIns="0" tIns="0" rIns="0" bIns="0" rtlCol="0" anchor="t"/>
          <a:lstStyle/>
          <a:p>
            <a:pPr indent="0" marL="0">
              <a:buNone/>
            </a:pPr>
            <a:r>
              <a:rPr lang="en-US" sz="850" dirty="0">
                <a:solidFill>
                  <a:srgbClr val="1D2B30"/>
                </a:solidFill>
                <a:latin typeface="Calibri" pitchFamily="34" charset="0"/>
                <a:ea typeface="Calibri" pitchFamily="34" charset="-122"/>
                <a:cs typeface="Calibri" pitchFamily="34" charset="-120"/>
              </a:rPr>
              <a:t>Coupon value moves with basket vol and correlation (fair 7.6%–8.2% for vol ±3pts): managed with listed index options and correlation trades</a:t>
            </a:r>
            <a:endParaRPr lang="en-US" sz="850" dirty="0"/>
          </a:p>
        </p:txBody>
      </p:sp>
      <p:sp>
        <p:nvSpPr>
          <p:cNvPr id="11" name="Shape 8"/>
          <p:cNvSpPr/>
          <p:nvPr/>
        </p:nvSpPr>
        <p:spPr>
          <a:xfrm>
            <a:off x="5532120" y="2916936"/>
            <a:ext cx="3200400" cy="795528"/>
          </a:xfrm>
          <a:prstGeom prst="roundRect">
            <a:avLst>
              <a:gd name="adj" fmla="val 8046"/>
            </a:avLst>
          </a:prstGeom>
          <a:solidFill>
            <a:srgbClr val="F2F7F6"/>
          </a:solidFill>
          <a:ln w="12700">
            <a:solidFill>
              <a:srgbClr val="F2F7F6"/>
            </a:solidFill>
            <a:prstDash val="solid"/>
          </a:ln>
        </p:spPr>
      </p:sp>
      <p:sp>
        <p:nvSpPr>
          <p:cNvPr id="12" name="Text 9"/>
          <p:cNvSpPr txBox="1"/>
          <p:nvPr/>
        </p:nvSpPr>
        <p:spPr>
          <a:xfrm>
            <a:off x="5650992" y="2980944"/>
            <a:ext cx="2971800" cy="228600"/>
          </a:xfrm>
          <a:prstGeom prst="rect">
            <a:avLst/>
          </a:prstGeom>
          <a:noFill/>
          <a:ln/>
        </p:spPr>
        <p:txBody>
          <a:bodyPr wrap="square" lIns="0" tIns="0" rIns="0" bIns="0" rtlCol="0" anchor="t"/>
          <a:lstStyle/>
          <a:p>
            <a:pPr indent="0" marL="0">
              <a:buNone/>
            </a:pPr>
            <a:r>
              <a:rPr lang="en-US" sz="1050" b="1" dirty="0">
                <a:solidFill>
                  <a:srgbClr val="0F8B8D"/>
                </a:solidFill>
                <a:latin typeface="Calibri" pitchFamily="34" charset="0"/>
                <a:ea typeface="Calibri" pitchFamily="34" charset="-122"/>
                <a:cs typeface="Calibri" pitchFamily="34" charset="-120"/>
              </a:rPr>
              <a:t>Quanto FX</a:t>
            </a:r>
            <a:endParaRPr lang="en-US" sz="1050" dirty="0"/>
          </a:p>
        </p:txBody>
      </p:sp>
      <p:sp>
        <p:nvSpPr>
          <p:cNvPr id="13" name="Text 10"/>
          <p:cNvSpPr txBox="1"/>
          <p:nvPr/>
        </p:nvSpPr>
        <p:spPr>
          <a:xfrm>
            <a:off x="5650992" y="3209544"/>
            <a:ext cx="2971800" cy="475488"/>
          </a:xfrm>
          <a:prstGeom prst="rect">
            <a:avLst/>
          </a:prstGeom>
          <a:noFill/>
          <a:ln/>
        </p:spPr>
        <p:txBody>
          <a:bodyPr wrap="square" lIns="0" tIns="0" rIns="0" bIns="0" rtlCol="0" anchor="t"/>
          <a:lstStyle/>
          <a:p>
            <a:pPr indent="0" marL="0">
              <a:buNone/>
            </a:pPr>
            <a:r>
              <a:rPr lang="en-US" sz="850" dirty="0">
                <a:solidFill>
                  <a:srgbClr val="1D2B30"/>
                </a:solidFill>
                <a:latin typeface="Calibri" pitchFamily="34" charset="0"/>
                <a:ea typeface="Calibri" pitchFamily="34" charset="-122"/>
                <a:cs typeface="Calibri" pitchFamily="34" charset="-120"/>
              </a:rPr>
              <a:t>EWT and EWY already trade in USD; 3119 (HKD, pegged), 2644 (JPY) and 00878 (TWD) need FX forwards and a quanto adjustment</a:t>
            </a:r>
            <a:endParaRPr lang="en-US" sz="850" dirty="0"/>
          </a:p>
        </p:txBody>
      </p:sp>
      <p:sp>
        <p:nvSpPr>
          <p:cNvPr id="14" name="Shape 11"/>
          <p:cNvSpPr/>
          <p:nvPr/>
        </p:nvSpPr>
        <p:spPr>
          <a:xfrm>
            <a:off x="5532120" y="3803904"/>
            <a:ext cx="3200400" cy="795528"/>
          </a:xfrm>
          <a:prstGeom prst="roundRect">
            <a:avLst>
              <a:gd name="adj" fmla="val 8046"/>
            </a:avLst>
          </a:prstGeom>
          <a:solidFill>
            <a:srgbClr val="E6F2F0"/>
          </a:solidFill>
          <a:ln w="12700">
            <a:solidFill>
              <a:srgbClr val="E6F2F0"/>
            </a:solidFill>
            <a:prstDash val="solid"/>
          </a:ln>
        </p:spPr>
      </p:sp>
      <p:sp>
        <p:nvSpPr>
          <p:cNvPr id="15" name="Text 12"/>
          <p:cNvSpPr txBox="1"/>
          <p:nvPr/>
        </p:nvSpPr>
        <p:spPr>
          <a:xfrm>
            <a:off x="5650992" y="3867912"/>
            <a:ext cx="2971800" cy="228600"/>
          </a:xfrm>
          <a:prstGeom prst="rect">
            <a:avLst/>
          </a:prstGeom>
          <a:noFill/>
          <a:ln/>
        </p:spPr>
        <p:txBody>
          <a:bodyPr wrap="square" lIns="0" tIns="0" rIns="0" bIns="0" rtlCol="0" anchor="t"/>
          <a:lstStyle/>
          <a:p>
            <a:pPr indent="0" marL="0">
              <a:buNone/>
            </a:pPr>
            <a:r>
              <a:rPr lang="en-US" sz="1050" b="1" dirty="0">
                <a:solidFill>
                  <a:srgbClr val="0F8B8D"/>
                </a:solidFill>
                <a:latin typeface="Calibri" pitchFamily="34" charset="0"/>
                <a:ea typeface="Calibri" pitchFamily="34" charset="-122"/>
                <a:cs typeface="Calibri" pitchFamily="34" charset="-120"/>
              </a:rPr>
              <a:t>Rates &amp; funding</a:t>
            </a:r>
            <a:endParaRPr lang="en-US" sz="1050" dirty="0"/>
          </a:p>
        </p:txBody>
      </p:sp>
      <p:sp>
        <p:nvSpPr>
          <p:cNvPr id="16" name="Text 13"/>
          <p:cNvSpPr txBox="1"/>
          <p:nvPr/>
        </p:nvSpPr>
        <p:spPr>
          <a:xfrm>
            <a:off x="5650992" y="4096512"/>
            <a:ext cx="2971800" cy="475488"/>
          </a:xfrm>
          <a:prstGeom prst="rect">
            <a:avLst/>
          </a:prstGeom>
          <a:noFill/>
          <a:ln/>
        </p:spPr>
        <p:txBody>
          <a:bodyPr wrap="square" lIns="0" tIns="0" rIns="0" bIns="0" rtlCol="0" anchor="t"/>
          <a:lstStyle/>
          <a:p>
            <a:pPr indent="0" marL="0">
              <a:buNone/>
            </a:pPr>
            <a:r>
              <a:rPr lang="en-US" sz="850" dirty="0">
                <a:solidFill>
                  <a:srgbClr val="1D2B30"/>
                </a:solidFill>
                <a:latin typeface="Calibri" pitchFamily="34" charset="0"/>
                <a:ea typeface="Calibri" pitchFamily="34" charset="-122"/>
                <a:cs typeface="Calibri" pitchFamily="34" charset="-120"/>
              </a:rPr>
              <a:t>Protected principal funded at the 5.69% curve and hedged with USD swaps; the autocall shortens the liability</a:t>
            </a:r>
            <a:endParaRPr lang="en-US" sz="850" dirty="0"/>
          </a:p>
        </p:txBody>
      </p:sp>
      <p:sp>
        <p:nvSpPr>
          <p:cNvPr id="17" name="Text 14"/>
          <p:cNvSpPr txBox="1"/>
          <p:nvPr/>
        </p:nvSpPr>
        <p:spPr>
          <a:xfrm>
            <a:off x="411480" y="4069080"/>
            <a:ext cx="4937760" cy="640080"/>
          </a:xfrm>
          <a:prstGeom prst="rect">
            <a:avLst/>
          </a:prstGeom>
          <a:noFill/>
          <a:ln/>
        </p:spPr>
        <p:txBody>
          <a:bodyPr wrap="square" lIns="0" tIns="0" rIns="0" bIns="0" rtlCol="0" anchor="t"/>
          <a:lstStyle/>
          <a:p>
            <a:pPr indent="0" marL="0">
              <a:buNone/>
            </a:pPr>
            <a:r>
              <a:rPr lang="en-US" sz="900" b="1" dirty="0">
                <a:solidFill>
                  <a:srgbClr val="0B3C49"/>
                </a:solidFill>
                <a:latin typeface="Calibri" pitchFamily="34" charset="0"/>
                <a:ea typeface="Calibri" pitchFamily="34" charset="-122"/>
                <a:cs typeface="Calibri" pitchFamily="34" charset="-120"/>
              </a:rPr>
              <a:t>Pricing sensitivity (fair coupon): </a:t>
            </a:r>
            <a:pPr indent="0" marL="0">
              <a:buNone/>
            </a:pPr>
            <a:r>
              <a:rPr lang="en-US" sz="900" dirty="0">
                <a:solidFill>
                  <a:srgbClr val="1D2B30"/>
                </a:solidFill>
                <a:latin typeface="Calibri" pitchFamily="34" charset="0"/>
                <a:ea typeface="Calibri" pitchFamily="34" charset="-122"/>
                <a:cs typeface="Calibri" pitchFamily="34" charset="-120"/>
              </a:rPr>
              <a:t>base 7.9% · vol ±3pts 7.6%–8.2% · corr ±0.15 7.7%–8.1% · equity drift −1/−2% 8.4%–9.0%. The 7.20% offer stays fundable in every case.</a:t>
            </a:r>
            <a:endParaRPr lang="en-US" sz="900" dirty="0"/>
          </a:p>
        </p:txBody>
      </p:sp>
      <p:sp>
        <p:nvSpPr>
          <p:cNvPr id="18" name="Text 15"/>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900" dirty="0">
                <a:solidFill>
                  <a:srgbClr val="5F717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Appendix A: pricing assumptions and methodology</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Inputs to refresh on Bloomberg at trade date (BVOL / OVDV for vols, CORR for correlations)</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4754880" cy="914400"/>
        </p:xfrm>
        <a:graphic>
          <a:graphicData uri="http://schemas.openxmlformats.org/drawingml/2006/table">
            <a:tbl>
              <a:tblPr/>
              <a:tblGrid>
                <a:gridCol w="822960"/>
                <a:gridCol w="566928"/>
                <a:gridCol w="475488"/>
                <a:gridCol w="475488"/>
                <a:gridCol w="482803"/>
                <a:gridCol w="482803"/>
                <a:gridCol w="482803"/>
                <a:gridCol w="482803"/>
                <a:gridCol w="482803"/>
              </a:tblGrid>
              <a:tr h="27432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ETF</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Weight</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Vol</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Div</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3119 HK</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2644 JP</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EWT US</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EWY US</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00878 TT</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3119 HK</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32%</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0.70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0.85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0.80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0.60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2644 JP</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38%</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0.8%</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0.70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0.60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0.55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0.45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EWT US</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26%</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2.6%</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0.85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0.60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0.70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0.75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EWY US</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30%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1.2%</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0.80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0.55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0.70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0.55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74320">
                <a:tc>
                  <a:txBody>
                    <a:bodyPr/>
                    <a:lstStyle/>
                    <a:p>
                      <a:pPr algn="ctr" indent="0" marL="0">
                        <a:buNone/>
                      </a:pPr>
                      <a:r>
                        <a:rPr lang="en-US" sz="900" b="1" dirty="0">
                          <a:solidFill>
                            <a:srgbClr val="1D2B30"/>
                          </a:solidFill>
                          <a:latin typeface="Calibri" pitchFamily="34" charset="0"/>
                          <a:ea typeface="Calibri" pitchFamily="34" charset="-122"/>
                          <a:cs typeface="Calibri" pitchFamily="34" charset="-120"/>
                        </a:rPr>
                        <a:t>00878 TT</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20%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18%</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7.6%</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0.60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0.45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0.75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0.55</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D2B30"/>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38100" marR="381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11480" y="2971800"/>
            <a:ext cx="4754880" cy="1828800"/>
          </a:xfrm>
          <a:prstGeom prst="rect">
            <a:avLst/>
          </a:prstGeom>
          <a:noFill/>
          <a:ln/>
        </p:spPr>
        <p:txBody>
          <a:bodyPr wrap="square" lIns="0" tIns="0" rIns="0" bIns="0" rtlCol="0" anchor="t"/>
          <a:lstStyle/>
          <a:p>
            <a:pPr indent="0" marL="0">
              <a:spcAft>
                <a:spcPts val="300"/>
              </a:spcAft>
              <a:buNone/>
            </a:pPr>
            <a:r>
              <a:rPr lang="en-US" sz="900" b="1" dirty="0">
                <a:solidFill>
                  <a:srgbClr val="0F8B8D"/>
                </a:solidFill>
                <a:latin typeface="Calibri" pitchFamily="34" charset="0"/>
                <a:ea typeface="Calibri" pitchFamily="34" charset="-122"/>
                <a:cs typeface="Calibri" pitchFamily="34" charset="-120"/>
              </a:rPr>
              <a:t>Model. </a:t>
            </a:r>
            <a:pPr indent="0" marL="0">
              <a:spcAft>
                <a:spcPts val="300"/>
              </a:spcAft>
              <a:buNone/>
            </a:pPr>
            <a:r>
              <a:rPr lang="en-US" sz="900" dirty="0">
                <a:solidFill>
                  <a:srgbClr val="1D2B30"/>
                </a:solidFill>
                <a:latin typeface="Calibri" pitchFamily="34" charset="0"/>
                <a:ea typeface="Calibri" pitchFamily="34" charset="-122"/>
                <a:cs typeface="Calibri" pitchFamily="34" charset="-120"/>
              </a:rPr>
              <a:t>Correlated GBM for each ETF, 200,000 paths, quarterly steps. Risk-neutral drift = USD funding (linear interpolation of case grid) − dividend yield. Quanto adjustment ignored (assumed hedged by the desk; to be added with FX-equity correlations).</a:t>
            </a:r>
            <a:endParaRPr lang="en-US" sz="900" dirty="0"/>
          </a:p>
          <a:p>
            <a:pPr indent="0" marL="0">
              <a:spcAft>
                <a:spcPts val="300"/>
              </a:spcAft>
              <a:buNone/>
            </a:pPr>
            <a:r>
              <a:rPr lang="en-US" sz="900" b="1" dirty="0">
                <a:solidFill>
                  <a:srgbClr val="0F8B8D"/>
                </a:solidFill>
                <a:latin typeface="Calibri" pitchFamily="34" charset="0"/>
                <a:ea typeface="Calibri" pitchFamily="34" charset="-122"/>
                <a:cs typeface="Calibri" pitchFamily="34" charset="-120"/>
              </a:rPr>
              <a:t>Discounting. </a:t>
            </a:r>
            <a:pPr indent="0" marL="0">
              <a:spcAft>
                <a:spcPts val="300"/>
              </a:spcAft>
              <a:buNone/>
            </a:pPr>
            <a:r>
              <a:rPr lang="en-US" sz="900" dirty="0">
                <a:solidFill>
                  <a:srgbClr val="1D2B30"/>
                </a:solidFill>
                <a:latin typeface="Calibri" pitchFamily="34" charset="0"/>
                <a:ea typeface="Calibri" pitchFamily="34" charset="-122"/>
                <a:cs typeface="Calibri" pitchFamily="34" charset="-120"/>
              </a:rPr>
              <a:t>USD funding grid from the case rules; 5Y discount factor 0.758.</a:t>
            </a:r>
            <a:endParaRPr lang="en-US" sz="900" dirty="0"/>
          </a:p>
          <a:p>
            <a:pPr indent="0" marL="0">
              <a:spcAft>
                <a:spcPts val="300"/>
              </a:spcAft>
              <a:buNone/>
            </a:pPr>
            <a:r>
              <a:rPr lang="en-US" sz="900" b="1" dirty="0">
                <a:solidFill>
                  <a:srgbClr val="0F8B8D"/>
                </a:solidFill>
                <a:latin typeface="Calibri" pitchFamily="34" charset="0"/>
                <a:ea typeface="Calibri" pitchFamily="34" charset="-122"/>
                <a:cs typeface="Calibri" pitchFamily="34" charset="-120"/>
              </a:rPr>
              <a:t>Coupon solve. </a:t>
            </a:r>
            <a:pPr indent="0" marL="0">
              <a:spcAft>
                <a:spcPts val="300"/>
              </a:spcAft>
              <a:buNone/>
            </a:pPr>
            <a:r>
              <a:rPr lang="en-US" sz="900" dirty="0">
                <a:solidFill>
                  <a:srgbClr val="1D2B30"/>
                </a:solidFill>
                <a:latin typeface="Calibri" pitchFamily="34" charset="0"/>
                <a:ea typeface="Calibri" pitchFamily="34" charset="-122"/>
                <a:cs typeface="Calibri" pitchFamily="34" charset="-120"/>
              </a:rPr>
              <a:t>Bisection on coupon so that PV = 98% (2% hedging cost and margin).</a:t>
            </a:r>
            <a:endParaRPr lang="en-US" sz="900" dirty="0"/>
          </a:p>
          <a:p>
            <a:pPr indent="0" marL="0">
              <a:spcAft>
                <a:spcPts val="300"/>
              </a:spcAft>
              <a:buNone/>
            </a:pPr>
            <a:r>
              <a:rPr lang="en-US" sz="900" b="1" dirty="0">
                <a:solidFill>
                  <a:srgbClr val="0F8B8D"/>
                </a:solidFill>
                <a:latin typeface="Calibri" pitchFamily="34" charset="0"/>
                <a:ea typeface="Calibri" pitchFamily="34" charset="-122"/>
                <a:cs typeface="Calibri" pitchFamily="34" charset="-120"/>
              </a:rPr>
              <a:t>Historical back-test (to run). </a:t>
            </a:r>
            <a:pPr indent="0" marL="0">
              <a:spcAft>
                <a:spcPts val="300"/>
              </a:spcAft>
              <a:buNone/>
            </a:pPr>
            <a:r>
              <a:rPr lang="en-US" sz="900" dirty="0">
                <a:solidFill>
                  <a:srgbClr val="1D2B30"/>
                </a:solidFill>
                <a:latin typeface="Calibri" pitchFamily="34" charset="0"/>
                <a:ea typeface="Calibri" pitchFamily="34" charset="-122"/>
                <a:cs typeface="Calibri" pitchFamily="34" charset="-120"/>
              </a:rPr>
              <a:t>Monthly Bloomberg history since 2021 for all five ETFs (00878 and 3119 launched in 2020–21). Launch a hypothetical note every month, apply the same coupon, memory and autocall rules, and record coupons, life and IRR by launch year.</a:t>
            </a:r>
            <a:endParaRPr lang="en-US" sz="90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5440680" y="1188720"/>
          <a:ext cx="3291840" cy="914400"/>
        </p:xfrm>
        <a:graphic>
          <a:graphicData uri="http://schemas.openxmlformats.org/drawingml/2006/table">
            <a:tbl>
              <a:tblPr/>
              <a:tblGrid>
                <a:gridCol w="2286000"/>
                <a:gridCol w="1005840"/>
              </a:tblGrid>
              <a:tr h="26517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Design variant (capital protected)</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Fair cpn</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r>
              <a:tr h="265176">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Coupon barrier 100% (base)</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7.9%</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65176">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Coupon barrier 95%</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7.2%</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65176">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Coupon barrier 90%</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6.7%</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65176">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First autocall at Y2</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8.0%</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65176">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Equity drift −1%</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8.4%</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65176">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Equity drift −2%</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9.0%</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265176">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Vol +3pts / −3pts</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8.2% / 7.6%</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40680" y="3383280"/>
            <a:ext cx="3291840" cy="411480"/>
          </a:xfrm>
          <a:prstGeom prst="rect">
            <a:avLst/>
          </a:prstGeom>
          <a:noFill/>
          <a:ln/>
        </p:spPr>
        <p:txBody>
          <a:bodyPr wrap="square" lIns="0" tIns="0" rIns="0" bIns="0" rtlCol="0" anchor="t"/>
          <a:lstStyle/>
          <a:p>
            <a:pPr indent="0" marL="0">
              <a:buNone/>
            </a:pPr>
            <a:r>
              <a:rPr lang="en-US" sz="850" i="1" dirty="0">
                <a:solidFill>
                  <a:srgbClr val="5F7176"/>
                </a:solidFill>
                <a:latin typeface="Calibri" pitchFamily="34" charset="0"/>
                <a:ea typeface="Calibri" pitchFamily="34" charset="-122"/>
                <a:cs typeface="Calibri" pitchFamily="34" charset="-120"/>
              </a:rPr>
              <a:t>All variants priced at 98% with the same basket and inputs. Code: pricing/scenario2_autocall_mc.py</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200" b="1" dirty="0">
                <a:solidFill>
                  <a:srgbClr val="0B3C49"/>
                </a:solidFill>
                <a:latin typeface="Cambria" pitchFamily="34" charset="0"/>
                <a:ea typeface="Cambria" pitchFamily="34" charset="-122"/>
                <a:cs typeface="Cambria" pitchFamily="34" charset="-120"/>
              </a:rPr>
              <a:t>Appendix B: alternatives for the investment committee</a:t>
            </a:r>
            <a:endParaRPr lang="en-US" sz="2200" dirty="0"/>
          </a:p>
        </p:txBody>
      </p:sp>
      <p:sp>
        <p:nvSpPr>
          <p:cNvPr id="3" name="Text 1"/>
          <p:cNvSpPr txBox="1"/>
          <p:nvPr/>
        </p:nvSpPr>
        <p:spPr>
          <a:xfrm>
            <a:off x="457200" y="749808"/>
            <a:ext cx="8229600" cy="292608"/>
          </a:xfrm>
          <a:prstGeom prst="rect">
            <a:avLst/>
          </a:prstGeom>
          <a:noFill/>
          <a:ln/>
        </p:spPr>
        <p:txBody>
          <a:bodyPr wrap="square" lIns="0" tIns="0" rIns="0" bIns="0" rtlCol="0" anchor="ctr"/>
          <a:lstStyle/>
          <a:p>
            <a:pPr indent="0" marL="0">
              <a:buNone/>
            </a:pPr>
            <a:r>
              <a:rPr lang="en-US" sz="1250" i="1" dirty="0">
                <a:solidFill>
                  <a:srgbClr val="5F7176"/>
                </a:solidFill>
                <a:latin typeface="Calibri" pitchFamily="34" charset="0"/>
                <a:ea typeface="Calibri" pitchFamily="34" charset="-122"/>
                <a:cs typeface="Calibri" pitchFamily="34" charset="-120"/>
              </a:rPr>
              <a:t>Same basket: a higher-coupon at-risk snowball, and a pure participation note</a:t>
            </a:r>
            <a:endParaRPr lang="en-US" sz="1250" dirty="0"/>
          </a:p>
        </p:txBody>
      </p:sp>
      <p:graphicFrame>
        <p:nvGraphicFramePr>
          <p:cNvPr id="4" name="Chart 0" descr=""/>
          <p:cNvGraphicFramePr/>
          <p:nvPr/>
        </p:nvGraphicFramePr>
        <p:xfrm>
          <a:off x="365760" y="1143000"/>
          <a:ext cx="457200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212080" y="1188720"/>
          <a:ext cx="3520440" cy="914400"/>
        </p:xfrm>
        <a:graphic>
          <a:graphicData uri="http://schemas.openxmlformats.org/drawingml/2006/table">
            <a:tbl>
              <a:tblPr/>
              <a:tblGrid>
                <a:gridCol w="1463040"/>
                <a:gridCol w="1325880"/>
                <a:gridCol w="731520"/>
              </a:tblGrid>
              <a:tr h="32918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Option</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Return</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Loss risk</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0B3C49"/>
                    </a:solidFill>
                  </a:tcPr>
                </a:tc>
              </a:tr>
              <a:tr h="329184">
                <a:tc>
                  <a:txBody>
                    <a:bodyPr/>
                    <a:lstStyle/>
                    <a:p>
                      <a:pPr indent="0" marL="0">
                        <a:buNone/>
                      </a:pPr>
                      <a:r>
                        <a:rPr lang="en-US" sz="900" b="1" dirty="0">
                          <a:solidFill>
                            <a:srgbClr val="0F8B8D"/>
                          </a:solidFill>
                          <a:latin typeface="Calibri" pitchFamily="34" charset="0"/>
                          <a:ea typeface="Calibri" pitchFamily="34" charset="-122"/>
                          <a:cs typeface="Calibri" pitchFamily="34" charset="-120"/>
                        </a:rPr>
                        <a:t>Protected autocallable (ours)</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7.20% p.a. memory coupon</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329184">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Snowball, 65% barrier</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9% p.a., paid at call</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14.5%</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r h="329184">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Principal-protected note</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87% of basket gain at Y5</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c>
                  <a:txBody>
                    <a:bodyPr/>
                    <a:lstStyle/>
                    <a:p>
                      <a:pPr indent="0" marL="0">
                        <a:buNone/>
                      </a:pPr>
                      <a:r>
                        <a:rPr lang="en-US" sz="900" dirty="0">
                          <a:solidFill>
                            <a:srgbClr val="1D2B30"/>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50800" marR="50800" marT="25400" marB="25400" anchor="ctr">
                    <a:lnL w="6350" cap="flat" cmpd="sng" algn="ctr">
                      <a:solidFill>
                        <a:srgbClr val="DCE7E5"/>
                      </a:solidFill>
                      <a:prstDash val="solid"/>
                      <a:round/>
                      <a:headEnd type="none" w="med" len="med"/>
                      <a:tailEnd type="none" w="med" len="med"/>
                    </a:lnL>
                    <a:lnR w="6350" cap="flat" cmpd="sng" algn="ctr">
                      <a:solidFill>
                        <a:srgbClr val="DCE7E5"/>
                      </a:solidFill>
                      <a:prstDash val="solid"/>
                      <a:round/>
                      <a:headEnd type="none" w="med" len="med"/>
                      <a:tailEnd type="none" w="med" len="med"/>
                    </a:lnR>
                    <a:lnT w="6350" cap="flat" cmpd="sng" algn="ctr">
                      <a:solidFill>
                        <a:srgbClr val="DCE7E5"/>
                      </a:solidFill>
                      <a:prstDash val="solid"/>
                      <a:round/>
                      <a:headEnd type="none" w="med" len="med"/>
                      <a:tailEnd type="none" w="med" len="med"/>
                    </a:lnT>
                    <a:lnB w="6350" cap="flat" cmpd="sng" algn="ctr">
                      <a:solidFill>
                        <a:srgbClr val="DCE7E5"/>
                      </a:solidFill>
                      <a:prstDash val="solid"/>
                      <a:round/>
                      <a:headEnd type="none" w="med" len="med"/>
                      <a:tailEnd type="none" w="med" len="med"/>
                    </a:lnB>
                    <a:solidFill>
                      <a:srgbClr val="FFFFFF"/>
                    </a:solidFill>
                  </a:tcPr>
                </a:tc>
              </a:tr>
            </a:tbl>
          </a:graphicData>
        </a:graphic>
      </p:graphicFrame>
      <p:sp>
        <p:nvSpPr>
          <p:cNvPr id="6" name="Shape 2"/>
          <p:cNvSpPr/>
          <p:nvPr/>
        </p:nvSpPr>
        <p:spPr>
          <a:xfrm>
            <a:off x="5212080" y="2606040"/>
            <a:ext cx="3520440" cy="1828800"/>
          </a:xfrm>
          <a:prstGeom prst="roundRect">
            <a:avLst>
              <a:gd name="adj" fmla="val 3500"/>
            </a:avLst>
          </a:prstGeom>
          <a:solidFill>
            <a:srgbClr val="E6F2F0"/>
          </a:solidFill>
          <a:ln w="12700">
            <a:solidFill>
              <a:srgbClr val="E6F2F0"/>
            </a:solidFill>
            <a:prstDash val="solid"/>
          </a:ln>
        </p:spPr>
      </p:sp>
      <p:sp>
        <p:nvSpPr>
          <p:cNvPr id="7" name="Text 3"/>
          <p:cNvSpPr txBox="1"/>
          <p:nvPr/>
        </p:nvSpPr>
        <p:spPr>
          <a:xfrm>
            <a:off x="5349240" y="2679192"/>
            <a:ext cx="3291840" cy="1691640"/>
          </a:xfrm>
          <a:prstGeom prst="rect">
            <a:avLst/>
          </a:prstGeom>
          <a:noFill/>
          <a:ln/>
        </p:spPr>
        <p:txBody>
          <a:bodyPr wrap="square" lIns="0" tIns="0" rIns="0" bIns="0" rtlCol="0" anchor="t"/>
          <a:lstStyle/>
          <a:p>
            <a:pPr indent="0" marL="0">
              <a:buNone/>
            </a:pPr>
            <a:r>
              <a:rPr lang="en-US" sz="950" b="1" dirty="0">
                <a:solidFill>
                  <a:srgbClr val="0F8B8D"/>
                </a:solidFill>
                <a:latin typeface="Calibri" pitchFamily="34" charset="0"/>
                <a:ea typeface="Calibri" pitchFamily="34" charset="-122"/>
                <a:cs typeface="Calibri" pitchFamily="34" charset="-120"/>
              </a:rPr>
              <a:t>Trade-off: </a:t>
            </a:r>
            <a:pPr indent="0" marL="0">
              <a:buNone/>
            </a:pPr>
            <a:r>
              <a:rPr lang="en-US" sz="950" dirty="0">
                <a:solidFill>
                  <a:srgbClr val="1D2B30"/>
                </a:solidFill>
                <a:latin typeface="Calibri" pitchFamily="34" charset="0"/>
                <a:ea typeface="Calibri" pitchFamily="34" charset="-122"/>
                <a:cs typeface="Calibri" pitchFamily="34" charset="-120"/>
              </a:rPr>
              <a:t>The snowball pays 9% but loses capital in ~14% of paths. The PPN keeps full protection with uncapped upside, but pays nothing unless the basket ends above 100% after 5 years and has no early exit. Our note sits between them: full protection, a coupon above the funding rate, and money usually back within ~2 years.</a:t>
            </a:r>
            <a:endParaRPr lang="en-US" sz="950" dirty="0"/>
          </a:p>
        </p:txBody>
      </p:sp>
      <p:sp>
        <p:nvSpPr>
          <p:cNvPr id="8" name="Text 4"/>
          <p:cNvSpPr txBox="1"/>
          <p:nvPr/>
        </p:nvSpPr>
        <p:spPr>
          <a:xfrm>
            <a:off x="457200" y="4773168"/>
            <a:ext cx="7680960" cy="274320"/>
          </a:xfrm>
          <a:prstGeom prst="rect">
            <a:avLst/>
          </a:prstGeom>
          <a:noFill/>
          <a:ln/>
        </p:spPr>
        <p:txBody>
          <a:bodyPr wrap="square" lIns="0" tIns="0" rIns="0" bIns="0" rtlCol="0" anchor="t"/>
          <a:lstStyle/>
          <a:p>
            <a:pPr indent="0" marL="0">
              <a:buNone/>
            </a:pPr>
            <a:r>
              <a:rPr lang="en-US" sz="800" i="1" dirty="0">
                <a:solidFill>
                  <a:srgbClr val="5F7176"/>
                </a:solidFill>
                <a:latin typeface="Calibri" pitchFamily="34" charset="0"/>
                <a:ea typeface="Calibri" pitchFamily="34" charset="-122"/>
                <a:cs typeface="Calibri" pitchFamily="34" charset="-120"/>
              </a:rPr>
              <a:t>Monte Carlo, 200k paths. Vols, dividends and correlations are assumptions to refresh with Bloomberg data as of the 17 Sep 2026 trade date; discounting uses the USD funding grid.</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Asian Digital Transformation Autocallable Note</dc:title>
  <dc:subject>PptxGenJS Presentation</dc:subject>
  <dc:creator>PptxGenJS</dc:creator>
  <cp:lastModifiedBy>PptxGenJS</cp:lastModifiedBy>
  <cp:revision>1</cp:revision>
  <dcterms:created xsi:type="dcterms:W3CDTF">2026-10-08T07:29:55Z</dcterms:created>
  <dcterms:modified xsi:type="dcterms:W3CDTF">2026-10-08T07:29:55Z</dcterms:modified>
</cp:coreProperties>
</file>