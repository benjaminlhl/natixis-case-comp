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D2B30"/>
                </a:solidFill>
                <a:latin typeface="Calibri"/>
              </a:defRPr>
            </a:pPr>
            <a:r>
              <a:rPr sz="1100" b="0" i="0" u="none" strike="noStrike">
                <a:solidFill>
                  <a:srgbClr val="1D2B30"/>
                </a:solidFill>
                <a:latin typeface="Calibri"/>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0F8B8D"/>
            </a:solidFill>
            <a:ln w="25400" cap="flat">
              <a:solidFill>
                <a:srgbClr val="0F8B8D"/>
              </a:solidFill>
              <a:prstDash val="solid"/>
              <a:round/>
            </a:ln>
            <a:effectLst/>
          </c:spPr>
          <c:invertIfNegative val="0"/>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c:symbol val="circle"/>
            <c:size val="5"/>
            <c:spPr>
              <a:solidFill>
                <a:srgbClr val="0F8B8D"/>
              </a:solidFill>
              <a:ln w="9525" cap="flat">
                <a:solidFill>
                  <a:srgbClr val="0F8B8D"/>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DCE7E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0B3C49"/>
              </a:solidFill>
              <a:effectLst/>
            </c:spPr>
          </c:dPt>
          <c:dPt>
            <c:idx val="1"/>
            <c:bubble3D val="0"/>
            <c:spPr>
              <a:solidFill>
                <a:srgbClr val="0F8B8D"/>
              </a:solidFill>
              <a:effectLst/>
            </c:spPr>
          </c:dPt>
          <c:dPt>
            <c:idx val="2"/>
            <c:bubble3D val="0"/>
            <c:spPr>
              <a:solidFill>
                <a:srgbClr val="D9961A"/>
              </a:solidFill>
              <a:effectLst/>
            </c:spPr>
          </c:dPt>
          <c:dPt>
            <c:idx val="3"/>
            <c:bubble3D val="0"/>
            <c:spPr>
              <a:solidFill>
                <a:srgbClr val="8FA6AA"/>
              </a:solidFill>
              <a:effectLst/>
            </c:spPr>
          </c:dPt>
          <c:dPt>
            <c:idx val="4"/>
            <c:bubble3D val="0"/>
            <c:spPr>
              <a:solidFill>
                <a:srgbClr val="5BA37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4"/>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Asia Semiconductor (3119 HK)</c:v>
                </c:pt>
                <c:pt idx="1">
                  <c:v>Japan Semiconductor (2644 JP)</c:v>
                </c:pt>
                <c:pt idx="2">
                  <c:v>iShares MSCI Taiwan (EWT)</c:v>
                </c:pt>
                <c:pt idx="3">
                  <c:v>iShares MSCI South Korea (EWY)</c:v>
                </c:pt>
                <c:pt idx="4">
                  <c:v>Taiwan ESG High Dividend (00878 TT)</c:v>
                </c:pt>
              </c:strCache>
            </c:strRef>
          </c:cat>
          <c:val>
            <c:numRef>
              <c:f>Sheet1!$B$2:$B$6</c:f>
              <c:numCache>
                <c:ptCount val="5"/>
                <c:pt idx="0">
                  <c:v>25</c:v>
                </c:pt>
                <c:pt idx="1">
                  <c:v>20</c:v>
                </c:pt>
                <c:pt idx="2">
                  <c:v>20</c:v>
                </c:pt>
                <c:pt idx="3">
                  <c:v>20</c:v>
                </c:pt>
                <c:pt idx="4">
                  <c:v>15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Principal + all coupons (% of notional), by call quarter Q4–Q20</a:t>
            </a:r>
          </a:p>
        </c:rich>
      </c:tx>
      <c:layout/>
      <c:overlay val="0"/>
    </c:title>
    <c:autoTitleDeleted val="0"/>
    <c:plotArea>
      <c:layout/>
      <c:barChart>
        <c:barDir val="col"/>
        <c:grouping val="clustered"/>
        <c:varyColors val="0"/>
        <c:ser>
          <c:idx val="0"/>
          <c:order val="0"/>
          <c:tx>
            <c:strRef>
              <c:f>Sheet1!$B$1</c:f>
              <c:strCache>
                <c:ptCount val="1"/>
                <c:pt idx="0">
                  <c:v>Total cash if called</c:v>
                </c:pt>
              </c:strCache>
            </c:strRef>
          </c:tx>
          <c:spPr>
            <a:solidFill>
              <a:srgbClr val="0F8B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Y1</c:v>
                  </c:pt>
                  <c:pt idx="1">
                    <c:v/>
                  </c:pt>
                  <c:pt idx="2">
                    <c:v/>
                  </c:pt>
                  <c:pt idx="3">
                    <c:v/>
                  </c:pt>
                  <c:pt idx="4">
                    <c:v>Y2</c:v>
                  </c:pt>
                  <c:pt idx="5">
                    <c:v/>
                  </c:pt>
                  <c:pt idx="6">
                    <c:v/>
                  </c:pt>
                  <c:pt idx="7">
                    <c:v/>
                  </c:pt>
                  <c:pt idx="8">
                    <c:v>Y3</c:v>
                  </c:pt>
                  <c:pt idx="9">
                    <c:v/>
                  </c:pt>
                  <c:pt idx="10">
                    <c:v/>
                  </c:pt>
                  <c:pt idx="11">
                    <c:v/>
                  </c:pt>
                  <c:pt idx="12">
                    <c:v>Y4</c:v>
                  </c:pt>
                  <c:pt idx="13">
                    <c:v/>
                  </c:pt>
                  <c:pt idx="14">
                    <c:v/>
                  </c:pt>
                  <c:pt idx="15">
                    <c:v/>
                  </c:pt>
                  <c:pt idx="16">
                    <c:v>Y5</c:v>
                  </c:pt>
                </c:lvl>
              </c:multiLvlStrCache>
            </c:multiLvlStrRef>
          </c:cat>
          <c:val>
            <c:numRef>
              <c:f>Sheet1!$B$2:$B$18</c:f>
              <c:numCache>
                <c:formatCode>General</c:formatCode>
                <c:ptCount val="17"/>
                <c:pt idx="0">
                  <c:v>107.2</c:v>
                </c:pt>
                <c:pt idx="1">
                  <c:v>109</c:v>
                </c:pt>
                <c:pt idx="2">
                  <c:v>110.8</c:v>
                </c:pt>
                <c:pt idx="3">
                  <c:v>112.6</c:v>
                </c:pt>
                <c:pt idx="4">
                  <c:v>114.4</c:v>
                </c:pt>
                <c:pt idx="5">
                  <c:v>116.2</c:v>
                </c:pt>
                <c:pt idx="6">
                  <c:v>118</c:v>
                </c:pt>
                <c:pt idx="7">
                  <c:v>119.8</c:v>
                </c:pt>
                <c:pt idx="8">
                  <c:v>121.6</c:v>
                </c:pt>
                <c:pt idx="9">
                  <c:v>123.4</c:v>
                </c:pt>
                <c:pt idx="10">
                  <c:v>125.2</c:v>
                </c:pt>
                <c:pt idx="11">
                  <c:v>127</c:v>
                </c:pt>
                <c:pt idx="12">
                  <c:v>128.8</c:v>
                </c:pt>
                <c:pt idx="13">
                  <c:v>130.6</c:v>
                </c:pt>
                <c:pt idx="14">
                  <c:v>132.4</c:v>
                </c:pt>
                <c:pt idx="15">
                  <c:v>134.2</c:v>
                </c:pt>
                <c:pt idx="16">
                  <c:v>136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40"/>
          <c:min val="9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Payoff at Y5 (note not called earlier)</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0F8B8D"/>
            </a:solidFill>
            <a:ln w="28575"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pt idx="121">
                  <c:v>100</c:v>
                </c:pt>
                <c:pt idx="122">
                  <c:v>100</c:v>
                </c:pt>
                <c:pt idx="123">
                  <c:v>100</c:v>
                </c:pt>
                <c:pt idx="124">
                  <c:v>100</c:v>
                </c:pt>
                <c:pt idx="125">
                  <c:v>100</c:v>
                </c:pt>
                <c:pt idx="126">
                  <c:v>100</c:v>
                </c:pt>
                <c:pt idx="127">
                  <c:v>100</c:v>
                </c:pt>
                <c:pt idx="128">
                  <c:v>100</c:v>
                </c:pt>
                <c:pt idx="129">
                  <c:v>100</c:v>
                </c:pt>
                <c:pt idx="130">
                  <c:v>100</c:v>
                </c:pt>
                <c:pt idx="131">
                  <c:v>100</c:v>
                </c:pt>
                <c:pt idx="132">
                  <c:v>100</c:v>
                </c:pt>
                <c:pt idx="133">
                  <c:v>100</c:v>
                </c:pt>
                <c:pt idx="134">
                  <c:v>100</c:v>
                </c:pt>
                <c:pt idx="135">
                  <c:v>100</c:v>
                </c:pt>
                <c:pt idx="136">
                  <c:v>100</c:v>
                </c:pt>
                <c:pt idx="137">
                  <c:v>100</c:v>
                </c:pt>
                <c:pt idx="138">
                  <c:v>100</c:v>
                </c:pt>
                <c:pt idx="139">
                  <c:v>100</c:v>
                </c:pt>
                <c:pt idx="140">
                  <c:v>136</c:v>
                </c:pt>
                <c:pt idx="141">
                  <c:v>136</c:v>
                </c:pt>
                <c:pt idx="142">
                  <c:v>136</c:v>
                </c:pt>
                <c:pt idx="143">
                  <c:v>136</c:v>
                </c:pt>
                <c:pt idx="144">
                  <c:v>136</c:v>
                </c:pt>
                <c:pt idx="145">
                  <c:v>136</c:v>
                </c:pt>
                <c:pt idx="146">
                  <c:v>136</c:v>
                </c:pt>
                <c:pt idx="147">
                  <c:v>136</c:v>
                </c:pt>
                <c:pt idx="148">
                  <c:v>136</c:v>
                </c:pt>
                <c:pt idx="149">
                  <c:v>136</c:v>
                </c:pt>
                <c:pt idx="150">
                  <c:v>136</c:v>
                </c:pt>
                <c:pt idx="151">
                  <c:v>136</c:v>
                </c:pt>
                <c:pt idx="152">
                  <c:v>136</c:v>
                </c:pt>
                <c:pt idx="153">
                  <c:v>136</c:v>
                </c:pt>
                <c:pt idx="154">
                  <c:v>136</c:v>
                </c:pt>
                <c:pt idx="155">
                  <c:v>136</c:v>
                </c:pt>
                <c:pt idx="156">
                  <c:v>136</c:v>
                </c:pt>
                <c:pt idx="157">
                  <c:v>136</c:v>
                </c:pt>
                <c:pt idx="158">
                  <c:v>136</c:v>
                </c:pt>
                <c:pt idx="159">
                  <c:v>136</c:v>
                </c:pt>
                <c:pt idx="160">
                  <c:v>136</c:v>
                </c:pt>
                <c:pt idx="161">
                  <c:v>136</c:v>
                </c:pt>
                <c:pt idx="162">
                  <c:v>136</c:v>
                </c:pt>
                <c:pt idx="163">
                  <c:v>136</c:v>
                </c:pt>
                <c:pt idx="164">
                  <c:v>136</c:v>
                </c:pt>
                <c:pt idx="165">
                  <c:v>136</c:v>
                </c:pt>
                <c:pt idx="166">
                  <c:v>136</c:v>
                </c:pt>
                <c:pt idx="167">
                  <c:v>136</c:v>
                </c:pt>
                <c:pt idx="168">
                  <c:v>136</c:v>
                </c:pt>
                <c:pt idx="169">
                  <c:v>136</c:v>
                </c:pt>
                <c:pt idx="170">
                  <c:v>136</c:v>
                </c:pt>
                <c:pt idx="171">
                  <c:v>136</c:v>
                </c:pt>
                <c:pt idx="172">
                  <c:v>136</c:v>
                </c:pt>
                <c:pt idx="173">
                  <c:v>136</c:v>
                </c:pt>
                <c:pt idx="174">
                  <c:v>136</c:v>
                </c:pt>
                <c:pt idx="175">
                  <c:v>136</c:v>
                </c:pt>
                <c:pt idx="176">
                  <c:v>136</c:v>
                </c:pt>
                <c:pt idx="177">
                  <c:v>136</c:v>
                </c:pt>
                <c:pt idx="178">
                  <c:v>136</c:v>
                </c:pt>
                <c:pt idx="179">
                  <c:v>136</c:v>
                </c:pt>
                <c:pt idx="180">
                  <c:v>136</c:v>
                </c:pt>
                <c:pt idx="181">
                  <c:v>136</c:v>
                </c:pt>
                <c:pt idx="182">
                  <c:v>136</c:v>
                </c:pt>
                <c:pt idx="183">
                  <c:v>136</c:v>
                </c:pt>
                <c:pt idx="184">
                  <c:v>136</c:v>
                </c:pt>
                <c:pt idx="185">
                  <c:v>136</c:v>
                </c:pt>
                <c:pt idx="186">
                  <c:v>136</c:v>
                </c:pt>
                <c:pt idx="187">
                  <c:v>136</c:v>
                </c:pt>
                <c:pt idx="188">
                  <c:v>136</c:v>
                </c:pt>
                <c:pt idx="189">
                  <c:v>136</c:v>
                </c:pt>
                <c:pt idx="190">
                  <c:v>136</c:v>
                </c:pt>
                <c:pt idx="191">
                  <c:v>136</c:v>
                </c:pt>
                <c:pt idx="192">
                  <c:v>136</c:v>
                </c:pt>
                <c:pt idx="193">
                  <c:v>136</c:v>
                </c:pt>
                <c:pt idx="194">
                  <c:v>136</c:v>
                </c:pt>
                <c:pt idx="195">
                  <c:v>136</c:v>
                </c:pt>
                <c:pt idx="196">
                  <c:v>136</c:v>
                </c:pt>
                <c:pt idx="197">
                  <c:v>136</c:v>
                </c:pt>
                <c:pt idx="198">
                  <c:v>136</c:v>
                </c:pt>
                <c:pt idx="199">
                  <c:v>136</c:v>
                </c:pt>
                <c:pt idx="200">
                  <c:v>136</c:v>
                </c:pt>
                <c:pt idx="201">
                  <c:v>136</c:v>
                </c:pt>
                <c:pt idx="202">
                  <c:v>136</c:v>
                </c:pt>
                <c:pt idx="203">
                  <c:v>136</c:v>
                </c:pt>
                <c:pt idx="204">
                  <c:v>136</c:v>
                </c:pt>
                <c:pt idx="205">
                  <c:v>136</c:v>
                </c:pt>
                <c:pt idx="206">
                  <c:v>136</c:v>
                </c:pt>
                <c:pt idx="207">
                  <c:v>136</c:v>
                </c:pt>
                <c:pt idx="208">
                  <c:v>136</c:v>
                </c:pt>
                <c:pt idx="209">
                  <c:v>136</c:v>
                </c:pt>
                <c:pt idx="210">
                  <c:v>136</c:v>
                </c:pt>
                <c:pt idx="211">
                  <c:v>136</c:v>
                </c:pt>
                <c:pt idx="212">
                  <c:v>136</c:v>
                </c:pt>
                <c:pt idx="213">
                  <c:v>136</c:v>
                </c:pt>
                <c:pt idx="214">
                  <c:v>136</c:v>
                </c:pt>
                <c:pt idx="215">
                  <c:v>136</c:v>
                </c:pt>
                <c:pt idx="216">
                  <c:v>136</c:v>
                </c:pt>
                <c:pt idx="217">
                  <c:v>136</c:v>
                </c:pt>
                <c:pt idx="218">
                  <c:v>136</c:v>
                </c:pt>
                <c:pt idx="219">
                  <c:v>136</c:v>
                </c:pt>
                <c:pt idx="220">
                  <c:v>136</c:v>
                </c:pt>
                <c:pt idx="221">
                  <c:v>136</c:v>
                </c:pt>
                <c:pt idx="222">
                  <c:v>136</c:v>
                </c:pt>
                <c:pt idx="223">
                  <c:v>136</c:v>
                </c:pt>
                <c:pt idx="224">
                  <c:v>136</c:v>
                </c:pt>
                <c:pt idx="225">
                  <c:v>136</c:v>
                </c:pt>
                <c:pt idx="226">
                  <c:v>136</c:v>
                </c:pt>
                <c:pt idx="227">
                  <c:v>136</c:v>
                </c:pt>
                <c:pt idx="228">
                  <c:v>136</c:v>
                </c:pt>
                <c:pt idx="229">
                  <c:v>136</c:v>
                </c:pt>
                <c:pt idx="230">
                  <c:v>136</c:v>
                </c:pt>
                <c:pt idx="231">
                  <c:v>136</c:v>
                </c:pt>
                <c:pt idx="232">
                  <c:v>136</c:v>
                </c:pt>
                <c:pt idx="233">
                  <c:v>136</c:v>
                </c:pt>
                <c:pt idx="234">
                  <c:v>136</c:v>
                </c:pt>
                <c:pt idx="235">
                  <c:v>136</c:v>
                </c:pt>
                <c:pt idx="236">
                  <c:v>136</c:v>
                </c:pt>
                <c:pt idx="237">
                  <c:v>136</c:v>
                </c:pt>
                <c:pt idx="238">
                  <c:v>136</c:v>
                </c:pt>
                <c:pt idx="239">
                  <c:v>136</c:v>
                </c:pt>
                <c:pt idx="240">
                  <c:v>136</c:v>
                </c:pt>
                <c:pt idx="241">
                  <c:v>136</c:v>
                </c:pt>
                <c:pt idx="242">
                  <c:v>136</c:v>
                </c:pt>
                <c:pt idx="243">
                  <c:v>136</c:v>
                </c:pt>
                <c:pt idx="244">
                  <c:v>136</c:v>
                </c:pt>
                <c:pt idx="245">
                  <c:v>136</c:v>
                </c:pt>
                <c:pt idx="246">
                  <c:v>136</c:v>
                </c:pt>
                <c:pt idx="247">
                  <c:v>136</c:v>
                </c:pt>
                <c:pt idx="248">
                  <c:v>136</c:v>
                </c:pt>
                <c:pt idx="249">
                  <c:v>136</c:v>
                </c:pt>
                <c:pt idx="250">
                  <c:v>136</c:v>
                </c:pt>
                <c:pt idx="251">
                  <c:v>136</c:v>
                </c:pt>
                <c:pt idx="252">
                  <c:v>136</c:v>
                </c:pt>
                <c:pt idx="253">
                  <c:v>136</c:v>
                </c:pt>
                <c:pt idx="254">
                  <c:v>136</c:v>
                </c:pt>
                <c:pt idx="255">
                  <c:v>136</c:v>
                </c:pt>
                <c:pt idx="256">
                  <c:v>136</c:v>
                </c:pt>
                <c:pt idx="257">
                  <c:v>136</c:v>
                </c:pt>
                <c:pt idx="258">
                  <c:v>136</c:v>
                </c:pt>
                <c:pt idx="259">
                  <c:v>136</c:v>
                </c:pt>
                <c:pt idx="260">
                  <c:v>136</c:v>
                </c:pt>
              </c:numCache>
            </c:numRef>
          </c:yVal>
          <c:smooth val="0"/>
        </c:ser>
        <c:ser>
          <c:idx val="1"/>
          <c:order val="1"/>
          <c:tx>
            <c:strRef>
              <c:f>Sheet1!$C$1</c:f>
              <c:strCache>
                <c:ptCount val="1"/>
                <c:pt idx="0">
                  <c:v>Basket directly</c:v>
                </c:pt>
              </c:strCache>
            </c:strRef>
          </c:tx>
          <c:spPr>
            <a:solidFill>
              <a:srgbClr val="8FA6AA"/>
            </a:solidFill>
            <a:ln w="28575"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900" b="0" i="0" u="none" strike="noStrike">
                    <a:solidFill>
                      <a:srgbClr val="5F7176"/>
                    </a:solidFill>
                    <a:latin typeface="Arial"/>
                  </a:defRPr>
                </a:pPr>
                <a:r>
                  <a:rPr sz="900" b="0" i="0" u="none" strike="noStrike">
                    <a:solidFill>
                      <a:srgbClr val="5F7176"/>
                    </a:solidFill>
                    <a:latin typeface="Arial"/>
                  </a:rPr>
                  <a:t>Final basket level (% of initial)</a:t>
                </a:r>
              </a:p>
            </c:rich>
          </c:tx>
          <c:layout/>
          <c:overlay val="0"/>
        </c:title>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60"/>
          <c:min val="20"/>
        </c:scaling>
        <c:delete val="0"/>
        <c:axPos val="l"/>
        <c:majorGridlines>
          <c:spPr>
            <a:ln w="6350" cap="flat">
              <a:solidFill>
                <a:srgbClr val="DCE7E5"/>
              </a:solidFill>
              <a:prstDash val="solid"/>
              <a:round/>
            </a:ln>
          </c:spPr>
        </c:majorGridlines>
        <c:title>
          <c:tx>
            <c:rich>
              <a:bodyPr/>
              <a:lstStyle/>
              <a:p>
                <a:pPr>
                  <a:defRPr sz="900" b="0" i="0" u="none" strike="noStrike">
                    <a:solidFill>
                      <a:srgbClr val="5F7176"/>
                    </a:solidFill>
                    <a:latin typeface="Arial"/>
                  </a:defRPr>
                </a:pPr>
                <a:r>
                  <a:rPr sz="900" b="0" i="0" u="none" strike="noStrike">
                    <a:solidFill>
                      <a:srgbClr val="5F7176"/>
                    </a:solidFill>
                    <a:latin typeface="Arial"/>
                  </a:rPr>
                  <a:t>Total received at Y5</a:t>
                </a:r>
              </a:p>
            </c:rich>
          </c:tx>
          <c:layout/>
          <c:overlay val="0"/>
        </c:title>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Protected principal</c:v>
                </c:pt>
              </c:strCache>
            </c:strRef>
          </c:tx>
          <c:spPr>
            <a:solidFill>
              <a:srgbClr val="0B3C49"/>
            </a:solidFill>
            <a:ln w="25400" cap="flat">
              <a:solidFill>
                <a:srgbClr val="0B3C49"/>
              </a:solidFill>
              <a:prstDash val="solid"/>
              <a:round/>
            </a:ln>
            <a:effectLst/>
          </c:spPr>
          <c:marker>
            <c:symbol val="none"/>
            <c:size val="6"/>
            <c:spPr>
              <a:solidFill>
                <a:srgbClr val="0B3C49"/>
              </a:solidFill>
              <a:ln w="9525" cap="flat">
                <a:solidFill>
                  <a:srgbClr val="0B3C49"/>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20"/>
          <c:min val="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Long quarterly digitals</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1.7999999999999998</c:v>
                </c:pt>
                <c:pt idx="61">
                  <c:v>1.7999999999999998</c:v>
                </c:pt>
                <c:pt idx="62">
                  <c:v>1.7999999999999998</c:v>
                </c:pt>
                <c:pt idx="63">
                  <c:v>1.7999999999999998</c:v>
                </c:pt>
                <c:pt idx="64">
                  <c:v>1.7999999999999998</c:v>
                </c:pt>
                <c:pt idx="65">
                  <c:v>1.7999999999999998</c:v>
                </c:pt>
                <c:pt idx="66">
                  <c:v>1.7999999999999998</c:v>
                </c:pt>
                <c:pt idx="67">
                  <c:v>1.7999999999999998</c:v>
                </c:pt>
                <c:pt idx="68">
                  <c:v>1.7999999999999998</c:v>
                </c:pt>
                <c:pt idx="69">
                  <c:v>1.7999999999999998</c:v>
                </c:pt>
                <c:pt idx="70">
                  <c:v>1.7999999999999998</c:v>
                </c:pt>
                <c:pt idx="71">
                  <c:v>1.7999999999999998</c:v>
                </c:pt>
                <c:pt idx="72">
                  <c:v>1.7999999999999998</c:v>
                </c:pt>
                <c:pt idx="73">
                  <c:v>1.7999999999999998</c:v>
                </c:pt>
                <c:pt idx="74">
                  <c:v>1.7999999999999998</c:v>
                </c:pt>
                <c:pt idx="75">
                  <c:v>1.7999999999999998</c:v>
                </c:pt>
                <c:pt idx="76">
                  <c:v>1.7999999999999998</c:v>
                </c:pt>
                <c:pt idx="77">
                  <c:v>1.7999999999999998</c:v>
                </c:pt>
                <c:pt idx="78">
                  <c:v>1.7999999999999998</c:v>
                </c:pt>
                <c:pt idx="79">
                  <c:v>1.7999999999999998</c:v>
                </c:pt>
                <c:pt idx="80">
                  <c:v>1.7999999999999998</c:v>
                </c:pt>
                <c:pt idx="81">
                  <c:v>1.7999999999999998</c:v>
                </c:pt>
                <c:pt idx="82">
                  <c:v>1.7999999999999998</c:v>
                </c:pt>
                <c:pt idx="83">
                  <c:v>1.7999999999999998</c:v>
                </c:pt>
                <c:pt idx="84">
                  <c:v>1.7999999999999998</c:v>
                </c:pt>
                <c:pt idx="85">
                  <c:v>1.7999999999999998</c:v>
                </c:pt>
                <c:pt idx="86">
                  <c:v>1.7999999999999998</c:v>
                </c:pt>
                <c:pt idx="87">
                  <c:v>1.7999999999999998</c:v>
                </c:pt>
                <c:pt idx="88">
                  <c:v>1.7999999999999998</c:v>
                </c:pt>
                <c:pt idx="89">
                  <c:v>1.7999999999999998</c:v>
                </c:pt>
                <c:pt idx="90">
                  <c:v>1.7999999999999998</c:v>
                </c:pt>
                <c:pt idx="91">
                  <c:v>1.7999999999999998</c:v>
                </c:pt>
                <c:pt idx="92">
                  <c:v>1.7999999999999998</c:v>
                </c:pt>
                <c:pt idx="93">
                  <c:v>1.7999999999999998</c:v>
                </c:pt>
                <c:pt idx="94">
                  <c:v>1.7999999999999998</c:v>
                </c:pt>
                <c:pt idx="95">
                  <c:v>1.7999999999999998</c:v>
                </c:pt>
                <c:pt idx="96">
                  <c:v>1.7999999999999998</c:v>
                </c:pt>
                <c:pt idx="97">
                  <c:v>1.7999999999999998</c:v>
                </c:pt>
                <c:pt idx="98">
                  <c:v>1.7999999999999998</c:v>
                </c:pt>
                <c:pt idx="99">
                  <c:v>1.7999999999999998</c:v>
                </c:pt>
                <c:pt idx="100">
                  <c:v>1.7999999999999998</c:v>
                </c:pt>
                <c:pt idx="101">
                  <c:v>1.7999999999999998</c:v>
                </c:pt>
                <c:pt idx="102">
                  <c:v>1.7999999999999998</c:v>
                </c:pt>
                <c:pt idx="103">
                  <c:v>1.7999999999999998</c:v>
                </c:pt>
                <c:pt idx="104">
                  <c:v>1.7999999999999998</c:v>
                </c:pt>
                <c:pt idx="105">
                  <c:v>1.7999999999999998</c:v>
                </c:pt>
                <c:pt idx="106">
                  <c:v>1.7999999999999998</c:v>
                </c:pt>
                <c:pt idx="107">
                  <c:v>1.7999999999999998</c:v>
                </c:pt>
                <c:pt idx="108">
                  <c:v>1.7999999999999998</c:v>
                </c:pt>
                <c:pt idx="109">
                  <c:v>1.7999999999999998</c:v>
                </c:pt>
                <c:pt idx="110">
                  <c:v>1.7999999999999998</c:v>
                </c:pt>
                <c:pt idx="111">
                  <c:v>1.7999999999999998</c:v>
                </c:pt>
                <c:pt idx="112">
                  <c:v>1.7999999999999998</c:v>
                </c:pt>
                <c:pt idx="113">
                  <c:v>1.7999999999999998</c:v>
                </c:pt>
                <c:pt idx="114">
                  <c:v>1.7999999999999998</c:v>
                </c:pt>
                <c:pt idx="115">
                  <c:v>1.7999999999999998</c:v>
                </c:pt>
                <c:pt idx="116">
                  <c:v>1.7999999999999998</c:v>
                </c:pt>
                <c:pt idx="117">
                  <c:v>1.7999999999999998</c:v>
                </c:pt>
                <c:pt idx="118">
                  <c:v>1.7999999999999998</c:v>
                </c:pt>
                <c:pt idx="119">
                  <c:v>1.7999999999999998</c:v>
                </c:pt>
                <c:pt idx="120">
                  <c:v>1.7999999999999998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2.2"/>
          <c:min val="-0.5"/>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(Natixis's side)</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4"/>
          <c:min val="-0.3"/>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0F8B8D"/>
            </a:solidFill>
            <a:ln w="25400" cap="flat">
              <a:solidFill>
                <a:srgbClr val="0F8B8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8B8D"/>
              </a:solidFill>
              <a:ln w="9525" cap="flat">
                <a:solidFill>
                  <a:srgbClr val="0F8B8D"/>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D9961A"/>
            </a:solidFill>
            <a:ln w="25400" cap="flat">
              <a:solidFill>
                <a:srgbClr val="D996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961A"/>
              </a:solidFill>
              <a:ln w="9525" cap="flat">
                <a:solidFill>
                  <a:srgbClr val="D9961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0B3C49"/>
            </a:solidFill>
            <a:ln w="25400" cap="flat">
              <a:solidFill>
                <a:srgbClr val="0B3C4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49"/>
              </a:solidFill>
              <a:ln w="9525" cap="flat">
                <a:solidFill>
                  <a:srgbClr val="0B3C49"/>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8FA6AA"/>
            </a:solidFill>
            <a:ln w="25400" cap="flat">
              <a:solidFill>
                <a:srgbClr val="8FA6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A6AA"/>
              </a:solidFill>
              <a:ln w="9525" cap="flat">
                <a:solidFill>
                  <a:srgbClr val="8FA6A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8433A"/>
            </a:solidFill>
            <a:ln w="25400" cap="flat">
              <a:solidFill>
                <a:srgbClr val="B843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433A"/>
              </a:solidFill>
              <a:ln w="9525" cap="flat">
                <a:solidFill>
                  <a:srgbClr val="B8433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0F8B8D"/>
            </a:solidFill>
            <a:effectLst/>
          </c:spPr>
          <c:invertIfNegative val="0"/>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48.6</c:v>
                </c:pt>
                <c:pt idx="1">
                  <c:v>66.4</c:v>
                </c:pt>
                <c:pt idx="2">
                  <c:v>72.9</c:v>
                </c:pt>
                <c:pt idx="3">
                  <c:v>76.6</c:v>
                </c:pt>
                <c:pt idx="4">
                  <c:v>79.1</c:v>
                </c:pt>
              </c:numCache>
            </c:numRef>
          </c:val>
        </c:ser>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(7.20%)</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136</c:v>
                </c:pt>
                <c:pt idx="61">
                  <c:v>136</c:v>
                </c:pt>
                <c:pt idx="62">
                  <c:v>136</c:v>
                </c:pt>
                <c:pt idx="63">
                  <c:v>136</c:v>
                </c:pt>
                <c:pt idx="64">
                  <c:v>136</c:v>
                </c:pt>
                <c:pt idx="65">
                  <c:v>136</c:v>
                </c:pt>
                <c:pt idx="66">
                  <c:v>136</c:v>
                </c:pt>
                <c:pt idx="67">
                  <c:v>136</c:v>
                </c:pt>
                <c:pt idx="68">
                  <c:v>136</c:v>
                </c:pt>
                <c:pt idx="69">
                  <c:v>136</c:v>
                </c:pt>
                <c:pt idx="70">
                  <c:v>136</c:v>
                </c:pt>
                <c:pt idx="71">
                  <c:v>136</c:v>
                </c:pt>
                <c:pt idx="72">
                  <c:v>136</c:v>
                </c:pt>
                <c:pt idx="73">
                  <c:v>136</c:v>
                </c:pt>
                <c:pt idx="74">
                  <c:v>136</c:v>
                </c:pt>
                <c:pt idx="75">
                  <c:v>136</c:v>
                </c:pt>
                <c:pt idx="76">
                  <c:v>136</c:v>
                </c:pt>
                <c:pt idx="77">
                  <c:v>136</c:v>
                </c:pt>
                <c:pt idx="78">
                  <c:v>136</c:v>
                </c:pt>
                <c:pt idx="79">
                  <c:v>136</c:v>
                </c:pt>
                <c:pt idx="80">
                  <c:v>136</c:v>
                </c:pt>
                <c:pt idx="81">
                  <c:v>136</c:v>
                </c:pt>
                <c:pt idx="82">
                  <c:v>136</c:v>
                </c:pt>
                <c:pt idx="83">
                  <c:v>136</c:v>
                </c:pt>
                <c:pt idx="84">
                  <c:v>136</c:v>
                </c:pt>
                <c:pt idx="85">
                  <c:v>136</c:v>
                </c:pt>
                <c:pt idx="86">
                  <c:v>136</c:v>
                </c:pt>
                <c:pt idx="87">
                  <c:v>136</c:v>
                </c:pt>
                <c:pt idx="88">
                  <c:v>136</c:v>
                </c:pt>
                <c:pt idx="89">
                  <c:v>136</c:v>
                </c:pt>
                <c:pt idx="90">
                  <c:v>136</c:v>
                </c:pt>
                <c:pt idx="91">
                  <c:v>136</c:v>
                </c:pt>
                <c:pt idx="92">
                  <c:v>136</c:v>
                </c:pt>
                <c:pt idx="93">
                  <c:v>136</c:v>
                </c:pt>
                <c:pt idx="94">
                  <c:v>136</c:v>
                </c:pt>
                <c:pt idx="95">
                  <c:v>136</c:v>
                </c:pt>
                <c:pt idx="96">
                  <c:v>136</c:v>
                </c:pt>
                <c:pt idx="97">
                  <c:v>136</c:v>
                </c:pt>
                <c:pt idx="98">
                  <c:v>136</c:v>
                </c:pt>
                <c:pt idx="99">
                  <c:v>136</c:v>
                </c:pt>
                <c:pt idx="100">
                  <c:v>136</c:v>
                </c:pt>
                <c:pt idx="101">
                  <c:v>136</c:v>
                </c:pt>
                <c:pt idx="102">
                  <c:v>136</c:v>
                </c:pt>
                <c:pt idx="103">
                  <c:v>136</c:v>
                </c:pt>
                <c:pt idx="104">
                  <c:v>136</c:v>
                </c:pt>
                <c:pt idx="105">
                  <c:v>136</c:v>
                </c:pt>
                <c:pt idx="106">
                  <c:v>136</c:v>
                </c:pt>
                <c:pt idx="107">
                  <c:v>136</c:v>
                </c:pt>
                <c:pt idx="108">
                  <c:v>136</c:v>
                </c:pt>
                <c:pt idx="109">
                  <c:v>136</c:v>
                </c:pt>
                <c:pt idx="110">
                  <c:v>136</c:v>
                </c:pt>
                <c:pt idx="111">
                  <c:v>136</c:v>
                </c:pt>
                <c:pt idx="112">
                  <c:v>136</c:v>
                </c:pt>
                <c:pt idx="113">
                  <c:v>136</c:v>
                </c:pt>
                <c:pt idx="114">
                  <c:v>136</c:v>
                </c:pt>
                <c:pt idx="115">
                  <c:v>136</c:v>
                </c:pt>
                <c:pt idx="116">
                  <c:v>136</c:v>
                </c:pt>
                <c:pt idx="117">
                  <c:v>136</c:v>
                </c:pt>
                <c:pt idx="118">
                  <c:v>136</c:v>
                </c:pt>
                <c:pt idx="119">
                  <c:v>136</c:v>
                </c:pt>
                <c:pt idx="120">
                  <c:v>136</c:v>
                </c:pt>
                <c:pt idx="121">
                  <c:v>136</c:v>
                </c:pt>
                <c:pt idx="122">
                  <c:v>136</c:v>
                </c:pt>
                <c:pt idx="123">
                  <c:v>136</c:v>
                </c:pt>
                <c:pt idx="124">
                  <c:v>136</c:v>
                </c:pt>
                <c:pt idx="125">
                  <c:v>136</c:v>
                </c:pt>
                <c:pt idx="126">
                  <c:v>136</c:v>
                </c:pt>
                <c:pt idx="127">
                  <c:v>136</c:v>
                </c:pt>
                <c:pt idx="128">
                  <c:v>136</c:v>
                </c:pt>
                <c:pt idx="129">
                  <c:v>136</c:v>
                </c:pt>
                <c:pt idx="130">
                  <c:v>136</c:v>
                </c:pt>
                <c:pt idx="131">
                  <c:v>136</c:v>
                </c:pt>
                <c:pt idx="132">
                  <c:v>136</c:v>
                </c:pt>
                <c:pt idx="133">
                  <c:v>136</c:v>
                </c:pt>
                <c:pt idx="134">
                  <c:v>136</c:v>
                </c:pt>
                <c:pt idx="135">
                  <c:v>136</c:v>
                </c:pt>
                <c:pt idx="136">
                  <c:v>136</c:v>
                </c:pt>
                <c:pt idx="137">
                  <c:v>136</c:v>
                </c:pt>
                <c:pt idx="138">
                  <c:v>136</c:v>
                </c:pt>
                <c:pt idx="139">
                  <c:v>136</c:v>
                </c:pt>
                <c:pt idx="140">
                  <c:v>136</c:v>
                </c:pt>
              </c:numCache>
            </c:numRef>
          </c:yVal>
          <c:smooth val="0"/>
        </c:ser>
        <c:ser>
          <c:idx val="1"/>
          <c:order val="1"/>
          <c:tx>
            <c:strRef>
              <c:f>Sheet1!$C$1</c:f>
              <c:strCache>
                <c:ptCount val="1"/>
                <c:pt idx="0">
                  <c:v>Snowball 9%, 65% barrier</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PPN</c:v>
                </c:pt>
              </c:strCache>
            </c:strRef>
          </c:tx>
          <c:spPr>
            <a:solidFill>
              <a:srgbClr val="D9961A"/>
            </a:solidFill>
            <a:ln w="25400" cap="flat">
              <a:solidFill>
                <a:srgbClr val="D9961A"/>
              </a:solidFill>
              <a:prstDash val="solid"/>
              <a:round/>
            </a:ln>
            <a:effectLst/>
          </c:spPr>
          <c:marker>
            <c:symbol val="none"/>
            <c:size val="6"/>
            <c:spPr>
              <a:solidFill>
                <a:srgbClr val="D9961A"/>
              </a:solidFill>
              <a:ln w="9525" cap="flat">
                <a:solidFill>
                  <a:srgbClr val="D9961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100.852</c:v>
                </c:pt>
                <c:pt idx="62">
                  <c:v>101.704</c:v>
                </c:pt>
                <c:pt idx="63">
                  <c:v>102.556</c:v>
                </c:pt>
                <c:pt idx="64">
                  <c:v>103.408</c:v>
                </c:pt>
                <c:pt idx="65">
                  <c:v>104.26</c:v>
                </c:pt>
                <c:pt idx="66">
                  <c:v>105.112</c:v>
                </c:pt>
                <c:pt idx="67">
                  <c:v>105.964</c:v>
                </c:pt>
                <c:pt idx="68">
                  <c:v>106.816</c:v>
                </c:pt>
                <c:pt idx="69">
                  <c:v>107.668</c:v>
                </c:pt>
                <c:pt idx="70">
                  <c:v>108.52</c:v>
                </c:pt>
                <c:pt idx="71">
                  <c:v>109.372</c:v>
                </c:pt>
                <c:pt idx="72">
                  <c:v>110.224</c:v>
                </c:pt>
                <c:pt idx="73">
                  <c:v>111.076</c:v>
                </c:pt>
                <c:pt idx="74">
                  <c:v>111.928</c:v>
                </c:pt>
                <c:pt idx="75">
                  <c:v>112.78</c:v>
                </c:pt>
                <c:pt idx="76">
                  <c:v>113.632</c:v>
                </c:pt>
                <c:pt idx="77">
                  <c:v>114.484</c:v>
                </c:pt>
                <c:pt idx="78">
                  <c:v>115.336</c:v>
                </c:pt>
                <c:pt idx="79">
                  <c:v>116.188</c:v>
                </c:pt>
                <c:pt idx="80">
                  <c:v>117.03999999999999</c:v>
                </c:pt>
                <c:pt idx="81">
                  <c:v>117.892</c:v>
                </c:pt>
                <c:pt idx="82">
                  <c:v>118.744</c:v>
                </c:pt>
                <c:pt idx="83">
                  <c:v>119.596</c:v>
                </c:pt>
                <c:pt idx="84">
                  <c:v>120.44800000000001</c:v>
                </c:pt>
                <c:pt idx="85">
                  <c:v>121.3</c:v>
                </c:pt>
                <c:pt idx="86">
                  <c:v>122.152</c:v>
                </c:pt>
                <c:pt idx="87">
                  <c:v>123.00399999999999</c:v>
                </c:pt>
                <c:pt idx="88">
                  <c:v>123.856</c:v>
                </c:pt>
                <c:pt idx="89">
                  <c:v>124.708</c:v>
                </c:pt>
                <c:pt idx="90">
                  <c:v>125.56</c:v>
                </c:pt>
                <c:pt idx="91">
                  <c:v>126.412</c:v>
                </c:pt>
                <c:pt idx="92">
                  <c:v>127.264</c:v>
                </c:pt>
                <c:pt idx="93">
                  <c:v>128.11599999999999</c:v>
                </c:pt>
                <c:pt idx="94">
                  <c:v>128.968</c:v>
                </c:pt>
                <c:pt idx="95">
                  <c:v>129.82</c:v>
                </c:pt>
                <c:pt idx="96">
                  <c:v>130.672</c:v>
                </c:pt>
                <c:pt idx="97">
                  <c:v>131.524</c:v>
                </c:pt>
                <c:pt idx="98">
                  <c:v>132.376</c:v>
                </c:pt>
                <c:pt idx="99">
                  <c:v>133.228</c:v>
                </c:pt>
                <c:pt idx="100">
                  <c:v>134.07999999999998</c:v>
                </c:pt>
                <c:pt idx="101">
                  <c:v>134.93200000000002</c:v>
                </c:pt>
                <c:pt idx="102">
                  <c:v>135.784</c:v>
                </c:pt>
                <c:pt idx="103">
                  <c:v>136.636</c:v>
                </c:pt>
                <c:pt idx="104">
                  <c:v>137.488</c:v>
                </c:pt>
                <c:pt idx="105">
                  <c:v>138.34</c:v>
                </c:pt>
                <c:pt idx="106">
                  <c:v>139.192</c:v>
                </c:pt>
                <c:pt idx="107">
                  <c:v>140.04399999999998</c:v>
                </c:pt>
                <c:pt idx="108">
                  <c:v>140.89600000000002</c:v>
                </c:pt>
                <c:pt idx="109">
                  <c:v>141.748</c:v>
                </c:pt>
                <c:pt idx="110">
                  <c:v>142.6</c:v>
                </c:pt>
                <c:pt idx="111">
                  <c:v>143.452</c:v>
                </c:pt>
                <c:pt idx="112">
                  <c:v>144.304</c:v>
                </c:pt>
                <c:pt idx="113">
                  <c:v>145.156</c:v>
                </c:pt>
                <c:pt idx="114">
                  <c:v>146.00799999999998</c:v>
                </c:pt>
                <c:pt idx="115">
                  <c:v>146.86</c:v>
                </c:pt>
                <c:pt idx="116">
                  <c:v>147.712</c:v>
                </c:pt>
                <c:pt idx="117">
                  <c:v>148.564</c:v>
                </c:pt>
                <c:pt idx="118">
                  <c:v>149.416</c:v>
                </c:pt>
                <c:pt idx="119">
                  <c:v>150.268</c:v>
                </c:pt>
                <c:pt idx="120">
                  <c:v>151.12</c:v>
                </c:pt>
                <c:pt idx="121">
                  <c:v>151.972</c:v>
                </c:pt>
                <c:pt idx="122">
                  <c:v>152.824</c:v>
                </c:pt>
                <c:pt idx="123">
                  <c:v>153.676</c:v>
                </c:pt>
                <c:pt idx="124">
                  <c:v>154.528</c:v>
                </c:pt>
                <c:pt idx="125">
                  <c:v>155.38</c:v>
                </c:pt>
                <c:pt idx="126">
                  <c:v>156.232</c:v>
                </c:pt>
                <c:pt idx="127">
                  <c:v>157.084</c:v>
                </c:pt>
                <c:pt idx="128">
                  <c:v>157.936</c:v>
                </c:pt>
                <c:pt idx="129">
                  <c:v>158.788</c:v>
                </c:pt>
                <c:pt idx="130">
                  <c:v>159.64</c:v>
                </c:pt>
                <c:pt idx="131">
                  <c:v>160.492</c:v>
                </c:pt>
                <c:pt idx="132">
                  <c:v>161.344</c:v>
                </c:pt>
                <c:pt idx="133">
                  <c:v>162.196</c:v>
                </c:pt>
                <c:pt idx="134">
                  <c:v>163.048</c:v>
                </c:pt>
                <c:pt idx="135">
                  <c:v>163.9</c:v>
                </c:pt>
                <c:pt idx="136">
                  <c:v>164.752</c:v>
                </c:pt>
                <c:pt idx="137">
                  <c:v>165.60399999999998</c:v>
                </c:pt>
                <c:pt idx="138">
                  <c:v>166.45600000000002</c:v>
                </c:pt>
                <c:pt idx="139">
                  <c:v>167.308</c:v>
                </c:pt>
                <c:pt idx="140">
                  <c:v>168.16</c:v>
                </c:pt>
              </c:numCache>
            </c:numRef>
          </c:yVal>
          <c:smooth val="0"/>
        </c:ser>
        <c:ser>
          <c:idx val="3"/>
          <c:order val="3"/>
          <c:tx>
            <c:strRef>
              <c:f>Sheet1!$E$1</c:f>
              <c:strCache>
                <c:ptCount val="1"/>
                <c:pt idx="0">
                  <c:v>Basket</c:v>
                </c:pt>
              </c:strCache>
            </c:strRef>
          </c:tx>
          <c:spPr>
            <a:solidFill>
              <a:srgbClr val="8FA6AA"/>
            </a:solidFill>
            <a:ln w="25400"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DCE7E5"/>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85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capital-protected autocallable on five Asian ETFs covering the AI-hardware supply chain (pan-Asian and Japanese semiconductors, Taiwan, Korea) plus an ESG sleeve. It pays a coupon whenever the basket is at or above its starting level, catches up any missed coupons, and returns 100% of capital at maturity whatever the basket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but the first rule is not to lose capital. That points us to an autocallable whose principal is fully protected, with a coupon that rewards recovery and is never lost, thanks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AI spending flows straight into Asian semiconductors: Taiwan makes the chips, Korea the memory, Japan the chip-making tools, plus an ESG-screened Taiwan sleeve. (2) Structuring: high USD rates make the protected principal cheap, and Asian volatility makes the 100% coupon trigger likely to be hit, so we can protect capital and still pay above the funding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Bloomberg-listed ETFs: 3119 HK (Asia semiconductors), 2644 JP (Japan semiconductors), EWT and EWY (US-listed Taiwan and Korea country funds) and 00878 TT (Taiwan ESG high dividend). EWT and EWY trade in USD, so no quanto is needed; the HKD, JPY and TWD lines are quantoed into USD. Check: 3119 trading value against the USD 5M/day rule, 2644 top holdings, and 00878 distributions (~7.6% a year), which reduce its price-return path and so the chance of the basket getting back to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Every design that puts capital at risk only pays 6–11% for a roughly 10–11% chance of a loss; pushing the loss probability down with a calmer basket kills the coupon. Protecting capital fully keeps a coupon above the funding rate because the principal is cheap at 5.69% rates and the autocall usually returns it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1.80% for that quarter plus any coupons missed before, and from Year 1 the note also ends with 100% back. If the answer is never yes, the family still gets 100% back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cash ladder. Each quarter the note lives adds 1.80% of notional, paid either on the date or later through memory. Right chart: if the note reaches Year 5 without being called, there are only two zones. At or above 100% the family receives 136.0%; below 100% it receives 100%, plus any coupons already paid in Q1–Q3. Above +36.0% the basket beats the note: that is the capped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on a single observation date against the basket level (the autocall leg is illustrative: it shows the remaining coupon stream switching off). Unlike a classic autocall, there is no short put: the coupon is funded by cheap protected principal and by the autocall cutting the coupon stream short when the basket is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where protection earns its keep: the basket is down 12% and 45%, the family gets 100%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~68% of paths, because volatility alone takes the basket back to 100% on some date. The honest cost of protection: in ~13% of paths (risk-neutral) the family earns nothing for 5 years, but it never loses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There is no capital-loss line: the main honest risks are earning nothing for 5 years, capped upside, and Natixis credit. The 7.20% coupon sits below the 7.8%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0F8B8D">
              <a:alpha val="65000"/>
            </a:srgbClr>
          </a:solidFill>
          <a:ln/>
        </p:spPr>
      </p:sp>
      <p:sp>
        <p:nvSpPr>
          <p:cNvPr id="3" name="Shape 1"/>
          <p:cNvSpPr/>
          <p:nvPr/>
        </p:nvSpPr>
        <p:spPr>
          <a:xfrm>
            <a:off x="7589520" y="3200400"/>
            <a:ext cx="2194560" cy="2194560"/>
          </a:xfrm>
          <a:prstGeom prst="ellipse">
            <a:avLst/>
          </a:prstGeom>
          <a:solidFill>
            <a:srgbClr val="D9961A">
              <a:alpha val="8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Calibri" pitchFamily="34" charset="0"/>
                <a:ea typeface="Calibri" pitchFamily="34" charset="-122"/>
                <a:cs typeface="Calibri"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Calibri" pitchFamily="34" charset="0"/>
                <a:ea typeface="Calibri" pitchFamily="34" charset="-122"/>
                <a:cs typeface="Calibri" pitchFamily="34" charset="-120"/>
              </a:rPr>
              <a:t>7.20% a year from Asia's semiconductor build-out, with 100% of capital returned at maturity</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D9961A"/>
                </a:solidFill>
                <a:latin typeface="Calibri" pitchFamily="34" charset="0"/>
                <a:ea typeface="Calibri" pitchFamily="34" charset="-122"/>
                <a:cs typeface="Calibri" pitchFamily="34" charset="-120"/>
              </a:rPr>
              <a:t>USD 100mn · 5-year note issued by Natixis · 7.20% p.a. memory coupon · 100% capital protected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Agenda</a:t>
            </a:r>
            <a:endParaRPr lang="en-US" sz="2200" dirty="0"/>
          </a:p>
        </p:txBody>
      </p:sp>
      <p:sp>
        <p:nvSpPr>
          <p:cNvPr id="3" name="Shape 1"/>
          <p:cNvSpPr/>
          <p:nvPr/>
        </p:nvSpPr>
        <p:spPr>
          <a:xfrm>
            <a:off x="548640" y="1097280"/>
            <a:ext cx="457200" cy="457200"/>
          </a:xfrm>
          <a:prstGeom prst="ellipse">
            <a:avLst/>
          </a:prstGeom>
          <a:solidFill>
            <a:srgbClr val="0F8B8D"/>
          </a:solidFill>
          <a:ln/>
        </p:spPr>
      </p:sp>
      <p:sp>
        <p:nvSpPr>
          <p:cNvPr id="4" name="Text 2"/>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234440" y="105156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Client &amp; market</a:t>
            </a:r>
            <a:endParaRPr lang="en-US" sz="1600" dirty="0"/>
          </a:p>
        </p:txBody>
      </p:sp>
      <p:sp>
        <p:nvSpPr>
          <p:cNvPr id="6" name="Text 4"/>
          <p:cNvSpPr txBox="1"/>
          <p:nvPr/>
        </p:nvSpPr>
        <p:spPr>
          <a:xfrm>
            <a:off x="1234440" y="135331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Who the Chak family is, what they need, and why Asia's digital build-out now</a:t>
            </a:r>
            <a:endParaRPr lang="en-US" sz="1150" dirty="0"/>
          </a:p>
        </p:txBody>
      </p:sp>
      <p:sp>
        <p:nvSpPr>
          <p:cNvPr id="7" name="Text 5"/>
          <p:cNvSpPr txBox="1"/>
          <p:nvPr/>
        </p:nvSpPr>
        <p:spPr>
          <a:xfrm>
            <a:off x="7315200" y="112471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1–2</a:t>
            </a:r>
            <a:endParaRPr lang="en-US" sz="1100" dirty="0"/>
          </a:p>
        </p:txBody>
      </p:sp>
      <p:sp>
        <p:nvSpPr>
          <p:cNvPr id="8" name="Shape 6"/>
          <p:cNvSpPr/>
          <p:nvPr/>
        </p:nvSpPr>
        <p:spPr>
          <a:xfrm>
            <a:off x="548640" y="1828800"/>
            <a:ext cx="457200" cy="457200"/>
          </a:xfrm>
          <a:prstGeom prst="ellipse">
            <a:avLst/>
          </a:prstGeom>
          <a:solidFill>
            <a:srgbClr val="D9961A"/>
          </a:solidFill>
          <a:ln/>
        </p:spPr>
      </p:sp>
      <p:sp>
        <p:nvSpPr>
          <p:cNvPr id="9" name="Text 7"/>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234440" y="178308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Product design</a:t>
            </a:r>
            <a:endParaRPr lang="en-US" sz="1600" dirty="0"/>
          </a:p>
        </p:txBody>
      </p:sp>
      <p:sp>
        <p:nvSpPr>
          <p:cNvPr id="11" name="Text 9"/>
          <p:cNvSpPr txBox="1"/>
          <p:nvPr/>
        </p:nvSpPr>
        <p:spPr>
          <a:xfrm>
            <a:off x="1234440" y="208483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Underlying basket, term sheet, and why a capital-protected autocallable</a:t>
            </a:r>
            <a:endParaRPr lang="en-US" sz="1150" dirty="0"/>
          </a:p>
        </p:txBody>
      </p:sp>
      <p:sp>
        <p:nvSpPr>
          <p:cNvPr id="12" name="Text 10"/>
          <p:cNvSpPr txBox="1"/>
          <p:nvPr/>
        </p:nvSpPr>
        <p:spPr>
          <a:xfrm>
            <a:off x="7315200" y="185623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3–4</a:t>
            </a:r>
            <a:endParaRPr lang="en-US" sz="1100" dirty="0"/>
          </a:p>
        </p:txBody>
      </p:sp>
      <p:sp>
        <p:nvSpPr>
          <p:cNvPr id="13" name="Shape 11"/>
          <p:cNvSpPr/>
          <p:nvPr/>
        </p:nvSpPr>
        <p:spPr>
          <a:xfrm>
            <a:off x="548640" y="2560320"/>
            <a:ext cx="457200" cy="457200"/>
          </a:xfrm>
          <a:prstGeom prst="ellipse">
            <a:avLst/>
          </a:prstGeom>
          <a:solidFill>
            <a:srgbClr val="0F8B8D"/>
          </a:solidFill>
          <a:ln/>
        </p:spPr>
      </p:sp>
      <p:sp>
        <p:nvSpPr>
          <p:cNvPr id="14" name="Text 12"/>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234440" y="251460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Payoffs explained</a:t>
            </a:r>
            <a:endParaRPr lang="en-US" sz="1600" dirty="0"/>
          </a:p>
        </p:txBody>
      </p:sp>
      <p:sp>
        <p:nvSpPr>
          <p:cNvPr id="16" name="Text 14"/>
          <p:cNvSpPr txBox="1"/>
          <p:nvPr/>
        </p:nvSpPr>
        <p:spPr>
          <a:xfrm>
            <a:off x="1234440" y="281635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Observation timeline, payoff diagrams, and the building blocks the client owns</a:t>
            </a:r>
            <a:endParaRPr lang="en-US" sz="1150" dirty="0"/>
          </a:p>
        </p:txBody>
      </p:sp>
      <p:sp>
        <p:nvSpPr>
          <p:cNvPr id="17" name="Text 15"/>
          <p:cNvSpPr txBox="1"/>
          <p:nvPr/>
        </p:nvSpPr>
        <p:spPr>
          <a:xfrm>
            <a:off x="7315200" y="258775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5–7</a:t>
            </a:r>
            <a:endParaRPr lang="en-US" sz="1100" dirty="0"/>
          </a:p>
        </p:txBody>
      </p:sp>
      <p:sp>
        <p:nvSpPr>
          <p:cNvPr id="18" name="Shape 16"/>
          <p:cNvSpPr/>
          <p:nvPr/>
        </p:nvSpPr>
        <p:spPr>
          <a:xfrm>
            <a:off x="548640" y="3291840"/>
            <a:ext cx="457200" cy="457200"/>
          </a:xfrm>
          <a:prstGeom prst="ellipse">
            <a:avLst/>
          </a:prstGeom>
          <a:solidFill>
            <a:srgbClr val="D9961A"/>
          </a:solidFill>
          <a:ln/>
        </p:spPr>
      </p:sp>
      <p:sp>
        <p:nvSpPr>
          <p:cNvPr id="19" name="Text 17"/>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1234440" y="324612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Scenarios &amp; back-testing</a:t>
            </a:r>
            <a:endParaRPr lang="en-US" sz="1600" dirty="0"/>
          </a:p>
        </p:txBody>
      </p:sp>
      <p:sp>
        <p:nvSpPr>
          <p:cNvPr id="21" name="Text 19"/>
          <p:cNvSpPr txBox="1"/>
          <p:nvPr/>
        </p:nvSpPr>
        <p:spPr>
          <a:xfrm>
            <a:off x="1234440" y="354787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Stress paths and Monte Carlo outcome distributions</a:t>
            </a:r>
            <a:endParaRPr lang="en-US" sz="1150" dirty="0"/>
          </a:p>
        </p:txBody>
      </p:sp>
      <p:sp>
        <p:nvSpPr>
          <p:cNvPr id="22" name="Text 20"/>
          <p:cNvSpPr txBox="1"/>
          <p:nvPr/>
        </p:nvSpPr>
        <p:spPr>
          <a:xfrm>
            <a:off x="7315200" y="331927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8–9</a:t>
            </a:r>
            <a:endParaRPr lang="en-US" sz="1100" dirty="0"/>
          </a:p>
        </p:txBody>
      </p:sp>
      <p:sp>
        <p:nvSpPr>
          <p:cNvPr id="23" name="Shape 21"/>
          <p:cNvSpPr/>
          <p:nvPr/>
        </p:nvSpPr>
        <p:spPr>
          <a:xfrm>
            <a:off x="548640" y="4023360"/>
            <a:ext cx="457200" cy="457200"/>
          </a:xfrm>
          <a:prstGeom prst="ellipse">
            <a:avLst/>
          </a:prstGeom>
          <a:solidFill>
            <a:srgbClr val="0F8B8D"/>
          </a:solidFill>
          <a:ln/>
        </p:spPr>
      </p:sp>
      <p:sp>
        <p:nvSpPr>
          <p:cNvPr id="24" name="Text 22"/>
          <p:cNvSpPr txBox="1"/>
          <p:nvPr/>
        </p:nvSpPr>
        <p:spPr>
          <a:xfrm>
            <a:off x="548640" y="4023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234440" y="397764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Risks &amp; hedging</a:t>
            </a:r>
            <a:endParaRPr lang="en-US" sz="1600" dirty="0"/>
          </a:p>
        </p:txBody>
      </p:sp>
      <p:sp>
        <p:nvSpPr>
          <p:cNvPr id="26" name="Text 24"/>
          <p:cNvSpPr txBox="1"/>
          <p:nvPr/>
        </p:nvSpPr>
        <p:spPr>
          <a:xfrm>
            <a:off x="1234440" y="427939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Investor risks, mitigants, and how the Natixis desk hedges</a:t>
            </a:r>
            <a:endParaRPr lang="en-US" sz="1150" dirty="0"/>
          </a:p>
        </p:txBody>
      </p:sp>
      <p:sp>
        <p:nvSpPr>
          <p:cNvPr id="27" name="Text 25"/>
          <p:cNvSpPr txBox="1"/>
          <p:nvPr/>
        </p:nvSpPr>
        <p:spPr>
          <a:xfrm>
            <a:off x="7315200" y="405079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 10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Executive summary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One note that turns the family's operating expertise into protected returns</a:t>
            </a:r>
            <a:endParaRPr lang="en-US" sz="1250" dirty="0"/>
          </a:p>
        </p:txBody>
      </p:sp>
      <p:sp>
        <p:nvSpPr>
          <p:cNvPr id="4" name="Shape 2"/>
          <p:cNvSpPr/>
          <p:nvPr/>
        </p:nvSpPr>
        <p:spPr>
          <a:xfrm>
            <a:off x="457200" y="1234440"/>
            <a:ext cx="2606040" cy="2103120"/>
          </a:xfrm>
          <a:prstGeom prst="roundRect">
            <a:avLst>
              <a:gd name="adj" fmla="val 3043"/>
            </a:avLst>
          </a:prstGeom>
          <a:solidFill>
            <a:srgbClr val="E6F2F0"/>
          </a:solidFill>
          <a:ln w="12700">
            <a:solidFill>
              <a:srgbClr val="E6F2F0"/>
            </a:solidFill>
            <a:prstDash val="solid"/>
          </a:ln>
        </p:spPr>
      </p:sp>
      <p:sp>
        <p:nvSpPr>
          <p:cNvPr id="5" name="Text 3"/>
          <p:cNvSpPr txBox="1"/>
          <p:nvPr/>
        </p:nvSpPr>
        <p:spPr>
          <a:xfrm>
            <a:off x="65836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7.20%</a:t>
            </a:r>
            <a:endParaRPr lang="en-US" sz="3800" dirty="0"/>
          </a:p>
        </p:txBody>
      </p:sp>
      <p:sp>
        <p:nvSpPr>
          <p:cNvPr id="6" name="Text 4"/>
          <p:cNvSpPr txBox="1"/>
          <p:nvPr/>
        </p:nvSpPr>
        <p:spPr>
          <a:xfrm>
            <a:off x="65836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Memory coupon p.a.</a:t>
            </a:r>
            <a:endParaRPr lang="en-US" sz="1300" dirty="0"/>
          </a:p>
        </p:txBody>
      </p:sp>
      <p:sp>
        <p:nvSpPr>
          <p:cNvPr id="7" name="Text 5"/>
          <p:cNvSpPr txBox="1"/>
          <p:nvPr/>
        </p:nvSpPr>
        <p:spPr>
          <a:xfrm>
            <a:off x="65836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1.80% each quarter the basket is ≥ 100%; missed coupons are paid later when it recovers</a:t>
            </a:r>
            <a:endParaRPr lang="en-US" sz="1050" dirty="0"/>
          </a:p>
        </p:txBody>
      </p:sp>
      <p:sp>
        <p:nvSpPr>
          <p:cNvPr id="8" name="Shape 6"/>
          <p:cNvSpPr/>
          <p:nvPr/>
        </p:nvSpPr>
        <p:spPr>
          <a:xfrm>
            <a:off x="3246120" y="1234440"/>
            <a:ext cx="2606040" cy="2103120"/>
          </a:xfrm>
          <a:prstGeom prst="roundRect">
            <a:avLst>
              <a:gd name="adj" fmla="val 3043"/>
            </a:avLst>
          </a:prstGeom>
          <a:solidFill>
            <a:srgbClr val="E6F2F0"/>
          </a:solidFill>
          <a:ln w="12700">
            <a:solidFill>
              <a:srgbClr val="E6F2F0"/>
            </a:solidFill>
            <a:prstDash val="solid"/>
          </a:ln>
        </p:spPr>
      </p:sp>
      <p:sp>
        <p:nvSpPr>
          <p:cNvPr id="9" name="Text 7"/>
          <p:cNvSpPr txBox="1"/>
          <p:nvPr/>
        </p:nvSpPr>
        <p:spPr>
          <a:xfrm>
            <a:off x="3447288" y="1353312"/>
            <a:ext cx="2240280" cy="731520"/>
          </a:xfrm>
          <a:prstGeom prst="rect">
            <a:avLst/>
          </a:prstGeom>
          <a:noFill/>
          <a:ln/>
        </p:spPr>
        <p:txBody>
          <a:bodyPr wrap="square" lIns="0" tIns="0" rIns="0" bIns="0" rtlCol="0" anchor="ctr"/>
          <a:lstStyle/>
          <a:p>
            <a:pPr indent="0" marL="0">
              <a:buNone/>
            </a:pPr>
            <a:r>
              <a:rPr lang="en-US" sz="3800" b="1" dirty="0">
                <a:solidFill>
                  <a:srgbClr val="D9961A"/>
                </a:solidFill>
                <a:latin typeface="Cambria" pitchFamily="34" charset="0"/>
                <a:ea typeface="Cambria" pitchFamily="34" charset="-122"/>
                <a:cs typeface="Cambria" pitchFamily="34" charset="-120"/>
              </a:rPr>
              <a:t>100%</a:t>
            </a:r>
            <a:endParaRPr lang="en-US" sz="3800" dirty="0"/>
          </a:p>
        </p:txBody>
      </p:sp>
      <p:sp>
        <p:nvSpPr>
          <p:cNvPr id="10" name="Text 8"/>
          <p:cNvSpPr txBox="1"/>
          <p:nvPr/>
        </p:nvSpPr>
        <p:spPr>
          <a:xfrm>
            <a:off x="344728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Capital protected</a:t>
            </a:r>
            <a:endParaRPr lang="en-US" sz="1300" dirty="0"/>
          </a:p>
        </p:txBody>
      </p:sp>
      <p:sp>
        <p:nvSpPr>
          <p:cNvPr id="11" name="Text 9"/>
          <p:cNvSpPr txBox="1"/>
          <p:nvPr/>
        </p:nvSpPr>
        <p:spPr>
          <a:xfrm>
            <a:off x="344728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Principal returned in full at maturity whatever the basket does (Natixis credit risk only)</a:t>
            </a:r>
            <a:endParaRPr lang="en-US" sz="1050" dirty="0"/>
          </a:p>
        </p:txBody>
      </p:sp>
      <p:sp>
        <p:nvSpPr>
          <p:cNvPr id="12" name="Shape 10"/>
          <p:cNvSpPr/>
          <p:nvPr/>
        </p:nvSpPr>
        <p:spPr>
          <a:xfrm>
            <a:off x="6035040" y="1234440"/>
            <a:ext cx="2606040" cy="2103120"/>
          </a:xfrm>
          <a:prstGeom prst="roundRect">
            <a:avLst>
              <a:gd name="adj" fmla="val 3043"/>
            </a:avLst>
          </a:prstGeom>
          <a:solidFill>
            <a:srgbClr val="E6F2F0"/>
          </a:solidFill>
          <a:ln w="12700">
            <a:solidFill>
              <a:srgbClr val="E6F2F0"/>
            </a:solidFill>
            <a:prstDash val="solid"/>
          </a:ln>
        </p:spPr>
      </p:sp>
      <p:sp>
        <p:nvSpPr>
          <p:cNvPr id="13" name="Text 11"/>
          <p:cNvSpPr txBox="1"/>
          <p:nvPr/>
        </p:nvSpPr>
        <p:spPr>
          <a:xfrm>
            <a:off x="623620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49%</a:t>
            </a:r>
            <a:endParaRPr lang="en-US" sz="3800" dirty="0"/>
          </a:p>
        </p:txBody>
      </p:sp>
      <p:sp>
        <p:nvSpPr>
          <p:cNvPr id="14" name="Text 12"/>
          <p:cNvSpPr txBox="1"/>
          <p:nvPr/>
        </p:nvSpPr>
        <p:spPr>
          <a:xfrm>
            <a:off x="623620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Called at first review</a:t>
            </a:r>
            <a:endParaRPr lang="en-US" sz="1300" dirty="0"/>
          </a:p>
        </p:txBody>
      </p:sp>
      <p:sp>
        <p:nvSpPr>
          <p:cNvPr id="15" name="Text 13"/>
          <p:cNvSpPr txBox="1"/>
          <p:nvPr/>
        </p:nvSpPr>
        <p:spPr>
          <a:xfrm>
            <a:off x="623620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Risk-neutral. 79% called within 5 years; expected life 2.22 years</a:t>
            </a:r>
            <a:endParaRPr lang="en-US" sz="1050" dirty="0"/>
          </a:p>
        </p:txBody>
      </p:sp>
      <p:sp>
        <p:nvSpPr>
          <p:cNvPr id="16" name="Text 14"/>
          <p:cNvSpPr txBox="1"/>
          <p:nvPr/>
        </p:nvSpPr>
        <p:spPr>
          <a:xfrm>
            <a:off x="457200" y="3520440"/>
            <a:ext cx="8229600" cy="1188720"/>
          </a:xfrm>
          <a:prstGeom prst="rect">
            <a:avLst/>
          </a:prstGeom>
          <a:noFill/>
          <a:ln/>
        </p:spPr>
        <p:txBody>
          <a:bodyPr wrap="square" lIns="0" tIns="0" rIns="0" bIns="0" rtlCol="0" anchor="t"/>
          <a:lstStyle/>
          <a:p>
            <a:pPr indent="0" marL="0">
              <a:buNone/>
            </a:pPr>
            <a:r>
              <a:rPr lang="en-US" sz="1150" dirty="0">
                <a:solidFill>
                  <a:srgbClr val="1D2B30"/>
                </a:solidFill>
                <a:latin typeface="Calibri" pitchFamily="34" charset="0"/>
                <a:ea typeface="Calibri" pitchFamily="34" charset="-122"/>
                <a:cs typeface="Calibri" pitchFamily="34" charset="-120"/>
              </a:rPr>
              <a:t>We recommend </a:t>
            </a:r>
            <a:pPr indent="0" marL="0">
              <a:buNone/>
            </a:pPr>
            <a:r>
              <a:rPr lang="en-US" sz="1150" b="1" dirty="0">
                <a:solidFill>
                  <a:srgbClr val="0F8B8D"/>
                </a:solidFill>
                <a:latin typeface="Calibri" pitchFamily="34" charset="0"/>
                <a:ea typeface="Calibri" pitchFamily="34" charset="-122"/>
                <a:cs typeface="Calibri" pitchFamily="34" charset="-120"/>
              </a:rPr>
              <a:t>a USD 100mn, 5-year Natixis capital-protected autocallable note</a:t>
            </a:r>
            <a:pPr indent="0" marL="0">
              <a:buNone/>
            </a:pPr>
            <a:r>
              <a:rPr lang="en-US" sz="1150" dirty="0">
                <a:solidFill>
                  <a:srgbClr val="1D2B30"/>
                </a:solidFill>
                <a:latin typeface="Calibri" pitchFamily="34" charset="0"/>
                <a:ea typeface="Calibri" pitchFamily="34" charset="-122"/>
                <a:cs typeface="Calibri" pitchFamily="34" charset="-120"/>
              </a:rPr>
              <a:t> on a basket of five Bloomberg-listed Asian ETFs: Global X Asia Semiconductor (3119 HK) 25%, Global X Japan Semiconductor (2644 JP) 20%, iShares MSCI Taiwan (EWT) 20%, iShares MSCI South Korea (EWY) 20% and Cathay Taiwan ESG High Dividend (00878 TT) 15%. It gives the family the AI hardware layer (chips, memory and chip-making equipment) that complements, rather than duplicates, the infrastructure, power and property they already own. </a:t>
            </a:r>
            <a:pPr indent="0" marL="0">
              <a:buNone/>
            </a:pPr>
            <a:r>
              <a:rPr lang="en-US" sz="1150" b="1" dirty="0">
                <a:solidFill>
                  <a:srgbClr val="1D2B30"/>
                </a:solidFill>
                <a:latin typeface="Calibri" pitchFamily="34" charset="0"/>
                <a:ea typeface="Calibri" pitchFamily="34" charset="-122"/>
                <a:cs typeface="Calibri" pitchFamily="34" charset="-120"/>
              </a:rPr>
              <a:t>The family never loses capital at maturity, earns 7.20% a year in the 79% of paths where the basket gets back to its starting level, and gets 100% back in the rest. Fair value is 97.4%, so issuing at par leaves Natixis 2.6% for hedging and margin.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The family wants growth without putting the legacy at risk</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Client diagnosis: third-generation dynasty, succession done, now allocating for legacy</a:t>
            </a:r>
            <a:endParaRPr lang="en-US" sz="1250" dirty="0"/>
          </a:p>
        </p:txBody>
      </p:sp>
      <p:sp>
        <p:nvSpPr>
          <p:cNvPr id="4" name="Shape 2"/>
          <p:cNvSpPr/>
          <p:nvPr/>
        </p:nvSpPr>
        <p:spPr>
          <a:xfrm>
            <a:off x="457200" y="1188720"/>
            <a:ext cx="2606040" cy="2057400"/>
          </a:xfrm>
          <a:prstGeom prst="roundRect">
            <a:avLst>
              <a:gd name="adj" fmla="val 3111"/>
            </a:avLst>
          </a:prstGeom>
          <a:solidFill>
            <a:srgbClr val="E6F2F0"/>
          </a:solidFill>
          <a:ln w="12700">
            <a:solidFill>
              <a:srgbClr val="E6F2F0"/>
            </a:solidFill>
            <a:prstDash val="solid"/>
          </a:ln>
        </p:spPr>
      </p:sp>
      <p:sp>
        <p:nvSpPr>
          <p:cNvPr id="5" name="Text 3"/>
          <p:cNvSpPr txBox="1"/>
          <p:nvPr/>
        </p:nvSpPr>
        <p:spPr>
          <a:xfrm>
            <a:off x="64008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Who they are</a:t>
            </a:r>
            <a:endParaRPr lang="en-US" sz="1400" dirty="0"/>
          </a:p>
        </p:txBody>
      </p:sp>
      <p:sp>
        <p:nvSpPr>
          <p:cNvPr id="6" name="Text 4"/>
          <p:cNvSpPr txBox="1"/>
          <p:nvPr/>
        </p:nvSpPr>
        <p:spPr>
          <a:xfrm>
            <a:off x="64008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Single-family office: NKE Private Wealth</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Net worth &gt; USD 2bn; mandate USD 100mn (~5%)</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Businesses: tech infrastructure, renewable power plants, real estate in Japan and Greater China</a:t>
            </a:r>
            <a:endParaRPr lang="en-US" sz="1050" dirty="0"/>
          </a:p>
        </p:txBody>
      </p:sp>
      <p:sp>
        <p:nvSpPr>
          <p:cNvPr id="7" name="Shape 5"/>
          <p:cNvSpPr/>
          <p:nvPr/>
        </p:nvSpPr>
        <p:spPr>
          <a:xfrm>
            <a:off x="3246120" y="1188720"/>
            <a:ext cx="2606040" cy="2057400"/>
          </a:xfrm>
          <a:prstGeom prst="roundRect">
            <a:avLst>
              <a:gd name="adj" fmla="val 3111"/>
            </a:avLst>
          </a:prstGeom>
          <a:solidFill>
            <a:srgbClr val="E6F2F0"/>
          </a:solidFill>
          <a:ln w="12700">
            <a:solidFill>
              <a:srgbClr val="E6F2F0"/>
            </a:solidFill>
            <a:prstDash val="solid"/>
          </a:ln>
        </p:spPr>
      </p:sp>
      <p:sp>
        <p:nvSpPr>
          <p:cNvPr id="8" name="Text 6"/>
          <p:cNvSpPr txBox="1"/>
          <p:nvPr/>
        </p:nvSpPr>
        <p:spPr>
          <a:xfrm>
            <a:off x="342900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What they want</a:t>
            </a:r>
            <a:endParaRPr lang="en-US" sz="1400" dirty="0"/>
          </a:p>
        </p:txBody>
      </p:sp>
      <p:sp>
        <p:nvSpPr>
          <p:cNvPr id="9" name="Text 7"/>
          <p:cNvSpPr txBox="1"/>
          <p:nvPr/>
        </p:nvSpPr>
        <p:spPr>
          <a:xfrm>
            <a:off x="342900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Capital appreciation for future generations</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Meaningful exposure to Asia's digital transformation</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To bridge traditional Asian sectors with emerging tech they know</a:t>
            </a:r>
            <a:endParaRPr lang="en-US" sz="1050" dirty="0"/>
          </a:p>
        </p:txBody>
      </p:sp>
      <p:sp>
        <p:nvSpPr>
          <p:cNvPr id="10" name="Shape 8"/>
          <p:cNvSpPr/>
          <p:nvPr/>
        </p:nvSpPr>
        <p:spPr>
          <a:xfrm>
            <a:off x="6035040" y="1188720"/>
            <a:ext cx="2606040" cy="2057400"/>
          </a:xfrm>
          <a:prstGeom prst="roundRect">
            <a:avLst>
              <a:gd name="adj" fmla="val 3111"/>
            </a:avLst>
          </a:prstGeom>
          <a:solidFill>
            <a:srgbClr val="0B3C49"/>
          </a:solidFill>
          <a:ln w="12700">
            <a:solidFill>
              <a:srgbClr val="0B3C49"/>
            </a:solidFill>
            <a:prstDash val="solid"/>
          </a:ln>
        </p:spPr>
      </p:sp>
      <p:sp>
        <p:nvSpPr>
          <p:cNvPr id="11" name="Text 9"/>
          <p:cNvSpPr txBox="1"/>
          <p:nvPr/>
        </p:nvSpPr>
        <p:spPr>
          <a:xfrm>
            <a:off x="6217920" y="1298448"/>
            <a:ext cx="2286000" cy="292608"/>
          </a:xfrm>
          <a:prstGeom prst="rect">
            <a:avLst/>
          </a:prstGeom>
          <a:noFill/>
          <a:ln/>
        </p:spPr>
        <p:txBody>
          <a:bodyPr wrap="square" lIns="0" tIns="0" rIns="0" bIns="0" rtlCol="0" anchor="t"/>
          <a:lstStyle/>
          <a:p>
            <a:pPr indent="0" marL="0">
              <a:buNone/>
            </a:pPr>
            <a:r>
              <a:rPr lang="en-US" sz="1400" b="1" dirty="0">
                <a:solidFill>
                  <a:srgbClr val="D9961A"/>
                </a:solidFill>
                <a:latin typeface="Calibri" pitchFamily="34" charset="0"/>
                <a:ea typeface="Calibri" pitchFamily="34" charset="-122"/>
                <a:cs typeface="Calibri" pitchFamily="34" charset="-120"/>
              </a:rPr>
              <a:t>What they can bear</a:t>
            </a:r>
            <a:endParaRPr lang="en-US" sz="1400" dirty="0"/>
          </a:p>
        </p:txBody>
      </p:sp>
      <p:sp>
        <p:nvSpPr>
          <p:cNvPr id="12" name="Text 10"/>
          <p:cNvSpPr txBox="1"/>
          <p:nvPr/>
        </p:nvSpPr>
        <p:spPr>
          <a:xfrm>
            <a:off x="621792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Moderate risk: preserve the legacy first</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5-year horizon; coupons can be reinvested</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Accepts limited liquidity on 5% of wealth</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Volatile backdrop: no capital at risk</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2377440"/>
                <a:gridCol w="585216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Client need</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answer in our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Capital appreciation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7.20% p.a. coupon, above the 5.69% 5Y USD funding rate, in every path that autocalls; proceeds roll into the next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Exposure to Asian digital transformation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Semiconductor-heavy basket: the AI hardware layer behind the family's tech-infrastructure business (slide 3)</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Generational preservation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capital protection at maturity, diversified basket (not worst-of), BPCE-backed issuer</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Volatile markets</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Memory coupon: a missed coupon is not lost but paid when the basket recovers; drawdowns cannot touch the principal</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Why now: Asia builds the hardware of the AI economy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Investment thesis: structural growth themes, and a rate level that makes capital protection cheap</a:t>
            </a:r>
            <a:endParaRPr lang="en-US" sz="1250" dirty="0"/>
          </a:p>
        </p:txBody>
      </p:sp>
      <p:sp>
        <p:nvSpPr>
          <p:cNvPr id="4" name="Shape 2"/>
          <p:cNvSpPr/>
          <p:nvPr/>
        </p:nvSpPr>
        <p:spPr>
          <a:xfrm>
            <a:off x="457200" y="1188720"/>
            <a:ext cx="2377440" cy="1280160"/>
          </a:xfrm>
          <a:prstGeom prst="roundRect">
            <a:avLst>
              <a:gd name="adj" fmla="val 5000"/>
            </a:avLst>
          </a:prstGeom>
          <a:solidFill>
            <a:srgbClr val="E6F2F0"/>
          </a:solidFill>
          <a:ln w="12700">
            <a:solidFill>
              <a:srgbClr val="E6F2F0"/>
            </a:solidFill>
            <a:prstDash val="solid"/>
          </a:ln>
        </p:spPr>
      </p:sp>
      <p:sp>
        <p:nvSpPr>
          <p:cNvPr id="5" name="Shape 3"/>
          <p:cNvSpPr/>
          <p:nvPr/>
        </p:nvSpPr>
        <p:spPr>
          <a:xfrm>
            <a:off x="594360" y="1325880"/>
            <a:ext cx="347472" cy="347472"/>
          </a:xfrm>
          <a:prstGeom prst="ellipse">
            <a:avLst/>
          </a:prstGeom>
          <a:solidFill>
            <a:srgbClr val="0F8B8D"/>
          </a:solidFill>
          <a:ln/>
        </p:spPr>
      </p:sp>
      <p:sp>
        <p:nvSpPr>
          <p:cNvPr id="6" name="Text 4"/>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0241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Taiwan: the AI foundry</a:t>
            </a:r>
            <a:endParaRPr lang="en-US" sz="1150" dirty="0"/>
          </a:p>
        </p:txBody>
      </p:sp>
      <p:sp>
        <p:nvSpPr>
          <p:cNvPr id="8" name="Text 6"/>
          <p:cNvSpPr txBox="1"/>
          <p:nvPr/>
        </p:nvSpPr>
        <p:spPr>
          <a:xfrm>
            <a:off x="5943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TSMC and its supply chain make most of the world's advanced AI chips; Taiwan's index is dominated by semiconductors.</a:t>
            </a:r>
            <a:endParaRPr lang="en-US" sz="950" dirty="0"/>
          </a:p>
        </p:txBody>
      </p:sp>
      <p:sp>
        <p:nvSpPr>
          <p:cNvPr id="9" name="Shape 7"/>
          <p:cNvSpPr/>
          <p:nvPr/>
        </p:nvSpPr>
        <p:spPr>
          <a:xfrm>
            <a:off x="2971800" y="1188720"/>
            <a:ext cx="2377440" cy="1280160"/>
          </a:xfrm>
          <a:prstGeom prst="roundRect">
            <a:avLst>
              <a:gd name="adj" fmla="val 5000"/>
            </a:avLst>
          </a:prstGeom>
          <a:solidFill>
            <a:srgbClr val="E6F2F0"/>
          </a:solidFill>
          <a:ln w="12700">
            <a:solidFill>
              <a:srgbClr val="E6F2F0"/>
            </a:solidFill>
            <a:prstDash val="solid"/>
          </a:ln>
        </p:spPr>
      </p:sp>
      <p:sp>
        <p:nvSpPr>
          <p:cNvPr id="10" name="Shape 8"/>
          <p:cNvSpPr/>
          <p:nvPr/>
        </p:nvSpPr>
        <p:spPr>
          <a:xfrm>
            <a:off x="3108960" y="1325880"/>
            <a:ext cx="347472" cy="347472"/>
          </a:xfrm>
          <a:prstGeom prst="ellipse">
            <a:avLst/>
          </a:prstGeom>
          <a:solidFill>
            <a:srgbClr val="0F8B8D"/>
          </a:solidFill>
          <a:ln/>
        </p:spPr>
      </p:sp>
      <p:sp>
        <p:nvSpPr>
          <p:cNvPr id="11" name="Text 9"/>
          <p:cNvSpPr txBox="1"/>
          <p:nvPr/>
        </p:nvSpPr>
        <p:spPr>
          <a:xfrm>
            <a:off x="31089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35387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Korea: memory for AI</a:t>
            </a:r>
            <a:endParaRPr lang="en-US" sz="1150" dirty="0"/>
          </a:p>
        </p:txBody>
      </p:sp>
      <p:sp>
        <p:nvSpPr>
          <p:cNvPr id="13" name="Text 11"/>
          <p:cNvSpPr txBox="1"/>
          <p:nvPr/>
        </p:nvSpPr>
        <p:spPr>
          <a:xfrm>
            <a:off x="31089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Samsung and SK hynix supply the high-bandwidth memory every AI accelerator needs; together ~44% of EWY.</a:t>
            </a:r>
            <a:endParaRPr lang="en-US" sz="950" dirty="0"/>
          </a:p>
        </p:txBody>
      </p:sp>
      <p:sp>
        <p:nvSpPr>
          <p:cNvPr id="14" name="Shape 12"/>
          <p:cNvSpPr/>
          <p:nvPr/>
        </p:nvSpPr>
        <p:spPr>
          <a:xfrm>
            <a:off x="457200" y="2606040"/>
            <a:ext cx="2377440" cy="1280160"/>
          </a:xfrm>
          <a:prstGeom prst="roundRect">
            <a:avLst>
              <a:gd name="adj" fmla="val 5000"/>
            </a:avLst>
          </a:prstGeom>
          <a:solidFill>
            <a:srgbClr val="E6F2F0"/>
          </a:solidFill>
          <a:ln w="12700">
            <a:solidFill>
              <a:srgbClr val="E6F2F0"/>
            </a:solidFill>
            <a:prstDash val="solid"/>
          </a:ln>
        </p:spPr>
      </p:sp>
      <p:sp>
        <p:nvSpPr>
          <p:cNvPr id="15" name="Shape 13"/>
          <p:cNvSpPr/>
          <p:nvPr/>
        </p:nvSpPr>
        <p:spPr>
          <a:xfrm>
            <a:off x="594360" y="2743200"/>
            <a:ext cx="347472" cy="347472"/>
          </a:xfrm>
          <a:prstGeom prst="ellipse">
            <a:avLst/>
          </a:prstGeom>
          <a:solidFill>
            <a:srgbClr val="0F8B8D"/>
          </a:solidFill>
          <a:ln/>
        </p:spPr>
      </p:sp>
      <p:sp>
        <p:nvSpPr>
          <p:cNvPr id="16" name="Text 14"/>
          <p:cNvSpPr txBox="1"/>
          <p:nvPr/>
        </p:nvSpPr>
        <p:spPr>
          <a:xfrm>
            <a:off x="5943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0241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Japan: chip-making tools</a:t>
            </a:r>
            <a:endParaRPr lang="en-US" sz="1150" dirty="0"/>
          </a:p>
        </p:txBody>
      </p:sp>
      <p:sp>
        <p:nvSpPr>
          <p:cNvPr id="18" name="Text 16"/>
          <p:cNvSpPr txBox="1"/>
          <p:nvPr/>
        </p:nvSpPr>
        <p:spPr>
          <a:xfrm>
            <a:off x="5943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Tokyo Electron, Advantest and peers make the equipment and testers chip factories need, alongside TSE governance reforms.</a:t>
            </a:r>
            <a:endParaRPr lang="en-US" sz="950" dirty="0"/>
          </a:p>
        </p:txBody>
      </p:sp>
      <p:sp>
        <p:nvSpPr>
          <p:cNvPr id="19" name="Shape 17"/>
          <p:cNvSpPr/>
          <p:nvPr/>
        </p:nvSpPr>
        <p:spPr>
          <a:xfrm>
            <a:off x="2971800" y="2606040"/>
            <a:ext cx="2377440" cy="1280160"/>
          </a:xfrm>
          <a:prstGeom prst="roundRect">
            <a:avLst>
              <a:gd name="adj" fmla="val 5000"/>
            </a:avLst>
          </a:prstGeom>
          <a:solidFill>
            <a:srgbClr val="E6F2F0"/>
          </a:solidFill>
          <a:ln w="12700">
            <a:solidFill>
              <a:srgbClr val="E6F2F0"/>
            </a:solidFill>
            <a:prstDash val="solid"/>
          </a:ln>
        </p:spPr>
      </p:sp>
      <p:sp>
        <p:nvSpPr>
          <p:cNvPr id="20" name="Shape 18"/>
          <p:cNvSpPr/>
          <p:nvPr/>
        </p:nvSpPr>
        <p:spPr>
          <a:xfrm>
            <a:off x="3108960" y="2743200"/>
            <a:ext cx="347472" cy="347472"/>
          </a:xfrm>
          <a:prstGeom prst="ellipse">
            <a:avLst/>
          </a:prstGeom>
          <a:solidFill>
            <a:srgbClr val="D9961A"/>
          </a:solidFill>
          <a:ln/>
        </p:spPr>
      </p:sp>
      <p:sp>
        <p:nvSpPr>
          <p:cNvPr id="21" name="Text 19"/>
          <p:cNvSpPr txBox="1"/>
          <p:nvPr/>
        </p:nvSpPr>
        <p:spPr>
          <a:xfrm>
            <a:off x="31089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35387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ESG sleeve</a:t>
            </a:r>
            <a:endParaRPr lang="en-US" sz="1150" dirty="0"/>
          </a:p>
        </p:txBody>
      </p:sp>
      <p:sp>
        <p:nvSpPr>
          <p:cNvPr id="23" name="Text 21"/>
          <p:cNvSpPr txBox="1"/>
          <p:nvPr/>
        </p:nvSpPr>
        <p:spPr>
          <a:xfrm>
            <a:off x="31089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00878 adds ESG-screened Taiwan leaders (MSCI ESG methodology) and a lower-volatility, high-dividend anchor to the basket.</a:t>
            </a:r>
            <a:endParaRPr lang="en-US" sz="950" dirty="0"/>
          </a:p>
        </p:txBody>
      </p:sp>
      <p:graphicFrame>
        <p:nvGraphicFramePr>
          <p:cNvPr id="24" name="Chart 0" descr=""/>
          <p:cNvGraphicFramePr/>
          <p:nvPr/>
        </p:nvGraphicFramePr>
        <p:xfrm>
          <a:off x="5623560" y="1143000"/>
          <a:ext cx="3063240" cy="201168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5623560" y="3246120"/>
            <a:ext cx="3063240" cy="1417320"/>
          </a:xfrm>
          <a:prstGeom prst="roundRect">
            <a:avLst>
              <a:gd name="adj" fmla="val 4516"/>
            </a:avLst>
          </a:prstGeom>
          <a:solidFill>
            <a:srgbClr val="0B3C49"/>
          </a:solidFill>
          <a:ln w="12700">
            <a:solidFill>
              <a:srgbClr val="0B3C49"/>
            </a:solidFill>
            <a:prstDash val="solid"/>
          </a:ln>
        </p:spPr>
      </p:sp>
      <p:sp>
        <p:nvSpPr>
          <p:cNvPr id="26" name="Text 23"/>
          <p:cNvSpPr txBox="1"/>
          <p:nvPr/>
        </p:nvSpPr>
        <p:spPr>
          <a:xfrm>
            <a:off x="5760720" y="3337560"/>
            <a:ext cx="2788920" cy="1280160"/>
          </a:xfrm>
          <a:prstGeom prst="rect">
            <a:avLst/>
          </a:prstGeom>
          <a:noFill/>
          <a:ln/>
        </p:spPr>
        <p:txBody>
          <a:bodyPr wrap="square" lIns="0" tIns="0" rIns="0" bIns="0" rtlCol="0" anchor="t"/>
          <a:lstStyle/>
          <a:p>
            <a:pPr indent="0" marL="0">
              <a:buNone/>
            </a:pPr>
            <a:r>
              <a:rPr lang="en-US" sz="1000" b="1" dirty="0">
                <a:solidFill>
                  <a:srgbClr val="D9961A"/>
                </a:solidFill>
                <a:latin typeface="Calibri" pitchFamily="34" charset="0"/>
                <a:ea typeface="Calibri" pitchFamily="34" charset="-122"/>
                <a:cs typeface="Calibri" pitchFamily="34" charset="-120"/>
              </a:rPr>
              <a:t>What the curve means for structuring</a:t>
            </a:r>
            <a:endParaRPr lang="en-US" sz="1000" dirty="0"/>
          </a:p>
          <a:p>
            <a:pPr indent="0" marL="0">
              <a:buNone/>
            </a:pPr>
            <a:r>
              <a:rPr lang="en-US" sz="1000" dirty="0">
                <a:solidFill>
                  <a:srgbClr val="FFFFFF"/>
                </a:solidFill>
                <a:latin typeface="Calibri" pitchFamily="34" charset="0"/>
                <a:ea typeface="Calibri" pitchFamily="34" charset="-122"/>
                <a:cs typeface="Calibri" pitchFamily="34" charset="-120"/>
              </a:rPr>
              <a:t>High USD rates make the 5Y zero-coupon bond cheap (75.8%), so guaranteeing 100% back costs little. Asian equity volatility (basket ~26%) makes it likely the basket revisits 100%, which is what pays the 7.20% coupon.</a:t>
            </a:r>
            <a:endParaRPr lang="en-US" sz="1000" dirty="0"/>
          </a:p>
        </p:txBody>
      </p:sp>
      <p:sp>
        <p:nvSpPr>
          <p:cNvPr id="27" name="Text 2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Thesis is qualitative; index-level data to be refreshed on Bloomberg. Funding grid: Investment Strategy Challenge 2026 rules.</a:t>
            </a:r>
            <a:endParaRPr lang="en-US" sz="800" dirty="0"/>
          </a:p>
        </p:txBody>
      </p:sp>
      <p:sp>
        <p:nvSpPr>
          <p:cNvPr id="28" name="Text 2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Underlying: five Asian ETFs across the AI-hardware chain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Bespoke weighted basket, USD payout (quanto on the HKD, JPY and TWD lines); all Bloomberg-listed</a:t>
            </a:r>
            <a:endParaRPr lang="en-US" sz="1250" dirty="0"/>
          </a:p>
        </p:txBody>
      </p:sp>
      <p:graphicFrame>
        <p:nvGraphicFramePr>
          <p:cNvPr id="4" name="Chart 0" descr=""/>
          <p:cNvGraphicFramePr/>
          <p:nvPr/>
        </p:nvGraphicFramePr>
        <p:xfrm>
          <a:off x="320040" y="1097280"/>
          <a:ext cx="2560320" cy="2514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143000" y="2130552"/>
            <a:ext cx="914400" cy="457200"/>
          </a:xfrm>
          <a:prstGeom prst="rect">
            <a:avLst/>
          </a:prstGeom>
          <a:noFill/>
          <a:ln/>
        </p:spPr>
        <p:txBody>
          <a:bodyPr wrap="square" lIns="0" tIns="0" rIns="0" bIns="0" rtlCol="0" anchor="ctr"/>
          <a:lstStyle/>
          <a:p>
            <a:pPr algn="ctr" indent="0" marL="0">
              <a:buNone/>
            </a:pPr>
            <a:r>
              <a:rPr lang="en-US" sz="1400" b="1" dirty="0">
                <a:solidFill>
                  <a:srgbClr val="0B3C49"/>
                </a:solidFill>
                <a:latin typeface="Cambria" pitchFamily="34" charset="0"/>
                <a:ea typeface="Cambria" pitchFamily="34" charset="-122"/>
                <a:cs typeface="Cambria" pitchFamily="34" charset="-120"/>
              </a:rPr>
              <a:t>Basket</a:t>
            </a:r>
            <a:endParaRPr lang="en-US" sz="1400" dirty="0"/>
          </a:p>
        </p:txBody>
      </p:sp>
      <p:sp>
        <p:nvSpPr>
          <p:cNvPr id="6" name="Shape 3"/>
          <p:cNvSpPr/>
          <p:nvPr/>
        </p:nvSpPr>
        <p:spPr>
          <a:xfrm>
            <a:off x="457200" y="3730752"/>
            <a:ext cx="118872" cy="118872"/>
          </a:xfrm>
          <a:prstGeom prst="rect">
            <a:avLst/>
          </a:prstGeom>
          <a:solidFill>
            <a:srgbClr val="0B3C49"/>
          </a:solidFill>
          <a:ln w="12700">
            <a:solidFill>
              <a:srgbClr val="0B3C49"/>
            </a:solidFill>
            <a:prstDash val="solid"/>
          </a:ln>
        </p:spPr>
      </p:sp>
      <p:sp>
        <p:nvSpPr>
          <p:cNvPr id="7" name="Text 4"/>
          <p:cNvSpPr txBox="1"/>
          <p:nvPr/>
        </p:nvSpPr>
        <p:spPr>
          <a:xfrm>
            <a:off x="640080" y="3694176"/>
            <a:ext cx="256032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Asia Semiconductor (3119 HK)</a:t>
            </a:r>
            <a:endParaRPr lang="en-US" sz="850" dirty="0"/>
          </a:p>
        </p:txBody>
      </p:sp>
      <p:sp>
        <p:nvSpPr>
          <p:cNvPr id="8" name="Shape 5"/>
          <p:cNvSpPr/>
          <p:nvPr/>
        </p:nvSpPr>
        <p:spPr>
          <a:xfrm>
            <a:off x="457200" y="3922776"/>
            <a:ext cx="118872" cy="118872"/>
          </a:xfrm>
          <a:prstGeom prst="rect">
            <a:avLst/>
          </a:prstGeom>
          <a:solidFill>
            <a:srgbClr val="0F8B8D"/>
          </a:solidFill>
          <a:ln w="12700">
            <a:solidFill>
              <a:srgbClr val="0F8B8D"/>
            </a:solidFill>
            <a:prstDash val="solid"/>
          </a:ln>
        </p:spPr>
      </p:sp>
      <p:sp>
        <p:nvSpPr>
          <p:cNvPr id="9" name="Text 6"/>
          <p:cNvSpPr txBox="1"/>
          <p:nvPr/>
        </p:nvSpPr>
        <p:spPr>
          <a:xfrm>
            <a:off x="640080" y="3886200"/>
            <a:ext cx="256032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Japan Semiconductor (2644 JP)</a:t>
            </a:r>
            <a:endParaRPr lang="en-US" sz="850" dirty="0"/>
          </a:p>
        </p:txBody>
      </p:sp>
      <p:sp>
        <p:nvSpPr>
          <p:cNvPr id="10" name="Shape 7"/>
          <p:cNvSpPr/>
          <p:nvPr/>
        </p:nvSpPr>
        <p:spPr>
          <a:xfrm>
            <a:off x="457200" y="4114800"/>
            <a:ext cx="118872" cy="118872"/>
          </a:xfrm>
          <a:prstGeom prst="rect">
            <a:avLst/>
          </a:prstGeom>
          <a:solidFill>
            <a:srgbClr val="D9961A"/>
          </a:solidFill>
          <a:ln w="12700">
            <a:solidFill>
              <a:srgbClr val="D9961A"/>
            </a:solidFill>
            <a:prstDash val="solid"/>
          </a:ln>
        </p:spPr>
      </p:sp>
      <p:sp>
        <p:nvSpPr>
          <p:cNvPr id="11" name="Text 8"/>
          <p:cNvSpPr txBox="1"/>
          <p:nvPr/>
        </p:nvSpPr>
        <p:spPr>
          <a:xfrm>
            <a:off x="640080" y="4078224"/>
            <a:ext cx="256032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iShares MSCI Taiwan (EWT)</a:t>
            </a:r>
            <a:endParaRPr lang="en-US" sz="850" dirty="0"/>
          </a:p>
        </p:txBody>
      </p:sp>
      <p:sp>
        <p:nvSpPr>
          <p:cNvPr id="12" name="Shape 9"/>
          <p:cNvSpPr/>
          <p:nvPr/>
        </p:nvSpPr>
        <p:spPr>
          <a:xfrm>
            <a:off x="457200" y="4306824"/>
            <a:ext cx="118872" cy="118872"/>
          </a:xfrm>
          <a:prstGeom prst="rect">
            <a:avLst/>
          </a:prstGeom>
          <a:solidFill>
            <a:srgbClr val="8FA6AA"/>
          </a:solidFill>
          <a:ln w="12700">
            <a:solidFill>
              <a:srgbClr val="8FA6AA"/>
            </a:solidFill>
            <a:prstDash val="solid"/>
          </a:ln>
        </p:spPr>
      </p:sp>
      <p:sp>
        <p:nvSpPr>
          <p:cNvPr id="13" name="Text 10"/>
          <p:cNvSpPr txBox="1"/>
          <p:nvPr/>
        </p:nvSpPr>
        <p:spPr>
          <a:xfrm>
            <a:off x="640080" y="4270248"/>
            <a:ext cx="256032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iShares MSCI South Korea (EWY)</a:t>
            </a:r>
            <a:endParaRPr lang="en-US" sz="850" dirty="0"/>
          </a:p>
        </p:txBody>
      </p:sp>
      <p:sp>
        <p:nvSpPr>
          <p:cNvPr id="14" name="Shape 11"/>
          <p:cNvSpPr/>
          <p:nvPr/>
        </p:nvSpPr>
        <p:spPr>
          <a:xfrm>
            <a:off x="457200" y="4498848"/>
            <a:ext cx="118872" cy="118872"/>
          </a:xfrm>
          <a:prstGeom prst="rect">
            <a:avLst/>
          </a:prstGeom>
          <a:solidFill>
            <a:srgbClr val="5BA37A"/>
          </a:solidFill>
          <a:ln w="12700">
            <a:solidFill>
              <a:srgbClr val="5BA37A"/>
            </a:solidFill>
            <a:prstDash val="solid"/>
          </a:ln>
        </p:spPr>
      </p:sp>
      <p:sp>
        <p:nvSpPr>
          <p:cNvPr id="15" name="Text 12"/>
          <p:cNvSpPr txBox="1"/>
          <p:nvPr/>
        </p:nvSpPr>
        <p:spPr>
          <a:xfrm>
            <a:off x="640080" y="4462272"/>
            <a:ext cx="256032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Taiwan ESG High Dividend (00878 TT)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108960" y="1143000"/>
          <a:ext cx="5577840" cy="914400"/>
        </p:xfrm>
        <a:graphic>
          <a:graphicData uri="http://schemas.openxmlformats.org/drawingml/2006/table">
            <a:tbl>
              <a:tblPr/>
              <a:tblGrid>
                <a:gridCol w="1463040"/>
                <a:gridCol w="384048"/>
                <a:gridCol w="3246120"/>
                <a:gridCol w="484632"/>
              </a:tblGrid>
              <a:tr h="237744">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ETF (Bloomberg)</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Role in the basket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Vol*</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475488">
                <a:tc>
                  <a:txBody>
                    <a:bodyPr/>
                    <a:lstStyle/>
                    <a:p>
                      <a:pPr indent="0" marL="0">
                        <a:buNone/>
                      </a:pPr>
                      <a:r>
                        <a:rPr lang="en-US" sz="850" b="1" dirty="0">
                          <a:solidFill>
                            <a:srgbClr val="1D2B30"/>
                          </a:solidFill>
                          <a:latin typeface="Calibri" pitchFamily="34" charset="0"/>
                          <a:ea typeface="Calibri" pitchFamily="34" charset="-122"/>
                          <a:cs typeface="Calibri" pitchFamily="34" charset="-120"/>
                        </a:rPr>
                        <a:t>Asia Semiconductor (3119 HK)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Pan-Asian chip leaders (40 names; TSMC, Samsung, SK hynix the largest): the core AI-hardware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D2B30"/>
                          </a:solidFill>
                          <a:latin typeface="Calibri" pitchFamily="34" charset="0"/>
                          <a:ea typeface="Calibri" pitchFamily="34" charset="-122"/>
                          <a:cs typeface="Calibri" pitchFamily="34" charset="-120"/>
                        </a:rPr>
                        <a:t>Japan Semiconductor (2644 JP)</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Japanese semiconductor stocks (FactSet Japan Semiconductor Index, e.g. Tokyo Electron, Advantest): the family's home market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D2B30"/>
                          </a:solidFill>
                          <a:latin typeface="Calibri" pitchFamily="34" charset="0"/>
                          <a:ea typeface="Calibri" pitchFamily="34" charset="-122"/>
                          <a:cs typeface="Calibri" pitchFamily="34" charset="-120"/>
                        </a:rPr>
                        <a:t>iShares MSCI Taiwan (EWT)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Taiwan large caps (TSMC, MediaTek, Delta): AI foundry and server chain in the family's Greater China region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D2B30"/>
                          </a:solidFill>
                          <a:latin typeface="Calibri" pitchFamily="34" charset="0"/>
                          <a:ea typeface="Calibri" pitchFamily="34" charset="-122"/>
                          <a:cs typeface="Calibri" pitchFamily="34" charset="-120"/>
                        </a:rPr>
                        <a:t>iShares MSCI South Korea (EWY)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Korea large caps (Samsung + SK hynix ~44%): high-bandwidth memory for AI</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D2B30"/>
                          </a:solidFill>
                          <a:latin typeface="Calibri" pitchFamily="34" charset="0"/>
                          <a:ea typeface="Calibri" pitchFamily="34" charset="-122"/>
                          <a:cs typeface="Calibri" pitchFamily="34" charset="-120"/>
                        </a:rPr>
                        <a:t>Taiwan ESG High Dividend (00878 TT)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ESG-screened Taiwan high-dividend leaders (Quanta, UMC, MediaTek): ESG sleeve and lower-volatility anchor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3108960" y="3840480"/>
            <a:ext cx="5577840" cy="54864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Why a weighted basket, not worst-of: </a:t>
            </a:r>
            <a:pPr indent="0" marL="0">
              <a:buNone/>
            </a:pPr>
            <a:r>
              <a:rPr lang="en-US" sz="950" dirty="0">
                <a:solidFill>
                  <a:srgbClr val="1D2B30"/>
                </a:solidFill>
                <a:latin typeface="Calibri" pitchFamily="34" charset="0"/>
                <a:ea typeface="Calibri" pitchFamily="34" charset="-122"/>
                <a:cs typeface="Calibri" pitchFamily="34" charset="-120"/>
              </a:rPr>
              <a:t>a shock to one ETF is cushioned by the others: basket vol ~26% vs 18%–38% alone. Overlap (TSMC, Samsung, SK hynix sit in several ETFs) keeps correlations high (0.45–0.85).</a:t>
            </a:r>
            <a:endParaRPr lang="en-US" sz="950" dirty="0"/>
          </a:p>
        </p:txBody>
      </p:sp>
      <p:sp>
        <p:nvSpPr>
          <p:cNvPr id="18" name="Text 1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*Assumed 5Y vols. USD 5M/day ETF rule: EWY, EWT, 2644, 00878 pass; 3119 is borderline (~USD 4–5M/day), verify the 6-month average on Bloomberg. 00878 distributes ~7.6% a year, which lowers its price path.</a:t>
            </a:r>
            <a:endParaRPr lang="en-US" sz="800" dirty="0"/>
          </a:p>
        </p:txBody>
      </p:sp>
      <p:sp>
        <p:nvSpPr>
          <p:cNvPr id="19"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Term sheet: 5-year capital-protected autocallable, 7.20% coupon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Why this design: above the funding rate, with zero chance of losing capital at maturity</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1325880"/>
                <a:gridCol w="2880360"/>
              </a:tblGrid>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Natixis SA (BPCE Group)</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Notional / currency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USD 100,000,000 · quanto USD</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Trade /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17 Sep 2026 / 17 Sep 2031 (5Y)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Underlying</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Weighted basket of 5 Asian ETFs (slide 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Observation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Quarterly, 20 dates; autocall from Q4 (Year 1)</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Coupon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7.20% p.a. (1.80% per quarter), paid if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Memory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Missed coupons paid on the next date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Autocall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Basket ≥ 100% from Q4: 100% + coupons due, note ends</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At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of principal, whatever the basket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 price / fair value</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 97.4%</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892040" y="1188720"/>
          <a:ext cx="3840480" cy="914400"/>
        </p:xfrm>
        <a:graphic>
          <a:graphicData uri="http://schemas.openxmlformats.org/drawingml/2006/table">
            <a:tbl>
              <a:tblPr/>
              <a:tblGrid>
                <a:gridCol w="2514600"/>
                <a:gridCol w="640080"/>
                <a:gridCol w="68580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Autocall design (same basket, issued at 98%)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Fair cpn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Loss 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fixed coupon,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7.3%</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15.7%</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Phoenix memory (80% cpn barrier),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9.9%</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15.7%</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Snowball, 65%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13.6%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70% barrier, 10%-vol basket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Capital protected, memory coupon (ours)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7.8%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r>
            </a:tbl>
          </a:graphicData>
        </a:graphic>
      </p:graphicFrame>
      <p:sp>
        <p:nvSpPr>
          <p:cNvPr id="6" name="Shape 2"/>
          <p:cNvSpPr/>
          <p:nvPr/>
        </p:nvSpPr>
        <p:spPr>
          <a:xfrm>
            <a:off x="4892040" y="3154680"/>
            <a:ext cx="3840480" cy="1280160"/>
          </a:xfrm>
          <a:prstGeom prst="roundRect">
            <a:avLst>
              <a:gd name="adj" fmla="val 5000"/>
            </a:avLst>
          </a:prstGeom>
          <a:solidFill>
            <a:srgbClr val="0B3C49"/>
          </a:solidFill>
          <a:ln w="12700">
            <a:solidFill>
              <a:srgbClr val="0B3C49"/>
            </a:solidFill>
            <a:prstDash val="solid"/>
          </a:ln>
        </p:spPr>
      </p:sp>
      <p:sp>
        <p:nvSpPr>
          <p:cNvPr id="7" name="Text 3"/>
          <p:cNvSpPr txBox="1"/>
          <p:nvPr/>
        </p:nvSpPr>
        <p:spPr>
          <a:xfrm>
            <a:off x="5029200" y="3227832"/>
            <a:ext cx="3566160" cy="1170432"/>
          </a:xfrm>
          <a:prstGeom prst="rect">
            <a:avLst/>
          </a:prstGeom>
          <a:noFill/>
          <a:ln/>
        </p:spPr>
        <p:txBody>
          <a:bodyPr wrap="square" lIns="0" tIns="0" rIns="0" bIns="0" rtlCol="0" anchor="t"/>
          <a:lstStyle/>
          <a:p>
            <a:pPr indent="0" marL="0">
              <a:buNone/>
            </a:pPr>
            <a:r>
              <a:rPr lang="en-US" sz="950" b="1" dirty="0">
                <a:solidFill>
                  <a:srgbClr val="D9961A"/>
                </a:solidFill>
                <a:latin typeface="Calibri" pitchFamily="34" charset="0"/>
                <a:ea typeface="Calibri" pitchFamily="34" charset="-122"/>
                <a:cs typeface="Calibri" pitchFamily="34" charset="-120"/>
              </a:rPr>
              <a:t>Design call: </a:t>
            </a:r>
            <a:pPr indent="0" marL="0">
              <a:buNone/>
            </a:pPr>
            <a:r>
              <a:rPr lang="en-US" sz="950" dirty="0">
                <a:solidFill>
                  <a:srgbClr val="FFFFFF"/>
                </a:solidFill>
                <a:latin typeface="Calibri" pitchFamily="34" charset="0"/>
                <a:ea typeface="Calibri" pitchFamily="34" charset="-122"/>
                <a:cs typeface="Calibri" pitchFamily="34" charset="-120"/>
              </a:rPr>
              <a:t>The draft's 8.5% fixed coupon is worth 100.4% to the client, so Natixis cannot fund it. At-risk designs pay 7%–14% for a 14%–16% chance of losing capital. Cutting that to ~1% needs a 10%-vol basket and pays only 4.1%, below the 5.69% bond. Full protection prices at 7.8%; we offer 7.20%.</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Loss risk = probability the note returns less than 100%.</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How it pays: one question every quarter</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Is the basket at or above 100% of its starting level? (checked quarterly; one date per year shown)</a:t>
            </a:r>
            <a:endParaRPr lang="en-US" sz="1250" dirty="0"/>
          </a:p>
        </p:txBody>
      </p:sp>
      <p:sp>
        <p:nvSpPr>
          <p:cNvPr id="4" name="Shape 2"/>
          <p:cNvSpPr/>
          <p:nvPr/>
        </p:nvSpPr>
        <p:spPr>
          <a:xfrm>
            <a:off x="731520" y="1691640"/>
            <a:ext cx="7680960" cy="0"/>
          </a:xfrm>
          <a:prstGeom prst="line">
            <a:avLst/>
          </a:prstGeom>
          <a:noFill/>
          <a:ln w="25400">
            <a:solidFill>
              <a:srgbClr val="8FA6AA"/>
            </a:solidFill>
            <a:prstDash val="solid"/>
          </a:ln>
        </p:spPr>
      </p:sp>
      <p:sp>
        <p:nvSpPr>
          <p:cNvPr id="5" name="Shape 3"/>
          <p:cNvSpPr/>
          <p:nvPr/>
        </p:nvSpPr>
        <p:spPr>
          <a:xfrm>
            <a:off x="502920" y="1499616"/>
            <a:ext cx="384048" cy="384048"/>
          </a:xfrm>
          <a:prstGeom prst="ellipse">
            <a:avLst/>
          </a:prstGeom>
          <a:solidFill>
            <a:srgbClr val="8FA6AA"/>
          </a:solidFill>
          <a:ln/>
        </p:spPr>
      </p:sp>
      <p:sp>
        <p:nvSpPr>
          <p:cNvPr id="6" name="Text 4"/>
          <p:cNvSpPr txBox="1"/>
          <p:nvPr/>
        </p:nvSpPr>
        <p:spPr>
          <a:xfrm>
            <a:off x="5029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0</a:t>
            </a:r>
            <a:endParaRPr lang="en-US" sz="1300" dirty="0"/>
          </a:p>
        </p:txBody>
      </p:sp>
      <p:sp>
        <p:nvSpPr>
          <p:cNvPr id="7" name="Text 5"/>
          <p:cNvSpPr txBox="1"/>
          <p:nvPr/>
        </p:nvSpPr>
        <p:spPr>
          <a:xfrm>
            <a:off x="137160" y="1938528"/>
            <a:ext cx="1143000" cy="54864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Trade date</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17 Sep 2026</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Initial = 100%</a:t>
            </a:r>
            <a:endParaRPr lang="en-US" sz="850" dirty="0"/>
          </a:p>
        </p:txBody>
      </p:sp>
      <p:sp>
        <p:nvSpPr>
          <p:cNvPr id="8" name="Shape 6"/>
          <p:cNvSpPr/>
          <p:nvPr/>
        </p:nvSpPr>
        <p:spPr>
          <a:xfrm>
            <a:off x="1965960" y="1499616"/>
            <a:ext cx="384048" cy="384048"/>
          </a:xfrm>
          <a:prstGeom prst="ellipse">
            <a:avLst/>
          </a:prstGeom>
          <a:solidFill>
            <a:srgbClr val="0F8B8D"/>
          </a:solidFill>
          <a:ln/>
        </p:spPr>
      </p:sp>
      <p:sp>
        <p:nvSpPr>
          <p:cNvPr id="9" name="Text 7"/>
          <p:cNvSpPr txBox="1"/>
          <p:nvPr/>
        </p:nvSpPr>
        <p:spPr>
          <a:xfrm>
            <a:off x="196596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Y1</a:t>
            </a:r>
            <a:endParaRPr lang="en-US" sz="1300" dirty="0"/>
          </a:p>
        </p:txBody>
      </p:sp>
      <p:sp>
        <p:nvSpPr>
          <p:cNvPr id="10" name="Text 8"/>
          <p:cNvSpPr txBox="1"/>
          <p:nvPr/>
        </p:nvSpPr>
        <p:spPr>
          <a:xfrm>
            <a:off x="150876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107.2% total</a:t>
            </a:r>
            <a:endParaRPr lang="en-US" sz="950" dirty="0"/>
          </a:p>
        </p:txBody>
      </p:sp>
      <p:sp>
        <p:nvSpPr>
          <p:cNvPr id="11" name="Text 9"/>
          <p:cNvSpPr txBox="1"/>
          <p:nvPr/>
        </p:nvSpPr>
        <p:spPr>
          <a:xfrm>
            <a:off x="150876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Y1) 49%</a:t>
            </a:r>
            <a:endParaRPr lang="en-US" sz="850" dirty="0"/>
          </a:p>
        </p:txBody>
      </p:sp>
      <p:sp>
        <p:nvSpPr>
          <p:cNvPr id="12" name="Shape 10"/>
          <p:cNvSpPr/>
          <p:nvPr/>
        </p:nvSpPr>
        <p:spPr>
          <a:xfrm>
            <a:off x="3429000" y="1499616"/>
            <a:ext cx="384048" cy="384048"/>
          </a:xfrm>
          <a:prstGeom prst="ellipse">
            <a:avLst/>
          </a:prstGeom>
          <a:solidFill>
            <a:srgbClr val="0F8B8D"/>
          </a:solidFill>
          <a:ln/>
        </p:spPr>
      </p:sp>
      <p:sp>
        <p:nvSpPr>
          <p:cNvPr id="13" name="Text 11"/>
          <p:cNvSpPr txBox="1"/>
          <p:nvPr/>
        </p:nvSpPr>
        <p:spPr>
          <a:xfrm>
            <a:off x="34290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Y2</a:t>
            </a:r>
            <a:endParaRPr lang="en-US" sz="1300" dirty="0"/>
          </a:p>
        </p:txBody>
      </p:sp>
      <p:sp>
        <p:nvSpPr>
          <p:cNvPr id="14" name="Text 12"/>
          <p:cNvSpPr txBox="1"/>
          <p:nvPr/>
        </p:nvSpPr>
        <p:spPr>
          <a:xfrm>
            <a:off x="297180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114.4% total</a:t>
            </a:r>
            <a:endParaRPr lang="en-US" sz="950" dirty="0"/>
          </a:p>
        </p:txBody>
      </p:sp>
      <p:sp>
        <p:nvSpPr>
          <p:cNvPr id="15" name="Text 13"/>
          <p:cNvSpPr txBox="1"/>
          <p:nvPr/>
        </p:nvSpPr>
        <p:spPr>
          <a:xfrm>
            <a:off x="297180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Y2) 66%</a:t>
            </a:r>
            <a:endParaRPr lang="en-US" sz="850" dirty="0"/>
          </a:p>
        </p:txBody>
      </p:sp>
      <p:sp>
        <p:nvSpPr>
          <p:cNvPr id="16" name="Shape 14"/>
          <p:cNvSpPr/>
          <p:nvPr/>
        </p:nvSpPr>
        <p:spPr>
          <a:xfrm>
            <a:off x="4892040" y="1499616"/>
            <a:ext cx="384048" cy="384048"/>
          </a:xfrm>
          <a:prstGeom prst="ellipse">
            <a:avLst/>
          </a:prstGeom>
          <a:solidFill>
            <a:srgbClr val="0F8B8D"/>
          </a:solidFill>
          <a:ln/>
        </p:spPr>
      </p:sp>
      <p:sp>
        <p:nvSpPr>
          <p:cNvPr id="17" name="Text 15"/>
          <p:cNvSpPr txBox="1"/>
          <p:nvPr/>
        </p:nvSpPr>
        <p:spPr>
          <a:xfrm>
            <a:off x="489204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Y3</a:t>
            </a:r>
            <a:endParaRPr lang="en-US" sz="1300" dirty="0"/>
          </a:p>
        </p:txBody>
      </p:sp>
      <p:sp>
        <p:nvSpPr>
          <p:cNvPr id="18" name="Text 16"/>
          <p:cNvSpPr txBox="1"/>
          <p:nvPr/>
        </p:nvSpPr>
        <p:spPr>
          <a:xfrm>
            <a:off x="443484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121.6% total</a:t>
            </a:r>
            <a:endParaRPr lang="en-US" sz="950" dirty="0"/>
          </a:p>
        </p:txBody>
      </p:sp>
      <p:sp>
        <p:nvSpPr>
          <p:cNvPr id="19" name="Text 17"/>
          <p:cNvSpPr txBox="1"/>
          <p:nvPr/>
        </p:nvSpPr>
        <p:spPr>
          <a:xfrm>
            <a:off x="443484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Y3) 73%</a:t>
            </a:r>
            <a:endParaRPr lang="en-US" sz="850" dirty="0"/>
          </a:p>
        </p:txBody>
      </p:sp>
      <p:sp>
        <p:nvSpPr>
          <p:cNvPr id="20" name="Shape 18"/>
          <p:cNvSpPr/>
          <p:nvPr/>
        </p:nvSpPr>
        <p:spPr>
          <a:xfrm>
            <a:off x="6355080" y="1499616"/>
            <a:ext cx="384048" cy="384048"/>
          </a:xfrm>
          <a:prstGeom prst="ellipse">
            <a:avLst/>
          </a:prstGeom>
          <a:solidFill>
            <a:srgbClr val="0F8B8D"/>
          </a:solidFill>
          <a:ln/>
        </p:spPr>
      </p:sp>
      <p:sp>
        <p:nvSpPr>
          <p:cNvPr id="21" name="Text 19"/>
          <p:cNvSpPr txBox="1"/>
          <p:nvPr/>
        </p:nvSpPr>
        <p:spPr>
          <a:xfrm>
            <a:off x="635508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Y4</a:t>
            </a:r>
            <a:endParaRPr lang="en-US" sz="1300" dirty="0"/>
          </a:p>
        </p:txBody>
      </p:sp>
      <p:sp>
        <p:nvSpPr>
          <p:cNvPr id="22" name="Text 20"/>
          <p:cNvSpPr txBox="1"/>
          <p:nvPr/>
        </p:nvSpPr>
        <p:spPr>
          <a:xfrm>
            <a:off x="589788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128.8% total</a:t>
            </a:r>
            <a:endParaRPr lang="en-US" sz="950" dirty="0"/>
          </a:p>
        </p:txBody>
      </p:sp>
      <p:sp>
        <p:nvSpPr>
          <p:cNvPr id="23" name="Text 21"/>
          <p:cNvSpPr txBox="1"/>
          <p:nvPr/>
        </p:nvSpPr>
        <p:spPr>
          <a:xfrm>
            <a:off x="589788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Y4) 77%</a:t>
            </a:r>
            <a:endParaRPr lang="en-US" sz="850" dirty="0"/>
          </a:p>
        </p:txBody>
      </p:sp>
      <p:sp>
        <p:nvSpPr>
          <p:cNvPr id="24" name="Shape 22"/>
          <p:cNvSpPr/>
          <p:nvPr/>
        </p:nvSpPr>
        <p:spPr>
          <a:xfrm>
            <a:off x="7818120" y="1499616"/>
            <a:ext cx="384048" cy="384048"/>
          </a:xfrm>
          <a:prstGeom prst="ellipse">
            <a:avLst/>
          </a:prstGeom>
          <a:solidFill>
            <a:srgbClr val="D9961A"/>
          </a:solidFill>
          <a:ln/>
        </p:spPr>
      </p:sp>
      <p:sp>
        <p:nvSpPr>
          <p:cNvPr id="25" name="Text 23"/>
          <p:cNvSpPr txBox="1"/>
          <p:nvPr/>
        </p:nvSpPr>
        <p:spPr>
          <a:xfrm>
            <a:off x="78181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Y5</a:t>
            </a:r>
            <a:endParaRPr lang="en-US" sz="1300" dirty="0"/>
          </a:p>
        </p:txBody>
      </p:sp>
      <p:sp>
        <p:nvSpPr>
          <p:cNvPr id="26" name="Text 24"/>
          <p:cNvSpPr txBox="1"/>
          <p:nvPr/>
        </p:nvSpPr>
        <p:spPr>
          <a:xfrm>
            <a:off x="7360920" y="1938528"/>
            <a:ext cx="1298448" cy="411480"/>
          </a:xfrm>
          <a:prstGeom prst="rect">
            <a:avLst/>
          </a:prstGeom>
          <a:noFill/>
          <a:ln/>
        </p:spPr>
        <p:txBody>
          <a:bodyPr wrap="square" lIns="0" tIns="0" rIns="0" bIns="0" rtlCol="0" anchor="t"/>
          <a:lstStyle/>
          <a:p>
            <a:pPr algn="ctr" indent="0" marL="0">
              <a:buNone/>
            </a:pPr>
            <a:r>
              <a:rPr lang="en-US" sz="950" b="1" dirty="0">
                <a:solidFill>
                  <a:srgbClr val="D9961A"/>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D9961A"/>
                </a:solidFill>
                <a:latin typeface="Calibri" pitchFamily="34" charset="0"/>
                <a:ea typeface="Calibri" pitchFamily="34" charset="-122"/>
                <a:cs typeface="Calibri" pitchFamily="34" charset="-120"/>
              </a:rPr>
              <a:t>called, 136.0% total</a:t>
            </a:r>
            <a:endParaRPr lang="en-US" sz="950" dirty="0"/>
          </a:p>
        </p:txBody>
      </p:sp>
      <p:sp>
        <p:nvSpPr>
          <p:cNvPr id="27" name="Text 25"/>
          <p:cNvSpPr txBox="1"/>
          <p:nvPr/>
        </p:nvSpPr>
        <p:spPr>
          <a:xfrm>
            <a:off x="736092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Y5) 79%</a:t>
            </a:r>
            <a:endParaRPr lang="en-US" sz="850" dirty="0"/>
          </a:p>
        </p:txBody>
      </p:sp>
      <p:sp>
        <p:nvSpPr>
          <p:cNvPr id="28" name="Text 26"/>
          <p:cNvSpPr txBox="1"/>
          <p:nvPr/>
        </p:nvSpPr>
        <p:spPr>
          <a:xfrm>
            <a:off x="1280160" y="1143000"/>
            <a:ext cx="7223760" cy="228600"/>
          </a:xfrm>
          <a:prstGeom prst="rect">
            <a:avLst/>
          </a:prstGeom>
          <a:noFill/>
          <a:ln/>
        </p:spPr>
        <p:txBody>
          <a:bodyPr wrap="square" lIns="0" tIns="0" rIns="0" bIns="0" rtlCol="0" anchor="t"/>
          <a:lstStyle/>
          <a:p>
            <a:pPr algn="ctr" indent="0" marL="0">
              <a:buNone/>
            </a:pPr>
            <a:r>
              <a:rPr lang="en-US" sz="900" i="1" dirty="0">
                <a:solidFill>
                  <a:srgbClr val="5F7176"/>
                </a:solidFill>
                <a:latin typeface="Calibri" pitchFamily="34" charset="0"/>
                <a:ea typeface="Calibri" pitchFamily="34" charset="-122"/>
                <a:cs typeface="Calibri" pitchFamily="34" charset="-120"/>
              </a:rPr>
              <a:t>Q1–Q3: coupon only (1.80% if basket ≥ 100%). From Q4: coupon plus autocall. Missed coupons are always caught up.</a:t>
            </a:r>
            <a:endParaRPr lang="en-US" sz="900" dirty="0"/>
          </a:p>
        </p:txBody>
      </p:sp>
      <p:sp>
        <p:nvSpPr>
          <p:cNvPr id="29" name="Shape 27"/>
          <p:cNvSpPr/>
          <p:nvPr/>
        </p:nvSpPr>
        <p:spPr>
          <a:xfrm>
            <a:off x="457200" y="2788920"/>
            <a:ext cx="2606040" cy="1828800"/>
          </a:xfrm>
          <a:prstGeom prst="roundRect">
            <a:avLst>
              <a:gd name="adj" fmla="val 3500"/>
            </a:avLst>
          </a:prstGeom>
          <a:solidFill>
            <a:srgbClr val="E6F2F0"/>
          </a:solidFill>
          <a:ln w="12700">
            <a:solidFill>
              <a:srgbClr val="E6F2F0"/>
            </a:solidFill>
            <a:prstDash val="solid"/>
          </a:ln>
        </p:spPr>
      </p:sp>
      <p:sp>
        <p:nvSpPr>
          <p:cNvPr id="30" name="Shape 28"/>
          <p:cNvSpPr/>
          <p:nvPr/>
        </p:nvSpPr>
        <p:spPr>
          <a:xfrm>
            <a:off x="621792" y="2907792"/>
            <a:ext cx="384048" cy="384048"/>
          </a:xfrm>
          <a:prstGeom prst="ellipse">
            <a:avLst/>
          </a:prstGeom>
          <a:solidFill>
            <a:srgbClr val="0F8B8D"/>
          </a:solidFill>
          <a:ln/>
        </p:spPr>
      </p:sp>
      <p:sp>
        <p:nvSpPr>
          <p:cNvPr id="31" name="Text 29"/>
          <p:cNvSpPr txBox="1"/>
          <p:nvPr/>
        </p:nvSpPr>
        <p:spPr>
          <a:xfrm>
            <a:off x="62179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a:t>
            </a:r>
            <a:endParaRPr lang="en-US" sz="1300" dirty="0"/>
          </a:p>
        </p:txBody>
      </p:sp>
      <p:sp>
        <p:nvSpPr>
          <p:cNvPr id="32" name="Text 30"/>
          <p:cNvSpPr txBox="1"/>
          <p:nvPr/>
        </p:nvSpPr>
        <p:spPr>
          <a:xfrm>
            <a:off x="109728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Autocalled</a:t>
            </a:r>
            <a:endParaRPr lang="en-US" sz="1200" dirty="0"/>
          </a:p>
        </p:txBody>
      </p:sp>
      <p:sp>
        <p:nvSpPr>
          <p:cNvPr id="33" name="Text 31"/>
          <p:cNvSpPr txBox="1"/>
          <p:nvPr/>
        </p:nvSpPr>
        <p:spPr>
          <a:xfrm>
            <a:off x="62179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on any date from Q4: 100% plus every coupon to date, including missed ones. The note ends.</a:t>
            </a:r>
            <a:endParaRPr lang="en-US" sz="1000" dirty="0"/>
          </a:p>
        </p:txBody>
      </p:sp>
      <p:sp>
        <p:nvSpPr>
          <p:cNvPr id="34" name="Text 32"/>
          <p:cNvSpPr txBox="1"/>
          <p:nvPr/>
        </p:nvSpPr>
        <p:spPr>
          <a:xfrm>
            <a:off x="621792" y="4160520"/>
            <a:ext cx="2286000" cy="365760"/>
          </a:xfrm>
          <a:prstGeom prst="rect">
            <a:avLst/>
          </a:prstGeom>
          <a:noFill/>
          <a:ln/>
        </p:spPr>
        <p:txBody>
          <a:bodyPr wrap="square" lIns="0" tIns="0" rIns="0" bIns="0" rtlCol="0" anchor="ctr"/>
          <a:lstStyle/>
          <a:p>
            <a:pPr indent="0" marL="0">
              <a:buNone/>
            </a:pPr>
            <a:r>
              <a:rPr lang="en-US" sz="1600" b="1" dirty="0">
                <a:solidFill>
                  <a:srgbClr val="0F8B8D"/>
                </a:solidFill>
                <a:latin typeface="Calibri" pitchFamily="34" charset="0"/>
                <a:ea typeface="Calibri" pitchFamily="34" charset="-122"/>
                <a:cs typeface="Calibri" pitchFamily="34" charset="-120"/>
              </a:rPr>
              <a:t>79%</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35" name="Shape 33"/>
          <p:cNvSpPr/>
          <p:nvPr/>
        </p:nvSpPr>
        <p:spPr>
          <a:xfrm>
            <a:off x="3246120" y="2788920"/>
            <a:ext cx="2606040" cy="1828800"/>
          </a:xfrm>
          <a:prstGeom prst="roundRect">
            <a:avLst>
              <a:gd name="adj" fmla="val 3500"/>
            </a:avLst>
          </a:prstGeom>
          <a:solidFill>
            <a:srgbClr val="E6F2F0"/>
          </a:solidFill>
          <a:ln w="12700">
            <a:solidFill>
              <a:srgbClr val="E6F2F0"/>
            </a:solidFill>
            <a:prstDash val="solid"/>
          </a:ln>
        </p:spPr>
      </p:sp>
      <p:sp>
        <p:nvSpPr>
          <p:cNvPr id="36" name="Shape 34"/>
          <p:cNvSpPr/>
          <p:nvPr/>
        </p:nvSpPr>
        <p:spPr>
          <a:xfrm>
            <a:off x="3410712" y="2907792"/>
            <a:ext cx="384048" cy="384048"/>
          </a:xfrm>
          <a:prstGeom prst="ellipse">
            <a:avLst/>
          </a:prstGeom>
          <a:solidFill>
            <a:srgbClr val="8FA6AA"/>
          </a:solidFill>
          <a:ln/>
        </p:spPr>
      </p:sp>
      <p:sp>
        <p:nvSpPr>
          <p:cNvPr id="37" name="Text 35"/>
          <p:cNvSpPr txBox="1"/>
          <p:nvPr/>
        </p:nvSpPr>
        <p:spPr>
          <a:xfrm>
            <a:off x="341071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a:t>
            </a:r>
            <a:endParaRPr lang="en-US" sz="1300" dirty="0"/>
          </a:p>
        </p:txBody>
      </p:sp>
      <p:sp>
        <p:nvSpPr>
          <p:cNvPr id="38" name="Text 36"/>
          <p:cNvSpPr txBox="1"/>
          <p:nvPr/>
        </p:nvSpPr>
        <p:spPr>
          <a:xfrm>
            <a:off x="388620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early coupons</a:t>
            </a:r>
            <a:endParaRPr lang="en-US" sz="1200" dirty="0"/>
          </a:p>
        </p:txBody>
      </p:sp>
      <p:sp>
        <p:nvSpPr>
          <p:cNvPr id="39" name="Text 37"/>
          <p:cNvSpPr txBox="1"/>
          <p:nvPr/>
        </p:nvSpPr>
        <p:spPr>
          <a:xfrm>
            <a:off x="341071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in Q1–Q3 only, never afterwards. The family keeps those coupons and gets 100% back at Y5.</a:t>
            </a:r>
            <a:endParaRPr lang="en-US" sz="1000" dirty="0"/>
          </a:p>
        </p:txBody>
      </p:sp>
      <p:sp>
        <p:nvSpPr>
          <p:cNvPr id="40" name="Text 38"/>
          <p:cNvSpPr txBox="1"/>
          <p:nvPr/>
        </p:nvSpPr>
        <p:spPr>
          <a:xfrm>
            <a:off x="3410712" y="4160520"/>
            <a:ext cx="2286000" cy="365760"/>
          </a:xfrm>
          <a:prstGeom prst="rect">
            <a:avLst/>
          </a:prstGeom>
          <a:noFill/>
          <a:ln/>
        </p:spPr>
        <p:txBody>
          <a:bodyPr wrap="square" lIns="0" tIns="0" rIns="0" bIns="0" rtlCol="0" anchor="ctr"/>
          <a:lstStyle/>
          <a:p>
            <a:pPr indent="0" marL="0">
              <a:buNone/>
            </a:pPr>
            <a:r>
              <a:rPr lang="en-US" sz="1600" b="1" dirty="0">
                <a:solidFill>
                  <a:srgbClr val="8FA6AA"/>
                </a:solidFill>
                <a:latin typeface="Calibri" pitchFamily="34" charset="0"/>
                <a:ea typeface="Calibri" pitchFamily="34" charset="-122"/>
                <a:cs typeface="Calibri" pitchFamily="34" charset="-120"/>
              </a:rPr>
              <a:t>8%</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1" name="Shape 39"/>
          <p:cNvSpPr/>
          <p:nvPr/>
        </p:nvSpPr>
        <p:spPr>
          <a:xfrm>
            <a:off x="6035040" y="2788920"/>
            <a:ext cx="2606040" cy="1828800"/>
          </a:xfrm>
          <a:prstGeom prst="roundRect">
            <a:avLst>
              <a:gd name="adj" fmla="val 3500"/>
            </a:avLst>
          </a:prstGeom>
          <a:solidFill>
            <a:srgbClr val="E6F2F0"/>
          </a:solidFill>
          <a:ln w="12700">
            <a:solidFill>
              <a:srgbClr val="E6F2F0"/>
            </a:solidFill>
            <a:prstDash val="solid"/>
          </a:ln>
        </p:spPr>
      </p:sp>
      <p:sp>
        <p:nvSpPr>
          <p:cNvPr id="42" name="Shape 40"/>
          <p:cNvSpPr/>
          <p:nvPr/>
        </p:nvSpPr>
        <p:spPr>
          <a:xfrm>
            <a:off x="6199632" y="2907792"/>
            <a:ext cx="384048" cy="384048"/>
          </a:xfrm>
          <a:prstGeom prst="ellipse">
            <a:avLst/>
          </a:prstGeom>
          <a:solidFill>
            <a:srgbClr val="D9961A"/>
          </a:solidFill>
          <a:ln/>
        </p:spPr>
      </p:sp>
      <p:sp>
        <p:nvSpPr>
          <p:cNvPr id="43" name="Text 41"/>
          <p:cNvSpPr txBox="1"/>
          <p:nvPr/>
        </p:nvSpPr>
        <p:spPr>
          <a:xfrm>
            <a:off x="619963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C</a:t>
            </a:r>
            <a:endParaRPr lang="en-US" sz="1300" dirty="0"/>
          </a:p>
        </p:txBody>
      </p:sp>
      <p:sp>
        <p:nvSpPr>
          <p:cNvPr id="44" name="Text 42"/>
          <p:cNvSpPr txBox="1"/>
          <p:nvPr/>
        </p:nvSpPr>
        <p:spPr>
          <a:xfrm>
            <a:off x="667512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no coupon</a:t>
            </a:r>
            <a:endParaRPr lang="en-US" sz="1200" dirty="0"/>
          </a:p>
        </p:txBody>
      </p:sp>
      <p:sp>
        <p:nvSpPr>
          <p:cNvPr id="45" name="Text 43"/>
          <p:cNvSpPr txBox="1"/>
          <p:nvPr/>
        </p:nvSpPr>
        <p:spPr>
          <a:xfrm>
            <a:off x="619963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never back to 100%. The family gets 100% back at Y5: a 0% return, but no capital loss.</a:t>
            </a:r>
            <a:endParaRPr lang="en-US" sz="1000" dirty="0"/>
          </a:p>
        </p:txBody>
      </p:sp>
      <p:sp>
        <p:nvSpPr>
          <p:cNvPr id="46" name="Text 44"/>
          <p:cNvSpPr txBox="1"/>
          <p:nvPr/>
        </p:nvSpPr>
        <p:spPr>
          <a:xfrm>
            <a:off x="6199632" y="4160520"/>
            <a:ext cx="2286000" cy="365760"/>
          </a:xfrm>
          <a:prstGeom prst="rect">
            <a:avLst/>
          </a:prstGeom>
          <a:noFill/>
          <a:ln/>
        </p:spPr>
        <p:txBody>
          <a:bodyPr wrap="square" lIns="0" tIns="0" rIns="0" bIns="0" rtlCol="0" anchor="ctr"/>
          <a:lstStyle/>
          <a:p>
            <a:pPr indent="0" marL="0">
              <a:buNone/>
            </a:pPr>
            <a:r>
              <a:rPr lang="en-US" sz="1600" b="1" dirty="0">
                <a:solidFill>
                  <a:srgbClr val="D9961A"/>
                </a:solidFill>
                <a:latin typeface="Calibri" pitchFamily="34" charset="0"/>
                <a:ea typeface="Calibri" pitchFamily="34" charset="-122"/>
                <a:cs typeface="Calibri" pitchFamily="34" charset="-120"/>
              </a:rPr>
              <a:t>13%</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7" name="Text 45"/>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Probabilities are risk-neutral (drift = funding rate − dividends). Real-world outcomes under different equity returns are on slide 9.</a:t>
            </a:r>
            <a:endParaRPr lang="en-US" sz="800" dirty="0"/>
          </a:p>
        </p:txBody>
      </p:sp>
      <p:sp>
        <p:nvSpPr>
          <p:cNvPr id="48" name="Text 46"/>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Payoff diagrams: what the family receives, and when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Left: total cash if called at each date. Right: payoff at Y5 if never called earlier, vs. owning the basket directly</a:t>
            </a:r>
            <a:endParaRPr lang="en-US" sz="1250" dirty="0"/>
          </a:p>
        </p:txBody>
      </p:sp>
      <p:graphicFrame>
        <p:nvGraphicFramePr>
          <p:cNvPr id="4" name="Chart 0" descr=""/>
          <p:cNvGraphicFramePr/>
          <p:nvPr/>
        </p:nvGraphicFramePr>
        <p:xfrm>
          <a:off x="365760" y="1143000"/>
          <a:ext cx="402336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3840480"/>
            <a:ext cx="2103120" cy="8686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Y1: 107.2%  (USD 107.2mn)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Y2: 114.4%  (USD 114.4mn)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Y3: 121.6%  (USD 121.6mn)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Y4: 128.8%  (USD 128.8mn)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Y5: 136.0%  (USD 136.0mn)</a:t>
            </a:r>
            <a:endParaRPr lang="en-US" sz="900" dirty="0"/>
          </a:p>
        </p:txBody>
      </p:sp>
      <p:sp>
        <p:nvSpPr>
          <p:cNvPr id="6" name="Text 3"/>
          <p:cNvSpPr txBox="1"/>
          <p:nvPr/>
        </p:nvSpPr>
        <p:spPr>
          <a:xfrm>
            <a:off x="2606040" y="3840480"/>
            <a:ext cx="1783080" cy="868680"/>
          </a:xfrm>
          <a:prstGeom prst="rect">
            <a:avLst/>
          </a:prstGeom>
          <a:noFill/>
          <a:ln/>
        </p:spPr>
        <p:txBody>
          <a:bodyPr wrap="square" lIns="0" tIns="0" rIns="0" bIns="0" rtlCol="0" anchor="t"/>
          <a:lstStyle/>
          <a:p>
            <a:pPr indent="0" marL="0">
              <a:buNone/>
            </a:pPr>
            <a:r>
              <a:rPr lang="en-US" sz="900" i="1" dirty="0">
                <a:solidFill>
                  <a:srgbClr val="5F7176"/>
                </a:solidFill>
                <a:latin typeface="Calibri" pitchFamily="34" charset="0"/>
                <a:ea typeface="Calibri" pitchFamily="34" charset="-122"/>
                <a:cs typeface="Calibri" pitchFamily="34" charset="-120"/>
              </a:rPr>
              <a:t>With memory, the total depends only on when the note is called, not on how many coupon dates were missed along the way.</a:t>
            </a:r>
            <a:endParaRPr lang="en-US" sz="900" dirty="0"/>
          </a:p>
        </p:txBody>
      </p:sp>
      <p:graphicFrame>
        <p:nvGraphicFramePr>
          <p:cNvPr id="7" name="Chart 1" descr=""/>
          <p:cNvGraphicFramePr/>
          <p:nvPr/>
        </p:nvGraphicFramePr>
        <p:xfrm>
          <a:off x="4572000" y="114300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709160" y="4315968"/>
            <a:ext cx="91440" cy="91440"/>
          </a:xfrm>
          <a:prstGeom prst="ellipse">
            <a:avLst/>
          </a:prstGeom>
          <a:solidFill>
            <a:srgbClr val="D9961A"/>
          </a:solidFill>
          <a:ln w="12700">
            <a:solidFill>
              <a:srgbClr val="D9961A"/>
            </a:solidFill>
            <a:prstDash val="solid"/>
          </a:ln>
        </p:spPr>
      </p:sp>
      <p:sp>
        <p:nvSpPr>
          <p:cNvPr id="9" name="Text 5"/>
          <p:cNvSpPr txBox="1"/>
          <p:nvPr/>
        </p:nvSpPr>
        <p:spPr>
          <a:xfrm>
            <a:off x="4864608" y="4261104"/>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&lt; 100%: 100% back; capital protected however far the basket falls</a:t>
            </a:r>
            <a:endParaRPr lang="en-US" sz="850" dirty="0"/>
          </a:p>
        </p:txBody>
      </p:sp>
      <p:sp>
        <p:nvSpPr>
          <p:cNvPr id="10" name="Shape 6"/>
          <p:cNvSpPr/>
          <p:nvPr/>
        </p:nvSpPr>
        <p:spPr>
          <a:xfrm>
            <a:off x="4709160" y="4489704"/>
            <a:ext cx="91440" cy="91440"/>
          </a:xfrm>
          <a:prstGeom prst="ellipse">
            <a:avLst/>
          </a:prstGeom>
          <a:solidFill>
            <a:srgbClr val="0F8B8D"/>
          </a:solidFill>
          <a:ln w="12700">
            <a:solidFill>
              <a:srgbClr val="0F8B8D"/>
            </a:solidFill>
            <a:prstDash val="solid"/>
          </a:ln>
        </p:spPr>
      </p:sp>
      <p:sp>
        <p:nvSpPr>
          <p:cNvPr id="11" name="Text 7"/>
          <p:cNvSpPr txBox="1"/>
          <p:nvPr/>
        </p:nvSpPr>
        <p:spPr>
          <a:xfrm>
            <a:off x="4864608" y="4434840"/>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 100%: 136.0% (principal + all 20 coupons via memory)</a:t>
            </a:r>
            <a:endParaRPr lang="en-US" sz="850" dirty="0"/>
          </a:p>
        </p:txBody>
      </p:sp>
      <p:sp>
        <p:nvSpPr>
          <p:cNvPr id="12" name="Text 8"/>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 the hood: a bond plus a strip of digital options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Replication used by the Natixis desk to price and hedge (values in % of notional, at trade date)</a:t>
            </a:r>
            <a:endParaRPr lang="en-US" sz="1250" dirty="0"/>
          </a:p>
        </p:txBody>
      </p:sp>
      <p:sp>
        <p:nvSpPr>
          <p:cNvPr id="4" name="Shape 2"/>
          <p:cNvSpPr/>
          <p:nvPr/>
        </p:nvSpPr>
        <p:spPr>
          <a:xfrm>
            <a:off x="411480" y="1188720"/>
            <a:ext cx="2651760" cy="2788920"/>
          </a:xfrm>
          <a:prstGeom prst="roundRect">
            <a:avLst>
              <a:gd name="adj" fmla="val 2414"/>
            </a:avLst>
          </a:prstGeom>
          <a:solidFill>
            <a:srgbClr val="E6F2F0"/>
          </a:solidFill>
          <a:ln w="12700">
            <a:solidFill>
              <a:srgbClr val="E6F2F0"/>
            </a:solidFill>
            <a:prstDash val="solid"/>
          </a:ln>
        </p:spPr>
      </p:sp>
      <p:sp>
        <p:nvSpPr>
          <p:cNvPr id="5" name="Text 3"/>
          <p:cNvSpPr txBox="1"/>
          <p:nvPr/>
        </p:nvSpPr>
        <p:spPr>
          <a:xfrm>
            <a:off x="54864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Protected principal</a:t>
            </a:r>
            <a:endParaRPr lang="en-US" sz="1200" dirty="0"/>
          </a:p>
        </p:txBody>
      </p:sp>
      <p:sp>
        <p:nvSpPr>
          <p:cNvPr id="6" name="Text 4"/>
          <p:cNvSpPr txBox="1"/>
          <p:nvPr/>
        </p:nvSpPr>
        <p:spPr>
          <a:xfrm>
            <a:off x="54864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100% repaid at autocall or maturity. Worth 89.4%: early repayment is worth more than a 5Y bond (75.8%)</a:t>
            </a:r>
            <a:endParaRPr lang="en-US" sz="900" dirty="0"/>
          </a:p>
        </p:txBody>
      </p:sp>
      <p:graphicFrame>
        <p:nvGraphicFramePr>
          <p:cNvPr id="7" name="Chart 0" descr=""/>
          <p:cNvGraphicFramePr/>
          <p:nvPr/>
        </p:nvGraphicFramePr>
        <p:xfrm>
          <a:off x="457200" y="2148840"/>
          <a:ext cx="2560320" cy="1737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04495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9" name="Shape 6"/>
          <p:cNvSpPr/>
          <p:nvPr/>
        </p:nvSpPr>
        <p:spPr>
          <a:xfrm>
            <a:off x="3246120" y="1188720"/>
            <a:ext cx="2651760" cy="2788920"/>
          </a:xfrm>
          <a:prstGeom prst="roundRect">
            <a:avLst>
              <a:gd name="adj" fmla="val 2414"/>
            </a:avLst>
          </a:prstGeom>
          <a:solidFill>
            <a:srgbClr val="E6F2F0"/>
          </a:solidFill>
          <a:ln w="12700">
            <a:solidFill>
              <a:srgbClr val="E6F2F0"/>
            </a:solidFill>
            <a:prstDash val="solid"/>
          </a:ln>
        </p:spPr>
      </p:sp>
      <p:sp>
        <p:nvSpPr>
          <p:cNvPr id="10" name="Text 7"/>
          <p:cNvSpPr txBox="1"/>
          <p:nvPr/>
        </p:nvSpPr>
        <p:spPr>
          <a:xfrm>
            <a:off x="338328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Long quarterly digitals</a:t>
            </a:r>
            <a:endParaRPr lang="en-US" sz="1200" dirty="0"/>
          </a:p>
        </p:txBody>
      </p:sp>
      <p:sp>
        <p:nvSpPr>
          <p:cNvPr id="11" name="Text 8"/>
          <p:cNvSpPr txBox="1"/>
          <p:nvPr/>
        </p:nvSpPr>
        <p:spPr>
          <a:xfrm>
            <a:off x="338328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Pay 1.80%, plus missed coupons, on each date the basket is ≥ 100%. Worth 8.0%</a:t>
            </a:r>
            <a:endParaRPr lang="en-US" sz="900" dirty="0"/>
          </a:p>
        </p:txBody>
      </p:sp>
      <p:graphicFrame>
        <p:nvGraphicFramePr>
          <p:cNvPr id="12" name="Chart 1" descr=""/>
          <p:cNvGraphicFramePr/>
          <p:nvPr/>
        </p:nvGraphicFramePr>
        <p:xfrm>
          <a:off x="3291840" y="2148840"/>
          <a:ext cx="2560320" cy="17373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87959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4" name="Shape 10"/>
          <p:cNvSpPr/>
          <p:nvPr/>
        </p:nvSpPr>
        <p:spPr>
          <a:xfrm>
            <a:off x="6080760" y="1188720"/>
            <a:ext cx="2651760" cy="2788920"/>
          </a:xfrm>
          <a:prstGeom prst="roundRect">
            <a:avLst>
              <a:gd name="adj" fmla="val 2414"/>
            </a:avLst>
          </a:prstGeom>
          <a:solidFill>
            <a:srgbClr val="E6F2F0"/>
          </a:solidFill>
          <a:ln w="12700">
            <a:solidFill>
              <a:srgbClr val="E6F2F0"/>
            </a:solidFill>
            <a:prstDash val="solid"/>
          </a:ln>
        </p:spPr>
      </p:sp>
      <p:sp>
        <p:nvSpPr>
          <p:cNvPr id="15" name="Text 11"/>
          <p:cNvSpPr txBox="1"/>
          <p:nvPr/>
        </p:nvSpPr>
        <p:spPr>
          <a:xfrm>
            <a:off x="6217920" y="1261872"/>
            <a:ext cx="2377440" cy="274320"/>
          </a:xfrm>
          <a:prstGeom prst="rect">
            <a:avLst/>
          </a:prstGeom>
          <a:noFill/>
          <a:ln/>
        </p:spPr>
        <p:txBody>
          <a:bodyPr wrap="square" lIns="0" tIns="0" rIns="0" bIns="0" rtlCol="0" anchor="t"/>
          <a:lstStyle/>
          <a:p>
            <a:pPr indent="0" marL="0">
              <a:buNone/>
            </a:pPr>
            <a:r>
              <a:rPr lang="en-US" sz="1200" b="1" dirty="0">
                <a:solidFill>
                  <a:srgbClr val="B8433A"/>
                </a:solidFill>
                <a:latin typeface="Calibri" pitchFamily="34" charset="0"/>
                <a:ea typeface="Calibri" pitchFamily="34" charset="-122"/>
                <a:cs typeface="Calibri" pitchFamily="34" charset="-120"/>
              </a:rPr>
              <a:t>Autocall (Natixis's side)</a:t>
            </a:r>
            <a:endParaRPr lang="en-US" sz="1200" dirty="0"/>
          </a:p>
        </p:txBody>
      </p:sp>
      <p:sp>
        <p:nvSpPr>
          <p:cNvPr id="16" name="Text 12"/>
          <p:cNvSpPr txBox="1"/>
          <p:nvPr/>
        </p:nvSpPr>
        <p:spPr>
          <a:xfrm>
            <a:off x="621792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Remaining coupons: cancelled on a date from Q4 with basket ≥ 100%, when the note ends. This is what keeps the coupon affordable</a:t>
            </a:r>
            <a:endParaRPr lang="en-US" sz="900" dirty="0"/>
          </a:p>
        </p:txBody>
      </p:sp>
      <p:graphicFrame>
        <p:nvGraphicFramePr>
          <p:cNvPr id="17" name="Chart 2" descr=""/>
          <p:cNvGraphicFramePr/>
          <p:nvPr/>
        </p:nvGraphicFramePr>
        <p:xfrm>
          <a:off x="6126480" y="2148840"/>
          <a:ext cx="2560320" cy="17373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411480" y="4069080"/>
            <a:ext cx="8321040" cy="640080"/>
          </a:xfrm>
          <a:prstGeom prst="roundRect">
            <a:avLst>
              <a:gd name="adj" fmla="val 10000"/>
            </a:avLst>
          </a:prstGeom>
          <a:solidFill>
            <a:srgbClr val="0B3C49"/>
          </a:solidFill>
          <a:ln w="12700">
            <a:solidFill>
              <a:srgbClr val="0B3C49"/>
            </a:solidFill>
            <a:prstDash val="solid"/>
          </a:ln>
        </p:spPr>
      </p:sp>
      <p:sp>
        <p:nvSpPr>
          <p:cNvPr id="19" name="Text 14"/>
          <p:cNvSpPr txBox="1"/>
          <p:nvPr/>
        </p:nvSpPr>
        <p:spPr>
          <a:xfrm>
            <a:off x="548640" y="4133088"/>
            <a:ext cx="8046720" cy="548640"/>
          </a:xfrm>
          <a:prstGeom prst="rect">
            <a:avLst/>
          </a:prstGeom>
          <a:noFill/>
          <a:ln/>
        </p:spPr>
        <p:txBody>
          <a:bodyPr wrap="square" lIns="0" tIns="0" rIns="0" bIns="0" rtlCol="0" anchor="ctr"/>
          <a:lstStyle/>
          <a:p>
            <a:pPr indent="0" marL="0">
              <a:buNone/>
            </a:pPr>
            <a:r>
              <a:rPr lang="en-US" sz="1000" b="1" dirty="0">
                <a:solidFill>
                  <a:srgbClr val="D9961A"/>
                </a:solidFill>
                <a:latin typeface="Calibri" pitchFamily="34" charset="0"/>
                <a:ea typeface="Calibri" pitchFamily="34" charset="-122"/>
                <a:cs typeface="Calibri" pitchFamily="34" charset="-120"/>
              </a:rPr>
              <a:t>Fair value 97.4% = principal 89.4% + coupons 8.0% (net of autocall).  </a:t>
            </a:r>
            <a:pPr indent="0" marL="0">
              <a:buNone/>
            </a:pPr>
            <a:r>
              <a:rPr lang="en-US" sz="1000" dirty="0">
                <a:solidFill>
                  <a:srgbClr val="FFFFFF"/>
                </a:solidFill>
                <a:latin typeface="Calibri" pitchFamily="34" charset="0"/>
                <a:ea typeface="Calibri" pitchFamily="34" charset="-122"/>
                <a:cs typeface="Calibri" pitchFamily="34" charset="-120"/>
              </a:rPr>
              <a:t>Issued at 100%, leaving 2.6% for hedging costs and Natixis margin. The client sells no put, so it takes no equity downside: it gives up upside above the coupon instead.</a:t>
            </a:r>
            <a:endParaRPr lang="en-US" sz="1000" dirty="0"/>
          </a:p>
        </p:txBody>
      </p:sp>
      <p:sp>
        <p:nvSpPr>
          <p:cNvPr id="20"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Scenario analysis: five paths for Asian markets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Hypothetical quarterly basket paths and what the USD 100mn note returns in each</a:t>
            </a:r>
            <a:endParaRPr lang="en-US" sz="1250" dirty="0"/>
          </a:p>
        </p:txBody>
      </p:sp>
      <p:graphicFrame>
        <p:nvGraphicFramePr>
          <p:cNvPr id="4" name="Chart 0" descr=""/>
          <p:cNvGraphicFramePr/>
          <p:nvPr/>
        </p:nvGraphicFramePr>
        <p:xfrm>
          <a:off x="32004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188720"/>
          <a:ext cx="4069080" cy="914400"/>
        </p:xfrm>
        <a:graphic>
          <a:graphicData uri="http://schemas.openxmlformats.org/drawingml/2006/table">
            <a:tbl>
              <a:tblPr/>
              <a:tblGrid>
                <a:gridCol w="1298448"/>
                <a:gridCol w="896112"/>
                <a:gridCol w="530352"/>
                <a:gridCol w="475488"/>
                <a:gridCol w="429768"/>
                <a:gridCol w="438912"/>
              </a:tblGrid>
              <a:tr h="38404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Scenario</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Outcome</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Coupons</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USD mn</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IRR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Basket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84048">
                <a:tc>
                  <a:txBody>
                    <a:bodyPr/>
                    <a:lstStyle/>
                    <a:p>
                      <a:pPr indent="0" marL="0">
                        <a:buNone/>
                      </a:pPr>
                      <a:r>
                        <a:rPr lang="en-US" sz="850" b="1" dirty="0">
                          <a:solidFill>
                            <a:srgbClr val="0F8B8D"/>
                          </a:solidFill>
                          <a:latin typeface="Calibri" pitchFamily="34" charset="0"/>
                          <a:ea typeface="Calibri" pitchFamily="34" charset="-122"/>
                          <a:cs typeface="Calibri" pitchFamily="34" charset="-120"/>
                        </a:rPr>
                        <a:t>AI capex boom</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Q4 (1y)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7.2%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107.2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7.4%</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D9961A"/>
                          </a:solidFill>
                          <a:latin typeface="Calibri" pitchFamily="34" charset="0"/>
                          <a:ea typeface="Calibri" pitchFamily="34" charset="-122"/>
                          <a:cs typeface="Calibri" pitchFamily="34" charset="-120"/>
                        </a:rPr>
                        <a:t>Range-bound Asia</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Q6 (1.5y)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110.8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2022-style tech drawdown, slow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Q15 (3.75y)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27.0%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127.0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6.6%</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5F7176"/>
                          </a:solidFill>
                          <a:latin typeface="Calibri" pitchFamily="34" charset="0"/>
                          <a:ea typeface="Calibri" pitchFamily="34" charset="-122"/>
                          <a:cs typeface="Calibri" pitchFamily="34" charset="-120"/>
                        </a:rPr>
                        <a:t>Lost decade (sideways below par)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B8433A"/>
                          </a:solidFill>
                          <a:latin typeface="Calibri" pitchFamily="34" charset="0"/>
                          <a:ea typeface="Calibri" pitchFamily="34" charset="-122"/>
                          <a:cs typeface="Calibri" pitchFamily="34" charset="-120"/>
                        </a:rPr>
                        <a:t>Geopolitical shock, no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663440" y="3611880"/>
            <a:ext cx="4069080" cy="1051560"/>
          </a:xfrm>
          <a:prstGeom prst="roundRect">
            <a:avLst>
              <a:gd name="adj" fmla="val 6087"/>
            </a:avLst>
          </a:prstGeom>
          <a:solidFill>
            <a:srgbClr val="E6F2F0"/>
          </a:solidFill>
          <a:ln w="12700">
            <a:solidFill>
              <a:srgbClr val="E6F2F0"/>
            </a:solidFill>
            <a:prstDash val="solid"/>
          </a:ln>
        </p:spPr>
      </p:sp>
      <p:sp>
        <p:nvSpPr>
          <p:cNvPr id="7" name="Text 3"/>
          <p:cNvSpPr txBox="1"/>
          <p:nvPr/>
        </p:nvSpPr>
        <p:spPr>
          <a:xfrm>
            <a:off x="4800600" y="3685032"/>
            <a:ext cx="3840480" cy="91440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Reading: </a:t>
            </a:r>
            <a:pPr indent="0" marL="0">
              <a:buNone/>
            </a:pPr>
            <a:r>
              <a:rPr lang="en-US" sz="950" dirty="0">
                <a:solidFill>
                  <a:srgbClr val="1D2B30"/>
                </a:solidFill>
                <a:latin typeface="Calibri" pitchFamily="34" charset="0"/>
                <a:ea typeface="Calibri" pitchFamily="34" charset="-122"/>
                <a:cs typeface="Calibri" pitchFamily="34" charset="-120"/>
              </a:rPr>
              <a:t>the note earns ~6.6%–7.4% a year whenever the basket gets back to 100%, even after a 30% drawdown: memory pays all 15 missed coupons at Q15. In a lost decade or a lasting shock the family gets 100% back, while the basket itself is down 12–45%.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Paths are illustrative and not forecasts. 'Basket' = direct basket return at Y5 when the note is not called. Historical back-test to run on Bloomberg history (appendix).</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Simulation back-test: most paths end early with full coupons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Monte Carlo outcome distribution: risk-neutral and under three real-world equity return assumptions</a:t>
            </a:r>
            <a:endParaRPr lang="en-US" sz="1250" dirty="0"/>
          </a:p>
        </p:txBody>
      </p:sp>
      <p:graphicFrame>
        <p:nvGraphicFramePr>
          <p:cNvPr id="4" name="Chart 0" descr=""/>
          <p:cNvGraphicFramePr/>
          <p:nvPr/>
        </p:nvGraphicFramePr>
        <p:xfrm>
          <a:off x="320040" y="1097280"/>
          <a:ext cx="35661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143000"/>
          <a:ext cx="4663440" cy="914400"/>
        </p:xfrm>
        <a:graphic>
          <a:graphicData uri="http://schemas.openxmlformats.org/drawingml/2006/table">
            <a:tbl>
              <a:tblPr/>
              <a:tblGrid>
                <a:gridCol w="1298448"/>
                <a:gridCol w="841248"/>
                <a:gridCol w="841248"/>
                <a:gridCol w="841248"/>
                <a:gridCol w="841248"/>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Risk-neutral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8%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Called within 5Y</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Expected life (yrs)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Median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Avg coupons received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9.0%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Zero return (100% back)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Capital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3611880"/>
            <a:ext cx="2606040" cy="1005840"/>
          </a:xfrm>
          <a:prstGeom prst="roundRect">
            <a:avLst>
              <a:gd name="adj" fmla="val 6364"/>
            </a:avLst>
          </a:prstGeom>
          <a:solidFill>
            <a:srgbClr val="E6F2F0"/>
          </a:solidFill>
          <a:ln w="12700">
            <a:solidFill>
              <a:srgbClr val="E6F2F0"/>
            </a:solidFill>
            <a:prstDash val="solid"/>
          </a:ln>
        </p:spPr>
      </p:sp>
      <p:sp>
        <p:nvSpPr>
          <p:cNvPr id="7" name="Text 3"/>
          <p:cNvSpPr txBox="1"/>
          <p:nvPr/>
        </p:nvSpPr>
        <p:spPr>
          <a:xfrm>
            <a:off x="54864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49%</a:t>
            </a:r>
            <a:endParaRPr lang="en-US" sz="2400" dirty="0"/>
          </a:p>
        </p:txBody>
      </p:sp>
      <p:sp>
        <p:nvSpPr>
          <p:cNvPr id="8" name="Text 4"/>
          <p:cNvSpPr txBox="1"/>
          <p:nvPr/>
        </p:nvSpPr>
        <p:spPr>
          <a:xfrm>
            <a:off x="160020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called at the first review (107.2% total)</a:t>
            </a:r>
            <a:endParaRPr lang="en-US" sz="1000" dirty="0"/>
          </a:p>
        </p:txBody>
      </p:sp>
      <p:sp>
        <p:nvSpPr>
          <p:cNvPr id="9" name="Shape 5"/>
          <p:cNvSpPr/>
          <p:nvPr/>
        </p:nvSpPr>
        <p:spPr>
          <a:xfrm>
            <a:off x="3200400" y="3611880"/>
            <a:ext cx="2606040" cy="1005840"/>
          </a:xfrm>
          <a:prstGeom prst="roundRect">
            <a:avLst>
              <a:gd name="adj" fmla="val 6364"/>
            </a:avLst>
          </a:prstGeom>
          <a:solidFill>
            <a:srgbClr val="E6F2F0"/>
          </a:solidFill>
          <a:ln w="12700">
            <a:solidFill>
              <a:srgbClr val="E6F2F0"/>
            </a:solidFill>
            <a:prstDash val="solid"/>
          </a:ln>
        </p:spPr>
      </p:sp>
      <p:sp>
        <p:nvSpPr>
          <p:cNvPr id="10" name="Text 6"/>
          <p:cNvSpPr txBox="1"/>
          <p:nvPr/>
        </p:nvSpPr>
        <p:spPr>
          <a:xfrm>
            <a:off x="333756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0%</a:t>
            </a:r>
            <a:endParaRPr lang="en-US" sz="2400" dirty="0"/>
          </a:p>
        </p:txBody>
      </p:sp>
      <p:sp>
        <p:nvSpPr>
          <p:cNvPr id="11" name="Text 7"/>
          <p:cNvSpPr txBox="1"/>
          <p:nvPr/>
        </p:nvSpPr>
        <p:spPr>
          <a:xfrm>
            <a:off x="438912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chance of losing capital at maturity</a:t>
            </a:r>
            <a:endParaRPr lang="en-US" sz="1000" dirty="0"/>
          </a:p>
        </p:txBody>
      </p:sp>
      <p:sp>
        <p:nvSpPr>
          <p:cNvPr id="12" name="Shape 8"/>
          <p:cNvSpPr/>
          <p:nvPr/>
        </p:nvSpPr>
        <p:spPr>
          <a:xfrm>
            <a:off x="5989320" y="3611880"/>
            <a:ext cx="2606040" cy="1005840"/>
          </a:xfrm>
          <a:prstGeom prst="roundRect">
            <a:avLst>
              <a:gd name="adj" fmla="val 6364"/>
            </a:avLst>
          </a:prstGeom>
          <a:solidFill>
            <a:srgbClr val="0B3C49"/>
          </a:solidFill>
          <a:ln w="12700">
            <a:solidFill>
              <a:srgbClr val="0B3C49"/>
            </a:solidFill>
            <a:prstDash val="solid"/>
          </a:ln>
        </p:spPr>
      </p:sp>
      <p:sp>
        <p:nvSpPr>
          <p:cNvPr id="13" name="Text 9"/>
          <p:cNvSpPr txBox="1"/>
          <p:nvPr/>
        </p:nvSpPr>
        <p:spPr>
          <a:xfrm>
            <a:off x="6126480" y="3675888"/>
            <a:ext cx="1051560" cy="868680"/>
          </a:xfrm>
          <a:prstGeom prst="rect">
            <a:avLst/>
          </a:prstGeom>
          <a:noFill/>
          <a:ln/>
        </p:spPr>
        <p:txBody>
          <a:bodyPr wrap="square" lIns="0" tIns="0" rIns="0" bIns="0" rtlCol="0" anchor="ctr"/>
          <a:lstStyle/>
          <a:p>
            <a:pPr indent="0" marL="0">
              <a:buNone/>
            </a:pPr>
            <a:r>
              <a:rPr lang="en-US" sz="2400" b="1" dirty="0">
                <a:solidFill>
                  <a:srgbClr val="D9961A"/>
                </a:solidFill>
                <a:latin typeface="Cambria" pitchFamily="34" charset="0"/>
                <a:ea typeface="Cambria" pitchFamily="34" charset="-122"/>
                <a:cs typeface="Cambria" pitchFamily="34" charset="-120"/>
              </a:rPr>
              <a:t>13%</a:t>
            </a:r>
            <a:endParaRPr lang="en-US" sz="2400" dirty="0"/>
          </a:p>
        </p:txBody>
      </p:sp>
      <p:sp>
        <p:nvSpPr>
          <p:cNvPr id="14" name="Text 10"/>
          <p:cNvSpPr txBox="1"/>
          <p:nvPr/>
        </p:nvSpPr>
        <p:spPr>
          <a:xfrm>
            <a:off x="7178040" y="3675888"/>
            <a:ext cx="1325880" cy="86868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of paths earn nothing: 100% back after 5 years</a:t>
            </a:r>
            <a:endParaRPr lang="en-US" sz="1000" dirty="0"/>
          </a:p>
        </p:txBody>
      </p:sp>
      <p:sp>
        <p:nvSpPr>
          <p:cNvPr id="15" name="Text 11"/>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IRR uses actual quarterly coupon dates.</a:t>
            </a:r>
            <a:endParaRPr lang="en-US" sz="800" dirty="0"/>
          </a:p>
        </p:txBody>
      </p:sp>
      <p:sp>
        <p:nvSpPr>
          <p:cNvPr id="16" name="Text 12"/>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Risks for the family, and how Natixis hedges its side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Transparent disclosure plus a desk hedging plan for every exposure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4937760" cy="914400"/>
        </p:xfrm>
        <a:graphic>
          <a:graphicData uri="http://schemas.openxmlformats.org/drawingml/2006/table">
            <a:tbl>
              <a:tblPr/>
              <a:tblGrid>
                <a:gridCol w="1051560"/>
                <a:gridCol w="1965960"/>
                <a:gridCol w="1920240"/>
              </a:tblGrid>
              <a:tr h="24688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could happen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Mitigant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Opportunity cost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never back to 100%: 0% for 5 years (~13% of paths)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Coupon above the funding rate in most paths; only 5% of wealth</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Capped upside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+80% still pays 7.20% p.a. and is called at Y1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Rest of family wealth keeps direct equity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ETF structure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00878 pays ~7.6% a year out, lowering its price path; 3119 trading is thin; ETF tracking error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Small 00878 weight; verify volumes; Natixis can reference total-return versions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Issuer credit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Protection depends on Natixis / BPCE paying</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BPCE senior rating; optional collateralised wrapper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Liquidity / MTM</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Sold before maturity, the price can be below 100%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daily indicative price; hold to call or maturity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Shape 2"/>
          <p:cNvSpPr/>
          <p:nvPr/>
        </p:nvSpPr>
        <p:spPr>
          <a:xfrm>
            <a:off x="5532120" y="1143000"/>
            <a:ext cx="3200400" cy="795528"/>
          </a:xfrm>
          <a:prstGeom prst="roundRect">
            <a:avLst>
              <a:gd name="adj" fmla="val 8046"/>
            </a:avLst>
          </a:prstGeom>
          <a:solidFill>
            <a:srgbClr val="F2F7F6"/>
          </a:solidFill>
          <a:ln w="12700">
            <a:solidFill>
              <a:srgbClr val="F2F7F6"/>
            </a:solidFill>
            <a:prstDash val="solid"/>
          </a:ln>
        </p:spPr>
      </p:sp>
      <p:sp>
        <p:nvSpPr>
          <p:cNvPr id="6" name="Text 3"/>
          <p:cNvSpPr txBox="1"/>
          <p:nvPr/>
        </p:nvSpPr>
        <p:spPr>
          <a:xfrm>
            <a:off x="5650992" y="1207008"/>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Coupon digitals</a:t>
            </a:r>
            <a:endParaRPr lang="en-US" sz="1050" dirty="0"/>
          </a:p>
        </p:txBody>
      </p:sp>
      <p:sp>
        <p:nvSpPr>
          <p:cNvPr id="7" name="Text 4"/>
          <p:cNvSpPr txBox="1"/>
          <p:nvPr/>
        </p:nvSpPr>
        <p:spPr>
          <a:xfrm>
            <a:off x="5650992" y="1435608"/>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Natixis owes basket digitals struck at 100%: replicated with tight basket call spreads, delta-hedged with ETF units, constituent stocks and index futures as proxies; listed options on EWY/EWT</a:t>
            </a:r>
            <a:endParaRPr lang="en-US" sz="850" dirty="0"/>
          </a:p>
        </p:txBody>
      </p:sp>
      <p:sp>
        <p:nvSpPr>
          <p:cNvPr id="8" name="Shape 5"/>
          <p:cNvSpPr/>
          <p:nvPr/>
        </p:nvSpPr>
        <p:spPr>
          <a:xfrm>
            <a:off x="5532120" y="2029968"/>
            <a:ext cx="3200400" cy="795528"/>
          </a:xfrm>
          <a:prstGeom prst="roundRect">
            <a:avLst>
              <a:gd name="adj" fmla="val 8046"/>
            </a:avLst>
          </a:prstGeom>
          <a:solidFill>
            <a:srgbClr val="E6F2F0"/>
          </a:solidFill>
          <a:ln w="12700">
            <a:solidFill>
              <a:srgbClr val="E6F2F0"/>
            </a:solidFill>
            <a:prstDash val="solid"/>
          </a:ln>
        </p:spPr>
      </p:sp>
      <p:sp>
        <p:nvSpPr>
          <p:cNvPr id="9" name="Text 6"/>
          <p:cNvSpPr txBox="1"/>
          <p:nvPr/>
        </p:nvSpPr>
        <p:spPr>
          <a:xfrm>
            <a:off x="5650992" y="2093976"/>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Vol &amp; correlation</a:t>
            </a:r>
            <a:endParaRPr lang="en-US" sz="1050" dirty="0"/>
          </a:p>
        </p:txBody>
      </p:sp>
      <p:sp>
        <p:nvSpPr>
          <p:cNvPr id="10" name="Text 7"/>
          <p:cNvSpPr txBox="1"/>
          <p:nvPr/>
        </p:nvSpPr>
        <p:spPr>
          <a:xfrm>
            <a:off x="5650992" y="2322576"/>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Coupon value moves with basket vol and correlation (fair 7.5%–8.1% for vol ±3pts): managed with listed index options and correlation trades</a:t>
            </a:r>
            <a:endParaRPr lang="en-US" sz="850" dirty="0"/>
          </a:p>
        </p:txBody>
      </p:sp>
      <p:sp>
        <p:nvSpPr>
          <p:cNvPr id="11" name="Shape 8"/>
          <p:cNvSpPr/>
          <p:nvPr/>
        </p:nvSpPr>
        <p:spPr>
          <a:xfrm>
            <a:off x="5532120" y="2916936"/>
            <a:ext cx="3200400" cy="795528"/>
          </a:xfrm>
          <a:prstGeom prst="roundRect">
            <a:avLst>
              <a:gd name="adj" fmla="val 8046"/>
            </a:avLst>
          </a:prstGeom>
          <a:solidFill>
            <a:srgbClr val="F2F7F6"/>
          </a:solidFill>
          <a:ln w="12700">
            <a:solidFill>
              <a:srgbClr val="F2F7F6"/>
            </a:solidFill>
            <a:prstDash val="solid"/>
          </a:ln>
        </p:spPr>
      </p:sp>
      <p:sp>
        <p:nvSpPr>
          <p:cNvPr id="12" name="Text 9"/>
          <p:cNvSpPr txBox="1"/>
          <p:nvPr/>
        </p:nvSpPr>
        <p:spPr>
          <a:xfrm>
            <a:off x="5650992" y="2980944"/>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Quanto FX</a:t>
            </a:r>
            <a:endParaRPr lang="en-US" sz="1050" dirty="0"/>
          </a:p>
        </p:txBody>
      </p:sp>
      <p:sp>
        <p:nvSpPr>
          <p:cNvPr id="13" name="Text 10"/>
          <p:cNvSpPr txBox="1"/>
          <p:nvPr/>
        </p:nvSpPr>
        <p:spPr>
          <a:xfrm>
            <a:off x="5650992" y="3209544"/>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EWT and EWY already trade in USD; 3119 (HKD, pegged), 2644 (JPY) and 00878 (TWD) need FX forwards and a quanto adjustment</a:t>
            </a:r>
            <a:endParaRPr lang="en-US" sz="850" dirty="0"/>
          </a:p>
        </p:txBody>
      </p:sp>
      <p:sp>
        <p:nvSpPr>
          <p:cNvPr id="14" name="Shape 11"/>
          <p:cNvSpPr/>
          <p:nvPr/>
        </p:nvSpPr>
        <p:spPr>
          <a:xfrm>
            <a:off x="5532120" y="3803904"/>
            <a:ext cx="3200400" cy="795528"/>
          </a:xfrm>
          <a:prstGeom prst="roundRect">
            <a:avLst>
              <a:gd name="adj" fmla="val 8046"/>
            </a:avLst>
          </a:prstGeom>
          <a:solidFill>
            <a:srgbClr val="E6F2F0"/>
          </a:solidFill>
          <a:ln w="12700">
            <a:solidFill>
              <a:srgbClr val="E6F2F0"/>
            </a:solidFill>
            <a:prstDash val="solid"/>
          </a:ln>
        </p:spPr>
      </p:sp>
      <p:sp>
        <p:nvSpPr>
          <p:cNvPr id="15" name="Text 12"/>
          <p:cNvSpPr txBox="1"/>
          <p:nvPr/>
        </p:nvSpPr>
        <p:spPr>
          <a:xfrm>
            <a:off x="5650992" y="3867912"/>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Rates &amp; funding</a:t>
            </a:r>
            <a:endParaRPr lang="en-US" sz="1050" dirty="0"/>
          </a:p>
        </p:txBody>
      </p:sp>
      <p:sp>
        <p:nvSpPr>
          <p:cNvPr id="16" name="Text 13"/>
          <p:cNvSpPr txBox="1"/>
          <p:nvPr/>
        </p:nvSpPr>
        <p:spPr>
          <a:xfrm>
            <a:off x="5650992" y="4096512"/>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Protected principal funded at the 5.69% curve and hedged with USD swaps; the autocall shortens the liability</a:t>
            </a:r>
            <a:endParaRPr lang="en-US" sz="850" dirty="0"/>
          </a:p>
        </p:txBody>
      </p:sp>
      <p:sp>
        <p:nvSpPr>
          <p:cNvPr id="17" name="Text 14"/>
          <p:cNvSpPr txBox="1"/>
          <p:nvPr/>
        </p:nvSpPr>
        <p:spPr>
          <a:xfrm>
            <a:off x="411480" y="4069080"/>
            <a:ext cx="4937760" cy="640080"/>
          </a:xfrm>
          <a:prstGeom prst="rect">
            <a:avLst/>
          </a:prstGeom>
          <a:noFill/>
          <a:ln/>
        </p:spPr>
        <p:txBody>
          <a:bodyPr wrap="square" lIns="0" tIns="0" rIns="0" bIns="0" rtlCol="0" anchor="t"/>
          <a:lstStyle/>
          <a:p>
            <a:pPr indent="0" marL="0">
              <a:buNone/>
            </a:pPr>
            <a:r>
              <a:rPr lang="en-US" sz="900" b="1" dirty="0">
                <a:solidFill>
                  <a:srgbClr val="0B3C49"/>
                </a:solidFill>
                <a:latin typeface="Calibri" pitchFamily="34" charset="0"/>
                <a:ea typeface="Calibri" pitchFamily="34" charset="-122"/>
                <a:cs typeface="Calibri" pitchFamily="34" charset="-120"/>
              </a:rPr>
              <a:t>Pricing sensitivity (fair coupon): </a:t>
            </a:r>
            <a:pPr indent="0" marL="0">
              <a:buNone/>
            </a:pPr>
            <a:r>
              <a:rPr lang="en-US" sz="900" dirty="0">
                <a:solidFill>
                  <a:srgbClr val="1D2B30"/>
                </a:solidFill>
                <a:latin typeface="Calibri" pitchFamily="34" charset="0"/>
                <a:ea typeface="Calibri" pitchFamily="34" charset="-122"/>
                <a:cs typeface="Calibri" pitchFamily="34" charset="-120"/>
              </a:rPr>
              <a:t>base 7.8% · vol ±3pts 7.5%–8.1% · corr ±0.15 7.6%–8.0% · equity drift −1/−2% 8.3%–8.9%. The 7.20% offer stays fundable in every case.</a:t>
            </a:r>
            <a:endParaRPr lang="en-US" sz="900" dirty="0"/>
          </a:p>
        </p:txBody>
      </p:sp>
      <p:sp>
        <p:nvSpPr>
          <p:cNvPr id="18"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A: pricing assumptions and methodology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Inputs to refresh on Bloomberg at trade date (BVOL / OVDV for vols, CORR for correlations)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4754880" cy="914400"/>
        </p:xfrm>
        <a:graphic>
          <a:graphicData uri="http://schemas.openxmlformats.org/drawingml/2006/table">
            <a:tbl>
              <a:tblPr/>
              <a:tblGrid>
                <a:gridCol w="822960"/>
                <a:gridCol w="566928"/>
                <a:gridCol w="475488"/>
                <a:gridCol w="475488"/>
                <a:gridCol w="482803"/>
                <a:gridCol w="482803"/>
                <a:gridCol w="482803"/>
                <a:gridCol w="482803"/>
                <a:gridCol w="482803"/>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ETF</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Weight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Div</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3119 HK</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2644 JP</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EWT US</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EWY US</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00878 TT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3119 HK</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2644 JP</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EWT US</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EWY US</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00878 TT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7.6%</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11480" y="2971800"/>
            <a:ext cx="4754880" cy="1828800"/>
          </a:xfrm>
          <a:prstGeom prst="rect">
            <a:avLst/>
          </a:prstGeom>
          <a:noFill/>
          <a:ln/>
        </p:spPr>
        <p:txBody>
          <a:bodyPr wrap="square" lIns="0" tIns="0" rIns="0" bIns="0" rtlCol="0" anchor="t"/>
          <a:lstStyle/>
          <a:p>
            <a:pPr indent="0" marL="0">
              <a:spcAft>
                <a:spcPts val="300"/>
              </a:spcAft>
              <a:buNone/>
            </a:pPr>
            <a:r>
              <a:rPr lang="en-US" sz="900" b="1" dirty="0">
                <a:solidFill>
                  <a:srgbClr val="0F8B8D"/>
                </a:solidFill>
                <a:latin typeface="Calibri" pitchFamily="34" charset="0"/>
                <a:ea typeface="Calibri" pitchFamily="34" charset="-122"/>
                <a:cs typeface="Calibri" pitchFamily="34" charset="-120"/>
              </a:rPr>
              <a:t>Model. </a:t>
            </a:r>
            <a:pPr indent="0" marL="0">
              <a:spcAft>
                <a:spcPts val="300"/>
              </a:spcAft>
              <a:buNone/>
            </a:pPr>
            <a:r>
              <a:rPr lang="en-US" sz="900" dirty="0">
                <a:solidFill>
                  <a:srgbClr val="1D2B30"/>
                </a:solidFill>
                <a:latin typeface="Calibri" pitchFamily="34" charset="0"/>
                <a:ea typeface="Calibri" pitchFamily="34" charset="-122"/>
                <a:cs typeface="Calibri" pitchFamily="34" charset="-120"/>
              </a:rPr>
              <a:t>Correlated GBM for each ETF, 200,000 paths, quarterly steps. Risk-neutral drift = USD funding (linear interpolation of case grid) − dividend yield. Quanto adjustment ignored (assumed hedged by the desk; to be added with FX-equity correlations).</a:t>
            </a:r>
            <a:endParaRPr lang="en-US" sz="900" dirty="0"/>
          </a:p>
          <a:p>
            <a:pPr indent="0" marL="0">
              <a:spcAft>
                <a:spcPts val="300"/>
              </a:spcAft>
              <a:buNone/>
            </a:pPr>
            <a:r>
              <a:rPr lang="en-US" sz="900" b="1" dirty="0">
                <a:solidFill>
                  <a:srgbClr val="0F8B8D"/>
                </a:solidFill>
                <a:latin typeface="Calibri" pitchFamily="34" charset="0"/>
                <a:ea typeface="Calibri" pitchFamily="34" charset="-122"/>
                <a:cs typeface="Calibri" pitchFamily="34" charset="-120"/>
              </a:rPr>
              <a:t>Discounting. </a:t>
            </a:r>
            <a:pPr indent="0" marL="0">
              <a:spcAft>
                <a:spcPts val="300"/>
              </a:spcAft>
              <a:buNone/>
            </a:pPr>
            <a:r>
              <a:rPr lang="en-US" sz="900" dirty="0">
                <a:solidFill>
                  <a:srgbClr val="1D2B30"/>
                </a:solidFill>
                <a:latin typeface="Calibri" pitchFamily="34" charset="0"/>
                <a:ea typeface="Calibri" pitchFamily="34" charset="-122"/>
                <a:cs typeface="Calibri" pitchFamily="34" charset="-120"/>
              </a:rPr>
              <a:t>USD funding grid from the case rules; 5Y discount factor 0.758.</a:t>
            </a:r>
            <a:endParaRPr lang="en-US" sz="900" dirty="0"/>
          </a:p>
          <a:p>
            <a:pPr indent="0" marL="0">
              <a:spcAft>
                <a:spcPts val="300"/>
              </a:spcAft>
              <a:buNone/>
            </a:pPr>
            <a:r>
              <a:rPr lang="en-US" sz="900" b="1" dirty="0">
                <a:solidFill>
                  <a:srgbClr val="0F8B8D"/>
                </a:solidFill>
                <a:latin typeface="Calibri" pitchFamily="34" charset="0"/>
                <a:ea typeface="Calibri" pitchFamily="34" charset="-122"/>
                <a:cs typeface="Calibri" pitchFamily="34" charset="-120"/>
              </a:rPr>
              <a:t>Coupon solve. </a:t>
            </a:r>
            <a:pPr indent="0" marL="0">
              <a:spcAft>
                <a:spcPts val="300"/>
              </a:spcAft>
              <a:buNone/>
            </a:pPr>
            <a:r>
              <a:rPr lang="en-US" sz="900" dirty="0">
                <a:solidFill>
                  <a:srgbClr val="1D2B30"/>
                </a:solidFill>
                <a:latin typeface="Calibri" pitchFamily="34" charset="0"/>
                <a:ea typeface="Calibri" pitchFamily="34" charset="-122"/>
                <a:cs typeface="Calibri" pitchFamily="34" charset="-120"/>
              </a:rPr>
              <a:t>Bisection on coupon so that PV = 98% (2% hedging cost and margin).</a:t>
            </a:r>
            <a:endParaRPr lang="en-US" sz="900" dirty="0"/>
          </a:p>
          <a:p>
            <a:pPr indent="0" marL="0">
              <a:spcAft>
                <a:spcPts val="300"/>
              </a:spcAft>
              <a:buNone/>
            </a:pPr>
            <a:r>
              <a:rPr lang="en-US" sz="900" b="1" dirty="0">
                <a:solidFill>
                  <a:srgbClr val="0F8B8D"/>
                </a:solidFill>
                <a:latin typeface="Calibri" pitchFamily="34" charset="0"/>
                <a:ea typeface="Calibri" pitchFamily="34" charset="-122"/>
                <a:cs typeface="Calibri" pitchFamily="34" charset="-120"/>
              </a:rPr>
              <a:t>Historical back-test (to run). </a:t>
            </a:r>
            <a:pPr indent="0" marL="0">
              <a:spcAft>
                <a:spcPts val="300"/>
              </a:spcAft>
              <a:buNone/>
            </a:pPr>
            <a:r>
              <a:rPr lang="en-US" sz="900" dirty="0">
                <a:solidFill>
                  <a:srgbClr val="1D2B30"/>
                </a:solidFill>
                <a:latin typeface="Calibri" pitchFamily="34" charset="0"/>
                <a:ea typeface="Calibri" pitchFamily="34" charset="-122"/>
                <a:cs typeface="Calibri" pitchFamily="34" charset="-120"/>
              </a:rPr>
              <a:t>Monthly Bloomberg history since 2021 for all five ETFs (00878 and 3119 launched in 2020–21). Launch a hypothetical note every month, apply the same coupon, memory and autocall rules, and record coupons, life and IRR by launch year.</a:t>
            </a:r>
            <a:endParaRPr lang="en-US" sz="9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188720"/>
          <a:ext cx="3291840" cy="914400"/>
        </p:xfrm>
        <a:graphic>
          <a:graphicData uri="http://schemas.openxmlformats.org/drawingml/2006/table">
            <a:tbl>
              <a:tblPr/>
              <a:tblGrid>
                <a:gridCol w="2286000"/>
                <a:gridCol w="1005840"/>
              </a:tblGrid>
              <a:tr h="26517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Design variant (capital protected)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Fair cpn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100% (base)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First autocall at Y2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Vol +3pts / −3pts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8.1% / 7.5%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40680" y="3383280"/>
            <a:ext cx="3291840" cy="411480"/>
          </a:xfrm>
          <a:prstGeom prst="rect">
            <a:avLst/>
          </a:prstGeom>
          <a:noFill/>
          <a:ln/>
        </p:spPr>
        <p:txBody>
          <a:bodyPr wrap="square" lIns="0" tIns="0" rIns="0" bIns="0" rtlCol="0" anchor="t"/>
          <a:lstStyle/>
          <a:p>
            <a:pPr indent="0" marL="0">
              <a:buNone/>
            </a:pPr>
            <a:r>
              <a:rPr lang="en-US" sz="850" i="1" dirty="0">
                <a:solidFill>
                  <a:srgbClr val="5F7176"/>
                </a:solidFill>
                <a:latin typeface="Calibri" pitchFamily="34" charset="0"/>
                <a:ea typeface="Calibri" pitchFamily="34" charset="-122"/>
                <a:cs typeface="Calibri" pitchFamily="34" charset="-120"/>
              </a:rPr>
              <a:t>All variants priced at 98% with the same basket and inputs. Code: pricing/scenario2_autocall_mc.py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B: alternatives for the investment committee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Same basket: a higher-coupon at-risk snowball, and a pure participation note</a:t>
            </a:r>
            <a:endParaRPr lang="en-US" sz="1250" dirty="0"/>
          </a:p>
        </p:txBody>
      </p:sp>
      <p:graphicFrame>
        <p:nvGraphicFramePr>
          <p:cNvPr id="4" name="Chart 0" descr=""/>
          <p:cNvGraphicFramePr/>
          <p:nvPr/>
        </p:nvGraphicFramePr>
        <p:xfrm>
          <a:off x="365760" y="1143000"/>
          <a:ext cx="45720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520440" cy="914400"/>
        </p:xfrm>
        <a:graphic>
          <a:graphicData uri="http://schemas.openxmlformats.org/drawingml/2006/table">
            <a:tbl>
              <a:tblPr/>
              <a:tblGrid>
                <a:gridCol w="1463040"/>
                <a:gridCol w="1325880"/>
                <a:gridCol w="7315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Return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Loss risk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29184">
                <a:tc>
                  <a:txBody>
                    <a:bodyPr/>
                    <a:lstStyle/>
                    <a:p>
                      <a:pPr indent="0" marL="0">
                        <a:buNone/>
                      </a:pPr>
                      <a:r>
                        <a:rPr lang="en-US" sz="900" b="1" dirty="0">
                          <a:solidFill>
                            <a:srgbClr val="0F8B8D"/>
                          </a:solidFill>
                          <a:latin typeface="Calibri" pitchFamily="34" charset="0"/>
                          <a:ea typeface="Calibri" pitchFamily="34" charset="-122"/>
                          <a:cs typeface="Calibri" pitchFamily="34" charset="-120"/>
                        </a:rPr>
                        <a:t>Protected autocallable (ours)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7.20% p.a. memory coupon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65%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 p.a., paid at call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Principal-protected note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85% of basket gain at Y5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5212080" y="2606040"/>
            <a:ext cx="3520440" cy="1828800"/>
          </a:xfrm>
          <a:prstGeom prst="roundRect">
            <a:avLst>
              <a:gd name="adj" fmla="val 3500"/>
            </a:avLst>
          </a:prstGeom>
          <a:solidFill>
            <a:srgbClr val="E6F2F0"/>
          </a:solidFill>
          <a:ln w="12700">
            <a:solidFill>
              <a:srgbClr val="E6F2F0"/>
            </a:solidFill>
            <a:prstDash val="solid"/>
          </a:ln>
        </p:spPr>
      </p:sp>
      <p:sp>
        <p:nvSpPr>
          <p:cNvPr id="7" name="Text 3"/>
          <p:cNvSpPr txBox="1"/>
          <p:nvPr/>
        </p:nvSpPr>
        <p:spPr>
          <a:xfrm>
            <a:off x="5349240" y="2679192"/>
            <a:ext cx="3291840" cy="169164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Trade-off: </a:t>
            </a:r>
            <a:pPr indent="0" marL="0">
              <a:buNone/>
            </a:pPr>
            <a:r>
              <a:rPr lang="en-US" sz="950" dirty="0">
                <a:solidFill>
                  <a:srgbClr val="1D2B30"/>
                </a:solidFill>
                <a:latin typeface="Calibri" pitchFamily="34" charset="0"/>
                <a:ea typeface="Calibri" pitchFamily="34" charset="-122"/>
                <a:cs typeface="Calibri" pitchFamily="34" charset="-120"/>
              </a:rPr>
              <a:t>The snowball pays 9% but loses capital in ~14% of paths. The PPN keeps full protection with uncapped upside, but pays nothing unless the basket ends above 100% after 5 years and has no early exit. Our note sits between them: full protection, a coupon above the funding rate, and money usually back within ~2 years.</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2026-10-08T07:22:05Z</dcterms:created>
  <dcterms:modified xsi:type="dcterms:W3CDTF">2026-10-08T07:22:05Z</dcterms:modified>
</cp:coreProperties>
</file>