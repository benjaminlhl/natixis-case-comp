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B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B33"/>
                </a:solidFill>
                <a:latin typeface="Calibri"/>
              </a:rPr>
              <a:t>Multiple of capital after 7 years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0.00&quot;x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equity</c:v>
                  </c:pt>
                  <c:pt idx="1">
                    <c:v>7Y Treasury</c:v>
                  </c:pt>
                  <c:pt idx="2">
                    <c:v>Our note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</c:v>
                </c:pt>
                <c:pt idx="1">
                  <c:v>1.38</c:v>
                </c:pt>
                <c:pt idx="2">
                  <c:v>1.38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Worst 5%</c:v>
                </c:pt>
              </c:strCache>
            </c:strRef>
          </c:tx>
          <c:spPr>
            <a:solidFill>
              <a:srgbClr val="D9482B"/>
            </a:solidFill>
            <a:effectLst/>
          </c:spPr>
          <c:invertIfNegative val="0"/>
          <c:dLbls>
            <c:numFmt formatCode="0.00&quot;x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equity</c:v>
                  </c:pt>
                  <c:pt idx="1">
                    <c:v>7Y Treasury</c:v>
                  </c:pt>
                  <c:pt idx="2">
                    <c:v>Our note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0.29</c:v>
                </c:pt>
                <c:pt idx="1">
                  <c:v>1.38</c:v>
                </c:pt>
                <c:pt idx="2">
                  <c:v>1</c:v>
                </c:pt>
              </c:numCache>
            </c:numRef>
          </c:val>
        </c:ser>
        <c:dLbls>
          <c:numFmt formatCode="0.00&quot;x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E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9525" cap="flat">
              <a:solidFill>
                <a:srgbClr val="E3E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B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B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B33"/>
                </a:solidFill>
                <a:latin typeface="Calibri"/>
              </a:rPr>
              <a:t>Equity exposure (%) vs basket realised volatility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Equity exposure</c:v>
                </c:pt>
              </c:strCache>
            </c:strRef>
          </c:tx>
          <c:spPr>
            <a:solidFill>
              <a:srgbClr val="1F8A70"/>
            </a:solidFill>
            <a:ln w="38100" cap="flat">
              <a:solidFill>
                <a:srgbClr val="1F8A7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8A70"/>
              </a:solidFill>
              <a:ln w="9525" cap="flat">
                <a:solidFill>
                  <a:srgbClr val="1F8A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8%</c:v>
                  </c:pt>
                  <c:pt idx="1">
                    <c:v>10%</c:v>
                  </c:pt>
                  <c:pt idx="2">
                    <c:v>15%</c:v>
                  </c:pt>
                  <c:pt idx="3">
                    <c:v>20%</c:v>
                  </c:pt>
                  <c:pt idx="4">
                    <c:v>25%</c:v>
                  </c:pt>
                  <c:pt idx="5">
                    <c:v>30%</c:v>
                  </c:pt>
                  <c:pt idx="6">
                    <c:v>35%</c:v>
                  </c:pt>
                  <c:pt idx="7">
                    <c:v>40%</c:v>
                  </c:pt>
                  <c:pt idx="8">
                    <c:v>45%</c:v>
                  </c:pt>
                  <c:pt idx="9">
                    <c:v>50%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125</c:v>
                </c:pt>
                <c:pt idx="1">
                  <c:v>100</c:v>
                </c:pt>
                <c:pt idx="2">
                  <c:v>67</c:v>
                </c:pt>
                <c:pt idx="3">
                  <c:v>50</c:v>
                </c:pt>
                <c:pt idx="4">
                  <c:v>40</c:v>
                </c:pt>
                <c:pt idx="5">
                  <c:v>33</c:v>
                </c:pt>
                <c:pt idx="6">
                  <c:v>29</c:v>
                </c:pt>
                <c:pt idx="7">
                  <c:v>25</c:v>
                </c:pt>
                <c:pt idx="8">
                  <c:v>22</c:v>
                </c:pt>
                <c:pt idx="9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2717A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2717A"/>
                    </a:solidFill>
                    <a:latin typeface="Arial"/>
                  </a:rPr>
                  <a:t>Basket realised volatility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0"/>
        </c:scaling>
        <c:delete val="0"/>
        <c:axPos val="l"/>
        <c:majorGridlines>
          <c:spPr>
            <a:ln w="9525" cap="flat">
              <a:solidFill>
                <a:srgbClr val="E3E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B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B33"/>
                </a:solidFill>
                <a:latin typeface="Calibri"/>
              </a:rPr>
              <a:t>Payoff diagram (% of notional)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Note redemption</c:v>
                </c:pt>
              </c:strCache>
            </c:strRef>
          </c:tx>
          <c:spPr>
            <a:solidFill>
              <a:srgbClr val="1F8A70"/>
            </a:solidFill>
            <a:ln w="38100" cap="flat">
              <a:solidFill>
                <a:srgbClr val="1F8A7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8A70"/>
              </a:solidFill>
              <a:ln w="9525" cap="flat">
                <a:solidFill>
                  <a:srgbClr val="1F8A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-40%</c:v>
                  </c:pt>
                  <c:pt idx="1">
                    <c:v>-20%</c:v>
                  </c:pt>
                  <c:pt idx="2">
                    <c:v>0%</c:v>
                  </c:pt>
                  <c:pt idx="3">
                    <c:v>10%</c:v>
                  </c:pt>
                  <c:pt idx="4">
                    <c:v>20%</c:v>
                  </c:pt>
                  <c:pt idx="5">
                    <c:v>30%</c:v>
                  </c:pt>
                  <c:pt idx="6">
                    <c:v>50%</c:v>
                  </c:pt>
                  <c:pt idx="7">
                    <c:v>75%</c:v>
                  </c:pt>
                  <c:pt idx="8">
                    <c:v>100%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116.7</c:v>
                </c:pt>
                <c:pt idx="4">
                  <c:v>133.3</c:v>
                </c:pt>
                <c:pt idx="5">
                  <c:v>150</c:v>
                </c:pt>
                <c:pt idx="6">
                  <c:v>183.3</c:v>
                </c:pt>
                <c:pt idx="7">
                  <c:v>224.9</c:v>
                </c:pt>
                <c:pt idx="8">
                  <c:v>266.6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Holding the index</c:v>
                </c:pt>
              </c:strCache>
            </c:strRef>
          </c:tx>
          <c:spPr>
            <a:solidFill>
              <a:srgbClr val="9AA8AF"/>
            </a:solidFill>
            <a:ln w="38100" cap="flat">
              <a:solidFill>
                <a:srgbClr val="9AA8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8AF"/>
              </a:solidFill>
              <a:ln w="9525" cap="flat">
                <a:solidFill>
                  <a:srgbClr val="9AA8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-40%</c:v>
                  </c:pt>
                  <c:pt idx="1">
                    <c:v>-20%</c:v>
                  </c:pt>
                  <c:pt idx="2">
                    <c:v>0%</c:v>
                  </c:pt>
                  <c:pt idx="3">
                    <c:v>10%</c:v>
                  </c:pt>
                  <c:pt idx="4">
                    <c:v>20%</c:v>
                  </c:pt>
                  <c:pt idx="5">
                    <c:v>30%</c:v>
                  </c:pt>
                  <c:pt idx="6">
                    <c:v>50%</c:v>
                  </c:pt>
                  <c:pt idx="7">
                    <c:v>75%</c:v>
                  </c:pt>
                  <c:pt idx="8">
                    <c:v>100%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60</c:v>
                </c:pt>
                <c:pt idx="1">
                  <c:v>80</c:v>
                </c:pt>
                <c:pt idx="2">
                  <c:v>100</c:v>
                </c:pt>
                <c:pt idx="3">
                  <c:v>110</c:v>
                </c:pt>
                <c:pt idx="4">
                  <c:v>120</c:v>
                </c:pt>
                <c:pt idx="5">
                  <c:v>130</c:v>
                </c:pt>
                <c:pt idx="6">
                  <c:v>150</c:v>
                </c:pt>
                <c:pt idx="7">
                  <c:v>175</c:v>
                </c:pt>
                <c:pt idx="8">
                  <c:v>200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2717A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2717A"/>
                    </a:solidFill>
                    <a:latin typeface="Arial"/>
                  </a:rPr>
                  <a:t>VT index performance at maturity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50"/>
        </c:scaling>
        <c:delete val="0"/>
        <c:axPos val="l"/>
        <c:majorGridlines>
          <c:spPr>
            <a:ln w="9525" cap="flat">
              <a:solidFill>
                <a:srgbClr val="E3E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B33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B33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E2B33"/>
                </a:solidFill>
                <a:latin typeface="Calibri"/>
              </a:rPr>
              <a:t>Chance of only 100 back (9% basket return)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P(only 100 back)</c:v>
                </c:pt>
              </c:strCache>
            </c:strRef>
          </c:tx>
          <c:spPr>
            <a:solidFill>
              <a:srgbClr val="D948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8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48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8A7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48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8A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12%/4%</c:v>
                  </c:pt>
                  <c:pt idx="1">
                    <c:v>10%/2%</c:v>
                  </c:pt>
                  <c:pt idx="2">
                    <c:v>10%/1% (ours)</c:v>
                  </c:pt>
                  <c:pt idx="3">
                    <c:v>10%/0%</c:v>
                  </c:pt>
                  <c:pt idx="4">
                    <c:v>Raw basket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20</c:v>
                </c:pt>
                <c:pt idx="2">
                  <c:v>14</c:v>
                </c:pt>
                <c:pt idx="3">
                  <c:v>9</c:v>
                </c:pt>
                <c:pt idx="4">
                  <c:v>34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E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9525" cap="flat">
              <a:solidFill>
                <a:srgbClr val="E3EC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271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One-line pitch: full capital protection for the next generation, and leveraged participation in Asia's digital transformation through an index that cuts its own risk in a panic.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 (does not count toward the 10-slide limit). Unit 15: thesis, instrument, expected return, maximum loss in one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client profile, goals, risk tolerance, key assumptions. The concentration insight differentiates us: most proposals will buy more of what the family already 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investment outlook across macro, sector and geography, ending with a 'therefore'. Source TSMC foundry share, HBM share, AI-server share and hyperscaler capex on Bloomberg.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'traditional strategies fall short', then implications. Autocalls were also rejected: the family wants growth, and early calls force reinvestment of a legacy pool.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product overview with key features and constituent table (ticker, weight). Eligibility check in the Excel Basket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key terms. Live formulas in pricing/Asia-Digital-Bridge-Pricer.xlsx.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the index volatility is fixed, Natixis hedges with delta only and prices the option off a known vol. That is what makes 167% participation possible on a 7Y Asian basket.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scenario analysis next to the payoff diagram. Redemption = 100% + participation x max(0, final average perf, locked gain).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back-testing with result interpretation. Run pricing/scenario2_backtest.py on the Bloomberg export to add historical rolling 7Y windows and GFC/2015/2018/2020/2022 stress windows.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key risk factors with corresponding hedging. Greeks per 100 notional: delta 1.18 per 1% index move; DV01 0.016.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Template: summary with client and issuer views (advantages, risks, hedging), as in last year's winning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(not counted). Digital assets are an eligible asset class, so showing we considered and sized them is useful in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(not counted).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(not counted). Add specific report citations once market data points are sourced.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188720"/>
            <a:ext cx="4754880" cy="4754880"/>
          </a:xfrm>
          <a:prstGeom prst="ellipse">
            <a:avLst/>
          </a:prstGeom>
          <a:solidFill>
            <a:srgbClr val="1C4460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017520"/>
            <a:ext cx="2377440" cy="2377440"/>
          </a:xfrm>
          <a:prstGeom prst="ellipse">
            <a:avLst/>
          </a:prstGeom>
          <a:solidFill>
            <a:srgbClr val="1F8A70">
              <a:alpha val="8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949440" y="2743200"/>
            <a:ext cx="640080" cy="640080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914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FD8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Strategy Challenge 2026 · Proposal for NKE Private Wealth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Asia Digital Bridge Note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dollar back for the next generation, with 1.6x the upside of Asia's AI hardware build-out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2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100Mn · 7-year note · 100% capital protected · Trade date 17 Sep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note: protect the legacy, own Asia's digital build-out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protected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7860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maturity in 2033, subject to Natixis credit. No loss path except issuer default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8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participation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57860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Uncapped, on a 10% vol-target index of 13 Asian AI-hardware leaders, with Legacy Lock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3504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0.52%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net worth at risk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57860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stress mark-to-market (USD 10.5Mn) before maturity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recommend </a:t>
            </a:r>
            <a:pPr indent="0" marL="0">
              <a:buNone/>
            </a:pPr>
            <a:r>
              <a:rPr lang="en-US" sz="125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7-year, 100% capital-protected USD note</a:t>
            </a:r>
            <a:pPr indent="0" marL="0">
              <a:buNone/>
            </a:pPr>
            <a:r>
              <a:rPr lang="en-US" sz="12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Asia Digital Bridge 10% Vol-Target Index, to express our view that Asia builds the hardware of the AI era, while volatility and geopolitics argue for protected exposure. </a:t>
            </a:r>
            <a:pPr indent="0" marL="0">
              <a:buNone/>
            </a:pPr>
            <a:r>
              <a:rPr lang="en-US" sz="1250" b="1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outcome 1.38x–1.53x of capital in our 6–9% basket-return cases (vs 1.38x for a 7Y Treasury). Maximum loss at maturity: zero, contractual, ex issuer default.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pricing: Monte Carlo with placeholder market inputs; funding from the 2026 rules grid. To be refreshed with Bloomberg data as of 17 Sep 2026.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profile: protect the legacy, then grow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NKE Private Wealth, single-family office of the Chak family (third generation)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2A7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Single-family office, Chak family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worth &gt; USD 2Bn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Businesses: tech infrastructure, renewables, real estate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 and Greater China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2EE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Patriarch now focused on allocation and legacy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1234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365760" cy="365760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37560" y="1645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16276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appreciation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892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wealth for future generations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2423160"/>
            <a:ext cx="365760" cy="365760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94760" y="24048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Asia's digital transformation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794760" y="267004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to the sectors driving it, bridging traditional and new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37560" y="3200400"/>
            <a:ext cx="365760" cy="365760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33756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31821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managed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794760" y="34472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for generational wealth preservation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1234440"/>
            <a:ext cx="2468880" cy="2743200"/>
          </a:xfrm>
          <a:prstGeom prst="roundRect">
            <a:avLst>
              <a:gd name="adj" fmla="val 2963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8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tolerance: Moderate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17373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2057400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Mandate: USD 100Mn (5% of net worth)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7-year horizon; family accepts limited early-exit liquidity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structured notes issued by Natixis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base currency for the mandate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BEDE9"/>
          </a:solidFill>
          <a:ln w="12700">
            <a:solidFill>
              <a:srgbClr val="FBED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13308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4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risk: </a:t>
            </a:r>
            <a:pPr indent="0" marL="0">
              <a:buNone/>
            </a:pPr>
            <a:r>
              <a:rPr lang="en-US" sz="11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already owns Asian infrastructure, renewables and property. We give them the AI hardware layer and exclude what they already own.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Outlook: Asia builds the hardware of AI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in macro, sector and geographic factors (data points to be sourced on Bloomberg as of 17 Sep 2026)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Chips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TSMC · MediaTek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920240" y="1463040"/>
            <a:ext cx="219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121408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31136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1600200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 Hynix · Samsung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1463040"/>
            <a:ext cx="219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785616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95344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Equipment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877056" y="1600200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Tokyo Electron · Advantest · Disco · Shin-Etsu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1463040"/>
            <a:ext cx="219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49824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59552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541264" y="1600200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 · Ibiden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912864" y="1463040"/>
            <a:ext cx="219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114032" y="1234440"/>
            <a:ext cx="1481328" cy="914400"/>
          </a:xfrm>
          <a:prstGeom prst="roundRect">
            <a:avLst>
              <a:gd name="adj" fmla="val 8000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23760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205472" y="1600200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8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 Hai · Quanta · Delta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395728"/>
            <a:ext cx="219456" cy="219456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8096" y="234086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Sector: AI capex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724912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Hyperscaler AI spending flows to leading-edge chips, HBM memory, test equipment and AI servers. HBM and advanced packaging are capacity-constrained.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46120" y="2395728"/>
            <a:ext cx="219456" cy="219456"/>
          </a:xfrm>
          <a:prstGeom prst="ellipse">
            <a:avLst/>
          </a:prstGeom>
          <a:solidFill>
            <a:srgbClr val="1C446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57016" y="234086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Geography: Asia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3246120" y="2724912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accelerator passes through Taiwan, Korea and Japan. Traditional makers (Hon Hai, Shin-Etsu, Ibiden) are now critical AI suppliers.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35040" y="2395728"/>
            <a:ext cx="219456" cy="219456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45936" y="234086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Macro: protection is cheap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035040" y="2724912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funding of 5.75% for 7Y buys the bond floor at 67.6%. US–China tension and export controls make a floor valuable.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40690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Therefore: own Asia's AI hardware supply chain, wrapped in full capital protection.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thesis: traditional strategies fall short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7-year outcomes at a 6% p.a. basket return: median and worst 5%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2062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892040" y="1234440"/>
            <a:ext cx="329184" cy="329184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89204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349240" y="12070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Equities alone: no floor for heirs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349240" y="147218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chance of losing money; worst 5% keep only 0.29x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892040" y="2084832"/>
            <a:ext cx="329184" cy="329184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892040" y="2084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349240" y="20574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Bonds alone: no growth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349240" y="232257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7Y Treasury locks ~1.38x with no link to the AI build-out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92040" y="2935224"/>
            <a:ext cx="329184" cy="329184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2935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349240" y="290779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protected note: weak upside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349240" y="31729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 charge ~33% vol for 7Y Asian stocks: only 89% participation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800600" y="3712464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92040" y="3785616"/>
            <a:ext cx="329184" cy="329184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892040" y="3785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349240" y="375818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349240" y="4023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of a bond, 167% of the upside, through an index that de-risks itself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simulation (20k paths, two-regime volatility 27%/50%), not a historical backtest. Treasury proxy = funding less ~100bp.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Natixis Asia Digital Bridge Note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7-year USD note, 100% capital protected, on a 10% vol-target index of Asian AI-hardware leaders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371600"/>
            <a:ext cx="274320" cy="274320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7099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capital protection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0025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back at maturity in 2033 (issuer credit)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0" y="123444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97480" y="1371600"/>
            <a:ext cx="274320" cy="274320"/>
          </a:xfrm>
          <a:prstGeom prst="ellipse">
            <a:avLst/>
          </a:prstGeom>
          <a:solidFill>
            <a:srgbClr val="1C446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97480" y="17099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 upside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0025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167% of the index performance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788920"/>
            <a:ext cx="274320" cy="274320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1272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Self-de-risking index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419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exposure cut automatically when volatility spikes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0" y="2651760"/>
            <a:ext cx="1965960" cy="1280160"/>
          </a:xfrm>
          <a:prstGeom prst="roundRect">
            <a:avLst>
              <a:gd name="adj" fmla="val 5714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7480" y="2788920"/>
            <a:ext cx="274320" cy="274320"/>
          </a:xfrm>
          <a:prstGeom prst="ellipse">
            <a:avLst/>
          </a:prstGeom>
          <a:solidFill>
            <a:srgbClr val="E2A73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697480" y="31272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Lock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34198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floored at +30 / +60 / +90% once reached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1480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Excluded: data centres, telecom towers, renewables (family overlap); US-restricted chipmakers (e.g. SMIC).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188720"/>
          <a:ext cx="39776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188720"/>
                <a:gridCol w="822960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Constituent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TSMC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2330 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MediaTek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2454 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 Hynix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000660 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Electronics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005930 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Tokyo Electron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8035 JT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6857 JT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6146 JT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Shin-Etsu Chemical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4063 JT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 Technology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3711 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Ibiden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4062 JT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 Hai (Foxconn)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2317 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Quanta Computer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2382 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Electronics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2308 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weight, USD quanto. All names &gt; USD 250M market cap and &gt; USD 5M daily volume (to confirm on Bloomberg). 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details: key terms and pricing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build-up from the Natixis funding grid to participation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4805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1546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 (guaranteed by BPCE)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Notional / currency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100Mn; underlying quanto USD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 17 Sep 2026; maturity Sep 2033 (7Y)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at maturity (issuer credit)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Redemption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+ 167% × max(0, Index perf, Locked gain)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index level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of the last 12 monthly closes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Lock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check: +30 / +60 / +90% floors once hit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 indicative daily secondary bid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212080" y="11887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build-up (% of notional)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212080" y="1536192"/>
            <a:ext cx="3520440" cy="365760"/>
          </a:xfrm>
          <a:prstGeom prst="roundRect">
            <a:avLst>
              <a:gd name="adj" fmla="val 200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4924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7Y USD funding (rules grid)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5361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5.75%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212080" y="1965960"/>
            <a:ext cx="3520440" cy="365760"/>
          </a:xfrm>
          <a:prstGeom prst="roundRect">
            <a:avLst>
              <a:gd name="adj" fmla="val 200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49240" y="19659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Zero-coupon bond (floor)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196596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67.6%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212080" y="2395728"/>
            <a:ext cx="3520440" cy="365760"/>
          </a:xfrm>
          <a:prstGeom prst="roundRect">
            <a:avLst>
              <a:gd name="adj" fmla="val 200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49240" y="239572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fee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2395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2.0%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12080" y="2825496"/>
            <a:ext cx="3520440" cy="365760"/>
          </a:xfrm>
          <a:prstGeom prst="roundRect">
            <a:avLst>
              <a:gd name="adj" fmla="val 200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49240" y="28254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budget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28254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30.4%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12080" y="3255264"/>
            <a:ext cx="3520440" cy="365760"/>
          </a:xfrm>
          <a:prstGeom prst="roundRect">
            <a:avLst>
              <a:gd name="adj" fmla="val 200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349240" y="32552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on VT index, with Lock + averaging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32552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18.2%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212080" y="3685032"/>
            <a:ext cx="3520440" cy="365760"/>
          </a:xfrm>
          <a:prstGeom prst="roundRect">
            <a:avLst>
              <a:gd name="adj" fmla="val 20000"/>
            </a:avLst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349240" y="368503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= budget ÷ option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772400" y="368503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167%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212080" y="41605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version without Lock/averaging: 163%. Tenor check: 5Y 143% · 7Y 157% · 10Y 169% (Black-Scholes); 7Y matches one generation's handover.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pricing: Monte Carlo with placeholder market inputs; funding from the 2026 rules grid. To be refreshed with Bloomberg data as of 17 Sep 2026.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details: an index that cuts its own risk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 Asia Digital Bridge 10% Vol-Target Index: exposure responds to market volatility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572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257800" y="1234440"/>
            <a:ext cx="384048" cy="384048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2578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12161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149047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volatility = max(20-day, 60-day) realised, with a 1-day lag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257800" y="2103120"/>
            <a:ext cx="384048" cy="384048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2578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760720" y="20848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760720" y="235915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= 10% ÷ volatility, capped at 150%; the rest earns cash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257800" y="2971800"/>
            <a:ext cx="384048" cy="384048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578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60720" y="29535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Deduct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760720" y="32278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per year decrement lowers the option cost (we rejected 4%: see slide 8)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257800" y="384048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94960" y="3867912"/>
            <a:ext cx="3246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market (27% vol):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 exposure. </a:t>
            </a:r>
            <a:pPr indent="0" marL="0">
              <a:buNone/>
            </a:pPr>
            <a:r>
              <a:rPr lang="en-US" sz="1150" b="1" dirty="0">
                <a:solidFill>
                  <a:srgbClr val="E2A7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(50% vol):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exposure, cut automatically.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Simulated: average exposure 34%, realised index volatility 9.8% vs 10% target (lag gap risk priced in the Monte Carlo).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details: scenario analysis and payoff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 at maturity, % of notional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Redemption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averages +50% at maturity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hits +60% in year 4 (Lock), ends +20%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ends +10%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 ends −25% (no Lock hit)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5204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56616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4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case: </a:t>
            </a:r>
            <a:pPr indent="0" marL="0">
              <a:buNone/>
            </a:pPr>
            <a:r>
              <a:rPr lang="en-US" sz="11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100%, contractual (ex issuer default). </a:t>
            </a:r>
            <a:pPr indent="0" marL="0">
              <a:buNone/>
            </a:pPr>
            <a:r>
              <a:rPr lang="en-US" sz="110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Lock: </a:t>
            </a:r>
            <a:pPr indent="0" marL="0">
              <a:buNone/>
            </a:pPr>
            <a:r>
              <a:rPr lang="en-US" sz="11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+60% gain reached in year 4 is kept for the heirs even if markets fall before 2033.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8872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167% (with Legacy Lock and 12M averaging). Indicative pricing: Monte Carlo with placeholder market inputs.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Back-testing: simulated outcomes and design choice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simulated 7-year paths; historical rolling windows to be added from Bloomberg (2005–2026)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206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886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Participation: 12%/4% 351% · 10%/2% 214% · 10%/1% 160% · 10%/0% 123% · Raw basket 89%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23444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822960"/>
                <a:gridCol w="86868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 return p.a.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P(100 only)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 (bear)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 (base)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 (bull)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1.53x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800600" y="292608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Two-regime basket volatility (27% calm, 50% stress) so crashes and the vol-target lag are captured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path ends below 100; the note's median beats direct equity in every regime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turned down a 351% headline: 40% chance of only 100 back vs 14% for ours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Labels: target volatility / annual decrement, same option budget. Forward simulation, not a historical backtest.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 factors and hedging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15 checklist: stress, sizing and exits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05740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could happen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 / hedge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 default: protection lost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BPCE guarantee; 5% of net worth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(MTM)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stress: note marked at 87.5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at maturity; vol target cuts exposure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Concentration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 is 6 of 13 names; chip cycle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weight caps any name at 7.7%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Liquidity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7-year lock-up; bid/offer on exit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 daily secondary bid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JPY/TWD/KRW moves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Quanto USD: no FX exposure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back = ~84 in real terms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Lock and 167% 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806440" y="1188720"/>
            <a:ext cx="2926080" cy="1554480"/>
          </a:xfrm>
          <a:prstGeom prst="roundRect">
            <a:avLst>
              <a:gd name="adj" fmla="val 4706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0" y="1243584"/>
            <a:ext cx="269748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8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
</a:t>
            </a:r>
            <a:pPr indent="0" marL="0">
              <a:buNone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100Mn ÷ USD 2Bn = 5.0% of net worth. Max loss at maturity: 0. Worst stress MTM: USD 10.5Mn ÷ USD 2Bn = 0.52% of net worth. 10-day 99% VaR 5.5%, ES 6.3%.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806440" y="285292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exits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806440" y="315468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Profit: sell back if index +60%, or let the Lock bank it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Stop-loss: none, the floor is the stop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broken: Taiwan blockade or chip export bans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hold to Sep 2033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Stress: AI hardware crash (basket −30%, vol 27→50%), Taiwan gap (−20% overnight), stagflation (−15%, rates +100bp). Details in appendix B.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Summary: value for the client and for Natixis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Advantages, risks and how each side is protected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783080" y="1188720"/>
            <a:ext cx="3291840" cy="411480"/>
          </a:xfrm>
          <a:prstGeom prst="roundRect">
            <a:avLst>
              <a:gd name="adj" fmla="val 17778"/>
            </a:avLst>
          </a:prstGeom>
          <a:solidFill>
            <a:srgbClr val="1F8A70"/>
          </a:solidFill>
          <a:ln w="12700">
            <a:solidFill>
              <a:srgbClr val="1F8A7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78308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Chak family (client)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257800" y="1188720"/>
            <a:ext cx="3291840" cy="411480"/>
          </a:xfrm>
          <a:prstGeom prst="roundRect">
            <a:avLst>
              <a:gd name="adj" fmla="val 17778"/>
            </a:avLst>
          </a:prstGeom>
          <a:solidFill>
            <a:srgbClr val="0F2A3D"/>
          </a:solidFill>
          <a:ln w="12700">
            <a:solidFill>
              <a:srgbClr val="0F2A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25780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Natixis (issuer)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84048" cy="384048"/>
          </a:xfrm>
          <a:prstGeom prst="ellipse">
            <a:avLst/>
          </a:prstGeom>
          <a:solidFill>
            <a:srgbClr val="1F8A7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9751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83080" y="17373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2808" y="17830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back in 2033 · 167% uncapped upside in Asia's AI hardware · diversifies away from their own sectors and currencies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57800" y="17373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67528" y="17830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7Y USD funding at 5.75% · proprietary index reusable for other clients · long-term family-office relationship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384048" cy="384048"/>
          </a:xfrm>
          <a:prstGeom prst="ellipse">
            <a:avLst/>
          </a:prstGeom>
          <a:solidFill>
            <a:srgbClr val="D948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28895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783080" y="26517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92808" y="26974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 credit · 7-year lock-up · inflation on the floor · VT lags sharp rebounds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257800" y="26517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67528" y="26974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risk from the vol-target lag · quanto correlation · long-dated rates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49040"/>
            <a:ext cx="384048" cy="384048"/>
          </a:xfrm>
          <a:prstGeom prst="ellipse">
            <a:avLst/>
          </a:prstGeom>
          <a:solidFill>
            <a:srgbClr val="1C446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8039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Hedging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783080" y="35661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92808" y="36118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+ Legacy Lock · equal weight · USD quanto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257800" y="3566160"/>
            <a:ext cx="3291840" cy="804672"/>
          </a:xfrm>
          <a:prstGeom prst="roundRect">
            <a:avLst>
              <a:gd name="adj" fmla="val 9091"/>
            </a:avLst>
          </a:prstGeom>
          <a:solidFill>
            <a:srgbClr val="E8F2EE"/>
          </a:solidFill>
          <a:ln w="12700">
            <a:solidFill>
              <a:srgbClr val="E8F2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367528" y="3611880"/>
            <a:ext cx="30723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Delta-hedge the index (vol fixed by design) · correlation reserve · swap fixed-rate funding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F8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the legacy. Own the hardware of Asia's AI era.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4773168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A: adding a digital-asset sleeve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considered if the family wants direct exposure to digital assets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1188720"/>
                <a:gridCol w="2651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Underlying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(recommended)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Asia Digital Bridge VT index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 for a legacy mandate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80/20 static sleeve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VT index + 20% spot Bitcoin ETF (IBIT 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~130%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 add-on: crypto adds ~11pt of vol to the basket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Best-of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of VT index or Bitcoin ETF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~40–45%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Rejected: Bitcoin vol (50–60%) makes the best-of too expensive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IBIT US is a US-listed spot Bitcoin ETF with daily volume well above the USD 5M rule (confirm on Bloomberg)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in the core: drawdowns of 70%+ in past cycles and no earnings anchor; hard to defend for generational wealth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included, keep it in the 80/20 form so protection and most of the participation are preserved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Monte Carlo: Bitcoin vol 50–60%, correlation 0.2–0.4 with the VT index, same 30.4% option budget.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B: methodology and assumptions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are placeholders to be refreshed with Bloomberg data as of 17 Sep 2026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2801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used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to refresh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funding 7Y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rules funding grid (linear interpolation)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OIS for option pricing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Assumption: Bloomberg USSO7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Basket volatility regimes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 calm / 50% stress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Assumption: calibrate to basket history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Raw-basket 7Y implied vol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Assumption: dealer quote / long-dated surface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 upfront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Quanto adjustment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−0.2% p.a.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Assumption: equity–FX correlation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D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0" y="1188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1554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Pricing: daily Monte Carlo, 20k paths, two-regime basket vol; VT index rebuilt each day with lag and cap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MTM and Greeks: Black-Scholes on the VT index, scaled to the Monte Carlo price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VaR: 10-day 99% delta-normal; ES from the normal tail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Backtest: rolling 7Y windows on Bloomberg history 2005–2026, plus GFC, 2015, 2018, 2020, 2022 stress windows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77316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pricing/scenario2_vt_note.py · pricing/scenario2_backtest.py · pricing/Asia-Digital-Bridge-Pricer.xlsx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C: sources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2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frameworks behind this proposal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Natixis, Investment Strategy Challenge 2026 game rules: client brief (Scenario 2), eligibility rules, USD funding grid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Lam, FINA4370A Unit 15, CUHK Business School (Aug 2026): trading proposal framework, sizing, exits, liquidity evidence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Bloomberg (to be pulled as of 17 Sep 2026): constituent prices, market caps, trading volumes, USD OIS curve, implied volatility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filings and investor presentations of the 13 constituents (AI revenue exposure, capacity plans)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models: pricing/scenario2_vt_note.py (Monte Carlo), pricing/scenario2_backtest.py, pricing/Asia-Digital-Bridge-Pricer.xlsx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Asia Digital Bridge Note</dc:title>
  <dc:subject>PptxGenJS Presentation</dc:subject>
  <dc:creator>PptxGenJS</dc:creator>
  <cp:lastModifiedBy>PptxGenJS</cp:lastModifiedBy>
  <cp:revision>1</cp:revision>
  <dcterms:created xsi:type="dcterms:W3CDTF">2026-10-01T04:32:58Z</dcterms:created>
  <dcterms:modified xsi:type="dcterms:W3CDTF">2026-10-01T04:32:58Z</dcterms:modified>
</cp:coreProperties>
</file>