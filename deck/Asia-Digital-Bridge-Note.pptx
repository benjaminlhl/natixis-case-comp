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F2A3D"/>
              </a:solidFill>
              <a:effectLst/>
            </c:spPr>
          </c:dPt>
          <c:dPt>
            <c:idx val="1"/>
            <c:bubble3D val="0"/>
            <c:spPr>
              <a:solidFill>
                <a:srgbClr val="1F8A70"/>
              </a:solidFill>
              <a:effectLst/>
            </c:spPr>
          </c:dPt>
          <c:dPt>
            <c:idx val="2"/>
            <c:bubble3D val="0"/>
            <c:spPr>
              <a:solidFill>
                <a:srgbClr val="E2A73B"/>
              </a:solidFill>
              <a:effectLst/>
            </c:spPr>
          </c:dPt>
          <c:dLbls>
            <c:dLbl>
              <c:idx val="0"/>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Zero-coupon bond (floor)</c:v>
                </c:pt>
                <c:pt idx="1">
                  <c:v>Options on VT index</c:v>
                </c:pt>
                <c:pt idx="2">
                  <c:v>Issuer fee</c:v>
                </c:pt>
              </c:strCache>
            </c:strRef>
          </c:cat>
          <c:val>
            <c:numRef>
              <c:f>Sheet1!$B$2:$B$4</c:f>
              <c:numCache>
                <c:ptCount val="3"/>
                <c:pt idx="0">
                  <c:v>67.6</c:v>
                </c:pt>
                <c:pt idx="1">
                  <c:v>30.4</c:v>
                </c:pt>
                <c:pt idx="2">
                  <c:v>2</c:v>
                </c:pt>
              </c:numCache>
            </c:numRef>
          </c:val>
        </c:ser>
        <c:firstSliceAng val="0"/>
        <c:holeSize val="58"/>
      </c:doughnutChart>
      <c:spPr>
        <a:noFill/>
        <a:ln>
          <a:noFill/>
        </a:ln>
        <a:effectLst/>
      </c:spPr>
    </c:plotArea>
    <c:legend>
      <c:legendPos val="b"/>
      <c:overlay val="0"/>
      <c:txPr>
        <a:bodyPr/>
        <a:lstStyle/>
        <a:p>
          <a:pPr>
            <a:defRPr sz="1000">
              <a:solidFill>
                <a:srgbClr val="1E2B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B33"/>
                </a:solidFill>
                <a:latin typeface="Calibri"/>
              </a:defRPr>
            </a:pPr>
            <a:r>
              <a:rPr sz="1200" b="0" i="0" u="none" strike="noStrike">
                <a:solidFill>
                  <a:srgbClr val="1E2B33"/>
                </a:solidFill>
                <a:latin typeface="Calibri"/>
              </a:rPr>
              <a:t>Equity exposure (%) vs basket realised volatility</a:t>
            </a:r>
          </a:p>
        </c:rich>
      </c:tx>
      <c:layout/>
      <c:overlay val="0"/>
    </c:title>
    <c:autoTitleDeleted val="0"/>
    <c:plotArea>
      <c:layout/>
      <c:lineChart>
        <c:varyColors val="0"/>
        <c:ser>
          <c:idx val="0"/>
          <c:order val="0"/>
          <c:tx>
            <c:strRef>
              <c:f>Sheet1!$B$1</c:f>
              <c:strCache>
                <c:ptCount val="1"/>
                <c:pt idx="0">
                  <c:v>Equity exposure</c:v>
                </c:pt>
              </c:strCache>
            </c:strRef>
          </c:tx>
          <c:spPr>
            <a:solidFill>
              <a:srgbClr val="1F8A70"/>
            </a:solidFill>
            <a:ln w="38100" cap="flat">
              <a:solidFill>
                <a:srgbClr val="1F8A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8A70"/>
              </a:solidFill>
              <a:ln w="9525" cap="flat">
                <a:solidFill>
                  <a:srgbClr val="1F8A70"/>
                </a:solidFill>
                <a:prstDash val="solid"/>
                <a:round/>
              </a:ln>
              <a:effectLst/>
            </c:spPr>
          </c:marker>
          <c:cat>
            <c:multiLvlStrRef>
              <c:f>Sheet1!$A$2:$A$11</c:f>
              <c:multiLvlStrCache>
                <c:ptCount val="10"/>
                <c:lvl>
                  <c:pt idx="0">
                    <c:v>8%</c:v>
                  </c:pt>
                  <c:pt idx="1">
                    <c:v>10%</c:v>
                  </c:pt>
                  <c:pt idx="2">
                    <c:v>15%</c:v>
                  </c:pt>
                  <c:pt idx="3">
                    <c:v>20%</c:v>
                  </c:pt>
                  <c:pt idx="4">
                    <c:v>25%</c:v>
                  </c:pt>
                  <c:pt idx="5">
                    <c:v>30%</c:v>
                  </c:pt>
                  <c:pt idx="6">
                    <c:v>35%</c:v>
                  </c:pt>
                  <c:pt idx="7">
                    <c:v>40%</c:v>
                  </c:pt>
                  <c:pt idx="8">
                    <c:v>45%</c:v>
                  </c:pt>
                  <c:pt idx="9">
                    <c:v>50%</c:v>
                  </c:pt>
                </c:lvl>
              </c:multiLvlStrCache>
            </c:multiLvlStrRef>
          </c:cat>
          <c:val>
            <c:numRef>
              <c:f>Sheet1!$B$2:$B$11</c:f>
              <c:numCache>
                <c:formatCode>General</c:formatCode>
                <c:ptCount val="10"/>
                <c:pt idx="0">
                  <c:v>125</c:v>
                </c:pt>
                <c:pt idx="1">
                  <c:v>100</c:v>
                </c:pt>
                <c:pt idx="2">
                  <c:v>67</c:v>
                </c:pt>
                <c:pt idx="3">
                  <c:v>50</c:v>
                </c:pt>
                <c:pt idx="4">
                  <c:v>40</c:v>
                </c:pt>
                <c:pt idx="5">
                  <c:v>33</c:v>
                </c:pt>
                <c:pt idx="6">
                  <c:v>29</c:v>
                </c:pt>
                <c:pt idx="7">
                  <c:v>25</c:v>
                </c:pt>
                <c:pt idx="8">
                  <c:v>22</c:v>
                </c:pt>
                <c:pt idx="9">
                  <c:v>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2717A"/>
                    </a:solidFill>
                    <a:latin typeface="Arial"/>
                  </a:defRPr>
                </a:pPr>
                <a:r>
                  <a:rPr sz="1000" b="0" i="0" u="none" strike="noStrike">
                    <a:solidFill>
                      <a:srgbClr val="62717A"/>
                    </a:solidFill>
                    <a:latin typeface="Arial"/>
                  </a:rPr>
                  <a:t>Basket realised volatility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2717A"/>
                </a:solidFill>
                <a:latin typeface="Calibri"/>
              </a:defRPr>
            </a:pPr>
            <a:endParaRPr lang="en-US"/>
          </a:p>
        </c:txPr>
        <c:crossAx val="2094734552"/>
        <c:crosses val="autoZero"/>
        <c:auto val="1"/>
        <c:lblAlgn val="ctr"/>
        <c:noMultiLvlLbl val="1"/>
      </c:catAx>
      <c:valAx>
        <c:axId val="2094734552"/>
        <c:scaling>
          <c:orientation val="minMax"/>
          <c:max val="160"/>
          <c:min val="0"/>
        </c:scaling>
        <c:delete val="0"/>
        <c:axPos val="l"/>
        <c:majorGridlines>
          <c:spPr>
            <a:ln w="9525" cap="flat">
              <a:solidFill>
                <a:srgbClr val="E3EC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271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B33"/>
                </a:solidFill>
                <a:latin typeface="Calibri"/>
              </a:defRPr>
            </a:pPr>
            <a:r>
              <a:rPr sz="1200" b="0" i="0" u="none" strike="noStrike">
                <a:solidFill>
                  <a:srgbClr val="1E2B33"/>
                </a:solidFill>
                <a:latin typeface="Calibri"/>
              </a:rPr>
              <a:t>Redemption (% of notional)</a:t>
            </a:r>
          </a:p>
        </c:rich>
      </c:tx>
      <c:layout/>
      <c:overlay val="0"/>
    </c:title>
    <c:autoTitleDeleted val="0"/>
    <c:plotArea>
      <c:layout/>
      <c:lineChart>
        <c:varyColors val="0"/>
        <c:ser>
          <c:idx val="0"/>
          <c:order val="0"/>
          <c:tx>
            <c:strRef>
              <c:f>Sheet1!$B$1</c:f>
              <c:strCache>
                <c:ptCount val="1"/>
                <c:pt idx="0">
                  <c:v>Note redemption</c:v>
                </c:pt>
              </c:strCache>
            </c:strRef>
          </c:tx>
          <c:spPr>
            <a:solidFill>
              <a:srgbClr val="1F8A70"/>
            </a:solidFill>
            <a:ln w="38100" cap="flat">
              <a:solidFill>
                <a:srgbClr val="1F8A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8A70"/>
              </a:solidFill>
              <a:ln w="9525" cap="flat">
                <a:solidFill>
                  <a:srgbClr val="1F8A70"/>
                </a:solidFill>
                <a:prstDash val="solid"/>
                <a:round/>
              </a:ln>
              <a:effectLst/>
            </c:spPr>
          </c:marker>
          <c:cat>
            <c:multiLvlStrRef>
              <c:f>Sheet1!$A$2:$A$10</c:f>
              <c:multiLvlStrCache>
                <c:ptCount val="9"/>
                <c:lvl>
                  <c:pt idx="0">
                    <c:v>-40%</c:v>
                  </c:pt>
                  <c:pt idx="1">
                    <c:v>-20%</c:v>
                  </c:pt>
                  <c:pt idx="2">
                    <c:v>0%</c:v>
                  </c:pt>
                  <c:pt idx="3">
                    <c:v>10%</c:v>
                  </c:pt>
                  <c:pt idx="4">
                    <c:v>20%</c:v>
                  </c:pt>
                  <c:pt idx="5">
                    <c:v>30%</c:v>
                  </c:pt>
                  <c:pt idx="6">
                    <c:v>50%</c:v>
                  </c:pt>
                  <c:pt idx="7">
                    <c:v>75%</c:v>
                  </c:pt>
                  <c:pt idx="8">
                    <c:v>100%</c:v>
                  </c:pt>
                </c:lvl>
              </c:multiLvlStrCache>
            </c:multiLvlStrRef>
          </c:cat>
          <c:val>
            <c:numRef>
              <c:f>Sheet1!$B$2:$B$10</c:f>
              <c:numCache>
                <c:formatCode>General</c:formatCode>
                <c:ptCount val="9"/>
                <c:pt idx="0">
                  <c:v>100</c:v>
                </c:pt>
                <c:pt idx="1">
                  <c:v>100</c:v>
                </c:pt>
                <c:pt idx="2">
                  <c:v>100</c:v>
                </c:pt>
                <c:pt idx="3">
                  <c:v>116.39343270583038</c:v>
                </c:pt>
                <c:pt idx="4">
                  <c:v>132.78686541166076</c:v>
                </c:pt>
                <c:pt idx="5">
                  <c:v>149.18029811749113</c:v>
                </c:pt>
                <c:pt idx="6">
                  <c:v>181.9671635291519</c:v>
                </c:pt>
                <c:pt idx="7">
                  <c:v>222.95074529372783</c:v>
                </c:pt>
                <c:pt idx="8">
                  <c:v>263.9343270583038</c:v>
                </c:pt>
              </c:numCache>
            </c:numRef>
          </c:val>
          <c:smooth val="0"/>
        </c:ser>
        <c:ser>
          <c:idx val="1"/>
          <c:order val="1"/>
          <c:tx>
            <c:strRef>
              <c:f>Sheet1!$C$1</c:f>
              <c:strCache>
                <c:ptCount val="1"/>
                <c:pt idx="0">
                  <c:v>Holding the index</c:v>
                </c:pt>
              </c:strCache>
            </c:strRef>
          </c:tx>
          <c:spPr>
            <a:solidFill>
              <a:srgbClr val="9AA8AF"/>
            </a:solidFill>
            <a:ln w="38100" cap="flat">
              <a:solidFill>
                <a:srgbClr val="9AA8A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8AF"/>
              </a:solidFill>
              <a:ln w="9525" cap="flat">
                <a:solidFill>
                  <a:srgbClr val="9AA8AF"/>
                </a:solidFill>
                <a:prstDash val="solid"/>
                <a:round/>
              </a:ln>
              <a:effectLst/>
            </c:spPr>
          </c:marker>
          <c:cat>
            <c:multiLvlStrRef>
              <c:f>Sheet1!$A$2:$A$10</c:f>
              <c:multiLvlStrCache>
                <c:ptCount val="9"/>
                <c:lvl>
                  <c:pt idx="0">
                    <c:v>-40%</c:v>
                  </c:pt>
                  <c:pt idx="1">
                    <c:v>-20%</c:v>
                  </c:pt>
                  <c:pt idx="2">
                    <c:v>0%</c:v>
                  </c:pt>
                  <c:pt idx="3">
                    <c:v>10%</c:v>
                  </c:pt>
                  <c:pt idx="4">
                    <c:v>20%</c:v>
                  </c:pt>
                  <c:pt idx="5">
                    <c:v>30%</c:v>
                  </c:pt>
                  <c:pt idx="6">
                    <c:v>50%</c:v>
                  </c:pt>
                  <c:pt idx="7">
                    <c:v>75%</c:v>
                  </c:pt>
                  <c:pt idx="8">
                    <c:v>100%</c:v>
                  </c:pt>
                </c:lvl>
              </c:multiLvlStrCache>
            </c:multiLvlStrRef>
          </c:cat>
          <c:val>
            <c:numRef>
              <c:f>Sheet1!$C$2:$C$10</c:f>
              <c:numCache>
                <c:formatCode>General</c:formatCode>
                <c:ptCount val="9"/>
                <c:pt idx="0">
                  <c:v>60</c:v>
                </c:pt>
                <c:pt idx="1">
                  <c:v>80</c:v>
                </c:pt>
                <c:pt idx="2">
                  <c:v>100</c:v>
                </c:pt>
                <c:pt idx="3">
                  <c:v>110</c:v>
                </c:pt>
                <c:pt idx="4">
                  <c:v>120</c:v>
                </c:pt>
                <c:pt idx="5">
                  <c:v>130</c:v>
                </c:pt>
                <c:pt idx="6">
                  <c:v>150</c:v>
                </c:pt>
                <c:pt idx="7">
                  <c:v>175</c:v>
                </c:pt>
                <c:pt idx="8">
                  <c:v>200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2717A"/>
                    </a:solidFill>
                    <a:latin typeface="Arial"/>
                  </a:defRPr>
                </a:pPr>
                <a:r>
                  <a:rPr sz="1000" b="0" i="0" u="none" strike="noStrike">
                    <a:solidFill>
                      <a:srgbClr val="62717A"/>
                    </a:solidFill>
                    <a:latin typeface="Arial"/>
                  </a:rPr>
                  <a:t>VT index performance at maturity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2717A"/>
                </a:solidFill>
                <a:latin typeface="Calibri"/>
              </a:defRPr>
            </a:pPr>
            <a:endParaRPr lang="en-US"/>
          </a:p>
        </c:txPr>
        <c:crossAx val="2094734552"/>
        <c:crosses val="autoZero"/>
        <c:auto val="1"/>
        <c:lblAlgn val="ctr"/>
        <c:noMultiLvlLbl val="1"/>
      </c:catAx>
      <c:valAx>
        <c:axId val="2094734552"/>
        <c:scaling>
          <c:orientation val="minMax"/>
          <c:min val="50"/>
        </c:scaling>
        <c:delete val="0"/>
        <c:axPos val="l"/>
        <c:majorGridlines>
          <c:spPr>
            <a:ln w="9525" cap="flat">
              <a:solidFill>
                <a:srgbClr val="E3EC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271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E2B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B33"/>
                </a:solidFill>
                <a:latin typeface="Calibri"/>
              </a:defRPr>
            </a:pPr>
            <a:r>
              <a:rPr sz="1200" b="0" i="0" u="none" strike="noStrike">
                <a:solidFill>
                  <a:srgbClr val="1E2B33"/>
                </a:solidFill>
                <a:latin typeface="Calibri"/>
              </a:rPr>
              <a:t>Headline participation</a:t>
            </a:r>
          </a:p>
        </c:rich>
      </c:tx>
      <c:layout/>
      <c:overlay val="0"/>
    </c:title>
    <c:autoTitleDeleted val="0"/>
    <c:plotArea>
      <c:layout/>
      <c:barChart>
        <c:barDir val="col"/>
        <c:grouping val="clustered"/>
        <c:varyColors val="0"/>
        <c:ser>
          <c:idx val="0"/>
          <c:order val="0"/>
          <c:tx>
            <c:strRef>
              <c:f>Sheet1!$B$1</c:f>
              <c:strCache>
                <c:ptCount val="1"/>
                <c:pt idx="0">
                  <c:v>Participation</c:v>
                </c:pt>
              </c:strCache>
            </c:strRef>
          </c:tx>
          <c:spPr>
            <a:solidFill>
              <a:srgbClr val="1C4460"/>
            </a:solidFill>
            <a:effectLst/>
          </c:spPr>
          <c:invertIfNegative val="0"/>
          <c:dLbls>
            <c:numFmt formatCode="0&quot;%&quot;" sourceLinked="0"/>
            <c:txPr>
              <a:bodyPr/>
              <a:lstStyle/>
              <a:p>
                <a:pPr>
                  <a:defRPr b="0" i="0" strike="noStrike" sz="1000" u="none">
                    <a:solidFill>
                      <a:srgbClr val="1E2B33"/>
                    </a:solidFill>
                    <a:latin typeface="Arial"/>
                  </a:defRPr>
                </a:pPr>
              </a:p>
            </c:txPr>
            <c:showLegendKey val="0"/>
            <c:showVal val="1"/>
            <c:showCatName val="0"/>
            <c:showSerName val="0"/>
            <c:showPercent val="0"/>
            <c:showBubbleSize val="0"/>
            <c:showLeaderLines val="0"/>
          </c:dLbls>
          <c:dPt>
            <c:idx val="0"/>
            <c:invertIfNegative val="0"/>
            <c:bubble3D val="0"/>
            <c:spPr>
              <a:solidFill>
                <a:srgbClr val="1C4460"/>
              </a:solidFill>
              <a:effectLst/>
            </c:spPr>
          </c:dPt>
          <c:dPt>
            <c:idx val="1"/>
            <c:invertIfNegative val="0"/>
            <c:bubble3D val="0"/>
            <c:spPr>
              <a:solidFill>
                <a:srgbClr val="1C4460"/>
              </a:solidFill>
              <a:effectLst/>
            </c:spPr>
          </c:dPt>
          <c:dPt>
            <c:idx val="2"/>
            <c:invertIfNegative val="0"/>
            <c:bubble3D val="0"/>
            <c:spPr>
              <a:solidFill>
                <a:srgbClr val="1F8A70"/>
              </a:solidFill>
              <a:effectLst/>
            </c:spPr>
          </c:dPt>
          <c:dPt>
            <c:idx val="3"/>
            <c:invertIfNegative val="0"/>
            <c:bubble3D val="0"/>
            <c:spPr>
              <a:solidFill>
                <a:srgbClr val="1C4460"/>
              </a:solidFill>
              <a:effectLst/>
            </c:spPr>
          </c:dPt>
          <c:dPt>
            <c:idx val="4"/>
            <c:invertIfNegative val="0"/>
            <c:bubble3D val="0"/>
            <c:spPr>
              <a:solidFill>
                <a:srgbClr val="9AA8AF"/>
              </a:solidFill>
              <a:effectLst/>
            </c:spPr>
          </c:dPt>
          <c:cat>
            <c:multiLvlStrRef>
              <c:f>Sheet1!$A$2:$A$6</c:f>
              <c:multiLvlStrCache>
                <c:ptCount val="5"/>
                <c:lvl>
                  <c:pt idx="0">
                    <c:v>12%/4%</c:v>
                  </c:pt>
                  <c:pt idx="1">
                    <c:v>10%/2%</c:v>
                  </c:pt>
                  <c:pt idx="2">
                    <c:v>10%/1% (ours)</c:v>
                  </c:pt>
                  <c:pt idx="3">
                    <c:v>10%/0%</c:v>
                  </c:pt>
                  <c:pt idx="4">
                    <c:v>Raw basket</c:v>
                  </c:pt>
                </c:lvl>
              </c:multiLvlStrCache>
            </c:multiLvlStrRef>
          </c:cat>
          <c:val>
            <c:numRef>
              <c:f>Sheet1!$B$2:$B$6</c:f>
              <c:numCache>
                <c:formatCode>General</c:formatCode>
                <c:ptCount val="5"/>
                <c:pt idx="0">
                  <c:v>353</c:v>
                </c:pt>
                <c:pt idx="1">
                  <c:v>215</c:v>
                </c:pt>
                <c:pt idx="2">
                  <c:v>161</c:v>
                </c:pt>
                <c:pt idx="3">
                  <c:v>124</c:v>
                </c:pt>
                <c:pt idx="4">
                  <c:v>95</c:v>
                </c:pt>
              </c:numCache>
            </c:numRef>
          </c:val>
        </c:ser>
        <c:dLbls>
          <c:numFmt formatCode="0&quot;%&quot;" sourceLinked="0"/>
          <c:txPr>
            <a:bodyPr/>
            <a:lstStyle/>
            <a:p>
              <a:pPr>
                <a:defRPr b="0" i="0" strike="noStrike" sz="1000" u="none">
                  <a:solidFill>
                    <a:srgbClr val="1E2B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2717A"/>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3EC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271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B33"/>
                </a:solidFill>
                <a:latin typeface="Calibri"/>
              </a:defRPr>
            </a:pPr>
            <a:r>
              <a:rPr sz="1200" b="0" i="0" u="none" strike="noStrike">
                <a:solidFill>
                  <a:srgbClr val="1E2B33"/>
                </a:solidFill>
                <a:latin typeface="Calibri"/>
              </a:rPr>
              <a:t>Chance of only 100 back after 7Y (9% basket return)</a:t>
            </a:r>
          </a:p>
        </c:rich>
      </c:tx>
      <c:layout/>
      <c:overlay val="0"/>
    </c:title>
    <c:autoTitleDeleted val="0"/>
    <c:plotArea>
      <c:layout/>
      <c:barChart>
        <c:barDir val="col"/>
        <c:grouping val="clustered"/>
        <c:varyColors val="0"/>
        <c:ser>
          <c:idx val="0"/>
          <c:order val="0"/>
          <c:tx>
            <c:strRef>
              <c:f>Sheet1!$B$1</c:f>
              <c:strCache>
                <c:ptCount val="1"/>
                <c:pt idx="0">
                  <c:v>P(only 100 back)</c:v>
                </c:pt>
              </c:strCache>
            </c:strRef>
          </c:tx>
          <c:spPr>
            <a:solidFill>
              <a:srgbClr val="D9482B"/>
            </a:solidFill>
            <a:effectLst/>
          </c:spPr>
          <c:invertIfNegative val="0"/>
          <c:dLbls>
            <c:numFmt formatCode="0&quot;%&quot;" sourceLinked="0"/>
            <c:txPr>
              <a:bodyPr/>
              <a:lstStyle/>
              <a:p>
                <a:pPr>
                  <a:defRPr b="0" i="0" strike="noStrike" sz="1000" u="none">
                    <a:solidFill>
                      <a:srgbClr val="1E2B33"/>
                    </a:solidFill>
                    <a:latin typeface="Arial"/>
                  </a:defRPr>
                </a:pPr>
              </a:p>
            </c:txPr>
            <c:showLegendKey val="0"/>
            <c:showVal val="1"/>
            <c:showCatName val="0"/>
            <c:showSerName val="0"/>
            <c:showPercent val="0"/>
            <c:showBubbleSize val="0"/>
            <c:showLeaderLines val="0"/>
          </c:dLbls>
          <c:dPt>
            <c:idx val="0"/>
            <c:invertIfNegative val="0"/>
            <c:bubble3D val="0"/>
            <c:spPr>
              <a:solidFill>
                <a:srgbClr val="D9482B"/>
              </a:solidFill>
              <a:effectLst/>
            </c:spPr>
          </c:dPt>
          <c:dPt>
            <c:idx val="1"/>
            <c:invertIfNegative val="0"/>
            <c:bubble3D val="0"/>
            <c:spPr>
              <a:solidFill>
                <a:srgbClr val="D9482B"/>
              </a:solidFill>
              <a:effectLst/>
            </c:spPr>
          </c:dPt>
          <c:dPt>
            <c:idx val="2"/>
            <c:invertIfNegative val="0"/>
            <c:bubble3D val="0"/>
            <c:spPr>
              <a:solidFill>
                <a:srgbClr val="1F8A70"/>
              </a:solidFill>
              <a:effectLst/>
            </c:spPr>
          </c:dPt>
          <c:dPt>
            <c:idx val="3"/>
            <c:invertIfNegative val="0"/>
            <c:bubble3D val="0"/>
            <c:spPr>
              <a:solidFill>
                <a:srgbClr val="D9482B"/>
              </a:solidFill>
              <a:effectLst/>
            </c:spPr>
          </c:dPt>
          <c:dPt>
            <c:idx val="4"/>
            <c:invertIfNegative val="0"/>
            <c:bubble3D val="0"/>
            <c:spPr>
              <a:solidFill>
                <a:srgbClr val="9AA8AF"/>
              </a:solidFill>
              <a:effectLst/>
            </c:spPr>
          </c:dPt>
          <c:cat>
            <c:multiLvlStrRef>
              <c:f>Sheet1!$A$2:$A$6</c:f>
              <c:multiLvlStrCache>
                <c:ptCount val="5"/>
                <c:lvl>
                  <c:pt idx="0">
                    <c:v>12%/4%</c:v>
                  </c:pt>
                  <c:pt idx="1">
                    <c:v>10%/2%</c:v>
                  </c:pt>
                  <c:pt idx="2">
                    <c:v>10%/1% (ours)</c:v>
                  </c:pt>
                  <c:pt idx="3">
                    <c:v>10%/0%</c:v>
                  </c:pt>
                  <c:pt idx="4">
                    <c:v>Raw basket</c:v>
                  </c:pt>
                </c:lvl>
              </c:multiLvlStrCache>
            </c:multiLvlStrRef>
          </c:cat>
          <c:val>
            <c:numRef>
              <c:f>Sheet1!$B$2:$B$6</c:f>
              <c:numCache>
                <c:formatCode>General</c:formatCode>
                <c:ptCount val="5"/>
                <c:pt idx="0">
                  <c:v>35</c:v>
                </c:pt>
                <c:pt idx="1">
                  <c:v>18</c:v>
                </c:pt>
                <c:pt idx="2">
                  <c:v>12</c:v>
                </c:pt>
                <c:pt idx="3">
                  <c:v>7</c:v>
                </c:pt>
                <c:pt idx="4">
                  <c:v>27</c:v>
                </c:pt>
              </c:numCache>
            </c:numRef>
          </c:val>
        </c:ser>
        <c:dLbls>
          <c:numFmt formatCode="0&quot;%&quot;" sourceLinked="0"/>
          <c:txPr>
            <a:bodyPr/>
            <a:lstStyle/>
            <a:p>
              <a:pPr>
                <a:defRPr b="0" i="0" strike="noStrike" sz="1000" u="none">
                  <a:solidFill>
                    <a:srgbClr val="1E2B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2717A"/>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3EC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271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One-line pitch: full capital protection for the next generation, and leveraged participation in Asia's digital transformation through an index that cuts its own risk in a panic.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(does not count toward the 10-slide limit). Unit 15: thesis, instrument, expected return, maximum loss in one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profile: moderate. Willing to take equity risk on the upside, not willing to lose capital. The concentration insight is our differentiator: most proposals will simply buy more Asian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supporting data from Bloomberg: TSMC share of leading-edge foundry, HBM share for SK Hynix/Samsung, TOPIX ROE trend, AI capex forecasts. Keep claims qualitative until 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last row in the room. The raw-basket comparison is the key technical argument for a vol-target index: liquidity of long-dated single-stock vol in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67.6% buys the 7Y zero-coupon bond at 5.75% USD funding, which guarantees 100 back. 30.4% buys the call on the VT index. 2% is Natixis margin. Eligibility check sits in the Excel Basket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index volatility is fixed by construction, Natixis can hedge with delta only and price the option off a known vol. That is what makes 164% participation possible on a 7Y Asian basket.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formulas in pricing/Asia-Digital-Bridge-Pricer.xlsx. Change OIS, fee, target vol or decrement and the participation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Payoff = 100% + 164% x max(0, index perf). Scenario table from pricing/scenario2_vt_note.py, section 5. Historical rolling-window backtest to be added once the Bloomberg export is run (pricing/scenario2_backtest.py).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higher decrement lowers the index forward, so calls are cheaper and participation looks larger, but the drag means the index often ends below its start. This slide shows judgement, not just structuring.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Greeks per 100 notional: delta 1.18 per 1% index move; DV01 0.016. Vega to basket close to zero by design (index vol fixed at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two-sided value: the winning deck last year included an issuer-benefits view; the panel are Natixis Global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(not counted). Digital assets are an eligible asset class, so showing we considered and sized them is useful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(not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D"/>
        </a:solidFill>
      </p:bgPr>
    </p:bg>
    <p:spTree>
      <p:nvGrpSpPr>
        <p:cNvPr id="1" name=""/>
        <p:cNvGrpSpPr/>
        <p:nvPr/>
      </p:nvGrpSpPr>
      <p:grpSpPr>
        <a:xfrm>
          <a:off x="0" y="0"/>
          <a:ext cx="0" cy="0"/>
          <a:chOff x="0" y="0"/>
          <a:chExt cx="0" cy="0"/>
        </a:xfrm>
      </p:grpSpPr>
      <p:sp>
        <p:nvSpPr>
          <p:cNvPr id="2" name="Shape 0"/>
          <p:cNvSpPr/>
          <p:nvPr/>
        </p:nvSpPr>
        <p:spPr>
          <a:xfrm>
            <a:off x="5943600" y="-1188720"/>
            <a:ext cx="4754880" cy="4754880"/>
          </a:xfrm>
          <a:prstGeom prst="ellipse">
            <a:avLst/>
          </a:prstGeom>
          <a:solidFill>
            <a:srgbClr val="1C4460"/>
          </a:solidFill>
          <a:ln/>
        </p:spPr>
      </p:sp>
      <p:sp>
        <p:nvSpPr>
          <p:cNvPr id="3" name="Shape 1"/>
          <p:cNvSpPr/>
          <p:nvPr/>
        </p:nvSpPr>
        <p:spPr>
          <a:xfrm>
            <a:off x="7589520" y="3017520"/>
            <a:ext cx="2377440" cy="2377440"/>
          </a:xfrm>
          <a:prstGeom prst="ellipse">
            <a:avLst/>
          </a:prstGeom>
          <a:solidFill>
            <a:srgbClr val="1F8A70">
              <a:alpha val="85000"/>
            </a:srgbClr>
          </a:solidFill>
          <a:ln/>
        </p:spPr>
      </p:sp>
      <p:sp>
        <p:nvSpPr>
          <p:cNvPr id="4" name="Shape 2"/>
          <p:cNvSpPr/>
          <p:nvPr/>
        </p:nvSpPr>
        <p:spPr>
          <a:xfrm>
            <a:off x="6949440" y="2743200"/>
            <a:ext cx="640080" cy="640080"/>
          </a:xfrm>
          <a:prstGeom prst="ellipse">
            <a:avLst/>
          </a:prstGeom>
          <a:solidFill>
            <a:srgbClr val="D9482B"/>
          </a:solidFill>
          <a:ln/>
        </p:spPr>
      </p:sp>
      <p:sp>
        <p:nvSpPr>
          <p:cNvPr id="5" name="Text 3"/>
          <p:cNvSpPr txBox="1"/>
          <p:nvPr/>
        </p:nvSpPr>
        <p:spPr>
          <a:xfrm>
            <a:off x="548640" y="914400"/>
            <a:ext cx="6400800" cy="365760"/>
          </a:xfrm>
          <a:prstGeom prst="rect">
            <a:avLst/>
          </a:prstGeom>
          <a:noFill/>
          <a:ln/>
        </p:spPr>
        <p:txBody>
          <a:bodyPr wrap="square" lIns="0" tIns="0" rIns="0" bIns="0" rtlCol="0" anchor="t"/>
          <a:lstStyle/>
          <a:p>
            <a:pPr indent="0" marL="0">
              <a:buNone/>
            </a:pPr>
            <a:r>
              <a:rPr lang="en-US" sz="1300" dirty="0">
                <a:solidFill>
                  <a:srgbClr val="BFD8CF"/>
                </a:solidFill>
                <a:latin typeface="Calibri" pitchFamily="34" charset="0"/>
                <a:ea typeface="Calibri" pitchFamily="34" charset="-122"/>
                <a:cs typeface="Calibri" pitchFamily="34" charset="-120"/>
              </a:rPr>
              <a:t>Investment Strategy Challenge 2026 · Proposal for NKE Private Wealth</a:t>
            </a:r>
            <a:endParaRPr lang="en-US" sz="1300" dirty="0"/>
          </a:p>
        </p:txBody>
      </p:sp>
      <p:sp>
        <p:nvSpPr>
          <p:cNvPr id="6" name="Text 4"/>
          <p:cNvSpPr txBox="1"/>
          <p:nvPr/>
        </p:nvSpPr>
        <p:spPr>
          <a:xfrm>
            <a:off x="548640" y="1325880"/>
            <a:ext cx="6035040"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Asia Digital Bridge Note</a:t>
            </a:r>
            <a:endParaRPr lang="en-US" sz="4000" dirty="0"/>
          </a:p>
        </p:txBody>
      </p:sp>
      <p:sp>
        <p:nvSpPr>
          <p:cNvPr id="7" name="Text 5"/>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700" i="1" dirty="0">
                <a:solidFill>
                  <a:srgbClr val="E2EEE9"/>
                </a:solidFill>
                <a:latin typeface="Calibri" pitchFamily="34" charset="0"/>
                <a:ea typeface="Calibri" pitchFamily="34" charset="-122"/>
                <a:cs typeface="Calibri" pitchFamily="34" charset="-120"/>
              </a:rPr>
              <a:t>Every dollar back for the next generation, with 1.6x the upside of Asia's digital build-out</a:t>
            </a:r>
            <a:endParaRPr lang="en-US" sz="1700" dirty="0"/>
          </a:p>
        </p:txBody>
      </p:sp>
      <p:sp>
        <p:nvSpPr>
          <p:cNvPr id="8" name="Text 6"/>
          <p:cNvSpPr txBox="1"/>
          <p:nvPr/>
        </p:nvSpPr>
        <p:spPr>
          <a:xfrm>
            <a:off x="548640" y="4114800"/>
            <a:ext cx="6858000" cy="365760"/>
          </a:xfrm>
          <a:prstGeom prst="rect">
            <a:avLst/>
          </a:prstGeom>
          <a:noFill/>
          <a:ln/>
        </p:spPr>
        <p:txBody>
          <a:bodyPr wrap="square" lIns="0" tIns="0" rIns="0" bIns="0" rtlCol="0" anchor="t"/>
          <a:lstStyle/>
          <a:p>
            <a:pPr indent="0" marL="0">
              <a:buNone/>
            </a:pPr>
            <a:r>
              <a:rPr lang="en-US" sz="1200" b="1" dirty="0">
                <a:solidFill>
                  <a:srgbClr val="E2A73B"/>
                </a:solidFill>
                <a:latin typeface="Calibri" pitchFamily="34" charset="0"/>
                <a:ea typeface="Calibri" pitchFamily="34" charset="-122"/>
                <a:cs typeface="Calibri" pitchFamily="34" charset="-120"/>
              </a:rPr>
              <a:t>USD 100Mn · 7-year note · 100% capital protected · Trade date 17 Sep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Executive summary</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One note: protect the legacy, own Asia's digital build-out</a:t>
            </a:r>
            <a:endParaRPr lang="en-US" sz="1300" dirty="0"/>
          </a:p>
        </p:txBody>
      </p:sp>
      <p:sp>
        <p:nvSpPr>
          <p:cNvPr id="4" name="Shape 2"/>
          <p:cNvSpPr/>
          <p:nvPr/>
        </p:nvSpPr>
        <p:spPr>
          <a:xfrm>
            <a:off x="457200" y="1280160"/>
            <a:ext cx="2606040" cy="2148840"/>
          </a:xfrm>
          <a:prstGeom prst="roundRect">
            <a:avLst>
              <a:gd name="adj" fmla="val 3404"/>
            </a:avLst>
          </a:prstGeom>
          <a:solidFill>
            <a:srgbClr val="E8F2EE"/>
          </a:solidFill>
          <a:ln w="12700">
            <a:solidFill>
              <a:srgbClr val="E8F2EE"/>
            </a:solidFill>
            <a:prstDash val="solid"/>
          </a:ln>
        </p:spPr>
      </p:sp>
      <p:sp>
        <p:nvSpPr>
          <p:cNvPr id="5" name="Text 3"/>
          <p:cNvSpPr txBox="1"/>
          <p:nvPr/>
        </p:nvSpPr>
        <p:spPr>
          <a:xfrm>
            <a:off x="685800" y="1417320"/>
            <a:ext cx="2194560" cy="777240"/>
          </a:xfrm>
          <a:prstGeom prst="rect">
            <a:avLst/>
          </a:prstGeom>
          <a:noFill/>
          <a:ln/>
        </p:spPr>
        <p:txBody>
          <a:bodyPr wrap="square" lIns="0" tIns="0" rIns="0" bIns="0" rtlCol="0" anchor="t"/>
          <a:lstStyle/>
          <a:p>
            <a:pPr indent="0" marL="0">
              <a:buNone/>
            </a:pPr>
            <a:r>
              <a:rPr lang="en-US" sz="4000" b="1" dirty="0">
                <a:solidFill>
                  <a:srgbClr val="0F2A3D"/>
                </a:solidFill>
                <a:latin typeface="Cambria" pitchFamily="34" charset="0"/>
                <a:ea typeface="Cambria" pitchFamily="34" charset="-122"/>
                <a:cs typeface="Cambria" pitchFamily="34" charset="-120"/>
              </a:rPr>
              <a:t>100%</a:t>
            </a:r>
            <a:endParaRPr lang="en-US" sz="4000" dirty="0"/>
          </a:p>
        </p:txBody>
      </p:sp>
      <p:sp>
        <p:nvSpPr>
          <p:cNvPr id="6" name="Text 4"/>
          <p:cNvSpPr txBox="1"/>
          <p:nvPr/>
        </p:nvSpPr>
        <p:spPr>
          <a:xfrm>
            <a:off x="685800" y="2212848"/>
            <a:ext cx="2194560" cy="320040"/>
          </a:xfrm>
          <a:prstGeom prst="rect">
            <a:avLst/>
          </a:prstGeom>
          <a:noFill/>
          <a:ln/>
        </p:spPr>
        <p:txBody>
          <a:bodyPr wrap="square" lIns="0" tIns="0" rIns="0" bIns="0" rtlCol="0" anchor="t"/>
          <a:lstStyle/>
          <a:p>
            <a:pPr indent="0" marL="0">
              <a:buNone/>
            </a:pPr>
            <a:r>
              <a:rPr lang="en-US" sz="1500" b="1" dirty="0">
                <a:solidFill>
                  <a:srgbClr val="1E2B33"/>
                </a:solidFill>
                <a:latin typeface="Calibri" pitchFamily="34" charset="0"/>
                <a:ea typeface="Calibri" pitchFamily="34" charset="-122"/>
                <a:cs typeface="Calibri" pitchFamily="34" charset="-120"/>
              </a:rPr>
              <a:t>Capital protected</a:t>
            </a:r>
            <a:endParaRPr lang="en-US" sz="1500" dirty="0"/>
          </a:p>
        </p:txBody>
      </p:sp>
      <p:sp>
        <p:nvSpPr>
          <p:cNvPr id="7" name="Text 5"/>
          <p:cNvSpPr txBox="1"/>
          <p:nvPr/>
        </p:nvSpPr>
        <p:spPr>
          <a:xfrm>
            <a:off x="685800" y="2578608"/>
            <a:ext cx="2194560" cy="777240"/>
          </a:xfrm>
          <a:prstGeom prst="rect">
            <a:avLst/>
          </a:prstGeom>
          <a:noFill/>
          <a:ln/>
        </p:spPr>
        <p:txBody>
          <a:bodyPr wrap="square" lIns="0" tIns="0" rIns="0" bIns="0" rtlCol="0" anchor="t"/>
          <a:lstStyle/>
          <a:p>
            <a:pPr indent="0" marL="0">
              <a:buNone/>
            </a:pPr>
            <a:r>
              <a:rPr lang="en-US" sz="1150" dirty="0">
                <a:solidFill>
                  <a:srgbClr val="62717A"/>
                </a:solidFill>
                <a:latin typeface="Calibri" pitchFamily="34" charset="0"/>
                <a:ea typeface="Calibri" pitchFamily="34" charset="-122"/>
                <a:cs typeface="Calibri" pitchFamily="34" charset="-120"/>
              </a:rPr>
              <a:t>At maturity in 2033, subject to Natixis credit. No loss path except issuer default</a:t>
            </a:r>
            <a:endParaRPr lang="en-US" sz="1150" dirty="0"/>
          </a:p>
        </p:txBody>
      </p:sp>
      <p:sp>
        <p:nvSpPr>
          <p:cNvPr id="8" name="Shape 6"/>
          <p:cNvSpPr/>
          <p:nvPr/>
        </p:nvSpPr>
        <p:spPr>
          <a:xfrm>
            <a:off x="3246120" y="1280160"/>
            <a:ext cx="2606040" cy="2148840"/>
          </a:xfrm>
          <a:prstGeom prst="roundRect">
            <a:avLst>
              <a:gd name="adj" fmla="val 3404"/>
            </a:avLst>
          </a:prstGeom>
          <a:solidFill>
            <a:srgbClr val="E8F2EE"/>
          </a:solidFill>
          <a:ln w="12700">
            <a:solidFill>
              <a:srgbClr val="E8F2EE"/>
            </a:solidFill>
            <a:prstDash val="solid"/>
          </a:ln>
        </p:spPr>
      </p:sp>
      <p:sp>
        <p:nvSpPr>
          <p:cNvPr id="9" name="Text 7"/>
          <p:cNvSpPr txBox="1"/>
          <p:nvPr/>
        </p:nvSpPr>
        <p:spPr>
          <a:xfrm>
            <a:off x="3474720" y="1417320"/>
            <a:ext cx="2194560" cy="777240"/>
          </a:xfrm>
          <a:prstGeom prst="rect">
            <a:avLst/>
          </a:prstGeom>
          <a:noFill/>
          <a:ln/>
        </p:spPr>
        <p:txBody>
          <a:bodyPr wrap="square" lIns="0" tIns="0" rIns="0" bIns="0" rtlCol="0" anchor="t"/>
          <a:lstStyle/>
          <a:p>
            <a:pPr indent="0" marL="0">
              <a:buNone/>
            </a:pPr>
            <a:r>
              <a:rPr lang="en-US" sz="4000" b="1" dirty="0">
                <a:solidFill>
                  <a:srgbClr val="1F8A70"/>
                </a:solidFill>
                <a:latin typeface="Cambria" pitchFamily="34" charset="0"/>
                <a:ea typeface="Cambria" pitchFamily="34" charset="-122"/>
                <a:cs typeface="Cambria" pitchFamily="34" charset="-120"/>
              </a:rPr>
              <a:t>167%</a:t>
            </a:r>
            <a:endParaRPr lang="en-US" sz="4000" dirty="0"/>
          </a:p>
        </p:txBody>
      </p:sp>
      <p:sp>
        <p:nvSpPr>
          <p:cNvPr id="10" name="Text 8"/>
          <p:cNvSpPr txBox="1"/>
          <p:nvPr/>
        </p:nvSpPr>
        <p:spPr>
          <a:xfrm>
            <a:off x="3474720" y="2212848"/>
            <a:ext cx="2194560" cy="320040"/>
          </a:xfrm>
          <a:prstGeom prst="rect">
            <a:avLst/>
          </a:prstGeom>
          <a:noFill/>
          <a:ln/>
        </p:spPr>
        <p:txBody>
          <a:bodyPr wrap="square" lIns="0" tIns="0" rIns="0" bIns="0" rtlCol="0" anchor="t"/>
          <a:lstStyle/>
          <a:p>
            <a:pPr indent="0" marL="0">
              <a:buNone/>
            </a:pPr>
            <a:r>
              <a:rPr lang="en-US" sz="1500" b="1" dirty="0">
                <a:solidFill>
                  <a:srgbClr val="1E2B33"/>
                </a:solidFill>
                <a:latin typeface="Calibri" pitchFamily="34" charset="0"/>
                <a:ea typeface="Calibri" pitchFamily="34" charset="-122"/>
                <a:cs typeface="Calibri" pitchFamily="34" charset="-120"/>
              </a:rPr>
              <a:t>Upside participation</a:t>
            </a:r>
            <a:endParaRPr lang="en-US" sz="1500" dirty="0"/>
          </a:p>
        </p:txBody>
      </p:sp>
      <p:sp>
        <p:nvSpPr>
          <p:cNvPr id="11" name="Text 9"/>
          <p:cNvSpPr txBox="1"/>
          <p:nvPr/>
        </p:nvSpPr>
        <p:spPr>
          <a:xfrm>
            <a:off x="3474720" y="2578608"/>
            <a:ext cx="2194560" cy="777240"/>
          </a:xfrm>
          <a:prstGeom prst="rect">
            <a:avLst/>
          </a:prstGeom>
          <a:noFill/>
          <a:ln/>
        </p:spPr>
        <p:txBody>
          <a:bodyPr wrap="square" lIns="0" tIns="0" rIns="0" bIns="0" rtlCol="0" anchor="t"/>
          <a:lstStyle/>
          <a:p>
            <a:pPr indent="0" marL="0">
              <a:buNone/>
            </a:pPr>
            <a:r>
              <a:rPr lang="en-US" sz="1150" dirty="0">
                <a:solidFill>
                  <a:srgbClr val="62717A"/>
                </a:solidFill>
                <a:latin typeface="Calibri" pitchFamily="34" charset="0"/>
                <a:ea typeface="Calibri" pitchFamily="34" charset="-122"/>
                <a:cs typeface="Calibri" pitchFamily="34" charset="-120"/>
              </a:rPr>
              <a:t>Uncapped, on a 10% vol-target index of 13 Asian digital leaders, with Legacy Lock</a:t>
            </a:r>
            <a:endParaRPr lang="en-US" sz="1150" dirty="0"/>
          </a:p>
        </p:txBody>
      </p:sp>
      <p:sp>
        <p:nvSpPr>
          <p:cNvPr id="12" name="Shape 10"/>
          <p:cNvSpPr/>
          <p:nvPr/>
        </p:nvSpPr>
        <p:spPr>
          <a:xfrm>
            <a:off x="6035040" y="1280160"/>
            <a:ext cx="2606040" cy="2148840"/>
          </a:xfrm>
          <a:prstGeom prst="roundRect">
            <a:avLst>
              <a:gd name="adj" fmla="val 3404"/>
            </a:avLst>
          </a:prstGeom>
          <a:solidFill>
            <a:srgbClr val="E8F2EE"/>
          </a:solidFill>
          <a:ln w="12700">
            <a:solidFill>
              <a:srgbClr val="E8F2EE"/>
            </a:solidFill>
            <a:prstDash val="solid"/>
          </a:ln>
        </p:spPr>
      </p:sp>
      <p:sp>
        <p:nvSpPr>
          <p:cNvPr id="13" name="Text 11"/>
          <p:cNvSpPr txBox="1"/>
          <p:nvPr/>
        </p:nvSpPr>
        <p:spPr>
          <a:xfrm>
            <a:off x="6263640" y="1417320"/>
            <a:ext cx="2194560" cy="777240"/>
          </a:xfrm>
          <a:prstGeom prst="rect">
            <a:avLst/>
          </a:prstGeom>
          <a:noFill/>
          <a:ln/>
        </p:spPr>
        <p:txBody>
          <a:bodyPr wrap="square" lIns="0" tIns="0" rIns="0" bIns="0" rtlCol="0" anchor="t"/>
          <a:lstStyle/>
          <a:p>
            <a:pPr indent="0" marL="0">
              <a:buNone/>
            </a:pPr>
            <a:r>
              <a:rPr lang="en-US" sz="4000" b="1" dirty="0">
                <a:solidFill>
                  <a:srgbClr val="0F2A3D"/>
                </a:solidFill>
                <a:latin typeface="Cambria" pitchFamily="34" charset="0"/>
                <a:ea typeface="Cambria" pitchFamily="34" charset="-122"/>
                <a:cs typeface="Cambria" pitchFamily="34" charset="-120"/>
              </a:rPr>
              <a:t>0.62%</a:t>
            </a:r>
            <a:endParaRPr lang="en-US" sz="4000" dirty="0"/>
          </a:p>
        </p:txBody>
      </p:sp>
      <p:sp>
        <p:nvSpPr>
          <p:cNvPr id="14" name="Text 12"/>
          <p:cNvSpPr txBox="1"/>
          <p:nvPr/>
        </p:nvSpPr>
        <p:spPr>
          <a:xfrm>
            <a:off x="6263640" y="2212848"/>
            <a:ext cx="2194560" cy="320040"/>
          </a:xfrm>
          <a:prstGeom prst="rect">
            <a:avLst/>
          </a:prstGeom>
          <a:noFill/>
          <a:ln/>
        </p:spPr>
        <p:txBody>
          <a:bodyPr wrap="square" lIns="0" tIns="0" rIns="0" bIns="0" rtlCol="0" anchor="t"/>
          <a:lstStyle/>
          <a:p>
            <a:pPr indent="0" marL="0">
              <a:buNone/>
            </a:pPr>
            <a:r>
              <a:rPr lang="en-US" sz="1500" b="1" dirty="0">
                <a:solidFill>
                  <a:srgbClr val="1E2B33"/>
                </a:solidFill>
                <a:latin typeface="Calibri" pitchFamily="34" charset="0"/>
                <a:ea typeface="Calibri" pitchFamily="34" charset="-122"/>
                <a:cs typeface="Calibri" pitchFamily="34" charset="-120"/>
              </a:rPr>
              <a:t>Of net worth at risk</a:t>
            </a:r>
            <a:endParaRPr lang="en-US" sz="1500" dirty="0"/>
          </a:p>
        </p:txBody>
      </p:sp>
      <p:sp>
        <p:nvSpPr>
          <p:cNvPr id="15" name="Text 13"/>
          <p:cNvSpPr txBox="1"/>
          <p:nvPr/>
        </p:nvSpPr>
        <p:spPr>
          <a:xfrm>
            <a:off x="6263640" y="2578608"/>
            <a:ext cx="2194560" cy="777240"/>
          </a:xfrm>
          <a:prstGeom prst="rect">
            <a:avLst/>
          </a:prstGeom>
          <a:noFill/>
          <a:ln/>
        </p:spPr>
        <p:txBody>
          <a:bodyPr wrap="square" lIns="0" tIns="0" rIns="0" bIns="0" rtlCol="0" anchor="t"/>
          <a:lstStyle/>
          <a:p>
            <a:pPr indent="0" marL="0">
              <a:buNone/>
            </a:pPr>
            <a:r>
              <a:rPr lang="en-US" sz="1150" dirty="0">
                <a:solidFill>
                  <a:srgbClr val="62717A"/>
                </a:solidFill>
                <a:latin typeface="Calibri" pitchFamily="34" charset="0"/>
                <a:ea typeface="Calibri" pitchFamily="34" charset="-122"/>
                <a:cs typeface="Calibri" pitchFamily="34" charset="-120"/>
              </a:rPr>
              <a:t>Worst stress mark-to-market (USD 12.4Mn) before maturity</a:t>
            </a:r>
            <a:endParaRPr lang="en-US" sz="1150" dirty="0"/>
          </a:p>
        </p:txBody>
      </p:sp>
      <p:sp>
        <p:nvSpPr>
          <p:cNvPr id="16" name="Text 14"/>
          <p:cNvSpPr txBox="1"/>
          <p:nvPr/>
        </p:nvSpPr>
        <p:spPr>
          <a:xfrm>
            <a:off x="457200" y="3611880"/>
            <a:ext cx="8229600" cy="1051560"/>
          </a:xfrm>
          <a:prstGeom prst="rect">
            <a:avLst/>
          </a:prstGeom>
          <a:noFill/>
          <a:ln/>
        </p:spPr>
        <p:txBody>
          <a:bodyPr wrap="square" lIns="0" tIns="0" rIns="0" bIns="0" rtlCol="0" anchor="t"/>
          <a:lstStyle/>
          <a:p>
            <a:pPr indent="0" marL="0">
              <a:buNone/>
            </a:pPr>
            <a:r>
              <a:rPr lang="en-US" sz="1250" dirty="0">
                <a:solidFill>
                  <a:srgbClr val="1E2B33"/>
                </a:solidFill>
                <a:latin typeface="Calibri" pitchFamily="34" charset="0"/>
                <a:ea typeface="Calibri" pitchFamily="34" charset="-122"/>
                <a:cs typeface="Calibri" pitchFamily="34" charset="-120"/>
              </a:rPr>
              <a:t>We recommend </a:t>
            </a:r>
            <a:pPr indent="0" marL="0">
              <a:buNone/>
            </a:pPr>
            <a:r>
              <a:rPr lang="en-US" sz="1250" b="1" dirty="0">
                <a:solidFill>
                  <a:srgbClr val="1F8A70"/>
                </a:solidFill>
                <a:latin typeface="Calibri" pitchFamily="34" charset="0"/>
                <a:ea typeface="Calibri" pitchFamily="34" charset="-122"/>
                <a:cs typeface="Calibri" pitchFamily="34" charset="-120"/>
              </a:rPr>
              <a:t>a 7-year, 100% capital-protected USD note</a:t>
            </a:r>
            <a:pPr indent="0" marL="0">
              <a:buNone/>
            </a:pPr>
            <a:r>
              <a:rPr lang="en-US" sz="1250" dirty="0">
                <a:solidFill>
                  <a:srgbClr val="1E2B33"/>
                </a:solidFill>
                <a:latin typeface="Calibri" pitchFamily="34" charset="0"/>
                <a:ea typeface="Calibri" pitchFamily="34" charset="-122"/>
                <a:cs typeface="Calibri" pitchFamily="34" charset="-120"/>
              </a:rPr>
              <a:t> on the Asia Digital Bridge 10% Vol-Target Index, to express our view that Asia owns the hardware and platforms of the AI era, while volatility and geopolitics argue for protected exposure. </a:t>
            </a:r>
            <a:pPr indent="0" marL="0">
              <a:buNone/>
            </a:pPr>
            <a:r>
              <a:rPr lang="en-US" sz="1250" b="1" dirty="0">
                <a:solidFill>
                  <a:srgbClr val="1E2B33"/>
                </a:solidFill>
                <a:latin typeface="Calibri" pitchFamily="34" charset="0"/>
                <a:ea typeface="Calibri" pitchFamily="34" charset="-122"/>
                <a:cs typeface="Calibri" pitchFamily="34" charset="-120"/>
              </a:rPr>
              <a:t>Median outcome 1.41x–1.59x of capital in our 6–9% basket-return cases (vs 1.38x for a 7Y Treasury). Maximum loss at maturity: zero, contractual, ex issuer default.</a:t>
            </a:r>
            <a:endParaRPr lang="en-US" sz="1250" dirty="0"/>
          </a:p>
        </p:txBody>
      </p:sp>
      <p:sp>
        <p:nvSpPr>
          <p:cNvPr id="17" name="Text 15"/>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Indicative pricing: Monte Carlo with placeholder market inputs; funding from the 2026 rules grid. To be refreshed with Bloomberg data as of 17 Sep 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Growth for the heirs, without risking the legacy</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Client diagnosis: NKE Private Wealth, single-family office, third generation</a:t>
            </a:r>
            <a:endParaRPr lang="en-US" sz="1300" dirty="0"/>
          </a:p>
        </p:txBody>
      </p:sp>
      <p:sp>
        <p:nvSpPr>
          <p:cNvPr id="4" name="Shape 2"/>
          <p:cNvSpPr/>
          <p:nvPr/>
        </p:nvSpPr>
        <p:spPr>
          <a:xfrm>
            <a:off x="457200" y="1280160"/>
            <a:ext cx="2606040" cy="2514600"/>
          </a:xfrm>
          <a:prstGeom prst="roundRect">
            <a:avLst>
              <a:gd name="adj" fmla="val 2909"/>
            </a:avLst>
          </a:prstGeom>
          <a:solidFill>
            <a:srgbClr val="E8F2EE"/>
          </a:solidFill>
          <a:ln w="12700">
            <a:solidFill>
              <a:srgbClr val="E8F2EE"/>
            </a:solidFill>
            <a:prstDash val="solid"/>
          </a:ln>
        </p:spPr>
      </p:sp>
      <p:sp>
        <p:nvSpPr>
          <p:cNvPr id="5" name="Shape 3"/>
          <p:cNvSpPr/>
          <p:nvPr/>
        </p:nvSpPr>
        <p:spPr>
          <a:xfrm>
            <a:off x="685800" y="1444752"/>
            <a:ext cx="420624" cy="420624"/>
          </a:xfrm>
          <a:prstGeom prst="ellipse">
            <a:avLst/>
          </a:prstGeom>
          <a:solidFill>
            <a:srgbClr val="1F8A70"/>
          </a:solidFill>
          <a:ln/>
        </p:spPr>
      </p:sp>
      <p:sp>
        <p:nvSpPr>
          <p:cNvPr id="6" name="Text 4"/>
          <p:cNvSpPr txBox="1"/>
          <p:nvPr/>
        </p:nvSpPr>
        <p:spPr>
          <a:xfrm>
            <a:off x="685800" y="14447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685800" y="1956816"/>
            <a:ext cx="2194560" cy="365760"/>
          </a:xfrm>
          <a:prstGeom prst="rect">
            <a:avLst/>
          </a:prstGeom>
          <a:noFill/>
          <a:ln/>
        </p:spPr>
        <p:txBody>
          <a:bodyPr wrap="square" lIns="0" tIns="0" rIns="0" bIns="0" rtlCol="0" anchor="t"/>
          <a:lstStyle/>
          <a:p>
            <a:pPr indent="0" marL="0">
              <a:buNone/>
            </a:pPr>
            <a:r>
              <a:rPr lang="en-US" sz="1600" b="1" dirty="0">
                <a:solidFill>
                  <a:srgbClr val="0F2A3D"/>
                </a:solidFill>
                <a:latin typeface="Cambria" pitchFamily="34" charset="0"/>
                <a:ea typeface="Cambria" pitchFamily="34" charset="-122"/>
                <a:cs typeface="Cambria" pitchFamily="34" charset="-120"/>
              </a:rPr>
              <a:t>Who they are</a:t>
            </a:r>
            <a:endParaRPr lang="en-US" sz="1600" dirty="0"/>
          </a:p>
        </p:txBody>
      </p:sp>
      <p:sp>
        <p:nvSpPr>
          <p:cNvPr id="8" name="Text 6"/>
          <p:cNvSpPr txBox="1"/>
          <p:nvPr/>
        </p:nvSpPr>
        <p:spPr>
          <a:xfrm>
            <a:off x="658368" y="2359152"/>
            <a:ext cx="2240280" cy="13716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E2B33"/>
                </a:solidFill>
                <a:latin typeface="Calibri" pitchFamily="34" charset="0"/>
                <a:ea typeface="Calibri" pitchFamily="34" charset="-122"/>
                <a:cs typeface="Calibri" pitchFamily="34" charset="-120"/>
              </a:rPr>
              <a:t>Net worth &gt; USD 2Bn; USD 100Mn to deploy (5%)</a:t>
            </a:r>
            <a:endParaRPr lang="en-US" sz="1150" dirty="0"/>
          </a:p>
          <a:p>
            <a:pPr marL="342900" indent="-342900">
              <a:spcAft>
                <a:spcPts val="500"/>
              </a:spcAft>
              <a:buSzPct val="100000"/>
              <a:buChar char="•"/>
            </a:pPr>
            <a:r>
              <a:rPr lang="en-US" sz="1150" dirty="0">
                <a:solidFill>
                  <a:srgbClr val="1E2B33"/>
                </a:solidFill>
                <a:latin typeface="Calibri" pitchFamily="34" charset="0"/>
                <a:ea typeface="Calibri" pitchFamily="34" charset="-122"/>
                <a:cs typeface="Calibri" pitchFamily="34" charset="-120"/>
              </a:rPr>
              <a:t>Businesses: tech infrastructure, renewables, real estate</a:t>
            </a:r>
            <a:endParaRPr lang="en-US" sz="1150" dirty="0"/>
          </a:p>
          <a:p>
            <a:pPr marL="342900" indent="-342900">
              <a:spcAft>
                <a:spcPts val="500"/>
              </a:spcAft>
              <a:buSzPct val="100000"/>
              <a:buChar char="•"/>
            </a:pPr>
            <a:r>
              <a:rPr lang="en-US" sz="1150" dirty="0">
                <a:solidFill>
                  <a:srgbClr val="1E2B33"/>
                </a:solidFill>
                <a:latin typeface="Calibri" pitchFamily="34" charset="0"/>
                <a:ea typeface="Calibri" pitchFamily="34" charset="-122"/>
                <a:cs typeface="Calibri" pitchFamily="34" charset="-120"/>
              </a:rPr>
              <a:t>Japan and Greater China</a:t>
            </a:r>
            <a:endParaRPr lang="en-US" sz="1150" dirty="0"/>
          </a:p>
        </p:txBody>
      </p:sp>
      <p:sp>
        <p:nvSpPr>
          <p:cNvPr id="9" name="Shape 7"/>
          <p:cNvSpPr/>
          <p:nvPr/>
        </p:nvSpPr>
        <p:spPr>
          <a:xfrm>
            <a:off x="3246120" y="1280160"/>
            <a:ext cx="2606040" cy="2514600"/>
          </a:xfrm>
          <a:prstGeom prst="roundRect">
            <a:avLst>
              <a:gd name="adj" fmla="val 2909"/>
            </a:avLst>
          </a:prstGeom>
          <a:solidFill>
            <a:srgbClr val="E8F2EE"/>
          </a:solidFill>
          <a:ln w="12700">
            <a:solidFill>
              <a:srgbClr val="E8F2EE"/>
            </a:solidFill>
            <a:prstDash val="solid"/>
          </a:ln>
        </p:spPr>
      </p:sp>
      <p:sp>
        <p:nvSpPr>
          <p:cNvPr id="10" name="Shape 8"/>
          <p:cNvSpPr/>
          <p:nvPr/>
        </p:nvSpPr>
        <p:spPr>
          <a:xfrm>
            <a:off x="3474720" y="1444752"/>
            <a:ext cx="420624" cy="420624"/>
          </a:xfrm>
          <a:prstGeom prst="ellipse">
            <a:avLst/>
          </a:prstGeom>
          <a:solidFill>
            <a:srgbClr val="1F8A70"/>
          </a:solidFill>
          <a:ln/>
        </p:spPr>
      </p:sp>
      <p:sp>
        <p:nvSpPr>
          <p:cNvPr id="11" name="Text 9"/>
          <p:cNvSpPr txBox="1"/>
          <p:nvPr/>
        </p:nvSpPr>
        <p:spPr>
          <a:xfrm>
            <a:off x="3474720" y="14447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3474720" y="1956816"/>
            <a:ext cx="2194560" cy="365760"/>
          </a:xfrm>
          <a:prstGeom prst="rect">
            <a:avLst/>
          </a:prstGeom>
          <a:noFill/>
          <a:ln/>
        </p:spPr>
        <p:txBody>
          <a:bodyPr wrap="square" lIns="0" tIns="0" rIns="0" bIns="0" rtlCol="0" anchor="t"/>
          <a:lstStyle/>
          <a:p>
            <a:pPr indent="0" marL="0">
              <a:buNone/>
            </a:pPr>
            <a:r>
              <a:rPr lang="en-US" sz="1600" b="1" dirty="0">
                <a:solidFill>
                  <a:srgbClr val="0F2A3D"/>
                </a:solidFill>
                <a:latin typeface="Cambria" pitchFamily="34" charset="0"/>
                <a:ea typeface="Cambria" pitchFamily="34" charset="-122"/>
                <a:cs typeface="Cambria" pitchFamily="34" charset="-120"/>
              </a:rPr>
              <a:t>What they want</a:t>
            </a:r>
            <a:endParaRPr lang="en-US" sz="1600" dirty="0"/>
          </a:p>
        </p:txBody>
      </p:sp>
      <p:sp>
        <p:nvSpPr>
          <p:cNvPr id="13" name="Text 11"/>
          <p:cNvSpPr txBox="1"/>
          <p:nvPr/>
        </p:nvSpPr>
        <p:spPr>
          <a:xfrm>
            <a:off x="3447288" y="2359152"/>
            <a:ext cx="2240280" cy="13716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E2B33"/>
                </a:solidFill>
                <a:latin typeface="Calibri" pitchFamily="34" charset="0"/>
                <a:ea typeface="Calibri" pitchFamily="34" charset="-122"/>
                <a:cs typeface="Calibri" pitchFamily="34" charset="-120"/>
              </a:rPr>
              <a:t>Capital appreciation for future generations</a:t>
            </a:r>
            <a:endParaRPr lang="en-US" sz="1150" dirty="0"/>
          </a:p>
          <a:p>
            <a:pPr marL="342900" indent="-342900">
              <a:spcAft>
                <a:spcPts val="500"/>
              </a:spcAft>
              <a:buSzPct val="100000"/>
              <a:buChar char="•"/>
            </a:pPr>
            <a:r>
              <a:rPr lang="en-US" sz="1150" dirty="0">
                <a:solidFill>
                  <a:srgbClr val="1E2B33"/>
                </a:solidFill>
                <a:latin typeface="Calibri" pitchFamily="34" charset="0"/>
                <a:ea typeface="Calibri" pitchFamily="34" charset="-122"/>
                <a:cs typeface="Calibri" pitchFamily="34" charset="-120"/>
              </a:rPr>
              <a:t>Exposure to Asia's digital transformation</a:t>
            </a:r>
            <a:endParaRPr lang="en-US" sz="1150" dirty="0"/>
          </a:p>
          <a:p>
            <a:pPr marL="342900" indent="-342900">
              <a:spcAft>
                <a:spcPts val="500"/>
              </a:spcAft>
              <a:buSzPct val="100000"/>
              <a:buChar char="•"/>
            </a:pPr>
            <a:r>
              <a:rPr lang="en-US" sz="1150" dirty="0">
                <a:solidFill>
                  <a:srgbClr val="1E2B33"/>
                </a:solidFill>
                <a:latin typeface="Calibri" pitchFamily="34" charset="0"/>
                <a:ea typeface="Calibri" pitchFamily="34" charset="-122"/>
                <a:cs typeface="Calibri" pitchFamily="34" charset="-120"/>
              </a:rPr>
              <a:t>Bridge traditional markets and new technology</a:t>
            </a:r>
            <a:endParaRPr lang="en-US" sz="1150" dirty="0"/>
          </a:p>
        </p:txBody>
      </p:sp>
      <p:sp>
        <p:nvSpPr>
          <p:cNvPr id="14" name="Shape 12"/>
          <p:cNvSpPr/>
          <p:nvPr/>
        </p:nvSpPr>
        <p:spPr>
          <a:xfrm>
            <a:off x="6035040" y="1280160"/>
            <a:ext cx="2606040" cy="2514600"/>
          </a:xfrm>
          <a:prstGeom prst="roundRect">
            <a:avLst>
              <a:gd name="adj" fmla="val 2909"/>
            </a:avLst>
          </a:prstGeom>
          <a:solidFill>
            <a:srgbClr val="0F2A3D"/>
          </a:solidFill>
          <a:ln w="12700">
            <a:solidFill>
              <a:srgbClr val="0F2A3D"/>
            </a:solidFill>
            <a:prstDash val="solid"/>
          </a:ln>
        </p:spPr>
      </p:sp>
      <p:sp>
        <p:nvSpPr>
          <p:cNvPr id="15" name="Shape 13"/>
          <p:cNvSpPr/>
          <p:nvPr/>
        </p:nvSpPr>
        <p:spPr>
          <a:xfrm>
            <a:off x="6263640" y="1444752"/>
            <a:ext cx="420624" cy="420624"/>
          </a:xfrm>
          <a:prstGeom prst="ellipse">
            <a:avLst/>
          </a:prstGeom>
          <a:solidFill>
            <a:srgbClr val="D9482B"/>
          </a:solidFill>
          <a:ln/>
        </p:spPr>
      </p:sp>
      <p:sp>
        <p:nvSpPr>
          <p:cNvPr id="16" name="Text 14"/>
          <p:cNvSpPr txBox="1"/>
          <p:nvPr/>
        </p:nvSpPr>
        <p:spPr>
          <a:xfrm>
            <a:off x="6263640" y="14447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6263640" y="1956816"/>
            <a:ext cx="219456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What they need</a:t>
            </a:r>
            <a:endParaRPr lang="en-US" sz="1600" dirty="0"/>
          </a:p>
        </p:txBody>
      </p:sp>
      <p:sp>
        <p:nvSpPr>
          <p:cNvPr id="18" name="Text 16"/>
          <p:cNvSpPr txBox="1"/>
          <p:nvPr/>
        </p:nvSpPr>
        <p:spPr>
          <a:xfrm>
            <a:off x="6236208" y="2359152"/>
            <a:ext cx="2240280" cy="13716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E2EEE9"/>
                </a:solidFill>
                <a:latin typeface="Calibri" pitchFamily="34" charset="0"/>
                <a:ea typeface="Calibri" pitchFamily="34" charset="-122"/>
                <a:cs typeface="Calibri" pitchFamily="34" charset="-120"/>
              </a:rPr>
              <a:t>Principal protected: generational wealth</a:t>
            </a:r>
            <a:endParaRPr lang="en-US" sz="1150" dirty="0"/>
          </a:p>
          <a:p>
            <a:pPr marL="342900" indent="-342900">
              <a:spcAft>
                <a:spcPts val="500"/>
              </a:spcAft>
              <a:buSzPct val="100000"/>
              <a:buChar char="•"/>
            </a:pPr>
            <a:r>
              <a:rPr lang="en-US" sz="1150" dirty="0">
                <a:solidFill>
                  <a:srgbClr val="E2EEE9"/>
                </a:solidFill>
                <a:latin typeface="Calibri" pitchFamily="34" charset="0"/>
                <a:ea typeface="Calibri" pitchFamily="34" charset="-122"/>
                <a:cs typeface="Calibri" pitchFamily="34" charset="-120"/>
              </a:rPr>
              <a:t>Long horizon matching succession</a:t>
            </a:r>
            <a:endParaRPr lang="en-US" sz="1150" dirty="0"/>
          </a:p>
          <a:p>
            <a:pPr marL="342900" indent="-342900">
              <a:spcAft>
                <a:spcPts val="500"/>
              </a:spcAft>
              <a:buSzPct val="100000"/>
              <a:buChar char="•"/>
            </a:pPr>
            <a:r>
              <a:rPr lang="en-US" sz="1150" dirty="0">
                <a:solidFill>
                  <a:srgbClr val="E2EEE9"/>
                </a:solidFill>
                <a:latin typeface="Calibri" pitchFamily="34" charset="0"/>
                <a:ea typeface="Calibri" pitchFamily="34" charset="-122"/>
                <a:cs typeface="Calibri" pitchFamily="34" charset="-120"/>
              </a:rPr>
              <a:t>No doubling-up on existing exposures</a:t>
            </a:r>
            <a:endParaRPr lang="en-US" sz="1150" dirty="0"/>
          </a:p>
        </p:txBody>
      </p:sp>
      <p:sp>
        <p:nvSpPr>
          <p:cNvPr id="19" name="Shape 17"/>
          <p:cNvSpPr/>
          <p:nvPr/>
        </p:nvSpPr>
        <p:spPr>
          <a:xfrm>
            <a:off x="457200" y="3931920"/>
            <a:ext cx="8229600" cy="713232"/>
          </a:xfrm>
          <a:prstGeom prst="roundRect">
            <a:avLst>
              <a:gd name="adj" fmla="val 10256"/>
            </a:avLst>
          </a:prstGeom>
          <a:solidFill>
            <a:srgbClr val="FBEDE9"/>
          </a:solidFill>
          <a:ln w="12700">
            <a:solidFill>
              <a:srgbClr val="FBEDE9"/>
            </a:solidFill>
            <a:prstDash val="solid"/>
          </a:ln>
        </p:spPr>
      </p:sp>
      <p:sp>
        <p:nvSpPr>
          <p:cNvPr id="20" name="Text 18"/>
          <p:cNvSpPr txBox="1"/>
          <p:nvPr/>
        </p:nvSpPr>
        <p:spPr>
          <a:xfrm>
            <a:off x="640080" y="3959352"/>
            <a:ext cx="7863840" cy="658368"/>
          </a:xfrm>
          <a:prstGeom prst="rect">
            <a:avLst/>
          </a:prstGeom>
          <a:noFill/>
          <a:ln/>
        </p:spPr>
        <p:txBody>
          <a:bodyPr wrap="square" lIns="0" tIns="0" rIns="0" bIns="0" rtlCol="0" anchor="ctr"/>
          <a:lstStyle/>
          <a:p>
            <a:pPr indent="0" marL="0">
              <a:buNone/>
            </a:pPr>
            <a:r>
              <a:rPr lang="en-US" sz="1200" b="1" dirty="0">
                <a:solidFill>
                  <a:srgbClr val="D9482B"/>
                </a:solidFill>
                <a:latin typeface="Calibri" pitchFamily="34" charset="0"/>
                <a:ea typeface="Calibri" pitchFamily="34" charset="-122"/>
                <a:cs typeface="Calibri" pitchFamily="34" charset="-120"/>
              </a:rPr>
              <a:t>The hidden risk: </a:t>
            </a:r>
            <a:pPr indent="0" marL="0">
              <a:buNone/>
            </a:pPr>
            <a:r>
              <a:rPr lang="en-US" sz="1200" dirty="0">
                <a:solidFill>
                  <a:srgbClr val="1E2B33"/>
                </a:solidFill>
                <a:latin typeface="Calibri" pitchFamily="34" charset="0"/>
                <a:ea typeface="Calibri" pitchFamily="34" charset="-122"/>
                <a:cs typeface="Calibri" pitchFamily="34" charset="-120"/>
              </a:rPr>
              <a:t>the family already earns its wealth in Asian infrastructure, renewables and property. We give digital exposure through chips, AI and platforms, exclude those sectors, and pay in USD so the note adds no JPY/HKD/CNY risk.</a:t>
            </a:r>
            <a:endParaRPr lang="en-US" sz="1200" dirty="0"/>
          </a:p>
        </p:txBody>
      </p:sp>
      <p:sp>
        <p:nvSpPr>
          <p:cNvPr id="21" name="Text 19"/>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Asia owns the hardware and platforms of the AI era</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Investment thesis: three pillars (market data to be confirmed on Bloomberg as of 17 Sep 2026)</a:t>
            </a:r>
            <a:endParaRPr lang="en-US" sz="1300" dirty="0"/>
          </a:p>
        </p:txBody>
      </p:sp>
      <p:sp>
        <p:nvSpPr>
          <p:cNvPr id="4" name="Shape 2"/>
          <p:cNvSpPr/>
          <p:nvPr/>
        </p:nvSpPr>
        <p:spPr>
          <a:xfrm>
            <a:off x="457200" y="1261872"/>
            <a:ext cx="1481328" cy="960120"/>
          </a:xfrm>
          <a:prstGeom prst="roundRect">
            <a:avLst>
              <a:gd name="adj" fmla="val 7619"/>
            </a:avLst>
          </a:prstGeom>
          <a:solidFill>
            <a:srgbClr val="0F2A3D"/>
          </a:solidFill>
          <a:ln w="12700">
            <a:solidFill>
              <a:srgbClr val="0F2A3D"/>
            </a:solidFill>
            <a:prstDash val="solid"/>
          </a:ln>
        </p:spPr>
      </p:sp>
      <p:sp>
        <p:nvSpPr>
          <p:cNvPr id="5" name="Text 3"/>
          <p:cNvSpPr txBox="1"/>
          <p:nvPr/>
        </p:nvSpPr>
        <p:spPr>
          <a:xfrm>
            <a:off x="566928" y="1335024"/>
            <a:ext cx="1280160" cy="292608"/>
          </a:xfrm>
          <a:prstGeom prst="rect">
            <a:avLst/>
          </a:prstGeom>
          <a:noFill/>
          <a:ln/>
        </p:spPr>
        <p:txBody>
          <a:bodyPr wrap="square" lIns="0" tIns="0" rIns="0" bIns="0" rtlCol="0" anchor="t"/>
          <a:lstStyle/>
          <a:p>
            <a:pPr algn="ctr" indent="0" marL="0">
              <a:buNone/>
            </a:pPr>
            <a:r>
              <a:rPr lang="en-US" sz="1350" b="1" dirty="0">
                <a:solidFill>
                  <a:srgbClr val="FFFFFF"/>
                </a:solidFill>
                <a:latin typeface="Cambria" pitchFamily="34" charset="0"/>
                <a:ea typeface="Cambria" pitchFamily="34" charset="-122"/>
                <a:cs typeface="Cambria" pitchFamily="34" charset="-120"/>
              </a:rPr>
              <a:t>Design</a:t>
            </a:r>
            <a:endParaRPr lang="en-US" sz="1350" dirty="0"/>
          </a:p>
        </p:txBody>
      </p:sp>
      <p:sp>
        <p:nvSpPr>
          <p:cNvPr id="6" name="Text 4"/>
          <p:cNvSpPr txBox="1"/>
          <p:nvPr/>
        </p:nvSpPr>
        <p:spPr>
          <a:xfrm>
            <a:off x="548640" y="1645920"/>
            <a:ext cx="1298448" cy="502920"/>
          </a:xfrm>
          <a:prstGeom prst="rect">
            <a:avLst/>
          </a:prstGeom>
          <a:noFill/>
          <a:ln/>
        </p:spPr>
        <p:txBody>
          <a:bodyPr wrap="square" lIns="0" tIns="0" rIns="0" bIns="0" rtlCol="0" anchor="t"/>
          <a:lstStyle/>
          <a:p>
            <a:pPr algn="ctr" indent="0" marL="0">
              <a:buNone/>
            </a:pPr>
            <a:r>
              <a:rPr lang="en-US" sz="1050" dirty="0">
                <a:solidFill>
                  <a:srgbClr val="D8E8E2"/>
                </a:solidFill>
                <a:latin typeface="Calibri" pitchFamily="34" charset="0"/>
                <a:ea typeface="Calibri" pitchFamily="34" charset="-122"/>
                <a:cs typeface="Calibri" pitchFamily="34" charset="-120"/>
              </a:rPr>
              <a:t>MediaTek</a:t>
            </a:r>
            <a:endParaRPr lang="en-US" sz="1050" dirty="0"/>
          </a:p>
        </p:txBody>
      </p:sp>
      <p:sp>
        <p:nvSpPr>
          <p:cNvPr id="7" name="Text 5"/>
          <p:cNvSpPr txBox="1"/>
          <p:nvPr/>
        </p:nvSpPr>
        <p:spPr>
          <a:xfrm>
            <a:off x="1920240" y="1508760"/>
            <a:ext cx="219456" cy="411480"/>
          </a:xfrm>
          <a:prstGeom prst="rect">
            <a:avLst/>
          </a:prstGeom>
          <a:noFill/>
          <a:ln/>
        </p:spPr>
        <p:txBody>
          <a:bodyPr wrap="square" lIns="0" tIns="0" rIns="0" bIns="0" rtlCol="0" anchor="ctr"/>
          <a:lstStyle/>
          <a:p>
            <a:pPr algn="ctr" indent="0" marL="0">
              <a:buNone/>
            </a:pPr>
            <a:r>
              <a:rPr lang="en-US" sz="2200" b="1" dirty="0">
                <a:solidFill>
                  <a:srgbClr val="1F8A70"/>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121408" y="1261872"/>
            <a:ext cx="1481328" cy="960120"/>
          </a:xfrm>
          <a:prstGeom prst="roundRect">
            <a:avLst>
              <a:gd name="adj" fmla="val 7619"/>
            </a:avLst>
          </a:prstGeom>
          <a:solidFill>
            <a:srgbClr val="E8F2EE"/>
          </a:solidFill>
          <a:ln w="12700">
            <a:solidFill>
              <a:srgbClr val="E8F2EE"/>
            </a:solidFill>
            <a:prstDash val="solid"/>
          </a:ln>
        </p:spPr>
      </p:sp>
      <p:sp>
        <p:nvSpPr>
          <p:cNvPr id="9" name="Text 7"/>
          <p:cNvSpPr txBox="1"/>
          <p:nvPr/>
        </p:nvSpPr>
        <p:spPr>
          <a:xfrm>
            <a:off x="2231136" y="1335024"/>
            <a:ext cx="1280160" cy="292608"/>
          </a:xfrm>
          <a:prstGeom prst="rect">
            <a:avLst/>
          </a:prstGeom>
          <a:noFill/>
          <a:ln/>
        </p:spPr>
        <p:txBody>
          <a:bodyPr wrap="square" lIns="0" tIns="0" rIns="0" bIns="0" rtlCol="0" anchor="t"/>
          <a:lstStyle/>
          <a:p>
            <a:pPr algn="ctr" indent="0" marL="0">
              <a:buNone/>
            </a:pPr>
            <a:r>
              <a:rPr lang="en-US" sz="1350" b="1" dirty="0">
                <a:solidFill>
                  <a:srgbClr val="0F2A3D"/>
                </a:solidFill>
                <a:latin typeface="Cambria" pitchFamily="34" charset="0"/>
                <a:ea typeface="Cambria" pitchFamily="34" charset="-122"/>
                <a:cs typeface="Cambria" pitchFamily="34" charset="-120"/>
              </a:rPr>
              <a:t>Foundry</a:t>
            </a:r>
            <a:endParaRPr lang="en-US" sz="1350" dirty="0"/>
          </a:p>
        </p:txBody>
      </p:sp>
      <p:sp>
        <p:nvSpPr>
          <p:cNvPr id="10" name="Text 8"/>
          <p:cNvSpPr txBox="1"/>
          <p:nvPr/>
        </p:nvSpPr>
        <p:spPr>
          <a:xfrm>
            <a:off x="2212848" y="1645920"/>
            <a:ext cx="1298448" cy="502920"/>
          </a:xfrm>
          <a:prstGeom prst="rect">
            <a:avLst/>
          </a:prstGeom>
          <a:noFill/>
          <a:ln/>
        </p:spPr>
        <p:txBody>
          <a:bodyPr wrap="square" lIns="0" tIns="0" rIns="0" bIns="0" rtlCol="0" anchor="t"/>
          <a:lstStyle/>
          <a:p>
            <a:pPr algn="ctr" indent="0" marL="0">
              <a:buNone/>
            </a:pPr>
            <a:r>
              <a:rPr lang="en-US" sz="1050" dirty="0">
                <a:solidFill>
                  <a:srgbClr val="1E2B33"/>
                </a:solidFill>
                <a:latin typeface="Calibri" pitchFamily="34" charset="0"/>
                <a:ea typeface="Calibri" pitchFamily="34" charset="-122"/>
                <a:cs typeface="Calibri" pitchFamily="34" charset="-120"/>
              </a:rPr>
              <a:t>TSMC</a:t>
            </a:r>
            <a:endParaRPr lang="en-US" sz="1050" dirty="0"/>
          </a:p>
        </p:txBody>
      </p:sp>
      <p:sp>
        <p:nvSpPr>
          <p:cNvPr id="11" name="Text 9"/>
          <p:cNvSpPr txBox="1"/>
          <p:nvPr/>
        </p:nvSpPr>
        <p:spPr>
          <a:xfrm>
            <a:off x="3584448" y="1508760"/>
            <a:ext cx="219456" cy="411480"/>
          </a:xfrm>
          <a:prstGeom prst="rect">
            <a:avLst/>
          </a:prstGeom>
          <a:noFill/>
          <a:ln/>
        </p:spPr>
        <p:txBody>
          <a:bodyPr wrap="square" lIns="0" tIns="0" rIns="0" bIns="0" rtlCol="0" anchor="ctr"/>
          <a:lstStyle/>
          <a:p>
            <a:pPr algn="ctr" indent="0" marL="0">
              <a:buNone/>
            </a:pPr>
            <a:r>
              <a:rPr lang="en-US" sz="2200" b="1" dirty="0">
                <a:solidFill>
                  <a:srgbClr val="1F8A70"/>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3785616" y="1261872"/>
            <a:ext cx="1481328" cy="960120"/>
          </a:xfrm>
          <a:prstGeom prst="roundRect">
            <a:avLst>
              <a:gd name="adj" fmla="val 7619"/>
            </a:avLst>
          </a:prstGeom>
          <a:solidFill>
            <a:srgbClr val="0F2A3D"/>
          </a:solidFill>
          <a:ln w="12700">
            <a:solidFill>
              <a:srgbClr val="0F2A3D"/>
            </a:solidFill>
            <a:prstDash val="solid"/>
          </a:ln>
        </p:spPr>
      </p:sp>
      <p:sp>
        <p:nvSpPr>
          <p:cNvPr id="13" name="Text 11"/>
          <p:cNvSpPr txBox="1"/>
          <p:nvPr/>
        </p:nvSpPr>
        <p:spPr>
          <a:xfrm>
            <a:off x="3895344" y="1335024"/>
            <a:ext cx="1280160" cy="292608"/>
          </a:xfrm>
          <a:prstGeom prst="rect">
            <a:avLst/>
          </a:prstGeom>
          <a:noFill/>
          <a:ln/>
        </p:spPr>
        <p:txBody>
          <a:bodyPr wrap="square" lIns="0" tIns="0" rIns="0" bIns="0" rtlCol="0" anchor="t"/>
          <a:lstStyle/>
          <a:p>
            <a:pPr algn="ctr" indent="0" marL="0">
              <a:buNone/>
            </a:pPr>
            <a:r>
              <a:rPr lang="en-US" sz="1350" b="1" dirty="0">
                <a:solidFill>
                  <a:srgbClr val="FFFFFF"/>
                </a:solidFill>
                <a:latin typeface="Cambria" pitchFamily="34" charset="0"/>
                <a:ea typeface="Cambria" pitchFamily="34" charset="-122"/>
                <a:cs typeface="Cambria" pitchFamily="34" charset="-120"/>
              </a:rPr>
              <a:t>Memory</a:t>
            </a:r>
            <a:endParaRPr lang="en-US" sz="1350" dirty="0"/>
          </a:p>
        </p:txBody>
      </p:sp>
      <p:sp>
        <p:nvSpPr>
          <p:cNvPr id="14" name="Text 12"/>
          <p:cNvSpPr txBox="1"/>
          <p:nvPr/>
        </p:nvSpPr>
        <p:spPr>
          <a:xfrm>
            <a:off x="3877056" y="1645920"/>
            <a:ext cx="1298448" cy="502920"/>
          </a:xfrm>
          <a:prstGeom prst="rect">
            <a:avLst/>
          </a:prstGeom>
          <a:noFill/>
          <a:ln/>
        </p:spPr>
        <p:txBody>
          <a:bodyPr wrap="square" lIns="0" tIns="0" rIns="0" bIns="0" rtlCol="0" anchor="t"/>
          <a:lstStyle/>
          <a:p>
            <a:pPr algn="ctr" indent="0" marL="0">
              <a:buNone/>
            </a:pPr>
            <a:r>
              <a:rPr lang="en-US" sz="1050" dirty="0">
                <a:solidFill>
                  <a:srgbClr val="D8E8E2"/>
                </a:solidFill>
                <a:latin typeface="Calibri" pitchFamily="34" charset="0"/>
                <a:ea typeface="Calibri" pitchFamily="34" charset="-122"/>
                <a:cs typeface="Calibri" pitchFamily="34" charset="-120"/>
              </a:rPr>
              <a:t>SK Hynix · Samsung</a:t>
            </a:r>
            <a:endParaRPr lang="en-US" sz="1050" dirty="0"/>
          </a:p>
        </p:txBody>
      </p:sp>
      <p:sp>
        <p:nvSpPr>
          <p:cNvPr id="15" name="Text 13"/>
          <p:cNvSpPr txBox="1"/>
          <p:nvPr/>
        </p:nvSpPr>
        <p:spPr>
          <a:xfrm>
            <a:off x="5248656" y="1508760"/>
            <a:ext cx="219456" cy="411480"/>
          </a:xfrm>
          <a:prstGeom prst="rect">
            <a:avLst/>
          </a:prstGeom>
          <a:noFill/>
          <a:ln/>
        </p:spPr>
        <p:txBody>
          <a:bodyPr wrap="square" lIns="0" tIns="0" rIns="0" bIns="0" rtlCol="0" anchor="ctr"/>
          <a:lstStyle/>
          <a:p>
            <a:pPr algn="ctr" indent="0" marL="0">
              <a:buNone/>
            </a:pPr>
            <a:r>
              <a:rPr lang="en-US" sz="2200" b="1" dirty="0">
                <a:solidFill>
                  <a:srgbClr val="1F8A7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449824" y="1261872"/>
            <a:ext cx="1481328" cy="960120"/>
          </a:xfrm>
          <a:prstGeom prst="roundRect">
            <a:avLst>
              <a:gd name="adj" fmla="val 7619"/>
            </a:avLst>
          </a:prstGeom>
          <a:solidFill>
            <a:srgbClr val="E8F2EE"/>
          </a:solidFill>
          <a:ln w="12700">
            <a:solidFill>
              <a:srgbClr val="E8F2EE"/>
            </a:solidFill>
            <a:prstDash val="solid"/>
          </a:ln>
        </p:spPr>
      </p:sp>
      <p:sp>
        <p:nvSpPr>
          <p:cNvPr id="17" name="Text 15"/>
          <p:cNvSpPr txBox="1"/>
          <p:nvPr/>
        </p:nvSpPr>
        <p:spPr>
          <a:xfrm>
            <a:off x="5559552" y="1335024"/>
            <a:ext cx="1280160" cy="292608"/>
          </a:xfrm>
          <a:prstGeom prst="rect">
            <a:avLst/>
          </a:prstGeom>
          <a:noFill/>
          <a:ln/>
        </p:spPr>
        <p:txBody>
          <a:bodyPr wrap="square" lIns="0" tIns="0" rIns="0" bIns="0" rtlCol="0" anchor="t"/>
          <a:lstStyle/>
          <a:p>
            <a:pPr algn="ctr" indent="0" marL="0">
              <a:buNone/>
            </a:pPr>
            <a:r>
              <a:rPr lang="en-US" sz="1350" b="1" dirty="0">
                <a:solidFill>
                  <a:srgbClr val="0F2A3D"/>
                </a:solidFill>
                <a:latin typeface="Cambria" pitchFamily="34" charset="0"/>
                <a:ea typeface="Cambria" pitchFamily="34" charset="-122"/>
                <a:cs typeface="Cambria" pitchFamily="34" charset="-120"/>
              </a:rPr>
              <a:t>Equipment</a:t>
            </a:r>
            <a:endParaRPr lang="en-US" sz="1350" dirty="0"/>
          </a:p>
        </p:txBody>
      </p:sp>
      <p:sp>
        <p:nvSpPr>
          <p:cNvPr id="18" name="Text 16"/>
          <p:cNvSpPr txBox="1"/>
          <p:nvPr/>
        </p:nvSpPr>
        <p:spPr>
          <a:xfrm>
            <a:off x="5541264" y="1645920"/>
            <a:ext cx="1298448" cy="502920"/>
          </a:xfrm>
          <a:prstGeom prst="rect">
            <a:avLst/>
          </a:prstGeom>
          <a:noFill/>
          <a:ln/>
        </p:spPr>
        <p:txBody>
          <a:bodyPr wrap="square" lIns="0" tIns="0" rIns="0" bIns="0" rtlCol="0" anchor="t"/>
          <a:lstStyle/>
          <a:p>
            <a:pPr algn="ctr" indent="0" marL="0">
              <a:buNone/>
            </a:pPr>
            <a:r>
              <a:rPr lang="en-US" sz="1050" dirty="0">
                <a:solidFill>
                  <a:srgbClr val="1E2B33"/>
                </a:solidFill>
                <a:latin typeface="Calibri" pitchFamily="34" charset="0"/>
                <a:ea typeface="Calibri" pitchFamily="34" charset="-122"/>
                <a:cs typeface="Calibri" pitchFamily="34" charset="-120"/>
              </a:rPr>
              <a:t>Tokyo Electron · Advantest</a:t>
            </a:r>
            <a:endParaRPr lang="en-US" sz="1050" dirty="0"/>
          </a:p>
        </p:txBody>
      </p:sp>
      <p:sp>
        <p:nvSpPr>
          <p:cNvPr id="19" name="Text 17"/>
          <p:cNvSpPr txBox="1"/>
          <p:nvPr/>
        </p:nvSpPr>
        <p:spPr>
          <a:xfrm>
            <a:off x="6912864" y="1508760"/>
            <a:ext cx="219456" cy="411480"/>
          </a:xfrm>
          <a:prstGeom prst="rect">
            <a:avLst/>
          </a:prstGeom>
          <a:noFill/>
          <a:ln/>
        </p:spPr>
        <p:txBody>
          <a:bodyPr wrap="square" lIns="0" tIns="0" rIns="0" bIns="0" rtlCol="0" anchor="ctr"/>
          <a:lstStyle/>
          <a:p>
            <a:pPr algn="ctr" indent="0" marL="0">
              <a:buNone/>
            </a:pPr>
            <a:r>
              <a:rPr lang="en-US" sz="2200" b="1" dirty="0">
                <a:solidFill>
                  <a:srgbClr val="1F8A70"/>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7114032" y="1261872"/>
            <a:ext cx="1481328" cy="960120"/>
          </a:xfrm>
          <a:prstGeom prst="roundRect">
            <a:avLst>
              <a:gd name="adj" fmla="val 7619"/>
            </a:avLst>
          </a:prstGeom>
          <a:solidFill>
            <a:srgbClr val="0F2A3D"/>
          </a:solidFill>
          <a:ln w="12700">
            <a:solidFill>
              <a:srgbClr val="0F2A3D"/>
            </a:solidFill>
            <a:prstDash val="solid"/>
          </a:ln>
        </p:spPr>
      </p:sp>
      <p:sp>
        <p:nvSpPr>
          <p:cNvPr id="21" name="Text 19"/>
          <p:cNvSpPr txBox="1"/>
          <p:nvPr/>
        </p:nvSpPr>
        <p:spPr>
          <a:xfrm>
            <a:off x="7223760" y="1335024"/>
            <a:ext cx="1280160" cy="292608"/>
          </a:xfrm>
          <a:prstGeom prst="rect">
            <a:avLst/>
          </a:prstGeom>
          <a:noFill/>
          <a:ln/>
        </p:spPr>
        <p:txBody>
          <a:bodyPr wrap="square" lIns="0" tIns="0" rIns="0" bIns="0" rtlCol="0" anchor="t"/>
          <a:lstStyle/>
          <a:p>
            <a:pPr algn="ctr" indent="0" marL="0">
              <a:buNone/>
            </a:pPr>
            <a:r>
              <a:rPr lang="en-US" sz="1350" b="1" dirty="0">
                <a:solidFill>
                  <a:srgbClr val="FFFFFF"/>
                </a:solidFill>
                <a:latin typeface="Cambria" pitchFamily="34" charset="0"/>
                <a:ea typeface="Cambria" pitchFamily="34" charset="-122"/>
                <a:cs typeface="Cambria" pitchFamily="34" charset="-120"/>
              </a:rPr>
              <a:t>Platforms</a:t>
            </a:r>
            <a:endParaRPr lang="en-US" sz="1350" dirty="0"/>
          </a:p>
        </p:txBody>
      </p:sp>
      <p:sp>
        <p:nvSpPr>
          <p:cNvPr id="22" name="Text 20"/>
          <p:cNvSpPr txBox="1"/>
          <p:nvPr/>
        </p:nvSpPr>
        <p:spPr>
          <a:xfrm>
            <a:off x="7205472" y="1645920"/>
            <a:ext cx="1298448" cy="502920"/>
          </a:xfrm>
          <a:prstGeom prst="rect">
            <a:avLst/>
          </a:prstGeom>
          <a:noFill/>
          <a:ln/>
        </p:spPr>
        <p:txBody>
          <a:bodyPr wrap="square" lIns="0" tIns="0" rIns="0" bIns="0" rtlCol="0" anchor="t"/>
          <a:lstStyle/>
          <a:p>
            <a:pPr algn="ctr" indent="0" marL="0">
              <a:buNone/>
            </a:pPr>
            <a:r>
              <a:rPr lang="en-US" sz="1050" dirty="0">
                <a:solidFill>
                  <a:srgbClr val="D8E8E2"/>
                </a:solidFill>
                <a:latin typeface="Calibri" pitchFamily="34" charset="0"/>
                <a:ea typeface="Calibri" pitchFamily="34" charset="-122"/>
                <a:cs typeface="Calibri" pitchFamily="34" charset="-120"/>
              </a:rPr>
              <a:t>Tencent · Alibaba · Xiaomi</a:t>
            </a:r>
            <a:endParaRPr lang="en-US" sz="1050" dirty="0"/>
          </a:p>
        </p:txBody>
      </p:sp>
      <p:sp>
        <p:nvSpPr>
          <p:cNvPr id="23" name="Text 21"/>
          <p:cNvSpPr txBox="1"/>
          <p:nvPr/>
        </p:nvSpPr>
        <p:spPr>
          <a:xfrm>
            <a:off x="457200" y="2286000"/>
            <a:ext cx="8229600" cy="274320"/>
          </a:xfrm>
          <a:prstGeom prst="rect">
            <a:avLst/>
          </a:prstGeom>
          <a:noFill/>
          <a:ln/>
        </p:spPr>
        <p:txBody>
          <a:bodyPr wrap="square" lIns="0" tIns="0" rIns="0" bIns="0" rtlCol="0" anchor="t"/>
          <a:lstStyle/>
          <a:p>
            <a:pPr indent="0" marL="0">
              <a:buNone/>
            </a:pPr>
            <a:r>
              <a:rPr lang="en-US" sz="1150" i="1" dirty="0">
                <a:solidFill>
                  <a:srgbClr val="62717A"/>
                </a:solidFill>
                <a:latin typeface="Calibri" pitchFamily="34" charset="0"/>
                <a:ea typeface="Calibri" pitchFamily="34" charset="-122"/>
                <a:cs typeface="Calibri" pitchFamily="34" charset="-120"/>
              </a:rPr>
              <a:t>The AI value chain runs through Taiwan, Korea, Japan and China. Our basket owns every link.</a:t>
            </a:r>
            <a:endParaRPr lang="en-US" sz="1150" dirty="0"/>
          </a:p>
        </p:txBody>
      </p:sp>
      <p:sp>
        <p:nvSpPr>
          <p:cNvPr id="24" name="Shape 22"/>
          <p:cNvSpPr/>
          <p:nvPr/>
        </p:nvSpPr>
        <p:spPr>
          <a:xfrm>
            <a:off x="457200" y="2724912"/>
            <a:ext cx="420624" cy="420624"/>
          </a:xfrm>
          <a:prstGeom prst="ellipse">
            <a:avLst/>
          </a:prstGeom>
          <a:solidFill>
            <a:srgbClr val="1F8A70"/>
          </a:solidFill>
          <a:ln/>
        </p:spPr>
      </p:sp>
      <p:sp>
        <p:nvSpPr>
          <p:cNvPr id="25" name="Text 23"/>
          <p:cNvSpPr txBox="1"/>
          <p:nvPr/>
        </p:nvSpPr>
        <p:spPr>
          <a:xfrm>
            <a:off x="457200" y="2724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26" name="Text 24"/>
          <p:cNvSpPr txBox="1"/>
          <p:nvPr/>
        </p:nvSpPr>
        <p:spPr>
          <a:xfrm>
            <a:off x="987552" y="2770632"/>
            <a:ext cx="2103120" cy="365760"/>
          </a:xfrm>
          <a:prstGeom prst="rect">
            <a:avLst/>
          </a:prstGeom>
          <a:noFill/>
          <a:ln/>
        </p:spPr>
        <p:txBody>
          <a:bodyPr wrap="square" lIns="0" tIns="0" rIns="0" bIns="0" rtlCol="0" anchor="t"/>
          <a:lstStyle/>
          <a:p>
            <a:pPr indent="0" marL="0">
              <a:buNone/>
            </a:pPr>
            <a:r>
              <a:rPr lang="en-US" sz="1400" b="1" dirty="0">
                <a:solidFill>
                  <a:srgbClr val="0F2A3D"/>
                </a:solidFill>
                <a:latin typeface="Cambria" pitchFamily="34" charset="0"/>
                <a:ea typeface="Cambria" pitchFamily="34" charset="-122"/>
                <a:cs typeface="Cambria" pitchFamily="34" charset="-120"/>
              </a:rPr>
              <a:t>Structural AI capex</a:t>
            </a:r>
            <a:endParaRPr lang="en-US" sz="1400" dirty="0"/>
          </a:p>
        </p:txBody>
      </p:sp>
      <p:sp>
        <p:nvSpPr>
          <p:cNvPr id="27" name="Text 25"/>
          <p:cNvSpPr txBox="1"/>
          <p:nvPr/>
        </p:nvSpPr>
        <p:spPr>
          <a:xfrm>
            <a:off x="457200" y="3246120"/>
            <a:ext cx="2606040" cy="1371600"/>
          </a:xfrm>
          <a:prstGeom prst="rect">
            <a:avLst/>
          </a:prstGeom>
          <a:noFill/>
          <a:ln/>
        </p:spPr>
        <p:txBody>
          <a:bodyPr wrap="square" lIns="0" tIns="0" rIns="0" bIns="0" rtlCol="0" anchor="t"/>
          <a:lstStyle/>
          <a:p>
            <a:pPr indent="0" marL="0">
              <a:buNone/>
            </a:pPr>
            <a:r>
              <a:rPr lang="en-US" sz="1150" dirty="0">
                <a:solidFill>
                  <a:srgbClr val="1E2B33"/>
                </a:solidFill>
                <a:latin typeface="Calibri" pitchFamily="34" charset="0"/>
                <a:ea typeface="Calibri" pitchFamily="34" charset="-122"/>
                <a:cs typeface="Calibri" pitchFamily="34" charset="-120"/>
              </a:rPr>
              <a:t>Data-centre and AI spending drives demand for leading-edge chips, HBM memory and test equipment: segments Asian firms dominate.</a:t>
            </a:r>
            <a:endParaRPr lang="en-US" sz="1150" dirty="0"/>
          </a:p>
        </p:txBody>
      </p:sp>
      <p:sp>
        <p:nvSpPr>
          <p:cNvPr id="28" name="Shape 26"/>
          <p:cNvSpPr/>
          <p:nvPr/>
        </p:nvSpPr>
        <p:spPr>
          <a:xfrm>
            <a:off x="3246120" y="2724912"/>
            <a:ext cx="420624" cy="420624"/>
          </a:xfrm>
          <a:prstGeom prst="ellipse">
            <a:avLst/>
          </a:prstGeom>
          <a:solidFill>
            <a:srgbClr val="1C4460"/>
          </a:solidFill>
          <a:ln/>
        </p:spPr>
      </p:sp>
      <p:sp>
        <p:nvSpPr>
          <p:cNvPr id="29" name="Text 27"/>
          <p:cNvSpPr txBox="1"/>
          <p:nvPr/>
        </p:nvSpPr>
        <p:spPr>
          <a:xfrm>
            <a:off x="3246120" y="2724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30" name="Text 28"/>
          <p:cNvSpPr txBox="1"/>
          <p:nvPr/>
        </p:nvSpPr>
        <p:spPr>
          <a:xfrm>
            <a:off x="3776472" y="2770632"/>
            <a:ext cx="2103120" cy="365760"/>
          </a:xfrm>
          <a:prstGeom prst="rect">
            <a:avLst/>
          </a:prstGeom>
          <a:noFill/>
          <a:ln/>
        </p:spPr>
        <p:txBody>
          <a:bodyPr wrap="square" lIns="0" tIns="0" rIns="0" bIns="0" rtlCol="0" anchor="t"/>
          <a:lstStyle/>
          <a:p>
            <a:pPr indent="0" marL="0">
              <a:buNone/>
            </a:pPr>
            <a:r>
              <a:rPr lang="en-US" sz="1400" b="1" dirty="0">
                <a:solidFill>
                  <a:srgbClr val="0F2A3D"/>
                </a:solidFill>
                <a:latin typeface="Cambria" pitchFamily="34" charset="0"/>
                <a:ea typeface="Cambria" pitchFamily="34" charset="-122"/>
                <a:cs typeface="Cambria" pitchFamily="34" charset="-120"/>
              </a:rPr>
              <a:t>Champions go digital</a:t>
            </a:r>
            <a:endParaRPr lang="en-US" sz="1400" dirty="0"/>
          </a:p>
        </p:txBody>
      </p:sp>
      <p:sp>
        <p:nvSpPr>
          <p:cNvPr id="31" name="Text 29"/>
          <p:cNvSpPr txBox="1"/>
          <p:nvPr/>
        </p:nvSpPr>
        <p:spPr>
          <a:xfrm>
            <a:off x="3246120" y="3246120"/>
            <a:ext cx="2606040" cy="1371600"/>
          </a:xfrm>
          <a:prstGeom prst="rect">
            <a:avLst/>
          </a:prstGeom>
          <a:noFill/>
          <a:ln/>
        </p:spPr>
        <p:txBody>
          <a:bodyPr wrap="square" lIns="0" tIns="0" rIns="0" bIns="0" rtlCol="0" anchor="t"/>
          <a:lstStyle/>
          <a:p>
            <a:pPr indent="0" marL="0">
              <a:buNone/>
            </a:pPr>
            <a:r>
              <a:rPr lang="en-US" sz="1150" dirty="0">
                <a:solidFill>
                  <a:srgbClr val="1E2B33"/>
                </a:solidFill>
                <a:latin typeface="Calibri" pitchFamily="34" charset="0"/>
                <a:ea typeface="Calibri" pitchFamily="34" charset="-122"/>
                <a:cs typeface="Calibri" pitchFamily="34" charset="-120"/>
              </a:rPr>
              <a:t>Japan's governance reforms and Korea's Value-up programme reward incumbents moving into digital: Sony, Hitachi, SoftBank, Keyence.</a:t>
            </a:r>
            <a:endParaRPr lang="en-US" sz="1150" dirty="0"/>
          </a:p>
        </p:txBody>
      </p:sp>
      <p:sp>
        <p:nvSpPr>
          <p:cNvPr id="32" name="Shape 30"/>
          <p:cNvSpPr/>
          <p:nvPr/>
        </p:nvSpPr>
        <p:spPr>
          <a:xfrm>
            <a:off x="6035040" y="2724912"/>
            <a:ext cx="420624" cy="420624"/>
          </a:xfrm>
          <a:prstGeom prst="ellipse">
            <a:avLst/>
          </a:prstGeom>
          <a:solidFill>
            <a:srgbClr val="D9482B"/>
          </a:solidFill>
          <a:ln/>
        </p:spPr>
      </p:sp>
      <p:sp>
        <p:nvSpPr>
          <p:cNvPr id="33" name="Text 31"/>
          <p:cNvSpPr txBox="1"/>
          <p:nvPr/>
        </p:nvSpPr>
        <p:spPr>
          <a:xfrm>
            <a:off x="6035040" y="2724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34" name="Text 32"/>
          <p:cNvSpPr txBox="1"/>
          <p:nvPr/>
        </p:nvSpPr>
        <p:spPr>
          <a:xfrm>
            <a:off x="6565392" y="2770632"/>
            <a:ext cx="2103120" cy="365760"/>
          </a:xfrm>
          <a:prstGeom prst="rect">
            <a:avLst/>
          </a:prstGeom>
          <a:noFill/>
          <a:ln/>
        </p:spPr>
        <p:txBody>
          <a:bodyPr wrap="square" lIns="0" tIns="0" rIns="0" bIns="0" rtlCol="0" anchor="t"/>
          <a:lstStyle/>
          <a:p>
            <a:pPr indent="0" marL="0">
              <a:buNone/>
            </a:pPr>
            <a:r>
              <a:rPr lang="en-US" sz="1400" b="1" dirty="0">
                <a:solidFill>
                  <a:srgbClr val="0F2A3D"/>
                </a:solidFill>
                <a:latin typeface="Cambria" pitchFamily="34" charset="0"/>
                <a:ea typeface="Cambria" pitchFamily="34" charset="-122"/>
                <a:cs typeface="Cambria" pitchFamily="34" charset="-120"/>
              </a:rPr>
              <a:t>Protection is cheap now</a:t>
            </a:r>
            <a:endParaRPr lang="en-US" sz="1400" dirty="0"/>
          </a:p>
        </p:txBody>
      </p:sp>
      <p:sp>
        <p:nvSpPr>
          <p:cNvPr id="35" name="Text 33"/>
          <p:cNvSpPr txBox="1"/>
          <p:nvPr/>
        </p:nvSpPr>
        <p:spPr>
          <a:xfrm>
            <a:off x="6035040" y="3246120"/>
            <a:ext cx="2606040" cy="1371600"/>
          </a:xfrm>
          <a:prstGeom prst="rect">
            <a:avLst/>
          </a:prstGeom>
          <a:noFill/>
          <a:ln/>
        </p:spPr>
        <p:txBody>
          <a:bodyPr wrap="square" lIns="0" tIns="0" rIns="0" bIns="0" rtlCol="0" anchor="t"/>
          <a:lstStyle/>
          <a:p>
            <a:pPr indent="0" marL="0">
              <a:buNone/>
            </a:pPr>
            <a:r>
              <a:rPr lang="en-US" sz="1150" dirty="0">
                <a:solidFill>
                  <a:srgbClr val="1E2B33"/>
                </a:solidFill>
                <a:latin typeface="Calibri" pitchFamily="34" charset="0"/>
                <a:ea typeface="Calibri" pitchFamily="34" charset="-122"/>
                <a:cs typeface="Calibri" pitchFamily="34" charset="-120"/>
              </a:rPr>
              <a:t>USD funding at 5.75% for 7Y buys the bond floor at 67.6%. Geopolitics (US–China, Taiwan, export controls) is why the family wants a floor.</a:t>
            </a:r>
            <a:endParaRPr lang="en-US" sz="1150" dirty="0"/>
          </a:p>
        </p:txBody>
      </p:sp>
      <p:sp>
        <p:nvSpPr>
          <p:cNvPr id="36" name="Text 34"/>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Why a protected note on a vol-target index</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We tested four alternatives and rejected each for a reason the family will recognise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914400"/>
        </p:xfrm>
        <a:graphic>
          <a:graphicData uri="http://schemas.openxmlformats.org/drawingml/2006/table">
            <a:tbl>
              <a:tblPr/>
              <a:tblGrid>
                <a:gridCol w="2011680"/>
                <a:gridCol w="1828800"/>
                <a:gridCol w="438912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Alternative</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offers</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we rejected it</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r>
              <a:tr h="457200">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Direct equity basket</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Full upside</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28–51% chance of losing money over 7Y in our simulation; no floor for heirs</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Autocall / high-coupon note</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Income, early exit</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Client wants growth, not income; early call forces reinvestment of a legacy pool</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JPY-denominated note</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Matches home currency</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JPY 7Y funding 3.23% leaves ~half the option budget; adds to existing JPY risk</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Protected note on raw basket</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Simple call on 13 stocks</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No liquid 7Y Asian single-stock vol: dealer charges ~30% IV, so only 95% participation</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Asia Digital Bridge Note</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Protected, 164% participation</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50" dirty="0">
                          <a:solidFill>
                            <a:srgbClr val="1E2B33"/>
                          </a:solidFill>
                          <a:latin typeface="Calibri" pitchFamily="34" charset="0"/>
                          <a:ea typeface="Calibri" pitchFamily="34" charset="-122"/>
                          <a:cs typeface="Calibri" pitchFamily="34" charset="-120"/>
                        </a:rPr>
                        <a:t>Index vol fixed at 10%: hedgeable by Natixis, cheap to buy, de-risks itself in a crash</a:t>
                      </a:r>
                      <a:endParaRPr lang="en-US" sz="10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4114800"/>
            <a:ext cx="8229600" cy="548640"/>
          </a:xfrm>
          <a:prstGeom prst="roundRect">
            <a:avLst>
              <a:gd name="adj" fmla="val 13333"/>
            </a:avLst>
          </a:prstGeom>
          <a:solidFill>
            <a:srgbClr val="E8F2EE"/>
          </a:solidFill>
          <a:ln w="12700">
            <a:solidFill>
              <a:srgbClr val="E8F2EE"/>
            </a:solidFill>
            <a:prstDash val="solid"/>
          </a:ln>
        </p:spPr>
      </p:sp>
      <p:sp>
        <p:nvSpPr>
          <p:cNvPr id="6" name="Text 3"/>
          <p:cNvSpPr txBox="1"/>
          <p:nvPr/>
        </p:nvSpPr>
        <p:spPr>
          <a:xfrm>
            <a:off x="640080" y="4142232"/>
            <a:ext cx="7863840" cy="493776"/>
          </a:xfrm>
          <a:prstGeom prst="rect">
            <a:avLst/>
          </a:prstGeom>
          <a:noFill/>
          <a:ln/>
        </p:spPr>
        <p:txBody>
          <a:bodyPr wrap="square" lIns="0" tIns="0" rIns="0" bIns="0" rtlCol="0" anchor="ctr"/>
          <a:lstStyle/>
          <a:p>
            <a:pPr indent="0" marL="0">
              <a:buNone/>
            </a:pPr>
            <a:r>
              <a:rPr lang="en-US" sz="1150" i="1" dirty="0">
                <a:solidFill>
                  <a:srgbClr val="0F2A3D"/>
                </a:solidFill>
                <a:latin typeface="Calibri" pitchFamily="34" charset="0"/>
                <a:ea typeface="Calibri" pitchFamily="34" charset="-122"/>
                <a:cs typeface="Calibri" pitchFamily="34" charset="-120"/>
              </a:rPr>
              <a:t>Unit 15 principle: a structure is justified by the alternatives it beats. Each rejected option fails one client need: protection, growth, or cost.</a:t>
            </a:r>
            <a:endParaRPr lang="en-US" sz="1150" dirty="0"/>
          </a:p>
        </p:txBody>
      </p:sp>
      <p:sp>
        <p:nvSpPr>
          <p:cNvPr id="7" name="Text 4"/>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Indicative pricing: Monte Carlo with placeholder market inputs; funding from the 2026 rules grid. To be refreshed with Bloomberg data as of 17 Sep 2026.</a:t>
            </a:r>
            <a:endParaRPr lang="en-US" sz="800" dirty="0"/>
          </a:p>
        </p:txBody>
      </p:sp>
      <p:sp>
        <p:nvSpPr>
          <p:cNvPr id="8" name="Text 5"/>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3</a:t>
            </a:r>
            <a:endParaRPr lang="en-US" sz="900" dirty="0"/>
          </a:p>
        </p:txBody>
      </p:sp>
      <p:sp>
        <p:nvSpPr>
          <p:cNvPr id="10" name="Shape 6"/>
          <p:cNvSpPr/>
          <p:nvPr/>
        </p:nvSpPr>
        <p:spPr>
          <a:xfrm>
            <a:off x="457200" y="3547872"/>
            <a:ext cx="8229600" cy="457200"/>
          </a:xfrm>
          <a:prstGeom prst="rect">
            <a:avLst/>
          </a:prstGeom>
          <a:solidFill>
            <a:srgbClr val="1F8A70">
              <a:alpha val="15000"/>
            </a:srgbClr>
          </a:solidFill>
          <a:ln w="15875">
            <a:solidFill>
              <a:srgbClr val="1F8A7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The Asia Digital Bridge Note</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Where every dollar of the USD 100Mn goes, and what it buys</a:t>
            </a:r>
            <a:endParaRPr lang="en-US" sz="1300" dirty="0"/>
          </a:p>
        </p:txBody>
      </p:sp>
      <p:graphicFrame>
        <p:nvGraphicFramePr>
          <p:cNvPr id="4" name="Chart 0" descr=""/>
          <p:cNvGraphicFramePr/>
          <p:nvPr/>
        </p:nvGraphicFramePr>
        <p:xfrm>
          <a:off x="365760" y="1143000"/>
          <a:ext cx="329184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325880" y="2130552"/>
            <a:ext cx="1371600" cy="365760"/>
          </a:xfrm>
          <a:prstGeom prst="rect">
            <a:avLst/>
          </a:prstGeom>
          <a:noFill/>
          <a:ln/>
        </p:spPr>
        <p:txBody>
          <a:bodyPr wrap="square" lIns="0" tIns="0" rIns="0" bIns="0" rtlCol="0" anchor="t"/>
          <a:lstStyle/>
          <a:p>
            <a:pPr algn="ctr" indent="0" marL="0">
              <a:buNone/>
            </a:pPr>
            <a:r>
              <a:rPr lang="en-US" sz="1500" b="1" dirty="0">
                <a:solidFill>
                  <a:srgbClr val="0F2A3D"/>
                </a:solidFill>
                <a:latin typeface="Cambria" pitchFamily="34" charset="0"/>
                <a:ea typeface="Cambria" pitchFamily="34" charset="-122"/>
                <a:cs typeface="Cambria" pitchFamily="34" charset="-120"/>
              </a:rPr>
              <a:t>USD 100Mn</a:t>
            </a:r>
            <a:endParaRPr lang="en-US" sz="1500" dirty="0"/>
          </a:p>
        </p:txBody>
      </p:sp>
      <p:sp>
        <p:nvSpPr>
          <p:cNvPr id="6" name="Text 3"/>
          <p:cNvSpPr txBox="1"/>
          <p:nvPr/>
        </p:nvSpPr>
        <p:spPr>
          <a:xfrm>
            <a:off x="3977640" y="1188720"/>
            <a:ext cx="4754880" cy="320040"/>
          </a:xfrm>
          <a:prstGeom prst="rect">
            <a:avLst/>
          </a:prstGeom>
          <a:noFill/>
          <a:ln/>
        </p:spPr>
        <p:txBody>
          <a:bodyPr wrap="square" lIns="0" tIns="0" rIns="0" bIns="0" rtlCol="0" anchor="t"/>
          <a:lstStyle/>
          <a:p>
            <a:pPr indent="0" marL="0">
              <a:buNone/>
            </a:pPr>
            <a:r>
              <a:rPr lang="en-US" sz="1400" b="1" dirty="0">
                <a:solidFill>
                  <a:srgbClr val="0F2A3D"/>
                </a:solidFill>
                <a:latin typeface="Cambria" pitchFamily="34" charset="0"/>
                <a:ea typeface="Cambria" pitchFamily="34" charset="-122"/>
                <a:cs typeface="Cambria" pitchFamily="34" charset="-120"/>
              </a:rPr>
              <a:t>Underlying: 13 names, equal weight, USD quanto</a:t>
            </a:r>
            <a:endParaRPr lang="en-US" sz="1400" dirty="0"/>
          </a:p>
        </p:txBody>
      </p:sp>
      <p:sp>
        <p:nvSpPr>
          <p:cNvPr id="7" name="Shape 4"/>
          <p:cNvSpPr/>
          <p:nvPr/>
        </p:nvSpPr>
        <p:spPr>
          <a:xfrm>
            <a:off x="3977640" y="1673352"/>
            <a:ext cx="201168" cy="201168"/>
          </a:xfrm>
          <a:prstGeom prst="ellipse">
            <a:avLst/>
          </a:prstGeom>
          <a:solidFill>
            <a:srgbClr val="1F8A70"/>
          </a:solidFill>
          <a:ln/>
        </p:spPr>
      </p:sp>
      <p:sp>
        <p:nvSpPr>
          <p:cNvPr id="8" name="Text 5"/>
          <p:cNvSpPr txBox="1"/>
          <p:nvPr/>
        </p:nvSpPr>
        <p:spPr>
          <a:xfrm>
            <a:off x="4297680" y="1600200"/>
            <a:ext cx="4434840" cy="274320"/>
          </a:xfrm>
          <a:prstGeom prst="rect">
            <a:avLst/>
          </a:prstGeom>
          <a:noFill/>
          <a:ln/>
        </p:spPr>
        <p:txBody>
          <a:bodyPr wrap="square" lIns="0" tIns="0" rIns="0" bIns="0" rtlCol="0" anchor="t"/>
          <a:lstStyle/>
          <a:p>
            <a:pPr indent="0" marL="0">
              <a:buNone/>
            </a:pPr>
            <a:r>
              <a:rPr lang="en-US" sz="1200" b="1" dirty="0">
                <a:solidFill>
                  <a:srgbClr val="1E2B33"/>
                </a:solidFill>
                <a:latin typeface="Calibri" pitchFamily="34" charset="0"/>
                <a:ea typeface="Calibri" pitchFamily="34" charset="-122"/>
                <a:cs typeface="Calibri" pitchFamily="34" charset="-120"/>
              </a:rPr>
              <a:t>Semiconductors (6)</a:t>
            </a:r>
            <a:endParaRPr lang="en-US" sz="1200" dirty="0"/>
          </a:p>
        </p:txBody>
      </p:sp>
      <p:sp>
        <p:nvSpPr>
          <p:cNvPr id="9" name="Text 6"/>
          <p:cNvSpPr txBox="1"/>
          <p:nvPr/>
        </p:nvSpPr>
        <p:spPr>
          <a:xfrm>
            <a:off x="4297680" y="1874520"/>
            <a:ext cx="4434840" cy="365760"/>
          </a:xfrm>
          <a:prstGeom prst="rect">
            <a:avLst/>
          </a:prstGeom>
          <a:noFill/>
          <a:ln/>
        </p:spPr>
        <p:txBody>
          <a:bodyPr wrap="square" lIns="0" tIns="0" rIns="0" bIns="0" rtlCol="0" anchor="t"/>
          <a:lstStyle/>
          <a:p>
            <a:pPr indent="0" marL="0">
              <a:buNone/>
            </a:pPr>
            <a:r>
              <a:rPr lang="en-US" sz="1100" dirty="0">
                <a:solidFill>
                  <a:srgbClr val="62717A"/>
                </a:solidFill>
                <a:latin typeface="Calibri" pitchFamily="34" charset="0"/>
                <a:ea typeface="Calibri" pitchFamily="34" charset="-122"/>
                <a:cs typeface="Calibri" pitchFamily="34" charset="-120"/>
              </a:rPr>
              <a:t>TSMC · Samsung · SK Hynix · MediaTek · Tokyo Electron · Advantest</a:t>
            </a:r>
            <a:endParaRPr lang="en-US" sz="1100" dirty="0"/>
          </a:p>
        </p:txBody>
      </p:sp>
      <p:sp>
        <p:nvSpPr>
          <p:cNvPr id="10" name="Shape 7"/>
          <p:cNvSpPr/>
          <p:nvPr/>
        </p:nvSpPr>
        <p:spPr>
          <a:xfrm>
            <a:off x="3977640" y="2386584"/>
            <a:ext cx="201168" cy="201168"/>
          </a:xfrm>
          <a:prstGeom prst="ellipse">
            <a:avLst/>
          </a:prstGeom>
          <a:solidFill>
            <a:srgbClr val="1C4460"/>
          </a:solidFill>
          <a:ln/>
        </p:spPr>
      </p:sp>
      <p:sp>
        <p:nvSpPr>
          <p:cNvPr id="11" name="Text 8"/>
          <p:cNvSpPr txBox="1"/>
          <p:nvPr/>
        </p:nvSpPr>
        <p:spPr>
          <a:xfrm>
            <a:off x="4297680" y="2313432"/>
            <a:ext cx="4434840" cy="274320"/>
          </a:xfrm>
          <a:prstGeom prst="rect">
            <a:avLst/>
          </a:prstGeom>
          <a:noFill/>
          <a:ln/>
        </p:spPr>
        <p:txBody>
          <a:bodyPr wrap="square" lIns="0" tIns="0" rIns="0" bIns="0" rtlCol="0" anchor="t"/>
          <a:lstStyle/>
          <a:p>
            <a:pPr indent="0" marL="0">
              <a:buNone/>
            </a:pPr>
            <a:r>
              <a:rPr lang="en-US" sz="1200" b="1" dirty="0">
                <a:solidFill>
                  <a:srgbClr val="1E2B33"/>
                </a:solidFill>
                <a:latin typeface="Calibri" pitchFamily="34" charset="0"/>
                <a:ea typeface="Calibri" pitchFamily="34" charset="-122"/>
                <a:cs typeface="Calibri" pitchFamily="34" charset="-120"/>
              </a:rPr>
              <a:t>Traditional champions going digital (4)</a:t>
            </a:r>
            <a:endParaRPr lang="en-US" sz="1200" dirty="0"/>
          </a:p>
        </p:txBody>
      </p:sp>
      <p:sp>
        <p:nvSpPr>
          <p:cNvPr id="12" name="Text 9"/>
          <p:cNvSpPr txBox="1"/>
          <p:nvPr/>
        </p:nvSpPr>
        <p:spPr>
          <a:xfrm>
            <a:off x="4297680" y="2587752"/>
            <a:ext cx="4434840" cy="365760"/>
          </a:xfrm>
          <a:prstGeom prst="rect">
            <a:avLst/>
          </a:prstGeom>
          <a:noFill/>
          <a:ln/>
        </p:spPr>
        <p:txBody>
          <a:bodyPr wrap="square" lIns="0" tIns="0" rIns="0" bIns="0" rtlCol="0" anchor="t"/>
          <a:lstStyle/>
          <a:p>
            <a:pPr indent="0" marL="0">
              <a:buNone/>
            </a:pPr>
            <a:r>
              <a:rPr lang="en-US" sz="1100" dirty="0">
                <a:solidFill>
                  <a:srgbClr val="62717A"/>
                </a:solidFill>
                <a:latin typeface="Calibri" pitchFamily="34" charset="0"/>
                <a:ea typeface="Calibri" pitchFamily="34" charset="-122"/>
                <a:cs typeface="Calibri" pitchFamily="34" charset="-120"/>
              </a:rPr>
              <a:t>Sony · Hitachi · SoftBank Group · Keyence</a:t>
            </a:r>
            <a:endParaRPr lang="en-US" sz="1100" dirty="0"/>
          </a:p>
        </p:txBody>
      </p:sp>
      <p:sp>
        <p:nvSpPr>
          <p:cNvPr id="13" name="Shape 10"/>
          <p:cNvSpPr/>
          <p:nvPr/>
        </p:nvSpPr>
        <p:spPr>
          <a:xfrm>
            <a:off x="3977640" y="3099816"/>
            <a:ext cx="201168" cy="201168"/>
          </a:xfrm>
          <a:prstGeom prst="ellipse">
            <a:avLst/>
          </a:prstGeom>
          <a:solidFill>
            <a:srgbClr val="D9482B"/>
          </a:solidFill>
          <a:ln/>
        </p:spPr>
      </p:sp>
      <p:sp>
        <p:nvSpPr>
          <p:cNvPr id="14" name="Text 11"/>
          <p:cNvSpPr txBox="1"/>
          <p:nvPr/>
        </p:nvSpPr>
        <p:spPr>
          <a:xfrm>
            <a:off x="4297680" y="3026664"/>
            <a:ext cx="4434840" cy="274320"/>
          </a:xfrm>
          <a:prstGeom prst="rect">
            <a:avLst/>
          </a:prstGeom>
          <a:noFill/>
          <a:ln/>
        </p:spPr>
        <p:txBody>
          <a:bodyPr wrap="square" lIns="0" tIns="0" rIns="0" bIns="0" rtlCol="0" anchor="t"/>
          <a:lstStyle/>
          <a:p>
            <a:pPr indent="0" marL="0">
              <a:buNone/>
            </a:pPr>
            <a:r>
              <a:rPr lang="en-US" sz="1200" b="1" dirty="0">
                <a:solidFill>
                  <a:srgbClr val="1E2B33"/>
                </a:solidFill>
                <a:latin typeface="Calibri" pitchFamily="34" charset="0"/>
                <a:ea typeface="Calibri" pitchFamily="34" charset="-122"/>
                <a:cs typeface="Calibri" pitchFamily="34" charset="-120"/>
              </a:rPr>
              <a:t>Platforms (3)</a:t>
            </a:r>
            <a:endParaRPr lang="en-US" sz="1200" dirty="0"/>
          </a:p>
        </p:txBody>
      </p:sp>
      <p:sp>
        <p:nvSpPr>
          <p:cNvPr id="15" name="Text 12"/>
          <p:cNvSpPr txBox="1"/>
          <p:nvPr/>
        </p:nvSpPr>
        <p:spPr>
          <a:xfrm>
            <a:off x="4297680" y="3300984"/>
            <a:ext cx="4434840" cy="365760"/>
          </a:xfrm>
          <a:prstGeom prst="rect">
            <a:avLst/>
          </a:prstGeom>
          <a:noFill/>
          <a:ln/>
        </p:spPr>
        <p:txBody>
          <a:bodyPr wrap="square" lIns="0" tIns="0" rIns="0" bIns="0" rtlCol="0" anchor="t"/>
          <a:lstStyle/>
          <a:p>
            <a:pPr indent="0" marL="0">
              <a:buNone/>
            </a:pPr>
            <a:r>
              <a:rPr lang="en-US" sz="1100" dirty="0">
                <a:solidFill>
                  <a:srgbClr val="62717A"/>
                </a:solidFill>
                <a:latin typeface="Calibri" pitchFamily="34" charset="0"/>
                <a:ea typeface="Calibri" pitchFamily="34" charset="-122"/>
                <a:cs typeface="Calibri" pitchFamily="34" charset="-120"/>
              </a:rPr>
              <a:t>Tencent · Alibaba · Xiaomi</a:t>
            </a:r>
            <a:endParaRPr lang="en-US" sz="1100" dirty="0"/>
          </a:p>
        </p:txBody>
      </p:sp>
      <p:sp>
        <p:nvSpPr>
          <p:cNvPr id="16" name="Shape 13"/>
          <p:cNvSpPr/>
          <p:nvPr/>
        </p:nvSpPr>
        <p:spPr>
          <a:xfrm>
            <a:off x="3977640" y="3794760"/>
            <a:ext cx="4754880" cy="868680"/>
          </a:xfrm>
          <a:prstGeom prst="roundRect">
            <a:avLst>
              <a:gd name="adj" fmla="val 8421"/>
            </a:avLst>
          </a:prstGeom>
          <a:solidFill>
            <a:srgbClr val="E8F2EE"/>
          </a:solidFill>
          <a:ln w="12700">
            <a:solidFill>
              <a:srgbClr val="E8F2EE"/>
            </a:solidFill>
            <a:prstDash val="solid"/>
          </a:ln>
        </p:spPr>
      </p:sp>
      <p:sp>
        <p:nvSpPr>
          <p:cNvPr id="17" name="Text 14"/>
          <p:cNvSpPr txBox="1"/>
          <p:nvPr/>
        </p:nvSpPr>
        <p:spPr>
          <a:xfrm>
            <a:off x="4114800" y="3840480"/>
            <a:ext cx="4526280" cy="777240"/>
          </a:xfrm>
          <a:prstGeom prst="rect">
            <a:avLst/>
          </a:prstGeom>
          <a:noFill/>
          <a:ln/>
        </p:spPr>
        <p:txBody>
          <a:bodyPr wrap="square" lIns="0" tIns="0" rIns="0" bIns="0" rtlCol="0" anchor="ctr"/>
          <a:lstStyle/>
          <a:p>
            <a:pPr indent="0" marL="0">
              <a:buNone/>
            </a:pPr>
            <a:r>
              <a:rPr lang="en-US" sz="1050" dirty="0">
                <a:solidFill>
                  <a:srgbClr val="1E2B33"/>
                </a:solidFill>
                <a:latin typeface="Calibri" pitchFamily="34" charset="0"/>
                <a:ea typeface="Calibri" pitchFamily="34" charset="-122"/>
                <a:cs typeface="Calibri" pitchFamily="34" charset="-120"/>
              </a:rPr>
              <a:t>Excluded on purpose: renewables, real estate, data-centre REITs (family overlap) and US-restricted names (e.g. SMIC). All names &gt; USD 250M market cap, &gt; USD 5M daily volume, on Bloomberg.</a:t>
            </a:r>
            <a:endParaRPr lang="en-US" sz="1050" dirty="0"/>
          </a:p>
        </p:txBody>
      </p:sp>
      <p:sp>
        <p:nvSpPr>
          <p:cNvPr id="18" name="Text 15"/>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Indicative pricing: Monte Carlo with placeholder market inputs; funding from the 2026 rules grid. To be refreshed with Bloomberg data as of 17 Sep 2026.</a:t>
            </a:r>
            <a:endParaRPr lang="en-US" sz="800" dirty="0"/>
          </a:p>
        </p:txBody>
      </p:sp>
      <p:sp>
        <p:nvSpPr>
          <p:cNvPr id="19" name="Text 16"/>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An index that cuts its own risk in a panic</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Natixis Asia Digital Bridge 10% Vol-Target Index: how exposure responds to market volatility</a:t>
            </a:r>
            <a:endParaRPr lang="en-US" sz="1300" dirty="0"/>
          </a:p>
        </p:txBody>
      </p:sp>
      <p:graphicFrame>
        <p:nvGraphicFramePr>
          <p:cNvPr id="4" name="Chart 0" descr=""/>
          <p:cNvGraphicFramePr/>
          <p:nvPr/>
        </p:nvGraphicFramePr>
        <p:xfrm>
          <a:off x="365760" y="118872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257800" y="1234440"/>
            <a:ext cx="384048" cy="384048"/>
          </a:xfrm>
          <a:prstGeom prst="ellipse">
            <a:avLst/>
          </a:prstGeom>
          <a:solidFill>
            <a:srgbClr val="1F8A70"/>
          </a:solidFill>
          <a:ln/>
        </p:spPr>
      </p:sp>
      <p:sp>
        <p:nvSpPr>
          <p:cNvPr id="6" name="Text 3"/>
          <p:cNvSpPr txBox="1"/>
          <p:nvPr/>
        </p:nvSpPr>
        <p:spPr>
          <a:xfrm>
            <a:off x="5257800" y="1234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5760720" y="1216152"/>
            <a:ext cx="2926080" cy="274320"/>
          </a:xfrm>
          <a:prstGeom prst="rect">
            <a:avLst/>
          </a:prstGeom>
          <a:noFill/>
          <a:ln/>
        </p:spPr>
        <p:txBody>
          <a:bodyPr wrap="square" lIns="0" tIns="0" rIns="0" bIns="0" rtlCol="0" anchor="t"/>
          <a:lstStyle/>
          <a:p>
            <a:pPr indent="0" marL="0">
              <a:buNone/>
            </a:pPr>
            <a:r>
              <a:rPr lang="en-US" sz="1350" b="1" dirty="0">
                <a:solidFill>
                  <a:srgbClr val="0F2A3D"/>
                </a:solidFill>
                <a:latin typeface="Cambria" pitchFamily="34" charset="0"/>
                <a:ea typeface="Cambria" pitchFamily="34" charset="-122"/>
                <a:cs typeface="Cambria" pitchFamily="34" charset="-120"/>
              </a:rPr>
              <a:t>Measure</a:t>
            </a:r>
            <a:endParaRPr lang="en-US" sz="1350" dirty="0"/>
          </a:p>
        </p:txBody>
      </p:sp>
      <p:sp>
        <p:nvSpPr>
          <p:cNvPr id="8" name="Text 5"/>
          <p:cNvSpPr txBox="1"/>
          <p:nvPr/>
        </p:nvSpPr>
        <p:spPr>
          <a:xfrm>
            <a:off x="5760720" y="1490472"/>
            <a:ext cx="2926080" cy="548640"/>
          </a:xfrm>
          <a:prstGeom prst="rect">
            <a:avLst/>
          </a:prstGeom>
          <a:noFill/>
          <a:ln/>
        </p:spPr>
        <p:txBody>
          <a:bodyPr wrap="square" lIns="0" tIns="0" rIns="0" bIns="0" rtlCol="0" anchor="t"/>
          <a:lstStyle/>
          <a:p>
            <a:pPr indent="0" marL="0">
              <a:buNone/>
            </a:pPr>
            <a:r>
              <a:rPr lang="en-US" sz="1100" dirty="0">
                <a:solidFill>
                  <a:srgbClr val="1E2B33"/>
                </a:solidFill>
                <a:latin typeface="Calibri" pitchFamily="34" charset="0"/>
                <a:ea typeface="Calibri" pitchFamily="34" charset="-122"/>
                <a:cs typeface="Calibri" pitchFamily="34" charset="-120"/>
              </a:rPr>
              <a:t>Basket volatility = max(20-day, 60-day) realised, observed with a 1-day lag</a:t>
            </a:r>
            <a:endParaRPr lang="en-US" sz="1100" dirty="0"/>
          </a:p>
        </p:txBody>
      </p:sp>
      <p:sp>
        <p:nvSpPr>
          <p:cNvPr id="9" name="Shape 6"/>
          <p:cNvSpPr/>
          <p:nvPr/>
        </p:nvSpPr>
        <p:spPr>
          <a:xfrm>
            <a:off x="5257800" y="2103120"/>
            <a:ext cx="384048" cy="384048"/>
          </a:xfrm>
          <a:prstGeom prst="ellipse">
            <a:avLst/>
          </a:prstGeom>
          <a:solidFill>
            <a:srgbClr val="1F8A70"/>
          </a:solidFill>
          <a:ln/>
        </p:spPr>
      </p:sp>
      <p:sp>
        <p:nvSpPr>
          <p:cNvPr id="10" name="Text 7"/>
          <p:cNvSpPr txBox="1"/>
          <p:nvPr/>
        </p:nvSpPr>
        <p:spPr>
          <a:xfrm>
            <a:off x="5257800"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8"/>
          <p:cNvSpPr txBox="1"/>
          <p:nvPr/>
        </p:nvSpPr>
        <p:spPr>
          <a:xfrm>
            <a:off x="5760720" y="2084832"/>
            <a:ext cx="2926080" cy="274320"/>
          </a:xfrm>
          <a:prstGeom prst="rect">
            <a:avLst/>
          </a:prstGeom>
          <a:noFill/>
          <a:ln/>
        </p:spPr>
        <p:txBody>
          <a:bodyPr wrap="square" lIns="0" tIns="0" rIns="0" bIns="0" rtlCol="0" anchor="t"/>
          <a:lstStyle/>
          <a:p>
            <a:pPr indent="0" marL="0">
              <a:buNone/>
            </a:pPr>
            <a:r>
              <a:rPr lang="en-US" sz="1350" b="1" dirty="0">
                <a:solidFill>
                  <a:srgbClr val="0F2A3D"/>
                </a:solidFill>
                <a:latin typeface="Cambria" pitchFamily="34" charset="0"/>
                <a:ea typeface="Cambria" pitchFamily="34" charset="-122"/>
                <a:cs typeface="Cambria" pitchFamily="34" charset="-120"/>
              </a:rPr>
              <a:t>Size</a:t>
            </a:r>
            <a:endParaRPr lang="en-US" sz="1350" dirty="0"/>
          </a:p>
        </p:txBody>
      </p:sp>
      <p:sp>
        <p:nvSpPr>
          <p:cNvPr id="12" name="Text 9"/>
          <p:cNvSpPr txBox="1"/>
          <p:nvPr/>
        </p:nvSpPr>
        <p:spPr>
          <a:xfrm>
            <a:off x="5760720" y="2359152"/>
            <a:ext cx="2926080" cy="548640"/>
          </a:xfrm>
          <a:prstGeom prst="rect">
            <a:avLst/>
          </a:prstGeom>
          <a:noFill/>
          <a:ln/>
        </p:spPr>
        <p:txBody>
          <a:bodyPr wrap="square" lIns="0" tIns="0" rIns="0" bIns="0" rtlCol="0" anchor="t"/>
          <a:lstStyle/>
          <a:p>
            <a:pPr indent="0" marL="0">
              <a:buNone/>
            </a:pPr>
            <a:r>
              <a:rPr lang="en-US" sz="1100" dirty="0">
                <a:solidFill>
                  <a:srgbClr val="1E2B33"/>
                </a:solidFill>
                <a:latin typeface="Calibri" pitchFamily="34" charset="0"/>
                <a:ea typeface="Calibri" pitchFamily="34" charset="-122"/>
                <a:cs typeface="Calibri" pitchFamily="34" charset="-120"/>
              </a:rPr>
              <a:t>Exposure = 10% ÷ volatility, capped at 150%; the rest earns cash</a:t>
            </a:r>
            <a:endParaRPr lang="en-US" sz="1100" dirty="0"/>
          </a:p>
        </p:txBody>
      </p:sp>
      <p:sp>
        <p:nvSpPr>
          <p:cNvPr id="13" name="Shape 10"/>
          <p:cNvSpPr/>
          <p:nvPr/>
        </p:nvSpPr>
        <p:spPr>
          <a:xfrm>
            <a:off x="5257800" y="2971800"/>
            <a:ext cx="384048" cy="384048"/>
          </a:xfrm>
          <a:prstGeom prst="ellipse">
            <a:avLst/>
          </a:prstGeom>
          <a:solidFill>
            <a:srgbClr val="D9482B"/>
          </a:solidFill>
          <a:ln/>
        </p:spPr>
      </p:sp>
      <p:sp>
        <p:nvSpPr>
          <p:cNvPr id="14" name="Text 11"/>
          <p:cNvSpPr txBox="1"/>
          <p:nvPr/>
        </p:nvSpPr>
        <p:spPr>
          <a:xfrm>
            <a:off x="5257800" y="2971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2"/>
          <p:cNvSpPr txBox="1"/>
          <p:nvPr/>
        </p:nvSpPr>
        <p:spPr>
          <a:xfrm>
            <a:off x="5760720" y="2953512"/>
            <a:ext cx="2926080" cy="274320"/>
          </a:xfrm>
          <a:prstGeom prst="rect">
            <a:avLst/>
          </a:prstGeom>
          <a:noFill/>
          <a:ln/>
        </p:spPr>
        <p:txBody>
          <a:bodyPr wrap="square" lIns="0" tIns="0" rIns="0" bIns="0" rtlCol="0" anchor="t"/>
          <a:lstStyle/>
          <a:p>
            <a:pPr indent="0" marL="0">
              <a:buNone/>
            </a:pPr>
            <a:r>
              <a:rPr lang="en-US" sz="1350" b="1" dirty="0">
                <a:solidFill>
                  <a:srgbClr val="0F2A3D"/>
                </a:solidFill>
                <a:latin typeface="Cambria" pitchFamily="34" charset="0"/>
                <a:ea typeface="Cambria" pitchFamily="34" charset="-122"/>
                <a:cs typeface="Cambria" pitchFamily="34" charset="-120"/>
              </a:rPr>
              <a:t>Deduct</a:t>
            </a:r>
            <a:endParaRPr lang="en-US" sz="1350" dirty="0"/>
          </a:p>
        </p:txBody>
      </p:sp>
      <p:sp>
        <p:nvSpPr>
          <p:cNvPr id="16" name="Text 13"/>
          <p:cNvSpPr txBox="1"/>
          <p:nvPr/>
        </p:nvSpPr>
        <p:spPr>
          <a:xfrm>
            <a:off x="5760720" y="3227832"/>
            <a:ext cx="2926080" cy="548640"/>
          </a:xfrm>
          <a:prstGeom prst="rect">
            <a:avLst/>
          </a:prstGeom>
          <a:noFill/>
          <a:ln/>
        </p:spPr>
        <p:txBody>
          <a:bodyPr wrap="square" lIns="0" tIns="0" rIns="0" bIns="0" rtlCol="0" anchor="t"/>
          <a:lstStyle/>
          <a:p>
            <a:pPr indent="0" marL="0">
              <a:buNone/>
            </a:pPr>
            <a:r>
              <a:rPr lang="en-US" sz="1100" dirty="0">
                <a:solidFill>
                  <a:srgbClr val="1E2B33"/>
                </a:solidFill>
                <a:latin typeface="Calibri" pitchFamily="34" charset="0"/>
                <a:ea typeface="Calibri" pitchFamily="34" charset="-122"/>
                <a:cs typeface="Calibri" pitchFamily="34" charset="-120"/>
              </a:rPr>
              <a:t>1% per year decrement: lowers the option cost (see slide 8)</a:t>
            </a:r>
            <a:endParaRPr lang="en-US" sz="1100" dirty="0"/>
          </a:p>
        </p:txBody>
      </p:sp>
      <p:sp>
        <p:nvSpPr>
          <p:cNvPr id="17" name="Shape 14"/>
          <p:cNvSpPr/>
          <p:nvPr/>
        </p:nvSpPr>
        <p:spPr>
          <a:xfrm>
            <a:off x="5257800" y="3840480"/>
            <a:ext cx="3474720" cy="822960"/>
          </a:xfrm>
          <a:prstGeom prst="roundRect">
            <a:avLst>
              <a:gd name="adj" fmla="val 8889"/>
            </a:avLst>
          </a:prstGeom>
          <a:solidFill>
            <a:srgbClr val="0F2A3D"/>
          </a:solidFill>
          <a:ln w="12700">
            <a:solidFill>
              <a:srgbClr val="0F2A3D"/>
            </a:solidFill>
            <a:prstDash val="solid"/>
          </a:ln>
        </p:spPr>
      </p:sp>
      <p:sp>
        <p:nvSpPr>
          <p:cNvPr id="18" name="Text 15"/>
          <p:cNvSpPr txBox="1"/>
          <p:nvPr/>
        </p:nvSpPr>
        <p:spPr>
          <a:xfrm>
            <a:off x="5394960" y="3867912"/>
            <a:ext cx="3246120" cy="768096"/>
          </a:xfrm>
          <a:prstGeom prst="rect">
            <a:avLst/>
          </a:prstGeom>
          <a:noFill/>
          <a:ln/>
        </p:spPr>
        <p:txBody>
          <a:bodyPr wrap="square" lIns="0" tIns="0" rIns="0" bIns="0" rtlCol="0" anchor="ctr"/>
          <a:lstStyle/>
          <a:p>
            <a:pPr indent="0" marL="0">
              <a:buNone/>
            </a:pPr>
            <a:r>
              <a:rPr lang="en-US" sz="1150" b="1" dirty="0">
                <a:solidFill>
                  <a:srgbClr val="E2A73B"/>
                </a:solidFill>
                <a:latin typeface="Calibri" pitchFamily="34" charset="0"/>
                <a:ea typeface="Calibri" pitchFamily="34" charset="-122"/>
                <a:cs typeface="Calibri" pitchFamily="34" charset="-120"/>
              </a:rPr>
              <a:t>Calm market (22% vol): </a:t>
            </a:r>
            <a:pPr indent="0" marL="0">
              <a:buNone/>
            </a:pPr>
            <a:r>
              <a:rPr lang="en-US" sz="1150" dirty="0">
                <a:solidFill>
                  <a:srgbClr val="FFFFFF"/>
                </a:solidFill>
                <a:latin typeface="Calibri" pitchFamily="34" charset="0"/>
                <a:ea typeface="Calibri" pitchFamily="34" charset="-122"/>
                <a:cs typeface="Calibri" pitchFamily="34" charset="-120"/>
              </a:rPr>
              <a:t>~45% exposure. </a:t>
            </a:r>
            <a:pPr indent="0" marL="0">
              <a:buNone/>
            </a:pPr>
            <a:r>
              <a:rPr lang="en-US" sz="1150" b="1" dirty="0">
                <a:solidFill>
                  <a:srgbClr val="E2A73B"/>
                </a:solidFill>
                <a:latin typeface="Calibri" pitchFamily="34" charset="0"/>
                <a:ea typeface="Calibri" pitchFamily="34" charset="-122"/>
                <a:cs typeface="Calibri" pitchFamily="34" charset="-120"/>
              </a:rPr>
              <a:t>Crash (45% vol): </a:t>
            </a:r>
            <a:pPr indent="0" marL="0">
              <a:buNone/>
            </a:pPr>
            <a:r>
              <a:rPr lang="en-US" sz="1150" dirty="0">
                <a:solidFill>
                  <a:srgbClr val="FFFFFF"/>
                </a:solidFill>
                <a:latin typeface="Calibri" pitchFamily="34" charset="0"/>
                <a:ea typeface="Calibri" pitchFamily="34" charset="-122"/>
                <a:cs typeface="Calibri" pitchFamily="34" charset="-120"/>
              </a:rPr>
              <a:t>~22% exposure, cut automatically.</a:t>
            </a:r>
            <a:endParaRPr lang="en-US" sz="1150" dirty="0"/>
          </a:p>
        </p:txBody>
      </p:sp>
      <p:sp>
        <p:nvSpPr>
          <p:cNvPr id="19" name="Text 16"/>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Simulated: average exposure 41%, realised index volatility 9.8% vs 10% target (lag creates small gap risk, priced in the Monte Carlo).</a:t>
            </a:r>
            <a:endParaRPr lang="en-US" sz="800" dirty="0"/>
          </a:p>
        </p:txBody>
      </p:sp>
      <p:sp>
        <p:nvSpPr>
          <p:cNvPr id="20" name="Text 17"/>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Term sheet and pricing</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Transparent build-up from funding grid to participation</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480560" cy="914400"/>
        </p:xfrm>
        <a:graphic>
          <a:graphicData uri="http://schemas.openxmlformats.org/drawingml/2006/table">
            <a:tbl>
              <a:tblPr/>
              <a:tblGrid>
                <a:gridCol w="1325880"/>
                <a:gridCol w="315468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Term</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Proposal</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r>
              <a:tr h="329184">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Issuer</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Natixis (guaranteed by BPCE)</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Notional / currency</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USD 100Mn; underlying quanto USD</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Dates</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Issue 17 Sep 2026; maturity Sep 2033 (7Y)</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Protection</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100% at maturity (issuer credit)</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Redemption</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100% + Participation × max(0, Index perf)</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Participation</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164% base · 167% with Lock + averaging</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Legacy Lock</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Gains floored at +30/+60/+90% if hit on an annual date</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Averaging</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Final level = average of last 12 monthly closes</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Liquidity</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Natixis indicative daily secondary bid</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212080" y="1188720"/>
            <a:ext cx="3474720" cy="274320"/>
          </a:xfrm>
          <a:prstGeom prst="rect">
            <a:avLst/>
          </a:prstGeom>
          <a:noFill/>
          <a:ln/>
        </p:spPr>
        <p:txBody>
          <a:bodyPr wrap="square" lIns="0" tIns="0" rIns="0" bIns="0" rtlCol="0" anchor="t"/>
          <a:lstStyle/>
          <a:p>
            <a:pPr indent="0" marL="0">
              <a:buNone/>
            </a:pPr>
            <a:r>
              <a:rPr lang="en-US" sz="1400" b="1" dirty="0">
                <a:solidFill>
                  <a:srgbClr val="0F2A3D"/>
                </a:solidFill>
                <a:latin typeface="Cambria" pitchFamily="34" charset="0"/>
                <a:ea typeface="Cambria" pitchFamily="34" charset="-122"/>
                <a:cs typeface="Cambria" pitchFamily="34" charset="-120"/>
              </a:rPr>
              <a:t>Pricing build-up</a:t>
            </a:r>
            <a:endParaRPr lang="en-US" sz="1400" dirty="0"/>
          </a:p>
        </p:txBody>
      </p:sp>
      <p:sp>
        <p:nvSpPr>
          <p:cNvPr id="6" name="Shape 3"/>
          <p:cNvSpPr/>
          <p:nvPr/>
        </p:nvSpPr>
        <p:spPr>
          <a:xfrm>
            <a:off x="5212080" y="1536192"/>
            <a:ext cx="3520440" cy="365760"/>
          </a:xfrm>
          <a:prstGeom prst="roundRect">
            <a:avLst>
              <a:gd name="adj" fmla="val 20000"/>
            </a:avLst>
          </a:prstGeom>
          <a:solidFill>
            <a:srgbClr val="E8F2EE"/>
          </a:solidFill>
          <a:ln w="12700">
            <a:solidFill>
              <a:srgbClr val="E8F2EE"/>
            </a:solidFill>
            <a:prstDash val="solid"/>
          </a:ln>
        </p:spPr>
      </p:sp>
      <p:sp>
        <p:nvSpPr>
          <p:cNvPr id="7" name="Text 4"/>
          <p:cNvSpPr txBox="1"/>
          <p:nvPr/>
        </p:nvSpPr>
        <p:spPr>
          <a:xfrm>
            <a:off x="5349240" y="1536192"/>
            <a:ext cx="2377440" cy="365760"/>
          </a:xfrm>
          <a:prstGeom prst="rect">
            <a:avLst/>
          </a:prstGeom>
          <a:noFill/>
          <a:ln/>
        </p:spPr>
        <p:txBody>
          <a:bodyPr wrap="square" lIns="0" tIns="0" rIns="0" bIns="0" rtlCol="0" anchor="ctr"/>
          <a:lstStyle/>
          <a:p>
            <a:pPr indent="0" marL="0">
              <a:buNone/>
            </a:pPr>
            <a:r>
              <a:rPr lang="en-US" sz="1100" dirty="0">
                <a:solidFill>
                  <a:srgbClr val="1E2B33"/>
                </a:solidFill>
                <a:latin typeface="Calibri" pitchFamily="34" charset="0"/>
                <a:ea typeface="Calibri" pitchFamily="34" charset="-122"/>
                <a:cs typeface="Calibri" pitchFamily="34" charset="-120"/>
              </a:rPr>
              <a:t>7Y USD funding (rules grid)</a:t>
            </a:r>
            <a:endParaRPr lang="en-US" sz="1100" dirty="0"/>
          </a:p>
        </p:txBody>
      </p:sp>
      <p:sp>
        <p:nvSpPr>
          <p:cNvPr id="8" name="Text 5"/>
          <p:cNvSpPr txBox="1"/>
          <p:nvPr/>
        </p:nvSpPr>
        <p:spPr>
          <a:xfrm>
            <a:off x="7680960" y="1536192"/>
            <a:ext cx="960120" cy="365760"/>
          </a:xfrm>
          <a:prstGeom prst="rect">
            <a:avLst/>
          </a:prstGeom>
          <a:noFill/>
          <a:ln/>
        </p:spPr>
        <p:txBody>
          <a:bodyPr wrap="square" lIns="0" tIns="0" rIns="0" bIns="0" rtlCol="0" anchor="ctr"/>
          <a:lstStyle/>
          <a:p>
            <a:pPr algn="r" indent="0" marL="0">
              <a:buNone/>
            </a:pPr>
            <a:r>
              <a:rPr lang="en-US" sz="1200" b="1" dirty="0">
                <a:solidFill>
                  <a:srgbClr val="0F2A3D"/>
                </a:solidFill>
                <a:latin typeface="Calibri" pitchFamily="34" charset="0"/>
                <a:ea typeface="Calibri" pitchFamily="34" charset="-122"/>
                <a:cs typeface="Calibri" pitchFamily="34" charset="-120"/>
              </a:rPr>
              <a:t>5.75%</a:t>
            </a:r>
            <a:endParaRPr lang="en-US" sz="1200" dirty="0"/>
          </a:p>
        </p:txBody>
      </p:sp>
      <p:sp>
        <p:nvSpPr>
          <p:cNvPr id="9" name="Shape 6"/>
          <p:cNvSpPr/>
          <p:nvPr/>
        </p:nvSpPr>
        <p:spPr>
          <a:xfrm>
            <a:off x="5212080" y="1965960"/>
            <a:ext cx="3520440" cy="365760"/>
          </a:xfrm>
          <a:prstGeom prst="roundRect">
            <a:avLst>
              <a:gd name="adj" fmla="val 20000"/>
            </a:avLst>
          </a:prstGeom>
          <a:solidFill>
            <a:srgbClr val="E8F2EE"/>
          </a:solidFill>
          <a:ln w="12700">
            <a:solidFill>
              <a:srgbClr val="E8F2EE"/>
            </a:solidFill>
            <a:prstDash val="solid"/>
          </a:ln>
        </p:spPr>
      </p:sp>
      <p:sp>
        <p:nvSpPr>
          <p:cNvPr id="10" name="Text 7"/>
          <p:cNvSpPr txBox="1"/>
          <p:nvPr/>
        </p:nvSpPr>
        <p:spPr>
          <a:xfrm>
            <a:off x="5349240" y="1965960"/>
            <a:ext cx="2377440" cy="365760"/>
          </a:xfrm>
          <a:prstGeom prst="rect">
            <a:avLst/>
          </a:prstGeom>
          <a:noFill/>
          <a:ln/>
        </p:spPr>
        <p:txBody>
          <a:bodyPr wrap="square" lIns="0" tIns="0" rIns="0" bIns="0" rtlCol="0" anchor="ctr"/>
          <a:lstStyle/>
          <a:p>
            <a:pPr indent="0" marL="0">
              <a:buNone/>
            </a:pPr>
            <a:r>
              <a:rPr lang="en-US" sz="1100" dirty="0">
                <a:solidFill>
                  <a:srgbClr val="1E2B33"/>
                </a:solidFill>
                <a:latin typeface="Calibri" pitchFamily="34" charset="0"/>
                <a:ea typeface="Calibri" pitchFamily="34" charset="-122"/>
                <a:cs typeface="Calibri" pitchFamily="34" charset="-120"/>
              </a:rPr>
              <a:t>Zero-coupon bond</a:t>
            </a:r>
            <a:endParaRPr lang="en-US" sz="1100" dirty="0"/>
          </a:p>
        </p:txBody>
      </p:sp>
      <p:sp>
        <p:nvSpPr>
          <p:cNvPr id="11" name="Text 8"/>
          <p:cNvSpPr txBox="1"/>
          <p:nvPr/>
        </p:nvSpPr>
        <p:spPr>
          <a:xfrm>
            <a:off x="7680960" y="1965960"/>
            <a:ext cx="960120" cy="365760"/>
          </a:xfrm>
          <a:prstGeom prst="rect">
            <a:avLst/>
          </a:prstGeom>
          <a:noFill/>
          <a:ln/>
        </p:spPr>
        <p:txBody>
          <a:bodyPr wrap="square" lIns="0" tIns="0" rIns="0" bIns="0" rtlCol="0" anchor="ctr"/>
          <a:lstStyle/>
          <a:p>
            <a:pPr algn="r" indent="0" marL="0">
              <a:buNone/>
            </a:pPr>
            <a:r>
              <a:rPr lang="en-US" sz="1200" b="1" dirty="0">
                <a:solidFill>
                  <a:srgbClr val="0F2A3D"/>
                </a:solidFill>
                <a:latin typeface="Calibri" pitchFamily="34" charset="0"/>
                <a:ea typeface="Calibri" pitchFamily="34" charset="-122"/>
                <a:cs typeface="Calibri" pitchFamily="34" charset="-120"/>
              </a:rPr>
              <a:t>67.6%</a:t>
            </a:r>
            <a:endParaRPr lang="en-US" sz="1200" dirty="0"/>
          </a:p>
        </p:txBody>
      </p:sp>
      <p:sp>
        <p:nvSpPr>
          <p:cNvPr id="12" name="Shape 9"/>
          <p:cNvSpPr/>
          <p:nvPr/>
        </p:nvSpPr>
        <p:spPr>
          <a:xfrm>
            <a:off x="5212080" y="2395728"/>
            <a:ext cx="3520440" cy="365760"/>
          </a:xfrm>
          <a:prstGeom prst="roundRect">
            <a:avLst>
              <a:gd name="adj" fmla="val 20000"/>
            </a:avLst>
          </a:prstGeom>
          <a:solidFill>
            <a:srgbClr val="E8F2EE"/>
          </a:solidFill>
          <a:ln w="12700">
            <a:solidFill>
              <a:srgbClr val="E8F2EE"/>
            </a:solidFill>
            <a:prstDash val="solid"/>
          </a:ln>
        </p:spPr>
      </p:sp>
      <p:sp>
        <p:nvSpPr>
          <p:cNvPr id="13" name="Text 10"/>
          <p:cNvSpPr txBox="1"/>
          <p:nvPr/>
        </p:nvSpPr>
        <p:spPr>
          <a:xfrm>
            <a:off x="5349240" y="2395728"/>
            <a:ext cx="2377440" cy="365760"/>
          </a:xfrm>
          <a:prstGeom prst="rect">
            <a:avLst/>
          </a:prstGeom>
          <a:noFill/>
          <a:ln/>
        </p:spPr>
        <p:txBody>
          <a:bodyPr wrap="square" lIns="0" tIns="0" rIns="0" bIns="0" rtlCol="0" anchor="ctr"/>
          <a:lstStyle/>
          <a:p>
            <a:pPr indent="0" marL="0">
              <a:buNone/>
            </a:pPr>
            <a:r>
              <a:rPr lang="en-US" sz="1100" dirty="0">
                <a:solidFill>
                  <a:srgbClr val="1E2B33"/>
                </a:solidFill>
                <a:latin typeface="Calibri" pitchFamily="34" charset="0"/>
                <a:ea typeface="Calibri" pitchFamily="34" charset="-122"/>
                <a:cs typeface="Calibri" pitchFamily="34" charset="-120"/>
              </a:rPr>
              <a:t>Issuer fee</a:t>
            </a:r>
            <a:endParaRPr lang="en-US" sz="1100" dirty="0"/>
          </a:p>
        </p:txBody>
      </p:sp>
      <p:sp>
        <p:nvSpPr>
          <p:cNvPr id="14" name="Text 11"/>
          <p:cNvSpPr txBox="1"/>
          <p:nvPr/>
        </p:nvSpPr>
        <p:spPr>
          <a:xfrm>
            <a:off x="7680960" y="2395728"/>
            <a:ext cx="960120" cy="365760"/>
          </a:xfrm>
          <a:prstGeom prst="rect">
            <a:avLst/>
          </a:prstGeom>
          <a:noFill/>
          <a:ln/>
        </p:spPr>
        <p:txBody>
          <a:bodyPr wrap="square" lIns="0" tIns="0" rIns="0" bIns="0" rtlCol="0" anchor="ctr"/>
          <a:lstStyle/>
          <a:p>
            <a:pPr algn="r" indent="0" marL="0">
              <a:buNone/>
            </a:pPr>
            <a:r>
              <a:rPr lang="en-US" sz="1200" b="1" dirty="0">
                <a:solidFill>
                  <a:srgbClr val="0F2A3D"/>
                </a:solidFill>
                <a:latin typeface="Calibri" pitchFamily="34" charset="0"/>
                <a:ea typeface="Calibri" pitchFamily="34" charset="-122"/>
                <a:cs typeface="Calibri" pitchFamily="34" charset="-120"/>
              </a:rPr>
              <a:t>2.0%</a:t>
            </a:r>
            <a:endParaRPr lang="en-US" sz="1200" dirty="0"/>
          </a:p>
        </p:txBody>
      </p:sp>
      <p:sp>
        <p:nvSpPr>
          <p:cNvPr id="15" name="Shape 12"/>
          <p:cNvSpPr/>
          <p:nvPr/>
        </p:nvSpPr>
        <p:spPr>
          <a:xfrm>
            <a:off x="5212080" y="2825496"/>
            <a:ext cx="3520440" cy="365760"/>
          </a:xfrm>
          <a:prstGeom prst="roundRect">
            <a:avLst>
              <a:gd name="adj" fmla="val 20000"/>
            </a:avLst>
          </a:prstGeom>
          <a:solidFill>
            <a:srgbClr val="E8F2EE"/>
          </a:solidFill>
          <a:ln w="12700">
            <a:solidFill>
              <a:srgbClr val="E8F2EE"/>
            </a:solidFill>
            <a:prstDash val="solid"/>
          </a:ln>
        </p:spPr>
      </p:sp>
      <p:sp>
        <p:nvSpPr>
          <p:cNvPr id="16" name="Text 13"/>
          <p:cNvSpPr txBox="1"/>
          <p:nvPr/>
        </p:nvSpPr>
        <p:spPr>
          <a:xfrm>
            <a:off x="5349240" y="2825496"/>
            <a:ext cx="2377440" cy="365760"/>
          </a:xfrm>
          <a:prstGeom prst="rect">
            <a:avLst/>
          </a:prstGeom>
          <a:noFill/>
          <a:ln/>
        </p:spPr>
        <p:txBody>
          <a:bodyPr wrap="square" lIns="0" tIns="0" rIns="0" bIns="0" rtlCol="0" anchor="ctr"/>
          <a:lstStyle/>
          <a:p>
            <a:pPr indent="0" marL="0">
              <a:buNone/>
            </a:pPr>
            <a:r>
              <a:rPr lang="en-US" sz="1100" dirty="0">
                <a:solidFill>
                  <a:srgbClr val="1E2B33"/>
                </a:solidFill>
                <a:latin typeface="Calibri" pitchFamily="34" charset="0"/>
                <a:ea typeface="Calibri" pitchFamily="34" charset="-122"/>
                <a:cs typeface="Calibri" pitchFamily="34" charset="-120"/>
              </a:rPr>
              <a:t>Option budget</a:t>
            </a:r>
            <a:endParaRPr lang="en-US" sz="1100" dirty="0"/>
          </a:p>
        </p:txBody>
      </p:sp>
      <p:sp>
        <p:nvSpPr>
          <p:cNvPr id="17" name="Text 14"/>
          <p:cNvSpPr txBox="1"/>
          <p:nvPr/>
        </p:nvSpPr>
        <p:spPr>
          <a:xfrm>
            <a:off x="7680960" y="2825496"/>
            <a:ext cx="960120" cy="365760"/>
          </a:xfrm>
          <a:prstGeom prst="rect">
            <a:avLst/>
          </a:prstGeom>
          <a:noFill/>
          <a:ln/>
        </p:spPr>
        <p:txBody>
          <a:bodyPr wrap="square" lIns="0" tIns="0" rIns="0" bIns="0" rtlCol="0" anchor="ctr"/>
          <a:lstStyle/>
          <a:p>
            <a:pPr algn="r" indent="0" marL="0">
              <a:buNone/>
            </a:pPr>
            <a:r>
              <a:rPr lang="en-US" sz="1200" b="1" dirty="0">
                <a:solidFill>
                  <a:srgbClr val="0F2A3D"/>
                </a:solidFill>
                <a:latin typeface="Calibri" pitchFamily="34" charset="0"/>
                <a:ea typeface="Calibri" pitchFamily="34" charset="-122"/>
                <a:cs typeface="Calibri" pitchFamily="34" charset="-120"/>
              </a:rPr>
              <a:t>30.4%</a:t>
            </a:r>
            <a:endParaRPr lang="en-US" sz="1200" dirty="0"/>
          </a:p>
        </p:txBody>
      </p:sp>
      <p:sp>
        <p:nvSpPr>
          <p:cNvPr id="18" name="Shape 15"/>
          <p:cNvSpPr/>
          <p:nvPr/>
        </p:nvSpPr>
        <p:spPr>
          <a:xfrm>
            <a:off x="5212080" y="3255264"/>
            <a:ext cx="3520440" cy="365760"/>
          </a:xfrm>
          <a:prstGeom prst="roundRect">
            <a:avLst>
              <a:gd name="adj" fmla="val 20000"/>
            </a:avLst>
          </a:prstGeom>
          <a:solidFill>
            <a:srgbClr val="E8F2EE"/>
          </a:solidFill>
          <a:ln w="12700">
            <a:solidFill>
              <a:srgbClr val="E8F2EE"/>
            </a:solidFill>
            <a:prstDash val="solid"/>
          </a:ln>
        </p:spPr>
      </p:sp>
      <p:sp>
        <p:nvSpPr>
          <p:cNvPr id="19" name="Text 16"/>
          <p:cNvSpPr txBox="1"/>
          <p:nvPr/>
        </p:nvSpPr>
        <p:spPr>
          <a:xfrm>
            <a:off x="5349240" y="3255264"/>
            <a:ext cx="2377440" cy="365760"/>
          </a:xfrm>
          <a:prstGeom prst="rect">
            <a:avLst/>
          </a:prstGeom>
          <a:noFill/>
          <a:ln/>
        </p:spPr>
        <p:txBody>
          <a:bodyPr wrap="square" lIns="0" tIns="0" rIns="0" bIns="0" rtlCol="0" anchor="ctr"/>
          <a:lstStyle/>
          <a:p>
            <a:pPr indent="0" marL="0">
              <a:buNone/>
            </a:pPr>
            <a:r>
              <a:rPr lang="en-US" sz="1100" dirty="0">
                <a:solidFill>
                  <a:srgbClr val="1E2B33"/>
                </a:solidFill>
                <a:latin typeface="Calibri" pitchFamily="34" charset="0"/>
                <a:ea typeface="Calibri" pitchFamily="34" charset="-122"/>
                <a:cs typeface="Calibri" pitchFamily="34" charset="-120"/>
              </a:rPr>
              <a:t>ATM call on VT index (MC)</a:t>
            </a:r>
            <a:endParaRPr lang="en-US" sz="1100" dirty="0"/>
          </a:p>
        </p:txBody>
      </p:sp>
      <p:sp>
        <p:nvSpPr>
          <p:cNvPr id="20" name="Text 17"/>
          <p:cNvSpPr txBox="1"/>
          <p:nvPr/>
        </p:nvSpPr>
        <p:spPr>
          <a:xfrm>
            <a:off x="7680960" y="3255264"/>
            <a:ext cx="960120" cy="365760"/>
          </a:xfrm>
          <a:prstGeom prst="rect">
            <a:avLst/>
          </a:prstGeom>
          <a:noFill/>
          <a:ln/>
        </p:spPr>
        <p:txBody>
          <a:bodyPr wrap="square" lIns="0" tIns="0" rIns="0" bIns="0" rtlCol="0" anchor="ctr"/>
          <a:lstStyle/>
          <a:p>
            <a:pPr algn="r" indent="0" marL="0">
              <a:buNone/>
            </a:pPr>
            <a:r>
              <a:rPr lang="en-US" sz="1200" b="1" dirty="0">
                <a:solidFill>
                  <a:srgbClr val="0F2A3D"/>
                </a:solidFill>
                <a:latin typeface="Calibri" pitchFamily="34" charset="0"/>
                <a:ea typeface="Calibri" pitchFamily="34" charset="-122"/>
                <a:cs typeface="Calibri" pitchFamily="34" charset="-120"/>
              </a:rPr>
              <a:t>18.5%</a:t>
            </a:r>
            <a:endParaRPr lang="en-US" sz="1200" dirty="0"/>
          </a:p>
        </p:txBody>
      </p:sp>
      <p:sp>
        <p:nvSpPr>
          <p:cNvPr id="21" name="Shape 18"/>
          <p:cNvSpPr/>
          <p:nvPr/>
        </p:nvSpPr>
        <p:spPr>
          <a:xfrm>
            <a:off x="5212080" y="3685032"/>
            <a:ext cx="3520440" cy="365760"/>
          </a:xfrm>
          <a:prstGeom prst="roundRect">
            <a:avLst>
              <a:gd name="adj" fmla="val 20000"/>
            </a:avLst>
          </a:prstGeom>
          <a:solidFill>
            <a:srgbClr val="1F8A70"/>
          </a:solidFill>
          <a:ln w="12700">
            <a:solidFill>
              <a:srgbClr val="1F8A70"/>
            </a:solidFill>
            <a:prstDash val="solid"/>
          </a:ln>
        </p:spPr>
      </p:sp>
      <p:sp>
        <p:nvSpPr>
          <p:cNvPr id="22" name="Text 19"/>
          <p:cNvSpPr txBox="1"/>
          <p:nvPr/>
        </p:nvSpPr>
        <p:spPr>
          <a:xfrm>
            <a:off x="5349240" y="3685032"/>
            <a:ext cx="23774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Participation = budget ÷ call</a:t>
            </a:r>
            <a:endParaRPr lang="en-US" sz="1100" dirty="0"/>
          </a:p>
        </p:txBody>
      </p:sp>
      <p:sp>
        <p:nvSpPr>
          <p:cNvPr id="23" name="Text 20"/>
          <p:cNvSpPr txBox="1"/>
          <p:nvPr/>
        </p:nvSpPr>
        <p:spPr>
          <a:xfrm>
            <a:off x="7680960" y="3685032"/>
            <a:ext cx="960120" cy="36576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164%</a:t>
            </a:r>
            <a:endParaRPr lang="en-US" sz="1200" dirty="0"/>
          </a:p>
        </p:txBody>
      </p:sp>
      <p:sp>
        <p:nvSpPr>
          <p:cNvPr id="24" name="Text 21"/>
          <p:cNvSpPr txBox="1"/>
          <p:nvPr/>
        </p:nvSpPr>
        <p:spPr>
          <a:xfrm>
            <a:off x="5212080" y="4160520"/>
            <a:ext cx="3520440" cy="548640"/>
          </a:xfrm>
          <a:prstGeom prst="rect">
            <a:avLst/>
          </a:prstGeom>
          <a:noFill/>
          <a:ln/>
        </p:spPr>
        <p:txBody>
          <a:bodyPr wrap="square" lIns="0" tIns="0" rIns="0" bIns="0" rtlCol="0" anchor="t"/>
          <a:lstStyle/>
          <a:p>
            <a:pPr indent="0" marL="0">
              <a:buNone/>
            </a:pPr>
            <a:r>
              <a:rPr lang="en-US" sz="950" i="1" dirty="0">
                <a:solidFill>
                  <a:srgbClr val="62717A"/>
                </a:solidFill>
                <a:latin typeface="Calibri" pitchFamily="34" charset="0"/>
                <a:ea typeface="Calibri" pitchFamily="34" charset="-122"/>
                <a:cs typeface="Calibri" pitchFamily="34" charset="-120"/>
              </a:rPr>
              <a:t>Tenor check: 5Y 143% · 6Y 151% · 7Y 157% · 10Y 169% (Black-Scholes). 7Y matches one generation's handover at most of the 10Y benefit.</a:t>
            </a:r>
            <a:endParaRPr lang="en-US" sz="950" dirty="0"/>
          </a:p>
        </p:txBody>
      </p:sp>
      <p:sp>
        <p:nvSpPr>
          <p:cNvPr id="25" name="Text 22"/>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Indicative pricing: Monte Carlo with placeholder market inputs; funding from the 2026 rules grid. To be refreshed with Bloomberg data as of 17 Sep 2026.</a:t>
            </a:r>
            <a:endParaRPr lang="en-US" sz="800" dirty="0"/>
          </a:p>
        </p:txBody>
      </p:sp>
      <p:sp>
        <p:nvSpPr>
          <p:cNvPr id="26" name="Text 23"/>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Payoff: full floor, leveraged upside</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Redemption at maturity vs VT index performance, and outcomes across market regimes</a:t>
            </a:r>
            <a:endParaRPr lang="en-US" sz="1300" dirty="0"/>
          </a:p>
        </p:txBody>
      </p:sp>
      <p:graphicFrame>
        <p:nvGraphicFramePr>
          <p:cNvPr id="4" name="Chart 0" descr=""/>
          <p:cNvGraphicFramePr/>
          <p:nvPr/>
        </p:nvGraphicFramePr>
        <p:xfrm>
          <a:off x="365760" y="1188720"/>
          <a:ext cx="429768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892040" y="1234440"/>
          <a:ext cx="3840480" cy="914400"/>
        </p:xfrm>
        <a:graphic>
          <a:graphicData uri="http://schemas.openxmlformats.org/drawingml/2006/table">
            <a:tbl>
              <a:tblPr/>
              <a:tblGrid>
                <a:gridCol w="1371600"/>
                <a:gridCol w="777240"/>
                <a:gridCol w="868680"/>
                <a:gridCol w="822960"/>
              </a:tblGrid>
              <a:tr h="4572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7Y regime (basket return p.a.)</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Note median</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Direct basket median</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Direct basket 5th pct</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r>
              <a:tr h="457200">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Bear: 3%</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1.24x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0.98x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0.32x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Base: 6%</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1.41x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1.21x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0.40x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Bull: 9%</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1.59x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1.49x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0.49x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bl>
          </a:graphicData>
        </a:graphic>
      </p:graphicFrame>
      <p:sp>
        <p:nvSpPr>
          <p:cNvPr id="6" name="Shape 2"/>
          <p:cNvSpPr/>
          <p:nvPr/>
        </p:nvSpPr>
        <p:spPr>
          <a:xfrm>
            <a:off x="4892040" y="3246120"/>
            <a:ext cx="3840480" cy="1188720"/>
          </a:xfrm>
          <a:prstGeom prst="roundRect">
            <a:avLst>
              <a:gd name="adj" fmla="val 6154"/>
            </a:avLst>
          </a:prstGeom>
          <a:solidFill>
            <a:srgbClr val="E8F2EE"/>
          </a:solidFill>
          <a:ln w="12700">
            <a:solidFill>
              <a:srgbClr val="E8F2EE"/>
            </a:solidFill>
            <a:prstDash val="solid"/>
          </a:ln>
        </p:spPr>
      </p:sp>
      <p:sp>
        <p:nvSpPr>
          <p:cNvPr id="7" name="Text 3"/>
          <p:cNvSpPr txBox="1"/>
          <p:nvPr/>
        </p:nvSpPr>
        <p:spPr>
          <a:xfrm>
            <a:off x="5029200" y="3291840"/>
            <a:ext cx="3566160" cy="1097280"/>
          </a:xfrm>
          <a:prstGeom prst="rect">
            <a:avLst/>
          </a:prstGeom>
          <a:noFill/>
          <a:ln/>
        </p:spPr>
        <p:txBody>
          <a:bodyPr wrap="square" lIns="0" tIns="0" rIns="0" bIns="0" rtlCol="0" anchor="ctr"/>
          <a:lstStyle/>
          <a:p>
            <a:pPr indent="0" marL="0">
              <a:buNone/>
            </a:pPr>
            <a:r>
              <a:rPr lang="en-US" sz="1150" b="1" dirty="0">
                <a:solidFill>
                  <a:srgbClr val="D9482B"/>
                </a:solidFill>
                <a:latin typeface="Calibri" pitchFamily="34" charset="0"/>
                <a:ea typeface="Calibri" pitchFamily="34" charset="-122"/>
                <a:cs typeface="Calibri" pitchFamily="34" charset="-120"/>
              </a:rPr>
              <a:t>Worst case for the note: </a:t>
            </a:r>
            <a:pPr indent="0" marL="0">
              <a:buNone/>
            </a:pPr>
            <a:r>
              <a:rPr lang="en-US" sz="1150" dirty="0">
                <a:solidFill>
                  <a:srgbClr val="1E2B33"/>
                </a:solidFill>
                <a:latin typeface="Calibri" pitchFamily="34" charset="0"/>
                <a:ea typeface="Calibri" pitchFamily="34" charset="-122"/>
                <a:cs typeface="Calibri" pitchFamily="34" charset="-120"/>
              </a:rPr>
              <a:t>1.00x, contractual. </a:t>
            </a:r>
            <a:pPr indent="0" marL="0">
              <a:buNone/>
            </a:pPr>
            <a:r>
              <a:rPr lang="en-US" sz="1150" b="1" dirty="0">
                <a:solidFill>
                  <a:srgbClr val="D9482B"/>
                </a:solidFill>
                <a:latin typeface="Calibri" pitchFamily="34" charset="0"/>
                <a:ea typeface="Calibri" pitchFamily="34" charset="-122"/>
                <a:cs typeface="Calibri" pitchFamily="34" charset="-120"/>
              </a:rPr>
              <a:t>Worst 5% for direct equity: </a:t>
            </a:r>
            <a:pPr indent="0" marL="0">
              <a:buNone/>
            </a:pPr>
            <a:r>
              <a:rPr lang="en-US" sz="1150" dirty="0">
                <a:solidFill>
                  <a:srgbClr val="1E2B33"/>
                </a:solidFill>
                <a:latin typeface="Calibri" pitchFamily="34" charset="0"/>
                <a:ea typeface="Calibri" pitchFamily="34" charset="-122"/>
                <a:cs typeface="Calibri" pitchFamily="34" charset="-120"/>
              </a:rPr>
              <a:t>0.32x–0.49x. The note beats direct ownership at the median in every regime and never loses capital.</a:t>
            </a:r>
            <a:endParaRPr lang="en-US" sz="1150" dirty="0"/>
          </a:p>
        </p:txBody>
      </p:sp>
      <p:sp>
        <p:nvSpPr>
          <p:cNvPr id="8" name="Text 4"/>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Forward simulation (20k paths, two-regime basket volatility 22%/45%), not a historical backtest. Indicative pricing: Monte Carlo with placeholder market inputs.</a:t>
            </a:r>
            <a:endParaRPr lang="en-US" sz="800" dirty="0"/>
          </a:p>
        </p:txBody>
      </p:sp>
      <p:sp>
        <p:nvSpPr>
          <p:cNvPr id="9" name="Text 5"/>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We turned down a 353% headline</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The decrement trap: a bigger participation can mean a worse outcome for heirs</a:t>
            </a:r>
            <a:endParaRPr lang="en-US" sz="1300" dirty="0"/>
          </a:p>
        </p:txBody>
      </p:sp>
      <p:graphicFrame>
        <p:nvGraphicFramePr>
          <p:cNvPr id="4" name="Chart 0" descr=""/>
          <p:cNvGraphicFramePr/>
          <p:nvPr/>
        </p:nvGraphicFramePr>
        <p:xfrm>
          <a:off x="365760" y="1188720"/>
          <a:ext cx="411480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663440" y="1188720"/>
          <a:ext cx="4114800" cy="274320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457200" y="4023360"/>
            <a:ext cx="8229600" cy="640080"/>
          </a:xfrm>
          <a:prstGeom prst="roundRect">
            <a:avLst>
              <a:gd name="adj" fmla="val 11429"/>
            </a:avLst>
          </a:prstGeom>
          <a:solidFill>
            <a:srgbClr val="0F2A3D"/>
          </a:solidFill>
          <a:ln w="12700">
            <a:solidFill>
              <a:srgbClr val="0F2A3D"/>
            </a:solidFill>
            <a:prstDash val="solid"/>
          </a:ln>
        </p:spPr>
      </p:sp>
      <p:sp>
        <p:nvSpPr>
          <p:cNvPr id="7" name="Text 3"/>
          <p:cNvSpPr txBox="1"/>
          <p:nvPr/>
        </p:nvSpPr>
        <p:spPr>
          <a:xfrm>
            <a:off x="640080" y="4050792"/>
            <a:ext cx="7863840" cy="585216"/>
          </a:xfrm>
          <a:prstGeom prst="rect">
            <a:avLst/>
          </a:prstGeom>
          <a:noFill/>
          <a:ln/>
        </p:spPr>
        <p:txBody>
          <a:bodyPr wrap="square" lIns="0" tIns="0" rIns="0" bIns="0" rtlCol="0" anchor="ctr"/>
          <a:lstStyle/>
          <a:p>
            <a:pPr indent="0" marL="0">
              <a:buNone/>
            </a:pPr>
            <a:r>
              <a:rPr lang="en-US" sz="1150" b="1" dirty="0">
                <a:solidFill>
                  <a:srgbClr val="E2A73B"/>
                </a:solidFill>
                <a:latin typeface="Calibri" pitchFamily="34" charset="0"/>
                <a:ea typeface="Calibri" pitchFamily="34" charset="-122"/>
                <a:cs typeface="Calibri" pitchFamily="34" charset="-120"/>
              </a:rPr>
              <a:t>Our choice (10% target, 1% decrement): </a:t>
            </a:r>
            <a:pPr indent="0" marL="0">
              <a:buNone/>
            </a:pPr>
            <a:r>
              <a:rPr lang="en-US" sz="1150" dirty="0">
                <a:solidFill>
                  <a:srgbClr val="FFFFFF"/>
                </a:solidFill>
                <a:latin typeface="Calibri" pitchFamily="34" charset="0"/>
                <a:ea typeface="Calibri" pitchFamily="34" charset="-122"/>
                <a:cs typeface="Calibri" pitchFamily="34" charset="-120"/>
              </a:rPr>
              <a:t>highest median (1.59x) with a 12% chance of only 100 back, vs 35% for the 353% design. After 7 years of ~2.5% inflation, 100 back is a 16% real loss.</a:t>
            </a:r>
            <a:endParaRPr lang="en-US" sz="1150" dirty="0"/>
          </a:p>
        </p:txBody>
      </p:sp>
      <p:sp>
        <p:nvSpPr>
          <p:cNvPr id="8" name="Text 4"/>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Labels: target volatility / annual decrement. Forward simulation; same option budget for every design.</a:t>
            </a:r>
            <a:endParaRPr lang="en-US" sz="800" dirty="0"/>
          </a:p>
        </p:txBody>
      </p:sp>
      <p:sp>
        <p:nvSpPr>
          <p:cNvPr id="9" name="Text 5"/>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Risk, sizing and exits</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Unit 15 checklist: stress with spot, volatility and rates shocked together</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480560" cy="914400"/>
        </p:xfrm>
        <a:graphic>
          <a:graphicData uri="http://schemas.openxmlformats.org/drawingml/2006/table">
            <a:tbl>
              <a:tblPr/>
              <a:tblGrid>
                <a:gridCol w="2834640"/>
                <a:gridCol w="822960"/>
                <a:gridCol w="82296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Stress scenario</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VT index</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Note MTM</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r>
              <a:tr h="365760">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Asia tech crash: basket -30% in 1M</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-11.6%</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85.6</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Taiwan gap: basket -20% overnight</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-9.1%</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88.0</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Stagflation: basket -15%</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91.6</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Bull: basket +25%</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+11.4%</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000" dirty="0">
                          <a:solidFill>
                            <a:srgbClr val="1E2B33"/>
                          </a:solidFill>
                          <a:latin typeface="Calibri" pitchFamily="34" charset="0"/>
                          <a:ea typeface="Calibri" pitchFamily="34" charset="-122"/>
                          <a:cs typeface="Calibri" pitchFamily="34" charset="-120"/>
                        </a:rPr>
                        <a:t>111.0</a:t>
                      </a:r>
                      <a:endParaRPr lang="en-US" sz="10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108960"/>
            <a:ext cx="4480560" cy="274320"/>
          </a:xfrm>
          <a:prstGeom prst="rect">
            <a:avLst/>
          </a:prstGeom>
          <a:noFill/>
          <a:ln/>
        </p:spPr>
        <p:txBody>
          <a:bodyPr wrap="square" lIns="0" tIns="0" rIns="0" bIns="0" rtlCol="0" anchor="t"/>
          <a:lstStyle/>
          <a:p>
            <a:pPr indent="0" marL="0">
              <a:buNone/>
            </a:pPr>
            <a:r>
              <a:rPr lang="en-US" sz="1050" b="1" dirty="0">
                <a:solidFill>
                  <a:srgbClr val="0F2A3D"/>
                </a:solidFill>
                <a:latin typeface="Calibri" pitchFamily="34" charset="0"/>
                <a:ea typeface="Calibri" pitchFamily="34" charset="-122"/>
                <a:cs typeface="Calibri" pitchFamily="34" charset="-120"/>
              </a:rPr>
              <a:t>10-day 99% VaR 5.5% · ES 6.3% of notional (mark-to-market only)</a:t>
            </a:r>
            <a:endParaRPr lang="en-US" sz="1050" dirty="0"/>
          </a:p>
        </p:txBody>
      </p:sp>
      <p:sp>
        <p:nvSpPr>
          <p:cNvPr id="6" name="Shape 3"/>
          <p:cNvSpPr/>
          <p:nvPr/>
        </p:nvSpPr>
        <p:spPr>
          <a:xfrm>
            <a:off x="457200" y="3474720"/>
            <a:ext cx="4480560" cy="1188720"/>
          </a:xfrm>
          <a:prstGeom prst="roundRect">
            <a:avLst>
              <a:gd name="adj" fmla="val 6154"/>
            </a:avLst>
          </a:prstGeom>
          <a:solidFill>
            <a:srgbClr val="E8F2EE"/>
          </a:solidFill>
          <a:ln w="12700">
            <a:solidFill>
              <a:srgbClr val="E8F2EE"/>
            </a:solidFill>
            <a:prstDash val="solid"/>
          </a:ln>
        </p:spPr>
      </p:sp>
      <p:sp>
        <p:nvSpPr>
          <p:cNvPr id="7" name="Text 4"/>
          <p:cNvSpPr txBox="1"/>
          <p:nvPr/>
        </p:nvSpPr>
        <p:spPr>
          <a:xfrm>
            <a:off x="594360" y="3520440"/>
            <a:ext cx="4206240" cy="1097280"/>
          </a:xfrm>
          <a:prstGeom prst="rect">
            <a:avLst/>
          </a:prstGeom>
          <a:noFill/>
          <a:ln/>
        </p:spPr>
        <p:txBody>
          <a:bodyPr wrap="square" lIns="0" tIns="0" rIns="0" bIns="0" rtlCol="0" anchor="ctr"/>
          <a:lstStyle/>
          <a:p>
            <a:pPr indent="0" marL="0">
              <a:buNone/>
            </a:pPr>
            <a:r>
              <a:rPr lang="en-US" sz="1100" b="1" dirty="0">
                <a:solidFill>
                  <a:srgbClr val="1F8A70"/>
                </a:solidFill>
                <a:latin typeface="Calibri" pitchFamily="34" charset="0"/>
                <a:ea typeface="Calibri" pitchFamily="34" charset="-122"/>
                <a:cs typeface="Calibri" pitchFamily="34" charset="-120"/>
              </a:rPr>
              <a:t>Sizing: </a:t>
            </a:r>
            <a:pPr indent="0" marL="0">
              <a:buNone/>
            </a:pPr>
            <a:r>
              <a:rPr lang="en-US" sz="1100" dirty="0">
                <a:solidFill>
                  <a:srgbClr val="1E2B33"/>
                </a:solidFill>
                <a:latin typeface="Calibri" pitchFamily="34" charset="0"/>
                <a:ea typeface="Calibri" pitchFamily="34" charset="-122"/>
                <a:cs typeface="Calibri" pitchFamily="34" charset="-120"/>
              </a:rPr>
              <a:t>USD 100Mn ÷ USD 2Bn = 5.0% of net worth. Contractual max loss at maturity: 0 (ex issuer default). Worst stress MTM: USD 12.4Mn ÷ USD 2Bn = 0.62% of net worth.</a:t>
            </a:r>
            <a:endParaRPr lang="en-US" sz="1100" dirty="0"/>
          </a:p>
        </p:txBody>
      </p:sp>
      <p:sp>
        <p:nvSpPr>
          <p:cNvPr id="8" name="Text 5"/>
          <p:cNvSpPr txBox="1"/>
          <p:nvPr/>
        </p:nvSpPr>
        <p:spPr>
          <a:xfrm>
            <a:off x="5212080" y="1188720"/>
            <a:ext cx="3474720" cy="274320"/>
          </a:xfrm>
          <a:prstGeom prst="rect">
            <a:avLst/>
          </a:prstGeom>
          <a:noFill/>
          <a:ln/>
        </p:spPr>
        <p:txBody>
          <a:bodyPr wrap="square" lIns="0" tIns="0" rIns="0" bIns="0" rtlCol="0" anchor="t"/>
          <a:lstStyle/>
          <a:p>
            <a:pPr indent="0" marL="0">
              <a:buNone/>
            </a:pPr>
            <a:r>
              <a:rPr lang="en-US" sz="1400" b="1" dirty="0">
                <a:solidFill>
                  <a:srgbClr val="0F2A3D"/>
                </a:solidFill>
                <a:latin typeface="Cambria" pitchFamily="34" charset="0"/>
                <a:ea typeface="Cambria" pitchFamily="34" charset="-122"/>
                <a:cs typeface="Cambria" pitchFamily="34" charset="-120"/>
              </a:rPr>
              <a:t>Four exits</a:t>
            </a:r>
            <a:endParaRPr lang="en-US" sz="1400" dirty="0"/>
          </a:p>
        </p:txBody>
      </p:sp>
      <p:sp>
        <p:nvSpPr>
          <p:cNvPr id="9" name="Shape 6"/>
          <p:cNvSpPr/>
          <p:nvPr/>
        </p:nvSpPr>
        <p:spPr>
          <a:xfrm>
            <a:off x="5212080" y="1536192"/>
            <a:ext cx="329184" cy="329184"/>
          </a:xfrm>
          <a:prstGeom prst="ellipse">
            <a:avLst/>
          </a:prstGeom>
          <a:solidFill>
            <a:srgbClr val="1F8A70"/>
          </a:solidFill>
          <a:ln/>
        </p:spPr>
      </p:sp>
      <p:sp>
        <p:nvSpPr>
          <p:cNvPr id="10" name="Text 7"/>
          <p:cNvSpPr txBox="1"/>
          <p:nvPr/>
        </p:nvSpPr>
        <p:spPr>
          <a:xfrm>
            <a:off x="5212080" y="15361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5650992" y="1517904"/>
            <a:ext cx="3063240" cy="228600"/>
          </a:xfrm>
          <a:prstGeom prst="rect">
            <a:avLst/>
          </a:prstGeom>
          <a:noFill/>
          <a:ln/>
        </p:spPr>
        <p:txBody>
          <a:bodyPr wrap="square" lIns="0" tIns="0" rIns="0" bIns="0" rtlCol="0" anchor="t"/>
          <a:lstStyle/>
          <a:p>
            <a:pPr indent="0" marL="0">
              <a:buNone/>
            </a:pPr>
            <a:r>
              <a:rPr lang="en-US" sz="1100" b="1" dirty="0">
                <a:solidFill>
                  <a:srgbClr val="0F2A3D"/>
                </a:solidFill>
                <a:latin typeface="Calibri" pitchFamily="34" charset="0"/>
                <a:ea typeface="Calibri" pitchFamily="34" charset="-122"/>
                <a:cs typeface="Calibri" pitchFamily="34" charset="-120"/>
              </a:rPr>
              <a:t>Profit target: </a:t>
            </a:r>
            <a:endParaRPr lang="en-US" sz="1100" dirty="0"/>
          </a:p>
        </p:txBody>
      </p:sp>
      <p:sp>
        <p:nvSpPr>
          <p:cNvPr id="12" name="Text 9"/>
          <p:cNvSpPr txBox="1"/>
          <p:nvPr/>
        </p:nvSpPr>
        <p:spPr>
          <a:xfrm>
            <a:off x="5650992" y="1737360"/>
            <a:ext cx="3063240" cy="329184"/>
          </a:xfrm>
          <a:prstGeom prst="rect">
            <a:avLst/>
          </a:prstGeom>
          <a:noFill/>
          <a:ln/>
        </p:spPr>
        <p:txBody>
          <a:bodyPr wrap="square" lIns="0" tIns="0" rIns="0" bIns="0" rtlCol="0" anchor="t"/>
          <a:lstStyle/>
          <a:p>
            <a:pPr indent="0" marL="0">
              <a:buNone/>
            </a:pPr>
            <a:r>
              <a:rPr lang="en-US" sz="950" dirty="0">
                <a:solidFill>
                  <a:srgbClr val="1E2B33"/>
                </a:solidFill>
                <a:latin typeface="Calibri" pitchFamily="34" charset="0"/>
                <a:ea typeface="Calibri" pitchFamily="34" charset="-122"/>
                <a:cs typeface="Calibri" pitchFamily="34" charset="-120"/>
              </a:rPr>
              <a:t>Sell back on the Natixis bid if the index is up 60%, or let the Legacy Lock bank it</a:t>
            </a:r>
            <a:endParaRPr lang="en-US" sz="950" dirty="0"/>
          </a:p>
        </p:txBody>
      </p:sp>
      <p:sp>
        <p:nvSpPr>
          <p:cNvPr id="13" name="Shape 10"/>
          <p:cNvSpPr/>
          <p:nvPr/>
        </p:nvSpPr>
        <p:spPr>
          <a:xfrm>
            <a:off x="5212080" y="2084832"/>
            <a:ext cx="329184" cy="329184"/>
          </a:xfrm>
          <a:prstGeom prst="ellipse">
            <a:avLst/>
          </a:prstGeom>
          <a:solidFill>
            <a:srgbClr val="1F8A70"/>
          </a:solidFill>
          <a:ln/>
        </p:spPr>
      </p:sp>
      <p:sp>
        <p:nvSpPr>
          <p:cNvPr id="14" name="Text 11"/>
          <p:cNvSpPr txBox="1"/>
          <p:nvPr/>
        </p:nvSpPr>
        <p:spPr>
          <a:xfrm>
            <a:off x="5212080" y="20848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2"/>
          <p:cNvSpPr txBox="1"/>
          <p:nvPr/>
        </p:nvSpPr>
        <p:spPr>
          <a:xfrm>
            <a:off x="5650992" y="2066544"/>
            <a:ext cx="3063240" cy="228600"/>
          </a:xfrm>
          <a:prstGeom prst="rect">
            <a:avLst/>
          </a:prstGeom>
          <a:noFill/>
          <a:ln/>
        </p:spPr>
        <p:txBody>
          <a:bodyPr wrap="square" lIns="0" tIns="0" rIns="0" bIns="0" rtlCol="0" anchor="t"/>
          <a:lstStyle/>
          <a:p>
            <a:pPr indent="0" marL="0">
              <a:buNone/>
            </a:pPr>
            <a:r>
              <a:rPr lang="en-US" sz="1100" b="1" dirty="0">
                <a:solidFill>
                  <a:srgbClr val="0F2A3D"/>
                </a:solidFill>
                <a:latin typeface="Calibri" pitchFamily="34" charset="0"/>
                <a:ea typeface="Calibri" pitchFamily="34" charset="-122"/>
                <a:cs typeface="Calibri" pitchFamily="34" charset="-120"/>
              </a:rPr>
              <a:t>Stop-loss: </a:t>
            </a:r>
            <a:endParaRPr lang="en-US" sz="1100" dirty="0"/>
          </a:p>
        </p:txBody>
      </p:sp>
      <p:sp>
        <p:nvSpPr>
          <p:cNvPr id="16" name="Text 13"/>
          <p:cNvSpPr txBox="1"/>
          <p:nvPr/>
        </p:nvSpPr>
        <p:spPr>
          <a:xfrm>
            <a:off x="5650992" y="2286000"/>
            <a:ext cx="3063240" cy="329184"/>
          </a:xfrm>
          <a:prstGeom prst="rect">
            <a:avLst/>
          </a:prstGeom>
          <a:noFill/>
          <a:ln/>
        </p:spPr>
        <p:txBody>
          <a:bodyPr wrap="square" lIns="0" tIns="0" rIns="0" bIns="0" rtlCol="0" anchor="t"/>
          <a:lstStyle/>
          <a:p>
            <a:pPr indent="0" marL="0">
              <a:buNone/>
            </a:pPr>
            <a:r>
              <a:rPr lang="en-US" sz="950" dirty="0">
                <a:solidFill>
                  <a:srgbClr val="1E2B33"/>
                </a:solidFill>
                <a:latin typeface="Calibri" pitchFamily="34" charset="0"/>
                <a:ea typeface="Calibri" pitchFamily="34" charset="-122"/>
                <a:cs typeface="Calibri" pitchFamily="34" charset="-120"/>
              </a:rPr>
              <a:t>None: the 100% floor is the stop, so a stop would only crystallise MTM</a:t>
            </a:r>
            <a:endParaRPr lang="en-US" sz="950" dirty="0"/>
          </a:p>
        </p:txBody>
      </p:sp>
      <p:sp>
        <p:nvSpPr>
          <p:cNvPr id="17" name="Shape 14"/>
          <p:cNvSpPr/>
          <p:nvPr/>
        </p:nvSpPr>
        <p:spPr>
          <a:xfrm>
            <a:off x="5212080" y="2633472"/>
            <a:ext cx="329184" cy="329184"/>
          </a:xfrm>
          <a:prstGeom prst="ellipse">
            <a:avLst/>
          </a:prstGeom>
          <a:solidFill>
            <a:srgbClr val="D9482B"/>
          </a:solidFill>
          <a:ln/>
        </p:spPr>
      </p:sp>
      <p:sp>
        <p:nvSpPr>
          <p:cNvPr id="18" name="Text 15"/>
          <p:cNvSpPr txBox="1"/>
          <p:nvPr/>
        </p:nvSpPr>
        <p:spPr>
          <a:xfrm>
            <a:off x="5212080" y="263347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6"/>
          <p:cNvSpPr txBox="1"/>
          <p:nvPr/>
        </p:nvSpPr>
        <p:spPr>
          <a:xfrm>
            <a:off x="5650992" y="2615184"/>
            <a:ext cx="3063240" cy="228600"/>
          </a:xfrm>
          <a:prstGeom prst="rect">
            <a:avLst/>
          </a:prstGeom>
          <a:noFill/>
          <a:ln/>
        </p:spPr>
        <p:txBody>
          <a:bodyPr wrap="square" lIns="0" tIns="0" rIns="0" bIns="0" rtlCol="0" anchor="t"/>
          <a:lstStyle/>
          <a:p>
            <a:pPr indent="0" marL="0">
              <a:buNone/>
            </a:pPr>
            <a:r>
              <a:rPr lang="en-US" sz="1100" b="1" dirty="0">
                <a:solidFill>
                  <a:srgbClr val="0F2A3D"/>
                </a:solidFill>
                <a:latin typeface="Calibri" pitchFamily="34" charset="0"/>
                <a:ea typeface="Calibri" pitchFamily="34" charset="-122"/>
                <a:cs typeface="Calibri" pitchFamily="34" charset="-120"/>
              </a:rPr>
              <a:t>Thesis broken: </a:t>
            </a:r>
            <a:endParaRPr lang="en-US" sz="1100" dirty="0"/>
          </a:p>
        </p:txBody>
      </p:sp>
      <p:sp>
        <p:nvSpPr>
          <p:cNvPr id="20" name="Text 17"/>
          <p:cNvSpPr txBox="1"/>
          <p:nvPr/>
        </p:nvSpPr>
        <p:spPr>
          <a:xfrm>
            <a:off x="5650992" y="2834640"/>
            <a:ext cx="3063240" cy="329184"/>
          </a:xfrm>
          <a:prstGeom prst="rect">
            <a:avLst/>
          </a:prstGeom>
          <a:noFill/>
          <a:ln/>
        </p:spPr>
        <p:txBody>
          <a:bodyPr wrap="square" lIns="0" tIns="0" rIns="0" bIns="0" rtlCol="0" anchor="t"/>
          <a:lstStyle/>
          <a:p>
            <a:pPr indent="0" marL="0">
              <a:buNone/>
            </a:pPr>
            <a:r>
              <a:rPr lang="en-US" sz="950" dirty="0">
                <a:solidFill>
                  <a:srgbClr val="1E2B33"/>
                </a:solidFill>
                <a:latin typeface="Calibri" pitchFamily="34" charset="0"/>
                <a:ea typeface="Calibri" pitchFamily="34" charset="-122"/>
                <a:cs typeface="Calibri" pitchFamily="34" charset="-120"/>
              </a:rPr>
              <a:t>Taiwan blockade or sweeping chip export bans: exit on the secondary bid</a:t>
            </a:r>
            <a:endParaRPr lang="en-US" sz="950" dirty="0"/>
          </a:p>
        </p:txBody>
      </p:sp>
      <p:sp>
        <p:nvSpPr>
          <p:cNvPr id="21" name="Shape 18"/>
          <p:cNvSpPr/>
          <p:nvPr/>
        </p:nvSpPr>
        <p:spPr>
          <a:xfrm>
            <a:off x="5212080" y="3182112"/>
            <a:ext cx="329184" cy="329184"/>
          </a:xfrm>
          <a:prstGeom prst="ellipse">
            <a:avLst/>
          </a:prstGeom>
          <a:solidFill>
            <a:srgbClr val="1F8A70"/>
          </a:solidFill>
          <a:ln/>
        </p:spPr>
      </p:sp>
      <p:sp>
        <p:nvSpPr>
          <p:cNvPr id="22" name="Text 19"/>
          <p:cNvSpPr txBox="1"/>
          <p:nvPr/>
        </p:nvSpPr>
        <p:spPr>
          <a:xfrm>
            <a:off x="5212080" y="318211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0"/>
          <p:cNvSpPr txBox="1"/>
          <p:nvPr/>
        </p:nvSpPr>
        <p:spPr>
          <a:xfrm>
            <a:off x="5650992" y="3163824"/>
            <a:ext cx="3063240" cy="228600"/>
          </a:xfrm>
          <a:prstGeom prst="rect">
            <a:avLst/>
          </a:prstGeom>
          <a:noFill/>
          <a:ln/>
        </p:spPr>
        <p:txBody>
          <a:bodyPr wrap="square" lIns="0" tIns="0" rIns="0" bIns="0" rtlCol="0" anchor="t"/>
          <a:lstStyle/>
          <a:p>
            <a:pPr indent="0" marL="0">
              <a:buNone/>
            </a:pPr>
            <a:r>
              <a:rPr lang="en-US" sz="1100" b="1" dirty="0">
                <a:solidFill>
                  <a:srgbClr val="0F2A3D"/>
                </a:solidFill>
                <a:latin typeface="Calibri" pitchFamily="34" charset="0"/>
                <a:ea typeface="Calibri" pitchFamily="34" charset="-122"/>
                <a:cs typeface="Calibri" pitchFamily="34" charset="-120"/>
              </a:rPr>
              <a:t>Time: </a:t>
            </a:r>
            <a:endParaRPr lang="en-US" sz="1100" dirty="0"/>
          </a:p>
        </p:txBody>
      </p:sp>
      <p:sp>
        <p:nvSpPr>
          <p:cNvPr id="24" name="Text 21"/>
          <p:cNvSpPr txBox="1"/>
          <p:nvPr/>
        </p:nvSpPr>
        <p:spPr>
          <a:xfrm>
            <a:off x="5650992" y="3383280"/>
            <a:ext cx="3063240" cy="329184"/>
          </a:xfrm>
          <a:prstGeom prst="rect">
            <a:avLst/>
          </a:prstGeom>
          <a:noFill/>
          <a:ln/>
        </p:spPr>
        <p:txBody>
          <a:bodyPr wrap="square" lIns="0" tIns="0" rIns="0" bIns="0" rtlCol="0" anchor="t"/>
          <a:lstStyle/>
          <a:p>
            <a:pPr indent="0" marL="0">
              <a:buNone/>
            </a:pPr>
            <a:r>
              <a:rPr lang="en-US" sz="950" dirty="0">
                <a:solidFill>
                  <a:srgbClr val="1E2B33"/>
                </a:solidFill>
                <a:latin typeface="Calibri" pitchFamily="34" charset="0"/>
                <a:ea typeface="Calibri" pitchFamily="34" charset="-122"/>
                <a:cs typeface="Calibri" pitchFamily="34" charset="-120"/>
              </a:rPr>
              <a:t>Hold to maturity, Sep 2033</a:t>
            </a:r>
            <a:endParaRPr lang="en-US" sz="950" dirty="0"/>
          </a:p>
        </p:txBody>
      </p:sp>
      <p:sp>
        <p:nvSpPr>
          <p:cNvPr id="25" name="Text 22"/>
          <p:cNvSpPr txBox="1"/>
          <p:nvPr/>
        </p:nvSpPr>
        <p:spPr>
          <a:xfrm>
            <a:off x="5212080" y="3794760"/>
            <a:ext cx="3520440" cy="868680"/>
          </a:xfrm>
          <a:prstGeom prst="rect">
            <a:avLst/>
          </a:prstGeom>
          <a:noFill/>
          <a:ln/>
        </p:spPr>
        <p:txBody>
          <a:bodyPr wrap="square" lIns="0" tIns="0" rIns="0" bIns="0" rtlCol="0" anchor="t"/>
          <a:lstStyle/>
          <a:p>
            <a:pPr indent="0" marL="0">
              <a:buNone/>
            </a:pPr>
            <a:r>
              <a:rPr lang="en-US" sz="1000" i="1" dirty="0">
                <a:solidFill>
                  <a:srgbClr val="62717A"/>
                </a:solidFill>
                <a:latin typeface="Calibri" pitchFamily="34" charset="0"/>
                <a:ea typeface="Calibri" pitchFamily="34" charset="-122"/>
                <a:cs typeface="Calibri" pitchFamily="34" charset="-120"/>
              </a:rPr>
              <a:t>Also disclosed: Natixis credit risk · inflation erodes the real floor · VT lags V-shaped rebounds · quanto correlation · model risk on regime parameters.</a:t>
            </a:r>
            <a:endParaRPr lang="en-US" sz="1000" dirty="0"/>
          </a:p>
        </p:txBody>
      </p:sp>
      <p:sp>
        <p:nvSpPr>
          <p:cNvPr id="26" name="Text 23"/>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Indicative pricing: Monte Carlo with placeholder market inputs; funding from the 2026 rules grid. To be refreshed with Bloomberg data as of 17 Sep 2026.</a:t>
            </a:r>
            <a:endParaRPr lang="en-US" sz="800" dirty="0"/>
          </a:p>
        </p:txBody>
      </p:sp>
      <p:sp>
        <p:nvSpPr>
          <p:cNvPr id="27" name="Text 24"/>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3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Why it works for the family and for Natixis</a:t>
            </a:r>
            <a:endParaRPr lang="en-US" sz="2600" dirty="0"/>
          </a:p>
        </p:txBody>
      </p:sp>
      <p:sp>
        <p:nvSpPr>
          <p:cNvPr id="3" name="Shape 1"/>
          <p:cNvSpPr/>
          <p:nvPr/>
        </p:nvSpPr>
        <p:spPr>
          <a:xfrm>
            <a:off x="457200" y="1097280"/>
            <a:ext cx="4023360" cy="2926080"/>
          </a:xfrm>
          <a:prstGeom prst="roundRect">
            <a:avLst>
              <a:gd name="adj" fmla="val 2500"/>
            </a:avLst>
          </a:prstGeom>
          <a:solidFill>
            <a:srgbClr val="1C4460"/>
          </a:solidFill>
          <a:ln w="12700">
            <a:solidFill>
              <a:srgbClr val="1C4460"/>
            </a:solidFill>
            <a:prstDash val="solid"/>
          </a:ln>
        </p:spPr>
      </p:sp>
      <p:sp>
        <p:nvSpPr>
          <p:cNvPr id="4" name="Shape 2"/>
          <p:cNvSpPr/>
          <p:nvPr/>
        </p:nvSpPr>
        <p:spPr>
          <a:xfrm>
            <a:off x="685800" y="1280160"/>
            <a:ext cx="420624" cy="420624"/>
          </a:xfrm>
          <a:prstGeom prst="ellipse">
            <a:avLst/>
          </a:prstGeom>
          <a:solidFill>
            <a:srgbClr val="1F8A70"/>
          </a:solidFill>
          <a:ln/>
        </p:spPr>
      </p:sp>
      <p:sp>
        <p:nvSpPr>
          <p:cNvPr id="5" name="Text 3"/>
          <p:cNvSpPr txBox="1"/>
          <p:nvPr/>
        </p:nvSpPr>
        <p:spPr>
          <a:xfrm>
            <a:off x="685800" y="12801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6" name="Text 4"/>
          <p:cNvSpPr txBox="1"/>
          <p:nvPr/>
        </p:nvSpPr>
        <p:spPr>
          <a:xfrm>
            <a:off x="1234440" y="1325880"/>
            <a:ext cx="3108960" cy="3657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For the Chak family</a:t>
            </a:r>
            <a:endParaRPr lang="en-US" sz="1700" dirty="0"/>
          </a:p>
        </p:txBody>
      </p:sp>
      <p:sp>
        <p:nvSpPr>
          <p:cNvPr id="7" name="Text 5"/>
          <p:cNvSpPr txBox="1"/>
          <p:nvPr/>
        </p:nvSpPr>
        <p:spPr>
          <a:xfrm>
            <a:off x="731520" y="1874520"/>
            <a:ext cx="3520440" cy="20116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E2EEE9"/>
                </a:solidFill>
                <a:latin typeface="Calibri" pitchFamily="34" charset="0"/>
                <a:ea typeface="Calibri" pitchFamily="34" charset="-122"/>
                <a:cs typeface="Calibri" pitchFamily="34" charset="-120"/>
              </a:rPr>
              <a:t>Every dollar back in 2033 for the next generation</a:t>
            </a:r>
            <a:endParaRPr lang="en-US" sz="1250" dirty="0"/>
          </a:p>
          <a:p>
            <a:pPr marL="342900" indent="-342900">
              <a:spcAft>
                <a:spcPts val="800"/>
              </a:spcAft>
              <a:buSzPct val="100000"/>
              <a:buChar char="•"/>
            </a:pPr>
            <a:r>
              <a:rPr lang="en-US" sz="1250" dirty="0">
                <a:solidFill>
                  <a:srgbClr val="E2EEE9"/>
                </a:solidFill>
                <a:latin typeface="Calibri" pitchFamily="34" charset="0"/>
                <a:ea typeface="Calibri" pitchFamily="34" charset="-122"/>
                <a:cs typeface="Calibri" pitchFamily="34" charset="-120"/>
              </a:rPr>
              <a:t>167% uncapped participation in Asia's digital leaders</a:t>
            </a:r>
            <a:endParaRPr lang="en-US" sz="1250" dirty="0"/>
          </a:p>
          <a:p>
            <a:pPr marL="342900" indent="-342900">
              <a:spcAft>
                <a:spcPts val="800"/>
              </a:spcAft>
              <a:buSzPct val="100000"/>
              <a:buChar char="•"/>
            </a:pPr>
            <a:r>
              <a:rPr lang="en-US" sz="1250" dirty="0">
                <a:solidFill>
                  <a:srgbClr val="E2EEE9"/>
                </a:solidFill>
                <a:latin typeface="Calibri" pitchFamily="34" charset="0"/>
                <a:ea typeface="Calibri" pitchFamily="34" charset="-122"/>
                <a:cs typeface="Calibri" pitchFamily="34" charset="-120"/>
              </a:rPr>
              <a:t>Diversifies away from their own sectors and currencies</a:t>
            </a:r>
            <a:endParaRPr lang="en-US" sz="1250" dirty="0"/>
          </a:p>
          <a:p>
            <a:pPr marL="342900" indent="-342900">
              <a:spcAft>
                <a:spcPts val="800"/>
              </a:spcAft>
              <a:buSzPct val="100000"/>
              <a:buChar char="•"/>
            </a:pPr>
            <a:r>
              <a:rPr lang="en-US" sz="1250" dirty="0">
                <a:solidFill>
                  <a:srgbClr val="E2EEE9"/>
                </a:solidFill>
                <a:latin typeface="Calibri" pitchFamily="34" charset="0"/>
                <a:ea typeface="Calibri" pitchFamily="34" charset="-122"/>
                <a:cs typeface="Calibri" pitchFamily="34" charset="-120"/>
              </a:rPr>
              <a:t>Legacy Lock banks big gains for heirs</a:t>
            </a:r>
            <a:endParaRPr lang="en-US" sz="1250" dirty="0"/>
          </a:p>
        </p:txBody>
      </p:sp>
      <p:sp>
        <p:nvSpPr>
          <p:cNvPr id="8" name="Shape 6"/>
          <p:cNvSpPr/>
          <p:nvPr/>
        </p:nvSpPr>
        <p:spPr>
          <a:xfrm>
            <a:off x="4663440" y="1097280"/>
            <a:ext cx="4023360" cy="2926080"/>
          </a:xfrm>
          <a:prstGeom prst="roundRect">
            <a:avLst>
              <a:gd name="adj" fmla="val 2500"/>
            </a:avLst>
          </a:prstGeom>
          <a:solidFill>
            <a:srgbClr val="1C4460"/>
          </a:solidFill>
          <a:ln w="12700">
            <a:solidFill>
              <a:srgbClr val="1C4460"/>
            </a:solidFill>
            <a:prstDash val="solid"/>
          </a:ln>
        </p:spPr>
      </p:sp>
      <p:sp>
        <p:nvSpPr>
          <p:cNvPr id="9" name="Shape 7"/>
          <p:cNvSpPr/>
          <p:nvPr/>
        </p:nvSpPr>
        <p:spPr>
          <a:xfrm>
            <a:off x="4892040" y="1280160"/>
            <a:ext cx="420624" cy="420624"/>
          </a:xfrm>
          <a:prstGeom prst="ellipse">
            <a:avLst/>
          </a:prstGeom>
          <a:solidFill>
            <a:srgbClr val="D9482B"/>
          </a:solidFill>
          <a:ln/>
        </p:spPr>
      </p:sp>
      <p:sp>
        <p:nvSpPr>
          <p:cNvPr id="10" name="Text 8"/>
          <p:cNvSpPr txBox="1"/>
          <p:nvPr/>
        </p:nvSpPr>
        <p:spPr>
          <a:xfrm>
            <a:off x="4892040" y="12801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N</a:t>
            </a:r>
            <a:endParaRPr lang="en-US" sz="1400" dirty="0"/>
          </a:p>
        </p:txBody>
      </p:sp>
      <p:sp>
        <p:nvSpPr>
          <p:cNvPr id="11" name="Text 9"/>
          <p:cNvSpPr txBox="1"/>
          <p:nvPr/>
        </p:nvSpPr>
        <p:spPr>
          <a:xfrm>
            <a:off x="5440680" y="1325880"/>
            <a:ext cx="3108960" cy="3657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For Natixis</a:t>
            </a:r>
            <a:endParaRPr lang="en-US" sz="1700" dirty="0"/>
          </a:p>
        </p:txBody>
      </p:sp>
      <p:sp>
        <p:nvSpPr>
          <p:cNvPr id="12" name="Text 10"/>
          <p:cNvSpPr txBox="1"/>
          <p:nvPr/>
        </p:nvSpPr>
        <p:spPr>
          <a:xfrm>
            <a:off x="4937760" y="1874520"/>
            <a:ext cx="3520440" cy="20116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E2EEE9"/>
                </a:solidFill>
                <a:latin typeface="Calibri" pitchFamily="34" charset="0"/>
                <a:ea typeface="Calibri" pitchFamily="34" charset="-122"/>
                <a:cs typeface="Calibri" pitchFamily="34" charset="-120"/>
              </a:rPr>
              <a:t>Delta-only hedge: index vol fixed by design</a:t>
            </a:r>
            <a:endParaRPr lang="en-US" sz="1250" dirty="0"/>
          </a:p>
          <a:p>
            <a:pPr marL="342900" indent="-342900">
              <a:spcAft>
                <a:spcPts val="800"/>
              </a:spcAft>
              <a:buSzPct val="100000"/>
              <a:buChar char="•"/>
            </a:pPr>
            <a:r>
              <a:rPr lang="en-US" sz="1250" dirty="0">
                <a:solidFill>
                  <a:srgbClr val="E2EEE9"/>
                </a:solidFill>
                <a:latin typeface="Calibri" pitchFamily="34" charset="0"/>
                <a:ea typeface="Calibri" pitchFamily="34" charset="-122"/>
                <a:cs typeface="Calibri" pitchFamily="34" charset="-120"/>
              </a:rPr>
              <a:t>7Y USD funding at 5.75% for the BPCE group</a:t>
            </a:r>
            <a:endParaRPr lang="en-US" sz="1250" dirty="0"/>
          </a:p>
          <a:p>
            <a:pPr marL="342900" indent="-342900">
              <a:spcAft>
                <a:spcPts val="800"/>
              </a:spcAft>
              <a:buSzPct val="100000"/>
              <a:buChar char="•"/>
            </a:pPr>
            <a:r>
              <a:rPr lang="en-US" sz="1250" dirty="0">
                <a:solidFill>
                  <a:srgbClr val="E2EEE9"/>
                </a:solidFill>
                <a:latin typeface="Calibri" pitchFamily="34" charset="0"/>
                <a:ea typeface="Calibri" pitchFamily="34" charset="-122"/>
                <a:cs typeface="Calibri" pitchFamily="34" charset="-120"/>
              </a:rPr>
              <a:t>Proprietary index reusable across private-bank clients</a:t>
            </a:r>
            <a:endParaRPr lang="en-US" sz="1250" dirty="0"/>
          </a:p>
          <a:p>
            <a:pPr marL="342900" indent="-342900">
              <a:spcAft>
                <a:spcPts val="800"/>
              </a:spcAft>
              <a:buSzPct val="100000"/>
              <a:buChar char="•"/>
            </a:pPr>
            <a:r>
              <a:rPr lang="en-US" sz="1250" dirty="0">
                <a:solidFill>
                  <a:srgbClr val="E2EEE9"/>
                </a:solidFill>
                <a:latin typeface="Calibri" pitchFamily="34" charset="0"/>
                <a:ea typeface="Calibri" pitchFamily="34" charset="-122"/>
                <a:cs typeface="Calibri" pitchFamily="34" charset="-120"/>
              </a:rPr>
              <a:t>Long-term relationship with a third-generation family office</a:t>
            </a:r>
            <a:endParaRPr lang="en-US" sz="1250" dirty="0"/>
          </a:p>
        </p:txBody>
      </p:sp>
      <p:sp>
        <p:nvSpPr>
          <p:cNvPr id="13" name="Text 11"/>
          <p:cNvSpPr txBox="1"/>
          <p:nvPr/>
        </p:nvSpPr>
        <p:spPr>
          <a:xfrm>
            <a:off x="457200" y="4206240"/>
            <a:ext cx="8229600" cy="457200"/>
          </a:xfrm>
          <a:prstGeom prst="rect">
            <a:avLst/>
          </a:prstGeom>
          <a:noFill/>
          <a:ln/>
        </p:spPr>
        <p:txBody>
          <a:bodyPr wrap="square" lIns="0" tIns="0" rIns="0" bIns="0" rtlCol="0" anchor="t"/>
          <a:lstStyle/>
          <a:p>
            <a:pPr algn="ctr" indent="0" marL="0">
              <a:buNone/>
            </a:pPr>
            <a:r>
              <a:rPr lang="en-US" sz="2000" b="1" i="1" dirty="0">
                <a:solidFill>
                  <a:srgbClr val="E2A73B"/>
                </a:solidFill>
                <a:latin typeface="Cambria" pitchFamily="34" charset="0"/>
                <a:ea typeface="Cambria" pitchFamily="34" charset="-122"/>
                <a:cs typeface="Cambria" pitchFamily="34" charset="-120"/>
              </a:rPr>
              <a:t>Protect the legacy. Own the digital future of Asia.</a:t>
            </a:r>
            <a:endParaRPr lang="en-US" sz="2000" dirty="0"/>
          </a:p>
        </p:txBody>
      </p:sp>
      <p:sp>
        <p:nvSpPr>
          <p:cNvPr id="14" name="Text 12"/>
          <p:cNvSpPr txBox="1"/>
          <p:nvPr/>
        </p:nvSpPr>
        <p:spPr>
          <a:xfrm>
            <a:off x="8321040" y="4773168"/>
            <a:ext cx="365760" cy="256032"/>
          </a:xfrm>
          <a:prstGeom prst="rect">
            <a:avLst/>
          </a:prstGeom>
          <a:noFill/>
          <a:ln/>
        </p:spPr>
        <p:txBody>
          <a:bodyPr wrap="square" lIns="0" tIns="0" rIns="0" bIns="0" rtlCol="0" anchor="ctr"/>
          <a:lstStyle/>
          <a:p>
            <a:pPr algn="r" indent="0" marL="0">
              <a:buNone/>
            </a:pPr>
            <a:r>
              <a:rPr lang="en-US" sz="900" dirty="0">
                <a:solidFill>
                  <a:srgbClr val="6271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Appendix A: adding a digital-asset sleeve</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Options considered if the family wants direct exposure to digital assets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645920"/>
                <a:gridCol w="2743200"/>
                <a:gridCol w="1188720"/>
                <a:gridCol w="265176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Variant</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Underlying</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Participation</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Assessment</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r>
              <a:tr h="502920">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Core (recommended)</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Asia Digital Bridge VT index</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164%</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Best fit for a legacy mandate</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80/20 static sleeve</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80% VT index + 20% spot Bitcoin ETF (IBIT US)</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~130%</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Possible add-on: crypto adds ~11pt of vol to the basket</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Best-of</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Better of VT index or Bitcoin ETF</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~40–45%</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1100" dirty="0">
                          <a:solidFill>
                            <a:srgbClr val="1E2B33"/>
                          </a:solidFill>
                          <a:latin typeface="Calibri" pitchFamily="34" charset="0"/>
                          <a:ea typeface="Calibri" pitchFamily="34" charset="-122"/>
                          <a:cs typeface="Calibri" pitchFamily="34" charset="-120"/>
                        </a:rPr>
                        <a:t>Rejected: Bitcoin vol (50–60%) makes the best-of too expensive</a:t>
                      </a:r>
                      <a:endParaRPr lang="en-US" sz="110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429000"/>
            <a:ext cx="8229600" cy="11887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E2B33"/>
                </a:solidFill>
                <a:latin typeface="Calibri" pitchFamily="34" charset="0"/>
                <a:ea typeface="Calibri" pitchFamily="34" charset="-122"/>
                <a:cs typeface="Calibri" pitchFamily="34" charset="-120"/>
              </a:rPr>
              <a:t>IBIT US is a US-listed spot Bitcoin ETF with daily volume well above the USD 5M rule (confirm on Bloomberg)</a:t>
            </a:r>
            <a:endParaRPr lang="en-US" sz="1150" dirty="0"/>
          </a:p>
          <a:p>
            <a:pPr marL="342900" indent="-342900">
              <a:spcAft>
                <a:spcPts val="500"/>
              </a:spcAft>
              <a:buSzPct val="100000"/>
              <a:buChar char="•"/>
            </a:pPr>
            <a:r>
              <a:rPr lang="en-US" sz="1150" dirty="0">
                <a:solidFill>
                  <a:srgbClr val="1E2B33"/>
                </a:solidFill>
                <a:latin typeface="Calibri" pitchFamily="34" charset="0"/>
                <a:ea typeface="Calibri" pitchFamily="34" charset="-122"/>
                <a:cs typeface="Calibri" pitchFamily="34" charset="-120"/>
              </a:rPr>
              <a:t>Why not in the core: drawdowns of 70%+ in past cycles and no earnings anchor; hard to defend for generational wealth</a:t>
            </a:r>
            <a:endParaRPr lang="en-US" sz="1150" dirty="0"/>
          </a:p>
          <a:p>
            <a:pPr marL="342900" indent="-342900">
              <a:spcAft>
                <a:spcPts val="500"/>
              </a:spcAft>
              <a:buSzPct val="100000"/>
              <a:buChar char="•"/>
            </a:pPr>
            <a:r>
              <a:rPr lang="en-US" sz="1150" dirty="0">
                <a:solidFill>
                  <a:srgbClr val="1E2B33"/>
                </a:solidFill>
                <a:latin typeface="Calibri" pitchFamily="34" charset="0"/>
                <a:ea typeface="Calibri" pitchFamily="34" charset="-122"/>
                <a:cs typeface="Calibri" pitchFamily="34" charset="-120"/>
              </a:rPr>
              <a:t>If included, keep it in the 80/20 form so protection and most of the participation are preserved</a:t>
            </a:r>
            <a:endParaRPr lang="en-US" sz="1150" dirty="0"/>
          </a:p>
        </p:txBody>
      </p:sp>
      <p:sp>
        <p:nvSpPr>
          <p:cNvPr id="6" name="Text 3"/>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Indicative Monte Carlo: Bitcoin vol 50–60%, correlation 0.2–0.4 with the VT index, same 30.4% option budget.</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0F2A3D"/>
                </a:solidFill>
                <a:latin typeface="Cambria" pitchFamily="34" charset="0"/>
                <a:ea typeface="Cambria" pitchFamily="34" charset="-122"/>
                <a:cs typeface="Cambria" pitchFamily="34" charset="-120"/>
              </a:rPr>
              <a:t>Appendix B: methodology and assumptions</a:t>
            </a:r>
            <a:endParaRPr lang="en-US" sz="2600" dirty="0"/>
          </a:p>
        </p:txBody>
      </p:sp>
      <p:sp>
        <p:nvSpPr>
          <p:cNvPr id="3" name="Text 1"/>
          <p:cNvSpPr txBox="1"/>
          <p:nvPr/>
        </p:nvSpPr>
        <p:spPr>
          <a:xfrm>
            <a:off x="457200" y="786384"/>
            <a:ext cx="8229600" cy="310896"/>
          </a:xfrm>
          <a:prstGeom prst="rect">
            <a:avLst/>
          </a:prstGeom>
          <a:noFill/>
          <a:ln/>
        </p:spPr>
        <p:txBody>
          <a:bodyPr wrap="square" lIns="0" tIns="0" rIns="0" bIns="0" rtlCol="0" anchor="ctr"/>
          <a:lstStyle/>
          <a:p>
            <a:pPr indent="0" marL="0">
              <a:buNone/>
            </a:pPr>
            <a:r>
              <a:rPr lang="en-US" sz="1300" i="1" dirty="0">
                <a:solidFill>
                  <a:srgbClr val="62717A"/>
                </a:solidFill>
                <a:latin typeface="Calibri" pitchFamily="34" charset="0"/>
                <a:ea typeface="Calibri" pitchFamily="34" charset="-122"/>
                <a:cs typeface="Calibri" pitchFamily="34" charset="-120"/>
              </a:rPr>
              <a:t>All inputs are placeholders to be refreshed with Bloomberg data as of 17 Sep 2026</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937760" cy="914400"/>
        </p:xfrm>
        <a:graphic>
          <a:graphicData uri="http://schemas.openxmlformats.org/drawingml/2006/table">
            <a:tbl>
              <a:tblPr/>
              <a:tblGrid>
                <a:gridCol w="1645920"/>
                <a:gridCol w="1280160"/>
                <a:gridCol w="2011680"/>
              </a:tblGrid>
              <a:tr h="3840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Input</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 used</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Source / to refresh</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0F2A3D"/>
                    </a:solidFill>
                  </a:tcPr>
                </a:tc>
              </a:tr>
              <a:tr h="384048">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USD funding 7Y</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5.75%</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2026 rules funding grid (linear interpolation)</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USD OIS for option pricing</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3.75%</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Assumption: Bloomberg USSO7</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Basket volatility regimes</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22% calm / 45% stress</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Assumption: calibrate to basket history</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Raw-basket 7Y implied vol</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Assumption: dealer quote / long-dated surface</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Issuer fee</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2.0% upfront</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Assumption</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Quanto adjustment</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−0.2% p.a.</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c>
                  <a:txBody>
                    <a:bodyPr/>
                    <a:lstStyle/>
                    <a:p>
                      <a:pPr indent="0" marL="0">
                        <a:buNone/>
                      </a:pPr>
                      <a:r>
                        <a:rPr lang="en-US" sz="950" dirty="0">
                          <a:solidFill>
                            <a:srgbClr val="1E2B33"/>
                          </a:solidFill>
                          <a:latin typeface="Calibri" pitchFamily="34" charset="0"/>
                          <a:ea typeface="Calibri" pitchFamily="34" charset="-122"/>
                          <a:cs typeface="Calibri" pitchFamily="34" charset="-120"/>
                        </a:rPr>
                        <a:t>Assumption: equity–FX correlation</a:t>
                      </a:r>
                      <a:endParaRPr lang="en-US" sz="950" dirty="0">
                        <a:latin typeface="Calibri" charset="0"/>
                        <a:ea typeface="Calibri" charset="0"/>
                        <a:cs typeface="Calibri" charset="0"/>
                      </a:endParaRPr>
                    </a:p>
                  </a:txBody>
                  <a:tcPr marL="45720" marR="45720" marT="45720" marB="45720" anchor="ctr">
                    <a:lnL w="6350" cap="flat" cmpd="sng" algn="ctr">
                      <a:solidFill>
                        <a:srgbClr val="CFDDD7"/>
                      </a:solidFill>
                      <a:prstDash val="solid"/>
                      <a:round/>
                      <a:headEnd type="none" w="med" len="med"/>
                      <a:tailEnd type="none" w="med" len="med"/>
                    </a:lnL>
                    <a:lnR w="6350" cap="flat" cmpd="sng" algn="ctr">
                      <a:solidFill>
                        <a:srgbClr val="CFDDD7"/>
                      </a:solidFill>
                      <a:prstDash val="solid"/>
                      <a:round/>
                      <a:headEnd type="none" w="med" len="med"/>
                      <a:tailEnd type="none" w="med" len="med"/>
                    </a:lnR>
                    <a:lnT w="6350" cap="flat" cmpd="sng" algn="ctr">
                      <a:solidFill>
                        <a:srgbClr val="CFDDD7"/>
                      </a:solidFill>
                      <a:prstDash val="solid"/>
                      <a:round/>
                      <a:headEnd type="none" w="med" len="med"/>
                      <a:tailEnd type="none" w="med" len="med"/>
                    </a:lnT>
                    <a:lnB w="6350" cap="flat" cmpd="sng" algn="ctr">
                      <a:solidFill>
                        <a:srgbClr val="CFDDD7"/>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0" y="1188720"/>
            <a:ext cx="3017520" cy="274320"/>
          </a:xfrm>
          <a:prstGeom prst="rect">
            <a:avLst/>
          </a:prstGeom>
          <a:noFill/>
          <a:ln/>
        </p:spPr>
        <p:txBody>
          <a:bodyPr wrap="square" lIns="0" tIns="0" rIns="0" bIns="0" rtlCol="0" anchor="t"/>
          <a:lstStyle/>
          <a:p>
            <a:pPr indent="0" marL="0">
              <a:buNone/>
            </a:pPr>
            <a:r>
              <a:rPr lang="en-US" sz="1400" b="1" dirty="0">
                <a:solidFill>
                  <a:srgbClr val="0F2A3D"/>
                </a:solidFill>
                <a:latin typeface="Cambria" pitchFamily="34" charset="0"/>
                <a:ea typeface="Cambria" pitchFamily="34" charset="-122"/>
                <a:cs typeface="Cambria" pitchFamily="34" charset="-120"/>
              </a:rPr>
              <a:t>Models</a:t>
            </a:r>
            <a:endParaRPr lang="en-US" sz="1400" dirty="0"/>
          </a:p>
        </p:txBody>
      </p:sp>
      <p:sp>
        <p:nvSpPr>
          <p:cNvPr id="6" name="Text 3"/>
          <p:cNvSpPr txBox="1"/>
          <p:nvPr/>
        </p:nvSpPr>
        <p:spPr>
          <a:xfrm>
            <a:off x="5669280" y="1554480"/>
            <a:ext cx="3063240" cy="301752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E2B33"/>
                </a:solidFill>
                <a:latin typeface="Calibri" pitchFamily="34" charset="0"/>
                <a:ea typeface="Calibri" pitchFamily="34" charset="-122"/>
                <a:cs typeface="Calibri" pitchFamily="34" charset="-120"/>
              </a:rPr>
              <a:t>Pricing: daily Monte Carlo, 20k paths, two-regime basket vol; VT index rebuilt each day with lag and cap</a:t>
            </a:r>
            <a:endParaRPr lang="en-US" sz="1050" dirty="0"/>
          </a:p>
          <a:p>
            <a:pPr marL="342900" indent="-342900">
              <a:spcAft>
                <a:spcPts val="500"/>
              </a:spcAft>
              <a:buSzPct val="100000"/>
              <a:buChar char="•"/>
            </a:pPr>
            <a:r>
              <a:rPr lang="en-US" sz="1050" dirty="0">
                <a:solidFill>
                  <a:srgbClr val="1E2B33"/>
                </a:solidFill>
                <a:latin typeface="Calibri" pitchFamily="34" charset="0"/>
                <a:ea typeface="Calibri" pitchFamily="34" charset="-122"/>
                <a:cs typeface="Calibri" pitchFamily="34" charset="-120"/>
              </a:rPr>
              <a:t>MTM and Greeks: Black-Scholes on the VT index, scaled to the Monte Carlo price</a:t>
            </a:r>
            <a:endParaRPr lang="en-US" sz="1050" dirty="0"/>
          </a:p>
          <a:p>
            <a:pPr marL="342900" indent="-342900">
              <a:spcAft>
                <a:spcPts val="500"/>
              </a:spcAft>
              <a:buSzPct val="100000"/>
              <a:buChar char="•"/>
            </a:pPr>
            <a:r>
              <a:rPr lang="en-US" sz="1050" dirty="0">
                <a:solidFill>
                  <a:srgbClr val="1E2B33"/>
                </a:solidFill>
                <a:latin typeface="Calibri" pitchFamily="34" charset="0"/>
                <a:ea typeface="Calibri" pitchFamily="34" charset="-122"/>
                <a:cs typeface="Calibri" pitchFamily="34" charset="-120"/>
              </a:rPr>
              <a:t>VaR: 10-day 99% delta-normal; ES from the normal tail</a:t>
            </a:r>
            <a:endParaRPr lang="en-US" sz="1050" dirty="0"/>
          </a:p>
          <a:p>
            <a:pPr marL="342900" indent="-342900">
              <a:spcAft>
                <a:spcPts val="500"/>
              </a:spcAft>
              <a:buSzPct val="100000"/>
              <a:buChar char="•"/>
            </a:pPr>
            <a:r>
              <a:rPr lang="en-US" sz="1050" dirty="0">
                <a:solidFill>
                  <a:srgbClr val="1E2B33"/>
                </a:solidFill>
                <a:latin typeface="Calibri" pitchFamily="34" charset="0"/>
                <a:ea typeface="Calibri" pitchFamily="34" charset="-122"/>
                <a:cs typeface="Calibri" pitchFamily="34" charset="-120"/>
              </a:rPr>
              <a:t>Backtest: rolling 7Y windows on Bloomberg history 2005–2026, plus GFC, 2015, 2018, 2020, 2022 stress windows</a:t>
            </a:r>
            <a:endParaRPr lang="en-US" sz="1050" dirty="0"/>
          </a:p>
        </p:txBody>
      </p:sp>
      <p:sp>
        <p:nvSpPr>
          <p:cNvPr id="7" name="Text 4"/>
          <p:cNvSpPr txBox="1"/>
          <p:nvPr/>
        </p:nvSpPr>
        <p:spPr>
          <a:xfrm>
            <a:off x="457200" y="4773168"/>
            <a:ext cx="7772400" cy="256032"/>
          </a:xfrm>
          <a:prstGeom prst="rect">
            <a:avLst/>
          </a:prstGeom>
          <a:noFill/>
          <a:ln/>
        </p:spPr>
        <p:txBody>
          <a:bodyPr wrap="square" lIns="0" tIns="0" rIns="0" bIns="0" rtlCol="0" anchor="ctr"/>
          <a:lstStyle/>
          <a:p>
            <a:pPr indent="0" marL="0">
              <a:buNone/>
            </a:pPr>
            <a:r>
              <a:rPr lang="en-US" sz="800" i="1" dirty="0">
                <a:solidFill>
                  <a:srgbClr val="62717A"/>
                </a:solidFill>
                <a:latin typeface="Calibri" pitchFamily="34" charset="0"/>
                <a:ea typeface="Calibri" pitchFamily="34" charset="-122"/>
                <a:cs typeface="Calibri" pitchFamily="34" charset="-120"/>
              </a:rPr>
              <a:t>Code: pricing/scenario2_vt_note.py · pricing/scenario2_backtest.py · pricing/Asia-Digital-Bridge-Pricer.xlsx</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Asia Digital Bridge Note</dc:title>
  <dc:subject>PptxGenJS Presentation</dc:subject>
  <dc:creator>PptxGenJS</dc:creator>
  <cp:lastModifiedBy>PptxGenJS</cp:lastModifiedBy>
  <cp:revision>1</cp:revision>
  <dcterms:created xsi:type="dcterms:W3CDTF">2026-10-01T03:56:36Z</dcterms:created>
  <dcterms:modified xsi:type="dcterms:W3CDTF">2026-10-01T03:56:36Z</dcterms:modified>
</cp:coreProperties>
</file>