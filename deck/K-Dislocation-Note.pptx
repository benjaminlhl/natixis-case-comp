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B2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1B2D"/>
                </a:solidFill>
                <a:latin typeface="Calibri"/>
              </a:rPr>
              <a:t>Payout (% notional) vs KOSPI move after trigger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Engine A payout</c:v>
                </c:pt>
              </c:strCache>
            </c:strRef>
          </c:tx>
          <c:spPr>
            <a:solidFill>
              <a:srgbClr val="E8A33D"/>
            </a:solidFill>
            <a:ln w="38100" cap="flat">
              <a:solidFill>
                <a:srgbClr val="E8A3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8A33D"/>
              </a:solidFill>
              <a:ln w="9525" cap="flat">
                <a:solidFill>
                  <a:srgbClr val="E8A3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-30%</c:v>
                  </c:pt>
                  <c:pt idx="1">
                    <c:v>-20%</c:v>
                  </c:pt>
                  <c:pt idx="2">
                    <c:v>-10%</c:v>
                  </c:pt>
                  <c:pt idx="3">
                    <c:v>0%</c:v>
                  </c:pt>
                  <c:pt idx="4">
                    <c:v>10%</c:v>
                  </c:pt>
                  <c:pt idx="5">
                    <c:v>20%</c:v>
                  </c:pt>
                  <c:pt idx="6">
                    <c:v>30%</c:v>
                  </c:pt>
                  <c:pt idx="7">
                    <c:v>40%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12</c:v>
                </c:pt>
                <c:pt idx="5">
                  <c:v>24</c:v>
                </c:pt>
                <c:pt idx="6">
                  <c:v>36</c:v>
                </c:pt>
                <c:pt idx="7">
                  <c:v>48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B668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B6680"/>
                    </a:solidFill>
                    <a:latin typeface="Arial"/>
                  </a:rPr>
                  <a:t>KOSPI at maturity vs trigger level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6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1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6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B2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1B2D"/>
                </a:solidFill>
                <a:latin typeface="Calibri"/>
              </a:rPr>
              <a:t>Payout multiple vs corr(Brent, USD/KRW)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Payout multiple</c:v>
                </c:pt>
              </c:strCache>
            </c:strRef>
          </c:tx>
          <c:spPr>
            <a:solidFill>
              <a:srgbClr val="1E9E8F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B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+0.1</c:v>
                  </c:pt>
                  <c:pt idx="1">
                    <c:v>+0.3</c:v>
                  </c:pt>
                  <c:pt idx="2">
                    <c:v>+0.5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7.2</c:v>
                </c:pt>
                <c:pt idx="1">
                  <c:v>9</c:v>
                </c:pt>
                <c:pt idx="2">
                  <c:v>12.4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B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6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9525" cap="flat">
              <a:solidFill>
                <a:srgbClr val="E6E1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6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F1B2D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1F1B2D"/>
                </a:solidFill>
                <a:latin typeface="Calibri"/>
              </a:rPr>
              <a:t>Payout (% notional) vs KOSPI 200 return at maturity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Engine C payout</c:v>
                </c:pt>
              </c:strCache>
            </c:strRef>
          </c:tx>
          <c:spPr>
            <a:solidFill>
              <a:srgbClr val="4B2E83"/>
            </a:solidFill>
            <a:ln w="38100" cap="flat">
              <a:solidFill>
                <a:srgbClr val="4B2E8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B2E83"/>
              </a:solidFill>
              <a:ln w="9525" cap="flat">
                <a:solidFill>
                  <a:srgbClr val="4B2E8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-20%</c:v>
                  </c:pt>
                  <c:pt idx="1">
                    <c:v>-10%</c:v>
                  </c:pt>
                  <c:pt idx="2">
                    <c:v>0%</c:v>
                  </c:pt>
                  <c:pt idx="3">
                    <c:v>10%</c:v>
                  </c:pt>
                  <c:pt idx="4">
                    <c:v>20%</c:v>
                  </c:pt>
                  <c:pt idx="5">
                    <c:v>30%</c:v>
                  </c:pt>
                  <c:pt idx="6">
                    <c:v>40%</c:v>
                  </c:pt>
                  <c:pt idx="7">
                    <c:v>50%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6.5</c:v>
                </c:pt>
                <c:pt idx="4">
                  <c:v>13</c:v>
                </c:pt>
                <c:pt idx="5">
                  <c:v>19.5</c:v>
                </c:pt>
                <c:pt idx="6">
                  <c:v>19.5</c:v>
                </c:pt>
                <c:pt idx="7">
                  <c:v>19.5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6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1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6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Redemption</c:v>
                </c:pt>
              </c:strCache>
            </c:strRef>
          </c:tx>
          <c:spPr>
            <a:solidFill>
              <a:srgbClr val="E8A3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1B2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A3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9E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B2E8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8463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Oil shock + rebound</c:v>
                  </c:pt>
                  <c:pt idx="1">
                    <c:v>Oil shock + KRW strong</c:v>
                  </c:pt>
                  <c:pt idx="2">
                    <c:v>Ceasefire, KOSPI +30%</c:v>
                  </c:pt>
                  <c:pt idx="3">
                    <c:v>Stagnation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114</c:v>
                </c:pt>
                <c:pt idx="1">
                  <c:v>141</c:v>
                </c:pt>
                <c:pt idx="2">
                  <c:v>109.5</c:v>
                </c:pt>
                <c:pt idx="3">
                  <c:v>90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F1B2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66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60"/>
        </c:scaling>
        <c:delete val="1"/>
        <c:axPos val="l"/>
        <c:majorGridlines>
          <c:spPr>
            <a:ln w="9525" cap="flat">
              <a:solidFill>
                <a:srgbClr val="E6E1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6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One-line pitch: the oil shock is Korea's biggest macro risk; we make it the trigger that buys the dislocation, with the next loss capped at a known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 (does not count toward the 10-slide limit).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USD 30M loss ended a relationship. Our edge is pairing exotic payoffs with transparency: known max loss, Greeks, unwind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catalyst maps to one engine of the note. Confirm current status (WGBI phase-in, MSCI review outcome, oil levels) with Bloomberg as of trade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Architecture: ZCB delivers 90% at maturity; the ~14% option budget is split A 5%, B 3%, C 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 A converts the main macro risk into the entry signal. Variants to test: strike set 1 month after trigger; 120% trigger.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a 3% budget and ~9x payout, B returns ~27% of notional if both conditions are met. Correlation is the main pricing driver.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 C is the hedge of the book's thesis: it pays when the oil shock does not happen and Korea re-rates.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KRW is not in the funding grid: footnote 1 lets us swap. KRW-equivalent funding is lower than the USD rate; show the formula and the Bloomberg CCS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payoffs in two very different regimes, and the bad regime has a known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candid: the 2022 path is the bad case for Engine A. The cap is what protects the fund. Show stress-test P&amp;L in the appendix.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fit: exotic, asymmetric, trustworthy. Ask for the next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Appendix. Pricing script: pricing/illustrative_mc.py in the team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6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097280"/>
            <a:ext cx="4572000" cy="457200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3108960"/>
            <a:ext cx="2377440" cy="2377440"/>
          </a:xfrm>
          <a:prstGeom prst="ellipse">
            <a:avLst/>
          </a:prstGeom>
          <a:solidFill>
            <a:srgbClr val="E8A33D">
              <a:alpha val="8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9144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C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Strategy Challenge 2026 · Proposal for Purple Magic Capital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K-Dislocation Note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9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Iran-war oil shock into Korea's buy-the-dip trigger, with a maximum loss known on day one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148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KRW 135bn · 18-month note · 90% capital protected · Trade date 17 Sep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note, three catalyst engines, one known maximum loss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B2E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loss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KRW ~13.5bn, known on day one: 90% capital protection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32588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7472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~14%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budget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on three engines tied to oil, KRW and Korean equity catalysts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32588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1463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B2E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3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286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Regimes that pay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in an oil shock and in a peace/re-rating; loses only in stagnation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65760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Oil-shock dip buyer: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Brent +25% switches on a KOSPI 200 call struck at the dislocated level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Decoupling dual digital: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~9x payout if oil rises and KRW still strengthens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Re-rating call spread: </a:t>
            </a:r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KOSPI 200 upside to +30% from ceasefire and Value-up reforms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Purple Magic needs asymmetry and trust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diagnosis: a sophisticated fund redeploying after a USD 30M loss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they are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46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Korea-based hedge fund, USD 10bn AUM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and event-driven strategies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Prefers customised, exotic structures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554480"/>
            <a:ext cx="457200" cy="45720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want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5146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Redeploy KRW 135bn (~USD 95–100M)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emerging macro catalysts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from dislocations and regulatory shifts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035040" y="137160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2A1650"/>
          </a:solidFill>
          <a:ln w="12700">
            <a:solidFill>
              <a:srgbClr val="2A16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1554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they need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514600"/>
            <a:ext cx="2286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D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defined, known maximum loss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D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pricing and Greeks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DE7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unwind terms and secondary market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brief: convex payoffs on Korea-specific catalysts, with a capped and disclosed downside.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catalysts, one dislocation trade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view as of 17 Sep 2026 (status of each to be confirmed on Bloomberg)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11480" cy="41148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2801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shock from the Iran war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794760" y="12801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Korea imports almost all its oil: trade balance, inflation and KRW are exposed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0" y="1344168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0" y="13441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93392"/>
            <a:ext cx="411480" cy="41148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9933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194767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memory cycle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794760" y="19476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and SK Hynix are a large share of KOSPI and exports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0" y="2011680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0" y="20116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660904"/>
            <a:ext cx="411480" cy="41148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61518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Value-up reforms / MSCI watch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794760" y="261518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reform and possible upgrade can re-rate Korean equities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0" y="2679192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0" y="267919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328416"/>
            <a:ext cx="411480" cy="411480"/>
          </a:xfrm>
          <a:prstGeom prst="ellipse">
            <a:avLst/>
          </a:prstGeom>
          <a:solidFill>
            <a:srgbClr val="1E9E8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33284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2826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WGBI index inclusion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32826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Index-driven buying of Korean government bonds supports KRW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772400" y="3346704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0" y="334670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B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995928"/>
            <a:ext cx="411480" cy="411480"/>
          </a:xfrm>
          <a:prstGeom prst="ellipse">
            <a:avLst/>
          </a:prstGeom>
          <a:solidFill>
            <a:srgbClr val="1E9E8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39502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vs BoK divergence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794760" y="395020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USD/KRW and the Korea–US yield gap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0" y="4014216"/>
            <a:ext cx="914400" cy="384048"/>
          </a:xfrm>
          <a:prstGeom prst="roundRect">
            <a:avLst>
              <a:gd name="adj" fmla="val 19048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0" y="4014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B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note, three engines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KRW 135bn is allocated inside an 18-month, 90% protected note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463040" cy="1417320"/>
          </a:xfrm>
          <a:prstGeom prst="rect">
            <a:avLst/>
          </a:prstGeom>
          <a:solidFill>
            <a:srgbClr val="2A165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84.5%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148840" y="132588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Zero-coupon bond (90% protection)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463040" cy="274320"/>
          </a:xfrm>
          <a:prstGeom prst="rect">
            <a:avLst/>
          </a:prstGeom>
          <a:solidFill>
            <a:srgbClr val="6B668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432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1.5%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48840" y="2743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 margin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1463040" cy="640080"/>
          </a:xfrm>
          <a:prstGeom prst="rect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0175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148840" y="30175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Oil-shock dip buyer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1463040" cy="411480"/>
          </a:xfrm>
          <a:prstGeom prst="rect">
            <a:avLst/>
          </a:prstGeom>
          <a:solidFill>
            <a:srgbClr val="1E9E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65760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148840" y="36576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Decoupling dual digital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463040" cy="548640"/>
          </a:xfrm>
          <a:prstGeom prst="rect">
            <a:avLst/>
          </a:prstGeom>
          <a:solidFill>
            <a:srgbClr val="4B2E8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069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148840" y="40690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Re-rating call spread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0" y="132588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572768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754880" y="1572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141732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Oil-shock dip buyer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173736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Brent ≥125% (first 12M) switches on a KOSPI 200 call struck on the trigger day, ~120% participation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0" y="24231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4880" y="2670048"/>
            <a:ext cx="457200" cy="457200"/>
          </a:xfrm>
          <a:prstGeom prst="ellipse">
            <a:avLst/>
          </a:prstGeom>
          <a:solidFill>
            <a:srgbClr val="1E9E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2514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Decoupling dual digital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394960" y="283464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~9x if Brent ≥110% AND USD/KRW ≤97% at maturity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0" y="352044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54880" y="3767328"/>
            <a:ext cx="457200" cy="45720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5488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5394960" y="36118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Re-rating call spread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394960" y="393192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~65% participation in KOSPI 200 from 100% to 130%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Issuer: Natixis. KRW-denominated, funded at the USD grid rate and swapped to KRW via cross-currency swap. Bar not to scale; budget split illustrative.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 A: the oil shock buys the dip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Brent-triggered KOSPI 200 call with strike reset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2062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971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Brent daily close ≥ 125% of initial, any day in months 1–12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KOSPI 200 call starts, strike = KOSPI level on trigger day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~120% of KOSPI gain from trigger to maturity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of notional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vs vanilla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~4.1% per 100% participation, ~35–40% of an 18M ATM 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4846320" y="1188720"/>
          <a:ext cx="39319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4846320" y="4023360"/>
            <a:ext cx="3931920" cy="640080"/>
          </a:xfrm>
          <a:prstGeom prst="roundRect">
            <a:avLst>
              <a:gd name="adj" fmla="val 11429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4983480" y="4050792"/>
            <a:ext cx="3703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cheap: the call only exists if the shock happens (~44% trigger probability at 35% Brent vol), and its strike is reset to the dislocated level.</a:t>
            </a:r>
            <a:endParaRPr lang="en-US" sz="105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prices from Monte Carlo with placeholder inputs; to be re-run with Bloomberg data as of 17 Sep 2026.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 B: KRW decouples from oil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digital: Brent ≥ 110% AND USD/KRW ≤ 97% at maturity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34440"/>
          <a:ext cx="42062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93776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view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WGBI bond inflows and chip exports keep KRW strong even if oil rises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20391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cheap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3134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event goes against the usual oil–KRW link: the more positive the correlation, the cheaper the digital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937760" y="279806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Skew check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307238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USD/KRW risk reversals favour USD calls, so the KRW-strength leg is the cheap wing (Unit 4)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35570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loss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4937760" y="383133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only: 3% of notional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prices from Monte Carlo with placeholder inputs; to be re-run with Bloomberg data as of 17 Sep 2026. Measure realised correlation (1Y, 3Y) before fixing strikes.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 C: owning the ceasefire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KOSPI 200 100/130 call spread, ~65% participation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42062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937760" y="1280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Skew-aware pricing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937760" y="169164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2A1650"/>
          </a:solidFill>
          <a:ln w="12700">
            <a:solidFill>
              <a:srgbClr val="2A165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937760" y="175564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9.2%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3957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9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with skew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858000" y="1691640"/>
            <a:ext cx="1783080" cy="1143000"/>
          </a:xfrm>
          <a:prstGeom prst="roundRect">
            <a:avLst>
              <a:gd name="adj" fmla="val 6400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0" y="175564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B2E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8.1%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239572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at flat vol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937760" y="301752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130% call we sell sits at lower implied vol, so it earns less than flat vol suggests (Unit 4, slide 7).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6% buys ~65% participation; maximum gain +19.5% of notional.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in the peace scenario, when Engines A and B are idle.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prices from Monte Carlo with placeholder inputs; to be re-run with Bloomberg data as of 17 Sep 2026.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Pricing: funding grid to option budget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funding interpolated to 18M and swapped into KRW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B2E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5.04%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20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 funding, 18M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12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interpolation: 1Y 4.78%, 2Y 5.30%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2359152" y="17830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560320" y="128016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B2E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~4–5%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1920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KRW-equivalent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2212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USD/KRW cross-currency swap (verify basis)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7830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663440" y="128016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EEE8F7"/>
          </a:solidFill>
          <a:ln w="12700">
            <a:solidFill>
              <a:srgbClr val="EEE8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B2E8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84–85%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4754880" y="1920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90% ZCB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212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× discount factor at KRW-equivalent rate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565392" y="178308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2E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766560" y="1280160"/>
            <a:ext cx="1920240" cy="1508760"/>
          </a:xfrm>
          <a:prstGeom prst="roundRect">
            <a:avLst>
              <a:gd name="adj" fmla="val 4848"/>
            </a:avLst>
          </a:prstGeom>
          <a:solidFill>
            <a:srgbClr val="2A1650"/>
          </a:solidFill>
          <a:ln w="12700">
            <a:solidFill>
              <a:srgbClr val="2A16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371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~14%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920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budget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2212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9E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~1.5% Natixis margin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971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Protection dial: the fund chooses its risk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14400"/>
                <a:gridCol w="1371600"/>
                <a:gridCol w="1097280"/>
                <a:gridCol w="137160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participation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payout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participation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2E8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loss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2E8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(recommended)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 (~KRW 13.5bn)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(aggressive)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prices from Monte Carlo with placeholder inputs; to be re-run with Bloomberg data as of 17 Sep 2026.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in war and peace, not stagnation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redemption at 18 months, 90% protection case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475488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486400" y="1435608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97880" y="13258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shock, KOSPI +20% from trigger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897880" y="1600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pays 24%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0" y="2240280"/>
            <a:ext cx="274320" cy="274320"/>
          </a:xfrm>
          <a:prstGeom prst="ellipse">
            <a:avLst/>
          </a:prstGeom>
          <a:solidFill>
            <a:srgbClr val="1E9E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897880" y="2130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Oil shock, KRW resilient, rebound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24048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 pay 51%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0" y="3044952"/>
            <a:ext cx="274320" cy="27432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97880" y="293522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Ceasefire and re-rating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897880" y="320954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pays 19.5%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0" y="3849624"/>
            <a:ext cx="274320" cy="274320"/>
          </a:xfrm>
          <a:prstGeom prst="ellipse">
            <a:avLst/>
          </a:prstGeom>
          <a:solidFill>
            <a:srgbClr val="C8463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897880" y="373989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markets, or no rebound after shock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4014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−10%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7548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outcomes using budget split on slide 3. Redemption = 90% + engine payouts.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Risks we disclose and manage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tests use a level shift: whole vol surface +5 to +15 pts with spot down (Unit 4)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520440"/>
                <a:gridCol w="29718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could happen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65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 spike, no rebound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2022-type path: oil up, KOSPI keeps falling; A expires worthless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loss capped at 10%; test delayed-strike variant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Oil–KRW link strengthens; B's probability falls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B at 3%; show correlation sensitivity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 surface / skew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Barrier and spread values move with skew and term structure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Skew-aware pricing; Greeks table per engine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 depends on the issuer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Disclose issuer rating and CDS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Liquidity / early exit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Unwind at market value, below 90% possible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 secondary market with stated bid/offer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8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KRW mechanics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Cross-currency basis, offshore non-deliverability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KRW-linked settlement terms agreed upfront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A16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2926080"/>
            <a:ext cx="3291840" cy="3291840"/>
          </a:xfrm>
          <a:prstGeom prst="ellipse">
            <a:avLst/>
          </a:prstGeom>
          <a:solidFill>
            <a:srgbClr val="4B2E8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fits Purple Magic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09728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Exotic and event-driven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3898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Cross-asset hybrid, dual digital and barrier, all tied to live Korea catalysts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8745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16712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Convex upside in two regimes, from a 14% option budget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5176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trust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294436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loss known on day one, transparent pricing and Greeks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84048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protection level and engine weights with the PM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term sheet within 48 hours, final pricing on trade date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Natixis provides secondary market and monthly mark-to-market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7548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Appendix: terms and methodology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counted toward the 10-slide limit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2062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788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Natixis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KRW 135bn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Trade / issue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Sep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months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protection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 at maturity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Underlyings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Brent (CO1 Comdty), KOSPI 200 (KOSPI2 Index), USD/KRW (KRW Curncy)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16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grid 18M 5.04%, swapped to KRW via CCS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937760" y="12801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1645920"/>
            <a:ext cx="3749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Carlo, 200k paths, daily steps, correlated GBM for Brent, KOSPI 200 and USD/KRW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inputs: vols 35% / 22% / 9%; KRW 2.5%, USD 3.75%; KOSPI dividend 1.8%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 priced with skew (130% strike at lower IV)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1B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finalise: Bloomberg OVDV surfaces, 25-delta risk reversals, realised correlations, CCS basis, local-vol pricing for barriers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K-Dislocation Note</dc:title>
  <dc:subject>PptxGenJS Presentation</dc:subject>
  <dc:creator>PptxGenJS</dc:creator>
  <cp:lastModifiedBy>PptxGenJS</cp:lastModifiedBy>
  <cp:revision>1</cp:revision>
  <dcterms:created xsi:type="dcterms:W3CDTF">2026-10-01T02:59:47Z</dcterms:created>
  <dcterms:modified xsi:type="dcterms:W3CDTF">2026-10-01T02:59:47Z</dcterms:modified>
</cp:coreProperties>
</file>