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B2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1B2D"/>
                </a:solidFill>
                <a:latin typeface="Calibri"/>
              </a:rPr>
              <a:t>Payout (% notional) vs KOSPI move after trigger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 A payout</c:v>
                </c:pt>
              </c:strCache>
            </c:strRef>
          </c:tx>
          <c:spPr>
            <a:solidFill>
              <a:srgbClr val="E8A33D"/>
            </a:solidFill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-30%</c:v>
                  </c:pt>
                  <c:pt idx="1">
                    <c:v>-20%</c:v>
                  </c:pt>
                  <c:pt idx="2">
                    <c:v>-10%</c:v>
                  </c:pt>
                  <c:pt idx="3">
                    <c:v>0%</c:v>
                  </c:pt>
                  <c:pt idx="4">
                    <c:v>10%</c:v>
                  </c:pt>
                  <c:pt idx="5">
                    <c:v>20%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</c:v>
                </c:pt>
                <c:pt idx="5">
                  <c:v>24</c:v>
                </c:pt>
                <c:pt idx="6">
                  <c:v>36</c:v>
                </c:pt>
                <c:pt idx="7">
                  <c:v>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6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680"/>
                    </a:solidFill>
                    <a:latin typeface="Arial"/>
                  </a:rPr>
                  <a:t>KOSPI at maturity vs trigger level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B2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1B2D"/>
                </a:solidFill>
                <a:latin typeface="Calibri"/>
              </a:rPr>
              <a:t>Payout multiple vs corr(Brent, USD/KRW)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Payout multiple</c:v>
                </c:pt>
              </c:strCache>
            </c:strRef>
          </c:tx>
          <c:spPr>
            <a:solidFill>
              <a:srgbClr val="1E9E8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+0.1</c:v>
                  </c:pt>
                  <c:pt idx="1">
                    <c:v>+0.3</c:v>
                  </c:pt>
                  <c:pt idx="2">
                    <c:v>+0.5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9</c:v>
                </c:pt>
                <c:pt idx="2">
                  <c:v>12.4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6E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B2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1B2D"/>
                </a:solidFill>
                <a:latin typeface="Calibri"/>
              </a:rPr>
              <a:t>Payout (% notional) vs KOSPI 200 return at maturity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 C payout</c:v>
                </c:pt>
              </c:strCache>
            </c:strRef>
          </c:tx>
          <c:spPr>
            <a:solidFill>
              <a:srgbClr val="4B2E83"/>
            </a:solidFill>
            <a:ln w="38100" cap="flat">
              <a:solidFill>
                <a:srgbClr val="4B2E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B2E83"/>
              </a:solidFill>
              <a:ln w="9525" cap="flat">
                <a:solidFill>
                  <a:srgbClr val="4B2E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-20%</c:v>
                  </c:pt>
                  <c:pt idx="1">
                    <c:v>-10%</c:v>
                  </c:pt>
                  <c:pt idx="2">
                    <c:v>0%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30%</c:v>
                  </c:pt>
                  <c:pt idx="6">
                    <c:v>40%</c:v>
                  </c:pt>
                  <c:pt idx="7">
                    <c:v>50%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6.5</c:v>
                </c:pt>
                <c:pt idx="4">
                  <c:v>13</c:v>
                </c:pt>
                <c:pt idx="5">
                  <c:v>19.5</c:v>
                </c:pt>
                <c:pt idx="6">
                  <c:v>19.5</c:v>
                </c:pt>
                <c:pt idx="7">
                  <c:v>19.5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Redemption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9E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B2E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6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Oil shock + rebound</c:v>
                  </c:pt>
                  <c:pt idx="1">
                    <c:v>Oil shock + KRW strong</c:v>
                  </c:pt>
                  <c:pt idx="2">
                    <c:v>Ceasefire, KOSPI +30%</c:v>
                  </c:pt>
                  <c:pt idx="3">
                    <c:v>Stagnation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</c:v>
                </c:pt>
                <c:pt idx="1">
                  <c:v>141</c:v>
                </c:pt>
                <c:pt idx="2">
                  <c:v>109.5</c:v>
                </c:pt>
                <c:pt idx="3">
                  <c:v>90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60"/>
        </c:scaling>
        <c:delete val="1"/>
        <c:axPos val="l"/>
        <c:majorGridlines>
          <c:spPr>
            <a:ln w="9525" cap="flat">
              <a:solidFill>
                <a:srgbClr val="E6E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One-line pitch: the oil shock is Korea's biggest macro risk; we make it the trigger that buys the dislocation, with the next loss capped at a known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(does not count toward the 10-slide limit).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USD 30M loss ended a relationship. Our edge is pairing exotic payoffs with transparency: known max loss, Greeks, unwind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catalyst maps to one engine of the note. Confirm current status (WGBI phase-in, MSCI review outcome, oil levels) with Bloomberg as of trade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ZCB delivers 90% at maturity; the ~14% option budget is split A 5%, B 3%, C 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A converts the main macro risk into the entry signal. Variants to test: strike set 1 month after trigger; 120%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3% budget and ~9x payout, B returns ~27% of notional if both conditions are met. Correlation is the main pricing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C is the hedge of the book's thesis: it pays when the oil shock does not happen and Korea re-rates.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KRW is not in the funding grid: footnote 1 lets us swap. KRW-equivalent funding is lower than the USD rate; show the formula and the Bloomberg CCS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payoffs in two very different regimes, and the bad regime has a known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15: size off the contractual loss, show the division. VaR with all three parameters (10-day, 99%, delta-normal) plus ES. Stress moves spot and vol together. Script: pricing/risk_metrics.py.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15: all four exits. On a long-convexity note a stop-loss does not limit loss; the max loss is already contractual. Thesis invalidation is the most professional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Scripts: pricing/illustrative_mc.py and pricing/risk_metrics.py.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108960"/>
            <a:ext cx="2377440" cy="2377440"/>
          </a:xfrm>
          <a:prstGeom prst="ellipse">
            <a:avLst/>
          </a:prstGeom>
          <a:solidFill>
            <a:srgbClr val="E8A33D">
              <a:alpha val="8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Challenge 2026 · Proposal for Purple Magic Capital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K-Dislocation Note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9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Iran-war oil shock into Korea's buy-the-dip trigger, with a maximum loss known on day one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KRW 135bn · 18-month note · 90% capital protected · Trade date 17 Sep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note, three catalyst engines, one known maximum loss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loss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KRW ~13.5bn, known on day one: 90% capital protection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budget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three engines tied to oil, KRW and Korean equity catalysts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that pay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in an oil shock and in a peace/re-rating; loses only in stagnation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</a:t>
            </a:r>
            <a:pPr indent="0" marL="0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18-month, 90% capital-protected KRW note</a:t>
            </a:r>
            <a:pPr indent="0" marL="0">
              <a:buNone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Brent, KOSPI 200 and USD/KRW to express our view that the Iran-war oil shock will dislocate Korean assets, and that structural inflows and reforms will drive the recovery. </a:t>
            </a:r>
            <a:pPr indent="0" marL="0">
              <a:buNone/>
            </a:pPr>
            <a:r>
              <a:rPr lang="en-US" sz="125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redemption: 114–141% in oil-shock regimes, 109.5% in a ceasefire. Maximum loss: 10% (KRW 13.5bn ≈ 10 bp of AUM), contractual.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Purple Magic needs asymmetry and trust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diagnosis: a sophisticated fund redeploying after a USD 30M loss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they are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Korea-based hedge fund, USD 10bn AUM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and event-driven strategies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customised, exotic structures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want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514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KRW 135bn (~USD 95–100M)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emerging macro catalysts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from dislocations and regulatory shifts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2A1650"/>
          </a:solidFill>
          <a:ln w="12700">
            <a:solidFill>
              <a:srgbClr val="2A1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need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514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defined, known maximum loss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 and Greeks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unwind terms and secondary market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brief: convex payoffs on Korea-specific catalysts, with a capped and disclosed downside.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catalysts, one dislocation trade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view as of 17 Sep 2026 (status of each to be confirmed on Bloomberg)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shock from the Iran war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imports almost all its oil: trade balance, inflation and KRW are exposed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134416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1344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411480" cy="41148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47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cycle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1947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and SK Hynix are a large share of KOSPI and exports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20116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2011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411480" cy="41148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615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Value-up reforms / MSCI watch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26151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reform and possible upgrade can re-rate Korean equities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2679192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0" y="2679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411480" cy="411480"/>
          </a:xfrm>
          <a:prstGeom prst="ellipse">
            <a:avLst/>
          </a:prstGeom>
          <a:solidFill>
            <a:srgbClr val="1E9E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2826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WGBI index inclusion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32826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Index-driven buying of Korean government bonds supports KRW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346704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33467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95928"/>
            <a:ext cx="411480" cy="411480"/>
          </a:xfrm>
          <a:prstGeom prst="ellipse">
            <a:avLst/>
          </a:prstGeom>
          <a:solidFill>
            <a:srgbClr val="1E9E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950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vs BoK divergence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3950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USD/KRW and the Korea–US yield gap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4014216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4014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note, three engines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KRW 135bn is allocated inside an 18-month, 90% protected note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463040" cy="1417320"/>
          </a:xfrm>
          <a:prstGeom prst="rect">
            <a:avLst/>
          </a:prstGeom>
          <a:solidFill>
            <a:srgbClr val="2A16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3258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Zero-coupon bond (90% protection)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463040" cy="274320"/>
          </a:xfrm>
          <a:prstGeom prst="rect">
            <a:avLst/>
          </a:prstGeom>
          <a:solidFill>
            <a:srgbClr val="6B66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 margin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463040" cy="64008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Oil-shock dip buyer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463040" cy="411480"/>
          </a:xfrm>
          <a:prstGeom prst="rect">
            <a:avLst/>
          </a:prstGeom>
          <a:solidFill>
            <a:srgbClr val="1E9E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Decoupling dual digital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463040" cy="548640"/>
          </a:xfrm>
          <a:prstGeom prst="rect">
            <a:avLst/>
          </a:prstGeom>
          <a:solidFill>
            <a:srgbClr val="4B2E8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Re-rating call spread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3258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5727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417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Oil-shock dip buyer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1737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≥125% (first 12M) switches on a KOSPI 200 call struck on the trigger day, ~120% participation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4231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670048"/>
            <a:ext cx="457200" cy="457200"/>
          </a:xfrm>
          <a:prstGeom prst="ellipse">
            <a:avLst/>
          </a:prstGeom>
          <a:solidFill>
            <a:srgbClr val="1E9E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Decoupling dual digital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~9x if Brent ≥110% AND USD/KRW ≤97% at maturity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520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767328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548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3611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Re-rating call spread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3931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participation in KOSPI 200 from 100% to 130%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Issuer: Natixis. KRW-denominated, funded at the USD grid rate and swapped to KRW via cross-currency swap. Bar not to scale; budget split illustrative.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A: the oil shock buys the dip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Brent-triggered KOSPI 200 call with strike reset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daily close ≥ 125% of initial, any day in months 1–12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KOSPI 200 call starts, strike = KOSPI level on trigger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~120% of KOSPI gain from trigger to 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of notional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vanilla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~4.1% per 100% participation, ~35–40% of an 18M ATM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846320" y="11887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846320" y="40233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983480" y="405079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cheap: the call only exists if the shock happens (~44% trigger probability at 35% Brent vol), and its strike is reset to the dislocated level.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prices from Monte Carlo with placeholder inputs; to be re-run with Bloomberg data as of 17 Sep 2026.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B: KRW decouples from oil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digital: Brent ≥ 110% AND USD/KRW ≤ 97% at maturity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WGBI bond inflows and chip exports keep KRW strong even if oil rises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cheap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23134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event goes against the usual oil–KRW link: the more positive the correlation, the cheaper the digital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798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 check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30723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USD/KRW risk reversals favour USD calls, so the KRW-strength leg is the cheap wing (Unit 4)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3557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loss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38313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only: 3% of notional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prices from Monte Carlo with placeholder inputs; to be re-run with Bloomberg data as of 17 Sep 2026. Measure realised correlation (1Y, 3Y) before fixing strikes.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C: owning the ceasefire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200 100/130 call spread, ~65% participation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Skew-aware pricing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937760" y="16916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2A1650"/>
          </a:solidFill>
          <a:ln w="12700">
            <a:solidFill>
              <a:srgbClr val="2A165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37760" y="17556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2395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with skew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0" y="16916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17556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395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flat vol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3017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130% call we sell sits at lower implied vol, so it earns less than flat vol suggests (Unit 4, slide 7).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6% buys ~65% participation; maximum gain +19.5% of notional.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in the peace scenario, when Engines A and B are idle.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prices from Monte Carlo with placeholder inputs; to be re-run with Bloomberg data as of 17 Sep 2026.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Pricing: funding grid to option budget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funding interpolated to 18M and swapped into KRW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5.04%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funding, 18M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interpolation: 1Y 4.78%, 2Y 5.30%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359152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~4–5%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KRW-equivalent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USD/KRW cross-currency swap (verify basis)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84–85%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90% ZCB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× discount factor at KRW-equivalent rate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2A1650"/>
          </a:solidFill>
          <a:ln w="12700">
            <a:solidFill>
              <a:srgbClr val="2A16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budget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~1.5% Natixis margin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dial: the fund chooses its risk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371600"/>
                <a:gridCol w="1097280"/>
                <a:gridCol w="13716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payout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(recommended)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(~KRW 13.5bn)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(aggressive)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prices from Monte Carlo with placeholder inputs; to be re-run with Bloomberg data as of 17 Sep 2026.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 in war and peace, not stagnation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redemption at 18 months, 90% protection case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754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43560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9788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oil shock, KOSPI +20% from trigger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pays 24%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0" y="2240280"/>
            <a:ext cx="274320" cy="274320"/>
          </a:xfrm>
          <a:prstGeom prst="ellipse">
            <a:avLst/>
          </a:prstGeom>
          <a:solidFill>
            <a:srgbClr val="1E9E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97880" y="2130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oil shock, KRW resilient, rebound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pay 51%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0" y="3044952"/>
            <a:ext cx="274320" cy="27432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97880" y="2935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ceasefire and re-rating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3209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pays 19.5%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0" y="3849624"/>
            <a:ext cx="274320" cy="274320"/>
          </a:xfrm>
          <a:prstGeom prst="ellipse">
            <a:avLst/>
          </a:prstGeom>
          <a:solidFill>
            <a:srgbClr val="C846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97880" y="3739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flat, or no rebound after shock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−10% at maturity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outcomes using budget split on slide 3. Redemption = 90% + engine payouts.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and market risk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15 sizing identity, VaR / ES, and stress tests with spot and vol shocked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337560"/>
          </a:xfrm>
          <a:prstGeom prst="roundRect">
            <a:avLst>
              <a:gd name="adj" fmla="val 2667"/>
            </a:avLst>
          </a:prstGeom>
          <a:solidFill>
            <a:srgbClr val="2A1650"/>
          </a:solidFill>
          <a:ln w="12700">
            <a:solidFill>
              <a:srgbClr val="2A16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identity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budget: 25 bp of USD 10bn AUM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USD 25M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per unit: 10% of notional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(contractual, held to maturity)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notional = 25M ÷ 10%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USD 250M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37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KRW 135bn ≈ USD 97M uses 39% of the budget. Max loss ≈ USD 9.7M = 10 bp of AUM, a third of the USD 30M lost with the previous manager.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280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and Greeks (% notional)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600200"/>
          <a:ext cx="24231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value at issue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10-day 99% VaR (delta-normal)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shortfall 99%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Brent / +1%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KOSPI 200 / +1%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USD/KRW / +1%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Vega KOSPI / +1 vol 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MTM before maturity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2E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080760" y="1280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stress: MTM change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80760" y="1600200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Risk-off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 pts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947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−20%, KRW −5%, vols +10 pts, rates +50 bp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2468880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shock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2532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+13.0 pts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+30%, KOSPI −10%, vols +8 pts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337560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EEE8F7"/>
          </a:solidFill>
          <a:ln w="12700">
            <a:solidFill>
              <a:srgbClr val="EEE8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Ceasefire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−2.9 pts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3685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−20%, KOSPI +10%, vols −3 pts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080760" y="4224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vega cushions the risk-off case: higher vol lifts Engine A.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inputs; USD/KRW ≈ 1,390 assumed. Delta-normal VaR overstates risk for a convex note; early exit can be below the 90% floor.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 and exit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named, and four exits defined in advance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4805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337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and mitigant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and skew drive B and C. Price with surface vols; show correlation sensitivity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OTC note: ~1.9% margin in, ~1% bid/offer out. Hedges trade in deep KOSPI 200, Brent and USD/KRW markets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Natixis issuer risk: disclose rating and CDS. ISDA/CSA for the OTC hedges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Brent trigger monitoring, independent fixing source, monthly MTM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KRW mechanics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 basis and offshore non-deliverability: settlement terms agreed up front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3258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212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280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target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back to Natixis when MTM ≥ 115% (net of ~1% bid/offer)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12080" y="21762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2120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1305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invalidation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4048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if WGBI flows reverse and MSCI drops Korea from review, even if P&amp;L is positive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12080" y="302666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1208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29809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stop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325526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12: Engine A's trigger window closes. Hold or sell back on B and C value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12080" y="3877056"/>
            <a:ext cx="457200" cy="457200"/>
          </a:xfrm>
          <a:prstGeom prst="ellipse">
            <a:avLst/>
          </a:prstGeom>
          <a:solidFill>
            <a:srgbClr val="C846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1208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38313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stop-loss as risk control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410565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loss is contractual (Unit 15). Any stop triggers on Brent/KOSPI levels, not note price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terms and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counted toward the 10-slide limit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788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Natixis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KRW 135bn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/ issue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Sep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at maturity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(CO1 Comdty), KOSPI 200 (KOSPI2 Index), USD/KRW (KRW Curncy)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1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grid 18M 5.04%, swapped to KRW via CCS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6459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Carlo, 200k paths, daily steps, correlated GBM for Brent, KOSPI 200 and USD/KRW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inputs: vols 35% / 22% / 9%; KRW 2.5%, USD 3.75%; KOSPI dividend 1.8%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 priced with skew (130% strike at lower IV)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finalise: Bloomberg OVDV surfaces, 25-delta risk reversals, realised correlations, CCS basis, local-vol pricing for barriers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and rejected: Korea Value-Up Index as Engine C underlying. Hedge liquidity is far thinner than KOSPI 200 (evidence OI and volume as of 17 Sep 2026)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agree protection level and weights with the PM; indicative term sheet in 48 hours; final pricing on trade date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K-Dislocation Note</dc:title>
  <dc:subject>PptxGenJS Presentation</dc:subject>
  <dc:creator>PptxGenJS</dc:creator>
  <cp:lastModifiedBy>PptxGenJS</cp:lastModifiedBy>
  <cp:revision>1</cp:revision>
  <dcterms:created xsi:type="dcterms:W3CDTF">2026-10-01T03:06:04Z</dcterms:created>
  <dcterms:modified xsi:type="dcterms:W3CDTF">2026-10-01T03:06:04Z</dcterms:modified>
</cp:coreProperties>
</file>