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Arial"/>
              </a:defRPr>
            </a:pPr>
            <a:r>
              <a:rPr sz="950" b="0" i="0" u="none" strike="noStrike">
                <a:solidFill>
                  <a:srgbClr val="262626"/>
                </a:solidFill>
                <a:latin typeface="Arial"/>
              </a:rPr>
              <a:t>Global chip market, US$bn (WSTS)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Chip market</c:v>
                </c:pt>
              </c:strCache>
            </c:strRef>
          </c:tx>
          <c:spPr>
            <a:solidFill>
              <a:srgbClr val="2C5F82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C5F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C5F8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DB3D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DB3D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2026F</c:v>
                  </c:pt>
                  <c:pt idx="3">
                    <c:v>2027F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630</c:v>
                </c:pt>
                <c:pt idx="1">
                  <c:v>795.6</c:v>
                </c:pt>
                <c:pt idx="2">
                  <c:v>1510</c:v>
                </c:pt>
                <c:pt idx="3">
                  <c:v>1900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800" u="none">
                  <a:solidFill>
                    <a:srgbClr val="2626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One-page thesis. Left: what we own. AI spending is a hardware boom and Asia holds the three bottlenecks: Taiwan's foundries, Korea's high-bandwidth memory, Japan's chip-making tools. Demand is structural, though the memory cycle is maturing. Right: why we hold it through an autocall now. The Fed's dot plot keeps rates high until 2028, so long bonds carry rate risk and a capital floor is cheap; volatility is at records, so buy-and-hold must sit through violent swings while autocall coupons pay on recovery and are funded by option premium; the theme is concentrated and fully priced, so a diversified basket and a capped upside cost little.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thesis: Asia owns AI's hardware, and 2026's market rewards an autocall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2C5F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6364224"/>
            <a:ext cx="2514600" cy="457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28853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12901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950976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own and why we wrap it: structural demand for Asian chips, memory and tools, held through a market of high rates, record volatility and concentrated, full prices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298448"/>
            <a:ext cx="5486400" cy="384048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129844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D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own: Asia controls AI's hardware bottlenecks</a:t>
            </a:r>
            <a:endParaRPr lang="en-US" sz="125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57200" y="1755648"/>
          <a:ext cx="246888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3063240" y="1810512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is structural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capex ~US$725bn in 2026 (+77%); the chip market nearly doubles to ~US$1.5trn.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moat runs through Asia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of the world's 10 largest companies depend on TSMC (J.P. Morgan).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B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…but the cycle is maturing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DRAM price gains slowing: +48% in Q2, ~+13% expected in Q4 2026.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57200" y="3730752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200" y="3730752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6928" y="373075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~70%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691640" y="3730752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Taiwan makes the chips: </a:t>
            </a:r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share of global foundry revenue; TSMC &gt;40% of TAIEX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57200" y="4334256"/>
            <a:ext cx="5486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7200" y="4334256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66928" y="4334256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83%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691640" y="4334256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Korea makes the memory: </a:t>
            </a:r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+ Samsung share of HBM, the memory every AI accelerator needs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4937760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66928" y="493776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~55%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1691640" y="493776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Japan makes the tools: </a:t>
            </a:r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Advantest share of chip test equipment; with Tokyo Electron ≈ 20% of the Nikkei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245352" y="1298448"/>
            <a:ext cx="5486400" cy="384048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82512" y="129844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D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an autocall now: 2026 punishes bonds and buy-and-hold</a:t>
            </a:r>
            <a:endParaRPr lang="en-US" sz="1250" dirty="0"/>
          </a:p>
        </p:txBody>
      </p:sp>
      <p:pic>
        <p:nvPicPr>
          <p:cNvPr id="28" name="Image 0" descr="/home/user/natixis-case-comp/deck/fomc_dot_plot_comp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783080"/>
            <a:ext cx="3291840" cy="1164187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6245352" y="29718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FOMC dot plot, 16 Sep 2026 (shaded: today's 3.75–4.00%)</a:t>
            </a:r>
            <a:endParaRPr lang="en-US" sz="750" dirty="0"/>
          </a:p>
        </p:txBody>
      </p:sp>
      <p:sp>
        <p:nvSpPr>
          <p:cNvPr id="30" name="Text 26"/>
          <p:cNvSpPr txBox="1"/>
          <p:nvPr/>
        </p:nvSpPr>
        <p:spPr>
          <a:xfrm>
            <a:off x="9674352" y="1810512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Rates stay high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 median 4.125% to end-2027, cuts only from 2028; 12 dots see 4.375%.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245352" y="3200400"/>
            <a:ext cx="5486400" cy="70408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245352" y="3200400"/>
            <a:ext cx="64008" cy="704088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355080" y="3200400"/>
            <a:ext cx="10515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−4.0%</a:t>
            </a:r>
            <a:endParaRPr lang="en-US" sz="1800" dirty="0"/>
          </a:p>
        </p:txBody>
      </p:sp>
      <p:sp>
        <p:nvSpPr>
          <p:cNvPr id="34" name="Text 30"/>
          <p:cNvSpPr txBox="1"/>
          <p:nvPr/>
        </p:nvSpPr>
        <p:spPr>
          <a:xfrm>
            <a:off x="7479792" y="3227832"/>
            <a:ext cx="41605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bonds carry rate risk: </a:t>
            </a:r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5-year bond loses ~4.0% per 1% rise.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Redeems from year 1; USD 75.8 today buys USD 100 in 5 years, so a 70% floor fits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6245352" y="3959352"/>
            <a:ext cx="5486400" cy="704088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6245352" y="3959352"/>
            <a:ext cx="64008" cy="704088"/>
          </a:xfrm>
          <a:prstGeom prst="rect">
            <a:avLst/>
          </a:prstGeom>
          <a:solidFill>
            <a:srgbClr val="B23B3B"/>
          </a:solidFill>
          <a:ln w="12700">
            <a:solidFill>
              <a:srgbClr val="B23B3B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355080" y="3959352"/>
            <a:ext cx="10515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91.2</a:t>
            </a:r>
            <a:endParaRPr lang="en-US" sz="1800" dirty="0"/>
          </a:p>
        </p:txBody>
      </p:sp>
      <p:sp>
        <p:nvSpPr>
          <p:cNvPr id="38" name="Text 34"/>
          <p:cNvSpPr txBox="1"/>
          <p:nvPr/>
        </p:nvSpPr>
        <p:spPr>
          <a:xfrm>
            <a:off x="7479792" y="3986784"/>
            <a:ext cx="41605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Volatility is at records: </a:t>
            </a:r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VKOSPI's all-time high; KOSPI fell ~25% from June to August 2026.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Coupons pay on recovery, no timing needed; rich option premium funds them</a:t>
            </a:r>
            <a:endParaRPr lang="en-US" sz="900" dirty="0"/>
          </a:p>
        </p:txBody>
      </p:sp>
      <p:sp>
        <p:nvSpPr>
          <p:cNvPr id="39" name="Shape 35"/>
          <p:cNvSpPr/>
          <p:nvPr/>
        </p:nvSpPr>
        <p:spPr>
          <a:xfrm>
            <a:off x="6245352" y="4718304"/>
            <a:ext cx="5486400" cy="70408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6245352" y="4718304"/>
            <a:ext cx="64008" cy="704088"/>
          </a:xfrm>
          <a:prstGeom prst="rect">
            <a:avLst/>
          </a:prstGeom>
          <a:solidFill>
            <a:srgbClr val="B23B3B"/>
          </a:solidFill>
          <a:ln w="12700">
            <a:solidFill>
              <a:srgbClr val="B23B3B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355080" y="4718304"/>
            <a:ext cx="10515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~92%</a:t>
            </a:r>
            <a:endParaRPr lang="en-US" sz="1800" dirty="0"/>
          </a:p>
        </p:txBody>
      </p:sp>
      <p:sp>
        <p:nvSpPr>
          <p:cNvPr id="42" name="Text 38"/>
          <p:cNvSpPr txBox="1"/>
          <p:nvPr/>
        </p:nvSpPr>
        <p:spPr>
          <a:xfrm>
            <a:off x="7479792" y="4745736"/>
            <a:ext cx="41605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and fully priced: </a:t>
            </a:r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advanced chips come from Taiwan; Nikkei CAPE 38.6×.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Diversified five-ETF basket; capping upside at the coupon costs little</a:t>
            </a:r>
            <a:endParaRPr lang="en-US" sz="900" dirty="0"/>
          </a:p>
        </p:txBody>
      </p:sp>
      <p:sp>
        <p:nvSpPr>
          <p:cNvPr id="43" name="Shape 39"/>
          <p:cNvSpPr/>
          <p:nvPr/>
        </p:nvSpPr>
        <p:spPr>
          <a:xfrm>
            <a:off x="457200" y="5541264"/>
            <a:ext cx="11274552" cy="4572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94360" y="5541264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Whichever AI company wins, it needs Asia's chips, memory and tools. In 2026's market, the way to own them is an autocall with a 30% buffer and a 70% floor.</a:t>
            </a:r>
            <a:endParaRPr lang="en-US" sz="1150" dirty="0"/>
          </a:p>
        </p:txBody>
      </p:sp>
      <p:sp>
        <p:nvSpPr>
          <p:cNvPr id="45" name="Text 41"/>
          <p:cNvSpPr txBox="1"/>
          <p:nvPr/>
        </p:nvSpPr>
        <p:spPr>
          <a:xfrm>
            <a:off x="457200" y="603504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WSTS; company capex guidance; Counterpoint (foundry, HBM); TrendForce (DRAM); industry research (test equipment); J.P. Morgan AWM 2026 Outlook; Federal Reserve SEP (16 Sep 2026, dots read from chart); Herald / SBS (VKOSPI); FN News, BIT Research (KOSPI); Siblis (CAPE); case USD funding grid. Full list: deck/thesis_sources.md.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Investment thesis on one page</dc:title>
  <dc:subject>PptxGenJS Presentation</dc:subject>
  <dc:creator>PptxGenJS</dc:creator>
  <cp:lastModifiedBy>PptxGenJS</cp:lastModifiedBy>
  <cp:revision>1</cp:revision>
  <dcterms:created xsi:type="dcterms:W3CDTF">2026-10-08T11:42:15Z</dcterms:created>
  <dcterms:modified xsi:type="dcterms:W3CDTF">2026-10-08T11:42:15Z</dcterms:modified>
</cp:coreProperties>
</file>