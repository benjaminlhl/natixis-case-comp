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950" b="0" i="0" u="none" strike="noStrike">
                <a:solidFill>
                  <a:srgbClr val="262626"/>
                </a:solidFill>
                <a:latin typeface="Arial"/>
              </a:defRPr>
            </a:pPr>
            <a:r>
              <a:rPr sz="950" b="0" i="0" u="none" strike="noStrike">
                <a:solidFill>
                  <a:srgbClr val="262626"/>
                </a:solidFill>
                <a:latin typeface="Arial"/>
              </a:rPr>
              <a:t>Global chip market, US$bn (WSTS)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Chip market</c:v>
                </c:pt>
              </c:strCache>
            </c:strRef>
          </c:tx>
          <c:spPr>
            <a:solidFill>
              <a:srgbClr val="2C5F82"/>
            </a:solidFill>
            <a:effectLst/>
          </c:spPr>
          <c:invertIfNegative val="0"/>
          <c:dLbls>
            <c:numFmt formatCode="&quot;$&quot;#,##0" sourceLinked="0"/>
            <c:txPr>
              <a:bodyPr/>
              <a:lstStyle/>
              <a:p>
                <a:pPr>
                  <a:defRPr b="0" i="0" strike="noStrike" sz="800" u="none">
                    <a:solidFill>
                      <a:srgbClr val="262626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2C5F82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C5F82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8DB3D1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8DB3D1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2024</c:v>
                  </c:pt>
                  <c:pt idx="1">
                    <c:v>2025</c:v>
                  </c:pt>
                  <c:pt idx="2">
                    <c:v>2026F</c:v>
                  </c:pt>
                  <c:pt idx="3">
                    <c:v>2027F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630</c:v>
                </c:pt>
                <c:pt idx="1">
                  <c:v>795.6</c:v>
                </c:pt>
                <c:pt idx="2">
                  <c:v>1510</c:v>
                </c:pt>
                <c:pt idx="3">
                  <c:v>1900</c:v>
                </c:pt>
              </c:numCache>
            </c:numRef>
          </c:val>
        </c:ser>
        <c:dLbls>
          <c:numFmt formatCode="&quot;$&quot;#,##0" sourceLinked="0"/>
          <c:txPr>
            <a:bodyPr/>
            <a:lstStyle/>
            <a:p>
              <a:pPr>
                <a:defRPr b="0" i="0" strike="noStrike" sz="800" u="none">
                  <a:solidFill>
                    <a:srgbClr val="262626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BFBFBF"/>
            </a:solidFill>
            <a:prstDash val="solid"/>
            <a:round/>
          </a:ln>
        </c:spPr>
        <c:txPr>
          <a:bodyPr/>
          <a:lstStyle/>
          <a:p>
            <a:pPr>
              <a:defRPr sz="85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50"/>
          <c:min val="0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59595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One-page thesis. Left: what we own. AI spending is a hardware boom and Asia holds the three bottlenecks: Taiwan's foundries, Korea's high-bandwidth memory, Japan's chip-making tools. Demand is structural, though the memory cycle is maturing. Right: why we hold it through an autocall now. The Fed's dot plot keeps rates high until 2028, so long bonds carry rate risk and a capital floor is cheap; volatility is at records, so buy-and-hold must sit through violent swings while autocall coupons pay on recovery and are funded by option premium; the theme is concentrated and fully priced, so a diversified basket and a capped upside cost little.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image" Target="../media/image-1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11247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thesis: Monopolizing the AI Supply Chain via Structured Overlays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457200" y="896112"/>
            <a:ext cx="11274552" cy="0"/>
          </a:xfrm>
          <a:prstGeom prst="line">
            <a:avLst/>
          </a:prstGeom>
          <a:noFill/>
          <a:ln w="12700">
            <a:solidFill>
              <a:srgbClr val="2C5F82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57200" y="6382512"/>
            <a:ext cx="11274552" cy="0"/>
          </a:xfrm>
          <a:prstGeom prst="line">
            <a:avLst/>
          </a:prstGeom>
          <a:noFill/>
          <a:ln w="9525">
            <a:solidFill>
              <a:srgbClr val="BFBFB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05840" y="6364224"/>
            <a:ext cx="2514600" cy="4572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57200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ANALYSIS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428853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STRATEGY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8129016" y="64465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spc="100" kern="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APPENDIX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950976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own and why we wrap it: structural demand for Asian chips, memory and tools, held through a market of high rates, record volatility and concentrated, full prices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57200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94360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Asia controls AI's hardware bottlenecks</a:t>
            </a:r>
            <a:endParaRPr lang="en-US" sz="1250" dirty="0"/>
          </a:p>
        </p:txBody>
      </p:sp>
      <p:graphicFrame>
        <p:nvGraphicFramePr>
          <p:cNvPr id="12" name="Chart 0" descr=""/>
          <p:cNvGraphicFramePr/>
          <p:nvPr/>
        </p:nvGraphicFramePr>
        <p:xfrm>
          <a:off x="457200" y="1755648"/>
          <a:ext cx="2468880" cy="1874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3" name="Text 10"/>
          <p:cNvSpPr txBox="1"/>
          <p:nvPr/>
        </p:nvSpPr>
        <p:spPr>
          <a:xfrm>
            <a:off x="3063240" y="1810512"/>
            <a:ext cx="28346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Demand is structural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Hyperscaler capex ~US$725bn in 2026 (+77%); the chip market nearly doubles to ~US$1.5trn.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moat runs through Asia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of the world's 10 largest companies depend on TSMC (J.P. Morgan).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…but the cycle is maturing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DRAM price gains slowing: +48% in Q2, ~+13% expected in Q4 2026.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457200" y="3730752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57200" y="3730752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566928" y="3730752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~70%</a:t>
            </a:r>
            <a:endParaRPr lang="en-US" sz="1800" dirty="0"/>
          </a:p>
        </p:txBody>
      </p:sp>
      <p:sp>
        <p:nvSpPr>
          <p:cNvPr id="17" name="Text 14"/>
          <p:cNvSpPr txBox="1"/>
          <p:nvPr/>
        </p:nvSpPr>
        <p:spPr>
          <a:xfrm>
            <a:off x="1691640" y="3730752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Taiwan makes the chips: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TSMC share of global foundry revenue; TSMC &gt;40% of TAIEX</a:t>
            </a:r>
            <a:endParaRPr lang="en-US" sz="950" dirty="0"/>
          </a:p>
        </p:txBody>
      </p:sp>
      <p:sp>
        <p:nvSpPr>
          <p:cNvPr id="18" name="Shape 15"/>
          <p:cNvSpPr/>
          <p:nvPr/>
        </p:nvSpPr>
        <p:spPr>
          <a:xfrm>
            <a:off x="457200" y="4334256"/>
            <a:ext cx="548640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457200" y="4334256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66928" y="4334256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83%</a:t>
            </a:r>
            <a:endParaRPr lang="en-US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1691640" y="4334256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Korea makes the memory: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SK hynix + Samsung share of HBM, the memory every AI accelerator needs</a:t>
            </a:r>
            <a:endParaRPr lang="en-US" sz="950" dirty="0"/>
          </a:p>
        </p:txBody>
      </p:sp>
      <p:sp>
        <p:nvSpPr>
          <p:cNvPr id="22" name="Shape 19"/>
          <p:cNvSpPr/>
          <p:nvPr/>
        </p:nvSpPr>
        <p:spPr>
          <a:xfrm>
            <a:off x="457200" y="4937760"/>
            <a:ext cx="5486400" cy="54864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457200" y="4937760"/>
            <a:ext cx="64008" cy="54864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566928" y="4937760"/>
            <a:ext cx="1051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~55%</a:t>
            </a:r>
            <a:endParaRPr lang="en-US" sz="1800" dirty="0"/>
          </a:p>
        </p:txBody>
      </p:sp>
      <p:sp>
        <p:nvSpPr>
          <p:cNvPr id="25" name="Text 22"/>
          <p:cNvSpPr txBox="1"/>
          <p:nvPr/>
        </p:nvSpPr>
        <p:spPr>
          <a:xfrm>
            <a:off x="1691640" y="4937760"/>
            <a:ext cx="4160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Japan makes the tools: </a:t>
            </a:r>
            <a:pPr indent="0" marL="0"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Advantest share of chip test equipment; with Tokyo Electron ≈ 20% of the Nikkei</a:t>
            </a:r>
            <a:endParaRPr lang="en-US" sz="950" dirty="0"/>
          </a:p>
        </p:txBody>
      </p:sp>
      <p:sp>
        <p:nvSpPr>
          <p:cNvPr id="26" name="Shape 23"/>
          <p:cNvSpPr/>
          <p:nvPr/>
        </p:nvSpPr>
        <p:spPr>
          <a:xfrm>
            <a:off x="6245352" y="1298448"/>
            <a:ext cx="5486400" cy="38404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382512" y="1298448"/>
            <a:ext cx="5212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DB3D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 </a:t>
            </a:r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2026 punishes bonds and buy-and-hold</a:t>
            </a:r>
            <a:endParaRPr lang="en-US" sz="1250" dirty="0"/>
          </a:p>
        </p:txBody>
      </p:sp>
      <p:pic>
        <p:nvPicPr>
          <p:cNvPr id="28" name="Image 0" descr="/home/user/natixis-case-comp/deck/fomc_dot_plot_compac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45352" y="1783080"/>
            <a:ext cx="3291840" cy="1164187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6245352" y="2971800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FOMC dot plot, 16 Sep 2026 (shaded: today's 3.75–4.00%)</a:t>
            </a:r>
            <a:endParaRPr lang="en-US" sz="750" dirty="0"/>
          </a:p>
        </p:txBody>
      </p:sp>
      <p:sp>
        <p:nvSpPr>
          <p:cNvPr id="30" name="Text 26"/>
          <p:cNvSpPr txBox="1"/>
          <p:nvPr/>
        </p:nvSpPr>
        <p:spPr>
          <a:xfrm>
            <a:off x="9674352" y="1810512"/>
            <a:ext cx="2057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95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Rates stay high</a:t>
            </a:r>
            <a:endParaRPr lang="en-US" sz="9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950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Fed median 4.125% to end-2027, cuts only from 2028; 12 dots see 4.375%.</a:t>
            </a:r>
            <a:endParaRPr lang="en-US" sz="950" dirty="0"/>
          </a:p>
        </p:txBody>
      </p:sp>
      <p:sp>
        <p:nvSpPr>
          <p:cNvPr id="31" name="Shape 27"/>
          <p:cNvSpPr/>
          <p:nvPr/>
        </p:nvSpPr>
        <p:spPr>
          <a:xfrm>
            <a:off x="6245352" y="3200400"/>
            <a:ext cx="5486400" cy="7040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6245352" y="3200400"/>
            <a:ext cx="64008" cy="704088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33" name="Text 29"/>
          <p:cNvSpPr txBox="1"/>
          <p:nvPr/>
        </p:nvSpPr>
        <p:spPr>
          <a:xfrm>
            <a:off x="6355080" y="3200400"/>
            <a:ext cx="1051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−4.0%</a:t>
            </a:r>
            <a:endParaRPr lang="en-US" sz="1800" dirty="0"/>
          </a:p>
        </p:txBody>
      </p:sp>
      <p:sp>
        <p:nvSpPr>
          <p:cNvPr id="34" name="Text 30"/>
          <p:cNvSpPr txBox="1"/>
          <p:nvPr/>
        </p:nvSpPr>
        <p:spPr>
          <a:xfrm>
            <a:off x="7479792" y="3227832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bonds carry rate risk: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5-year bond loses ~4.0% per 1% rise.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Redeems from year 1; USD 75.8 today buys USD 100 in 5 years, so a 70% floor fits</a:t>
            </a:r>
            <a:endParaRPr lang="en-US" sz="900" dirty="0"/>
          </a:p>
        </p:txBody>
      </p:sp>
      <p:sp>
        <p:nvSpPr>
          <p:cNvPr id="35" name="Shape 31"/>
          <p:cNvSpPr/>
          <p:nvPr/>
        </p:nvSpPr>
        <p:spPr>
          <a:xfrm>
            <a:off x="6245352" y="3959352"/>
            <a:ext cx="5486400" cy="704088"/>
          </a:xfrm>
          <a:prstGeom prst="rect">
            <a:avLst/>
          </a:prstGeom>
          <a:solidFill>
            <a:srgbClr val="FFFFFF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6245352" y="3959352"/>
            <a:ext cx="64008" cy="70408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6355080" y="3959352"/>
            <a:ext cx="1051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91.2</a:t>
            </a:r>
            <a:endParaRPr lang="en-US" sz="1800" dirty="0"/>
          </a:p>
        </p:txBody>
      </p:sp>
      <p:sp>
        <p:nvSpPr>
          <p:cNvPr id="38" name="Text 34"/>
          <p:cNvSpPr txBox="1"/>
          <p:nvPr/>
        </p:nvSpPr>
        <p:spPr>
          <a:xfrm>
            <a:off x="7479792" y="3986784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Volatility is at records: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VKOSPI's all-time high; KOSPI fell ~25% from June to August 2026.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Coupons pay on recovery, no timing needed; rich option premium funds them</a:t>
            </a:r>
            <a:endParaRPr lang="en-US" sz="900" dirty="0"/>
          </a:p>
        </p:txBody>
      </p:sp>
      <p:sp>
        <p:nvSpPr>
          <p:cNvPr id="39" name="Shape 35"/>
          <p:cNvSpPr/>
          <p:nvPr/>
        </p:nvSpPr>
        <p:spPr>
          <a:xfrm>
            <a:off x="6245352" y="4718304"/>
            <a:ext cx="5486400" cy="704088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40" name="Shape 36"/>
          <p:cNvSpPr/>
          <p:nvPr/>
        </p:nvSpPr>
        <p:spPr>
          <a:xfrm>
            <a:off x="6245352" y="4718304"/>
            <a:ext cx="64008" cy="704088"/>
          </a:xfrm>
          <a:prstGeom prst="rect">
            <a:avLst/>
          </a:prstGeom>
          <a:solidFill>
            <a:srgbClr val="B23B3B"/>
          </a:solidFill>
          <a:ln w="12700">
            <a:solidFill>
              <a:srgbClr val="B23B3B"/>
            </a:solidFill>
            <a:prstDash val="solid"/>
          </a:ln>
        </p:spPr>
      </p:sp>
      <p:sp>
        <p:nvSpPr>
          <p:cNvPr id="41" name="Text 37"/>
          <p:cNvSpPr txBox="1"/>
          <p:nvPr/>
        </p:nvSpPr>
        <p:spPr>
          <a:xfrm>
            <a:off x="6355080" y="4718304"/>
            <a:ext cx="1051560" cy="7040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23B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~92%</a:t>
            </a:r>
            <a:endParaRPr lang="en-US" sz="1800" dirty="0"/>
          </a:p>
        </p:txBody>
      </p:sp>
      <p:sp>
        <p:nvSpPr>
          <p:cNvPr id="42" name="Text 38"/>
          <p:cNvSpPr txBox="1"/>
          <p:nvPr/>
        </p:nvSpPr>
        <p:spPr>
          <a:xfrm>
            <a:off x="7479792" y="4745736"/>
            <a:ext cx="4160520" cy="6492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6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Concentrated and fully priced: </a:t>
            </a:r>
            <a:pPr indent="0" marL="0">
              <a:spcAft>
                <a:spcPts val="100"/>
              </a:spcAft>
              <a:buNone/>
            </a:pPr>
            <a:r>
              <a:rPr lang="en-US" sz="90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advanced chips come from Taiwan; Nikkei CAPE 38.6×.</a:t>
            </a:r>
            <a:endParaRPr lang="en-US" sz="900" dirty="0"/>
          </a:p>
          <a:p>
            <a:pPr indent="0" marL="0">
              <a:spcAft>
                <a:spcPts val="100"/>
              </a:spcAft>
              <a:buNone/>
            </a:pPr>
            <a:r>
              <a:rPr lang="en-US" sz="900" b="1" dirty="0">
                <a:solidFill>
                  <a:srgbClr val="2C5F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Diversified five-ETF basket; capping upside at the coupon costs little</a:t>
            </a:r>
            <a:endParaRPr lang="en-US" sz="900" dirty="0"/>
          </a:p>
        </p:txBody>
      </p:sp>
      <p:sp>
        <p:nvSpPr>
          <p:cNvPr id="43" name="Shape 39"/>
          <p:cNvSpPr/>
          <p:nvPr/>
        </p:nvSpPr>
        <p:spPr>
          <a:xfrm>
            <a:off x="457200" y="5541264"/>
            <a:ext cx="11274552" cy="457200"/>
          </a:xfrm>
          <a:prstGeom prst="rect">
            <a:avLst/>
          </a:prstGeom>
          <a:solidFill>
            <a:srgbClr val="2C5F82"/>
          </a:solidFill>
          <a:ln w="12700">
            <a:solidFill>
              <a:srgbClr val="2C5F82"/>
            </a:solidFill>
            <a:prstDash val="solid"/>
          </a:ln>
        </p:spPr>
      </p:sp>
      <p:sp>
        <p:nvSpPr>
          <p:cNvPr id="44" name="Text 40"/>
          <p:cNvSpPr txBox="1"/>
          <p:nvPr/>
        </p:nvSpPr>
        <p:spPr>
          <a:xfrm>
            <a:off x="594360" y="5541264"/>
            <a:ext cx="110002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Whichever AI company wins, it needs Asia's chips, memory and tools. In 2026's market, the way to own them is an autocall with a 30% buffer and a 70% floor.</a:t>
            </a:r>
            <a:endParaRPr lang="en-US" sz="1150" dirty="0"/>
          </a:p>
        </p:txBody>
      </p:sp>
      <p:sp>
        <p:nvSpPr>
          <p:cNvPr id="45" name="Text 41"/>
          <p:cNvSpPr txBox="1"/>
          <p:nvPr/>
        </p:nvSpPr>
        <p:spPr>
          <a:xfrm>
            <a:off x="457200" y="6035040"/>
            <a:ext cx="112745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Sources: WSTS; company capex guidance; Counterpoint (foundry, HBM); TrendForce (DRAM); industry research (test equipment); J.P. Morgan AWM 2026 Outlook; Federal Reserve SEP (16 Sep 2026, dots read from chart); Herald / SBS (VKOSPI); FN News, BIT Research (KOSPI); Siblis (CAPE); case USD funding grid. Full list: deck/thesis_sources.md.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Investment thesis on one page</dc:title>
  <dc:subject>PptxGenJS Presentation</dc:subject>
  <dc:creator>PptxGenJS</dc:creator>
  <cp:lastModifiedBy>PptxGenJS</cp:lastModifiedBy>
  <cp:revision>1</cp:revision>
  <dcterms:created xsi:type="dcterms:W3CDTF">2026-10-08T12:48:45Z</dcterms:created>
  <dcterms:modified xsi:type="dcterms:W3CDTF">2026-10-08T12:48:45Z</dcterms:modified>
</cp:coreProperties>
</file>