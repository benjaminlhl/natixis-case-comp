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2026 growth vs 2025 (forecast / guidance)</a:t>
            </a:r>
          </a:p>
        </c:rich>
      </c:tx>
      <c:layout/>
      <c:overlay val="0"/>
    </c:title>
    <c:autoTitleDeleted val="0"/>
    <c:plotArea>
      <c:layout/>
      <c:barChart>
        <c:barDir val="bar"/>
        <c:grouping val="clustered"/>
        <c:varyColors val="0"/>
        <c:ser>
          <c:idx val="0"/>
          <c:order val="0"/>
          <c:tx>
            <c:strRef>
              <c:f>Sheet1!$B$1</c:f>
              <c:strCache>
                <c:ptCount val="1"/>
                <c:pt idx="0">
                  <c:v>2026 growth</c:v>
                </c:pt>
              </c:strCache>
            </c:strRef>
          </c:tx>
          <c:spPr>
            <a:solidFill>
              <a:srgbClr val="2C5F82"/>
            </a:solidFill>
            <a:effectLst/>
          </c:spPr>
          <c:invertIfNegative val="0"/>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cat>
            <c:multiLvlStrRef>
              <c:f>Sheet1!$A$2:$A$7</c:f>
              <c:multiLvlStrCache>
                <c:ptCount val="6"/>
                <c:lvl>
                  <c:pt idx="0">
                    <c:v>Hyperscaler capex (4 largest)</c:v>
                  </c:pt>
                  <c:pt idx="1">
                    <c:v>Global chip market (WSTS)</c:v>
                  </c:pt>
                  <c:pt idx="2">
                    <c:v>Logic chips (WSTS)</c:v>
                  </c:pt>
                  <c:pt idx="3">
                    <c:v>DRAM equipment (SEMI)</c:v>
                  </c:pt>
                  <c:pt idx="4">
                    <c:v>Chip test equipment (SEMI)</c:v>
                  </c:pt>
                  <c:pt idx="5">
                    <c:v>All chip equipment (SEMI)</c:v>
                  </c:pt>
                </c:lvl>
              </c:multiLvlStrCache>
            </c:multiLvlStrRef>
          </c:cat>
          <c:val>
            <c:numRef>
              <c:f>Sheet1!$B$2:$B$7</c:f>
              <c:numCache>
                <c:formatCode>General</c:formatCode>
                <c:ptCount val="6"/>
                <c:pt idx="0">
                  <c:v>77</c:v>
                </c:pt>
                <c:pt idx="1">
                  <c:v>90</c:v>
                </c:pt>
                <c:pt idx="2">
                  <c:v>37</c:v>
                </c:pt>
                <c:pt idx="3">
                  <c:v>39</c:v>
                </c:pt>
                <c:pt idx="4">
                  <c:v>31</c:v>
                </c:pt>
                <c:pt idx="5">
                  <c:v>23.2</c:v>
                </c:pt>
              </c:numCache>
            </c:numRef>
          </c:val>
        </c:ser>
        <c:dLbls>
          <c:numFmt formatCode="&quot;+&quot;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2022 decline</a:t>
            </a:r>
          </a:p>
        </c:rich>
      </c:tx>
      <c:layout/>
      <c:overlay val="0"/>
    </c:title>
    <c:autoTitleDeleted val="0"/>
    <c:plotArea>
      <c:layout/>
      <c:barChart>
        <c:barDir val="col"/>
        <c:grouping val="clustered"/>
        <c:varyColors val="0"/>
        <c:ser>
          <c:idx val="0"/>
          <c:order val="0"/>
          <c:tx>
            <c:strRef>
              <c:f>Sheet1!$B$1</c:f>
              <c:strCache>
                <c:ptCount val="1"/>
                <c:pt idx="0">
                  <c:v>2022</c:v>
                </c:pt>
              </c:strCache>
            </c:strRef>
          </c:tx>
          <c:spPr>
            <a:solidFill>
              <a:srgbClr val="B23B3B"/>
            </a:solidFill>
            <a:effectLst/>
          </c:spPr>
          <c:invertIfNegative val="0"/>
          <c:dLbls>
            <c:numFmt formatCode="0.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TAIEX (peak to trough)</c:v>
                  </c:pt>
                  <c:pt idx="1">
                    <c:v>KOSPI (calendar year)</c:v>
                  </c:pt>
                  <c:pt idx="2">
                    <c:v>Global chip index SOX (calendar year)</c:v>
                  </c:pt>
                </c:lvl>
              </c:multiLvlStrCache>
            </c:multiLvlStrRef>
          </c:cat>
          <c:val>
            <c:numRef>
              <c:f>Sheet1!$B$2:$B$4</c:f>
              <c:numCache>
                <c:formatCode>General</c:formatCode>
                <c:ptCount val="3"/>
                <c:pt idx="0">
                  <c:v>-31.6</c:v>
                </c:pt>
                <c:pt idx="1">
                  <c:v>-24.9</c:v>
                </c:pt>
                <c:pt idx="2">
                  <c:v>-36</c:v>
                </c:pt>
              </c:numCache>
            </c:numRef>
          </c:val>
        </c:ser>
        <c:dLbls>
          <c:numFmt formatCode="0.0&quot;%&quot;" sourceLinked="0"/>
          <c:txPr>
            <a:bodyPr/>
            <a:lstStyle/>
            <a:p>
              <a:pPr>
                <a:defRPr b="0" i="0" strike="noStrike" sz="10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0"/>
          <c:min val="-45"/>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62626"/>
                </a:solidFill>
                <a:latin typeface="Arial"/>
              </a:defRPr>
            </a:pPr>
            <a:r>
              <a:rPr sz="1100" b="0" i="0" u="none" strike="noStrike">
                <a:solidFill>
                  <a:srgbClr val="262626"/>
                </a:solidFill>
                <a:latin typeface="Arial"/>
              </a:rPr>
              <a:t>Mean IRR, % p.a. (simulation, equities +4% p.a. on average)</a:t>
            </a:r>
          </a:p>
        </c:rich>
      </c:tx>
      <c:layout/>
      <c:overlay val="0"/>
    </c:title>
    <c:autoTitleDeleted val="0"/>
    <c:plotArea>
      <c:layout/>
      <c:barChart>
        <c:barDir val="col"/>
        <c:grouping val="clustered"/>
        <c:varyColors val="0"/>
        <c:ser>
          <c:idx val="0"/>
          <c:order val="0"/>
          <c:tx>
            <c:strRef>
              <c:f>Sheet1!$B$1</c:f>
              <c:strCache>
                <c:ptCount val="1"/>
                <c:pt idx="0">
                  <c:v>Our protected autocall</c:v>
                </c:pt>
              </c:strCache>
            </c:strRef>
          </c:tx>
          <c:spPr>
            <a:solidFill>
              <a:srgbClr val="2C5F82"/>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Sheet1!$B$2:$B$5</c:f>
              <c:numCache>
                <c:formatCode>General</c:formatCode>
                <c:ptCount val="4"/>
                <c:pt idx="0">
                  <c:v>3.7</c:v>
                </c:pt>
                <c:pt idx="1">
                  <c:v>6.2</c:v>
                </c:pt>
                <c:pt idx="2">
                  <c:v>6.8</c:v>
                </c:pt>
                <c:pt idx="3">
                  <c:v>6.8</c:v>
                </c:pt>
              </c:numCache>
            </c:numRef>
          </c:val>
        </c:ser>
        <c:ser>
          <c:idx val="1"/>
          <c:order val="1"/>
          <c:tx>
            <c:strRef>
              <c:f>Sheet1!$C$1</c:f>
              <c:strCache>
                <c:ptCount val="1"/>
                <c:pt idx="0">
                  <c:v>Hold the basket</c:v>
                </c:pt>
              </c:strCache>
            </c:strRef>
          </c:tx>
          <c:spPr>
            <a:solidFill>
              <a:srgbClr val="A6A6A6"/>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Sheet1!$C$2:$C$5</c:f>
              <c:numCache>
                <c:formatCode>General</c:formatCode>
                <c:ptCount val="4"/>
                <c:pt idx="0">
                  <c:v>-6.4</c:v>
                </c:pt>
                <c:pt idx="1">
                  <c:v>2</c:v>
                </c:pt>
                <c:pt idx="2">
                  <c:v>6.8</c:v>
                </c:pt>
                <c:pt idx="3">
                  <c:v>15.9</c:v>
                </c:pt>
              </c:numCache>
            </c:numRef>
          </c:val>
        </c:ser>
        <c:ser>
          <c:idx val="2"/>
          <c:order val="2"/>
          <c:tx>
            <c:strRef>
              <c:f>Sheet1!$D$1</c:f>
              <c:strCache>
                <c:ptCount val="1"/>
                <c:pt idx="0">
                  <c:v>Plain protected note</c:v>
                </c:pt>
              </c:strCache>
            </c:strRef>
          </c:tx>
          <c:spPr>
            <a:solidFill>
              <a:srgbClr val="8DB3D1"/>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Sheet1!$D$2:$D$5</c:f>
              <c:numCache>
                <c:formatCode>General</c:formatCode>
                <c:ptCount val="4"/>
                <c:pt idx="0">
                  <c:v>0</c:v>
                </c:pt>
                <c:pt idx="1">
                  <c:v>0.4</c:v>
                </c:pt>
                <c:pt idx="2">
                  <c:v>4.5</c:v>
                </c:pt>
                <c:pt idx="3">
                  <c:v>13.5</c:v>
                </c:pt>
              </c:numCache>
            </c:numRef>
          </c:val>
        </c:ser>
        <c:ser>
          <c:idx val="3"/>
          <c:order val="3"/>
          <c:tx>
            <c:strRef>
              <c:f>Sheet1!$E$1</c:f>
              <c:strCache>
                <c:ptCount val="1"/>
                <c:pt idx="0">
                  <c:v>5Y USD bond (5.69%)</c:v>
                </c:pt>
              </c:strCache>
            </c:strRef>
          </c:tx>
          <c:spPr>
            <a:solidFill>
              <a:srgbClr val="404040"/>
            </a:solidFill>
            <a:effectLst/>
          </c:spPr>
          <c:invertIfNegative val="0"/>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Bear (42% of paths)</c:v>
                  </c:pt>
                  <c:pt idx="1">
                    <c:v>Flat (17% of paths)</c:v>
                  </c:pt>
                  <c:pt idx="2">
                    <c:v>Moderate (21% of paths)</c:v>
                  </c:pt>
                  <c:pt idx="3">
                    <c:v>Bull (20% of paths)</c:v>
                  </c:pt>
                </c:lvl>
              </c:multiLvlStrCache>
            </c:multiLvlStrRef>
          </c:cat>
          <c:val>
            <c:numRef>
              <c:f>Sheet1!$E$2:$E$5</c:f>
              <c:numCache>
                <c:formatCode>General</c:formatCode>
                <c:ptCount val="4"/>
                <c:pt idx="0">
                  <c:v>5.7</c:v>
                </c:pt>
                <c:pt idx="1">
                  <c:v>5.7</c:v>
                </c:pt>
                <c:pt idx="2">
                  <c:v>5.7</c:v>
                </c:pt>
                <c:pt idx="3">
                  <c:v>5.7</c:v>
                </c:pt>
              </c:numCache>
            </c:numRef>
          </c:val>
        </c:ser>
        <c:dLbls>
          <c:numFmt formatCode="0.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9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first a hardware story, and the three markets in our basket each own a chokepoint: Taiwan fabricates the chips, Korea supplies the high-bandwidth memory, Japan makes the equipment and testers. The chart shows 2026 spending growth across the chain. Several figures are forecasts or guidance; HBM and foundry shares are Counterpoint estimates. Verify the KOSPI concentration figure on Bloomberg.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The growth is real but chip stocks are the most cyclical part of the market: 2022 cost 25–36% in a year. After the 2026 rally the risk is skewed: KOSPI roughly doubled and already had single-day crashes, and the indices are concentrated in a few names. Governance reforms in Japan and Korea are a tailwind that helps the basket recover to 100%, which is all our coupon needs. KOSPI 2026 figures come from one secondary source: check them on Bloomberg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3. Same simulated paths for all four strategies. The note beats holding the basket in bear and flat markets, ties in moderate ones and lags only in bull markets. It beats the plain principal-protected note in every market except a bull market. Be upfront about the bond: a fixed 5.69% wins in bear markets and on average unless equities return ~8% a year, but a bond gives none of the AI exposure the family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builds the hardware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Our three markets own the chokepoints</a:t>
            </a:r>
            <a:endParaRPr lang="en-US" sz="1400" dirty="0"/>
          </a:p>
        </p:txBody>
      </p:sp>
      <p:sp>
        <p:nvSpPr>
          <p:cNvPr id="11" name="Shape 9"/>
          <p:cNvSpPr/>
          <p:nvPr/>
        </p:nvSpPr>
        <p:spPr>
          <a:xfrm>
            <a:off x="457200" y="1572768"/>
            <a:ext cx="6400800" cy="1143000"/>
          </a:xfrm>
          <a:prstGeom prst="rect">
            <a:avLst/>
          </a:prstGeom>
          <a:solidFill>
            <a:srgbClr val="F2F2F2"/>
          </a:solidFill>
          <a:ln w="12700">
            <a:solidFill>
              <a:srgbClr val="F2F2F2"/>
            </a:solidFill>
            <a:prstDash val="solid"/>
          </a:ln>
        </p:spPr>
      </p:sp>
      <p:sp>
        <p:nvSpPr>
          <p:cNvPr id="12" name="Shape 10"/>
          <p:cNvSpPr/>
          <p:nvPr/>
        </p:nvSpPr>
        <p:spPr>
          <a:xfrm>
            <a:off x="594360" y="1709928"/>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819656"/>
            <a:ext cx="237744" cy="237744"/>
          </a:xfrm>
          <a:prstGeom prst="rect">
            <a:avLst/>
          </a:prstGeom>
        </p:spPr>
      </p:pic>
      <p:sp>
        <p:nvSpPr>
          <p:cNvPr id="14" name="Text 11"/>
          <p:cNvSpPr txBox="1"/>
          <p:nvPr/>
        </p:nvSpPr>
        <p:spPr>
          <a:xfrm>
            <a:off x="1188720" y="168249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2011680"/>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High-performance computing (incl. AI) was 58% of TSMC revenue in 2025</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TSMC is &gt;40% of the TAIEX: our largest index is a chip index</a:t>
            </a:r>
            <a:endParaRPr lang="en-US" sz="1000" dirty="0"/>
          </a:p>
        </p:txBody>
      </p:sp>
      <p:sp>
        <p:nvSpPr>
          <p:cNvPr id="16" name="Text 13"/>
          <p:cNvSpPr txBox="1"/>
          <p:nvPr/>
        </p:nvSpPr>
        <p:spPr>
          <a:xfrm>
            <a:off x="4526280" y="164592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14884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834640"/>
            <a:ext cx="6400800" cy="1143000"/>
          </a:xfrm>
          <a:prstGeom prst="rect">
            <a:avLst/>
          </a:prstGeom>
          <a:solidFill>
            <a:srgbClr val="FFFFFF"/>
          </a:solidFill>
          <a:ln w="12700">
            <a:solidFill>
              <a:srgbClr val="F2F2F2"/>
            </a:solidFill>
            <a:prstDash val="solid"/>
          </a:ln>
        </p:spPr>
      </p:sp>
      <p:sp>
        <p:nvSpPr>
          <p:cNvPr id="19" name="Shape 16"/>
          <p:cNvSpPr/>
          <p:nvPr/>
        </p:nvSpPr>
        <p:spPr>
          <a:xfrm>
            <a:off x="594360" y="2971800"/>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3081528"/>
            <a:ext cx="237744" cy="237744"/>
          </a:xfrm>
          <a:prstGeom prst="rect">
            <a:avLst/>
          </a:prstGeom>
        </p:spPr>
      </p:pic>
      <p:sp>
        <p:nvSpPr>
          <p:cNvPr id="21" name="Text 17"/>
          <p:cNvSpPr txBox="1"/>
          <p:nvPr/>
        </p:nvSpPr>
        <p:spPr>
          <a:xfrm>
            <a:off x="1188720" y="2944368"/>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273552"/>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Every AI accelerator needs high-bandwidth memory (HBM)</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Samsung + SK hynix ≈ 48% of KOSPI market cap (verify)</a:t>
            </a:r>
            <a:endParaRPr lang="en-US" sz="1000" dirty="0"/>
          </a:p>
        </p:txBody>
      </p:sp>
      <p:sp>
        <p:nvSpPr>
          <p:cNvPr id="23" name="Text 19"/>
          <p:cNvSpPr txBox="1"/>
          <p:nvPr/>
        </p:nvSpPr>
        <p:spPr>
          <a:xfrm>
            <a:off x="4526280" y="2907792"/>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410712"/>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4096512"/>
            <a:ext cx="6400800" cy="1143000"/>
          </a:xfrm>
          <a:prstGeom prst="rect">
            <a:avLst/>
          </a:prstGeom>
          <a:solidFill>
            <a:srgbClr val="F2F2F2"/>
          </a:solidFill>
          <a:ln w="12700">
            <a:solidFill>
              <a:srgbClr val="F2F2F2"/>
            </a:solidFill>
            <a:prstDash val="solid"/>
          </a:ln>
        </p:spPr>
      </p:sp>
      <p:sp>
        <p:nvSpPr>
          <p:cNvPr id="26" name="Shape 22"/>
          <p:cNvSpPr/>
          <p:nvPr/>
        </p:nvSpPr>
        <p:spPr>
          <a:xfrm>
            <a:off x="594360" y="4233672"/>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343400"/>
            <a:ext cx="237744" cy="237744"/>
          </a:xfrm>
          <a:prstGeom prst="rect">
            <a:avLst/>
          </a:prstGeom>
        </p:spPr>
      </p:pic>
      <p:sp>
        <p:nvSpPr>
          <p:cNvPr id="28" name="Text 23"/>
          <p:cNvSpPr txBox="1"/>
          <p:nvPr/>
        </p:nvSpPr>
        <p:spPr>
          <a:xfrm>
            <a:off x="1188720" y="4206240"/>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535424"/>
            <a:ext cx="3246120" cy="685800"/>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Tokyo Electron ~90% of coater/developers; #3 equipment maker</a:t>
            </a:r>
            <a:endParaRPr lang="en-US" sz="1000" dirty="0"/>
          </a:p>
          <a:p>
            <a:pPr marL="127000" indent="-127000">
              <a:spcAft>
                <a:spcPts val="200"/>
              </a:spcAft>
              <a:buSzPct val="100000"/>
              <a:buChar char="•"/>
            </a:pPr>
            <a:r>
              <a:rPr lang="en-US" sz="1000" dirty="0">
                <a:solidFill>
                  <a:srgbClr val="595959"/>
                </a:solidFill>
                <a:latin typeface="Arial" pitchFamily="34" charset="0"/>
                <a:ea typeface="Arial" pitchFamily="34" charset="-122"/>
                <a:cs typeface="Arial" pitchFamily="34" charset="-120"/>
              </a:rPr>
              <a:t>Advantest + Tokyo Electron ≈ 20% of the Nikkei 225 (Jul 2026)</a:t>
            </a:r>
            <a:endParaRPr lang="en-US" sz="1000" dirty="0"/>
          </a:p>
        </p:txBody>
      </p:sp>
      <p:sp>
        <p:nvSpPr>
          <p:cNvPr id="30" name="Text 25"/>
          <p:cNvSpPr txBox="1"/>
          <p:nvPr/>
        </p:nvSpPr>
        <p:spPr>
          <a:xfrm>
            <a:off x="4526280" y="4169664"/>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672584"/>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2026: spending is surging</a:t>
            </a:r>
            <a:endParaRPr lang="en-US" sz="1400" dirty="0"/>
          </a:p>
        </p:txBody>
      </p:sp>
      <p:graphicFrame>
        <p:nvGraphicFramePr>
          <p:cNvPr id="34" name="Chart 0" descr=""/>
          <p:cNvGraphicFramePr/>
          <p:nvPr/>
        </p:nvGraphicFramePr>
        <p:xfrm>
          <a:off x="7086600" y="1508760"/>
          <a:ext cx="4645152" cy="3749040"/>
        </p:xfrm>
        <a:graphic xmlns:a="http://schemas.openxmlformats.org/drawingml/2006/main">
          <a:graphicData uri="http://schemas.openxmlformats.org/drawingml/2006/chart">
            <c:chart xmlns:c="http://schemas.openxmlformats.org/drawingml/2006/chart" r:id="rId4"/>
          </a:graphicData>
        </a:graphic>
      </p:graphicFrame>
      <p:sp>
        <p:nvSpPr>
          <p:cNvPr id="35" name="Text 29"/>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Q1 2026; HBM Q2 2026); TSMC 2025 results; Trading Economics / Focus Taiwan (TSMC weight); BIT Research (KOSPI weight); company reports and SEMI (TEL, Advantest); Nikkei index summary 17 Jul 2026; company guidance after Q1 2026 (capex); WSTS Spring 2026; SEMI mid-year forecast 14 Jul 2026. Full list in appendix.</a:t>
            </a:r>
            <a:endParaRPr lang="en-US" sz="800" dirty="0"/>
          </a:p>
        </p:txBody>
      </p:sp>
      <p:sp>
        <p:nvSpPr>
          <p:cNvPr id="36" name="Shape 30"/>
          <p:cNvSpPr/>
          <p:nvPr/>
        </p:nvSpPr>
        <p:spPr>
          <a:xfrm>
            <a:off x="457200" y="5650992"/>
            <a:ext cx="11274552" cy="502920"/>
          </a:xfrm>
          <a:prstGeom prst="rect">
            <a:avLst/>
          </a:prstGeom>
          <a:solidFill>
            <a:srgbClr val="2C5F82"/>
          </a:solidFill>
          <a:ln w="12700">
            <a:solidFill>
              <a:srgbClr val="2C5F82"/>
            </a:solidFill>
            <a:prstDash val="solid"/>
          </a:ln>
        </p:spPr>
      </p:sp>
      <p:sp>
        <p:nvSpPr>
          <p:cNvPr id="37" name="Text 31"/>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We buy the picks and shovels: whichever AI model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Chip cycles are violent, so own the theme with protection</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36576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36576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last down-cycle (2022)</a:t>
            </a:r>
            <a:endParaRPr lang="en-US" sz="1400" dirty="0"/>
          </a:p>
        </p:txBody>
      </p:sp>
      <p:graphicFrame>
        <p:nvGraphicFramePr>
          <p:cNvPr id="11" name="Chart 0" descr=""/>
          <p:cNvGraphicFramePr/>
          <p:nvPr/>
        </p:nvGraphicFramePr>
        <p:xfrm>
          <a:off x="457200" y="1508760"/>
          <a:ext cx="365760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457200" y="4343400"/>
            <a:ext cx="3657600" cy="914400"/>
          </a:xfrm>
          <a:prstGeom prst="rect">
            <a:avLst/>
          </a:prstGeom>
          <a:noFill/>
          <a:ln/>
        </p:spPr>
        <p:txBody>
          <a:bodyPr wrap="square" lIns="0" tIns="0" rIns="0" bIns="0" rtlCol="0" anchor="t"/>
          <a:lstStyle/>
          <a:p>
            <a:pPr indent="0" marL="0">
              <a:buNone/>
            </a:pPr>
            <a:r>
              <a:rPr lang="en-US" sz="1050" dirty="0">
                <a:solidFill>
                  <a:srgbClr val="595959"/>
                </a:solidFill>
                <a:latin typeface="Arial" pitchFamily="34" charset="0"/>
                <a:ea typeface="Arial" pitchFamily="34" charset="-122"/>
                <a:cs typeface="Arial" pitchFamily="34" charset="-120"/>
              </a:rPr>
              <a:t>Chip stocks fell 25–36% in a single year when the inventory cycle turned. A direct investor would have needed a 33–56% rally just to get back to even.</a:t>
            </a:r>
            <a:endParaRPr lang="en-US" sz="1050" dirty="0"/>
          </a:p>
        </p:txBody>
      </p:sp>
      <p:sp>
        <p:nvSpPr>
          <p:cNvPr id="13" name="Shape 10"/>
          <p:cNvSpPr/>
          <p:nvPr/>
        </p:nvSpPr>
        <p:spPr>
          <a:xfrm>
            <a:off x="4343400" y="1051560"/>
            <a:ext cx="3657600" cy="384048"/>
          </a:xfrm>
          <a:prstGeom prst="rect">
            <a:avLst/>
          </a:prstGeom>
          <a:solidFill>
            <a:srgbClr val="2C5F82"/>
          </a:solidFill>
          <a:ln w="12700">
            <a:solidFill>
              <a:srgbClr val="2C5F82"/>
            </a:solidFill>
            <a:prstDash val="solid"/>
          </a:ln>
        </p:spPr>
      </p:sp>
      <p:sp>
        <p:nvSpPr>
          <p:cNvPr id="14" name="Text 11"/>
          <p:cNvSpPr txBox="1"/>
          <p:nvPr/>
        </p:nvSpPr>
        <p:spPr>
          <a:xfrm>
            <a:off x="4343400" y="1051560"/>
            <a:ext cx="36576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2026: the boom is priced in</a:t>
            </a:r>
            <a:endParaRPr lang="en-US" sz="1400" dirty="0"/>
          </a:p>
        </p:txBody>
      </p:sp>
      <p:sp>
        <p:nvSpPr>
          <p:cNvPr id="15" name="Shape 12"/>
          <p:cNvSpPr/>
          <p:nvPr/>
        </p:nvSpPr>
        <p:spPr>
          <a:xfrm>
            <a:off x="4343400" y="1554480"/>
            <a:ext cx="3657600" cy="841248"/>
          </a:xfrm>
          <a:prstGeom prst="rect">
            <a:avLst/>
          </a:prstGeom>
          <a:solidFill>
            <a:srgbClr val="F2F2F2"/>
          </a:solidFill>
          <a:ln w="12700">
            <a:solidFill>
              <a:srgbClr val="F2F2F2"/>
            </a:solidFill>
            <a:prstDash val="solid"/>
          </a:ln>
        </p:spPr>
      </p:sp>
      <p:sp>
        <p:nvSpPr>
          <p:cNvPr id="16" name="Text 13"/>
          <p:cNvSpPr txBox="1"/>
          <p:nvPr/>
        </p:nvSpPr>
        <p:spPr>
          <a:xfrm>
            <a:off x="4434840" y="1554480"/>
            <a:ext cx="1051560" cy="841248"/>
          </a:xfrm>
          <a:prstGeom prst="rect">
            <a:avLst/>
          </a:prstGeom>
          <a:noFill/>
          <a:ln/>
        </p:spPr>
        <p:txBody>
          <a:bodyPr wrap="square" lIns="0" tIns="0" rIns="0" bIns="0" rtlCol="0" anchor="ctr"/>
          <a:lstStyle/>
          <a:p>
            <a:pPr algn="ctr" indent="0" marL="0">
              <a:buNone/>
            </a:pPr>
            <a:r>
              <a:rPr lang="en-US" sz="2200" b="1" dirty="0">
                <a:solidFill>
                  <a:srgbClr val="B23B3B"/>
                </a:solidFill>
                <a:latin typeface="Arial" pitchFamily="34" charset="0"/>
                <a:ea typeface="Arial" pitchFamily="34" charset="-122"/>
                <a:cs typeface="Arial" pitchFamily="34" charset="-120"/>
              </a:rPr>
              <a:t>~2×</a:t>
            </a:r>
            <a:endParaRPr lang="en-US" sz="2200" dirty="0"/>
          </a:p>
        </p:txBody>
      </p:sp>
      <p:sp>
        <p:nvSpPr>
          <p:cNvPr id="17" name="Text 14"/>
          <p:cNvSpPr txBox="1"/>
          <p:nvPr/>
        </p:nvSpPr>
        <p:spPr>
          <a:xfrm>
            <a:off x="5532120" y="1627632"/>
            <a:ext cx="2377440" cy="731520"/>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KOSPI in 2026: ~+100% YTD, crossed 9,000 (Jun 2026), then two violent single-day crashes</a:t>
            </a:r>
            <a:endParaRPr lang="en-US" sz="1000" dirty="0"/>
          </a:p>
        </p:txBody>
      </p:sp>
      <p:sp>
        <p:nvSpPr>
          <p:cNvPr id="18" name="Shape 15"/>
          <p:cNvSpPr/>
          <p:nvPr/>
        </p:nvSpPr>
        <p:spPr>
          <a:xfrm>
            <a:off x="4343400" y="2487168"/>
            <a:ext cx="3657600" cy="841248"/>
          </a:xfrm>
          <a:prstGeom prst="rect">
            <a:avLst/>
          </a:prstGeom>
          <a:solidFill>
            <a:srgbClr val="FFFFFF"/>
          </a:solidFill>
          <a:ln w="12700">
            <a:solidFill>
              <a:srgbClr val="F2F2F2"/>
            </a:solidFill>
            <a:prstDash val="solid"/>
          </a:ln>
        </p:spPr>
      </p:sp>
      <p:sp>
        <p:nvSpPr>
          <p:cNvPr id="19" name="Text 16"/>
          <p:cNvSpPr txBox="1"/>
          <p:nvPr/>
        </p:nvSpPr>
        <p:spPr>
          <a:xfrm>
            <a:off x="4434840" y="2487168"/>
            <a:ext cx="1051560" cy="841248"/>
          </a:xfrm>
          <a:prstGeom prst="rect">
            <a:avLst/>
          </a:prstGeom>
          <a:noFill/>
          <a:ln/>
        </p:spPr>
        <p:txBody>
          <a:bodyPr wrap="square" lIns="0" tIns="0" rIns="0" bIns="0" rtlCol="0" anchor="ctr"/>
          <a:lstStyle/>
          <a:p>
            <a:pPr algn="ctr" indent="0" marL="0">
              <a:buNone/>
            </a:pPr>
            <a:r>
              <a:rPr lang="en-US" sz="2200" b="1" dirty="0">
                <a:solidFill>
                  <a:srgbClr val="2C5F82"/>
                </a:solidFill>
                <a:latin typeface="Arial" pitchFamily="34" charset="0"/>
                <a:ea typeface="Arial" pitchFamily="34" charset="-122"/>
                <a:cs typeface="Arial" pitchFamily="34" charset="-120"/>
              </a:rPr>
              <a:t>&gt;40%</a:t>
            </a:r>
            <a:endParaRPr lang="en-US" sz="2200" dirty="0"/>
          </a:p>
        </p:txBody>
      </p:sp>
      <p:sp>
        <p:nvSpPr>
          <p:cNvPr id="20" name="Text 17"/>
          <p:cNvSpPr txBox="1"/>
          <p:nvPr/>
        </p:nvSpPr>
        <p:spPr>
          <a:xfrm>
            <a:off x="5532120" y="2560320"/>
            <a:ext cx="2377440" cy="731520"/>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TSMC's weight in the TAIEX: one stock drives the index</a:t>
            </a:r>
            <a:endParaRPr lang="en-US" sz="1000" dirty="0"/>
          </a:p>
        </p:txBody>
      </p:sp>
      <p:sp>
        <p:nvSpPr>
          <p:cNvPr id="21" name="Shape 18"/>
          <p:cNvSpPr/>
          <p:nvPr/>
        </p:nvSpPr>
        <p:spPr>
          <a:xfrm>
            <a:off x="4343400" y="3419856"/>
            <a:ext cx="3657600" cy="841248"/>
          </a:xfrm>
          <a:prstGeom prst="rect">
            <a:avLst/>
          </a:prstGeom>
          <a:solidFill>
            <a:srgbClr val="F2F2F2"/>
          </a:solidFill>
          <a:ln w="12700">
            <a:solidFill>
              <a:srgbClr val="F2F2F2"/>
            </a:solidFill>
            <a:prstDash val="solid"/>
          </a:ln>
        </p:spPr>
      </p:sp>
      <p:sp>
        <p:nvSpPr>
          <p:cNvPr id="22" name="Text 19"/>
          <p:cNvSpPr txBox="1"/>
          <p:nvPr/>
        </p:nvSpPr>
        <p:spPr>
          <a:xfrm>
            <a:off x="4434840" y="3419856"/>
            <a:ext cx="1051560" cy="841248"/>
          </a:xfrm>
          <a:prstGeom prst="rect">
            <a:avLst/>
          </a:prstGeom>
          <a:noFill/>
          <a:ln/>
        </p:spPr>
        <p:txBody>
          <a:bodyPr wrap="square" lIns="0" tIns="0" rIns="0" bIns="0" rtlCol="0" anchor="ctr"/>
          <a:lstStyle/>
          <a:p>
            <a:pPr algn="ctr" indent="0" marL="0">
              <a:buNone/>
            </a:pPr>
            <a:r>
              <a:rPr lang="en-US" sz="2200" b="1" dirty="0">
                <a:solidFill>
                  <a:srgbClr val="2C5F82"/>
                </a:solidFill>
                <a:latin typeface="Arial" pitchFamily="34" charset="0"/>
                <a:ea typeface="Arial" pitchFamily="34" charset="-122"/>
                <a:cs typeface="Arial" pitchFamily="34" charset="-120"/>
              </a:rPr>
              <a:t>12%</a:t>
            </a:r>
            <a:endParaRPr lang="en-US" sz="2200" dirty="0"/>
          </a:p>
        </p:txBody>
      </p:sp>
      <p:sp>
        <p:nvSpPr>
          <p:cNvPr id="23" name="Text 20"/>
          <p:cNvSpPr txBox="1"/>
          <p:nvPr/>
        </p:nvSpPr>
        <p:spPr>
          <a:xfrm>
            <a:off x="5532120" y="3493008"/>
            <a:ext cx="2377440" cy="731520"/>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Advantest's Nikkei 225 weight (Jul 2026): above the 10% cap, so Nikkei is cutting it</a:t>
            </a:r>
            <a:endParaRPr lang="en-US" sz="1000" dirty="0"/>
          </a:p>
        </p:txBody>
      </p:sp>
      <p:sp>
        <p:nvSpPr>
          <p:cNvPr id="24" name="Shape 21"/>
          <p:cNvSpPr/>
          <p:nvPr/>
        </p:nvSpPr>
        <p:spPr>
          <a:xfrm>
            <a:off x="4343400" y="4352544"/>
            <a:ext cx="3657600" cy="841248"/>
          </a:xfrm>
          <a:prstGeom prst="rect">
            <a:avLst/>
          </a:prstGeom>
          <a:solidFill>
            <a:srgbClr val="FFFFFF"/>
          </a:solidFill>
          <a:ln w="12700">
            <a:solidFill>
              <a:srgbClr val="F2F2F2"/>
            </a:solidFill>
            <a:prstDash val="solid"/>
          </a:ln>
        </p:spPr>
      </p:sp>
      <p:sp>
        <p:nvSpPr>
          <p:cNvPr id="25" name="Text 22"/>
          <p:cNvSpPr txBox="1"/>
          <p:nvPr/>
        </p:nvSpPr>
        <p:spPr>
          <a:xfrm>
            <a:off x="4434840" y="4352544"/>
            <a:ext cx="1051560" cy="841248"/>
          </a:xfrm>
          <a:prstGeom prst="rect">
            <a:avLst/>
          </a:prstGeom>
          <a:noFill/>
          <a:ln/>
        </p:spPr>
        <p:txBody>
          <a:bodyPr wrap="square" lIns="0" tIns="0" rIns="0" bIns="0" rtlCol="0" anchor="ctr"/>
          <a:lstStyle/>
          <a:p>
            <a:pPr algn="ctr" indent="0" marL="0">
              <a:buNone/>
            </a:pPr>
            <a:r>
              <a:rPr lang="en-US" sz="2200" b="1" dirty="0">
                <a:solidFill>
                  <a:srgbClr val="B23B3B"/>
                </a:solidFill>
                <a:latin typeface="Arial" pitchFamily="34" charset="0"/>
                <a:ea typeface="Arial" pitchFamily="34" charset="-122"/>
                <a:cs typeface="Arial" pitchFamily="34" charset="-120"/>
              </a:rPr>
              <a:t>−4%</a:t>
            </a:r>
            <a:endParaRPr lang="en-US" sz="2200" dirty="0"/>
          </a:p>
        </p:txBody>
      </p:sp>
      <p:sp>
        <p:nvSpPr>
          <p:cNvPr id="26" name="Text 23"/>
          <p:cNvSpPr txBox="1"/>
          <p:nvPr/>
        </p:nvSpPr>
        <p:spPr>
          <a:xfrm>
            <a:off x="5532120" y="4425696"/>
            <a:ext cx="2377440" cy="731520"/>
          </a:xfrm>
          <a:prstGeom prst="rect">
            <a:avLst/>
          </a:prstGeom>
          <a:noFill/>
          <a:ln/>
        </p:spPr>
        <p:txBody>
          <a:bodyPr wrap="square" lIns="0" tIns="0" rIns="0" bIns="0" rtlCol="0" anchor="ctr"/>
          <a:lstStyle/>
          <a:p>
            <a:pPr indent="0" marL="0">
              <a:buNone/>
            </a:pPr>
            <a:r>
              <a:rPr lang="en-US" sz="1000" dirty="0">
                <a:solidFill>
                  <a:srgbClr val="262626"/>
                </a:solidFill>
                <a:latin typeface="Arial" pitchFamily="34" charset="0"/>
                <a:ea typeface="Arial" pitchFamily="34" charset="-122"/>
                <a:cs typeface="Arial" pitchFamily="34" charset="-120"/>
              </a:rPr>
              <a:t>Nikkei fall in a chip-led selloff, mid-July 2026</a:t>
            </a:r>
            <a:endParaRPr lang="en-US" sz="1000" dirty="0"/>
          </a:p>
        </p:txBody>
      </p:sp>
      <p:sp>
        <p:nvSpPr>
          <p:cNvPr id="27" name="Shape 24"/>
          <p:cNvSpPr/>
          <p:nvPr/>
        </p:nvSpPr>
        <p:spPr>
          <a:xfrm>
            <a:off x="8229600" y="1051560"/>
            <a:ext cx="3502152" cy="384048"/>
          </a:xfrm>
          <a:prstGeom prst="rect">
            <a:avLst/>
          </a:prstGeom>
          <a:solidFill>
            <a:srgbClr val="2C5F82"/>
          </a:solidFill>
          <a:ln w="12700">
            <a:solidFill>
              <a:srgbClr val="2C5F82"/>
            </a:solidFill>
            <a:prstDash val="solid"/>
          </a:ln>
        </p:spPr>
      </p:sp>
      <p:sp>
        <p:nvSpPr>
          <p:cNvPr id="28" name="Text 25"/>
          <p:cNvSpPr txBox="1"/>
          <p:nvPr/>
        </p:nvSpPr>
        <p:spPr>
          <a:xfrm>
            <a:off x="8229600" y="1051560"/>
            <a:ext cx="3502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Tailwind: governance reform</a:t>
            </a:r>
            <a:endParaRPr lang="en-US" sz="1400" dirty="0"/>
          </a:p>
        </p:txBody>
      </p:sp>
      <p:sp>
        <p:nvSpPr>
          <p:cNvPr id="29" name="Shape 26"/>
          <p:cNvSpPr/>
          <p:nvPr/>
        </p:nvSpPr>
        <p:spPr>
          <a:xfrm>
            <a:off x="8229600" y="1554480"/>
            <a:ext cx="3502152" cy="1755648"/>
          </a:xfrm>
          <a:prstGeom prst="rect">
            <a:avLst/>
          </a:prstGeom>
          <a:solidFill>
            <a:srgbClr val="E8EFF5"/>
          </a:solidFill>
          <a:ln w="12700">
            <a:solidFill>
              <a:srgbClr val="E8EFF5"/>
            </a:solidFill>
            <a:prstDash val="solid"/>
          </a:ln>
        </p:spPr>
      </p:sp>
      <p:sp>
        <p:nvSpPr>
          <p:cNvPr id="30" name="Text 27"/>
          <p:cNvSpPr txBox="1"/>
          <p:nvPr/>
        </p:nvSpPr>
        <p:spPr>
          <a:xfrm>
            <a:off x="8366760" y="1645920"/>
            <a:ext cx="3200400" cy="274320"/>
          </a:xfrm>
          <a:prstGeom prst="rect">
            <a:avLst/>
          </a:prstGeom>
          <a:noFill/>
          <a:ln/>
        </p:spPr>
        <p:txBody>
          <a:bodyPr wrap="square" lIns="0" tIns="0" rIns="0" bIns="0" rtlCol="0" anchor="t"/>
          <a:lstStyle/>
          <a:p>
            <a:pPr indent="0" marL="0">
              <a:buNone/>
            </a:pPr>
            <a:r>
              <a:rPr lang="en-US" sz="1300" b="1" i="1" dirty="0">
                <a:solidFill>
                  <a:srgbClr val="2C5F82"/>
                </a:solidFill>
                <a:latin typeface="Arial" pitchFamily="34" charset="0"/>
                <a:ea typeface="Arial" pitchFamily="34" charset="-122"/>
                <a:cs typeface="Arial" pitchFamily="34" charset="-120"/>
              </a:rPr>
              <a:t>Japan</a:t>
            </a:r>
            <a:endParaRPr lang="en-US" sz="1300" dirty="0"/>
          </a:p>
        </p:txBody>
      </p:sp>
      <p:sp>
        <p:nvSpPr>
          <p:cNvPr id="31" name="Text 28"/>
          <p:cNvSpPr txBox="1"/>
          <p:nvPr/>
        </p:nvSpPr>
        <p:spPr>
          <a:xfrm>
            <a:off x="8366760" y="1965960"/>
            <a:ext cx="3246120" cy="1280160"/>
          </a:xfrm>
          <a:prstGeom prst="rect">
            <a:avLst/>
          </a:prstGeom>
          <a:noFill/>
          <a:ln/>
        </p:spPr>
        <p:txBody>
          <a:bodyPr wrap="square" lIns="0" tIns="0" rIns="0" bIns="0" rtlCol="0" anchor="t"/>
          <a:lstStyle/>
          <a:p>
            <a:pPr indent="0" marL="0">
              <a:buNone/>
            </a:pPr>
            <a:r>
              <a:rPr lang="en-US" sz="1000" dirty="0">
                <a:solidFill>
                  <a:srgbClr val="262626"/>
                </a:solidFill>
                <a:latin typeface="Arial" pitchFamily="34" charset="0"/>
                <a:ea typeface="Arial" pitchFamily="34" charset="-122"/>
                <a:cs typeface="Arial" pitchFamily="34" charset="-120"/>
              </a:rPr>
              <a:t>TSE's 2023 push on companies below 1× book: record buybacks (¥18.7trn FY2024, ~¥20trn forecast FY2025); share of Prime firms below 1× P/B down from ~50% to 44%</a:t>
            </a:r>
            <a:endParaRPr lang="en-US" sz="1000" dirty="0"/>
          </a:p>
        </p:txBody>
      </p:sp>
      <p:sp>
        <p:nvSpPr>
          <p:cNvPr id="32" name="Shape 29"/>
          <p:cNvSpPr/>
          <p:nvPr/>
        </p:nvSpPr>
        <p:spPr>
          <a:xfrm>
            <a:off x="8229600" y="3429000"/>
            <a:ext cx="3502152" cy="1755648"/>
          </a:xfrm>
          <a:prstGeom prst="rect">
            <a:avLst/>
          </a:prstGeom>
          <a:solidFill>
            <a:srgbClr val="E8EFF5"/>
          </a:solidFill>
          <a:ln w="12700">
            <a:solidFill>
              <a:srgbClr val="E8EFF5"/>
            </a:solidFill>
            <a:prstDash val="solid"/>
          </a:ln>
        </p:spPr>
      </p:sp>
      <p:sp>
        <p:nvSpPr>
          <p:cNvPr id="33" name="Text 30"/>
          <p:cNvSpPr txBox="1"/>
          <p:nvPr/>
        </p:nvSpPr>
        <p:spPr>
          <a:xfrm>
            <a:off x="8366760" y="3520440"/>
            <a:ext cx="3200400" cy="274320"/>
          </a:xfrm>
          <a:prstGeom prst="rect">
            <a:avLst/>
          </a:prstGeom>
          <a:noFill/>
          <a:ln/>
        </p:spPr>
        <p:txBody>
          <a:bodyPr wrap="square" lIns="0" tIns="0" rIns="0" bIns="0" rtlCol="0" anchor="t"/>
          <a:lstStyle/>
          <a:p>
            <a:pPr indent="0" marL="0">
              <a:buNone/>
            </a:pPr>
            <a:r>
              <a:rPr lang="en-US" sz="1300" b="1" i="1" dirty="0">
                <a:solidFill>
                  <a:srgbClr val="2C5F82"/>
                </a:solidFill>
                <a:latin typeface="Arial" pitchFamily="34" charset="0"/>
                <a:ea typeface="Arial" pitchFamily="34" charset="-122"/>
                <a:cs typeface="Arial" pitchFamily="34" charset="-120"/>
              </a:rPr>
              <a:t>Korea</a:t>
            </a:r>
            <a:endParaRPr lang="en-US" sz="1300" dirty="0"/>
          </a:p>
        </p:txBody>
      </p:sp>
      <p:sp>
        <p:nvSpPr>
          <p:cNvPr id="34" name="Text 31"/>
          <p:cNvSpPr txBox="1"/>
          <p:nvPr/>
        </p:nvSpPr>
        <p:spPr>
          <a:xfrm>
            <a:off x="8366760" y="3840480"/>
            <a:ext cx="3246120" cy="1280160"/>
          </a:xfrm>
          <a:prstGeom prst="rect">
            <a:avLst/>
          </a:prstGeom>
          <a:noFill/>
          <a:ln/>
        </p:spPr>
        <p:txBody>
          <a:bodyPr wrap="square" lIns="0" tIns="0" rIns="0" bIns="0" rtlCol="0" anchor="t"/>
          <a:lstStyle/>
          <a:p>
            <a:pPr indent="0" marL="0">
              <a:buNone/>
            </a:pPr>
            <a:r>
              <a:rPr lang="en-US" sz="1000" dirty="0">
                <a:solidFill>
                  <a:srgbClr val="262626"/>
                </a:solidFill>
                <a:latin typeface="Arial" pitchFamily="34" charset="0"/>
                <a:ea typeface="Arial" pitchFamily="34" charset="-122"/>
                <a:cs typeface="Arial" pitchFamily="34" charset="-120"/>
              </a:rPr>
              <a:t>Corporate Value-up Programme (Feb 2024): Korea Value-Up Index beat KOSPI 200 by &gt;30% from late 2024 to Feb 2026</a:t>
            </a:r>
            <a:endParaRPr lang="en-US" sz="1000" dirty="0"/>
          </a:p>
        </p:txBody>
      </p:sp>
      <p:sp>
        <p:nvSpPr>
          <p:cNvPr id="35" name="Text 32"/>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2022 market highlights; Korea Times / Yonhap (KOSPI 2022); Bloomberg via BNN (SOX 2022); BIT Research (KOSPI 2026, verify on Bloomberg); Trading Economics (TSMC weight, Jul 2026); Nikkei Asia (Advantest weight cap); Nikkei index summary; Asset Management One via portfolio institutional (Japan buybacks); AllianceBernstein (Korea Value-Up Index).</a:t>
            </a:r>
            <a:endParaRPr lang="en-US" sz="800" dirty="0"/>
          </a:p>
        </p:txBody>
      </p:sp>
      <p:sp>
        <p:nvSpPr>
          <p:cNvPr id="36" name="Shape 33"/>
          <p:cNvSpPr/>
          <p:nvPr/>
        </p:nvSpPr>
        <p:spPr>
          <a:xfrm>
            <a:off x="457200" y="5650992"/>
            <a:ext cx="11274552" cy="502920"/>
          </a:xfrm>
          <a:prstGeom prst="rect">
            <a:avLst/>
          </a:prstGeom>
          <a:solidFill>
            <a:srgbClr val="2C5F82"/>
          </a:solidFill>
          <a:ln w="12700">
            <a:solidFill>
              <a:srgbClr val="2C5F82"/>
            </a:solidFill>
            <a:prstDash val="solid"/>
          </a:ln>
        </p:spPr>
      </p:sp>
      <p:sp>
        <p:nvSpPr>
          <p:cNvPr id="37" name="Text 34"/>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Keep the AI exposure, hand the drawdown to Natixis: 100% capital protection, and a coupon that needs only a recovery to 100%.</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3: An autocallable beats the usual ways to own this theme</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Shape 4"/>
          <p:cNvSpPr/>
          <p:nvPr/>
        </p:nvSpPr>
        <p:spPr>
          <a:xfrm>
            <a:off x="4837176" y="6364224"/>
            <a:ext cx="2514600" cy="45720"/>
          </a:xfrm>
          <a:prstGeom prst="rect">
            <a:avLst/>
          </a:prstGeom>
          <a:solidFill>
            <a:srgbClr val="2C5F82"/>
          </a:solidFill>
          <a:ln w="12700">
            <a:solidFill>
              <a:srgbClr val="2C5F82"/>
            </a:solidFill>
            <a:prstDash val="solid"/>
          </a:ln>
        </p:spPr>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Average annual return by type of market (5 years)</a:t>
            </a:r>
            <a:endParaRPr lang="en-US" sz="1400" dirty="0"/>
          </a:p>
        </p:txBody>
      </p:sp>
      <p:graphicFrame>
        <p:nvGraphicFramePr>
          <p:cNvPr id="11" name="Chart 0" descr=""/>
          <p:cNvGraphicFramePr/>
          <p:nvPr/>
        </p:nvGraphicFramePr>
        <p:xfrm>
          <a:off x="457200" y="1481328"/>
          <a:ext cx="6400800" cy="37947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7086600" y="1051560"/>
            <a:ext cx="4645152" cy="384048"/>
          </a:xfrm>
          <a:prstGeom prst="rect">
            <a:avLst/>
          </a:prstGeom>
          <a:solidFill>
            <a:srgbClr val="2C5F82"/>
          </a:solidFill>
          <a:ln w="12700">
            <a:solidFill>
              <a:srgbClr val="2C5F82"/>
            </a:solidFill>
            <a:prstDash val="solid"/>
          </a:ln>
        </p:spPr>
      </p:sp>
      <p:sp>
        <p:nvSpPr>
          <p:cNvPr id="13" name="Text 10"/>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Same 100,000 paths, summary</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086600" y="1508760"/>
          <a:ext cx="4645152" cy="914400"/>
        </p:xfrm>
        <a:graphic>
          <a:graphicData uri="http://schemas.openxmlformats.org/drawingml/2006/table">
            <a:tbl>
              <a:tblPr/>
              <a:tblGrid>
                <a:gridCol w="1737360"/>
                <a:gridCol w="685800"/>
                <a:gridCol w="731520"/>
                <a:gridCol w="731520"/>
                <a:gridCol w="758952"/>
              </a:tblGrid>
              <a:tr h="329184">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Strategy</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Median</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Loss risk</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Worst 5%</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29184">
                <a:tc>
                  <a:txBody>
                    <a:bodyPr/>
                    <a:lstStyle/>
                    <a:p>
                      <a:pPr indent="0" marL="0">
                        <a:buNone/>
                      </a:pPr>
                      <a:r>
                        <a:rPr lang="en-US" sz="1000" b="1" dirty="0">
                          <a:solidFill>
                            <a:srgbClr val="2C5F82"/>
                          </a:solidFill>
                          <a:latin typeface="Arial" pitchFamily="34" charset="0"/>
                          <a:ea typeface="Arial" pitchFamily="34" charset="-122"/>
                          <a:cs typeface="Arial" pitchFamily="34" charset="-120"/>
                        </a:rPr>
                        <a:t>Our protected autocall</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5.4%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6.8%</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c>
                  <a:txBody>
                    <a:bodyPr/>
                    <a:lstStyle/>
                    <a:p>
                      <a:pPr indent="0" marL="0">
                        <a:buNone/>
                      </a:pPr>
                      <a:r>
                        <a:rPr lang="en-US" sz="1000" b="1" dirty="0">
                          <a:solidFill>
                            <a:srgbClr val="2C5F82"/>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8EFF5"/>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Hold the basket</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2.3%</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−12.4%</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Plain protected note</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3.7%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262626"/>
                          </a:solidFill>
                          <a:latin typeface="Arial" pitchFamily="34" charset="0"/>
                          <a:ea typeface="Arial" pitchFamily="34" charset="-122"/>
                          <a:cs typeface="Arial" pitchFamily="34" charset="-120"/>
                        </a:rPr>
                        <a:t>5Y USD bond (5.69%)</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0%</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00" dirty="0">
                          <a:solidFill>
                            <a:srgbClr val="262626"/>
                          </a:solidFill>
                          <a:latin typeface="Arial" pitchFamily="34" charset="0"/>
                          <a:ea typeface="Arial" pitchFamily="34" charset="-122"/>
                          <a:cs typeface="Arial" pitchFamily="34" charset="-120"/>
                        </a:rPr>
                        <a:t>5.7%</a:t>
                      </a:r>
                      <a:endParaRPr lang="en-US" sz="1000" dirty="0">
                        <a:latin typeface="Arial" charset="0"/>
                        <a:ea typeface="Arial" charset="0"/>
                        <a:cs typeface="Arial" charset="0"/>
                      </a:endParaRPr>
                    </a:p>
                  </a:txBody>
                  <a:tcPr marL="50800" marR="508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5" name="Shape 11"/>
          <p:cNvSpPr/>
          <p:nvPr/>
        </p:nvSpPr>
        <p:spPr>
          <a:xfrm>
            <a:off x="7086600" y="3291840"/>
            <a:ext cx="4645152" cy="1965960"/>
          </a:xfrm>
          <a:prstGeom prst="rect">
            <a:avLst/>
          </a:prstGeom>
          <a:solidFill>
            <a:srgbClr val="F2F2F2"/>
          </a:solidFill>
          <a:ln w="12700">
            <a:solidFill>
              <a:srgbClr val="F2F2F2"/>
            </a:solidFill>
            <a:prstDash val="solid"/>
          </a:ln>
        </p:spPr>
      </p:sp>
      <p:sp>
        <p:nvSpPr>
          <p:cNvPr id="16" name="Text 12"/>
          <p:cNvSpPr txBox="1"/>
          <p:nvPr/>
        </p:nvSpPr>
        <p:spPr>
          <a:xfrm>
            <a:off x="7223760" y="3364992"/>
            <a:ext cx="4389120" cy="1874520"/>
          </a:xfrm>
          <a:prstGeom prst="rect">
            <a:avLst/>
          </a:prstGeom>
          <a:noFill/>
          <a:ln/>
        </p:spPr>
        <p:txBody>
          <a:bodyPr wrap="square" lIns="0" tIns="0" rIns="0" bIns="0" rtlCol="0" anchor="t"/>
          <a:lstStyle/>
          <a:p>
            <a:pPr indent="0" marL="0">
              <a:spcAft>
                <a:spcPts val="300"/>
              </a:spcAft>
              <a:buNone/>
            </a:pPr>
            <a:r>
              <a:rPr lang="en-US" sz="1200" b="1" i="1" dirty="0">
                <a:solidFill>
                  <a:srgbClr val="2C5F82"/>
                </a:solidFill>
                <a:latin typeface="Arial" pitchFamily="34" charset="0"/>
                <a:ea typeface="Arial" pitchFamily="34" charset="-122"/>
                <a:cs typeface="Arial" pitchFamily="34" charset="-120"/>
              </a:rPr>
              <a:t>Why it works</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Pays in sideways markets: 6.2% vs 2.0% for the stocks when the basket goes nowhere</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Volatility raises the chance of touching 100%, so it funds the coupon instead of hurting the family</a:t>
            </a:r>
            <a:endParaRPr lang="en-US" sz="950" dirty="0"/>
          </a:p>
          <a:p>
            <a:pPr marL="127000" indent="-127000">
              <a:spcAft>
                <a:spcPts val="300"/>
              </a:spcAft>
              <a:buSzPct val="100000"/>
              <a:buChar char="•"/>
            </a:pPr>
            <a:r>
              <a:rPr lang="en-US" sz="950" dirty="0">
                <a:solidFill>
                  <a:srgbClr val="262626"/>
                </a:solidFill>
                <a:latin typeface="Arial" pitchFamily="34" charset="0"/>
                <a:ea typeface="Arial" pitchFamily="34" charset="-122"/>
                <a:cs typeface="Arial" pitchFamily="34" charset="-120"/>
              </a:rPr>
              <a:t>Market evidence: Taiwan structured-note issuance +81% in 2025, snowball autocalls the favourite payoff (SRP)</a:t>
            </a:r>
            <a:endParaRPr lang="en-US" sz="950" dirty="0"/>
          </a:p>
          <a:p>
            <a:pPr marL="127000" indent="-127000">
              <a:spcAft>
                <a:spcPts val="300"/>
              </a:spcAft>
              <a:buSzPct val="100000"/>
              <a:buChar char="•"/>
            </a:pPr>
            <a:r>
              <a:rPr lang="en-US" sz="950" dirty="0">
                <a:solidFill>
                  <a:srgbClr val="B23B3B"/>
                </a:solidFill>
                <a:latin typeface="Arial" pitchFamily="34" charset="0"/>
                <a:ea typeface="Arial" pitchFamily="34" charset="-122"/>
                <a:cs typeface="Arial" pitchFamily="34" charset="-120"/>
              </a:rPr>
              <a:t>Honest caveat: a 5Y bond earns more in bear markets, but gives no AI exposure</a:t>
            </a:r>
            <a:endParaRPr lang="en-US" sz="950" dirty="0"/>
          </a:p>
        </p:txBody>
      </p:sp>
      <p:sp>
        <p:nvSpPr>
          <p:cNvPr id="17" name="Text 13"/>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Our Monte Carlo (pricing/scenario2_vs_traditional.py): TAIEX 40% / KOSPI 200 30% / Nikkei 225 30%, real-world equity drift 4% p.a.; protected note participation 101%. Market regime = basket's own 5Y annualised total return. Early-called notes are not assumed to be reinvested. SRP = StructuredRetailProducts.com.</a:t>
            </a:r>
            <a:endParaRPr lang="en-US" sz="800" dirty="0"/>
          </a:p>
        </p:txBody>
      </p:sp>
      <p:sp>
        <p:nvSpPr>
          <p:cNvPr id="18" name="Shape 14"/>
          <p:cNvSpPr/>
          <p:nvPr/>
        </p:nvSpPr>
        <p:spPr>
          <a:xfrm>
            <a:off x="457200" y="5650992"/>
            <a:ext cx="11274552" cy="502920"/>
          </a:xfrm>
          <a:prstGeom prst="rect">
            <a:avLst/>
          </a:prstGeom>
          <a:solidFill>
            <a:srgbClr val="2C5F82"/>
          </a:solidFill>
          <a:ln w="12700">
            <a:solidFill>
              <a:srgbClr val="2C5F82"/>
            </a:solidFill>
            <a:prstDash val="solid"/>
          </a:ln>
        </p:spPr>
      </p:sp>
      <p:sp>
        <p:nvSpPr>
          <p:cNvPr id="19" name="Text 15"/>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Best way to own the theme: equals or beats the stocks in 3 of 4 markets, beats a plain protected note in 3 of 4, and never loses capital.</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035040"/>
                <a:gridCol w="5239512"/>
              </a:tblGrid>
              <a:tr h="310896">
                <a:tc>
                  <a:txBody>
                    <a:bodyPr/>
                    <a:lstStyle/>
                    <a:p>
                      <a:pPr indent="0" marL="0">
                        <a:buNone/>
                      </a:pPr>
                      <a:r>
                        <a:rPr lang="en-US" sz="950" b="1" dirty="0">
                          <a:solidFill>
                            <a:srgbClr val="FFFFFF"/>
                          </a:solidFill>
                          <a:latin typeface="Arial" pitchFamily="34" charset="0"/>
                          <a:ea typeface="Arial" pitchFamily="34" charset="-122"/>
                          <a:cs typeface="Arial" pitchFamily="34" charset="-120"/>
                        </a:rPr>
                        <a:t>Fact used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~70–73% of global foundry revenue (Q1 2026); HPC 58% of 2025 revenue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via press; TSMC results (verify in TSMC Q-reports)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TSMC &gt;40% of TAIEX market value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Trading Economics (28 Jul 2026); Focus Taiwan (May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HBM revenue share Q2 2026: SK hynix 50%, Samsung 33%, Micron 18%</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Counterpoint Research, Global DRAM and HBM Market Share (quarterly)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~55–58% of chip test equipment; TEL ~90% of coater/developers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Industry research summaries; verify in TEL and Advantest annual reports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Advantest 12.2% / TEL ~9–10% of Nikkei 225; weight cap from 1 Oct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Nikkei Asia announcement; Nikkei index summary (17 Jul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Hyperscaler capex ~USD 725bn in 2026, +77% y/y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Company guidance after Q1 2026 earnings, as reported by AI Weekly / Yahoo Finance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Chip market ~USD 1.5trn in 2026 (+90%); logic +37%</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WSTS Spring 2026 forecast (2 Jun 2026), wsts.org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Equipment USD 165.9bn (+23.2%); DRAM equip. +39%; test +31%</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SEMI mid-year forecast (14 Jul 2026), semi.org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2022: TAIEX −31.6% peak to trough; KOSPI −24.9%; SOX −36%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TWSE 2022 Market Highlights; Korea Times / Yonhap; Bloomberg via BNN</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KOSPI ~+100% YTD, above 9,000 (18 Jun 2026); Samsung + SK hynix ~48% of market cap</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BIT Research, 'The KOSPI supercycle' (single source: verify on Bloomberg)</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Japan buybacks ¥18.7trn FY2024, ~¥20trn forecast FY2025; P/B&lt;1 share ~50% → 44%</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Asset Management One via portfolio institutional; investment-manager commentary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Korea Value-Up Index beat KOSPI 200 by &gt;30% (late 2024 – 27 Feb 2026)</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AllianceBernstein, 'South Korea's rising governance tide'</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StructuredRetailProducts.com, Taiwan Q4 2025 review</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10896">
                <a:tc>
                  <a:txBody>
                    <a:bodyPr/>
                    <a:lstStyle/>
                    <a:p>
                      <a:pPr indent="0" marL="0">
                        <a:buNone/>
                      </a:pPr>
                      <a:r>
                        <a:rPr lang="en-US" sz="950" dirty="0">
                          <a:solidFill>
                            <a:srgbClr val="262626"/>
                          </a:solidFill>
                          <a:latin typeface="Arial" pitchFamily="34" charset="0"/>
                          <a:ea typeface="Arial" pitchFamily="34" charset="-122"/>
                          <a:cs typeface="Arial" pitchFamily="34" charset="-120"/>
                        </a:rPr>
                        <a:t>Strategy comparison, coupon pricing, call probabilities</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950" dirty="0">
                          <a:solidFill>
                            <a:srgbClr val="262626"/>
                          </a:solidFill>
                          <a:latin typeface="Arial" pitchFamily="34" charset="0"/>
                          <a:ea typeface="Arial" pitchFamily="34" charset="-122"/>
                          <a:cs typeface="Arial" pitchFamily="34" charset="-120"/>
                        </a:rPr>
                        <a:t>Team Monte Carlo: pricing/scenario2_vs_traditional.py, scenario2_autocall_mc.py</a:t>
                      </a:r>
                      <a:endParaRPr lang="en-US" sz="950" dirty="0">
                        <a:latin typeface="Arial" charset="0"/>
                        <a:ea typeface="Arial" charset="0"/>
                        <a:cs typeface="Arial" charset="0"/>
                      </a:endParaRPr>
                    </a:p>
                  </a:txBody>
                  <a:tcPr marL="63500" marR="63500" marT="25400" marB="254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2026-10-08T05:56:30Z</dcterms:created>
  <dcterms:modified xsi:type="dcterms:W3CDTF">2026-10-08T05:56:30Z</dcterms:modified>
</cp:coreProperties>
</file>