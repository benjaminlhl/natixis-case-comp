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2026 growth vs 2025 (forecast / guidance)</a:t>
            </a:r>
          </a:p>
        </c:rich>
      </c:tx>
      <c:layout/>
      <c:overlay val="0"/>
    </c:title>
    <c:autoTitleDeleted val="0"/>
    <c:plotArea>
      <c:layout/>
      <c:barChart>
        <c:barDir val="bar"/>
        <c:grouping val="clustered"/>
        <c:varyColors val="0"/>
        <c:ser>
          <c:idx val="0"/>
          <c:order val="0"/>
          <c:tx>
            <c:strRef>
              <c:f>Sheet1!$B$1</c:f>
              <c:strCache>
                <c:ptCount val="1"/>
                <c:pt idx="0">
                  <c:v>2026 growth</c:v>
                </c:pt>
              </c:strCache>
            </c:strRef>
          </c:tx>
          <c:spPr>
            <a:solidFill>
              <a:srgbClr val="2C5F82"/>
            </a:solidFill>
            <a:effectLst/>
          </c:spPr>
          <c:invertIfNegative val="0"/>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cat>
            <c:multiLvlStrRef>
              <c:f>Sheet1!$A$2:$A$7</c:f>
              <c:multiLvlStrCache>
                <c:ptCount val="6"/>
                <c:lvl>
                  <c:pt idx="0">
                    <c:v>Hyperscaler capex (4 largest)</c:v>
                  </c:pt>
                  <c:pt idx="1">
                    <c:v>Global chip market (WSTS)</c:v>
                  </c:pt>
                  <c:pt idx="2">
                    <c:v>Logic chips (WSTS)</c:v>
                  </c:pt>
                  <c:pt idx="3">
                    <c:v>DRAM equipment (SEMI)</c:v>
                  </c:pt>
                  <c:pt idx="4">
                    <c:v>Chip test equipment (SEMI)</c:v>
                  </c:pt>
                  <c:pt idx="5">
                    <c:v>All chip equipment (SEMI)</c:v>
                  </c:pt>
                </c:lvl>
              </c:multiLvlStrCache>
            </c:multiLvlStrRef>
          </c:cat>
          <c:val>
            <c:numRef>
              <c:f>Sheet1!$B$2:$B$7</c:f>
              <c:numCache>
                <c:formatCode>General</c:formatCode>
                <c:ptCount val="6"/>
                <c:pt idx="0">
                  <c:v>77</c:v>
                </c:pt>
                <c:pt idx="1">
                  <c:v>90</c:v>
                </c:pt>
                <c:pt idx="2">
                  <c:v>37</c:v>
                </c:pt>
                <c:pt idx="3">
                  <c:v>39</c:v>
                </c:pt>
                <c:pt idx="4">
                  <c:v>31</c:v>
                </c:pt>
                <c:pt idx="5">
                  <c:v>23.2</c:v>
                </c:pt>
              </c:numCache>
            </c:numRef>
          </c:val>
        </c:ser>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Last down-cycle: 2022 fall</a:t>
            </a:r>
          </a:p>
        </c:rich>
      </c:tx>
      <c:layout/>
      <c:overlay val="0"/>
    </c:title>
    <c:autoTitleDeleted val="0"/>
    <c:plotArea>
      <c:layout/>
      <c:barChart>
        <c:barDir val="col"/>
        <c:grouping val="clustered"/>
        <c:varyColors val="0"/>
        <c:ser>
          <c:idx val="0"/>
          <c:order val="0"/>
          <c:tx>
            <c:strRef>
              <c:f>Sheet1!$B$1</c:f>
              <c:strCache>
                <c:ptCount val="1"/>
                <c:pt idx="0">
                  <c:v>2022</c:v>
                </c:pt>
              </c:strCache>
            </c:strRef>
          </c:tx>
          <c:spPr>
            <a:solidFill>
              <a:srgbClr val="B23B3B"/>
            </a:solidFill>
            <a:effectLst/>
          </c:spPr>
          <c:invertIfNegative val="0"/>
          <c:dLbls>
            <c:numFmt formatCode="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TAIEX</c:v>
                  </c:pt>
                  <c:pt idx="1">
                    <c:v>KOSPI</c:v>
                  </c:pt>
                  <c:pt idx="2">
                    <c:v>Global chip index</c:v>
                  </c:pt>
                </c:lvl>
              </c:multiLvlStrCache>
            </c:multiLvlStrRef>
          </c:cat>
          <c:val>
            <c:numRef>
              <c:f>Sheet1!$B$2:$B$4</c:f>
              <c:numCache>
                <c:formatCode>General</c:formatCode>
                <c:ptCount val="3"/>
                <c:pt idx="0">
                  <c:v>-31.6</c:v>
                </c:pt>
                <c:pt idx="1">
                  <c:v>-24.9</c:v>
                </c:pt>
                <c:pt idx="2">
                  <c:v>-36</c:v>
                </c:pt>
              </c:numCache>
            </c:numRef>
          </c:val>
        </c:ser>
        <c:dLbls>
          <c:numFmt formatCode="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Where the client's 100% goes (fair value, % of notional)</a:t>
            </a:r>
          </a:p>
        </c:rich>
      </c:tx>
      <c:layout/>
      <c:overlay val="0"/>
    </c:title>
    <c:autoTitleDeleted val="0"/>
    <c:plotArea>
      <c:layout/>
      <c:barChart>
        <c:barDir val="bar"/>
        <c:grouping val="stacked"/>
        <c:varyColors val="0"/>
        <c:ser>
          <c:idx val="0"/>
          <c:order val="0"/>
          <c:tx>
            <c:strRef>
              <c:f>Sheet1!$B$1</c:f>
              <c:strCache>
                <c:ptCount val="1"/>
                <c:pt idx="0">
                  <c:v>Protected principal: 89.9%</c:v>
                </c:pt>
              </c:strCache>
            </c:strRef>
          </c:tx>
          <c:spPr>
            <a:solidFill>
              <a:srgbClr val="2C5F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Sheet1!$B$2:$B$2</c:f>
              <c:numCache>
                <c:formatCode>General</c:formatCode>
                <c:ptCount val="1"/>
                <c:pt idx="0">
                  <c:v>89.9</c:v>
                </c:pt>
              </c:numCache>
            </c:numRef>
          </c:val>
        </c:ser>
        <c:ser>
          <c:idx val="1"/>
          <c:order val="1"/>
          <c:tx>
            <c:strRef>
              <c:f>Sheet1!$C$1</c:f>
              <c:strCache>
                <c:ptCount val="1"/>
                <c:pt idx="0">
                  <c:v>Coupons (net of autocall): 7.6%</c:v>
                </c:pt>
              </c:strCache>
            </c:strRef>
          </c:tx>
          <c:spPr>
            <a:solidFill>
              <a:srgbClr val="8DB3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Sheet1!$C$2:$C$2</c:f>
              <c:numCache>
                <c:formatCode>General</c:formatCode>
                <c:ptCount val="1"/>
                <c:pt idx="0">
                  <c:v>7.6</c:v>
                </c:pt>
              </c:numCache>
            </c:numRef>
          </c:val>
        </c:ser>
        <c:ser>
          <c:idx val="2"/>
          <c:order val="2"/>
          <c:tx>
            <c:strRef>
              <c:f>Sheet1!$D$1</c:f>
              <c:strCache>
                <c:ptCount val="1"/>
                <c:pt idx="0">
                  <c:v>Natixis hedging &amp; margin: 2.4%</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Sheet1!$D$2:$D$2</c:f>
              <c:numCache>
                <c:formatCode>General</c:formatCode>
                <c:ptCount val="1"/>
                <c:pt idx="0">
                  <c:v>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first a hardware story, and the three markets in our basket each own a chokepoint: Taiwan fabricates the chips, Korea supplies the high-bandwidth memory, Japan makes the equipment and testers. The chart shows 2026 spending growth across the chain. Several figures are forecasts or guidance; HBM and foundry shares are Counterpoint estimates. Verify the KOSPI concentration figure on Bloomberg.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in two halves. Economic: AI hardware demand is structural, but chip stocks move in violent cycles, 2026 prices already reflect a boom, and the indices are concentrated in a few names; governance reforms support a recovery to the starting level. Finance: high USD rates make the 100% protection cheap, Asian volatility makes the 100% coupon trigger likely, and the autocall pays as soon as the basket recovers, with memory catching up missed coupons. Together: the family keeps the theme without the drawdown.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evidence.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builds the hardware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Our three markets own the chokepoints</a:t>
            </a:r>
            <a:endParaRPr lang="en-US" sz="1400" dirty="0"/>
          </a:p>
        </p:txBody>
      </p:sp>
      <p:sp>
        <p:nvSpPr>
          <p:cNvPr id="11" name="Shape 9"/>
          <p:cNvSpPr/>
          <p:nvPr/>
        </p:nvSpPr>
        <p:spPr>
          <a:xfrm>
            <a:off x="457200" y="1572768"/>
            <a:ext cx="6400800" cy="1143000"/>
          </a:xfrm>
          <a:prstGeom prst="rect">
            <a:avLst/>
          </a:prstGeom>
          <a:solidFill>
            <a:srgbClr val="F2F2F2"/>
          </a:solidFill>
          <a:ln w="12700">
            <a:solidFill>
              <a:srgbClr val="F2F2F2"/>
            </a:solidFill>
            <a:prstDash val="solid"/>
          </a:ln>
        </p:spPr>
      </p:sp>
      <p:sp>
        <p:nvSpPr>
          <p:cNvPr id="12" name="Shape 10"/>
          <p:cNvSpPr/>
          <p:nvPr/>
        </p:nvSpPr>
        <p:spPr>
          <a:xfrm>
            <a:off x="594360" y="1709928"/>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819656"/>
            <a:ext cx="237744" cy="237744"/>
          </a:xfrm>
          <a:prstGeom prst="rect">
            <a:avLst/>
          </a:prstGeom>
        </p:spPr>
      </p:pic>
      <p:sp>
        <p:nvSpPr>
          <p:cNvPr id="14" name="Text 11"/>
          <p:cNvSpPr txBox="1"/>
          <p:nvPr/>
        </p:nvSpPr>
        <p:spPr>
          <a:xfrm>
            <a:off x="1188720" y="168249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2011680"/>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High-performance computing (incl. AI) was 58% of TSMC revenue in 2025</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TSMC is &gt;40% of the TAIEX: our largest index is a chip index</a:t>
            </a:r>
            <a:endParaRPr lang="en-US" sz="1000" dirty="0"/>
          </a:p>
        </p:txBody>
      </p:sp>
      <p:sp>
        <p:nvSpPr>
          <p:cNvPr id="16" name="Text 13"/>
          <p:cNvSpPr txBox="1"/>
          <p:nvPr/>
        </p:nvSpPr>
        <p:spPr>
          <a:xfrm>
            <a:off x="4526280" y="164592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14884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834640"/>
            <a:ext cx="6400800" cy="1143000"/>
          </a:xfrm>
          <a:prstGeom prst="rect">
            <a:avLst/>
          </a:prstGeom>
          <a:solidFill>
            <a:srgbClr val="FFFFFF"/>
          </a:solidFill>
          <a:ln w="12700">
            <a:solidFill>
              <a:srgbClr val="F2F2F2"/>
            </a:solidFill>
            <a:prstDash val="solid"/>
          </a:ln>
        </p:spPr>
      </p:sp>
      <p:sp>
        <p:nvSpPr>
          <p:cNvPr id="19" name="Shape 16"/>
          <p:cNvSpPr/>
          <p:nvPr/>
        </p:nvSpPr>
        <p:spPr>
          <a:xfrm>
            <a:off x="594360" y="2971800"/>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3081528"/>
            <a:ext cx="237744" cy="237744"/>
          </a:xfrm>
          <a:prstGeom prst="rect">
            <a:avLst/>
          </a:prstGeom>
        </p:spPr>
      </p:pic>
      <p:sp>
        <p:nvSpPr>
          <p:cNvPr id="21" name="Text 17"/>
          <p:cNvSpPr txBox="1"/>
          <p:nvPr/>
        </p:nvSpPr>
        <p:spPr>
          <a:xfrm>
            <a:off x="1188720" y="2944368"/>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273552"/>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Every AI accelerator needs high-bandwidth memory (HBM)</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Samsung + SK hynix ≈ 48% of KOSPI market cap (verify)</a:t>
            </a:r>
            <a:endParaRPr lang="en-US" sz="1000" dirty="0"/>
          </a:p>
        </p:txBody>
      </p:sp>
      <p:sp>
        <p:nvSpPr>
          <p:cNvPr id="23" name="Text 19"/>
          <p:cNvSpPr txBox="1"/>
          <p:nvPr/>
        </p:nvSpPr>
        <p:spPr>
          <a:xfrm>
            <a:off x="4526280" y="2907792"/>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410712"/>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4096512"/>
            <a:ext cx="6400800" cy="1143000"/>
          </a:xfrm>
          <a:prstGeom prst="rect">
            <a:avLst/>
          </a:prstGeom>
          <a:solidFill>
            <a:srgbClr val="F2F2F2"/>
          </a:solidFill>
          <a:ln w="12700">
            <a:solidFill>
              <a:srgbClr val="F2F2F2"/>
            </a:solidFill>
            <a:prstDash val="solid"/>
          </a:ln>
        </p:spPr>
      </p:sp>
      <p:sp>
        <p:nvSpPr>
          <p:cNvPr id="26" name="Shape 22"/>
          <p:cNvSpPr/>
          <p:nvPr/>
        </p:nvSpPr>
        <p:spPr>
          <a:xfrm>
            <a:off x="594360" y="4233672"/>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343400"/>
            <a:ext cx="237744" cy="237744"/>
          </a:xfrm>
          <a:prstGeom prst="rect">
            <a:avLst/>
          </a:prstGeom>
        </p:spPr>
      </p:pic>
      <p:sp>
        <p:nvSpPr>
          <p:cNvPr id="28" name="Text 23"/>
          <p:cNvSpPr txBox="1"/>
          <p:nvPr/>
        </p:nvSpPr>
        <p:spPr>
          <a:xfrm>
            <a:off x="1188720" y="4206240"/>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535424"/>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Tokyo Electron ~90% of coater/developers; #3 equipment maker</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Advantest + Tokyo Electron ≈ 20% of the Nikkei 225 (Jul 2026)</a:t>
            </a:r>
            <a:endParaRPr lang="en-US" sz="1000" dirty="0"/>
          </a:p>
        </p:txBody>
      </p:sp>
      <p:sp>
        <p:nvSpPr>
          <p:cNvPr id="30" name="Text 25"/>
          <p:cNvSpPr txBox="1"/>
          <p:nvPr/>
        </p:nvSpPr>
        <p:spPr>
          <a:xfrm>
            <a:off x="4526280" y="4169664"/>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672584"/>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2026: spending is surging</a:t>
            </a:r>
            <a:endParaRPr lang="en-US" sz="1400" dirty="0"/>
          </a:p>
        </p:txBody>
      </p:sp>
      <p:graphicFrame>
        <p:nvGraphicFramePr>
          <p:cNvPr id="34" name="Chart 0" descr=""/>
          <p:cNvGraphicFramePr/>
          <p:nvPr/>
        </p:nvGraphicFramePr>
        <p:xfrm>
          <a:off x="7086600" y="1508760"/>
          <a:ext cx="4645152" cy="3749040"/>
        </p:xfrm>
        <a:graphic xmlns:a="http://schemas.openxmlformats.org/drawingml/2006/main">
          <a:graphicData uri="http://schemas.openxmlformats.org/drawingml/2006/chart">
            <c:chart xmlns:c="http://schemas.openxmlformats.org/drawingml/2006/chart" r:id="rId4"/>
          </a:graphicData>
        </a:graphic>
      </p:graphicFrame>
      <p:sp>
        <p:nvSpPr>
          <p:cNvPr id="35" name="Text 29"/>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Q1 2026; HBM Q2 2026); TSMC 2025 results; Trading Economics / Focus Taiwan (TSMC weight); BIT Research (KOSPI weight); company reports and SEMI (TEL, Advantest); Nikkei index summary 17 Jul 2026; company guidance after Q1 2026 (capex); WSTS Spring 2026; SEMI mid-year forecast 14 Jul 2026. Full list in appendix.</a:t>
            </a:r>
            <a:endParaRPr lang="en-US" sz="800" dirty="0"/>
          </a:p>
        </p:txBody>
      </p:sp>
      <p:sp>
        <p:nvSpPr>
          <p:cNvPr id="36" name="Shape 30"/>
          <p:cNvSpPr/>
          <p:nvPr/>
        </p:nvSpPr>
        <p:spPr>
          <a:xfrm>
            <a:off x="457200" y="5650992"/>
            <a:ext cx="11274552" cy="502920"/>
          </a:xfrm>
          <a:prstGeom prst="rect">
            <a:avLst/>
          </a:prstGeom>
          <a:solidFill>
            <a:srgbClr val="2C5F82"/>
          </a:solidFill>
          <a:ln w="12700">
            <a:solidFill>
              <a:srgbClr val="2C5F82"/>
            </a:solidFill>
            <a:prstDash val="solid"/>
          </a:ln>
        </p:spPr>
      </p:sp>
      <p:sp>
        <p:nvSpPr>
          <p:cNvPr id="37" name="Text 31"/>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Own the AI-hardware theme through a protected autocall</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why this theme needs protection</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and concentrated path</a:t>
            </a:r>
            <a:endParaRPr lang="en-US" sz="1050" dirty="0"/>
          </a:p>
        </p:txBody>
      </p:sp>
      <p:graphicFrame>
        <p:nvGraphicFramePr>
          <p:cNvPr id="12" name="Chart 0" descr=""/>
          <p:cNvGraphicFramePr/>
          <p:nvPr/>
        </p:nvGraphicFramePr>
        <p:xfrm>
          <a:off x="457200" y="1783080"/>
          <a:ext cx="2103120" cy="16002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97480" y="1828800"/>
            <a:ext cx="3200400" cy="1508760"/>
          </a:xfrm>
          <a:prstGeom prst="rect">
            <a:avLst/>
          </a:prstGeom>
          <a:noFill/>
          <a:ln/>
        </p:spPr>
        <p:txBody>
          <a:bodyPr wrap="square" lIns="0" tIns="0" rIns="0" bIns="0" rtlCol="0" anchor="t"/>
          <a:lstStyle/>
          <a:p>
            <a:pPr indent="0" marL="0">
              <a:spcAft>
                <a:spcPts val="300"/>
              </a:spcAft>
              <a:buNone/>
            </a:pPr>
            <a:r>
              <a:rPr lang="en-US" sz="1000" b="1" dirty="0">
                <a:solidFill>
                  <a:srgbClr val="2C5F82"/>
                </a:solidFill>
                <a:latin typeface="Arial" pitchFamily="34" charset="0"/>
                <a:ea typeface="Arial" pitchFamily="34" charset="-122"/>
                <a:cs typeface="Arial" pitchFamily="34" charset="-120"/>
              </a:rPr>
              <a:t>Growth is structural…</a:t>
            </a:r>
            <a:endParaRPr lang="en-US" sz="1000" dirty="0"/>
          </a:p>
          <a:p>
            <a:pPr indent="0" marL="0">
              <a:spcAft>
                <a:spcPts val="300"/>
              </a:spcAft>
              <a:buNone/>
            </a:pPr>
            <a:r>
              <a:rPr lang="en-US" sz="1000" dirty="0">
                <a:solidFill>
                  <a:srgbClr val="262626"/>
                </a:solidFill>
                <a:latin typeface="Arial" pitchFamily="34" charset="0"/>
                <a:ea typeface="Arial" pitchFamily="34" charset="-122"/>
                <a:cs typeface="Arial" pitchFamily="34" charset="-120"/>
              </a:rPr>
              <a:t>Hyperscaler capex +77% and chip-equipment sales +23% in 2026 (thesis 1).</a:t>
            </a:r>
            <a:endParaRPr lang="en-US" sz="1000" dirty="0"/>
          </a:p>
          <a:p>
            <a:pPr indent="0" marL="0">
              <a:spcAft>
                <a:spcPts val="300"/>
              </a:spcAft>
              <a:buNone/>
            </a:pPr>
            <a:r>
              <a:rPr lang="en-US" sz="1000" b="1" dirty="0">
                <a:solidFill>
                  <a:srgbClr val="B23B3B"/>
                </a:solidFill>
                <a:latin typeface="Arial" pitchFamily="34" charset="0"/>
                <a:ea typeface="Arial" pitchFamily="34" charset="-122"/>
                <a:cs typeface="Arial" pitchFamily="34" charset="-120"/>
              </a:rPr>
              <a:t>…but the path is not</a:t>
            </a:r>
            <a:endParaRPr lang="en-US" sz="1000" dirty="0"/>
          </a:p>
          <a:p>
            <a:pPr indent="0" marL="0">
              <a:spcAft>
                <a:spcPts val="300"/>
              </a:spcAft>
              <a:buNone/>
            </a:pPr>
            <a:r>
              <a:rPr lang="en-US" sz="1000" dirty="0">
                <a:solidFill>
                  <a:srgbClr val="262626"/>
                </a:solidFill>
                <a:latin typeface="Arial" pitchFamily="34" charset="0"/>
                <a:ea typeface="Arial" pitchFamily="34" charset="-122"/>
                <a:cs typeface="Arial" pitchFamily="34" charset="-120"/>
              </a:rPr>
              <a:t>Chip stocks fell 25–36% in 2022. A direct investor needed a 33–56% rally just to get back to even.</a:t>
            </a:r>
            <a:endParaRPr lang="en-US" sz="10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05840" cy="786384"/>
          </a:xfrm>
          <a:prstGeom prst="rect">
            <a:avLst/>
          </a:prstGeom>
          <a:noFill/>
          <a:ln/>
        </p:spPr>
        <p:txBody>
          <a:bodyPr wrap="square" lIns="0" tIns="0" rIns="0" bIns="0" rtlCol="0" anchor="ctr"/>
          <a:lstStyle/>
          <a:p>
            <a:pPr algn="ctr" indent="0" marL="0">
              <a:buNone/>
            </a:pPr>
            <a:r>
              <a:rPr lang="en-US" sz="1900" b="1" dirty="0">
                <a:solidFill>
                  <a:srgbClr val="B23B3B"/>
                </a:solidFill>
                <a:latin typeface="Arial" pitchFamily="34" charset="0"/>
                <a:ea typeface="Arial" pitchFamily="34" charset="-122"/>
                <a:cs typeface="Arial" pitchFamily="34" charset="-120"/>
              </a:rPr>
              <a:t>~2×</a:t>
            </a:r>
            <a:endParaRPr lang="en-US" sz="1900" dirty="0"/>
          </a:p>
        </p:txBody>
      </p:sp>
      <p:sp>
        <p:nvSpPr>
          <p:cNvPr id="18" name="Text 15"/>
          <p:cNvSpPr txBox="1"/>
          <p:nvPr/>
        </p:nvSpPr>
        <p:spPr>
          <a:xfrm>
            <a:off x="2103120" y="3529584"/>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The 2026 boom is priced in</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KOSPI roughly doubled in 2026 and has already had two violent one-day crashes (verify on Bloomberg).</a:t>
            </a:r>
            <a:endParaRPr lang="en-US" sz="95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&gt;40%</a:t>
            </a:r>
            <a:endParaRPr lang="en-US" sz="1900" dirty="0"/>
          </a:p>
        </p:txBody>
      </p:sp>
      <p:sp>
        <p:nvSpPr>
          <p:cNvPr id="23" name="Text 20"/>
          <p:cNvSpPr txBox="1"/>
          <p:nvPr/>
        </p:nvSpPr>
        <p:spPr>
          <a:xfrm>
            <a:off x="2103120" y="4315968"/>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Returns hinge on a few names</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TSMC is &gt;40% of the TAIEX; Advantest grew past the Nikkei's 10% weight cap. One stock can move the index.</a:t>
            </a:r>
            <a:endParaRPr lang="en-US" sz="95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¥20trn</a:t>
            </a:r>
            <a:endParaRPr lang="en-US" sz="1900" dirty="0"/>
          </a:p>
        </p:txBody>
      </p:sp>
      <p:sp>
        <p:nvSpPr>
          <p:cNvPr id="28" name="Text 25"/>
          <p:cNvSpPr txBox="1"/>
          <p:nvPr/>
        </p:nvSpPr>
        <p:spPr>
          <a:xfrm>
            <a:off x="2103120" y="5102352"/>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Reforms support a recovery to 100%</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Record Japanese buybacks (~¥20trn FY2025 forecast) and Korea's Value-up programme help the basket get back to its start.</a:t>
            </a:r>
            <a:endParaRPr lang="en-US" sz="95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why an autocall with protection</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Today's rates pay for the protection; Asian volatility pays for the coupon</a:t>
            </a:r>
            <a:endParaRPr lang="en-US" sz="1050" dirty="0"/>
          </a:p>
        </p:txBody>
      </p:sp>
      <p:graphicFrame>
        <p:nvGraphicFramePr>
          <p:cNvPr id="32" name="Chart 1" descr=""/>
          <p:cNvGraphicFramePr/>
          <p:nvPr/>
        </p:nvGraphicFramePr>
        <p:xfrm>
          <a:off x="6245352" y="1783080"/>
          <a:ext cx="5486400" cy="1600200"/>
        </p:xfrm>
        <a:graphic xmlns:a="http://schemas.openxmlformats.org/drawingml/2006/main">
          <a:graphicData uri="http://schemas.openxmlformats.org/drawingml/2006/chart">
            <c:chart xmlns:c="http://schemas.openxmlformats.org/drawingml/2006/chart" r:id="rId2"/>
          </a:graphicData>
        </a:graphic>
      </p:graphicFrame>
      <p:sp>
        <p:nvSpPr>
          <p:cNvPr id="33" name="Shape 29"/>
          <p:cNvSpPr/>
          <p:nvPr/>
        </p:nvSpPr>
        <p:spPr>
          <a:xfrm>
            <a:off x="6245352" y="3474720"/>
            <a:ext cx="5486400" cy="786384"/>
          </a:xfrm>
          <a:prstGeom prst="rect">
            <a:avLst/>
          </a:prstGeom>
          <a:solidFill>
            <a:srgbClr val="F2F2F2"/>
          </a:solidFill>
          <a:ln w="12700">
            <a:solidFill>
              <a:srgbClr val="F2F2F2"/>
            </a:solidFill>
            <a:prstDash val="solid"/>
          </a:ln>
        </p:spPr>
      </p:sp>
      <p:sp>
        <p:nvSpPr>
          <p:cNvPr id="34" name="Shape 30"/>
          <p:cNvSpPr/>
          <p:nvPr/>
        </p:nvSpPr>
        <p:spPr>
          <a:xfrm>
            <a:off x="6336792" y="3657600"/>
            <a:ext cx="384048" cy="384048"/>
          </a:xfrm>
          <a:prstGeom prst="ellipse">
            <a:avLst/>
          </a:prstGeom>
          <a:solidFill>
            <a:srgbClr val="FFFFFF"/>
          </a:solidFill>
          <a:ln w="15875">
            <a:solidFill>
              <a:srgbClr val="2C5F82"/>
            </a:solidFill>
            <a:prstDash val="solid"/>
          </a:ln>
        </p:spPr>
      </p:sp>
      <p:sp>
        <p:nvSpPr>
          <p:cNvPr id="35" name="Text 31"/>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6" name="Text 32"/>
          <p:cNvSpPr txBox="1"/>
          <p:nvPr/>
        </p:nvSpPr>
        <p:spPr>
          <a:xfrm>
            <a:off x="6812280" y="3474720"/>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75.8%</a:t>
            </a:r>
            <a:endParaRPr lang="en-US" sz="1900" dirty="0"/>
          </a:p>
        </p:txBody>
      </p:sp>
      <p:sp>
        <p:nvSpPr>
          <p:cNvPr id="37" name="Text 33"/>
          <p:cNvSpPr txBox="1"/>
          <p:nvPr/>
        </p:nvSpPr>
        <p:spPr>
          <a:xfrm>
            <a:off x="7891272" y="3529584"/>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High USD rates make protection cheap</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At 5.69% 5Y funding, USD 100 at year 5 costs only USD 75.8 today, and early calls make it cheaper still (89.9% in our note).</a:t>
            </a:r>
            <a:endParaRPr lang="en-US" sz="950" dirty="0"/>
          </a:p>
        </p:txBody>
      </p:sp>
      <p:sp>
        <p:nvSpPr>
          <p:cNvPr id="38" name="Shape 34"/>
          <p:cNvSpPr/>
          <p:nvPr/>
        </p:nvSpPr>
        <p:spPr>
          <a:xfrm>
            <a:off x="6245352" y="4261104"/>
            <a:ext cx="5486400" cy="786384"/>
          </a:xfrm>
          <a:prstGeom prst="rect">
            <a:avLst/>
          </a:prstGeom>
          <a:solidFill>
            <a:srgbClr val="FFFFFF"/>
          </a:solidFill>
          <a:ln w="12700">
            <a:solidFill>
              <a:srgbClr val="F2F2F2"/>
            </a:solidFill>
            <a:prstDash val="solid"/>
          </a:ln>
        </p:spPr>
      </p:sp>
      <p:sp>
        <p:nvSpPr>
          <p:cNvPr id="39" name="Shape 35"/>
          <p:cNvSpPr/>
          <p:nvPr/>
        </p:nvSpPr>
        <p:spPr>
          <a:xfrm>
            <a:off x="6336792" y="4443984"/>
            <a:ext cx="384048" cy="384048"/>
          </a:xfrm>
          <a:prstGeom prst="ellipse">
            <a:avLst/>
          </a:prstGeom>
          <a:solidFill>
            <a:srgbClr val="FFFFFF"/>
          </a:solidFill>
          <a:ln w="15875">
            <a:solidFill>
              <a:srgbClr val="2C5F82"/>
            </a:solidFill>
            <a:prstDash val="solid"/>
          </a:ln>
        </p:spPr>
      </p:sp>
      <p:sp>
        <p:nvSpPr>
          <p:cNvPr id="40" name="Text 36"/>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1" name="Text 37"/>
          <p:cNvSpPr txBox="1"/>
          <p:nvPr/>
        </p:nvSpPr>
        <p:spPr>
          <a:xfrm>
            <a:off x="6812280" y="4261104"/>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21%</a:t>
            </a:r>
            <a:endParaRPr lang="en-US" sz="1900" dirty="0"/>
          </a:p>
        </p:txBody>
      </p:sp>
      <p:sp>
        <p:nvSpPr>
          <p:cNvPr id="42" name="Text 38"/>
          <p:cNvSpPr txBox="1"/>
          <p:nvPr/>
        </p:nvSpPr>
        <p:spPr>
          <a:xfrm>
            <a:off x="7891272" y="4315968"/>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Volatility funds the coupon, not losses</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Higher vol means more chances to touch 100%: fair coupon 7.1% rising to 7.5% if vol is 3pts higher.</a:t>
            </a:r>
            <a:endParaRPr lang="en-US" sz="950" dirty="0"/>
          </a:p>
        </p:txBody>
      </p:sp>
      <p:sp>
        <p:nvSpPr>
          <p:cNvPr id="43" name="Shape 39"/>
          <p:cNvSpPr/>
          <p:nvPr/>
        </p:nvSpPr>
        <p:spPr>
          <a:xfrm>
            <a:off x="6245352" y="5047488"/>
            <a:ext cx="5486400" cy="786384"/>
          </a:xfrm>
          <a:prstGeom prst="rect">
            <a:avLst/>
          </a:prstGeom>
          <a:solidFill>
            <a:srgbClr val="F2F2F2"/>
          </a:solidFill>
          <a:ln w="12700">
            <a:solidFill>
              <a:srgbClr val="F2F2F2"/>
            </a:solidFill>
            <a:prstDash val="solid"/>
          </a:ln>
        </p:spPr>
      </p:sp>
      <p:sp>
        <p:nvSpPr>
          <p:cNvPr id="44" name="Shape 40"/>
          <p:cNvSpPr/>
          <p:nvPr/>
        </p:nvSpPr>
        <p:spPr>
          <a:xfrm>
            <a:off x="6336792" y="5230368"/>
            <a:ext cx="384048" cy="384048"/>
          </a:xfrm>
          <a:prstGeom prst="ellipse">
            <a:avLst/>
          </a:prstGeom>
          <a:solidFill>
            <a:srgbClr val="FFFFFF"/>
          </a:solidFill>
          <a:ln w="15875">
            <a:solidFill>
              <a:srgbClr val="2C5F82"/>
            </a:solidFill>
            <a:prstDash val="solid"/>
          </a:ln>
        </p:spPr>
      </p:sp>
      <p:sp>
        <p:nvSpPr>
          <p:cNvPr id="45" name="Text 41"/>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6" name="Text 42"/>
          <p:cNvSpPr txBox="1"/>
          <p:nvPr/>
        </p:nvSpPr>
        <p:spPr>
          <a:xfrm>
            <a:off x="6812280" y="5047488"/>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82%</a:t>
            </a:r>
            <a:endParaRPr lang="en-US" sz="1900" dirty="0"/>
          </a:p>
        </p:txBody>
      </p:sp>
      <p:sp>
        <p:nvSpPr>
          <p:cNvPr id="47" name="Text 43"/>
          <p:cNvSpPr txBox="1"/>
          <p:nvPr/>
        </p:nvSpPr>
        <p:spPr>
          <a:xfrm>
            <a:off x="7891272" y="5102352"/>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The autocall only needs a recovery</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Called in 82% of paths (51% at year 1); memory pays missed coupons later. Result: 6.75% p.a. and 0% capital loss.</a:t>
            </a:r>
            <a:endParaRPr lang="en-US" sz="950" dirty="0"/>
          </a:p>
        </p:txBody>
      </p:sp>
      <p:sp>
        <p:nvSpPr>
          <p:cNvPr id="48" name="Text 44"/>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Korea Times, Bloomberg/BNN (2022); BIT Research (KOSPI 2026, single source); Trading Economics, Nikkei Asia (index weights); Asset Management One (buybacks); case funding grid; team Monte Carlo (pricing/scenario2_autocall_mc.py). Full list in appendix.</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Thesis 2 evidence: the protected autocall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5" name="Shape 11"/>
          <p:cNvSpPr/>
          <p:nvPr/>
        </p:nvSpPr>
        <p:spPr>
          <a:xfrm>
            <a:off x="7086600" y="3291840"/>
            <a:ext cx="4645152" cy="1965960"/>
          </a:xfrm>
          <a:prstGeom prst="rect">
            <a:avLst/>
          </a:prstGeom>
          <a:solidFill>
            <a:srgbClr val="F2F2F2"/>
          </a:solidFill>
          <a:ln w="12700">
            <a:solidFill>
              <a:srgbClr val="F2F2F2"/>
            </a:solidFill>
            <a:prstDash val="solid"/>
          </a:ln>
        </p:spPr>
      </p:sp>
      <p:sp>
        <p:nvSpPr>
          <p:cNvPr id="16" name="Text 12"/>
          <p:cNvSpPr txBox="1"/>
          <p:nvPr/>
        </p:nvSpPr>
        <p:spPr>
          <a:xfrm>
            <a:off x="7223760" y="3364992"/>
            <a:ext cx="4389120" cy="1874520"/>
          </a:xfrm>
          <a:prstGeom prst="rect">
            <a:avLst/>
          </a:prstGeom>
          <a:noFill/>
          <a:ln/>
        </p:spPr>
        <p:txBody>
          <a:bodyPr wrap="square" lIns="0" tIns="0" rIns="0" bIns="0" rtlCol="0" anchor="t"/>
          <a:lstStyle/>
          <a:p>
            <a:pPr indent="0" marL="0">
              <a:spcAft>
                <a:spcPts val="300"/>
              </a:spcAft>
              <a:buNone/>
            </a:pPr>
            <a:r>
              <a:rPr lang="en-US" sz="1200" b="1" i="1" dirty="0">
                <a:solidFill>
                  <a:srgbClr val="2C5F82"/>
                </a:solidFill>
                <a:latin typeface="Arial" pitchFamily="34" charset="0"/>
                <a:ea typeface="Arial" pitchFamily="34" charset="-122"/>
                <a:cs typeface="Arial" pitchFamily="34" charset="-120"/>
              </a:rPr>
              <a:t>Why it works</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Pays in sideways markets: 6.2% vs 2.0% for the stocks when the basket goes nowhere</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Volatility raises the chance of touching 100%, so it funds the coupon instead of hurting the family</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Market evidence: Taiwan structured-note issuance +81% in 2025, snowball autocalls the favourite payoff (SRP)</a:t>
            </a:r>
            <a:endParaRPr lang="en-US" sz="950" dirty="0"/>
          </a:p>
          <a:p>
            <a:pPr marL="127000" indent="-127000">
              <a:spcAft>
                <a:spcPts val="300"/>
              </a:spcAft>
              <a:buSzPct val="100000"/>
              <a:buChar char="•"/>
            </a:pPr>
            <a:r>
              <a:rPr lang="en-US" sz="950" dirty="0">
                <a:solidFill>
                  <a:srgbClr val="B23B3B"/>
                </a:solidFill>
                <a:latin typeface="Arial" pitchFamily="34" charset="0"/>
                <a:ea typeface="Arial" pitchFamily="34" charset="-122"/>
                <a:cs typeface="Arial" pitchFamily="34" charset="-120"/>
              </a:rPr>
              <a:t>Honest caveat: a 5Y bond earns more in bear markets, but gives no AI exposure</a:t>
            </a:r>
            <a:endParaRPr lang="en-US" sz="950" dirty="0"/>
          </a:p>
        </p:txBody>
      </p:sp>
      <p:sp>
        <p:nvSpPr>
          <p:cNvPr id="17" name="Text 13"/>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8" name="Shape 14"/>
          <p:cNvSpPr/>
          <p:nvPr/>
        </p:nvSpPr>
        <p:spPr>
          <a:xfrm>
            <a:off x="457200" y="5650992"/>
            <a:ext cx="11274552" cy="502920"/>
          </a:xfrm>
          <a:prstGeom prst="rect">
            <a:avLst/>
          </a:prstGeom>
          <a:solidFill>
            <a:srgbClr val="2C5F82"/>
          </a:solidFill>
          <a:ln w="12700">
            <a:solidFill>
              <a:srgbClr val="2C5F82"/>
            </a:solidFill>
            <a:prstDash val="solid"/>
          </a:ln>
        </p:spPr>
      </p:sp>
      <p:sp>
        <p:nvSpPr>
          <p:cNvPr id="19" name="Text 15"/>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035040"/>
                <a:gridCol w="5239512"/>
              </a:tblGrid>
              <a:tr h="310896">
                <a:tc>
                  <a:txBody>
                    <a:bodyPr/>
                    <a:lstStyle/>
                    <a:p>
                      <a:pPr indent="0" marL="0">
                        <a:buNone/>
                      </a:pPr>
                      <a:r>
                        <a:rPr lang="en-US" sz="950" b="1" dirty="0">
                          <a:solidFill>
                            <a:srgbClr val="FFFFFF"/>
                          </a:solidFill>
                          <a:latin typeface="Arial" pitchFamily="34" charset="0"/>
                          <a:ea typeface="Arial" pitchFamily="34" charset="-122"/>
                          <a:cs typeface="Arial" pitchFamily="34" charset="-120"/>
                        </a:rPr>
                        <a:t>Fact used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~70–73% of global foundry revenue (Q1 2026); HPC 58% of 2025 revenue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via press; TSMC results (verify in TSMC Q-reports)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&gt;40% of TAIEX market value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Trading Economics (28 Jul 2026); Focus Taiwan (May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HBM revenue share Q2 2026: SK hynix 50%, Samsung 33%, Micron 18%</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Global DRAM and HBM Market Share (quarterly)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~55–58% of chip test equipment; TEL ~90% of coater/developers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Industry research summaries; verify in TEL and Advantest annual 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12.2% / TEL ~9–10% of Nikkei 225; weight cap from 1 Oct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Nikkei Asia announcement; Nikkei index summary (17 Jul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Hyperscaler capex ~USD 725bn in 2026, +77% y/y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Company guidance after Q1 2026 earnings, as reported by AI Weekly / Yahoo Finance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Chip market ~USD 1.5trn in 2026 (+90%); logic +37%</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WSTS Spring 2026 forecast (2 Jun 2026), wsts.org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Equipment USD 165.9bn (+23.2%); DRAM equip. +39%; test +31%</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SEMI mid-year forecast (14 Jul 2026), semi.org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2022: TAIEX −31.6% peak to trough; KOSPI −24.9%; SOX −36%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TWSE 2022 Market Highlights; Korea Times / Yonhap; Bloomberg via BNN</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KOSPI ~+100% YTD, above 9,000 (18 Jun 2026); Samsung + SK hynix ~48% of market cap</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BIT Research, 'The KOSPI supercycle' (single source: verify on Bloomberg)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Japan buybacks ¥18.7trn FY2024, ~¥20trn forecast FY2025; P/B&lt;1 share ~50% → 44%</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Asset Management One via portfolio institutional; investment-manager commentary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Korea Value-Up Index beat KOSPI 200 by &gt;30% (late 2024 – 27 Feb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AllianceBernstein, 'South Korea's rising governance tide'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StructuredRetailProducts.com, Taiwan Q4 2025 review</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Strategy comparison, coupon pricing, call probabilities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Team Monte Carlo: pricing/scenario2_vs_traditional.py, scenario2_autocall_mc.py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2026-10-08T06:12:15Z</dcterms:created>
  <dcterms:modified xsi:type="dcterms:W3CDTF">2026-10-08T06:12:15Z</dcterms:modified>
</cp:coreProperties>
</file>