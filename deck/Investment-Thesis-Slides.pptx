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262626"/>
                </a:solidFill>
                <a:latin typeface="Arial"/>
              </a:defRPr>
            </a:pPr>
            <a:r>
              <a:rPr sz="1000" b="0" i="0" u="none" strike="noStrike">
                <a:solidFill>
                  <a:srgbClr val="262626"/>
                </a:solidFill>
                <a:latin typeface="Arial"/>
              </a:rPr>
              <a:t>2026 growth vs 2025 (forecast / guidance)</a:t>
            </a:r>
          </a:p>
        </c:rich>
      </c:tx>
      <c:layout/>
      <c:overlay val="0"/>
    </c:title>
    <c:autoTitleDeleted val="0"/>
    <c:plotArea>
      <c:layout/>
      <c:barChart>
        <c:barDir val="bar"/>
        <c:grouping val="clustered"/>
        <c:varyColors val="0"/>
        <c:ser>
          <c:idx val="0"/>
          <c:order val="0"/>
          <c:tx>
            <c:strRef>
              <c:f>Sheet1!$B$1</c:f>
              <c:strCache>
                <c:ptCount val="1"/>
                <c:pt idx="0">
                  <c:v>2026 growth</c:v>
                </c:pt>
              </c:strCache>
            </c:strRef>
          </c:tx>
          <c:spPr>
            <a:solidFill>
              <a:srgbClr val="2C5F82"/>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Hyperscaler capex</c:v>
                  </c:pt>
                  <c:pt idx="1">
                    <c:v>Global chip market (WSTS)</c:v>
                  </c:pt>
                  <c:pt idx="2">
                    <c:v>DRAM equipment (SEMI)</c:v>
                  </c:pt>
                  <c:pt idx="3">
                    <c:v>Chip test equipment (SEMI)</c:v>
                  </c:pt>
                  <c:pt idx="4">
                    <c:v>All chip equipment (SEMI)</c:v>
                  </c:pt>
                </c:lvl>
              </c:multiLvlStrCache>
            </c:multiLvlStrRef>
          </c:cat>
          <c:val>
            <c:numRef>
              <c:f>Sheet1!$B$2:$B$6</c:f>
              <c:numCache>
                <c:formatCode>General</c:formatCode>
                <c:ptCount val="5"/>
                <c:pt idx="0">
                  <c:v>77</c:v>
                </c:pt>
                <c:pt idx="1">
                  <c:v>90</c:v>
                </c:pt>
                <c:pt idx="2">
                  <c:v>39</c:v>
                </c:pt>
                <c:pt idx="3">
                  <c:v>31</c:v>
                </c:pt>
                <c:pt idx="4">
                  <c:v>23.2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9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Korea 'fear index' (VKOSPI) closes</a:t>
            </a:r>
          </a:p>
        </c:rich>
      </c:tx>
      <c:layout/>
      <c:overlay val="0"/>
    </c:title>
    <c:autoTitleDeleted val="0"/>
    <c:plotArea>
      <c:layout/>
      <c:barChart>
        <c:barDir val="col"/>
        <c:grouping val="clustered"/>
        <c:varyColors val="0"/>
        <c:ser>
          <c:idx val="0"/>
          <c:order val="0"/>
          <c:tx>
            <c:strRef>
              <c:f>Sheet1!$B$1</c:f>
              <c:strCache>
                <c:ptCount val="1"/>
                <c:pt idx="0">
                  <c:v>VKOSPI</c:v>
                </c:pt>
              </c:strCache>
            </c:strRef>
          </c:tx>
          <c:spPr>
            <a:solidFill>
              <a:srgbClr val="7F7F7F"/>
            </a:solidFill>
            <a:effectLst/>
          </c:spPr>
          <c:invertIfNegative val="0"/>
          <c:dLbls>
            <c:numFmt formatCode="0.0"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B23B3B"/>
              </a:solidFill>
              <a:effectLst/>
            </c:spPr>
          </c:dPt>
          <c:cat>
            <c:multiLvlStrRef>
              <c:f>Sheet1!$A$2:$A$4</c:f>
              <c:multiLvlStrCache>
                <c:ptCount val="3"/>
                <c:lvl>
                  <c:pt idx="0">
                    <c:v>Oct 2008 (GFC)</c:v>
                  </c:pt>
                  <c:pt idx="1">
                    <c:v>5 Mar 2026 (Iran war)</c:v>
                  </c:pt>
                  <c:pt idx="2">
                    <c:v>9 Jun 2026</c:v>
                  </c:pt>
                </c:lvl>
              </c:multiLvlStrCache>
            </c:multiLvlStrRef>
          </c:cat>
          <c:val>
            <c:numRef>
              <c:f>Sheet1!$B$2:$B$4</c:f>
              <c:numCache>
                <c:formatCode>General</c:formatCode>
                <c:ptCount val="3"/>
                <c:pt idx="0">
                  <c:v>89.3</c:v>
                </c:pt>
                <c:pt idx="1">
                  <c:v>83.6</c:v>
                </c:pt>
                <c:pt idx="2">
                  <c:v>91.2</c:v>
                </c:pt>
              </c:numCache>
            </c:numRef>
          </c:val>
        </c:ser>
        <c:dLbls>
          <c:numFmt formatCode="0.0"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Value change if rates rise 1%</a:t>
            </a:r>
          </a:p>
        </c:rich>
      </c:tx>
      <c:layout/>
      <c:overlay val="0"/>
    </c:title>
    <c:autoTitleDeleted val="0"/>
    <c:plotArea>
      <c:layout/>
      <c:barChart>
        <c:barDir val="col"/>
        <c:grouping val="clustered"/>
        <c:varyColors val="0"/>
        <c:ser>
          <c:idx val="0"/>
          <c:order val="0"/>
          <c:tx>
            <c:strRef>
              <c:f>Sheet1!$B$1</c:f>
              <c:strCache>
                <c:ptCount val="1"/>
                <c:pt idx="0">
                  <c:v>+1% rates</c:v>
                </c:pt>
              </c:strCache>
            </c:strRef>
          </c:tx>
          <c:spPr>
            <a:solidFill>
              <a:srgbClr val="7F7F7F"/>
            </a:solidFill>
            <a:effectLst/>
          </c:spPr>
          <c:invertIfNegative val="0"/>
          <c:dLbls>
            <c:numFmt formatCode="0.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2C5F82"/>
              </a:solidFill>
              <a:effectLst/>
            </c:spPr>
          </c:dPt>
          <c:cat>
            <c:multiLvlStrRef>
              <c:f>Sheet1!$A$2:$A$3</c:f>
              <c:multiLvlStrCache>
                <c:ptCount val="2"/>
                <c:lvl>
                  <c:pt idx="0">
                    <c:v>5Y USD bond</c:v>
                  </c:pt>
                  <c:pt idx="1">
                    <c:v>Our protected autocall</c:v>
                  </c:pt>
                </c:lvl>
              </c:multiLvlStrCache>
            </c:multiLvlStrRef>
          </c:cat>
          <c:val>
            <c:numRef>
              <c:f>Sheet1!$B$2:$B$3</c:f>
              <c:numCache>
                <c:formatCode>General</c:formatCode>
                <c:ptCount val="2"/>
                <c:pt idx="0">
                  <c:v>-4</c:v>
                </c:pt>
                <c:pt idx="1">
                  <c:v>-1.2</c:v>
                </c:pt>
              </c:numCache>
            </c:numRef>
          </c:val>
        </c:ser>
        <c:dLbls>
          <c:numFmt formatCode="0.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0"/>
          <c:min val="-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-1%</c:v>
                  </c:pt>
                  <c:pt idx="1">
                    <c:v>-0.5%</c:v>
                  </c:pt>
                  <c:pt idx="2">
                    <c:v>+0.5%</c:v>
                  </c:pt>
                  <c:pt idx="3">
                    <c:v>+1%</c:v>
                  </c:pt>
                </c:lvl>
              </c:multiLvlStrCache>
            </c:multiLvlStrRef>
          </c:cat>
          <c:val>
            <c:numRef>
              <c:f>Sheet1!$B$2:$B$5</c:f>
              <c:numCache>
                <c:formatCode>General</c:formatCode>
                <c:ptCount val="4"/>
                <c:pt idx="0">
                  <c:v>4.5</c:v>
                </c:pt>
                <c:pt idx="1">
                  <c:v>2.3</c:v>
                </c:pt>
                <c:pt idx="2">
                  <c:v>-2</c:v>
                </c:pt>
                <c:pt idx="3">
                  <c:v>-4</c:v>
                </c:pt>
              </c:numCache>
            </c:numRef>
          </c:val>
        </c:ser>
        <c:ser>
          <c:idx val="1"/>
          <c:order val="1"/>
          <c:tx>
            <c:strRef>
              <c:f>Sheet1!$C$1</c:f>
              <c:strCache>
                <c:ptCount val="1"/>
                <c:pt idx="0">
                  <c:v>Our autocall</c:v>
                </c:pt>
              </c:strCache>
            </c:strRef>
          </c:tx>
          <c:spPr>
            <a:solidFill>
              <a:srgbClr val="2C5F82"/>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-1%</c:v>
                  </c:pt>
                  <c:pt idx="1">
                    <c:v>-0.5%</c:v>
                  </c:pt>
                  <c:pt idx="2">
                    <c:v>+0.5%</c:v>
                  </c:pt>
                  <c:pt idx="3">
                    <c:v>+1%</c:v>
                  </c:pt>
                </c:lvl>
              </c:multiLvlStrCache>
            </c:multiLvlStrRef>
          </c:cat>
          <c:val>
            <c:numRef>
              <c:f>Sheet1!$C$2:$C$5</c:f>
              <c:numCache>
                <c:formatCode>General</c:formatCode>
                <c:ptCount val="4"/>
                <c:pt idx="0">
                  <c:v>1.3</c:v>
                </c:pt>
                <c:pt idx="1">
                  <c:v>0.6</c:v>
                </c:pt>
                <c:pt idx="2">
                  <c:v>-0.6</c:v>
                </c:pt>
                <c:pt idx="3">
                  <c:v>-1.2</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6"/>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VKOSPI</c:v>
                </c:pt>
              </c:strCache>
            </c:strRef>
          </c:tx>
          <c:spPr>
            <a:solidFill>
              <a:srgbClr val="7F7F7F"/>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B23B3B"/>
              </a:solidFill>
              <a:effectLst/>
            </c:spPr>
          </c:dPt>
          <c:cat>
            <c:multiLvlStrRef>
              <c:f>Sheet1!$A$2:$A$4</c:f>
              <c:multiLvlStrCache>
                <c:ptCount val="3"/>
                <c:lvl>
                  <c:pt idx="0">
                    <c:v>Oct 2008</c:v>
                  </c:pt>
                  <c:pt idx="1">
                    <c:v>Mar 2026</c:v>
                  </c:pt>
                  <c:pt idx="2">
                    <c:v>Jun 2026</c:v>
                  </c:pt>
                </c:lvl>
              </c:multiLvlStrCache>
            </c:multiLvlStrRef>
          </c:cat>
          <c:val>
            <c:numRef>
              <c:f>Sheet1!$B$2:$B$4</c:f>
              <c:numCache>
                <c:formatCode>General</c:formatCode>
                <c:ptCount val="3"/>
                <c:pt idx="0">
                  <c:v>89.3</c:v>
                </c:pt>
                <c:pt idx="1">
                  <c:v>83.6</c:v>
                </c:pt>
                <c:pt idx="2">
                  <c:v>91.2</c:v>
                </c:pt>
              </c:numCache>
            </c:numRef>
          </c:val>
        </c:ser>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Our autocall</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5Y bond</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Sheet1!$D$2:$D$5</c:f>
              <c:numCache>
                <c:formatCode>General</c:formatCode>
                <c:ptCount val="4"/>
                <c:pt idx="0">
                  <c:v>5.7</c:v>
                </c:pt>
                <c:pt idx="1">
                  <c:v>5.7</c:v>
                </c:pt>
                <c:pt idx="2">
                  <c:v>5.7</c:v>
                </c:pt>
                <c:pt idx="3">
                  <c:v>5.7</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Our autocall: mean IRR</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0%</c:v>
                  </c:pt>
                  <c:pt idx="1">
                    <c:v>2%</c:v>
                  </c:pt>
                  <c:pt idx="2">
                    <c:v>4%</c:v>
                  </c:pt>
                  <c:pt idx="3">
                    <c:v>6%</c:v>
                  </c:pt>
                  <c:pt idx="4">
                    <c:v>8%</c:v>
                  </c:pt>
                  <c:pt idx="5">
                    <c:v>10%</c:v>
                  </c:pt>
                  <c:pt idx="6">
                    <c:v>12%</c:v>
                  </c:pt>
                </c:lvl>
              </c:multiLvlStrCache>
            </c:multiLvlStrRef>
          </c:cat>
          <c:val>
            <c:numRef>
              <c:f>Sheet1!$B$2:$B$8</c:f>
              <c:numCache>
                <c:formatCode>General</c:formatCode>
                <c:ptCount val="7"/>
                <c:pt idx="0">
                  <c:v>4.69</c:v>
                </c:pt>
                <c:pt idx="1">
                  <c:v>5.09</c:v>
                </c:pt>
                <c:pt idx="2">
                  <c:v>5.41</c:v>
                </c:pt>
                <c:pt idx="3">
                  <c:v>5.72</c:v>
                </c:pt>
                <c:pt idx="4">
                  <c:v>5.98</c:v>
                </c:pt>
                <c:pt idx="5">
                  <c:v>6.21</c:v>
                </c:pt>
                <c:pt idx="6">
                  <c:v>6.39</c:v>
                </c:pt>
              </c:numCache>
            </c:numRef>
          </c:val>
          <c:smooth val="0"/>
        </c:ser>
        <c:ser>
          <c:idx val="1"/>
          <c:order val="1"/>
          <c:tx>
            <c:strRef>
              <c:f>Sheet1!$C$1</c:f>
              <c:strCache>
                <c:ptCount val="1"/>
                <c:pt idx="0">
                  <c:v>5Y bond</c:v>
                </c:pt>
              </c:strCache>
            </c:strRef>
          </c:tx>
          <c:spPr>
            <a:solidFill>
              <a:srgbClr val="404040"/>
            </a:solidFill>
            <a:ln w="25400" cap="flat">
              <a:solidFill>
                <a:srgbClr val="40404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Sheet1!$A$2:$A$8</c:f>
              <c:multiLvlStrCache>
                <c:ptCount val="7"/>
                <c:lvl>
                  <c:pt idx="0">
                    <c:v>0%</c:v>
                  </c:pt>
                  <c:pt idx="1">
                    <c:v>2%</c:v>
                  </c:pt>
                  <c:pt idx="2">
                    <c:v>4%</c:v>
                  </c:pt>
                  <c:pt idx="3">
                    <c:v>6%</c:v>
                  </c:pt>
                  <c:pt idx="4">
                    <c:v>8%</c:v>
                  </c:pt>
                  <c:pt idx="5">
                    <c:v>10%</c:v>
                  </c:pt>
                  <c:pt idx="6">
                    <c:v>12%</c:v>
                  </c:pt>
                </c:lvl>
              </c:multiLvlStrCache>
            </c:multiLvlStrRef>
          </c:cat>
          <c:val>
            <c:numRef>
              <c:f>Sheet1!$C$2:$C$8</c:f>
              <c:numCache>
                <c:formatCode>General</c:formatCode>
                <c:ptCount val="7"/>
                <c:pt idx="0">
                  <c:v>5.69</c:v>
                </c:pt>
                <c:pt idx="1">
                  <c:v>5.69</c:v>
                </c:pt>
                <c:pt idx="2">
                  <c:v>5.69</c:v>
                </c:pt>
                <c:pt idx="3">
                  <c:v>5.69</c:v>
                </c:pt>
                <c:pt idx="4">
                  <c:v>5.69</c:v>
                </c:pt>
                <c:pt idx="5">
                  <c:v>5.69</c:v>
                </c:pt>
                <c:pt idx="6">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7"/>
          <c:min val="4"/>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Mean IRR, % p.a. (simulation, equities +4% p.a. on average)</a:t>
            </a:r>
          </a:p>
        </c:rich>
      </c:tx>
      <c:layout/>
      <c:overlay val="0"/>
    </c:title>
    <c:autoTitleDeleted val="0"/>
    <c:plotArea>
      <c:layout/>
      <c:barChart>
        <c:barDir val="col"/>
        <c:grouping val="clustered"/>
        <c:varyColors val="0"/>
        <c:ser>
          <c:idx val="0"/>
          <c:order val="0"/>
          <c:tx>
            <c:strRef>
              <c:f>Sheet1!$B$1</c:f>
              <c:strCache>
                <c:ptCount val="1"/>
                <c:pt idx="0">
                  <c:v>Our protected autocall</c:v>
                </c:pt>
              </c:strCache>
            </c:strRef>
          </c:tx>
          <c:spPr>
            <a:solidFill>
              <a:srgbClr val="2C5F82"/>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Plain protected note</c:v>
                </c:pt>
              </c:strCache>
            </c:strRef>
          </c:tx>
          <c:spPr>
            <a:solidFill>
              <a:srgbClr val="8DB3D1"/>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Sheet1!$D$2:$D$5</c:f>
              <c:numCache>
                <c:formatCode>General</c:formatCode>
                <c:ptCount val="4"/>
                <c:pt idx="0">
                  <c:v>0</c:v>
                </c:pt>
                <c:pt idx="1">
                  <c:v>0.4</c:v>
                </c:pt>
                <c:pt idx="2">
                  <c:v>4.5</c:v>
                </c:pt>
                <c:pt idx="3">
                  <c:v>13.5</c:v>
                </c:pt>
              </c:numCache>
            </c:numRef>
          </c:val>
        </c:ser>
        <c:ser>
          <c:idx val="3"/>
          <c:order val="3"/>
          <c:tx>
            <c:strRef>
              <c:f>Sheet1!$E$1</c:f>
              <c:strCache>
                <c:ptCount val="1"/>
                <c:pt idx="0">
                  <c:v>5Y USD bond (5.69%)</c:v>
                </c:pt>
              </c:strCache>
            </c:strRef>
          </c:tx>
          <c:spPr>
            <a:solidFill>
              <a:srgbClr val="404040"/>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Sheet1!$E$2:$E$5</c:f>
              <c:numCache>
                <c:formatCode>General</c:formatCode>
                <c:ptCount val="4"/>
                <c:pt idx="0">
                  <c:v>5.7</c:v>
                </c:pt>
                <c:pt idx="1">
                  <c:v>5.7</c:v>
                </c:pt>
                <c:pt idx="2">
                  <c:v>5.7</c:v>
                </c:pt>
                <c:pt idx="3">
                  <c:v>5.7</c:v>
                </c:pt>
              </c:numCache>
            </c:numRef>
          </c:val>
        </c:ser>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our three markets each own a bottleneck. The boom is visible in earnings, not just prices: KOSPI's forward P/E of 7.8x against 23x trailing means analysts expect earnings to roughly triple. But the cycle is maturing: memory price increases are decelerating and US tariffs are a live risk. That tension (great theme, risky path) is the bridge to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maps onto our risks: Taiwan dependence (~92% of advanced chips) and blockade vulnerability, a possible 'Metaverse moment' for hyperscaler capex, and a 10–15% correction in its 2026 base case. That is the case for owning the theme through capital protection.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in two halves. Economic: demand is structural but the path is violent (record VKOSPI, a 25% KOSPI round trip in ten weeks), concentrated and late-cycle; reforms make a recovery to 100% plausible, which is all our coupon needs. Finance: rates are high and rising, so protection is cheap and long-duration bonds are risky. Our note has about a third of a 5-year bond's rate sensitivity and usually returns cash within two years, when a new note would pay more. Record volatility makes our 6.75% coupon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Panel 1: rates are rising, and our note has about a third of a 5-year bond's rate sensitivity. Panel 2: Korean volatility closed at an all-time high in June 2026, above 2008. Panel 3: the note wins or ties in most market types. Panel 4: it beats the bond in about 4 of 5 outcomes, and its average matches the bond at ~6% equity returns. Implications make the case. Use instead of the two-part thesis 2 plus evidence if you need to save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evidence. Same simulated paths for all four strategies. The note beats holding the basket in bear and flat markets, ties in moderate ones and lags only in bull markets. It beats the plain principal-protected note in every market except a bull market. Be upfront about the bond: a fixed 5.69% wins in bear markets and on average unless equities return ~8% a year, but a bond gives none of the AI exposure the family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Each market in our basket controls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4645152"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5"/>
          </a:graphicData>
        </a:graphic>
      </p:graphicFrame>
      <p:sp>
        <p:nvSpPr>
          <p:cNvPr id="36"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7"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Leads straight to thesis 2: own it with protection</a:t>
            </a:r>
            <a:endParaRPr lang="en-US" sz="850" dirty="0"/>
          </a:p>
        </p:txBody>
      </p:sp>
      <p:sp>
        <p:nvSpPr>
          <p:cNvPr id="38"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(TAIEX, 2025 close 28,963.6); TrendForce (DRAM); Siblis Research (P/E, 1 Jul 2026); SEMI (14 Jul 2026); WSTS (Jun 2026); company capex guidance; Nikkei; White House Proclamation 11002. Full list in appendix.</a:t>
            </a:r>
            <a:endParaRPr lang="en-US" sz="800" dirty="0"/>
          </a:p>
        </p:txBody>
      </p:sp>
      <p:sp>
        <p:nvSpPr>
          <p:cNvPr id="39"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0"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We buy the picks and shovels: whichever AI model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Same conclusion as ours: stay in the AI-hardware theme, but not unprotected. Our note keeps the upside path and removes the capital risk.</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Own the AI-hardware theme through a protected autocall</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why this theme needs protection</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path</a:t>
            </a:r>
            <a:endParaRPr lang="en-US" sz="1050" dirty="0"/>
          </a:p>
        </p:txBody>
      </p:sp>
      <p:graphicFrame>
        <p:nvGraphicFramePr>
          <p:cNvPr id="12" name="Chart 0" descr=""/>
          <p:cNvGraphicFramePr/>
          <p:nvPr/>
        </p:nvGraphicFramePr>
        <p:xfrm>
          <a:off x="457200" y="1783080"/>
          <a:ext cx="2377440" cy="16002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26080" y="1810512"/>
            <a:ext cx="2971800" cy="1554480"/>
          </a:xfrm>
          <a:prstGeom prst="rect">
            <a:avLst/>
          </a:prstGeom>
          <a:noFill/>
          <a:ln/>
        </p:spPr>
        <p:txBody>
          <a:bodyPr wrap="square" lIns="0" tIns="0" rIns="0" bIns="0" rtlCol="0" anchor="t"/>
          <a:lstStyle/>
          <a:p>
            <a:pPr indent="0" marL="0">
              <a:spcAft>
                <a:spcPts val="300"/>
              </a:spcAft>
              <a:buNone/>
            </a:pPr>
            <a:r>
              <a:rPr lang="en-US" sz="950" b="1" dirty="0">
                <a:solidFill>
                  <a:srgbClr val="2C5F82"/>
                </a:solidFill>
                <a:latin typeface="Arial" pitchFamily="34" charset="0"/>
                <a:ea typeface="Arial" pitchFamily="34" charset="-122"/>
                <a:cs typeface="Arial" pitchFamily="34" charset="-120"/>
              </a:rPr>
              <a:t>Growth is structural…</a:t>
            </a:r>
            <a:endParaRPr lang="en-US" sz="950" dirty="0"/>
          </a:p>
          <a:p>
            <a:pPr indent="0" marL="0">
              <a:spcAft>
                <a:spcPts val="300"/>
              </a:spcAft>
              <a:buNone/>
            </a:pPr>
            <a:r>
              <a:rPr lang="en-US" sz="950" dirty="0">
                <a:solidFill>
                  <a:srgbClr val="262626"/>
                </a:solidFill>
                <a:latin typeface="Arial" pitchFamily="34" charset="0"/>
                <a:ea typeface="Arial" pitchFamily="34" charset="-122"/>
                <a:cs typeface="Arial" pitchFamily="34" charset="-120"/>
              </a:rPr>
              <a:t>Capex +77%, chip market +90% in 2026 (thesis 1).</a:t>
            </a:r>
            <a:endParaRPr lang="en-US" sz="950" dirty="0"/>
          </a:p>
          <a:p>
            <a:pPr indent="0" marL="0">
              <a:spcAft>
                <a:spcPts val="300"/>
              </a:spcAft>
              <a:buNone/>
            </a:pPr>
            <a:r>
              <a:rPr lang="en-US" sz="950" b="1" dirty="0">
                <a:solidFill>
                  <a:srgbClr val="B23B3B"/>
                </a:solidFill>
                <a:latin typeface="Arial" pitchFamily="34" charset="0"/>
                <a:ea typeface="Arial" pitchFamily="34" charset="-122"/>
                <a:cs typeface="Arial" pitchFamily="34" charset="-120"/>
              </a:rPr>
              <a:t>…but the path is violent</a:t>
            </a:r>
            <a:endParaRPr lang="en-US" sz="950" dirty="0"/>
          </a:p>
          <a:p>
            <a:pPr indent="0" marL="0">
              <a:spcAft>
                <a:spcPts val="300"/>
              </a:spcAft>
              <a:buNone/>
            </a:pPr>
            <a:r>
              <a:rPr lang="en-US" sz="950" dirty="0">
                <a:solidFill>
                  <a:srgbClr val="262626"/>
                </a:solidFill>
                <a:latin typeface="Arial" pitchFamily="34" charset="0"/>
                <a:ea typeface="Arial" pitchFamily="34" charset="-122"/>
                <a:cs typeface="Arial" pitchFamily="34" charset="-120"/>
              </a:rPr>
              <a:t>VKOSPI closed at an all-time high of 91.2 on 9 Jun 2026, above the 2008 crisis peak. Circuit breakers fired three times in June.</a:t>
            </a:r>
            <a:endParaRPr lang="en-US" sz="95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20440"/>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Round trips happen fast</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KOSPI hit 9,000+ in June (~+110% YTD), then 6,789 on 28 Aug: about −25% in ten weeks. J.P. Morgan's 2026 base case includes a 10–15% correction.</a:t>
            </a:r>
            <a:endParaRPr lang="en-US" sz="93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306824"/>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Returns hinge on a few names</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TSMC is &gt;40% of the TAIEX, and ~92% of advanced chips are made in Taiwan, which J.P. Morgan calls the most blockade-sensitive advanced economy.</a:t>
            </a:r>
            <a:endParaRPr lang="en-US" sz="93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¥20trn</a:t>
            </a:r>
            <a:endParaRPr lang="en-US" sz="1800" dirty="0"/>
          </a:p>
        </p:txBody>
      </p:sp>
      <p:sp>
        <p:nvSpPr>
          <p:cNvPr id="28" name="Text 25"/>
          <p:cNvSpPr txBox="1"/>
          <p:nvPr/>
        </p:nvSpPr>
        <p:spPr>
          <a:xfrm>
            <a:off x="2148840" y="5093208"/>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Reforms support a recovery to 100%</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Record Japanese buybacks (~¥20trn FY2025 forecast) and Korea's Value-up programme help the basket get back to its start, which is all the coupon needs.</a:t>
            </a:r>
            <a:endParaRPr lang="en-US" sz="93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why an autocall with protection</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volatility is at records. Both favour this structure</a:t>
            </a:r>
            <a:endParaRPr lang="en-US" sz="1050" dirty="0"/>
          </a:p>
        </p:txBody>
      </p:sp>
      <p:graphicFrame>
        <p:nvGraphicFramePr>
          <p:cNvPr id="32" name="Chart 1" descr=""/>
          <p:cNvGraphicFramePr/>
          <p:nvPr/>
        </p:nvGraphicFramePr>
        <p:xfrm>
          <a:off x="6245352" y="1783080"/>
          <a:ext cx="2377440" cy="160020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8714232" y="1810512"/>
            <a:ext cx="2971800" cy="1554480"/>
          </a:xfrm>
          <a:prstGeom prst="rect">
            <a:avLst/>
          </a:prstGeom>
          <a:noFill/>
          <a:ln/>
        </p:spPr>
        <p:txBody>
          <a:bodyPr wrap="square" lIns="0" tIns="0" rIns="0" bIns="0" rtlCol="0" anchor="t"/>
          <a:lstStyle/>
          <a:p>
            <a:pPr indent="0" marL="0">
              <a:spcAft>
                <a:spcPts val="300"/>
              </a:spcAft>
              <a:buNone/>
            </a:pPr>
            <a:r>
              <a:rPr lang="en-US" sz="950" b="1" dirty="0">
                <a:solidFill>
                  <a:srgbClr val="2C5F82"/>
                </a:solidFill>
                <a:latin typeface="Arial" pitchFamily="34" charset="0"/>
                <a:ea typeface="Arial" pitchFamily="34" charset="-122"/>
                <a:cs typeface="Arial" pitchFamily="34" charset="-120"/>
              </a:rPr>
              <a:t>The Fed is hiking again</a:t>
            </a:r>
            <a:endParaRPr lang="en-US" sz="950" dirty="0"/>
          </a:p>
          <a:p>
            <a:pPr indent="0" marL="0">
              <a:spcAft>
                <a:spcPts val="300"/>
              </a:spcAft>
              <a:buNone/>
            </a:pPr>
            <a:r>
              <a:rPr lang="en-US" sz="950" dirty="0">
                <a:solidFill>
                  <a:srgbClr val="262626"/>
                </a:solidFill>
                <a:latin typeface="Arial" pitchFamily="34" charset="0"/>
                <a:ea typeface="Arial" pitchFamily="34" charset="-122"/>
                <a:cs typeface="Arial" pitchFamily="34" charset="-120"/>
              </a:rPr>
              <a:t>16 Sep 2026: +0.25% to 3.75–4.00%, the first hike since 2023; the median dot points to 4.1% by year end.</a:t>
            </a:r>
            <a:endParaRPr lang="en-US" sz="950" dirty="0"/>
          </a:p>
          <a:p>
            <a:pPr indent="0" marL="0">
              <a:spcAft>
                <a:spcPts val="300"/>
              </a:spcAft>
              <a:buNone/>
            </a:pPr>
            <a:r>
              <a:rPr lang="en-US" sz="950" b="1" dirty="0">
                <a:solidFill>
                  <a:srgbClr val="2C5F82"/>
                </a:solidFill>
                <a:latin typeface="Arial" pitchFamily="34" charset="0"/>
                <a:ea typeface="Arial" pitchFamily="34" charset="-122"/>
                <a:cs typeface="Arial" pitchFamily="34" charset="-120"/>
              </a:rPr>
              <a:t>So: avoid long duration</a:t>
            </a:r>
            <a:endParaRPr lang="en-US" sz="950" dirty="0"/>
          </a:p>
          <a:p>
            <a:pPr indent="0" marL="0">
              <a:spcAft>
                <a:spcPts val="300"/>
              </a:spcAft>
              <a:buNone/>
            </a:pPr>
            <a:r>
              <a:rPr lang="en-US" sz="950" dirty="0">
                <a:solidFill>
                  <a:srgbClr val="262626"/>
                </a:solidFill>
                <a:latin typeface="Arial" pitchFamily="34" charset="0"/>
                <a:ea typeface="Arial" pitchFamily="34" charset="-122"/>
                <a:cs typeface="Arial" pitchFamily="34" charset="-120"/>
              </a:rPr>
              <a:t>Our note has ~30% of a 5Y bond's rate risk: it usually ends within ~2 years.</a:t>
            </a:r>
            <a:endParaRPr lang="en-US" sz="95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38" name="Text 34"/>
          <p:cNvSpPr txBox="1"/>
          <p:nvPr/>
        </p:nvSpPr>
        <p:spPr>
          <a:xfrm>
            <a:off x="7936992" y="3520440"/>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High rates make protection cheap</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At 5.69% 5Y funding, USD 100 at year 5 costs USD 75.8 today; early calls lower it to 89.9% in our note.</a:t>
            </a:r>
            <a:endParaRPr lang="en-US" sz="93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8.2%</a:t>
            </a:r>
            <a:endParaRPr lang="en-US" sz="1800" dirty="0"/>
          </a:p>
        </p:txBody>
      </p:sp>
      <p:sp>
        <p:nvSpPr>
          <p:cNvPr id="43" name="Text 39"/>
          <p:cNvSpPr txBox="1"/>
          <p:nvPr/>
        </p:nvSpPr>
        <p:spPr>
          <a:xfrm>
            <a:off x="7936992" y="4306824"/>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Rising rates pay off at the roll</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51% of notes are called at year 1. If rates are 1% higher by then, a new note would pay ~8.2%.</a:t>
            </a:r>
            <a:endParaRPr lang="en-US" sz="93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7.7%</a:t>
            </a:r>
            <a:endParaRPr lang="en-US" sz="1800" dirty="0"/>
          </a:p>
        </p:txBody>
      </p:sp>
      <p:sp>
        <p:nvSpPr>
          <p:cNvPr id="48" name="Text 44"/>
          <p:cNvSpPr txBox="1"/>
          <p:nvPr/>
        </p:nvSpPr>
        <p:spPr>
          <a:xfrm>
            <a:off x="7936992" y="5093208"/>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Record volatility funds the coupon</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Fair coupon 7.2% at our vol inputs, 7.7% with 5pts more vol. 2026's record vols make our 6.75% conservative.</a:t>
            </a:r>
            <a:endParaRPr lang="en-US" sz="93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Herald / SBS / FN News (VKOSPI); FN News and Shinhan (KOSPI 28 Aug); TWSE, Korea Times, Bloomberg/BNN (2022); Trading Economics, Nikkei Asia (weights); Siblis (valuations); J.P. Morgan 2026 Outlook; Asset Management One (buybacks); Federal Reserve via Advisor Perspectives (16 Sep 2026); case funding grid; team Monte Carlo.</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 protected autocall fits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Rising rates, record volatility and a late-cycle chip boom: the conditions where an autocall beats bonds, stocks and plain protected notes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Rates are rising: bonds carry the duration risk</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for a parallel rate move. The Fed hiked to 3.75–4.00% on 16 Sep 2026 (first hike since 2023), with another expected.</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Volatility is at records: protection is needed</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VKOSPI closing peaks: 2026 beat the 2008 crisis. KOSPI then fell ~25% (9,000+ in June to 6,789 on 28 Aug).</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The autocall wins in most markets</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Mean return % p.a. by type of 5-year market (team simulation, equities +4% p.a.). Ties the stocks in moderate markets, beats them in bear and flat ones.</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Beats the bond in about 4 of 5 outcomes</a:t>
            </a:r>
            <a:endParaRPr lang="en-US" sz="1050" dirty="0"/>
          </a:p>
        </p:txBody>
      </p:sp>
      <p:graphicFrame>
        <p:nvGraphicFramePr>
          <p:cNvPr id="24" name="Chart 3" descr=""/>
          <p:cNvGraphicFramePr/>
          <p:nvPr/>
        </p:nvGraphicFramePr>
        <p:xfrm>
          <a:off x="4370832" y="3712464"/>
          <a:ext cx="2313066"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6758513" y="3730752"/>
            <a:ext cx="1343071" cy="1261872"/>
          </a:xfrm>
          <a:prstGeom prst="rect">
            <a:avLst/>
          </a:prstGeom>
          <a:noFill/>
          <a:ln/>
        </p:spPr>
        <p:txBody>
          <a:bodyPr wrap="square" lIns="0" tIns="0" rIns="0" bIns="0" rtlCol="0" anchor="t"/>
          <a:lstStyle/>
          <a:p>
            <a:pPr indent="0" marL="0">
              <a:buNone/>
            </a:pPr>
            <a:r>
              <a:rPr lang="en-US" sz="2200" b="1" dirty="0">
                <a:solidFill>
                  <a:srgbClr val="2C5F82"/>
                </a:solidFill>
                <a:latin typeface="Arial" pitchFamily="34" charset="0"/>
                <a:ea typeface="Arial" pitchFamily="34" charset="-122"/>
                <a:cs typeface="Arial" pitchFamily="34" charset="-120"/>
              </a:rPr>
              <a:t>79%</a:t>
            </a:r>
            <a:endParaRPr lang="en-US" sz="1200" dirty="0"/>
          </a:p>
          <a:p>
            <a:pPr indent="0" marL="0">
              <a:buNone/>
            </a:pPr>
            <a:r>
              <a:rPr lang="en-US" sz="850" dirty="0">
                <a:solidFill>
                  <a:srgbClr val="595959"/>
                </a:solidFill>
                <a:latin typeface="Arial" pitchFamily="34" charset="0"/>
                <a:ea typeface="Arial" pitchFamily="34" charset="-122"/>
                <a:cs typeface="Arial" pitchFamily="34" charset="-120"/>
              </a:rPr>
              <a:t>of paths beat the 5.69% bond at +4% equity a year</a:t>
            </a:r>
            <a:endParaRPr lang="en-US" sz="1200" dirty="0"/>
          </a:p>
          <a:p>
            <a:pPr indent="0" marL="0">
              <a:buNone/>
            </a:pPr>
            <a:r>
              <a:rPr lang="en-US" sz="1800" b="1" dirty="0">
                <a:solidFill>
                  <a:srgbClr val="2C5F82"/>
                </a:solidFill>
                <a:latin typeface="Arial" pitchFamily="34" charset="0"/>
                <a:ea typeface="Arial" pitchFamily="34" charset="-122"/>
                <a:cs typeface="Arial" pitchFamily="34" charset="-120"/>
              </a:rPr>
              <a:t>~6%</a:t>
            </a:r>
            <a:endParaRPr lang="en-US" sz="1200" dirty="0"/>
          </a:p>
          <a:p>
            <a:pPr indent="0" marL="0">
              <a:buNone/>
            </a:pPr>
            <a:r>
              <a:rPr lang="en-US" sz="850" dirty="0">
                <a:solidFill>
                  <a:srgbClr val="595959"/>
                </a:solidFill>
                <a:latin typeface="Arial" pitchFamily="34" charset="0"/>
                <a:ea typeface="Arial" pitchFamily="34" charset="-122"/>
                <a:cs typeface="Arial" pitchFamily="34" charset="-120"/>
              </a:rPr>
              <a:t>equity return at which the average also matches the bond</a:t>
            </a:r>
            <a:endParaRPr lang="en-US" sz="1200" dirty="0"/>
          </a:p>
        </p:txBody>
      </p:sp>
      <p:sp>
        <p:nvSpPr>
          <p:cNvPr id="26" name="Text 20"/>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x-axis: average annual equity return. The note beats the bond in every path where it is called; the bond wins only if the basket never recovers.</a:t>
            </a:r>
            <a:endParaRPr lang="en-US" sz="850" dirty="0"/>
          </a:p>
        </p:txBody>
      </p:sp>
      <p:sp>
        <p:nvSpPr>
          <p:cNvPr id="27" name="Text 21"/>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8" name="Shape 22"/>
          <p:cNvSpPr/>
          <p:nvPr/>
        </p:nvSpPr>
        <p:spPr>
          <a:xfrm>
            <a:off x="8485632" y="1627632"/>
            <a:ext cx="2971800" cy="0"/>
          </a:xfrm>
          <a:prstGeom prst="line">
            <a:avLst/>
          </a:prstGeom>
          <a:noFill/>
          <a:ln w="9525">
            <a:solidFill>
              <a:srgbClr val="2C5F82"/>
            </a:solidFill>
            <a:prstDash val="solid"/>
          </a:ln>
        </p:spPr>
      </p:sp>
      <p:sp>
        <p:nvSpPr>
          <p:cNvPr id="29" name="Shape 23"/>
          <p:cNvSpPr/>
          <p:nvPr/>
        </p:nvSpPr>
        <p:spPr>
          <a:xfrm>
            <a:off x="8211312" y="1719072"/>
            <a:ext cx="3520440" cy="658368"/>
          </a:xfrm>
          <a:prstGeom prst="rect">
            <a:avLst/>
          </a:prstGeom>
          <a:solidFill>
            <a:srgbClr val="FFFFFF"/>
          </a:solidFill>
          <a:ln w="12700">
            <a:solidFill>
              <a:srgbClr val="2C5F82"/>
            </a:solidFill>
            <a:prstDash val="solid"/>
          </a:ln>
        </p:spPr>
      </p:sp>
      <p:sp>
        <p:nvSpPr>
          <p:cNvPr id="30" name="Text 24"/>
          <p:cNvSpPr txBox="1"/>
          <p:nvPr/>
        </p:nvSpPr>
        <p:spPr>
          <a:xfrm>
            <a:off x="8257032" y="171907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74650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Low rate risk: </a:t>
            </a:r>
            <a:pPr indent="0" marL="0">
              <a:buNone/>
            </a:pPr>
            <a:r>
              <a:rPr lang="en-US" sz="900" dirty="0">
                <a:solidFill>
                  <a:srgbClr val="595959"/>
                </a:solidFill>
                <a:latin typeface="Arial" pitchFamily="34" charset="0"/>
                <a:ea typeface="Arial" pitchFamily="34" charset="-122"/>
                <a:cs typeface="Arial" pitchFamily="34" charset="-120"/>
              </a:rPr>
              <a:t>Loses 1.2% if rates rise 1%, vs 4.0% for a 5Y bond</a:t>
            </a:r>
            <a:endParaRPr lang="en-US" sz="900" dirty="0"/>
          </a:p>
        </p:txBody>
      </p:sp>
      <p:sp>
        <p:nvSpPr>
          <p:cNvPr id="32" name="Shape 26"/>
          <p:cNvSpPr/>
          <p:nvPr/>
        </p:nvSpPr>
        <p:spPr>
          <a:xfrm>
            <a:off x="8211312" y="2450592"/>
            <a:ext cx="3520440" cy="658368"/>
          </a:xfrm>
          <a:prstGeom prst="rect">
            <a:avLst/>
          </a:prstGeom>
          <a:solidFill>
            <a:srgbClr val="FFFFFF"/>
          </a:solidFill>
          <a:ln w="12700">
            <a:solidFill>
              <a:srgbClr val="2C5F82"/>
            </a:solidFill>
            <a:prstDash val="solid"/>
          </a:ln>
        </p:spPr>
      </p:sp>
      <p:sp>
        <p:nvSpPr>
          <p:cNvPr id="33" name="Text 27"/>
          <p:cNvSpPr txBox="1"/>
          <p:nvPr/>
        </p:nvSpPr>
        <p:spPr>
          <a:xfrm>
            <a:off x="8257032" y="245059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47802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Rising rates help at the roll: </a:t>
            </a:r>
            <a:pPr indent="0" marL="0">
              <a:buNone/>
            </a:pPr>
            <a:r>
              <a:rPr lang="en-US" sz="900" dirty="0">
                <a:solidFill>
                  <a:srgbClr val="595959"/>
                </a:solidFill>
                <a:latin typeface="Arial" pitchFamily="34" charset="0"/>
                <a:ea typeface="Arial" pitchFamily="34" charset="-122"/>
                <a:cs typeface="Arial" pitchFamily="34" charset="-120"/>
              </a:rPr>
              <a:t>51% called at year 1; a new note would then pay ~8.2% if rates are 1% higher</a:t>
            </a:r>
            <a:endParaRPr lang="en-US" sz="900" dirty="0"/>
          </a:p>
        </p:txBody>
      </p:sp>
      <p:sp>
        <p:nvSpPr>
          <p:cNvPr id="35" name="Shape 29"/>
          <p:cNvSpPr/>
          <p:nvPr/>
        </p:nvSpPr>
        <p:spPr>
          <a:xfrm>
            <a:off x="8211312" y="3182112"/>
            <a:ext cx="3520440" cy="658368"/>
          </a:xfrm>
          <a:prstGeom prst="rect">
            <a:avLst/>
          </a:prstGeom>
          <a:solidFill>
            <a:srgbClr val="FFFFFF"/>
          </a:solidFill>
          <a:ln w="12700">
            <a:solidFill>
              <a:srgbClr val="2C5F82"/>
            </a:solidFill>
            <a:prstDash val="solid"/>
          </a:ln>
        </p:spPr>
      </p:sp>
      <p:sp>
        <p:nvSpPr>
          <p:cNvPr id="36" name="Text 30"/>
          <p:cNvSpPr txBox="1"/>
          <p:nvPr/>
        </p:nvSpPr>
        <p:spPr>
          <a:xfrm>
            <a:off x="8257032" y="318211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20954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Volatility becomes income: </a:t>
            </a:r>
            <a:pPr indent="0" marL="0">
              <a:buNone/>
            </a:pPr>
            <a:r>
              <a:rPr lang="en-US" sz="900" dirty="0">
                <a:solidFill>
                  <a:srgbClr val="595959"/>
                </a:solidFill>
                <a:latin typeface="Arial" pitchFamily="34" charset="0"/>
                <a:ea typeface="Arial" pitchFamily="34" charset="-122"/>
                <a:cs typeface="Arial" pitchFamily="34" charset="-120"/>
              </a:rPr>
              <a:t>Fair coupon 7.2%, 7.7% with 5pts more vol: our 6.75% is conservative</a:t>
            </a:r>
            <a:endParaRPr lang="en-US" sz="900" dirty="0"/>
          </a:p>
        </p:txBody>
      </p:sp>
      <p:sp>
        <p:nvSpPr>
          <p:cNvPr id="38" name="Shape 32"/>
          <p:cNvSpPr/>
          <p:nvPr/>
        </p:nvSpPr>
        <p:spPr>
          <a:xfrm>
            <a:off x="8211312" y="3913632"/>
            <a:ext cx="3520440" cy="658368"/>
          </a:xfrm>
          <a:prstGeom prst="rect">
            <a:avLst/>
          </a:prstGeom>
          <a:solidFill>
            <a:srgbClr val="FFFFFF"/>
          </a:solidFill>
          <a:ln w="12700">
            <a:solidFill>
              <a:srgbClr val="2C5F82"/>
            </a:solidFill>
            <a:prstDash val="solid"/>
          </a:ln>
        </p:spPr>
      </p:sp>
      <p:sp>
        <p:nvSpPr>
          <p:cNvPr id="39" name="Text 33"/>
          <p:cNvSpPr txBox="1"/>
          <p:nvPr/>
        </p:nvSpPr>
        <p:spPr>
          <a:xfrm>
            <a:off x="8257032" y="391363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394106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Pays without a rally: </a:t>
            </a:r>
            <a:pPr indent="0" marL="0">
              <a:buNone/>
            </a:pPr>
            <a:r>
              <a:rPr lang="en-US" sz="900" dirty="0">
                <a:solidFill>
                  <a:srgbClr val="595959"/>
                </a:solidFill>
                <a:latin typeface="Arial" pitchFamily="34" charset="0"/>
                <a:ea typeface="Arial" pitchFamily="34" charset="-122"/>
                <a:cs typeface="Arial" pitchFamily="34" charset="-120"/>
              </a:rPr>
              <a:t>6.2% p.a. vs 2.0% for the stocks when the basket goes sideways</a:t>
            </a:r>
            <a:endParaRPr lang="en-US" sz="900" dirty="0"/>
          </a:p>
        </p:txBody>
      </p:sp>
      <p:sp>
        <p:nvSpPr>
          <p:cNvPr id="41" name="Shape 35"/>
          <p:cNvSpPr/>
          <p:nvPr/>
        </p:nvSpPr>
        <p:spPr>
          <a:xfrm>
            <a:off x="8211312" y="4645152"/>
            <a:ext cx="3520440" cy="658368"/>
          </a:xfrm>
          <a:prstGeom prst="rect">
            <a:avLst/>
          </a:prstGeom>
          <a:solidFill>
            <a:srgbClr val="FFFFFF"/>
          </a:solidFill>
          <a:ln w="12700">
            <a:solidFill>
              <a:srgbClr val="2C5F82"/>
            </a:solidFill>
            <a:prstDash val="solid"/>
          </a:ln>
        </p:spPr>
      </p:sp>
      <p:sp>
        <p:nvSpPr>
          <p:cNvPr id="42" name="Text 36"/>
          <p:cNvSpPr txBox="1"/>
          <p:nvPr/>
        </p:nvSpPr>
        <p:spPr>
          <a:xfrm>
            <a:off x="8257032" y="464515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67258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Proven in Asia: </a:t>
            </a:r>
            <a:pPr indent="0" marL="0">
              <a:buNone/>
            </a:pPr>
            <a:r>
              <a:rPr lang="en-US" sz="900" dirty="0">
                <a:solidFill>
                  <a:srgbClr val="595959"/>
                </a:solidFill>
                <a:latin typeface="Arial" pitchFamily="34" charset="0"/>
                <a:ea typeface="Arial" pitchFamily="34" charset="-122"/>
                <a:cs typeface="Arial" pitchFamily="34" charset="-120"/>
              </a:rPr>
              <a:t>Taiwan structured-note issuance +81% in 2025; snowball autocalls the favourite payoff (SRP)</a:t>
            </a:r>
            <a:endParaRPr lang="en-US" sz="90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Result: 6.75% a year whenever the basket is back at its start, 100% of capital at maturity, a third of a bond's rate risk.</a:t>
            </a:r>
            <a:endParaRPr lang="en-US" sz="125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via Advisor Perspectives (16 Sep 2026); Herald / SBS (VKOSPI); FN News / Shinhan (KOSPI); StructuredRetailProducts.com; team Monte Carlo (scenario2_thesis_numbers.py, scenario2_vs_traditional.py).</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Thesis 2 evidence: the protected autocall beats the usual ways to own this theme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Shape 4"/>
          <p:cNvSpPr/>
          <p:nvPr/>
        </p:nvSpPr>
        <p:spPr>
          <a:xfrm>
            <a:off x="4837176" y="6364224"/>
            <a:ext cx="2514600" cy="45720"/>
          </a:xfrm>
          <a:prstGeom prst="rect">
            <a:avLst/>
          </a:prstGeom>
          <a:solidFill>
            <a:srgbClr val="2C5F82"/>
          </a:solidFill>
          <a:ln w="12700">
            <a:solidFill>
              <a:srgbClr val="2C5F82"/>
            </a:solidFill>
            <a:prstDash val="solid"/>
          </a:ln>
        </p:spPr>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Average annual return by type of market (5 years)</a:t>
            </a:r>
            <a:endParaRPr lang="en-US" sz="1400" dirty="0"/>
          </a:p>
        </p:txBody>
      </p:sp>
      <p:graphicFrame>
        <p:nvGraphicFramePr>
          <p:cNvPr id="11" name="Chart 0" descr=""/>
          <p:cNvGraphicFramePr/>
          <p:nvPr/>
        </p:nvGraphicFramePr>
        <p:xfrm>
          <a:off x="457200" y="1481328"/>
          <a:ext cx="6400800" cy="379476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7086600" y="1051560"/>
            <a:ext cx="4645152" cy="384048"/>
          </a:xfrm>
          <a:prstGeom prst="rect">
            <a:avLst/>
          </a:prstGeom>
          <a:solidFill>
            <a:srgbClr val="2C5F82"/>
          </a:solidFill>
          <a:ln w="12700">
            <a:solidFill>
              <a:srgbClr val="2C5F82"/>
            </a:solidFill>
            <a:prstDash val="solid"/>
          </a:ln>
        </p:spPr>
      </p:sp>
      <p:sp>
        <p:nvSpPr>
          <p:cNvPr id="13" name="Text 10"/>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Same 100,000 paths, summary</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086600" y="1508760"/>
          <a:ext cx="4645152" cy="914400"/>
        </p:xfrm>
        <a:graphic>
          <a:graphicData uri="http://schemas.openxmlformats.org/drawingml/2006/table">
            <a:tbl>
              <a:tblPr/>
              <a:tblGrid>
                <a:gridCol w="1737360"/>
                <a:gridCol w="685800"/>
                <a:gridCol w="731520"/>
                <a:gridCol w="731520"/>
                <a:gridCol w="758952"/>
              </a:tblGrid>
              <a:tr h="329184">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Strategy</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Median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Loss risk</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Worst 5%</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29184">
                <a:tc>
                  <a:txBody>
                    <a:bodyPr/>
                    <a:lstStyle/>
                    <a:p>
                      <a:pPr indent="0" marL="0">
                        <a:buNone/>
                      </a:pPr>
                      <a:r>
                        <a:rPr lang="en-US" sz="1000" b="1" dirty="0">
                          <a:solidFill>
                            <a:srgbClr val="2C5F82"/>
                          </a:solidFill>
                          <a:latin typeface="Arial" pitchFamily="34" charset="0"/>
                          <a:ea typeface="Arial" pitchFamily="34" charset="-122"/>
                          <a:cs typeface="Arial" pitchFamily="34" charset="-120"/>
                        </a:rPr>
                        <a:t>Our protected autocall</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5.4%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6.8%</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Hold the basket</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−12.4%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Plain protected note</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3.7%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5Y USD bond (5.69%)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5" name="Shape 11"/>
          <p:cNvSpPr/>
          <p:nvPr/>
        </p:nvSpPr>
        <p:spPr>
          <a:xfrm>
            <a:off x="7086600" y="3291840"/>
            <a:ext cx="4645152" cy="1965960"/>
          </a:xfrm>
          <a:prstGeom prst="rect">
            <a:avLst/>
          </a:prstGeom>
          <a:solidFill>
            <a:srgbClr val="F2F2F2"/>
          </a:solidFill>
          <a:ln w="12700">
            <a:solidFill>
              <a:srgbClr val="F2F2F2"/>
            </a:solidFill>
            <a:prstDash val="solid"/>
          </a:ln>
        </p:spPr>
      </p:sp>
      <p:sp>
        <p:nvSpPr>
          <p:cNvPr id="16" name="Text 12"/>
          <p:cNvSpPr txBox="1"/>
          <p:nvPr/>
        </p:nvSpPr>
        <p:spPr>
          <a:xfrm>
            <a:off x="7223760" y="3364992"/>
            <a:ext cx="4389120" cy="1874520"/>
          </a:xfrm>
          <a:prstGeom prst="rect">
            <a:avLst/>
          </a:prstGeom>
          <a:noFill/>
          <a:ln/>
        </p:spPr>
        <p:txBody>
          <a:bodyPr wrap="square" lIns="0" tIns="0" rIns="0" bIns="0" rtlCol="0" anchor="t"/>
          <a:lstStyle/>
          <a:p>
            <a:pPr indent="0" marL="0">
              <a:spcAft>
                <a:spcPts val="300"/>
              </a:spcAft>
              <a:buNone/>
            </a:pPr>
            <a:r>
              <a:rPr lang="en-US" sz="1200" b="1" i="1" dirty="0">
                <a:solidFill>
                  <a:srgbClr val="2C5F82"/>
                </a:solidFill>
                <a:latin typeface="Arial" pitchFamily="34" charset="0"/>
                <a:ea typeface="Arial" pitchFamily="34" charset="-122"/>
                <a:cs typeface="Arial" pitchFamily="34" charset="-120"/>
              </a:rPr>
              <a:t>Why it works</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Pays in sideways markets: 6.2% vs 2.0% for the stocks when the basket goes nowhere</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Volatility raises the chance of touching 100%, so it funds the coupon instead of hurting the family</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Market evidence: Taiwan structured-note issuance +81% in 2025, snowball autocalls the favourite payoff (SRP)</a:t>
            </a:r>
            <a:endParaRPr lang="en-US" sz="950" dirty="0"/>
          </a:p>
          <a:p>
            <a:pPr marL="127000" indent="-127000">
              <a:spcAft>
                <a:spcPts val="300"/>
              </a:spcAft>
              <a:buSzPct val="100000"/>
              <a:buChar char="•"/>
            </a:pPr>
            <a:r>
              <a:rPr lang="en-US" sz="950" dirty="0">
                <a:solidFill>
                  <a:srgbClr val="B23B3B"/>
                </a:solidFill>
                <a:latin typeface="Arial" pitchFamily="34" charset="0"/>
                <a:ea typeface="Arial" pitchFamily="34" charset="-122"/>
                <a:cs typeface="Arial" pitchFamily="34" charset="-120"/>
              </a:rPr>
              <a:t>Honest caveat: a 5Y bond earns more in bear markets, but gives no AI exposure</a:t>
            </a:r>
            <a:endParaRPr lang="en-US" sz="950" dirty="0"/>
          </a:p>
        </p:txBody>
      </p:sp>
      <p:sp>
        <p:nvSpPr>
          <p:cNvPr id="17" name="Text 13"/>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Our Monte Carlo (pricing/scenario2_vs_traditional.py): TAIEX 40% / KOSPI 200 30% / Nikkei 225 30%, real-world equity drift 4% p.a.; protected note participation 101%. Market regime = basket's own 5Y annualised total return. Early-called notes are not assumed to be reinvested. SRP = StructuredRetailProducts.com.</a:t>
            </a:r>
            <a:endParaRPr lang="en-US" sz="800" dirty="0"/>
          </a:p>
        </p:txBody>
      </p:sp>
      <p:sp>
        <p:nvSpPr>
          <p:cNvPr id="18" name="Shape 14"/>
          <p:cNvSpPr/>
          <p:nvPr/>
        </p:nvSpPr>
        <p:spPr>
          <a:xfrm>
            <a:off x="457200" y="5650992"/>
            <a:ext cx="11274552" cy="502920"/>
          </a:xfrm>
          <a:prstGeom prst="rect">
            <a:avLst/>
          </a:prstGeom>
          <a:solidFill>
            <a:srgbClr val="2C5F82"/>
          </a:solidFill>
          <a:ln w="12700">
            <a:solidFill>
              <a:srgbClr val="2C5F82"/>
            </a:solidFill>
            <a:prstDash val="solid"/>
          </a:ln>
        </p:spPr>
      </p:sp>
      <p:sp>
        <p:nvSpPr>
          <p:cNvPr id="19" name="Text 15"/>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Best way to own the theme: equals or beats the stocks in 3 of 4 markets, beats a plain protected note in 3 of 4, and never loses capital.</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56032">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Rate and vol sensitivities, break-even vs bond, market-type comparison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Team Monte Carlo: scenario2_thesis_numbers.py, scenario2_vs_traditional.py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2026-10-08T06:32:43Z</dcterms:created>
  <dcterms:modified xsi:type="dcterms:W3CDTF">2026-10-08T06:32:43Z</dcterms:modified>
</cp:coreProperties>
</file>