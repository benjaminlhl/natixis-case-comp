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Chip market, US$bn (WSTS)</a:t>
            </a:r>
          </a:p>
        </c:rich>
      </c:tx>
      <c:layout/>
      <c:overlay val="0"/>
    </c:title>
    <c:autoTitleDeleted val="0"/>
    <c:plotArea>
      <c:layout/>
      <c:barChart>
        <c:barDir val="col"/>
        <c:grouping val="clustered"/>
        <c:varyColors val="0"/>
        <c:ser>
          <c:idx val="0"/>
          <c:order val="0"/>
          <c:tx>
            <c:strRef>
              <c:f>Sheet1!$B$1</c:f>
              <c:strCache>
                <c:ptCount val="1"/>
                <c:pt idx="0">
                  <c:v>Chip market</c:v>
                </c:pt>
              </c:strCache>
            </c:strRef>
          </c:tx>
          <c:spPr>
            <a:solidFill>
              <a:srgbClr val="2C5F82"/>
            </a:solidFill>
            <a:effectLst/>
          </c:spPr>
          <c:invertIfNegative val="0"/>
          <c:dLbls>
            <c:numFmt formatCode="&quot;$&quot;#,##0"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dPt>
            <c:idx val="0"/>
            <c:invertIfNegative val="0"/>
            <c:bubble3D val="0"/>
            <c:spPr>
              <a:solidFill>
                <a:srgbClr val="2C5F82"/>
              </a:solidFill>
              <a:effectLst/>
            </c:spPr>
          </c:dPt>
          <c:dPt>
            <c:idx val="1"/>
            <c:invertIfNegative val="0"/>
            <c:bubble3D val="0"/>
            <c:spPr>
              <a:solidFill>
                <a:srgbClr val="2C5F82"/>
              </a:solidFill>
              <a:effectLst/>
            </c:spPr>
          </c:dPt>
          <c:dPt>
            <c:idx val="2"/>
            <c:invertIfNegative val="0"/>
            <c:bubble3D val="0"/>
            <c:spPr>
              <a:solidFill>
                <a:srgbClr val="8DB3D1"/>
              </a:solidFill>
              <a:effectLst/>
            </c:spPr>
          </c:dPt>
          <c:dPt>
            <c:idx val="3"/>
            <c:invertIfNegative val="0"/>
            <c:bubble3D val="0"/>
            <c:spPr>
              <a:solidFill>
                <a:srgbClr val="8DB3D1"/>
              </a:solidFill>
              <a:effectLst/>
            </c:spPr>
          </c:dPt>
          <c:cat>
            <c:multiLvlStrRef>
              <c:f>Sheet1!$A$2:$A$5</c:f>
              <c:multiLvlStrCache>
                <c:ptCount val="4"/>
                <c:lvl>
                  <c:pt idx="0">
                    <c:v>2024</c:v>
                  </c:pt>
                  <c:pt idx="1">
                    <c:v>2025</c:v>
                  </c:pt>
                  <c:pt idx="2">
                    <c:v>2026F</c:v>
                  </c:pt>
                  <c:pt idx="3">
                    <c:v>2027F</c:v>
                  </c:pt>
                </c:lvl>
              </c:multiLvlStrCache>
            </c:multiLvlStrRef>
          </c:cat>
          <c:val>
            <c:numRef>
              <c:f>Sheet1!$B$2:$B$5</c:f>
              <c:numCache>
                <c:formatCode>General</c:formatCode>
                <c:ptCount val="4"/>
                <c:pt idx="0">
                  <c:v>630</c:v>
                </c:pt>
                <c:pt idx="1">
                  <c:v>795.6</c:v>
                </c:pt>
                <c:pt idx="2">
                  <c:v>1510</c:v>
                </c:pt>
                <c:pt idx="3">
                  <c:v>1900</c:v>
                </c:pt>
              </c:numCache>
            </c:numRef>
          </c:val>
        </c:ser>
        <c:dLbls>
          <c:numFmt formatCode="&quot;$&quot;#,##0"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8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22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Hyperscaler capex, US$bn</a:t>
            </a:r>
          </a:p>
        </c:rich>
      </c:tx>
      <c:layout/>
      <c:overlay val="0"/>
    </c:title>
    <c:autoTitleDeleted val="0"/>
    <c:plotArea>
      <c:layout/>
      <c:barChart>
        <c:barDir val="col"/>
        <c:grouping val="clustered"/>
        <c:varyColors val="0"/>
        <c:ser>
          <c:idx val="0"/>
          <c:order val="0"/>
          <c:tx>
            <c:strRef>
              <c:f>Sheet1!$B$1</c:f>
              <c:strCache>
                <c:ptCount val="1"/>
                <c:pt idx="0">
                  <c:v>2025</c:v>
                </c:pt>
              </c:strCache>
            </c:strRef>
          </c:tx>
          <c:spPr>
            <a:solidFill>
              <a:srgbClr val="8DB3D1"/>
            </a:solidFill>
            <a:effectLst/>
          </c:spPr>
          <c:invertIfNegative val="0"/>
          <c:dLbls>
            <c:numFmt formatCode="0" sourceLinked="0"/>
            <c:txPr>
              <a:bodyPr/>
              <a:lstStyle/>
              <a:p>
                <a:pPr>
                  <a:defRPr b="0" i="0" strike="noStrike" sz="700" u="none">
                    <a:solidFill>
                      <a:srgbClr val="262626"/>
                    </a:solidFill>
                    <a:latin typeface="Arial"/>
                  </a:defRPr>
                </a:pPr>
              </a:p>
            </c:txPr>
            <c:showLegendKey val="0"/>
            <c:showVal val="1"/>
            <c:showCatName val="0"/>
            <c:showSerName val="0"/>
            <c:showPercent val="0"/>
            <c:showBubbleSize val="0"/>
            <c:showLeaderLines val="0"/>
          </c:dLbls>
          <c:cat>
            <c:multiLvlStrRef>
              <c:f>Sheet1!$A$2:$A$5</c:f>
              <c:multiLvlStrCache>
                <c:ptCount val="4"/>
                <c:lvl>
                  <c:pt idx="0">
                    <c:v>Amazon</c:v>
                  </c:pt>
                  <c:pt idx="1">
                    <c:v>Microsoft</c:v>
                  </c:pt>
                  <c:pt idx="2">
                    <c:v>Alphabet</c:v>
                  </c:pt>
                  <c:pt idx="3">
                    <c:v>Meta</c:v>
                  </c:pt>
                </c:lvl>
              </c:multiLvlStrCache>
            </c:multiLvlStrRef>
          </c:cat>
          <c:val>
            <c:numRef>
              <c:f>Sheet1!$B$2:$B$5</c:f>
              <c:numCache>
                <c:formatCode>General</c:formatCode>
                <c:ptCount val="4"/>
                <c:pt idx="0">
                  <c:v>134.7</c:v>
                </c:pt>
                <c:pt idx="1">
                  <c:v>118</c:v>
                </c:pt>
                <c:pt idx="2">
                  <c:v>91.5</c:v>
                </c:pt>
                <c:pt idx="3">
                  <c:v>72.2</c:v>
                </c:pt>
              </c:numCache>
            </c:numRef>
          </c:val>
        </c:ser>
        <c:ser>
          <c:idx val="1"/>
          <c:order val="1"/>
          <c:tx>
            <c:strRef>
              <c:f>Sheet1!$C$1</c:f>
              <c:strCache>
                <c:ptCount val="1"/>
                <c:pt idx="0">
                  <c:v>2026 guidance</c:v>
                </c:pt>
              </c:strCache>
            </c:strRef>
          </c:tx>
          <c:spPr>
            <a:solidFill>
              <a:srgbClr val="2C5F82"/>
            </a:solidFill>
            <a:effectLst/>
          </c:spPr>
          <c:invertIfNegative val="0"/>
          <c:dLbls>
            <c:numFmt formatCode="0" sourceLinked="0"/>
            <c:txPr>
              <a:bodyPr/>
              <a:lstStyle/>
              <a:p>
                <a:pPr>
                  <a:defRPr b="0" i="0" strike="noStrike" sz="700" u="none">
                    <a:solidFill>
                      <a:srgbClr val="262626"/>
                    </a:solidFill>
                    <a:latin typeface="Arial"/>
                  </a:defRPr>
                </a:pPr>
              </a:p>
            </c:txPr>
            <c:showLegendKey val="0"/>
            <c:showVal val="1"/>
            <c:showCatName val="0"/>
            <c:showSerName val="0"/>
            <c:showPercent val="0"/>
            <c:showBubbleSize val="0"/>
            <c:showLeaderLines val="0"/>
          </c:dLbls>
          <c:cat>
            <c:multiLvlStrRef>
              <c:f>Sheet1!$A$2:$A$5</c:f>
              <c:multiLvlStrCache>
                <c:ptCount val="4"/>
                <c:lvl>
                  <c:pt idx="0">
                    <c:v>Amazon</c:v>
                  </c:pt>
                  <c:pt idx="1">
                    <c:v>Microsoft</c:v>
                  </c:pt>
                  <c:pt idx="2">
                    <c:v>Alphabet</c:v>
                  </c:pt>
                  <c:pt idx="3">
                    <c:v>Meta</c:v>
                  </c:pt>
                </c:lvl>
              </c:multiLvlStrCache>
            </c:multiLvlStrRef>
          </c:cat>
          <c:val>
            <c:numRef>
              <c:f>Sheet1!$C$2:$C$5</c:f>
              <c:numCache>
                <c:formatCode>General</c:formatCode>
                <c:ptCount val="4"/>
                <c:pt idx="0">
                  <c:v>200</c:v>
                </c:pt>
                <c:pt idx="1">
                  <c:v>190</c:v>
                </c:pt>
                <c:pt idx="2">
                  <c:v>185</c:v>
                </c:pt>
                <c:pt idx="3">
                  <c:v>135</c:v>
                </c:pt>
              </c:numCache>
            </c:numRef>
          </c:val>
        </c:ser>
        <c:dLbls>
          <c:numFmt formatCode="0" sourceLinked="0"/>
          <c:txPr>
            <a:bodyPr/>
            <a:lstStyle/>
            <a:p>
              <a:pPr>
                <a:defRPr b="0" i="0" strike="noStrike" sz="7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7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24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750">
              <a:latin typeface="Arial"/>
              <a:cs typeface="Aria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DRAM contract price, q/q</a:t>
            </a:r>
          </a:p>
        </c:rich>
      </c:tx>
      <c:layout/>
      <c:overlay val="0"/>
    </c:title>
    <c:autoTitleDeleted val="0"/>
    <c:plotArea>
      <c:layout/>
      <c:barChart>
        <c:barDir val="col"/>
        <c:grouping val="clustered"/>
        <c:varyColors val="0"/>
        <c:ser>
          <c:idx val="0"/>
          <c:order val="0"/>
          <c:tx>
            <c:strRef>
              <c:f>Sheet1!$B$1</c:f>
              <c:strCache>
                <c:ptCount val="1"/>
                <c:pt idx="0">
                  <c:v>DRAM</c:v>
                </c:pt>
              </c:strCache>
            </c:strRef>
          </c:tx>
          <c:spPr>
            <a:solidFill>
              <a:srgbClr val="8DB3D1"/>
            </a:solidFill>
            <a:effectLst/>
          </c:spPr>
          <c:invertIfNegative val="0"/>
          <c:dLbls>
            <c:numFmt formatCode="&quot;+&quot;0&quot;%&quot;" sourceLinked="0"/>
            <c:txPr>
              <a:bodyPr/>
              <a:lstStyle/>
              <a:p>
                <a:pPr>
                  <a:defRPr b="0" i="0" strike="noStrike" sz="900" u="none">
                    <a:solidFill>
                      <a:srgbClr val="262626"/>
                    </a:solidFill>
                    <a:latin typeface="Arial"/>
                  </a:defRPr>
                </a:pPr>
              </a:p>
            </c:txPr>
            <c:showLegendKey val="0"/>
            <c:showVal val="1"/>
            <c:showCatName val="0"/>
            <c:showSerName val="0"/>
            <c:showPercent val="0"/>
            <c:showBubbleSize val="0"/>
            <c:showLeaderLines val="0"/>
          </c:dLbls>
          <c:cat>
            <c:multiLvlStrRef>
              <c:f>Sheet1!$A$2:$A$4</c:f>
              <c:multiLvlStrCache>
                <c:ptCount val="3"/>
                <c:lvl>
                  <c:pt idx="0">
                    <c:v>Q2 2026</c:v>
                  </c:pt>
                  <c:pt idx="1">
                    <c:v>Q3 2026</c:v>
                  </c:pt>
                  <c:pt idx="2">
                    <c:v>Q4 2026e</c:v>
                  </c:pt>
                </c:lvl>
              </c:multiLvlStrCache>
            </c:multiLvlStrRef>
          </c:cat>
          <c:val>
            <c:numRef>
              <c:f>Sheet1!$B$2:$B$4</c:f>
              <c:numCache>
                <c:formatCode>General</c:formatCode>
                <c:ptCount val="3"/>
                <c:pt idx="0">
                  <c:v>47.5</c:v>
                </c:pt>
                <c:pt idx="1">
                  <c:v>15.5</c:v>
                </c:pt>
                <c:pt idx="2">
                  <c:v>12.5</c:v>
                </c:pt>
              </c:numCache>
            </c:numRef>
          </c:val>
        </c:ser>
        <c:dLbls>
          <c:numFmt formatCode="&quot;+&quot;0&quot;%&quot;" sourceLinked="0"/>
          <c:txPr>
            <a:bodyPr/>
            <a:lstStyle/>
            <a:p>
              <a:pPr>
                <a:defRPr b="0" i="0" strike="noStrike" sz="9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8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6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Since ChatGPT's launch (Nov 2022 to Dec 2025)</a:t>
            </a:r>
          </a:p>
        </c:rich>
      </c:tx>
      <c:layout/>
      <c:overlay val="0"/>
    </c:title>
    <c:autoTitleDeleted val="0"/>
    <c:plotArea>
      <c:layout/>
      <c:barChart>
        <c:barDir val="col"/>
        <c:grouping val="clustered"/>
        <c:varyColors val="0"/>
        <c:ser>
          <c:idx val="0"/>
          <c:order val="0"/>
          <c:tx>
            <c:strRef>
              <c:f>Sheet1!$B$1</c:f>
              <c:strCache>
                <c:ptCount val="1"/>
                <c:pt idx="0">
                  <c:v>Price return</c:v>
                </c:pt>
              </c:strCache>
            </c:strRef>
          </c:tx>
          <c:spPr>
            <a:solidFill>
              <a:srgbClr val="2C5F82"/>
            </a:solidFill>
            <a:effectLst/>
          </c:spPr>
          <c:invertIfNegative val="0"/>
          <c:dLbls>
            <c:numFmt formatCode="0&quot;%&quot;"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cat>
            <c:multiLvlStrRef>
              <c:f>Sheet1!$A$2:$A$6</c:f>
              <c:multiLvlStrCache>
                <c:ptCount val="5"/>
                <c:lvl>
                  <c:pt idx="0">
                    <c:v>42 AI stocks</c:v>
                  </c:pt>
                  <c:pt idx="1">
                    <c:v>S&amp;P 500 ex-AI</c:v>
                  </c:pt>
                  <c:pt idx="2">
                    <c:v>MSCI Japan</c:v>
                  </c:pt>
                  <c:pt idx="3">
                    <c:v>MSCI China</c:v>
                  </c:pt>
                  <c:pt idx="4">
                    <c:v>MSCI Europe</c:v>
                  </c:pt>
                </c:lvl>
              </c:multiLvlStrCache>
            </c:multiLvlStrRef>
          </c:cat>
          <c:val>
            <c:numRef>
              <c:f>Sheet1!$B$2:$B$6</c:f>
              <c:numCache>
                <c:formatCode>General</c:formatCode>
                <c:ptCount val="5"/>
                <c:pt idx="0">
                  <c:v>190</c:v>
                </c:pt>
                <c:pt idx="1">
                  <c:v>26</c:v>
                </c:pt>
                <c:pt idx="2">
                  <c:v>59</c:v>
                </c:pt>
                <c:pt idx="3">
                  <c:v>50</c:v>
                </c:pt>
                <c:pt idx="4">
                  <c:v>33</c:v>
                </c:pt>
              </c:numCache>
            </c:numRef>
          </c:val>
        </c:ser>
        <c:ser>
          <c:idx val="1"/>
          <c:order val="1"/>
          <c:tx>
            <c:strRef>
              <c:f>Sheet1!$C$1</c:f>
              <c:strCache>
                <c:ptCount val="1"/>
                <c:pt idx="0">
                  <c:v>Earnings growth</c:v>
                </c:pt>
              </c:strCache>
            </c:strRef>
          </c:tx>
          <c:spPr>
            <a:solidFill>
              <a:srgbClr val="8DB3D1"/>
            </a:solidFill>
            <a:effectLst/>
          </c:spPr>
          <c:invertIfNegative val="0"/>
          <c:dLbls>
            <c:numFmt formatCode="0&quot;%&quot;"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cat>
            <c:multiLvlStrRef>
              <c:f>Sheet1!$A$2:$A$6</c:f>
              <c:multiLvlStrCache>
                <c:ptCount val="5"/>
                <c:lvl>
                  <c:pt idx="0">
                    <c:v>42 AI stocks</c:v>
                  </c:pt>
                  <c:pt idx="1">
                    <c:v>S&amp;P 500 ex-AI</c:v>
                  </c:pt>
                  <c:pt idx="2">
                    <c:v>MSCI Japan</c:v>
                  </c:pt>
                  <c:pt idx="3">
                    <c:v>MSCI China</c:v>
                  </c:pt>
                  <c:pt idx="4">
                    <c:v>MSCI Europe</c:v>
                  </c:pt>
                </c:lvl>
              </c:multiLvlStrCache>
            </c:multiLvlStrRef>
          </c:cat>
          <c:val>
            <c:numRef>
              <c:f>Sheet1!$C$2:$C$6</c:f>
              <c:numCache>
                <c:formatCode>General</c:formatCode>
                <c:ptCount val="5"/>
                <c:pt idx="0">
                  <c:v>153</c:v>
                </c:pt>
                <c:pt idx="1">
                  <c:v>19</c:v>
                </c:pt>
                <c:pt idx="2">
                  <c:v>52</c:v>
                </c:pt>
                <c:pt idx="3">
                  <c:v>15</c:v>
                </c:pt>
                <c:pt idx="4">
                  <c:v>4</c:v>
                </c:pt>
              </c:numCache>
            </c:numRef>
          </c:val>
        </c:ser>
        <c:dLbls>
          <c:numFmt formatCode="0&quot;%&quot;"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8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22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850">
              <a:latin typeface="Arial"/>
              <a:cs typeface="Arial"/>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Dependence on a single source (JPM, read from chart)</a:t>
            </a:r>
          </a:p>
        </c:rich>
      </c:tx>
      <c:layout/>
      <c:overlay val="0"/>
    </c:title>
    <c:autoTitleDeleted val="0"/>
    <c:plotArea>
      <c:layout/>
      <c:barChart>
        <c:barDir val="col"/>
        <c:grouping val="clustered"/>
        <c:varyColors val="0"/>
        <c:ser>
          <c:idx val="0"/>
          <c:order val="0"/>
          <c:tx>
            <c:strRef>
              <c:f>Sheet1!$B$1</c:f>
              <c:strCache>
                <c:ptCount val="1"/>
                <c:pt idx="0">
                  <c:v>Reliance</c:v>
                </c:pt>
              </c:strCache>
            </c:strRef>
          </c:tx>
          <c:spPr>
            <a:solidFill>
              <a:srgbClr val="A6A6A6"/>
            </a:solidFill>
            <a:effectLst/>
          </c:spPr>
          <c:invertIfNegative val="0"/>
          <c:dLbls>
            <c:numFmt formatCode="&quot;~&quot;0&quot;%&quot;" sourceLinked="0"/>
            <c:txPr>
              <a:bodyPr/>
              <a:lstStyle/>
              <a:p>
                <a:pPr>
                  <a:defRPr b="0" i="0" strike="noStrike" sz="900" u="none">
                    <a:solidFill>
                      <a:srgbClr val="262626"/>
                    </a:solidFill>
                    <a:latin typeface="Arial"/>
                  </a:defRPr>
                </a:pPr>
              </a:p>
            </c:txPr>
            <c:showLegendKey val="0"/>
            <c:showVal val="1"/>
            <c:showCatName val="0"/>
            <c:showSerName val="0"/>
            <c:showPercent val="0"/>
            <c:showBubbleSize val="0"/>
            <c:showLeaderLines val="0"/>
          </c:dLbls>
          <c:dPt>
            <c:idx val="0"/>
            <c:invertIfNegative val="0"/>
            <c:bubble3D val="0"/>
            <c:spPr>
              <a:solidFill>
                <a:srgbClr val="A6A6A6"/>
              </a:solidFill>
              <a:effectLst/>
            </c:spPr>
          </c:dPt>
          <c:dPt>
            <c:idx val="1"/>
            <c:invertIfNegative val="0"/>
            <c:bubble3D val="0"/>
            <c:spPr>
              <a:solidFill>
                <a:srgbClr val="8DB3D1"/>
              </a:solidFill>
              <a:effectLst/>
            </c:spPr>
          </c:dPt>
          <c:dPt>
            <c:idx val="2"/>
            <c:invertIfNegative val="0"/>
            <c:bubble3D val="0"/>
            <c:spPr>
              <a:solidFill>
                <a:srgbClr val="B23B3B"/>
              </a:solidFill>
              <a:effectLst/>
            </c:spPr>
          </c:dPt>
          <c:cat>
            <c:multiLvlStrRef>
              <c:f>Sheet1!$A$2:$A$4</c:f>
              <c:multiLvlStrCache>
                <c:ptCount val="3"/>
                <c:lvl>
                  <c:pt idx="0">
                    <c:v>Europe on Russian energy (2021)</c:v>
                  </c:pt>
                  <c:pt idx="1">
                    <c:v>World on Taiwan: all chips</c:v>
                  </c:pt>
                  <c:pt idx="2">
                    <c:v>World on Taiwan: advanced chips</c:v>
                  </c:pt>
                </c:lvl>
              </c:multiLvlStrCache>
            </c:multiLvlStrRef>
          </c:cat>
          <c:val>
            <c:numRef>
              <c:f>Sheet1!$B$2:$B$4</c:f>
              <c:numCache>
                <c:formatCode>General</c:formatCode>
                <c:ptCount val="3"/>
                <c:pt idx="0">
                  <c:v>22</c:v>
                </c:pt>
                <c:pt idx="1">
                  <c:v>64</c:v>
                </c:pt>
                <c:pt idx="2">
                  <c:v>92</c:v>
                </c:pt>
              </c:numCache>
            </c:numRef>
          </c:val>
        </c:ser>
        <c:dLbls>
          <c:numFmt formatCode="&quot;~&quot;0&quot;%&quot;" sourceLinked="0"/>
          <c:txPr>
            <a:bodyPr/>
            <a:lstStyle/>
            <a:p>
              <a:pPr>
                <a:defRPr b="0" i="0" strike="noStrike" sz="9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8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10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Index level, end-2021 = 100</a:t>
            </a:r>
          </a:p>
        </c:rich>
      </c:tx>
      <c:layout/>
      <c:overlay val="0"/>
    </c:title>
    <c:autoTitleDeleted val="0"/>
    <c:plotArea>
      <c:layout/>
      <c:lineChart>
        <c:varyColors val="0"/>
        <c:ser>
          <c:idx val="0"/>
          <c:order val="0"/>
          <c:tx>
            <c:strRef>
              <c:f>Sheet1!$B$1</c:f>
              <c:strCache>
                <c:ptCount val="1"/>
                <c:pt idx="0">
                  <c:v>TAIEX</c:v>
                </c:pt>
              </c:strCache>
            </c:strRef>
          </c:tx>
          <c:spPr>
            <a:solidFill>
              <a:srgbClr val="2C5F82"/>
            </a:solidFill>
            <a:ln w="25400" cap="flat">
              <a:solidFill>
                <a:srgbClr val="2C5F8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2C5F82"/>
              </a:solidFill>
              <a:ln w="9525" cap="flat">
                <a:solidFill>
                  <a:srgbClr val="2C5F82"/>
                </a:solidFill>
                <a:prstDash val="solid"/>
                <a:round/>
              </a:ln>
              <a:effectLst/>
            </c:spPr>
          </c:marker>
          <c:cat>
            <c:multiLvlStrRef>
              <c:f>Sheet1!$A$2:$A$8</c:f>
              <c:multiLvlStrCache>
                <c:ptCount val="7"/>
                <c:lvl>
                  <c:pt idx="0">
                    <c:v>YE2021</c:v>
                  </c:pt>
                  <c:pt idx="1">
                    <c:v>YE2022</c:v>
                  </c:pt>
                  <c:pt idx="2">
                    <c:v>YE2023</c:v>
                  </c:pt>
                  <c:pt idx="3">
                    <c:v>YE2024</c:v>
                  </c:pt>
                  <c:pt idx="4">
                    <c:v>YE2025</c:v>
                  </c:pt>
                  <c:pt idx="5">
                    <c:v>Jun-26 peak</c:v>
                  </c:pt>
                  <c:pt idx="6">
                    <c:v>Latest</c:v>
                  </c:pt>
                </c:lvl>
              </c:multiLvlStrCache>
            </c:multiLvlStrRef>
          </c:cat>
          <c:val>
            <c:numRef>
              <c:f>Sheet1!$B$2:$B$8</c:f>
              <c:numCache>
                <c:formatCode>General</c:formatCode>
                <c:ptCount val="7"/>
                <c:pt idx="0">
                  <c:v>100</c:v>
                </c:pt>
                <c:pt idx="1">
                  <c:v>77.6</c:v>
                </c:pt>
                <c:pt idx="2">
                  <c:v>98.4</c:v>
                </c:pt>
                <c:pt idx="3">
                  <c:v>126.4</c:v>
                </c:pt>
                <c:pt idx="4">
                  <c:v>159</c:v>
                </c:pt>
                <c:pt idx="5">
                  <c:v>262.1</c:v>
                </c:pt>
                <c:pt idx="6">
                  <c:v>266.1</c:v>
                </c:pt>
              </c:numCache>
            </c:numRef>
          </c:val>
          <c:smooth val="0"/>
        </c:ser>
        <c:ser>
          <c:idx val="1"/>
          <c:order val="1"/>
          <c:tx>
            <c:strRef>
              <c:f>Sheet1!$C$1</c:f>
              <c:strCache>
                <c:ptCount val="1"/>
                <c:pt idx="0">
                  <c:v>KOSPI</c:v>
                </c:pt>
              </c:strCache>
            </c:strRef>
          </c:tx>
          <c:spPr>
            <a:solidFill>
              <a:srgbClr val="B23B3B"/>
            </a:solidFill>
            <a:ln w="25400" cap="flat">
              <a:solidFill>
                <a:srgbClr val="B23B3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B23B3B"/>
              </a:solidFill>
              <a:ln w="9525" cap="flat">
                <a:solidFill>
                  <a:srgbClr val="B23B3B"/>
                </a:solidFill>
                <a:prstDash val="solid"/>
                <a:round/>
              </a:ln>
              <a:effectLst/>
            </c:spPr>
          </c:marker>
          <c:cat>
            <c:multiLvlStrRef>
              <c:f>Sheet1!$A$2:$A$8</c:f>
              <c:multiLvlStrCache>
                <c:ptCount val="7"/>
                <c:lvl>
                  <c:pt idx="0">
                    <c:v>YE2021</c:v>
                  </c:pt>
                  <c:pt idx="1">
                    <c:v>YE2022</c:v>
                  </c:pt>
                  <c:pt idx="2">
                    <c:v>YE2023</c:v>
                  </c:pt>
                  <c:pt idx="3">
                    <c:v>YE2024</c:v>
                  </c:pt>
                  <c:pt idx="4">
                    <c:v>YE2025</c:v>
                  </c:pt>
                  <c:pt idx="5">
                    <c:v>Jun-26 peak</c:v>
                  </c:pt>
                  <c:pt idx="6">
                    <c:v>Latest</c:v>
                  </c:pt>
                </c:lvl>
              </c:multiLvlStrCache>
            </c:multiLvlStrRef>
          </c:cat>
          <c:val>
            <c:numRef>
              <c:f>Sheet1!$C$2:$C$8</c:f>
              <c:numCache>
                <c:formatCode>General</c:formatCode>
                <c:ptCount val="7"/>
                <c:pt idx="0">
                  <c:v>100</c:v>
                </c:pt>
                <c:pt idx="1">
                  <c:v>75.1</c:v>
                </c:pt>
                <c:pt idx="2">
                  <c:v>89.2</c:v>
                </c:pt>
                <c:pt idx="3">
                  <c:v>80.6</c:v>
                </c:pt>
                <c:pt idx="4">
                  <c:v>141.5</c:v>
                </c:pt>
                <c:pt idx="5">
                  <c:v>302.3</c:v>
                </c:pt>
                <c:pt idx="6">
                  <c:v>237.8</c:v>
                </c:pt>
              </c:numCache>
            </c:numRef>
          </c:val>
          <c:smooth val="0"/>
        </c:ser>
        <c:ser>
          <c:idx val="2"/>
          <c:order val="2"/>
          <c:tx>
            <c:strRef>
              <c:f>Sheet1!$D$1</c:f>
              <c:strCache>
                <c:ptCount val="1"/>
                <c:pt idx="0">
                  <c:v>Nikkei 225</c:v>
                </c:pt>
              </c:strCache>
            </c:strRef>
          </c:tx>
          <c:spPr>
            <a:solidFill>
              <a:srgbClr val="A6A6A6"/>
            </a:solidFill>
            <a:ln w="25400"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A6A6A6"/>
              </a:solidFill>
              <a:ln w="9525" cap="flat">
                <a:solidFill>
                  <a:srgbClr val="A6A6A6"/>
                </a:solidFill>
                <a:prstDash val="solid"/>
                <a:round/>
              </a:ln>
              <a:effectLst/>
            </c:spPr>
          </c:marker>
          <c:cat>
            <c:multiLvlStrRef>
              <c:f>Sheet1!$A$2:$A$8</c:f>
              <c:multiLvlStrCache>
                <c:ptCount val="7"/>
                <c:lvl>
                  <c:pt idx="0">
                    <c:v>YE2021</c:v>
                  </c:pt>
                  <c:pt idx="1">
                    <c:v>YE2022</c:v>
                  </c:pt>
                  <c:pt idx="2">
                    <c:v>YE2023</c:v>
                  </c:pt>
                  <c:pt idx="3">
                    <c:v>YE2024</c:v>
                  </c:pt>
                  <c:pt idx="4">
                    <c:v>YE2025</c:v>
                  </c:pt>
                  <c:pt idx="5">
                    <c:v>Jun-26 peak</c:v>
                  </c:pt>
                  <c:pt idx="6">
                    <c:v>Latest</c:v>
                  </c:pt>
                </c:lvl>
              </c:multiLvlStrCache>
            </c:multiLvlStrRef>
          </c:cat>
          <c:val>
            <c:numRef>
              <c:f>Sheet1!$D$2:$D$8</c:f>
              <c:numCache>
                <c:formatCode>General</c:formatCode>
                <c:ptCount val="7"/>
                <c:pt idx="0">
                  <c:v>100</c:v>
                </c:pt>
                <c:pt idx="1">
                  <c:v>90.6</c:v>
                </c:pt>
                <c:pt idx="2">
                  <c:v>116.2</c:v>
                </c:pt>
                <c:pt idx="3">
                  <c:v>138.6</c:v>
                </c:pt>
                <c:pt idx="4">
                  <c:v>174.8</c:v>
                </c:pt>
                <c:pt idx="5">
                  <c:v>231</c:v>
                </c:pt>
                <c:pt idx="6">
                  <c:v>222.8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70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325"/>
          <c:min val="50"/>
        </c:scaling>
        <c:delete val="0"/>
        <c:axPos val="l"/>
        <c:majorGridlines>
          <c:spPr>
            <a:ln w="6350" cap="flat">
              <a:solidFill>
                <a:srgbClr val="E3E3E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750" b="0" i="0" u="none" strike="noStrike">
                <a:solidFill>
                  <a:srgbClr val="595959"/>
                </a:solidFill>
                <a:latin typeface="Arial"/>
              </a:defRPr>
            </a:pPr>
            <a:endParaRPr lang="en-US"/>
          </a:p>
        </c:txPr>
        <c:crossAx val="2094734554"/>
        <c:crosses val="autoZero"/>
        <c:crossBetween val="between"/>
        <c:majorUnit val="50"/>
      </c:valAx>
      <c:spPr>
        <a:noFill/>
        <a:ln>
          <a:noFill/>
        </a:ln>
        <a:effectLst/>
      </c:spPr>
    </c:plotArea>
    <c:legend>
      <c:legendPos val="b"/>
      <c:overlay val="0"/>
      <c:txPr>
        <a:bodyPr/>
        <a:lstStyle/>
        <a:p>
          <a:pPr>
            <a:defRPr sz="750">
              <a:latin typeface="Arial"/>
              <a:cs typeface="Arial"/>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Fed funds rate (upper bound), 2022–2026</a:t>
            </a:r>
          </a:p>
        </c:rich>
      </c:tx>
      <c:layout/>
      <c:overlay val="0"/>
    </c:title>
    <c:autoTitleDeleted val="0"/>
    <c:plotArea>
      <c:layout/>
      <c:lineChart>
        <c:varyColors val="0"/>
        <c:ser>
          <c:idx val="0"/>
          <c:order val="0"/>
          <c:tx>
            <c:strRef>
              <c:f>Sheet1!$B$1</c:f>
              <c:strCache>
                <c:ptCount val="1"/>
                <c:pt idx="0">
                  <c:v>Fed funds (upper bound)</c:v>
                </c:pt>
              </c:strCache>
            </c:strRef>
          </c:tx>
          <c:spPr>
            <a:solidFill>
              <a:srgbClr val="2C5F82"/>
            </a:solidFill>
            <a:ln w="28575" cap="flat">
              <a:solidFill>
                <a:srgbClr val="2C5F8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C5F82"/>
              </a:solidFill>
              <a:ln w="9525" cap="flat">
                <a:solidFill>
                  <a:srgbClr val="2C5F82"/>
                </a:solidFill>
                <a:prstDash val="solid"/>
                <a:round/>
              </a:ln>
              <a:effectLst/>
            </c:spPr>
          </c:marker>
          <c:cat>
            <c:multiLvlStrRef>
              <c:f>Sheet1!$A$2:$A$20</c:f>
              <c:multiLvlStrCache>
                <c:ptCount val="19"/>
                <c:lvl>
                  <c:pt idx="0">
                    <c:v>Q1-22</c:v>
                  </c:pt>
                  <c:pt idx="1">
                    <c:v>Q2-22</c:v>
                  </c:pt>
                  <c:pt idx="2">
                    <c:v>Q3-22</c:v>
                  </c:pt>
                  <c:pt idx="3">
                    <c:v>Q4-22</c:v>
                  </c:pt>
                  <c:pt idx="4">
                    <c:v>Q1-23</c:v>
                  </c:pt>
                  <c:pt idx="5">
                    <c:v>Q2-23</c:v>
                  </c:pt>
                  <c:pt idx="6">
                    <c:v>Q3-23</c:v>
                  </c:pt>
                  <c:pt idx="7">
                    <c:v>Q4-23</c:v>
                  </c:pt>
                  <c:pt idx="8">
                    <c:v>Q1-24</c:v>
                  </c:pt>
                  <c:pt idx="9">
                    <c:v>Q2-24</c:v>
                  </c:pt>
                  <c:pt idx="10">
                    <c:v>Q3-24</c:v>
                  </c:pt>
                  <c:pt idx="11">
                    <c:v>Q4-24</c:v>
                  </c:pt>
                  <c:pt idx="12">
                    <c:v>Q1-25</c:v>
                  </c:pt>
                  <c:pt idx="13">
                    <c:v>Q2-25</c:v>
                  </c:pt>
                  <c:pt idx="14">
                    <c:v>Q3-25</c:v>
                  </c:pt>
                  <c:pt idx="15">
                    <c:v>Q4-25</c:v>
                  </c:pt>
                  <c:pt idx="16">
                    <c:v>Q1-26</c:v>
                  </c:pt>
                  <c:pt idx="17">
                    <c:v>Q2-26</c:v>
                  </c:pt>
                  <c:pt idx="18">
                    <c:v>Q3-26</c:v>
                  </c:pt>
                </c:lvl>
              </c:multiLvlStrCache>
            </c:multiLvlStrRef>
          </c:cat>
          <c:val>
            <c:numRef>
              <c:f>Sheet1!$B$2:$B$20</c:f>
              <c:numCache>
                <c:formatCode>General</c:formatCode>
                <c:ptCount val="19"/>
                <c:pt idx="0">
                  <c:v>0.5</c:v>
                </c:pt>
                <c:pt idx="1">
                  <c:v>1.75</c:v>
                </c:pt>
                <c:pt idx="2">
                  <c:v>3.25</c:v>
                </c:pt>
                <c:pt idx="3">
                  <c:v>4.5</c:v>
                </c:pt>
                <c:pt idx="4">
                  <c:v>5</c:v>
                </c:pt>
                <c:pt idx="5">
                  <c:v>5.25</c:v>
                </c:pt>
                <c:pt idx="6">
                  <c:v>5.5</c:v>
                </c:pt>
                <c:pt idx="7">
                  <c:v>5.5</c:v>
                </c:pt>
                <c:pt idx="8">
                  <c:v>5.5</c:v>
                </c:pt>
                <c:pt idx="9">
                  <c:v>5.5</c:v>
                </c:pt>
                <c:pt idx="10">
                  <c:v>5</c:v>
                </c:pt>
                <c:pt idx="11">
                  <c:v>4.5</c:v>
                </c:pt>
                <c:pt idx="12">
                  <c:v>4.5</c:v>
                </c:pt>
                <c:pt idx="13">
                  <c:v>4.5</c:v>
                </c:pt>
                <c:pt idx="14">
                  <c:v>4.25</c:v>
                </c:pt>
                <c:pt idx="15">
                  <c:v>3.75</c:v>
                </c:pt>
                <c:pt idx="16">
                  <c:v>3.75</c:v>
                </c:pt>
                <c:pt idx="17">
                  <c:v>3.75</c:v>
                </c:pt>
                <c:pt idx="18">
                  <c:v>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6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6"/>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750" b="0" i="0" u="none" strike="noStrike">
                <a:solidFill>
                  <a:srgbClr val="595959"/>
                </a:solidFill>
                <a:latin typeface="Arial"/>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Fed funds (upper bound)</c:v>
                </c:pt>
              </c:strCache>
            </c:strRef>
          </c:tx>
          <c:spPr>
            <a:solidFill>
              <a:srgbClr val="2C5F82"/>
            </a:solidFill>
            <a:ln w="28575" cap="flat">
              <a:solidFill>
                <a:srgbClr val="2C5F8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C5F82"/>
              </a:solidFill>
              <a:ln w="9525" cap="flat">
                <a:solidFill>
                  <a:srgbClr val="2C5F82"/>
                </a:solidFill>
                <a:prstDash val="solid"/>
                <a:round/>
              </a:ln>
              <a:effectLst/>
            </c:spPr>
          </c:marker>
          <c:cat>
            <c:multiLvlStrRef>
              <c:f>Sheet1!$A$2:$A$20</c:f>
              <c:multiLvlStrCache>
                <c:ptCount val="19"/>
                <c:lvl>
                  <c:pt idx="0">
                    <c:v>Q1-22</c:v>
                  </c:pt>
                  <c:pt idx="1">
                    <c:v>Q2-22</c:v>
                  </c:pt>
                  <c:pt idx="2">
                    <c:v>Q3-22</c:v>
                  </c:pt>
                  <c:pt idx="3">
                    <c:v>Q4-22</c:v>
                  </c:pt>
                  <c:pt idx="4">
                    <c:v>Q1-23</c:v>
                  </c:pt>
                  <c:pt idx="5">
                    <c:v>Q2-23</c:v>
                  </c:pt>
                  <c:pt idx="6">
                    <c:v>Q3-23</c:v>
                  </c:pt>
                  <c:pt idx="7">
                    <c:v>Q4-23</c:v>
                  </c:pt>
                  <c:pt idx="8">
                    <c:v>Q1-24</c:v>
                  </c:pt>
                  <c:pt idx="9">
                    <c:v>Q2-24</c:v>
                  </c:pt>
                  <c:pt idx="10">
                    <c:v>Q3-24</c:v>
                  </c:pt>
                  <c:pt idx="11">
                    <c:v>Q4-24</c:v>
                  </c:pt>
                  <c:pt idx="12">
                    <c:v>Q1-25</c:v>
                  </c:pt>
                  <c:pt idx="13">
                    <c:v>Q2-25</c:v>
                  </c:pt>
                  <c:pt idx="14">
                    <c:v>Q3-25</c:v>
                  </c:pt>
                  <c:pt idx="15">
                    <c:v>Q4-25</c:v>
                  </c:pt>
                  <c:pt idx="16">
                    <c:v>Q1-26</c:v>
                  </c:pt>
                  <c:pt idx="17">
                    <c:v>Q2-26</c:v>
                  </c:pt>
                  <c:pt idx="18">
                    <c:v>Q3-26</c:v>
                  </c:pt>
                </c:lvl>
              </c:multiLvlStrCache>
            </c:multiLvlStrRef>
          </c:cat>
          <c:val>
            <c:numRef>
              <c:f>Sheet1!$B$2:$B$20</c:f>
              <c:numCache>
                <c:formatCode>General</c:formatCode>
                <c:ptCount val="19"/>
                <c:pt idx="0">
                  <c:v>0.5</c:v>
                </c:pt>
                <c:pt idx="1">
                  <c:v>1.75</c:v>
                </c:pt>
                <c:pt idx="2">
                  <c:v>3.25</c:v>
                </c:pt>
                <c:pt idx="3">
                  <c:v>4.5</c:v>
                </c:pt>
                <c:pt idx="4">
                  <c:v>5</c:v>
                </c:pt>
                <c:pt idx="5">
                  <c:v>5.25</c:v>
                </c:pt>
                <c:pt idx="6">
                  <c:v>5.5</c:v>
                </c:pt>
                <c:pt idx="7">
                  <c:v>5.5</c:v>
                </c:pt>
                <c:pt idx="8">
                  <c:v>5.5</c:v>
                </c:pt>
                <c:pt idx="9">
                  <c:v>5.5</c:v>
                </c:pt>
                <c:pt idx="10">
                  <c:v>5</c:v>
                </c:pt>
                <c:pt idx="11">
                  <c:v>4.5</c:v>
                </c:pt>
                <c:pt idx="12">
                  <c:v>4.5</c:v>
                </c:pt>
                <c:pt idx="13">
                  <c:v>4.5</c:v>
                </c:pt>
                <c:pt idx="14">
                  <c:v>4.25</c:v>
                </c:pt>
                <c:pt idx="15">
                  <c:v>3.75</c:v>
                </c:pt>
                <c:pt idx="16">
                  <c:v>3.75</c:v>
                </c:pt>
                <c:pt idx="17">
                  <c:v>3.75</c:v>
                </c:pt>
                <c:pt idx="18">
                  <c:v>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6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6"/>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95959"/>
                </a:solidFill>
                <a:latin typeface="Arial"/>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TAIEX</c:v>
                </c:pt>
              </c:strCache>
            </c:strRef>
          </c:tx>
          <c:spPr>
            <a:solidFill>
              <a:srgbClr val="2C5F82"/>
            </a:solidFill>
            <a:ln w="25400" cap="flat">
              <a:solidFill>
                <a:srgbClr val="2C5F8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2C5F82"/>
              </a:solidFill>
              <a:ln w="9525" cap="flat">
                <a:solidFill>
                  <a:srgbClr val="2C5F82"/>
                </a:solidFill>
                <a:prstDash val="solid"/>
                <a:round/>
              </a:ln>
              <a:effectLst/>
            </c:spPr>
          </c:marker>
          <c:cat>
            <c:multiLvlStrRef>
              <c:f>Sheet1!$A$2:$A$8</c:f>
              <c:multiLvlStrCache>
                <c:ptCount val="7"/>
                <c:lvl>
                  <c:pt idx="0">
                    <c:v>YE2021</c:v>
                  </c:pt>
                  <c:pt idx="1">
                    <c:v>YE2022</c:v>
                  </c:pt>
                  <c:pt idx="2">
                    <c:v>YE2023</c:v>
                  </c:pt>
                  <c:pt idx="3">
                    <c:v>YE2024</c:v>
                  </c:pt>
                  <c:pt idx="4">
                    <c:v>YE2025</c:v>
                  </c:pt>
                  <c:pt idx="5">
                    <c:v>Jun-26 peak</c:v>
                  </c:pt>
                  <c:pt idx="6">
                    <c:v>Latest</c:v>
                  </c:pt>
                </c:lvl>
              </c:multiLvlStrCache>
            </c:multiLvlStrRef>
          </c:cat>
          <c:val>
            <c:numRef>
              <c:f>Sheet1!$B$2:$B$8</c:f>
              <c:numCache>
                <c:formatCode>General</c:formatCode>
                <c:ptCount val="7"/>
                <c:pt idx="0">
                  <c:v>100</c:v>
                </c:pt>
                <c:pt idx="1">
                  <c:v>77.6</c:v>
                </c:pt>
                <c:pt idx="2">
                  <c:v>98.4</c:v>
                </c:pt>
                <c:pt idx="3">
                  <c:v>126.4</c:v>
                </c:pt>
                <c:pt idx="4">
                  <c:v>159</c:v>
                </c:pt>
                <c:pt idx="5">
                  <c:v>262.1</c:v>
                </c:pt>
                <c:pt idx="6">
                  <c:v>266.1</c:v>
                </c:pt>
              </c:numCache>
            </c:numRef>
          </c:val>
          <c:smooth val="0"/>
        </c:ser>
        <c:ser>
          <c:idx val="1"/>
          <c:order val="1"/>
          <c:tx>
            <c:strRef>
              <c:f>Sheet1!$C$1</c:f>
              <c:strCache>
                <c:ptCount val="1"/>
                <c:pt idx="0">
                  <c:v>KOSPI</c:v>
                </c:pt>
              </c:strCache>
            </c:strRef>
          </c:tx>
          <c:spPr>
            <a:solidFill>
              <a:srgbClr val="B23B3B"/>
            </a:solidFill>
            <a:ln w="25400" cap="flat">
              <a:solidFill>
                <a:srgbClr val="B23B3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B23B3B"/>
              </a:solidFill>
              <a:ln w="9525" cap="flat">
                <a:solidFill>
                  <a:srgbClr val="B23B3B"/>
                </a:solidFill>
                <a:prstDash val="solid"/>
                <a:round/>
              </a:ln>
              <a:effectLst/>
            </c:spPr>
          </c:marker>
          <c:cat>
            <c:multiLvlStrRef>
              <c:f>Sheet1!$A$2:$A$8</c:f>
              <c:multiLvlStrCache>
                <c:ptCount val="7"/>
                <c:lvl>
                  <c:pt idx="0">
                    <c:v>YE2021</c:v>
                  </c:pt>
                  <c:pt idx="1">
                    <c:v>YE2022</c:v>
                  </c:pt>
                  <c:pt idx="2">
                    <c:v>YE2023</c:v>
                  </c:pt>
                  <c:pt idx="3">
                    <c:v>YE2024</c:v>
                  </c:pt>
                  <c:pt idx="4">
                    <c:v>YE2025</c:v>
                  </c:pt>
                  <c:pt idx="5">
                    <c:v>Jun-26 peak</c:v>
                  </c:pt>
                  <c:pt idx="6">
                    <c:v>Latest</c:v>
                  </c:pt>
                </c:lvl>
              </c:multiLvlStrCache>
            </c:multiLvlStrRef>
          </c:cat>
          <c:val>
            <c:numRef>
              <c:f>Sheet1!$C$2:$C$8</c:f>
              <c:numCache>
                <c:formatCode>General</c:formatCode>
                <c:ptCount val="7"/>
                <c:pt idx="0">
                  <c:v>100</c:v>
                </c:pt>
                <c:pt idx="1">
                  <c:v>75.1</c:v>
                </c:pt>
                <c:pt idx="2">
                  <c:v>89.2</c:v>
                </c:pt>
                <c:pt idx="3">
                  <c:v>80.6</c:v>
                </c:pt>
                <c:pt idx="4">
                  <c:v>141.5</c:v>
                </c:pt>
                <c:pt idx="5">
                  <c:v>302.3</c:v>
                </c:pt>
                <c:pt idx="6">
                  <c:v>237.8</c:v>
                </c:pt>
              </c:numCache>
            </c:numRef>
          </c:val>
          <c:smooth val="0"/>
        </c:ser>
        <c:ser>
          <c:idx val="2"/>
          <c:order val="2"/>
          <c:tx>
            <c:strRef>
              <c:f>Sheet1!$D$1</c:f>
              <c:strCache>
                <c:ptCount val="1"/>
                <c:pt idx="0">
                  <c:v>Nikkei 225</c:v>
                </c:pt>
              </c:strCache>
            </c:strRef>
          </c:tx>
          <c:spPr>
            <a:solidFill>
              <a:srgbClr val="A6A6A6"/>
            </a:solidFill>
            <a:ln w="25400"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A6A6A6"/>
              </a:solidFill>
              <a:ln w="9525" cap="flat">
                <a:solidFill>
                  <a:srgbClr val="A6A6A6"/>
                </a:solidFill>
                <a:prstDash val="solid"/>
                <a:round/>
              </a:ln>
              <a:effectLst/>
            </c:spPr>
          </c:marker>
          <c:cat>
            <c:multiLvlStrRef>
              <c:f>Sheet1!$A$2:$A$8</c:f>
              <c:multiLvlStrCache>
                <c:ptCount val="7"/>
                <c:lvl>
                  <c:pt idx="0">
                    <c:v>YE2021</c:v>
                  </c:pt>
                  <c:pt idx="1">
                    <c:v>YE2022</c:v>
                  </c:pt>
                  <c:pt idx="2">
                    <c:v>YE2023</c:v>
                  </c:pt>
                  <c:pt idx="3">
                    <c:v>YE2024</c:v>
                  </c:pt>
                  <c:pt idx="4">
                    <c:v>YE2025</c:v>
                  </c:pt>
                  <c:pt idx="5">
                    <c:v>Jun-26 peak</c:v>
                  </c:pt>
                  <c:pt idx="6">
                    <c:v>Latest</c:v>
                  </c:pt>
                </c:lvl>
              </c:multiLvlStrCache>
            </c:multiLvlStrRef>
          </c:cat>
          <c:val>
            <c:numRef>
              <c:f>Sheet1!$D$2:$D$8</c:f>
              <c:numCache>
                <c:formatCode>General</c:formatCode>
                <c:ptCount val="7"/>
                <c:pt idx="0">
                  <c:v>100</c:v>
                </c:pt>
                <c:pt idx="1">
                  <c:v>90.6</c:v>
                </c:pt>
                <c:pt idx="2">
                  <c:v>116.2</c:v>
                </c:pt>
                <c:pt idx="3">
                  <c:v>138.6</c:v>
                </c:pt>
                <c:pt idx="4">
                  <c:v>174.8</c:v>
                </c:pt>
                <c:pt idx="5">
                  <c:v>231</c:v>
                </c:pt>
                <c:pt idx="6">
                  <c:v>222.8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6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325"/>
          <c:min val="50"/>
        </c:scaling>
        <c:delete val="0"/>
        <c:axPos val="l"/>
        <c:majorGridlines>
          <c:spPr>
            <a:ln w="6350" cap="flat">
              <a:solidFill>
                <a:srgbClr val="E3E3E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95959"/>
                </a:solidFill>
                <a:latin typeface="Arial"/>
              </a:defRPr>
            </a:pPr>
            <a:endParaRPr lang="en-US"/>
          </a:p>
        </c:txPr>
        <c:crossAx val="2094734554"/>
        <c:crosses val="autoZero"/>
        <c:crossBetween val="between"/>
        <c:majorUnit val="100"/>
      </c:valAx>
      <c:spPr>
        <a:noFill/>
        <a:ln>
          <a:noFill/>
        </a:ln>
        <a:effectLst/>
      </c:spPr>
    </c:plotArea>
    <c:legend>
      <c:legendPos val="r"/>
      <c:overlay val="0"/>
      <c:txPr>
        <a:bodyPr/>
        <a:lstStyle/>
        <a:p>
          <a:pPr>
            <a:defRPr sz="750">
              <a:latin typeface="Arial"/>
              <a:cs typeface="Arial"/>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5Y USD bond</c:v>
                </c:pt>
              </c:strCache>
            </c:strRef>
          </c:tx>
          <c:spPr>
            <a:solidFill>
              <a:srgbClr val="404040"/>
            </a:solidFill>
            <a:effectLst/>
          </c:spPr>
          <c:invertIfNegative val="0"/>
          <c:dLbls>
            <c:numFmt formatCode="0.0" sourceLinked="0"/>
            <c:txPr>
              <a:bodyPr/>
              <a:lstStyle/>
              <a:p>
                <a:pPr>
                  <a:defRPr b="0" i="0" strike="noStrike" sz="700" u="none">
                    <a:solidFill>
                      <a:srgbClr val="262626"/>
                    </a:solidFill>
                    <a:latin typeface="Arial"/>
                  </a:defRPr>
                </a:pPr>
              </a:p>
            </c:txPr>
            <c:showLegendKey val="0"/>
            <c:showVal val="1"/>
            <c:showCatName val="0"/>
            <c:showSerName val="0"/>
            <c:showPercent val="0"/>
            <c:showBubbleSize val="0"/>
            <c:showLeaderLines val="0"/>
          </c:dLbls>
          <c:cat>
            <c:multiLvlStrRef>
              <c:f>Sheet1!$A$2:$A$10</c:f>
              <c:multiLvlStrCache>
                <c:ptCount val="9"/>
                <c:lvl>
                  <c:pt idx="0">
                    <c:v>-2.0%</c:v>
                  </c:pt>
                  <c:pt idx="1">
                    <c:v>-1.5%</c:v>
                  </c:pt>
                  <c:pt idx="2">
                    <c:v>-1.0%</c:v>
                  </c:pt>
                  <c:pt idx="3">
                    <c:v>-0.5%</c:v>
                  </c:pt>
                  <c:pt idx="4">
                    <c:v>0</c:v>
                  </c:pt>
                  <c:pt idx="5">
                    <c:v>+0.5%</c:v>
                  </c:pt>
                  <c:pt idx="6">
                    <c:v>+1.0%</c:v>
                  </c:pt>
                  <c:pt idx="7">
                    <c:v>+1.5%</c:v>
                  </c:pt>
                  <c:pt idx="8">
                    <c:v>+2.0%</c:v>
                  </c:pt>
                </c:lvl>
              </c:multiLvlStrCache>
            </c:multiLvlStrRef>
          </c:cat>
          <c:val>
            <c:numRef>
              <c:f>Sheet1!$B$2:$B$10</c:f>
              <c:numCache>
                <c:formatCode>General</c:formatCode>
                <c:ptCount val="9"/>
                <c:pt idx="0">
                  <c:v>9.1</c:v>
                </c:pt>
                <c:pt idx="1">
                  <c:v>6.8</c:v>
                </c:pt>
                <c:pt idx="2">
                  <c:v>4.5</c:v>
                </c:pt>
                <c:pt idx="3">
                  <c:v>2.3</c:v>
                </c:pt>
                <c:pt idx="4">
                  <c:v>0</c:v>
                </c:pt>
                <c:pt idx="5">
                  <c:v>-2</c:v>
                </c:pt>
                <c:pt idx="6">
                  <c:v>-4</c:v>
                </c:pt>
                <c:pt idx="7">
                  <c:v>-6</c:v>
                </c:pt>
                <c:pt idx="8">
                  <c:v>-7.9</c:v>
                </c:pt>
              </c:numCache>
            </c:numRef>
          </c:val>
        </c:ser>
        <c:dLbls>
          <c:numFmt formatCode="0.0" sourceLinked="0"/>
          <c:txPr>
            <a:bodyPr/>
            <a:lstStyle/>
            <a:p>
              <a:pPr>
                <a:defRPr b="0" i="0" strike="noStrike" sz="7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7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12"/>
          <c:min val="-12"/>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95959"/>
                </a:solidFill>
                <a:latin typeface="Arial"/>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Trailing P/E</c:v>
                </c:pt>
              </c:strCache>
            </c:strRef>
          </c:tx>
          <c:spPr>
            <a:solidFill>
              <a:srgbClr val="A6A6A6"/>
            </a:solidFill>
            <a:effectLst/>
          </c:spPr>
          <c:invertIfNegative val="0"/>
          <c:dLbls>
            <c:numFmt formatCode="0.0&quot;×&quot;"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cat>
            <c:multiLvlStrRef>
              <c:f>Sheet1!$A$2:$A$3</c:f>
              <c:multiLvlStrCache>
                <c:ptCount val="2"/>
                <c:lvl>
                  <c:pt idx="0">
                    <c:v>KOSPI</c:v>
                  </c:pt>
                  <c:pt idx="1">
                    <c:v>Nikkei 225</c:v>
                  </c:pt>
                </c:lvl>
              </c:multiLvlStrCache>
            </c:multiLvlStrRef>
          </c:cat>
          <c:val>
            <c:numRef>
              <c:f>Sheet1!$B$2:$B$3</c:f>
              <c:numCache>
                <c:formatCode>General</c:formatCode>
                <c:ptCount val="2"/>
                <c:pt idx="0">
                  <c:v>22.95</c:v>
                </c:pt>
                <c:pt idx="1">
                  <c:v>22.09</c:v>
                </c:pt>
              </c:numCache>
            </c:numRef>
          </c:val>
        </c:ser>
        <c:ser>
          <c:idx val="1"/>
          <c:order val="1"/>
          <c:tx>
            <c:strRef>
              <c:f>Sheet1!$C$1</c:f>
              <c:strCache>
                <c:ptCount val="1"/>
                <c:pt idx="0">
                  <c:v>Forward P/E</c:v>
                </c:pt>
              </c:strCache>
            </c:strRef>
          </c:tx>
          <c:spPr>
            <a:solidFill>
              <a:srgbClr val="2C5F82"/>
            </a:solidFill>
            <a:effectLst/>
          </c:spPr>
          <c:invertIfNegative val="0"/>
          <c:dLbls>
            <c:numFmt formatCode="0.0&quot;×&quot;"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cat>
            <c:multiLvlStrRef>
              <c:f>Sheet1!$A$2:$A$3</c:f>
              <c:multiLvlStrCache>
                <c:ptCount val="2"/>
                <c:lvl>
                  <c:pt idx="0">
                    <c:v>KOSPI</c:v>
                  </c:pt>
                  <c:pt idx="1">
                    <c:v>Nikkei 225</c:v>
                  </c:pt>
                </c:lvl>
              </c:multiLvlStrCache>
            </c:multiLvlStrRef>
          </c:cat>
          <c:val>
            <c:numRef>
              <c:f>Sheet1!$C$2:$C$3</c:f>
              <c:numCache>
                <c:formatCode>General</c:formatCode>
                <c:ptCount val="2"/>
                <c:pt idx="0">
                  <c:v>7.82</c:v>
                </c:pt>
                <c:pt idx="1">
                  <c:v>17.18</c:v>
                </c:pt>
              </c:numCache>
            </c:numRef>
          </c:val>
        </c:ser>
        <c:dLbls>
          <c:numFmt formatCode="0.0&quot;×&quot;"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8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28"/>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800">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Thesis 1. AI is a hardware story and Taiwan, Korea and Japan each own a bottleneck. The boom is visible in earnings, not just prices: KOSPI's forward P/E of 7.8x against 23x trailing means analysts expect earnings to roughly triple. But the cycle is maturing: memory price increases are decelerating and US tariffs are a live risk. That tension, a great theme on a risky path, is thesis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Third-party validation from J.P. Morgan's 2026 Outlook. Left: the AI theme has driven most of the equity market's returns and earnings since ChatGPT, and the moat runs through TSMC (8 of the 10 largest companies depend on it). Right: JPM's own 'what could go wrong' list highlights: Taiwan dependence (~92% of advanced chips) and blockade vulnerability, a possible 'Metaverse moment' for hyperscaler capex, and a 10–15% correction in its 2026 base case. These are the risks any investor in the theme has to manage. Note: the outlook is dated 1 Jan 2026, before this year's 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Thesis 2, market evidence only. Economic: AI-hardware demand is structural, but the equity path is violent (2022 falls, 2026 round trips), concentrated in a handful of names, and valuations already assume a lot while memory price momentum slows. Finance: the Fed is hiking again, so long bonds carry real rate risk; volatility is at record highs; and high rates make guaranteeing future capital unusually cheap. Implication for any investor: the theme is attractive, but how you hold it matters as much as whether you hold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One-slide thesis 2, modelled on the 'traditional strategies fall short' format, using market evidence only: rising rates (bond duration risk), violent equity paths, concentration, record volatility and a late, richly priced cycle. No reference to our product here; the product section answers these implications.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chart" Target="/ppt/charts/chart1.xml"/><Relationship Id="rId5" Type="http://schemas.openxmlformats.org/officeDocument/2006/relationships/chart" Target="/ppt/charts/chart2.xml"/><Relationship Id="rId6" Type="http://schemas.openxmlformats.org/officeDocument/2006/relationships/chart" Target="/ppt/charts/chart3.xm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chart" Target="/ppt/charts/chart10.xml"/><Relationship Id="rId4" Type="http://schemas.openxmlformats.org/officeDocument/2006/relationships/chart" Target="/ppt/charts/chart11.xml"/><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Investment thesis 1: AI is a hardware boom, and Asia owns the chokepoints</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Shape 3"/>
          <p:cNvSpPr/>
          <p:nvPr/>
        </p:nvSpPr>
        <p:spPr>
          <a:xfrm>
            <a:off x="1005840" y="6364224"/>
            <a:ext cx="2514600" cy="45720"/>
          </a:xfrm>
          <a:prstGeom prst="rect">
            <a:avLst/>
          </a:prstGeom>
          <a:solidFill>
            <a:srgbClr val="2C5F82"/>
          </a:solidFill>
          <a:ln w="12700">
            <a:solidFill>
              <a:srgbClr val="2C5F82"/>
            </a:solidFill>
            <a:prstDash val="solid"/>
          </a:ln>
        </p:spPr>
      </p:sp>
      <p:sp>
        <p:nvSpPr>
          <p:cNvPr id="6" name="Text 4"/>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ANALYSIS</a:t>
            </a:r>
            <a:endParaRPr lang="en-US" sz="1200" dirty="0"/>
          </a:p>
        </p:txBody>
      </p:sp>
      <p:sp>
        <p:nvSpPr>
          <p:cNvPr id="7" name="Text 5"/>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STRATEGY</a:t>
            </a:r>
            <a:endParaRPr lang="en-US" sz="1200" dirty="0"/>
          </a:p>
        </p:txBody>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APPENDIX</a:t>
            </a:r>
            <a:endParaRPr lang="en-US" sz="1200" dirty="0"/>
          </a:p>
        </p:txBody>
      </p:sp>
      <p:sp>
        <p:nvSpPr>
          <p:cNvPr id="9" name="Shape 7"/>
          <p:cNvSpPr/>
          <p:nvPr/>
        </p:nvSpPr>
        <p:spPr>
          <a:xfrm>
            <a:off x="457200" y="1051560"/>
            <a:ext cx="6400800" cy="384048"/>
          </a:xfrm>
          <a:prstGeom prst="rect">
            <a:avLst/>
          </a:prstGeom>
          <a:solidFill>
            <a:srgbClr val="2C5F82"/>
          </a:solidFill>
          <a:ln w="12700">
            <a:solidFill>
              <a:srgbClr val="2C5F82"/>
            </a:solidFill>
            <a:prstDash val="solid"/>
          </a:ln>
        </p:spPr>
      </p:sp>
      <p:sp>
        <p:nvSpPr>
          <p:cNvPr id="10" name="Text 8"/>
          <p:cNvSpPr txBox="1"/>
          <p:nvPr/>
        </p:nvSpPr>
        <p:spPr>
          <a:xfrm>
            <a:off x="457200" y="1051560"/>
            <a:ext cx="6400800"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Taiwan, Korea and Japan each control a bottleneck</a:t>
            </a:r>
            <a:endParaRPr lang="en-US" sz="1400" dirty="0"/>
          </a:p>
        </p:txBody>
      </p:sp>
      <p:sp>
        <p:nvSpPr>
          <p:cNvPr id="11" name="Shape 9"/>
          <p:cNvSpPr/>
          <p:nvPr/>
        </p:nvSpPr>
        <p:spPr>
          <a:xfrm>
            <a:off x="457200" y="1536192"/>
            <a:ext cx="6400800" cy="1124712"/>
          </a:xfrm>
          <a:prstGeom prst="rect">
            <a:avLst/>
          </a:prstGeom>
          <a:solidFill>
            <a:srgbClr val="F2F2F2"/>
          </a:solidFill>
          <a:ln w="12700">
            <a:solidFill>
              <a:srgbClr val="F2F2F2"/>
            </a:solidFill>
            <a:prstDash val="solid"/>
          </a:ln>
        </p:spPr>
      </p:sp>
      <p:sp>
        <p:nvSpPr>
          <p:cNvPr id="12" name="Shape 10"/>
          <p:cNvSpPr/>
          <p:nvPr/>
        </p:nvSpPr>
        <p:spPr>
          <a:xfrm>
            <a:off x="594360" y="1673352"/>
            <a:ext cx="457200" cy="457200"/>
          </a:xfrm>
          <a:prstGeom prst="ellipse">
            <a:avLst/>
          </a:prstGeom>
          <a:solidFill>
            <a:srgbClr val="2C5F82"/>
          </a:solidFill>
          <a:ln w="12700">
            <a:solidFill>
              <a:srgbClr val="2C5F82"/>
            </a:solidFill>
            <a:prstDash val="solid"/>
          </a:ln>
        </p:spPr>
      </p:sp>
      <p:pic>
        <p:nvPicPr>
          <p:cNvPr id="13" name="Image 0" descr="preencoded.png">    </p:cNvPr>
          <p:cNvPicPr>
            <a:picLocks noChangeAspect="1"/>
          </p:cNvPicPr>
          <p:nvPr/>
        </p:nvPicPr>
        <p:blipFill>
          <a:blip r:embed="rId1"/>
          <a:stretch>
            <a:fillRect/>
          </a:stretch>
        </p:blipFill>
        <p:spPr>
          <a:xfrm>
            <a:off x="704088" y="1783080"/>
            <a:ext cx="237744" cy="237744"/>
          </a:xfrm>
          <a:prstGeom prst="rect">
            <a:avLst/>
          </a:prstGeom>
        </p:spPr>
      </p:pic>
      <p:sp>
        <p:nvSpPr>
          <p:cNvPr id="14" name="Text 11"/>
          <p:cNvSpPr txBox="1"/>
          <p:nvPr/>
        </p:nvSpPr>
        <p:spPr>
          <a:xfrm>
            <a:off x="1188720" y="1627632"/>
            <a:ext cx="3017520" cy="292608"/>
          </a:xfrm>
          <a:prstGeom prst="rect">
            <a:avLst/>
          </a:prstGeom>
          <a:noFill/>
          <a:ln/>
        </p:spPr>
        <p:txBody>
          <a:bodyPr wrap="square" lIns="0" tIns="0" rIns="0" bIns="0" rtlCol="0" anchor="ctr"/>
          <a:lstStyle/>
          <a:p>
            <a:pPr indent="0" marL="0">
              <a:buNone/>
            </a:pPr>
            <a:r>
              <a:rPr lang="en-US" sz="1350" b="1" i="1" dirty="0">
                <a:solidFill>
                  <a:srgbClr val="2C5F82"/>
                </a:solidFill>
                <a:latin typeface="Arial" pitchFamily="34" charset="0"/>
                <a:ea typeface="Arial" pitchFamily="34" charset="-122"/>
                <a:cs typeface="Arial" pitchFamily="34" charset="-120"/>
              </a:rPr>
              <a:t>Taiwan: makes the chips</a:t>
            </a:r>
            <a:endParaRPr lang="en-US" sz="1350" dirty="0"/>
          </a:p>
        </p:txBody>
      </p:sp>
      <p:sp>
        <p:nvSpPr>
          <p:cNvPr id="15" name="Text 12"/>
          <p:cNvSpPr txBox="1"/>
          <p:nvPr/>
        </p:nvSpPr>
        <p:spPr>
          <a:xfrm>
            <a:off x="1188720" y="1947672"/>
            <a:ext cx="3291840" cy="694944"/>
          </a:xfrm>
          <a:prstGeom prst="rect">
            <a:avLst/>
          </a:prstGeom>
          <a:noFill/>
          <a:ln/>
        </p:spPr>
        <p:txBody>
          <a:bodyPr wrap="square" lIns="0" tIns="0" rIns="0" bIns="0" rtlCol="0" anchor="t"/>
          <a:lstStyle/>
          <a:p>
            <a:pPr marL="127000" indent="-127000">
              <a:spcAft>
                <a:spcPts val="200"/>
              </a:spcAft>
              <a:buSzPct val="100000"/>
              <a:buChar char="•"/>
            </a:pPr>
            <a:r>
              <a:rPr lang="en-US" sz="950" dirty="0">
                <a:solidFill>
                  <a:srgbClr val="595959"/>
                </a:solidFill>
                <a:latin typeface="Arial" pitchFamily="34" charset="0"/>
                <a:ea typeface="Arial" pitchFamily="34" charset="-122"/>
                <a:cs typeface="Arial" pitchFamily="34" charset="-120"/>
              </a:rPr>
              <a:t>HPC/AI 58% of TSMC revenue (2025); 3nm sold out through 2026</a:t>
            </a:r>
            <a:endParaRPr lang="en-US" sz="950" dirty="0"/>
          </a:p>
          <a:p>
            <a:pPr marL="127000" indent="-127000">
              <a:spcAft>
                <a:spcPts val="200"/>
              </a:spcAft>
              <a:buSzPct val="100000"/>
              <a:buChar char="•"/>
            </a:pPr>
            <a:r>
              <a:rPr lang="en-US" sz="950" dirty="0">
                <a:solidFill>
                  <a:srgbClr val="595959"/>
                </a:solidFill>
                <a:latin typeface="Arial" pitchFamily="34" charset="0"/>
                <a:ea typeface="Arial" pitchFamily="34" charset="-122"/>
                <a:cs typeface="Arial" pitchFamily="34" charset="-120"/>
              </a:rPr>
              <a:t>TAIEX record 48,476 (2 Oct 2026), ~+67% YTD; TSMC &gt;40% of the index</a:t>
            </a:r>
            <a:endParaRPr lang="en-US" sz="950" dirty="0"/>
          </a:p>
        </p:txBody>
      </p:sp>
      <p:sp>
        <p:nvSpPr>
          <p:cNvPr id="16" name="Text 13"/>
          <p:cNvSpPr txBox="1"/>
          <p:nvPr/>
        </p:nvSpPr>
        <p:spPr>
          <a:xfrm>
            <a:off x="4526280" y="1591056"/>
            <a:ext cx="2240280" cy="502920"/>
          </a:xfrm>
          <a:prstGeom prst="rect">
            <a:avLst/>
          </a:prstGeom>
          <a:noFill/>
          <a:ln/>
        </p:spPr>
        <p:txBody>
          <a:bodyPr wrap="square" lIns="0" tIns="0" rIns="0" bIns="0" rtlCol="0" anchor="ctr"/>
          <a:lstStyle/>
          <a:p>
            <a:pPr algn="ctr" indent="0" marL="0">
              <a:buNone/>
            </a:pPr>
            <a:r>
              <a:rPr lang="en-US" sz="2800" b="1" dirty="0">
                <a:solidFill>
                  <a:srgbClr val="2C5F82"/>
                </a:solidFill>
                <a:latin typeface="Arial" pitchFamily="34" charset="0"/>
                <a:ea typeface="Arial" pitchFamily="34" charset="-122"/>
                <a:cs typeface="Arial" pitchFamily="34" charset="-120"/>
              </a:rPr>
              <a:t>~70%</a:t>
            </a:r>
            <a:endParaRPr lang="en-US" sz="2800" dirty="0"/>
          </a:p>
        </p:txBody>
      </p:sp>
      <p:sp>
        <p:nvSpPr>
          <p:cNvPr id="17" name="Text 14"/>
          <p:cNvSpPr txBox="1"/>
          <p:nvPr/>
        </p:nvSpPr>
        <p:spPr>
          <a:xfrm>
            <a:off x="4526280" y="2093976"/>
            <a:ext cx="2240280" cy="502920"/>
          </a:xfrm>
          <a:prstGeom prst="rect">
            <a:avLst/>
          </a:prstGeom>
          <a:noFill/>
          <a:ln/>
        </p:spPr>
        <p:txBody>
          <a:bodyPr wrap="square" lIns="0" tIns="0" rIns="0" bIns="0" rtlCol="0" anchor="t"/>
          <a:lstStyle/>
          <a:p>
            <a:pPr algn="ctr" indent="0" marL="0">
              <a:buNone/>
            </a:pPr>
            <a:r>
              <a:rPr lang="en-US" sz="900" dirty="0">
                <a:solidFill>
                  <a:srgbClr val="595959"/>
                </a:solidFill>
                <a:latin typeface="Arial" pitchFamily="34" charset="0"/>
                <a:ea typeface="Arial" pitchFamily="34" charset="-122"/>
                <a:cs typeface="Arial" pitchFamily="34" charset="-120"/>
              </a:rPr>
              <a:t>TSMC share of global</a:t>
            </a:r>
            <a:endParaRPr lang="en-US" sz="900" dirty="0"/>
          </a:p>
          <a:p>
            <a:pPr algn="ctr" indent="0" marL="0">
              <a:buNone/>
            </a:pPr>
            <a:r>
              <a:rPr lang="en-US" sz="900" dirty="0">
                <a:solidFill>
                  <a:srgbClr val="595959"/>
                </a:solidFill>
                <a:latin typeface="Arial" pitchFamily="34" charset="0"/>
                <a:ea typeface="Arial" pitchFamily="34" charset="-122"/>
                <a:cs typeface="Arial" pitchFamily="34" charset="-120"/>
              </a:rPr>
              <a:t>foundry revenue (Q1 2026)</a:t>
            </a:r>
            <a:endParaRPr lang="en-US" sz="900" dirty="0"/>
          </a:p>
        </p:txBody>
      </p:sp>
      <p:sp>
        <p:nvSpPr>
          <p:cNvPr id="18" name="Shape 15"/>
          <p:cNvSpPr/>
          <p:nvPr/>
        </p:nvSpPr>
        <p:spPr>
          <a:xfrm>
            <a:off x="457200" y="2752344"/>
            <a:ext cx="6400800" cy="1124712"/>
          </a:xfrm>
          <a:prstGeom prst="rect">
            <a:avLst/>
          </a:prstGeom>
          <a:solidFill>
            <a:srgbClr val="FFFFFF"/>
          </a:solidFill>
          <a:ln w="12700">
            <a:solidFill>
              <a:srgbClr val="F2F2F2"/>
            </a:solidFill>
            <a:prstDash val="solid"/>
          </a:ln>
        </p:spPr>
      </p:sp>
      <p:sp>
        <p:nvSpPr>
          <p:cNvPr id="19" name="Shape 16"/>
          <p:cNvSpPr/>
          <p:nvPr/>
        </p:nvSpPr>
        <p:spPr>
          <a:xfrm>
            <a:off x="594360" y="2889504"/>
            <a:ext cx="457200" cy="457200"/>
          </a:xfrm>
          <a:prstGeom prst="ellipse">
            <a:avLst/>
          </a:prstGeom>
          <a:solidFill>
            <a:srgbClr val="2C5F82"/>
          </a:solidFill>
          <a:ln w="12700">
            <a:solidFill>
              <a:srgbClr val="2C5F82"/>
            </a:solidFill>
            <a:prstDash val="solid"/>
          </a:ln>
        </p:spPr>
      </p:sp>
      <p:pic>
        <p:nvPicPr>
          <p:cNvPr id="20" name="Image 1" descr="preencoded.png">    </p:cNvPr>
          <p:cNvPicPr>
            <a:picLocks noChangeAspect="1"/>
          </p:cNvPicPr>
          <p:nvPr/>
        </p:nvPicPr>
        <p:blipFill>
          <a:blip r:embed="rId2"/>
          <a:stretch>
            <a:fillRect/>
          </a:stretch>
        </p:blipFill>
        <p:spPr>
          <a:xfrm>
            <a:off x="704088" y="2999232"/>
            <a:ext cx="237744" cy="237744"/>
          </a:xfrm>
          <a:prstGeom prst="rect">
            <a:avLst/>
          </a:prstGeom>
        </p:spPr>
      </p:pic>
      <p:sp>
        <p:nvSpPr>
          <p:cNvPr id="21" name="Text 17"/>
          <p:cNvSpPr txBox="1"/>
          <p:nvPr/>
        </p:nvSpPr>
        <p:spPr>
          <a:xfrm>
            <a:off x="1188720" y="2843784"/>
            <a:ext cx="3017520" cy="292608"/>
          </a:xfrm>
          <a:prstGeom prst="rect">
            <a:avLst/>
          </a:prstGeom>
          <a:noFill/>
          <a:ln/>
        </p:spPr>
        <p:txBody>
          <a:bodyPr wrap="square" lIns="0" tIns="0" rIns="0" bIns="0" rtlCol="0" anchor="ctr"/>
          <a:lstStyle/>
          <a:p>
            <a:pPr indent="0" marL="0">
              <a:buNone/>
            </a:pPr>
            <a:r>
              <a:rPr lang="en-US" sz="1350" b="1" i="1" dirty="0">
                <a:solidFill>
                  <a:srgbClr val="2C5F82"/>
                </a:solidFill>
                <a:latin typeface="Arial" pitchFamily="34" charset="0"/>
                <a:ea typeface="Arial" pitchFamily="34" charset="-122"/>
                <a:cs typeface="Arial" pitchFamily="34" charset="-120"/>
              </a:rPr>
              <a:t>Korea: makes the memory</a:t>
            </a:r>
            <a:endParaRPr lang="en-US" sz="1350" dirty="0"/>
          </a:p>
        </p:txBody>
      </p:sp>
      <p:sp>
        <p:nvSpPr>
          <p:cNvPr id="22" name="Text 18"/>
          <p:cNvSpPr txBox="1"/>
          <p:nvPr/>
        </p:nvSpPr>
        <p:spPr>
          <a:xfrm>
            <a:off x="1188720" y="3163824"/>
            <a:ext cx="3291840" cy="694944"/>
          </a:xfrm>
          <a:prstGeom prst="rect">
            <a:avLst/>
          </a:prstGeom>
          <a:noFill/>
          <a:ln/>
        </p:spPr>
        <p:txBody>
          <a:bodyPr wrap="square" lIns="0" tIns="0" rIns="0" bIns="0" rtlCol="0" anchor="t"/>
          <a:lstStyle/>
          <a:p>
            <a:pPr marL="127000" indent="-127000">
              <a:spcAft>
                <a:spcPts val="200"/>
              </a:spcAft>
              <a:buSzPct val="100000"/>
              <a:buChar char="•"/>
            </a:pPr>
            <a:r>
              <a:rPr lang="en-US" sz="950" dirty="0">
                <a:solidFill>
                  <a:srgbClr val="595959"/>
                </a:solidFill>
                <a:latin typeface="Arial" pitchFamily="34" charset="0"/>
                <a:ea typeface="Arial" pitchFamily="34" charset="-122"/>
                <a:cs typeface="Arial" pitchFamily="34" charset="-120"/>
              </a:rPr>
              <a:t>DRAM contract prices +45–50% q/q in Q2 2026; server DRAM still undersupplied</a:t>
            </a:r>
            <a:endParaRPr lang="en-US" sz="950" dirty="0"/>
          </a:p>
          <a:p>
            <a:pPr marL="127000" indent="-127000">
              <a:spcAft>
                <a:spcPts val="200"/>
              </a:spcAft>
              <a:buSzPct val="100000"/>
              <a:buChar char="•"/>
            </a:pPr>
            <a:r>
              <a:rPr lang="en-US" sz="950" dirty="0">
                <a:solidFill>
                  <a:srgbClr val="595959"/>
                </a:solidFill>
                <a:latin typeface="Arial" pitchFamily="34" charset="0"/>
                <a:ea typeface="Arial" pitchFamily="34" charset="-122"/>
                <a:cs typeface="Arial" pitchFamily="34" charset="-120"/>
              </a:rPr>
              <a:t>KOSPI forward P/E 7.8× vs 23× trailing: earnings, not just multiples</a:t>
            </a:r>
            <a:endParaRPr lang="en-US" sz="950" dirty="0"/>
          </a:p>
        </p:txBody>
      </p:sp>
      <p:sp>
        <p:nvSpPr>
          <p:cNvPr id="23" name="Text 19"/>
          <p:cNvSpPr txBox="1"/>
          <p:nvPr/>
        </p:nvSpPr>
        <p:spPr>
          <a:xfrm>
            <a:off x="4526280" y="2807208"/>
            <a:ext cx="2240280" cy="502920"/>
          </a:xfrm>
          <a:prstGeom prst="rect">
            <a:avLst/>
          </a:prstGeom>
          <a:noFill/>
          <a:ln/>
        </p:spPr>
        <p:txBody>
          <a:bodyPr wrap="square" lIns="0" tIns="0" rIns="0" bIns="0" rtlCol="0" anchor="ctr"/>
          <a:lstStyle/>
          <a:p>
            <a:pPr algn="ctr" indent="0" marL="0">
              <a:buNone/>
            </a:pPr>
            <a:r>
              <a:rPr lang="en-US" sz="2800" b="1" dirty="0">
                <a:solidFill>
                  <a:srgbClr val="2C5F82"/>
                </a:solidFill>
                <a:latin typeface="Arial" pitchFamily="34" charset="0"/>
                <a:ea typeface="Arial" pitchFamily="34" charset="-122"/>
                <a:cs typeface="Arial" pitchFamily="34" charset="-120"/>
              </a:rPr>
              <a:t>83%</a:t>
            </a:r>
            <a:endParaRPr lang="en-US" sz="2800" dirty="0"/>
          </a:p>
        </p:txBody>
      </p:sp>
      <p:sp>
        <p:nvSpPr>
          <p:cNvPr id="24" name="Text 20"/>
          <p:cNvSpPr txBox="1"/>
          <p:nvPr/>
        </p:nvSpPr>
        <p:spPr>
          <a:xfrm>
            <a:off x="4526280" y="3310128"/>
            <a:ext cx="2240280" cy="502920"/>
          </a:xfrm>
          <a:prstGeom prst="rect">
            <a:avLst/>
          </a:prstGeom>
          <a:noFill/>
          <a:ln/>
        </p:spPr>
        <p:txBody>
          <a:bodyPr wrap="square" lIns="0" tIns="0" rIns="0" bIns="0" rtlCol="0" anchor="t"/>
          <a:lstStyle/>
          <a:p>
            <a:pPr algn="ctr" indent="0" marL="0">
              <a:buNone/>
            </a:pPr>
            <a:r>
              <a:rPr lang="en-US" sz="900" dirty="0">
                <a:solidFill>
                  <a:srgbClr val="595959"/>
                </a:solidFill>
                <a:latin typeface="Arial" pitchFamily="34" charset="0"/>
                <a:ea typeface="Arial" pitchFamily="34" charset="-122"/>
                <a:cs typeface="Arial" pitchFamily="34" charset="-120"/>
              </a:rPr>
              <a:t>SK hynix (50%) + Samsung (33%)</a:t>
            </a:r>
            <a:endParaRPr lang="en-US" sz="900" dirty="0"/>
          </a:p>
          <a:p>
            <a:pPr algn="ctr" indent="0" marL="0">
              <a:buNone/>
            </a:pPr>
            <a:r>
              <a:rPr lang="en-US" sz="900" dirty="0">
                <a:solidFill>
                  <a:srgbClr val="595959"/>
                </a:solidFill>
                <a:latin typeface="Arial" pitchFamily="34" charset="0"/>
                <a:ea typeface="Arial" pitchFamily="34" charset="-122"/>
                <a:cs typeface="Arial" pitchFamily="34" charset="-120"/>
              </a:rPr>
              <a:t>share of HBM revenue (Q2 2026)</a:t>
            </a:r>
            <a:endParaRPr lang="en-US" sz="900" dirty="0"/>
          </a:p>
        </p:txBody>
      </p:sp>
      <p:sp>
        <p:nvSpPr>
          <p:cNvPr id="25" name="Shape 21"/>
          <p:cNvSpPr/>
          <p:nvPr/>
        </p:nvSpPr>
        <p:spPr>
          <a:xfrm>
            <a:off x="457200" y="3968496"/>
            <a:ext cx="6400800" cy="1124712"/>
          </a:xfrm>
          <a:prstGeom prst="rect">
            <a:avLst/>
          </a:prstGeom>
          <a:solidFill>
            <a:srgbClr val="F2F2F2"/>
          </a:solidFill>
          <a:ln w="12700">
            <a:solidFill>
              <a:srgbClr val="F2F2F2"/>
            </a:solidFill>
            <a:prstDash val="solid"/>
          </a:ln>
        </p:spPr>
      </p:sp>
      <p:sp>
        <p:nvSpPr>
          <p:cNvPr id="26" name="Shape 22"/>
          <p:cNvSpPr/>
          <p:nvPr/>
        </p:nvSpPr>
        <p:spPr>
          <a:xfrm>
            <a:off x="594360" y="4105656"/>
            <a:ext cx="457200" cy="457200"/>
          </a:xfrm>
          <a:prstGeom prst="ellipse">
            <a:avLst/>
          </a:prstGeom>
          <a:solidFill>
            <a:srgbClr val="2C5F82"/>
          </a:solidFill>
          <a:ln w="12700">
            <a:solidFill>
              <a:srgbClr val="2C5F82"/>
            </a:solidFill>
            <a:prstDash val="solid"/>
          </a:ln>
        </p:spPr>
      </p:sp>
      <p:pic>
        <p:nvPicPr>
          <p:cNvPr id="27" name="Image 2" descr="preencoded.png">    </p:cNvPr>
          <p:cNvPicPr>
            <a:picLocks noChangeAspect="1"/>
          </p:cNvPicPr>
          <p:nvPr/>
        </p:nvPicPr>
        <p:blipFill>
          <a:blip r:embed="rId3"/>
          <a:stretch>
            <a:fillRect/>
          </a:stretch>
        </p:blipFill>
        <p:spPr>
          <a:xfrm>
            <a:off x="704088" y="4215384"/>
            <a:ext cx="237744" cy="237744"/>
          </a:xfrm>
          <a:prstGeom prst="rect">
            <a:avLst/>
          </a:prstGeom>
        </p:spPr>
      </p:pic>
      <p:sp>
        <p:nvSpPr>
          <p:cNvPr id="28" name="Text 23"/>
          <p:cNvSpPr txBox="1"/>
          <p:nvPr/>
        </p:nvSpPr>
        <p:spPr>
          <a:xfrm>
            <a:off x="1188720" y="4059936"/>
            <a:ext cx="3017520" cy="292608"/>
          </a:xfrm>
          <a:prstGeom prst="rect">
            <a:avLst/>
          </a:prstGeom>
          <a:noFill/>
          <a:ln/>
        </p:spPr>
        <p:txBody>
          <a:bodyPr wrap="square" lIns="0" tIns="0" rIns="0" bIns="0" rtlCol="0" anchor="ctr"/>
          <a:lstStyle/>
          <a:p>
            <a:pPr indent="0" marL="0">
              <a:buNone/>
            </a:pPr>
            <a:r>
              <a:rPr lang="en-US" sz="1350" b="1" i="1" dirty="0">
                <a:solidFill>
                  <a:srgbClr val="2C5F82"/>
                </a:solidFill>
                <a:latin typeface="Arial" pitchFamily="34" charset="0"/>
                <a:ea typeface="Arial" pitchFamily="34" charset="-122"/>
                <a:cs typeface="Arial" pitchFamily="34" charset="-120"/>
              </a:rPr>
              <a:t>Japan: makes the tools</a:t>
            </a:r>
            <a:endParaRPr lang="en-US" sz="1350" dirty="0"/>
          </a:p>
        </p:txBody>
      </p:sp>
      <p:sp>
        <p:nvSpPr>
          <p:cNvPr id="29" name="Text 24"/>
          <p:cNvSpPr txBox="1"/>
          <p:nvPr/>
        </p:nvSpPr>
        <p:spPr>
          <a:xfrm>
            <a:off x="1188720" y="4379976"/>
            <a:ext cx="3291840" cy="694944"/>
          </a:xfrm>
          <a:prstGeom prst="rect">
            <a:avLst/>
          </a:prstGeom>
          <a:noFill/>
          <a:ln/>
        </p:spPr>
        <p:txBody>
          <a:bodyPr wrap="square" lIns="0" tIns="0" rIns="0" bIns="0" rtlCol="0" anchor="t"/>
          <a:lstStyle/>
          <a:p>
            <a:pPr marL="127000" indent="-127000">
              <a:spcAft>
                <a:spcPts val="200"/>
              </a:spcAft>
              <a:buSzPct val="100000"/>
              <a:buChar char="•"/>
            </a:pPr>
            <a:r>
              <a:rPr lang="en-US" sz="950" dirty="0">
                <a:solidFill>
                  <a:srgbClr val="595959"/>
                </a:solidFill>
                <a:latin typeface="Arial" pitchFamily="34" charset="0"/>
                <a:ea typeface="Arial" pitchFamily="34" charset="-122"/>
                <a:cs typeface="Arial" pitchFamily="34" charset="-120"/>
              </a:rPr>
              <a:t>Test equipment +31% and DRAM equipment +39% in 2026 (SEMI)</a:t>
            </a:r>
            <a:endParaRPr lang="en-US" sz="950" dirty="0"/>
          </a:p>
          <a:p>
            <a:pPr marL="127000" indent="-127000">
              <a:spcAft>
                <a:spcPts val="200"/>
              </a:spcAft>
              <a:buSzPct val="100000"/>
              <a:buChar char="•"/>
            </a:pPr>
            <a:r>
              <a:rPr lang="en-US" sz="950" dirty="0">
                <a:solidFill>
                  <a:srgbClr val="595959"/>
                </a:solidFill>
                <a:latin typeface="Arial" pitchFamily="34" charset="0"/>
                <a:ea typeface="Arial" pitchFamily="34" charset="-122"/>
                <a:cs typeface="Arial" pitchFamily="34" charset="-120"/>
              </a:rPr>
              <a:t>Advantest + Tokyo Electron ≈ 20% of the Nikkei 225; forward P/E 17.2×</a:t>
            </a:r>
            <a:endParaRPr lang="en-US" sz="950" dirty="0"/>
          </a:p>
        </p:txBody>
      </p:sp>
      <p:sp>
        <p:nvSpPr>
          <p:cNvPr id="30" name="Text 25"/>
          <p:cNvSpPr txBox="1"/>
          <p:nvPr/>
        </p:nvSpPr>
        <p:spPr>
          <a:xfrm>
            <a:off x="4526280" y="4023360"/>
            <a:ext cx="2240280" cy="502920"/>
          </a:xfrm>
          <a:prstGeom prst="rect">
            <a:avLst/>
          </a:prstGeom>
          <a:noFill/>
          <a:ln/>
        </p:spPr>
        <p:txBody>
          <a:bodyPr wrap="square" lIns="0" tIns="0" rIns="0" bIns="0" rtlCol="0" anchor="ctr"/>
          <a:lstStyle/>
          <a:p>
            <a:pPr algn="ctr" indent="0" marL="0">
              <a:buNone/>
            </a:pPr>
            <a:r>
              <a:rPr lang="en-US" sz="2800" b="1" dirty="0">
                <a:solidFill>
                  <a:srgbClr val="2C5F82"/>
                </a:solidFill>
                <a:latin typeface="Arial" pitchFamily="34" charset="0"/>
                <a:ea typeface="Arial" pitchFamily="34" charset="-122"/>
                <a:cs typeface="Arial" pitchFamily="34" charset="-120"/>
              </a:rPr>
              <a:t>~55%</a:t>
            </a:r>
            <a:endParaRPr lang="en-US" sz="2800" dirty="0"/>
          </a:p>
        </p:txBody>
      </p:sp>
      <p:sp>
        <p:nvSpPr>
          <p:cNvPr id="31" name="Text 26"/>
          <p:cNvSpPr txBox="1"/>
          <p:nvPr/>
        </p:nvSpPr>
        <p:spPr>
          <a:xfrm>
            <a:off x="4526280" y="4526280"/>
            <a:ext cx="2240280" cy="502920"/>
          </a:xfrm>
          <a:prstGeom prst="rect">
            <a:avLst/>
          </a:prstGeom>
          <a:noFill/>
          <a:ln/>
        </p:spPr>
        <p:txBody>
          <a:bodyPr wrap="square" lIns="0" tIns="0" rIns="0" bIns="0" rtlCol="0" anchor="t"/>
          <a:lstStyle/>
          <a:p>
            <a:pPr algn="ctr" indent="0" marL="0">
              <a:buNone/>
            </a:pPr>
            <a:r>
              <a:rPr lang="en-US" sz="900" dirty="0">
                <a:solidFill>
                  <a:srgbClr val="595959"/>
                </a:solidFill>
                <a:latin typeface="Arial" pitchFamily="34" charset="0"/>
                <a:ea typeface="Arial" pitchFamily="34" charset="-122"/>
                <a:cs typeface="Arial" pitchFamily="34" charset="-120"/>
              </a:rPr>
              <a:t>Advantest share of chip</a:t>
            </a:r>
            <a:endParaRPr lang="en-US" sz="900" dirty="0"/>
          </a:p>
          <a:p>
            <a:pPr algn="ctr" indent="0" marL="0">
              <a:buNone/>
            </a:pPr>
            <a:r>
              <a:rPr lang="en-US" sz="900" dirty="0">
                <a:solidFill>
                  <a:srgbClr val="595959"/>
                </a:solidFill>
                <a:latin typeface="Arial" pitchFamily="34" charset="0"/>
                <a:ea typeface="Arial" pitchFamily="34" charset="-122"/>
                <a:cs typeface="Arial" pitchFamily="34" charset="-120"/>
              </a:rPr>
              <a:t>test equipment</a:t>
            </a:r>
            <a:endParaRPr lang="en-US" sz="900" dirty="0"/>
          </a:p>
        </p:txBody>
      </p:sp>
      <p:sp>
        <p:nvSpPr>
          <p:cNvPr id="32" name="Shape 27"/>
          <p:cNvSpPr/>
          <p:nvPr/>
        </p:nvSpPr>
        <p:spPr>
          <a:xfrm>
            <a:off x="7086600" y="1051560"/>
            <a:ext cx="4645152" cy="384048"/>
          </a:xfrm>
          <a:prstGeom prst="rect">
            <a:avLst/>
          </a:prstGeom>
          <a:solidFill>
            <a:srgbClr val="2C5F82"/>
          </a:solidFill>
          <a:ln w="12700">
            <a:solidFill>
              <a:srgbClr val="2C5F82"/>
            </a:solidFill>
            <a:prstDash val="solid"/>
          </a:ln>
        </p:spPr>
      </p:sp>
      <p:sp>
        <p:nvSpPr>
          <p:cNvPr id="33" name="Text 28"/>
          <p:cNvSpPr txBox="1"/>
          <p:nvPr/>
        </p:nvSpPr>
        <p:spPr>
          <a:xfrm>
            <a:off x="7086600" y="1051560"/>
            <a:ext cx="4645152"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Demand is surging, but the cycle is maturing</a:t>
            </a:r>
            <a:endParaRPr lang="en-US" sz="1400" dirty="0"/>
          </a:p>
        </p:txBody>
      </p:sp>
      <p:graphicFrame>
        <p:nvGraphicFramePr>
          <p:cNvPr id="34" name="Chart 0" descr=""/>
          <p:cNvGraphicFramePr/>
          <p:nvPr/>
        </p:nvGraphicFramePr>
        <p:xfrm>
          <a:off x="7086600" y="1481328"/>
          <a:ext cx="2240280" cy="2057400"/>
        </p:xfrm>
        <a:graphic xmlns:a="http://schemas.openxmlformats.org/drawingml/2006/main">
          <a:graphicData uri="http://schemas.openxmlformats.org/drawingml/2006/chart">
            <c:chart xmlns:c="http://schemas.openxmlformats.org/drawingml/2006/chart" r:id="rId4"/>
          </a:graphicData>
        </a:graphic>
      </p:graphicFrame>
      <p:graphicFrame>
        <p:nvGraphicFramePr>
          <p:cNvPr id="35" name="Chart 1" descr=""/>
          <p:cNvGraphicFramePr/>
          <p:nvPr/>
        </p:nvGraphicFramePr>
        <p:xfrm>
          <a:off x="9418320" y="1481328"/>
          <a:ext cx="2313432" cy="2057400"/>
        </p:xfrm>
        <a:graphic xmlns:a="http://schemas.openxmlformats.org/drawingml/2006/main">
          <a:graphicData uri="http://schemas.openxmlformats.org/drawingml/2006/chart">
            <c:chart xmlns:c="http://schemas.openxmlformats.org/drawingml/2006/chart" r:id="rId5"/>
          </a:graphicData>
        </a:graphic>
      </p:graphicFrame>
      <p:graphicFrame>
        <p:nvGraphicFramePr>
          <p:cNvPr id="36" name="Chart 2" descr=""/>
          <p:cNvGraphicFramePr/>
          <p:nvPr/>
        </p:nvGraphicFramePr>
        <p:xfrm>
          <a:off x="7086600" y="3566160"/>
          <a:ext cx="2377440" cy="1737360"/>
        </p:xfrm>
        <a:graphic xmlns:a="http://schemas.openxmlformats.org/drawingml/2006/main">
          <a:graphicData uri="http://schemas.openxmlformats.org/drawingml/2006/chart">
            <c:chart xmlns:c="http://schemas.openxmlformats.org/drawingml/2006/chart" r:id="rId6"/>
          </a:graphicData>
        </a:graphic>
      </p:graphicFrame>
      <p:sp>
        <p:nvSpPr>
          <p:cNvPr id="37" name="Shape 29"/>
          <p:cNvSpPr/>
          <p:nvPr/>
        </p:nvSpPr>
        <p:spPr>
          <a:xfrm>
            <a:off x="9555480" y="3611880"/>
            <a:ext cx="2176272" cy="1691640"/>
          </a:xfrm>
          <a:prstGeom prst="rect">
            <a:avLst/>
          </a:prstGeom>
          <a:solidFill>
            <a:srgbClr val="E8EFF5"/>
          </a:solidFill>
          <a:ln w="12700">
            <a:solidFill>
              <a:srgbClr val="E8EFF5"/>
            </a:solidFill>
            <a:prstDash val="solid"/>
          </a:ln>
        </p:spPr>
      </p:sp>
      <p:sp>
        <p:nvSpPr>
          <p:cNvPr id="38" name="Text 30"/>
          <p:cNvSpPr txBox="1"/>
          <p:nvPr/>
        </p:nvSpPr>
        <p:spPr>
          <a:xfrm>
            <a:off x="9646920" y="3675888"/>
            <a:ext cx="2011680" cy="1600200"/>
          </a:xfrm>
          <a:prstGeom prst="rect">
            <a:avLst/>
          </a:prstGeom>
          <a:noFill/>
          <a:ln/>
        </p:spPr>
        <p:txBody>
          <a:bodyPr wrap="square" lIns="0" tIns="0" rIns="0" bIns="0" rtlCol="0" anchor="t"/>
          <a:lstStyle/>
          <a:p>
            <a:pPr indent="0" marL="0">
              <a:spcAft>
                <a:spcPts val="200"/>
              </a:spcAft>
              <a:buNone/>
            </a:pPr>
            <a:r>
              <a:rPr lang="en-US" sz="850" b="1" i="1" dirty="0">
                <a:solidFill>
                  <a:srgbClr val="2C5F82"/>
                </a:solidFill>
                <a:latin typeface="Arial" pitchFamily="34" charset="0"/>
                <a:ea typeface="Arial" pitchFamily="34" charset="-122"/>
                <a:cs typeface="Arial" pitchFamily="34" charset="-120"/>
              </a:rPr>
              <a:t>Cycle check</a:t>
            </a:r>
            <a:endParaRPr lang="en-US" sz="850" dirty="0"/>
          </a:p>
          <a:p>
            <a:pPr marL="101600" indent="-101600">
              <a:spcAft>
                <a:spcPts val="200"/>
              </a:spcAft>
              <a:buSzPct val="100000"/>
              <a:buChar char="•"/>
            </a:pPr>
            <a:r>
              <a:rPr lang="en-US" sz="850" dirty="0">
                <a:solidFill>
                  <a:srgbClr val="262626"/>
                </a:solidFill>
                <a:latin typeface="Arial" pitchFamily="34" charset="0"/>
                <a:ea typeface="Arial" pitchFamily="34" charset="-122"/>
                <a:cs typeface="Arial" pitchFamily="34" charset="-120"/>
              </a:rPr>
              <a:t>Memory prices still rising, but gains slowing (midpoints of TrendForce ranges)</a:t>
            </a:r>
            <a:endParaRPr lang="en-US" sz="850" dirty="0"/>
          </a:p>
          <a:p>
            <a:pPr marL="101600" indent="-101600">
              <a:spcAft>
                <a:spcPts val="200"/>
              </a:spcAft>
              <a:buSzPct val="100000"/>
              <a:buChar char="•"/>
            </a:pPr>
            <a:r>
              <a:rPr lang="en-US" sz="850" dirty="0">
                <a:solidFill>
                  <a:srgbClr val="262626"/>
                </a:solidFill>
                <a:latin typeface="Arial" pitchFamily="34" charset="0"/>
                <a:ea typeface="Arial" pitchFamily="34" charset="-122"/>
                <a:cs typeface="Arial" pitchFamily="34" charset="-120"/>
              </a:rPr>
              <a:t>US 25% tariff on some advanced chips since Jan 2026 (Section 232)</a:t>
            </a:r>
            <a:endParaRPr lang="en-US" sz="850" dirty="0"/>
          </a:p>
          <a:p>
            <a:pPr marL="101600" indent="-101600">
              <a:spcAft>
                <a:spcPts val="200"/>
              </a:spcAft>
              <a:buSzPct val="100000"/>
              <a:buChar char="•"/>
            </a:pPr>
            <a:r>
              <a:rPr lang="en-US" sz="850" b="1" dirty="0">
                <a:solidFill>
                  <a:srgbClr val="262626"/>
                </a:solidFill>
                <a:latin typeface="Arial" pitchFamily="34" charset="0"/>
                <a:ea typeface="Arial" pitchFamily="34" charset="-122"/>
                <a:cs typeface="Arial" pitchFamily="34" charset="-120"/>
              </a:rPr>
              <a:t>Structural demand, cyclical prices: the theme and its risks come together</a:t>
            </a:r>
            <a:endParaRPr lang="en-US" sz="850" dirty="0"/>
          </a:p>
        </p:txBody>
      </p:sp>
      <p:sp>
        <p:nvSpPr>
          <p:cNvPr id="39" name="Text 31"/>
          <p:cNvSpPr txBox="1"/>
          <p:nvPr/>
        </p:nvSpPr>
        <p:spPr>
          <a:xfrm>
            <a:off x="457200" y="5358384"/>
            <a:ext cx="11274552" cy="274320"/>
          </a:xfrm>
          <a:prstGeom prst="rect">
            <a:avLst/>
          </a:prstGeom>
          <a:noFill/>
          <a:ln/>
        </p:spPr>
        <p:txBody>
          <a:bodyPr wrap="square" lIns="0" tIns="0" rIns="0" bIns="0" rtlCol="0" anchor="t"/>
          <a:lstStyle/>
          <a:p>
            <a:pPr indent="0" marL="0">
              <a:buNone/>
            </a:pPr>
            <a:r>
              <a:rPr lang="en-US" sz="800" i="1" dirty="0">
                <a:solidFill>
                  <a:srgbClr val="595959"/>
                </a:solidFill>
                <a:latin typeface="Arial" pitchFamily="34" charset="0"/>
                <a:ea typeface="Arial" pitchFamily="34" charset="-122"/>
                <a:cs typeface="Arial" pitchFamily="34" charset="-120"/>
              </a:rPr>
              <a:t>Sources: Counterpoint (foundry, HBM); TSMC; Trading Economics / TWSE; TrendForce (DRAM, range midpoints); Siblis (P/E, 1 Jul 2026); SEMI (14 Jul 2026); WSTS (2025 actual $795.6bn; 2024 implied; 2026–27 Spring 2026 forecast); company reports and guidance midpoints (capex; Microsoft 2025 calendar-year estimate); White House Proclamation 11002.</a:t>
            </a:r>
            <a:endParaRPr lang="en-US" sz="800" dirty="0"/>
          </a:p>
        </p:txBody>
      </p:sp>
      <p:sp>
        <p:nvSpPr>
          <p:cNvPr id="40" name="Shape 32"/>
          <p:cNvSpPr/>
          <p:nvPr/>
        </p:nvSpPr>
        <p:spPr>
          <a:xfrm>
            <a:off x="457200" y="5650992"/>
            <a:ext cx="11274552" cy="502920"/>
          </a:xfrm>
          <a:prstGeom prst="rect">
            <a:avLst/>
          </a:prstGeom>
          <a:solidFill>
            <a:srgbClr val="2C5F82"/>
          </a:solidFill>
          <a:ln w="12700">
            <a:solidFill>
              <a:srgbClr val="2C5F82"/>
            </a:solidFill>
            <a:prstDash val="solid"/>
          </a:ln>
        </p:spPr>
      </p:sp>
      <p:sp>
        <p:nvSpPr>
          <p:cNvPr id="41" name="Text 33"/>
          <p:cNvSpPr txBox="1"/>
          <p:nvPr/>
        </p:nvSpPr>
        <p:spPr>
          <a:xfrm>
            <a:off x="594360" y="5650992"/>
            <a:ext cx="11000232" cy="50292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Whichever AI model or company wins, it needs Taiwan's chips, Korea's memory and Japan's tools.</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J.P. Morgan's 2026 Outlook: the AI moat is real, and so are its cracks</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Shape 3"/>
          <p:cNvSpPr/>
          <p:nvPr/>
        </p:nvSpPr>
        <p:spPr>
          <a:xfrm>
            <a:off x="1005840" y="6364224"/>
            <a:ext cx="2514600" cy="45720"/>
          </a:xfrm>
          <a:prstGeom prst="rect">
            <a:avLst/>
          </a:prstGeom>
          <a:solidFill>
            <a:srgbClr val="2C5F82"/>
          </a:solidFill>
          <a:ln w="12700">
            <a:solidFill>
              <a:srgbClr val="2C5F82"/>
            </a:solidFill>
            <a:prstDash val="solid"/>
          </a:ln>
        </p:spPr>
      </p:sp>
      <p:sp>
        <p:nvSpPr>
          <p:cNvPr id="6" name="Text 4"/>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ANALYSIS</a:t>
            </a:r>
            <a:endParaRPr lang="en-US" sz="1200" dirty="0"/>
          </a:p>
        </p:txBody>
      </p:sp>
      <p:sp>
        <p:nvSpPr>
          <p:cNvPr id="7" name="Text 5"/>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STRATEGY</a:t>
            </a:r>
            <a:endParaRPr lang="en-US" sz="1200" dirty="0"/>
          </a:p>
        </p:txBody>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APPENDIX</a:t>
            </a:r>
            <a:endParaRPr lang="en-US" sz="1200" dirty="0"/>
          </a:p>
        </p:txBody>
      </p:sp>
      <p:sp>
        <p:nvSpPr>
          <p:cNvPr id="9" name="Text 7"/>
          <p:cNvSpPr txBox="1"/>
          <p:nvPr/>
        </p:nvSpPr>
        <p:spPr>
          <a:xfrm>
            <a:off x="457200" y="941832"/>
            <a:ext cx="11247120" cy="274320"/>
          </a:xfrm>
          <a:prstGeom prst="rect">
            <a:avLst/>
          </a:prstGeom>
          <a:noFill/>
          <a:ln/>
        </p:spPr>
        <p:txBody>
          <a:bodyPr wrap="square" lIns="0" tIns="0" rIns="0" bIns="0" rtlCol="0" anchor="t"/>
          <a:lstStyle/>
          <a:p>
            <a:pPr indent="0" marL="0">
              <a:buNone/>
            </a:pPr>
            <a:r>
              <a:rPr lang="en-US" sz="1100" i="1" dirty="0">
                <a:solidFill>
                  <a:srgbClr val="595959"/>
                </a:solidFill>
                <a:latin typeface="Arial" pitchFamily="34" charset="0"/>
                <a:ea typeface="Arial" pitchFamily="34" charset="-122"/>
                <a:cs typeface="Arial" pitchFamily="34" charset="-120"/>
              </a:rPr>
              <a:t>"Smothering Heights: is the largest moat in market history indestructible?" (M. Cembalest, J.P. Morgan Asset &amp; Wealth Management, 1 Jan 2026)</a:t>
            </a:r>
            <a:endParaRPr lang="en-US" sz="1100" dirty="0"/>
          </a:p>
        </p:txBody>
      </p:sp>
      <p:sp>
        <p:nvSpPr>
          <p:cNvPr id="10" name="Shape 8"/>
          <p:cNvSpPr/>
          <p:nvPr/>
        </p:nvSpPr>
        <p:spPr>
          <a:xfrm>
            <a:off x="457200" y="1280160"/>
            <a:ext cx="5486400" cy="384048"/>
          </a:xfrm>
          <a:prstGeom prst="rect">
            <a:avLst/>
          </a:prstGeom>
          <a:solidFill>
            <a:srgbClr val="2C5F82"/>
          </a:solidFill>
          <a:ln w="12700">
            <a:solidFill>
              <a:srgbClr val="2C5F82"/>
            </a:solidFill>
            <a:prstDash val="solid"/>
          </a:ln>
        </p:spPr>
      </p:sp>
      <p:sp>
        <p:nvSpPr>
          <p:cNvPr id="11" name="Text 9"/>
          <p:cNvSpPr txBox="1"/>
          <p:nvPr/>
        </p:nvSpPr>
        <p:spPr>
          <a:xfrm>
            <a:off x="457200" y="1280160"/>
            <a:ext cx="5486400"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The theme is the market</a:t>
            </a:r>
            <a:endParaRPr lang="en-US" sz="1400" dirty="0"/>
          </a:p>
        </p:txBody>
      </p:sp>
      <p:graphicFrame>
        <p:nvGraphicFramePr>
          <p:cNvPr id="12" name="Chart 0" descr=""/>
          <p:cNvGraphicFramePr/>
          <p:nvPr/>
        </p:nvGraphicFramePr>
        <p:xfrm>
          <a:off x="457200" y="1719072"/>
          <a:ext cx="5486400" cy="1828800"/>
        </p:xfrm>
        <a:graphic xmlns:a="http://schemas.openxmlformats.org/drawingml/2006/main">
          <a:graphicData uri="http://schemas.openxmlformats.org/drawingml/2006/chart">
            <c:chart xmlns:c="http://schemas.openxmlformats.org/drawingml/2006/chart" r:id="rId1"/>
          </a:graphicData>
        </a:graphic>
      </p:graphicFrame>
      <p:sp>
        <p:nvSpPr>
          <p:cNvPr id="13" name="Shape 10"/>
          <p:cNvSpPr/>
          <p:nvPr/>
        </p:nvSpPr>
        <p:spPr>
          <a:xfrm>
            <a:off x="457200" y="3639312"/>
            <a:ext cx="5486400" cy="493776"/>
          </a:xfrm>
          <a:prstGeom prst="rect">
            <a:avLst/>
          </a:prstGeom>
          <a:solidFill>
            <a:srgbClr val="F2F2F2"/>
          </a:solidFill>
          <a:ln w="12700">
            <a:solidFill>
              <a:srgbClr val="F2F2F2"/>
            </a:solidFill>
            <a:prstDash val="solid"/>
          </a:ln>
        </p:spPr>
      </p:sp>
      <p:sp>
        <p:nvSpPr>
          <p:cNvPr id="14" name="Text 11"/>
          <p:cNvSpPr txBox="1"/>
          <p:nvPr/>
        </p:nvSpPr>
        <p:spPr>
          <a:xfrm>
            <a:off x="548640" y="3639312"/>
            <a:ext cx="1600200" cy="493776"/>
          </a:xfrm>
          <a:prstGeom prst="rect">
            <a:avLst/>
          </a:prstGeom>
          <a:noFill/>
          <a:ln/>
        </p:spPr>
        <p:txBody>
          <a:bodyPr wrap="square" lIns="0" tIns="0" rIns="0" bIns="0" rtlCol="0" anchor="ctr"/>
          <a:lstStyle/>
          <a:p>
            <a:pPr algn="ctr" indent="0" marL="0">
              <a:buNone/>
            </a:pPr>
            <a:r>
              <a:rPr lang="en-US" sz="1500" b="1" dirty="0">
                <a:solidFill>
                  <a:srgbClr val="2C5F82"/>
                </a:solidFill>
                <a:latin typeface="Arial" pitchFamily="34" charset="0"/>
                <a:ea typeface="Arial" pitchFamily="34" charset="-122"/>
                <a:cs typeface="Arial" pitchFamily="34" charset="-120"/>
              </a:rPr>
              <a:t>$3trn → $18trn</a:t>
            </a:r>
            <a:endParaRPr lang="en-US" sz="1500" dirty="0"/>
          </a:p>
        </p:txBody>
      </p:sp>
      <p:sp>
        <p:nvSpPr>
          <p:cNvPr id="15" name="Text 12"/>
          <p:cNvSpPr txBox="1"/>
          <p:nvPr/>
        </p:nvSpPr>
        <p:spPr>
          <a:xfrm>
            <a:off x="2240280" y="3639312"/>
            <a:ext cx="3611880" cy="493776"/>
          </a:xfrm>
          <a:prstGeom prst="rect">
            <a:avLst/>
          </a:prstGeom>
          <a:noFill/>
          <a:ln/>
        </p:spPr>
        <p:txBody>
          <a:bodyPr wrap="square" lIns="0" tIns="0" rIns="0" bIns="0" rtlCol="0" anchor="ctr"/>
          <a:lstStyle/>
          <a:p>
            <a:pPr indent="0" marL="0">
              <a:buNone/>
            </a:pPr>
            <a:r>
              <a:rPr lang="en-US" sz="950" dirty="0">
                <a:solidFill>
                  <a:srgbClr val="262626"/>
                </a:solidFill>
                <a:latin typeface="Arial" pitchFamily="34" charset="0"/>
                <a:ea typeface="Arial" pitchFamily="34" charset="-122"/>
                <a:cs typeface="Arial" pitchFamily="34" charset="-120"/>
              </a:rPr>
              <a:t>Market cap of 4 hyperscalers + NVIDIA, TSMC, ASML, AMD in ~7 years: ~20% of MSCI World</a:t>
            </a:r>
            <a:endParaRPr lang="en-US" sz="950" dirty="0"/>
          </a:p>
        </p:txBody>
      </p:sp>
      <p:sp>
        <p:nvSpPr>
          <p:cNvPr id="16" name="Shape 13"/>
          <p:cNvSpPr/>
          <p:nvPr/>
        </p:nvSpPr>
        <p:spPr>
          <a:xfrm>
            <a:off x="457200" y="4187952"/>
            <a:ext cx="5486400" cy="493776"/>
          </a:xfrm>
          <a:prstGeom prst="rect">
            <a:avLst/>
          </a:prstGeom>
          <a:solidFill>
            <a:srgbClr val="FFFFFF"/>
          </a:solidFill>
          <a:ln w="12700">
            <a:solidFill>
              <a:srgbClr val="F2F2F2"/>
            </a:solidFill>
            <a:prstDash val="solid"/>
          </a:ln>
        </p:spPr>
      </p:sp>
      <p:sp>
        <p:nvSpPr>
          <p:cNvPr id="17" name="Text 14"/>
          <p:cNvSpPr txBox="1"/>
          <p:nvPr/>
        </p:nvSpPr>
        <p:spPr>
          <a:xfrm>
            <a:off x="548640" y="4187952"/>
            <a:ext cx="1600200" cy="493776"/>
          </a:xfrm>
          <a:prstGeom prst="rect">
            <a:avLst/>
          </a:prstGeom>
          <a:noFill/>
          <a:ln/>
        </p:spPr>
        <p:txBody>
          <a:bodyPr wrap="square" lIns="0" tIns="0" rIns="0" bIns="0" rtlCol="0" anchor="ctr"/>
          <a:lstStyle/>
          <a:p>
            <a:pPr algn="ctr" indent="0" marL="0">
              <a:buNone/>
            </a:pPr>
            <a:r>
              <a:rPr lang="en-US" sz="1500" b="1" dirty="0">
                <a:solidFill>
                  <a:srgbClr val="2C5F82"/>
                </a:solidFill>
                <a:latin typeface="Arial" pitchFamily="34" charset="0"/>
                <a:ea typeface="Arial" pitchFamily="34" charset="-122"/>
                <a:cs typeface="Arial" pitchFamily="34" charset="-120"/>
              </a:rPr>
              <a:t>65–75%</a:t>
            </a:r>
            <a:endParaRPr lang="en-US" sz="1500" dirty="0"/>
          </a:p>
        </p:txBody>
      </p:sp>
      <p:sp>
        <p:nvSpPr>
          <p:cNvPr id="18" name="Text 15"/>
          <p:cNvSpPr txBox="1"/>
          <p:nvPr/>
        </p:nvSpPr>
        <p:spPr>
          <a:xfrm>
            <a:off x="2240280" y="4187952"/>
            <a:ext cx="3611880" cy="493776"/>
          </a:xfrm>
          <a:prstGeom prst="rect">
            <a:avLst/>
          </a:prstGeom>
          <a:noFill/>
          <a:ln/>
        </p:spPr>
        <p:txBody>
          <a:bodyPr wrap="square" lIns="0" tIns="0" rIns="0" bIns="0" rtlCol="0" anchor="ctr"/>
          <a:lstStyle/>
          <a:p>
            <a:pPr indent="0" marL="0">
              <a:buNone/>
            </a:pPr>
            <a:r>
              <a:rPr lang="en-US" sz="950" dirty="0">
                <a:solidFill>
                  <a:srgbClr val="262626"/>
                </a:solidFill>
                <a:latin typeface="Arial" pitchFamily="34" charset="0"/>
                <a:ea typeface="Arial" pitchFamily="34" charset="-122"/>
                <a:cs typeface="Arial" pitchFamily="34" charset="-120"/>
              </a:rPr>
              <a:t>Share of S&amp;P 500 returns, profits and capex since Nov 2022 from 42 AI-linked stocks</a:t>
            </a:r>
            <a:endParaRPr lang="en-US" sz="950" dirty="0"/>
          </a:p>
        </p:txBody>
      </p:sp>
      <p:sp>
        <p:nvSpPr>
          <p:cNvPr id="19" name="Shape 16"/>
          <p:cNvSpPr/>
          <p:nvPr/>
        </p:nvSpPr>
        <p:spPr>
          <a:xfrm>
            <a:off x="457200" y="4736592"/>
            <a:ext cx="5486400" cy="493776"/>
          </a:xfrm>
          <a:prstGeom prst="rect">
            <a:avLst/>
          </a:prstGeom>
          <a:solidFill>
            <a:srgbClr val="F2F2F2"/>
          </a:solidFill>
          <a:ln w="12700">
            <a:solidFill>
              <a:srgbClr val="F2F2F2"/>
            </a:solidFill>
            <a:prstDash val="solid"/>
          </a:ln>
        </p:spPr>
      </p:sp>
      <p:sp>
        <p:nvSpPr>
          <p:cNvPr id="20" name="Text 17"/>
          <p:cNvSpPr txBox="1"/>
          <p:nvPr/>
        </p:nvSpPr>
        <p:spPr>
          <a:xfrm>
            <a:off x="548640" y="4736592"/>
            <a:ext cx="1600200" cy="493776"/>
          </a:xfrm>
          <a:prstGeom prst="rect">
            <a:avLst/>
          </a:prstGeom>
          <a:noFill/>
          <a:ln/>
        </p:spPr>
        <p:txBody>
          <a:bodyPr wrap="square" lIns="0" tIns="0" rIns="0" bIns="0" rtlCol="0" anchor="ctr"/>
          <a:lstStyle/>
          <a:p>
            <a:pPr algn="ctr" indent="0" marL="0">
              <a:buNone/>
            </a:pPr>
            <a:r>
              <a:rPr lang="en-US" sz="1500" b="1" dirty="0">
                <a:solidFill>
                  <a:srgbClr val="2C5F82"/>
                </a:solidFill>
                <a:latin typeface="Arial" pitchFamily="34" charset="0"/>
                <a:ea typeface="Arial" pitchFamily="34" charset="-122"/>
                <a:cs typeface="Arial" pitchFamily="34" charset="-120"/>
              </a:rPr>
              <a:t>8 of 10</a:t>
            </a:r>
            <a:endParaRPr lang="en-US" sz="1500" dirty="0"/>
          </a:p>
        </p:txBody>
      </p:sp>
      <p:sp>
        <p:nvSpPr>
          <p:cNvPr id="21" name="Text 18"/>
          <p:cNvSpPr txBox="1"/>
          <p:nvPr/>
        </p:nvSpPr>
        <p:spPr>
          <a:xfrm>
            <a:off x="2240280" y="4736592"/>
            <a:ext cx="3611880" cy="493776"/>
          </a:xfrm>
          <a:prstGeom prst="rect">
            <a:avLst/>
          </a:prstGeom>
          <a:noFill/>
          <a:ln/>
        </p:spPr>
        <p:txBody>
          <a:bodyPr wrap="square" lIns="0" tIns="0" rIns="0" bIns="0" rtlCol="0" anchor="ctr"/>
          <a:lstStyle/>
          <a:p>
            <a:pPr indent="0" marL="0">
              <a:buNone/>
            </a:pPr>
            <a:r>
              <a:rPr lang="en-US" sz="950" dirty="0">
                <a:solidFill>
                  <a:srgbClr val="262626"/>
                </a:solidFill>
                <a:latin typeface="Arial" pitchFamily="34" charset="0"/>
                <a:ea typeface="Arial" pitchFamily="34" charset="-122"/>
                <a:cs typeface="Arial" pitchFamily="34" charset="-120"/>
              </a:rPr>
              <a:t>Of the world's 10 largest companies depend heavily on TSMC supply</a:t>
            </a:r>
            <a:endParaRPr lang="en-US" sz="950" dirty="0"/>
          </a:p>
        </p:txBody>
      </p:sp>
      <p:sp>
        <p:nvSpPr>
          <p:cNvPr id="22" name="Shape 19"/>
          <p:cNvSpPr/>
          <p:nvPr/>
        </p:nvSpPr>
        <p:spPr>
          <a:xfrm>
            <a:off x="6245352" y="1280160"/>
            <a:ext cx="5486400" cy="384048"/>
          </a:xfrm>
          <a:prstGeom prst="rect">
            <a:avLst/>
          </a:prstGeom>
          <a:solidFill>
            <a:srgbClr val="2C5F82"/>
          </a:solidFill>
          <a:ln w="12700">
            <a:solidFill>
              <a:srgbClr val="2C5F82"/>
            </a:solidFill>
            <a:prstDash val="solid"/>
          </a:ln>
        </p:spPr>
      </p:sp>
      <p:sp>
        <p:nvSpPr>
          <p:cNvPr id="23" name="Text 20"/>
          <p:cNvSpPr txBox="1"/>
          <p:nvPr/>
        </p:nvSpPr>
        <p:spPr>
          <a:xfrm>
            <a:off x="6245352" y="1280160"/>
            <a:ext cx="5486400"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…but the moat has cracks</a:t>
            </a:r>
            <a:endParaRPr lang="en-US" sz="1400" dirty="0"/>
          </a:p>
        </p:txBody>
      </p:sp>
      <p:graphicFrame>
        <p:nvGraphicFramePr>
          <p:cNvPr id="24" name="Chart 1" descr=""/>
          <p:cNvGraphicFramePr/>
          <p:nvPr/>
        </p:nvGraphicFramePr>
        <p:xfrm>
          <a:off x="6245352" y="1719072"/>
          <a:ext cx="5486400" cy="1828800"/>
        </p:xfrm>
        <a:graphic xmlns:a="http://schemas.openxmlformats.org/drawingml/2006/main">
          <a:graphicData uri="http://schemas.openxmlformats.org/drawingml/2006/chart">
            <c:chart xmlns:c="http://schemas.openxmlformats.org/drawingml/2006/chart" r:id="rId2"/>
          </a:graphicData>
        </a:graphic>
      </p:graphicFrame>
      <p:sp>
        <p:nvSpPr>
          <p:cNvPr id="25" name="Shape 21"/>
          <p:cNvSpPr/>
          <p:nvPr/>
        </p:nvSpPr>
        <p:spPr>
          <a:xfrm>
            <a:off x="6245352" y="3639312"/>
            <a:ext cx="5486400" cy="493776"/>
          </a:xfrm>
          <a:prstGeom prst="rect">
            <a:avLst/>
          </a:prstGeom>
          <a:solidFill>
            <a:srgbClr val="F2F2F2"/>
          </a:solidFill>
          <a:ln w="12700">
            <a:solidFill>
              <a:srgbClr val="F2F2F2"/>
            </a:solidFill>
            <a:prstDash val="solid"/>
          </a:ln>
        </p:spPr>
      </p:sp>
      <p:sp>
        <p:nvSpPr>
          <p:cNvPr id="26" name="Text 22"/>
          <p:cNvSpPr txBox="1"/>
          <p:nvPr/>
        </p:nvSpPr>
        <p:spPr>
          <a:xfrm>
            <a:off x="6336792" y="3639312"/>
            <a:ext cx="1600200" cy="493776"/>
          </a:xfrm>
          <a:prstGeom prst="rect">
            <a:avLst/>
          </a:prstGeom>
          <a:noFill/>
          <a:ln/>
        </p:spPr>
        <p:txBody>
          <a:bodyPr wrap="square" lIns="0" tIns="0" rIns="0" bIns="0" rtlCol="0" anchor="ctr"/>
          <a:lstStyle/>
          <a:p>
            <a:pPr algn="ctr" indent="0" marL="0">
              <a:buNone/>
            </a:pPr>
            <a:r>
              <a:rPr lang="en-US" sz="1500" b="1" dirty="0">
                <a:solidFill>
                  <a:srgbClr val="B23B3B"/>
                </a:solidFill>
                <a:latin typeface="Arial" pitchFamily="34" charset="0"/>
                <a:ea typeface="Arial" pitchFamily="34" charset="-122"/>
                <a:cs typeface="Arial" pitchFamily="34" charset="-120"/>
              </a:rPr>
              <a:t>10–11 days</a:t>
            </a:r>
            <a:endParaRPr lang="en-US" sz="1500" dirty="0"/>
          </a:p>
        </p:txBody>
      </p:sp>
      <p:sp>
        <p:nvSpPr>
          <p:cNvPr id="27" name="Text 23"/>
          <p:cNvSpPr txBox="1"/>
          <p:nvPr/>
        </p:nvSpPr>
        <p:spPr>
          <a:xfrm>
            <a:off x="8028432" y="3639312"/>
            <a:ext cx="3611880" cy="493776"/>
          </a:xfrm>
          <a:prstGeom prst="rect">
            <a:avLst/>
          </a:prstGeom>
          <a:noFill/>
          <a:ln/>
        </p:spPr>
        <p:txBody>
          <a:bodyPr wrap="square" lIns="0" tIns="0" rIns="0" bIns="0" rtlCol="0" anchor="ctr"/>
          <a:lstStyle/>
          <a:p>
            <a:pPr indent="0" marL="0">
              <a:buNone/>
            </a:pPr>
            <a:r>
              <a:rPr lang="en-US" sz="950" dirty="0">
                <a:solidFill>
                  <a:srgbClr val="262626"/>
                </a:solidFill>
                <a:latin typeface="Arial" pitchFamily="34" charset="0"/>
                <a:ea typeface="Arial" pitchFamily="34" charset="-122"/>
                <a:cs typeface="Arial" pitchFamily="34" charset="-120"/>
              </a:rPr>
              <a:t>Taiwan's gas storage; LNG is 40% of its power and 90% of energy is imported: "the most blockade-sensitive advanced economy"</a:t>
            </a:r>
            <a:endParaRPr lang="en-US" sz="950" dirty="0"/>
          </a:p>
        </p:txBody>
      </p:sp>
      <p:sp>
        <p:nvSpPr>
          <p:cNvPr id="28" name="Shape 24"/>
          <p:cNvSpPr/>
          <p:nvPr/>
        </p:nvSpPr>
        <p:spPr>
          <a:xfrm>
            <a:off x="6245352" y="4187952"/>
            <a:ext cx="5486400" cy="493776"/>
          </a:xfrm>
          <a:prstGeom prst="rect">
            <a:avLst/>
          </a:prstGeom>
          <a:solidFill>
            <a:srgbClr val="FFFFFF"/>
          </a:solidFill>
          <a:ln w="12700">
            <a:solidFill>
              <a:srgbClr val="F2F2F2"/>
            </a:solidFill>
            <a:prstDash val="solid"/>
          </a:ln>
        </p:spPr>
      </p:sp>
      <p:sp>
        <p:nvSpPr>
          <p:cNvPr id="29" name="Text 25"/>
          <p:cNvSpPr txBox="1"/>
          <p:nvPr/>
        </p:nvSpPr>
        <p:spPr>
          <a:xfrm>
            <a:off x="6336792" y="4187952"/>
            <a:ext cx="1600200" cy="493776"/>
          </a:xfrm>
          <a:prstGeom prst="rect">
            <a:avLst/>
          </a:prstGeom>
          <a:noFill/>
          <a:ln/>
        </p:spPr>
        <p:txBody>
          <a:bodyPr wrap="square" lIns="0" tIns="0" rIns="0" bIns="0" rtlCol="0" anchor="ctr"/>
          <a:lstStyle/>
          <a:p>
            <a:pPr algn="ctr" indent="0" marL="0">
              <a:buNone/>
            </a:pPr>
            <a:r>
              <a:rPr lang="en-US" sz="1500" b="1" dirty="0">
                <a:solidFill>
                  <a:srgbClr val="B23B3B"/>
                </a:solidFill>
                <a:latin typeface="Arial" pitchFamily="34" charset="0"/>
                <a:ea typeface="Arial" pitchFamily="34" charset="-122"/>
                <a:cs typeface="Arial" pitchFamily="34" charset="-120"/>
              </a:rPr>
              <a:t>$1.3trn</a:t>
            </a:r>
            <a:endParaRPr lang="en-US" sz="1500" dirty="0"/>
          </a:p>
        </p:txBody>
      </p:sp>
      <p:sp>
        <p:nvSpPr>
          <p:cNvPr id="30" name="Text 26"/>
          <p:cNvSpPr txBox="1"/>
          <p:nvPr/>
        </p:nvSpPr>
        <p:spPr>
          <a:xfrm>
            <a:off x="8028432" y="4187952"/>
            <a:ext cx="3611880" cy="493776"/>
          </a:xfrm>
          <a:prstGeom prst="rect">
            <a:avLst/>
          </a:prstGeom>
          <a:noFill/>
          <a:ln/>
        </p:spPr>
        <p:txBody>
          <a:bodyPr wrap="square" lIns="0" tIns="0" rIns="0" bIns="0" rtlCol="0" anchor="ctr"/>
          <a:lstStyle/>
          <a:p>
            <a:pPr indent="0" marL="0">
              <a:buNone/>
            </a:pPr>
            <a:r>
              <a:rPr lang="en-US" sz="950" dirty="0">
                <a:solidFill>
                  <a:srgbClr val="262626"/>
                </a:solidFill>
                <a:latin typeface="Arial" pitchFamily="34" charset="0"/>
                <a:ea typeface="Arial" pitchFamily="34" charset="-122"/>
                <a:cs typeface="Arial" pitchFamily="34" charset="-120"/>
              </a:rPr>
              <a:t>Hyperscaler capex + R&amp;D since 2022: risk of a "Metaverse moment" (Mag 7 fell 50% in 2022)</a:t>
            </a:r>
            <a:endParaRPr lang="en-US" sz="950" dirty="0"/>
          </a:p>
        </p:txBody>
      </p:sp>
      <p:sp>
        <p:nvSpPr>
          <p:cNvPr id="31" name="Shape 27"/>
          <p:cNvSpPr/>
          <p:nvPr/>
        </p:nvSpPr>
        <p:spPr>
          <a:xfrm>
            <a:off x="6245352" y="4736592"/>
            <a:ext cx="5486400" cy="493776"/>
          </a:xfrm>
          <a:prstGeom prst="rect">
            <a:avLst/>
          </a:prstGeom>
          <a:solidFill>
            <a:srgbClr val="F2F2F2"/>
          </a:solidFill>
          <a:ln w="12700">
            <a:solidFill>
              <a:srgbClr val="F2F2F2"/>
            </a:solidFill>
            <a:prstDash val="solid"/>
          </a:ln>
        </p:spPr>
      </p:sp>
      <p:sp>
        <p:nvSpPr>
          <p:cNvPr id="32" name="Text 28"/>
          <p:cNvSpPr txBox="1"/>
          <p:nvPr/>
        </p:nvSpPr>
        <p:spPr>
          <a:xfrm>
            <a:off x="6336792" y="4736592"/>
            <a:ext cx="1600200" cy="493776"/>
          </a:xfrm>
          <a:prstGeom prst="rect">
            <a:avLst/>
          </a:prstGeom>
          <a:noFill/>
          <a:ln/>
        </p:spPr>
        <p:txBody>
          <a:bodyPr wrap="square" lIns="0" tIns="0" rIns="0" bIns="0" rtlCol="0" anchor="ctr"/>
          <a:lstStyle/>
          <a:p>
            <a:pPr algn="ctr" indent="0" marL="0">
              <a:buNone/>
            </a:pPr>
            <a:r>
              <a:rPr lang="en-US" sz="1500" b="1" dirty="0">
                <a:solidFill>
                  <a:srgbClr val="B23B3B"/>
                </a:solidFill>
                <a:latin typeface="Arial" pitchFamily="34" charset="0"/>
                <a:ea typeface="Arial" pitchFamily="34" charset="-122"/>
                <a:cs typeface="Arial" pitchFamily="34" charset="-120"/>
              </a:rPr>
              <a:t>−10–15%</a:t>
            </a:r>
            <a:endParaRPr lang="en-US" sz="1500" dirty="0"/>
          </a:p>
        </p:txBody>
      </p:sp>
      <p:sp>
        <p:nvSpPr>
          <p:cNvPr id="33" name="Text 29"/>
          <p:cNvSpPr txBox="1"/>
          <p:nvPr/>
        </p:nvSpPr>
        <p:spPr>
          <a:xfrm>
            <a:off x="8028432" y="4736592"/>
            <a:ext cx="3611880" cy="493776"/>
          </a:xfrm>
          <a:prstGeom prst="rect">
            <a:avLst/>
          </a:prstGeom>
          <a:noFill/>
          <a:ln/>
        </p:spPr>
        <p:txBody>
          <a:bodyPr wrap="square" lIns="0" tIns="0" rIns="0" bIns="0" rtlCol="0" anchor="ctr"/>
          <a:lstStyle/>
          <a:p>
            <a:pPr indent="0" marL="0">
              <a:buNone/>
            </a:pPr>
            <a:r>
              <a:rPr lang="en-US" sz="950" dirty="0">
                <a:solidFill>
                  <a:srgbClr val="262626"/>
                </a:solidFill>
                <a:latin typeface="Arial" pitchFamily="34" charset="0"/>
                <a:ea typeface="Arial" pitchFamily="34" charset="-122"/>
                <a:cs typeface="Arial" pitchFamily="34" charset="-120"/>
              </a:rPr>
              <a:t>JPM's base case: a correction at some point in 2026, then markets end the year higher</a:t>
            </a:r>
            <a:endParaRPr lang="en-US" sz="950" dirty="0"/>
          </a:p>
        </p:txBody>
      </p:sp>
      <p:sp>
        <p:nvSpPr>
          <p:cNvPr id="34" name="Text 30"/>
          <p:cNvSpPr txBox="1"/>
          <p:nvPr/>
        </p:nvSpPr>
        <p:spPr>
          <a:xfrm>
            <a:off x="457200" y="5358384"/>
            <a:ext cx="11274552" cy="274320"/>
          </a:xfrm>
          <a:prstGeom prst="rect">
            <a:avLst/>
          </a:prstGeom>
          <a:noFill/>
          <a:ln/>
        </p:spPr>
        <p:txBody>
          <a:bodyPr wrap="square" lIns="0" tIns="0" rIns="0" bIns="0" rtlCol="0" anchor="t"/>
          <a:lstStyle/>
          <a:p>
            <a:pPr indent="0" marL="0">
              <a:buNone/>
            </a:pPr>
            <a:r>
              <a:rPr lang="en-US" sz="800" i="1" dirty="0">
                <a:solidFill>
                  <a:srgbClr val="595959"/>
                </a:solidFill>
                <a:latin typeface="Arial" pitchFamily="34" charset="0"/>
                <a:ea typeface="Arial" pitchFamily="34" charset="-122"/>
                <a:cs typeface="Arial" pitchFamily="34" charset="-120"/>
              </a:rPr>
              <a:t>Source: J.P. Morgan Asset &amp; Wealth Management, Eye on the Market, 2026 Outlook "Smothering Heights" (M. Cembalest, 1 Jan 2026), pp. 1–2, 7, 33–35, 46; underlying data Bloomberg, USITC, BP, ROC Taiwan, Global Guardian. Reliance values read from JPM's chart (approximate).</a:t>
            </a:r>
            <a:endParaRPr lang="en-US" sz="800" dirty="0"/>
          </a:p>
        </p:txBody>
      </p:sp>
      <p:sp>
        <p:nvSpPr>
          <p:cNvPr id="35" name="Shape 31"/>
          <p:cNvSpPr/>
          <p:nvPr/>
        </p:nvSpPr>
        <p:spPr>
          <a:xfrm>
            <a:off x="457200" y="5650992"/>
            <a:ext cx="11274552" cy="502920"/>
          </a:xfrm>
          <a:prstGeom prst="rect">
            <a:avLst/>
          </a:prstGeom>
          <a:solidFill>
            <a:srgbClr val="2C5F82"/>
          </a:solidFill>
          <a:ln w="12700">
            <a:solidFill>
              <a:srgbClr val="2C5F82"/>
            </a:solidFill>
            <a:prstDash val="solid"/>
          </a:ln>
        </p:spPr>
      </p:sp>
      <p:sp>
        <p:nvSpPr>
          <p:cNvPr id="36" name="Text 32"/>
          <p:cNvSpPr txBox="1"/>
          <p:nvPr/>
        </p:nvSpPr>
        <p:spPr>
          <a:xfrm>
            <a:off x="594360" y="5650992"/>
            <a:ext cx="11000232" cy="50292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J.P. Morgan's view: the AI moat drives the market, but concentration, Taiwan and capex payback are the key risks for 2026.</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Investment thesis 2: A strong theme on a fragile path</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Shape 3"/>
          <p:cNvSpPr/>
          <p:nvPr/>
        </p:nvSpPr>
        <p:spPr>
          <a:xfrm>
            <a:off x="1005840" y="6364224"/>
            <a:ext cx="2514600" cy="45720"/>
          </a:xfrm>
          <a:prstGeom prst="rect">
            <a:avLst/>
          </a:prstGeom>
          <a:solidFill>
            <a:srgbClr val="2C5F82"/>
          </a:solidFill>
          <a:ln w="12700">
            <a:solidFill>
              <a:srgbClr val="2C5F82"/>
            </a:solidFill>
            <a:prstDash val="solid"/>
          </a:ln>
        </p:spPr>
      </p:sp>
      <p:sp>
        <p:nvSpPr>
          <p:cNvPr id="6" name="Text 4"/>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ANALYSIS</a:t>
            </a:r>
            <a:endParaRPr lang="en-US" sz="1200" dirty="0"/>
          </a:p>
        </p:txBody>
      </p:sp>
      <p:sp>
        <p:nvSpPr>
          <p:cNvPr id="7" name="Text 5"/>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STRATEGY</a:t>
            </a:r>
            <a:endParaRPr lang="en-US" sz="1200" dirty="0"/>
          </a:p>
        </p:txBody>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APPENDIX</a:t>
            </a:r>
            <a:endParaRPr lang="en-US" sz="1200" dirty="0"/>
          </a:p>
        </p:txBody>
      </p:sp>
      <p:sp>
        <p:nvSpPr>
          <p:cNvPr id="9" name="Shape 7"/>
          <p:cNvSpPr/>
          <p:nvPr/>
        </p:nvSpPr>
        <p:spPr>
          <a:xfrm>
            <a:off x="457200" y="1051560"/>
            <a:ext cx="5486400" cy="384048"/>
          </a:xfrm>
          <a:prstGeom prst="rect">
            <a:avLst/>
          </a:prstGeom>
          <a:solidFill>
            <a:srgbClr val="2C5F82"/>
          </a:solidFill>
          <a:ln w="12700">
            <a:solidFill>
              <a:srgbClr val="2C5F82"/>
            </a:solidFill>
            <a:prstDash val="solid"/>
          </a:ln>
        </p:spPr>
      </p:sp>
      <p:sp>
        <p:nvSpPr>
          <p:cNvPr id="10" name="Text 8"/>
          <p:cNvSpPr txBox="1"/>
          <p:nvPr/>
        </p:nvSpPr>
        <p:spPr>
          <a:xfrm>
            <a:off x="457200" y="1051560"/>
            <a:ext cx="5486400"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Economic aspect: growth is structural, the path is not</a:t>
            </a:r>
            <a:endParaRPr lang="en-US" sz="1400" dirty="0"/>
          </a:p>
        </p:txBody>
      </p:sp>
      <p:sp>
        <p:nvSpPr>
          <p:cNvPr id="11" name="Text 9"/>
          <p:cNvSpPr txBox="1"/>
          <p:nvPr/>
        </p:nvSpPr>
        <p:spPr>
          <a:xfrm>
            <a:off x="457200" y="1481328"/>
            <a:ext cx="5486400" cy="274320"/>
          </a:xfrm>
          <a:prstGeom prst="rect">
            <a:avLst/>
          </a:prstGeom>
          <a:noFill/>
          <a:ln/>
        </p:spPr>
        <p:txBody>
          <a:bodyPr wrap="square" lIns="0" tIns="0" rIns="0" bIns="0" rtlCol="0" anchor="t"/>
          <a:lstStyle/>
          <a:p>
            <a:pPr algn="ctr" indent="0" marL="0">
              <a:buNone/>
            </a:pPr>
            <a:r>
              <a:rPr lang="en-US" sz="1050" i="1" dirty="0">
                <a:solidFill>
                  <a:srgbClr val="595959"/>
                </a:solidFill>
                <a:latin typeface="Arial" pitchFamily="34" charset="0"/>
                <a:ea typeface="Arial" pitchFamily="34" charset="-122"/>
                <a:cs typeface="Arial" pitchFamily="34" charset="-120"/>
              </a:rPr>
              <a:t>A violent, concentrated and late-cycle equity market</a:t>
            </a:r>
            <a:endParaRPr lang="en-US" sz="1050" dirty="0"/>
          </a:p>
        </p:txBody>
      </p:sp>
      <p:graphicFrame>
        <p:nvGraphicFramePr>
          <p:cNvPr id="12" name="Chart 0" descr=""/>
          <p:cNvGraphicFramePr/>
          <p:nvPr/>
        </p:nvGraphicFramePr>
        <p:xfrm>
          <a:off x="457200" y="1783080"/>
          <a:ext cx="3429000" cy="1645920"/>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3977640" y="1810512"/>
            <a:ext cx="1920240" cy="1600200"/>
          </a:xfrm>
          <a:prstGeom prst="rect">
            <a:avLst/>
          </a:prstGeom>
          <a:noFill/>
          <a:ln/>
        </p:spPr>
        <p:txBody>
          <a:bodyPr wrap="square" lIns="0" tIns="0" rIns="0" bIns="0" rtlCol="0" anchor="t"/>
          <a:lstStyle/>
          <a:p>
            <a:pPr indent="0" marL="0">
              <a:spcAft>
                <a:spcPts val="200"/>
              </a:spcAft>
              <a:buNone/>
            </a:pPr>
            <a:r>
              <a:rPr lang="en-US" sz="900" b="1" dirty="0">
                <a:solidFill>
                  <a:srgbClr val="2C5F82"/>
                </a:solidFill>
                <a:latin typeface="Arial" pitchFamily="34" charset="0"/>
                <a:ea typeface="Arial" pitchFamily="34" charset="-122"/>
                <a:cs typeface="Arial" pitchFamily="34" charset="-120"/>
              </a:rPr>
              <a:t>Growth is structural…</a:t>
            </a:r>
            <a:endParaRPr lang="en-US" sz="900" dirty="0"/>
          </a:p>
          <a:p>
            <a:pPr indent="0" marL="0">
              <a:spcAft>
                <a:spcPts val="200"/>
              </a:spcAft>
              <a:buNone/>
            </a:pPr>
            <a:r>
              <a:rPr lang="en-US" sz="900" dirty="0">
                <a:solidFill>
                  <a:srgbClr val="262626"/>
                </a:solidFill>
                <a:latin typeface="Arial" pitchFamily="34" charset="0"/>
                <a:ea typeface="Arial" pitchFamily="34" charset="-122"/>
                <a:cs typeface="Arial" pitchFamily="34" charset="-120"/>
              </a:rPr>
              <a:t>Capex +77% and chip market +90% in 2026 (thesis 1).</a:t>
            </a:r>
            <a:endParaRPr lang="en-US" sz="900" dirty="0"/>
          </a:p>
          <a:p>
            <a:pPr indent="0" marL="0">
              <a:spcAft>
                <a:spcPts val="200"/>
              </a:spcAft>
              <a:buNone/>
            </a:pPr>
            <a:r>
              <a:rPr lang="en-US" sz="900" b="1" dirty="0">
                <a:solidFill>
                  <a:srgbClr val="B23B3B"/>
                </a:solidFill>
                <a:latin typeface="Arial" pitchFamily="34" charset="0"/>
                <a:ea typeface="Arial" pitchFamily="34" charset="-122"/>
                <a:cs typeface="Arial" pitchFamily="34" charset="-120"/>
              </a:rPr>
              <a:t>…but the path is violent</a:t>
            </a:r>
            <a:endParaRPr lang="en-US" sz="900" dirty="0"/>
          </a:p>
          <a:p>
            <a:pPr indent="0" marL="0">
              <a:spcAft>
                <a:spcPts val="200"/>
              </a:spcAft>
              <a:buNone/>
            </a:pPr>
            <a:r>
              <a:rPr lang="en-US" sz="900" dirty="0">
                <a:solidFill>
                  <a:srgbClr val="262626"/>
                </a:solidFill>
                <a:latin typeface="Arial" pitchFamily="34" charset="0"/>
                <a:ea typeface="Arial" pitchFamily="34" charset="-122"/>
                <a:cs typeface="Arial" pitchFamily="34" charset="-120"/>
              </a:rPr>
              <a:t>Down 10–25% in 2022, then 2–3× since. KOSPI fell 8.95% in a single day (13 Jul 2026).</a:t>
            </a:r>
            <a:endParaRPr lang="en-US" sz="900" dirty="0"/>
          </a:p>
        </p:txBody>
      </p:sp>
      <p:sp>
        <p:nvSpPr>
          <p:cNvPr id="14" name="Shape 11"/>
          <p:cNvSpPr/>
          <p:nvPr/>
        </p:nvSpPr>
        <p:spPr>
          <a:xfrm>
            <a:off x="457200" y="3474720"/>
            <a:ext cx="5486400" cy="786384"/>
          </a:xfrm>
          <a:prstGeom prst="rect">
            <a:avLst/>
          </a:prstGeom>
          <a:solidFill>
            <a:srgbClr val="F2F2F2"/>
          </a:solidFill>
          <a:ln w="12700">
            <a:solidFill>
              <a:srgbClr val="F2F2F2"/>
            </a:solidFill>
            <a:prstDash val="solid"/>
          </a:ln>
        </p:spPr>
      </p:sp>
      <p:sp>
        <p:nvSpPr>
          <p:cNvPr id="15" name="Shape 12"/>
          <p:cNvSpPr/>
          <p:nvPr/>
        </p:nvSpPr>
        <p:spPr>
          <a:xfrm>
            <a:off x="548640" y="3657600"/>
            <a:ext cx="384048" cy="384048"/>
          </a:xfrm>
          <a:prstGeom prst="ellipse">
            <a:avLst/>
          </a:prstGeom>
          <a:solidFill>
            <a:srgbClr val="FFFFFF"/>
          </a:solidFill>
          <a:ln w="15875">
            <a:solidFill>
              <a:srgbClr val="2C5F82"/>
            </a:solidFill>
            <a:prstDash val="solid"/>
          </a:ln>
        </p:spPr>
      </p:sp>
      <p:sp>
        <p:nvSpPr>
          <p:cNvPr id="16" name="Text 13"/>
          <p:cNvSpPr txBox="1"/>
          <p:nvPr/>
        </p:nvSpPr>
        <p:spPr>
          <a:xfrm>
            <a:off x="548640" y="3657600"/>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1</a:t>
            </a:r>
            <a:endParaRPr lang="en-US" sz="1300" dirty="0"/>
          </a:p>
        </p:txBody>
      </p:sp>
      <p:sp>
        <p:nvSpPr>
          <p:cNvPr id="17" name="Text 14"/>
          <p:cNvSpPr txBox="1"/>
          <p:nvPr/>
        </p:nvSpPr>
        <p:spPr>
          <a:xfrm>
            <a:off x="1024128" y="3474720"/>
            <a:ext cx="1051560" cy="786384"/>
          </a:xfrm>
          <a:prstGeom prst="rect">
            <a:avLst/>
          </a:prstGeom>
          <a:noFill/>
          <a:ln/>
        </p:spPr>
        <p:txBody>
          <a:bodyPr wrap="square" lIns="0" tIns="0" rIns="0" bIns="0" rtlCol="0" anchor="ctr"/>
          <a:lstStyle/>
          <a:p>
            <a:pPr algn="ctr" indent="0" marL="0">
              <a:buNone/>
            </a:pPr>
            <a:r>
              <a:rPr lang="en-US" sz="1800" b="1" dirty="0">
                <a:solidFill>
                  <a:srgbClr val="B23B3B"/>
                </a:solidFill>
                <a:latin typeface="Arial" pitchFamily="34" charset="0"/>
                <a:ea typeface="Arial" pitchFamily="34" charset="-122"/>
                <a:cs typeface="Arial" pitchFamily="34" charset="-120"/>
              </a:rPr>
              <a:t>−25%</a:t>
            </a:r>
            <a:endParaRPr lang="en-US" sz="1800" dirty="0"/>
          </a:p>
        </p:txBody>
      </p:sp>
      <p:sp>
        <p:nvSpPr>
          <p:cNvPr id="18" name="Text 15"/>
          <p:cNvSpPr txBox="1"/>
          <p:nvPr/>
        </p:nvSpPr>
        <p:spPr>
          <a:xfrm>
            <a:off x="2148840" y="3520440"/>
            <a:ext cx="3703320" cy="731520"/>
          </a:xfrm>
          <a:prstGeom prst="rect">
            <a:avLst/>
          </a:prstGeom>
          <a:noFill/>
          <a:ln/>
        </p:spPr>
        <p:txBody>
          <a:bodyPr wrap="square" lIns="0" tIns="0" rIns="0" bIns="0" rtlCol="0" anchor="ctr"/>
          <a:lstStyle/>
          <a:p>
            <a:pPr indent="0" marL="0">
              <a:buNone/>
            </a:pPr>
            <a:r>
              <a:rPr lang="en-US" sz="930" b="1" dirty="0">
                <a:solidFill>
                  <a:srgbClr val="262626"/>
                </a:solidFill>
                <a:latin typeface="Arial" pitchFamily="34" charset="0"/>
                <a:ea typeface="Arial" pitchFamily="34" charset="-122"/>
                <a:cs typeface="Arial" pitchFamily="34" charset="-120"/>
              </a:rPr>
              <a:t>Round trips happen fast</a:t>
            </a:r>
            <a:endParaRPr lang="en-US" sz="930" dirty="0"/>
          </a:p>
          <a:p>
            <a:pPr indent="0" marL="0">
              <a:buNone/>
            </a:pPr>
            <a:r>
              <a:rPr lang="en-US" sz="930" dirty="0">
                <a:solidFill>
                  <a:srgbClr val="595959"/>
                </a:solidFill>
                <a:latin typeface="Arial" pitchFamily="34" charset="0"/>
                <a:ea typeface="Arial" pitchFamily="34" charset="-122"/>
                <a:cs typeface="Arial" pitchFamily="34" charset="-120"/>
              </a:rPr>
              <a:t>KOSPI hit 9,000+ in June (~+110% YTD), then 6,789 on 28 Aug: about −25% in ten weeks. J.P. Morgan's 2026 base case includes a 10–15% correction.</a:t>
            </a:r>
            <a:endParaRPr lang="en-US" sz="930" dirty="0"/>
          </a:p>
        </p:txBody>
      </p:sp>
      <p:sp>
        <p:nvSpPr>
          <p:cNvPr id="19" name="Shape 16"/>
          <p:cNvSpPr/>
          <p:nvPr/>
        </p:nvSpPr>
        <p:spPr>
          <a:xfrm>
            <a:off x="457200" y="4261104"/>
            <a:ext cx="5486400" cy="786384"/>
          </a:xfrm>
          <a:prstGeom prst="rect">
            <a:avLst/>
          </a:prstGeom>
          <a:solidFill>
            <a:srgbClr val="FFFFFF"/>
          </a:solidFill>
          <a:ln w="12700">
            <a:solidFill>
              <a:srgbClr val="F2F2F2"/>
            </a:solidFill>
            <a:prstDash val="solid"/>
          </a:ln>
        </p:spPr>
      </p:sp>
      <p:sp>
        <p:nvSpPr>
          <p:cNvPr id="20" name="Shape 17"/>
          <p:cNvSpPr/>
          <p:nvPr/>
        </p:nvSpPr>
        <p:spPr>
          <a:xfrm>
            <a:off x="548640" y="4443984"/>
            <a:ext cx="384048" cy="384048"/>
          </a:xfrm>
          <a:prstGeom prst="ellipse">
            <a:avLst/>
          </a:prstGeom>
          <a:solidFill>
            <a:srgbClr val="FFFFFF"/>
          </a:solidFill>
          <a:ln w="15875">
            <a:solidFill>
              <a:srgbClr val="2C5F82"/>
            </a:solidFill>
            <a:prstDash val="solid"/>
          </a:ln>
        </p:spPr>
      </p:sp>
      <p:sp>
        <p:nvSpPr>
          <p:cNvPr id="21" name="Text 18"/>
          <p:cNvSpPr txBox="1"/>
          <p:nvPr/>
        </p:nvSpPr>
        <p:spPr>
          <a:xfrm>
            <a:off x="548640" y="4443984"/>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2</a:t>
            </a:r>
            <a:endParaRPr lang="en-US" sz="1300" dirty="0"/>
          </a:p>
        </p:txBody>
      </p:sp>
      <p:sp>
        <p:nvSpPr>
          <p:cNvPr id="22" name="Text 19"/>
          <p:cNvSpPr txBox="1"/>
          <p:nvPr/>
        </p:nvSpPr>
        <p:spPr>
          <a:xfrm>
            <a:off x="1024128" y="4261104"/>
            <a:ext cx="1051560" cy="786384"/>
          </a:xfrm>
          <a:prstGeom prst="rect">
            <a:avLst/>
          </a:prstGeom>
          <a:noFill/>
          <a:ln/>
        </p:spPr>
        <p:txBody>
          <a:bodyPr wrap="square" lIns="0" tIns="0" rIns="0" bIns="0" rtlCol="0" anchor="ctr"/>
          <a:lstStyle/>
          <a:p>
            <a:pPr algn="ctr" indent="0" marL="0">
              <a:buNone/>
            </a:pPr>
            <a:r>
              <a:rPr lang="en-US" sz="1800" b="1" dirty="0">
                <a:solidFill>
                  <a:srgbClr val="2C5F82"/>
                </a:solidFill>
                <a:latin typeface="Arial" pitchFamily="34" charset="0"/>
                <a:ea typeface="Arial" pitchFamily="34" charset="-122"/>
                <a:cs typeface="Arial" pitchFamily="34" charset="-120"/>
              </a:rPr>
              <a:t>&gt;40%</a:t>
            </a:r>
            <a:endParaRPr lang="en-US" sz="1800" dirty="0"/>
          </a:p>
        </p:txBody>
      </p:sp>
      <p:sp>
        <p:nvSpPr>
          <p:cNvPr id="23" name="Text 20"/>
          <p:cNvSpPr txBox="1"/>
          <p:nvPr/>
        </p:nvSpPr>
        <p:spPr>
          <a:xfrm>
            <a:off x="2148840" y="4306824"/>
            <a:ext cx="3703320" cy="731520"/>
          </a:xfrm>
          <a:prstGeom prst="rect">
            <a:avLst/>
          </a:prstGeom>
          <a:noFill/>
          <a:ln/>
        </p:spPr>
        <p:txBody>
          <a:bodyPr wrap="square" lIns="0" tIns="0" rIns="0" bIns="0" rtlCol="0" anchor="ctr"/>
          <a:lstStyle/>
          <a:p>
            <a:pPr indent="0" marL="0">
              <a:buNone/>
            </a:pPr>
            <a:r>
              <a:rPr lang="en-US" sz="930" b="1" dirty="0">
                <a:solidFill>
                  <a:srgbClr val="262626"/>
                </a:solidFill>
                <a:latin typeface="Arial" pitchFamily="34" charset="0"/>
                <a:ea typeface="Arial" pitchFamily="34" charset="-122"/>
                <a:cs typeface="Arial" pitchFamily="34" charset="-120"/>
              </a:rPr>
              <a:t>Returns hinge on a few names</a:t>
            </a:r>
            <a:endParaRPr lang="en-US" sz="930" dirty="0"/>
          </a:p>
          <a:p>
            <a:pPr indent="0" marL="0">
              <a:buNone/>
            </a:pPr>
            <a:r>
              <a:rPr lang="en-US" sz="930" dirty="0">
                <a:solidFill>
                  <a:srgbClr val="595959"/>
                </a:solidFill>
                <a:latin typeface="Arial" pitchFamily="34" charset="0"/>
                <a:ea typeface="Arial" pitchFamily="34" charset="-122"/>
                <a:cs typeface="Arial" pitchFamily="34" charset="-120"/>
              </a:rPr>
              <a:t>TSMC is &gt;40% of the TAIEX, Samsung + SK hynix ~48% of KOSPI, Advantest + TEL ~20% of the Nikkei. ~92% of advanced chips come from Taiwan.</a:t>
            </a:r>
            <a:endParaRPr lang="en-US" sz="930" dirty="0"/>
          </a:p>
        </p:txBody>
      </p:sp>
      <p:sp>
        <p:nvSpPr>
          <p:cNvPr id="24" name="Shape 21"/>
          <p:cNvSpPr/>
          <p:nvPr/>
        </p:nvSpPr>
        <p:spPr>
          <a:xfrm>
            <a:off x="457200" y="5047488"/>
            <a:ext cx="5486400" cy="786384"/>
          </a:xfrm>
          <a:prstGeom prst="rect">
            <a:avLst/>
          </a:prstGeom>
          <a:solidFill>
            <a:srgbClr val="F2F2F2"/>
          </a:solidFill>
          <a:ln w="12700">
            <a:solidFill>
              <a:srgbClr val="F2F2F2"/>
            </a:solidFill>
            <a:prstDash val="solid"/>
          </a:ln>
        </p:spPr>
      </p:sp>
      <p:sp>
        <p:nvSpPr>
          <p:cNvPr id="25" name="Shape 22"/>
          <p:cNvSpPr/>
          <p:nvPr/>
        </p:nvSpPr>
        <p:spPr>
          <a:xfrm>
            <a:off x="548640" y="5230368"/>
            <a:ext cx="384048" cy="384048"/>
          </a:xfrm>
          <a:prstGeom prst="ellipse">
            <a:avLst/>
          </a:prstGeom>
          <a:solidFill>
            <a:srgbClr val="FFFFFF"/>
          </a:solidFill>
          <a:ln w="15875">
            <a:solidFill>
              <a:srgbClr val="2C5F82"/>
            </a:solidFill>
            <a:prstDash val="solid"/>
          </a:ln>
        </p:spPr>
      </p:sp>
      <p:sp>
        <p:nvSpPr>
          <p:cNvPr id="26" name="Text 23"/>
          <p:cNvSpPr txBox="1"/>
          <p:nvPr/>
        </p:nvSpPr>
        <p:spPr>
          <a:xfrm>
            <a:off x="548640" y="5230368"/>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3</a:t>
            </a:r>
            <a:endParaRPr lang="en-US" sz="1300" dirty="0"/>
          </a:p>
        </p:txBody>
      </p:sp>
      <p:sp>
        <p:nvSpPr>
          <p:cNvPr id="27" name="Text 24"/>
          <p:cNvSpPr txBox="1"/>
          <p:nvPr/>
        </p:nvSpPr>
        <p:spPr>
          <a:xfrm>
            <a:off x="1024128" y="5047488"/>
            <a:ext cx="1051560" cy="786384"/>
          </a:xfrm>
          <a:prstGeom prst="rect">
            <a:avLst/>
          </a:prstGeom>
          <a:noFill/>
          <a:ln/>
        </p:spPr>
        <p:txBody>
          <a:bodyPr wrap="square" lIns="0" tIns="0" rIns="0" bIns="0" rtlCol="0" anchor="ctr"/>
          <a:lstStyle/>
          <a:p>
            <a:pPr algn="ctr" indent="0" marL="0">
              <a:buNone/>
            </a:pPr>
            <a:r>
              <a:rPr lang="en-US" sz="1800" b="1" dirty="0">
                <a:solidFill>
                  <a:srgbClr val="2C5F82"/>
                </a:solidFill>
                <a:latin typeface="Arial" pitchFamily="34" charset="0"/>
                <a:ea typeface="Arial" pitchFamily="34" charset="-122"/>
                <a:cs typeface="Arial" pitchFamily="34" charset="-120"/>
              </a:rPr>
              <a:t>38.6×</a:t>
            </a:r>
            <a:endParaRPr lang="en-US" sz="1800" dirty="0"/>
          </a:p>
        </p:txBody>
      </p:sp>
      <p:sp>
        <p:nvSpPr>
          <p:cNvPr id="28" name="Text 25"/>
          <p:cNvSpPr txBox="1"/>
          <p:nvPr/>
        </p:nvSpPr>
        <p:spPr>
          <a:xfrm>
            <a:off x="2148840" y="5093208"/>
            <a:ext cx="3703320" cy="731520"/>
          </a:xfrm>
          <a:prstGeom prst="rect">
            <a:avLst/>
          </a:prstGeom>
          <a:noFill/>
          <a:ln/>
        </p:spPr>
        <p:txBody>
          <a:bodyPr wrap="square" lIns="0" tIns="0" rIns="0" bIns="0" rtlCol="0" anchor="ctr"/>
          <a:lstStyle/>
          <a:p>
            <a:pPr indent="0" marL="0">
              <a:buNone/>
            </a:pPr>
            <a:r>
              <a:rPr lang="en-US" sz="930" b="1" dirty="0">
                <a:solidFill>
                  <a:srgbClr val="262626"/>
                </a:solidFill>
                <a:latin typeface="Arial" pitchFamily="34" charset="0"/>
                <a:ea typeface="Arial" pitchFamily="34" charset="-122"/>
                <a:cs typeface="Arial" pitchFamily="34" charset="-120"/>
              </a:rPr>
              <a:t>Valuations price in a lot</a:t>
            </a:r>
            <a:endParaRPr lang="en-US" sz="930" dirty="0"/>
          </a:p>
          <a:p>
            <a:pPr indent="0" marL="0">
              <a:buNone/>
            </a:pPr>
            <a:r>
              <a:rPr lang="en-US" sz="930" dirty="0">
                <a:solidFill>
                  <a:srgbClr val="595959"/>
                </a:solidFill>
                <a:latin typeface="Arial" pitchFamily="34" charset="0"/>
                <a:ea typeface="Arial" pitchFamily="34" charset="-122"/>
                <a:cs typeface="Arial" pitchFamily="34" charset="-120"/>
              </a:rPr>
              <a:t>Nikkei CAPE 38.6×; Taiwan among the most expensive markets; KOSPI's 7.8× forward vs 23× trailing P/E assumes earnings triple, while DRAM price gains slow.</a:t>
            </a:r>
            <a:endParaRPr lang="en-US" sz="930" dirty="0"/>
          </a:p>
        </p:txBody>
      </p:sp>
      <p:sp>
        <p:nvSpPr>
          <p:cNvPr id="29" name="Shape 26"/>
          <p:cNvSpPr/>
          <p:nvPr/>
        </p:nvSpPr>
        <p:spPr>
          <a:xfrm>
            <a:off x="6245352" y="1051560"/>
            <a:ext cx="5486400" cy="384048"/>
          </a:xfrm>
          <a:prstGeom prst="rect">
            <a:avLst/>
          </a:prstGeom>
          <a:solidFill>
            <a:srgbClr val="2C5F82"/>
          </a:solidFill>
          <a:ln w="12700">
            <a:solidFill>
              <a:srgbClr val="2C5F82"/>
            </a:solidFill>
            <a:prstDash val="solid"/>
          </a:ln>
        </p:spPr>
      </p:sp>
      <p:sp>
        <p:nvSpPr>
          <p:cNvPr id="30" name="Text 27"/>
          <p:cNvSpPr txBox="1"/>
          <p:nvPr/>
        </p:nvSpPr>
        <p:spPr>
          <a:xfrm>
            <a:off x="6245352" y="1051560"/>
            <a:ext cx="5486400"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Finance aspect: rates and volatility have changed</a:t>
            </a:r>
            <a:endParaRPr lang="en-US" sz="1400" dirty="0"/>
          </a:p>
        </p:txBody>
      </p:sp>
      <p:sp>
        <p:nvSpPr>
          <p:cNvPr id="31" name="Text 28"/>
          <p:cNvSpPr txBox="1"/>
          <p:nvPr/>
        </p:nvSpPr>
        <p:spPr>
          <a:xfrm>
            <a:off x="6245352" y="1481328"/>
            <a:ext cx="5486400" cy="274320"/>
          </a:xfrm>
          <a:prstGeom prst="rect">
            <a:avLst/>
          </a:prstGeom>
          <a:noFill/>
          <a:ln/>
        </p:spPr>
        <p:txBody>
          <a:bodyPr wrap="square" lIns="0" tIns="0" rIns="0" bIns="0" rtlCol="0" anchor="t"/>
          <a:lstStyle/>
          <a:p>
            <a:pPr algn="ctr" indent="0" marL="0">
              <a:buNone/>
            </a:pPr>
            <a:r>
              <a:rPr lang="en-US" sz="1050" i="1" dirty="0">
                <a:solidFill>
                  <a:srgbClr val="595959"/>
                </a:solidFill>
                <a:latin typeface="Arial" pitchFamily="34" charset="0"/>
                <a:ea typeface="Arial" pitchFamily="34" charset="-122"/>
                <a:cs typeface="Arial" pitchFamily="34" charset="-120"/>
              </a:rPr>
              <a:t>Rates are high and rising again; volatility is at records</a:t>
            </a:r>
            <a:endParaRPr lang="en-US" sz="1050" dirty="0"/>
          </a:p>
        </p:txBody>
      </p:sp>
      <p:graphicFrame>
        <p:nvGraphicFramePr>
          <p:cNvPr id="32" name="Chart 1" descr=""/>
          <p:cNvGraphicFramePr/>
          <p:nvPr/>
        </p:nvGraphicFramePr>
        <p:xfrm>
          <a:off x="6245352" y="1783080"/>
          <a:ext cx="3429000" cy="1645920"/>
        </p:xfrm>
        <a:graphic xmlns:a="http://schemas.openxmlformats.org/drawingml/2006/main">
          <a:graphicData uri="http://schemas.openxmlformats.org/drawingml/2006/chart">
            <c:chart xmlns:c="http://schemas.openxmlformats.org/drawingml/2006/chart" r:id="rId2"/>
          </a:graphicData>
        </a:graphic>
      </p:graphicFrame>
      <p:sp>
        <p:nvSpPr>
          <p:cNvPr id="33" name="Text 29"/>
          <p:cNvSpPr txBox="1"/>
          <p:nvPr/>
        </p:nvSpPr>
        <p:spPr>
          <a:xfrm>
            <a:off x="9765792" y="1810512"/>
            <a:ext cx="1920240" cy="1600200"/>
          </a:xfrm>
          <a:prstGeom prst="rect">
            <a:avLst/>
          </a:prstGeom>
          <a:noFill/>
          <a:ln/>
        </p:spPr>
        <p:txBody>
          <a:bodyPr wrap="square" lIns="0" tIns="0" rIns="0" bIns="0" rtlCol="0" anchor="t"/>
          <a:lstStyle/>
          <a:p>
            <a:pPr indent="0" marL="0">
              <a:spcAft>
                <a:spcPts val="200"/>
              </a:spcAft>
              <a:buNone/>
            </a:pPr>
            <a:r>
              <a:rPr lang="en-US" sz="900" b="1" dirty="0">
                <a:solidFill>
                  <a:srgbClr val="2C5F82"/>
                </a:solidFill>
                <a:latin typeface="Arial" pitchFamily="34" charset="0"/>
                <a:ea typeface="Arial" pitchFamily="34" charset="-122"/>
                <a:cs typeface="Arial" pitchFamily="34" charset="-120"/>
              </a:rPr>
              <a:t>The Fed is hiking again</a:t>
            </a:r>
            <a:endParaRPr lang="en-US" sz="900" dirty="0"/>
          </a:p>
          <a:p>
            <a:pPr indent="0" marL="0">
              <a:spcAft>
                <a:spcPts val="200"/>
              </a:spcAft>
              <a:buNone/>
            </a:pPr>
            <a:r>
              <a:rPr lang="en-US" sz="900" dirty="0">
                <a:solidFill>
                  <a:srgbClr val="262626"/>
                </a:solidFill>
                <a:latin typeface="Arial" pitchFamily="34" charset="0"/>
                <a:ea typeface="Arial" pitchFamily="34" charset="-122"/>
                <a:cs typeface="Arial" pitchFamily="34" charset="-120"/>
              </a:rPr>
              <a:t>16 Sep 2026: +0.25% to 3.75–4.00%, the first hike since 2023; median dot 4.1% for end-2026.</a:t>
            </a:r>
            <a:endParaRPr lang="en-US" sz="900" dirty="0"/>
          </a:p>
          <a:p>
            <a:pPr indent="0" marL="0">
              <a:spcAft>
                <a:spcPts val="200"/>
              </a:spcAft>
              <a:buNone/>
            </a:pPr>
            <a:r>
              <a:rPr lang="en-US" sz="900" b="1" dirty="0">
                <a:solidFill>
                  <a:srgbClr val="2C5F82"/>
                </a:solidFill>
                <a:latin typeface="Arial" pitchFamily="34" charset="0"/>
                <a:ea typeface="Arial" pitchFamily="34" charset="-122"/>
                <a:cs typeface="Arial" pitchFamily="34" charset="-120"/>
              </a:rPr>
              <a:t>Markets price more</a:t>
            </a:r>
            <a:endParaRPr lang="en-US" sz="900" dirty="0"/>
          </a:p>
          <a:p>
            <a:pPr indent="0" marL="0">
              <a:spcAft>
                <a:spcPts val="200"/>
              </a:spcAft>
              <a:buNone/>
            </a:pPr>
            <a:r>
              <a:rPr lang="en-US" sz="900" dirty="0">
                <a:solidFill>
                  <a:srgbClr val="262626"/>
                </a:solidFill>
                <a:latin typeface="Arial" pitchFamily="34" charset="0"/>
                <a:ea typeface="Arial" pitchFamily="34" charset="-122"/>
                <a:cs typeface="Arial" pitchFamily="34" charset="-120"/>
              </a:rPr>
              <a:t>~87% probability of at least one further move priced by futures.</a:t>
            </a:r>
            <a:endParaRPr lang="en-US" sz="900" dirty="0"/>
          </a:p>
        </p:txBody>
      </p:sp>
      <p:sp>
        <p:nvSpPr>
          <p:cNvPr id="34" name="Shape 30"/>
          <p:cNvSpPr/>
          <p:nvPr/>
        </p:nvSpPr>
        <p:spPr>
          <a:xfrm>
            <a:off x="6245352" y="3474720"/>
            <a:ext cx="5486400" cy="786384"/>
          </a:xfrm>
          <a:prstGeom prst="rect">
            <a:avLst/>
          </a:prstGeom>
          <a:solidFill>
            <a:srgbClr val="F2F2F2"/>
          </a:solidFill>
          <a:ln w="12700">
            <a:solidFill>
              <a:srgbClr val="F2F2F2"/>
            </a:solidFill>
            <a:prstDash val="solid"/>
          </a:ln>
        </p:spPr>
      </p:sp>
      <p:sp>
        <p:nvSpPr>
          <p:cNvPr id="35" name="Shape 31"/>
          <p:cNvSpPr/>
          <p:nvPr/>
        </p:nvSpPr>
        <p:spPr>
          <a:xfrm>
            <a:off x="6336792" y="3657600"/>
            <a:ext cx="384048" cy="384048"/>
          </a:xfrm>
          <a:prstGeom prst="ellipse">
            <a:avLst/>
          </a:prstGeom>
          <a:solidFill>
            <a:srgbClr val="FFFFFF"/>
          </a:solidFill>
          <a:ln w="15875">
            <a:solidFill>
              <a:srgbClr val="2C5F82"/>
            </a:solidFill>
            <a:prstDash val="solid"/>
          </a:ln>
        </p:spPr>
      </p:sp>
      <p:sp>
        <p:nvSpPr>
          <p:cNvPr id="36" name="Text 32"/>
          <p:cNvSpPr txBox="1"/>
          <p:nvPr/>
        </p:nvSpPr>
        <p:spPr>
          <a:xfrm>
            <a:off x="6336792" y="3657600"/>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1</a:t>
            </a:r>
            <a:endParaRPr lang="en-US" sz="1300" dirty="0"/>
          </a:p>
        </p:txBody>
      </p:sp>
      <p:sp>
        <p:nvSpPr>
          <p:cNvPr id="37" name="Text 33"/>
          <p:cNvSpPr txBox="1"/>
          <p:nvPr/>
        </p:nvSpPr>
        <p:spPr>
          <a:xfrm>
            <a:off x="6812280" y="3474720"/>
            <a:ext cx="1051560" cy="786384"/>
          </a:xfrm>
          <a:prstGeom prst="rect">
            <a:avLst/>
          </a:prstGeom>
          <a:noFill/>
          <a:ln/>
        </p:spPr>
        <p:txBody>
          <a:bodyPr wrap="square" lIns="0" tIns="0" rIns="0" bIns="0" rtlCol="0" anchor="ctr"/>
          <a:lstStyle/>
          <a:p>
            <a:pPr algn="ctr" indent="0" marL="0">
              <a:buNone/>
            </a:pPr>
            <a:r>
              <a:rPr lang="en-US" sz="1800" b="1" dirty="0">
                <a:solidFill>
                  <a:srgbClr val="B23B3B"/>
                </a:solidFill>
                <a:latin typeface="Arial" pitchFamily="34" charset="0"/>
                <a:ea typeface="Arial" pitchFamily="34" charset="-122"/>
                <a:cs typeface="Arial" pitchFamily="34" charset="-120"/>
              </a:rPr>
              <a:t>−4.0%</a:t>
            </a:r>
            <a:endParaRPr lang="en-US" sz="1800" dirty="0"/>
          </a:p>
        </p:txBody>
      </p:sp>
      <p:sp>
        <p:nvSpPr>
          <p:cNvPr id="38" name="Text 34"/>
          <p:cNvSpPr txBox="1"/>
          <p:nvPr/>
        </p:nvSpPr>
        <p:spPr>
          <a:xfrm>
            <a:off x="7936992" y="3520440"/>
            <a:ext cx="3703320" cy="731520"/>
          </a:xfrm>
          <a:prstGeom prst="rect">
            <a:avLst/>
          </a:prstGeom>
          <a:noFill/>
          <a:ln/>
        </p:spPr>
        <p:txBody>
          <a:bodyPr wrap="square" lIns="0" tIns="0" rIns="0" bIns="0" rtlCol="0" anchor="ctr"/>
          <a:lstStyle/>
          <a:p>
            <a:pPr indent="0" marL="0">
              <a:buNone/>
            </a:pPr>
            <a:r>
              <a:rPr lang="en-US" sz="930" b="1" dirty="0">
                <a:solidFill>
                  <a:srgbClr val="262626"/>
                </a:solidFill>
                <a:latin typeface="Arial" pitchFamily="34" charset="0"/>
                <a:ea typeface="Arial" pitchFamily="34" charset="-122"/>
                <a:cs typeface="Arial" pitchFamily="34" charset="-120"/>
              </a:rPr>
              <a:t>Long bonds carry rate risk</a:t>
            </a:r>
            <a:endParaRPr lang="en-US" sz="930" dirty="0"/>
          </a:p>
          <a:p>
            <a:pPr indent="0" marL="0">
              <a:buNone/>
            </a:pPr>
            <a:r>
              <a:rPr lang="en-US" sz="930" dirty="0">
                <a:solidFill>
                  <a:srgbClr val="595959"/>
                </a:solidFill>
                <a:latin typeface="Arial" pitchFamily="34" charset="0"/>
                <a:ea typeface="Arial" pitchFamily="34" charset="-122"/>
                <a:cs typeface="Arial" pitchFamily="34" charset="-120"/>
              </a:rPr>
              <a:t>A 5-year bond loses about 4.0% of its value for every 1% rise in rates, just as the Fed turns hawkish again.</a:t>
            </a:r>
            <a:endParaRPr lang="en-US" sz="930" dirty="0"/>
          </a:p>
        </p:txBody>
      </p:sp>
      <p:sp>
        <p:nvSpPr>
          <p:cNvPr id="39" name="Shape 35"/>
          <p:cNvSpPr/>
          <p:nvPr/>
        </p:nvSpPr>
        <p:spPr>
          <a:xfrm>
            <a:off x="6245352" y="4261104"/>
            <a:ext cx="5486400" cy="786384"/>
          </a:xfrm>
          <a:prstGeom prst="rect">
            <a:avLst/>
          </a:prstGeom>
          <a:solidFill>
            <a:srgbClr val="FFFFFF"/>
          </a:solidFill>
          <a:ln w="12700">
            <a:solidFill>
              <a:srgbClr val="F2F2F2"/>
            </a:solidFill>
            <a:prstDash val="solid"/>
          </a:ln>
        </p:spPr>
      </p:sp>
      <p:sp>
        <p:nvSpPr>
          <p:cNvPr id="40" name="Shape 36"/>
          <p:cNvSpPr/>
          <p:nvPr/>
        </p:nvSpPr>
        <p:spPr>
          <a:xfrm>
            <a:off x="6336792" y="4443984"/>
            <a:ext cx="384048" cy="384048"/>
          </a:xfrm>
          <a:prstGeom prst="ellipse">
            <a:avLst/>
          </a:prstGeom>
          <a:solidFill>
            <a:srgbClr val="FFFFFF"/>
          </a:solidFill>
          <a:ln w="15875">
            <a:solidFill>
              <a:srgbClr val="2C5F82"/>
            </a:solidFill>
            <a:prstDash val="solid"/>
          </a:ln>
        </p:spPr>
      </p:sp>
      <p:sp>
        <p:nvSpPr>
          <p:cNvPr id="41" name="Text 37"/>
          <p:cNvSpPr txBox="1"/>
          <p:nvPr/>
        </p:nvSpPr>
        <p:spPr>
          <a:xfrm>
            <a:off x="6336792" y="4443984"/>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2</a:t>
            </a:r>
            <a:endParaRPr lang="en-US" sz="1300" dirty="0"/>
          </a:p>
        </p:txBody>
      </p:sp>
      <p:sp>
        <p:nvSpPr>
          <p:cNvPr id="42" name="Text 38"/>
          <p:cNvSpPr txBox="1"/>
          <p:nvPr/>
        </p:nvSpPr>
        <p:spPr>
          <a:xfrm>
            <a:off x="6812280" y="4261104"/>
            <a:ext cx="1051560" cy="786384"/>
          </a:xfrm>
          <a:prstGeom prst="rect">
            <a:avLst/>
          </a:prstGeom>
          <a:noFill/>
          <a:ln/>
        </p:spPr>
        <p:txBody>
          <a:bodyPr wrap="square" lIns="0" tIns="0" rIns="0" bIns="0" rtlCol="0" anchor="ctr"/>
          <a:lstStyle/>
          <a:p>
            <a:pPr algn="ctr" indent="0" marL="0">
              <a:buNone/>
            </a:pPr>
            <a:r>
              <a:rPr lang="en-US" sz="1800" b="1" dirty="0">
                <a:solidFill>
                  <a:srgbClr val="B23B3B"/>
                </a:solidFill>
                <a:latin typeface="Arial" pitchFamily="34" charset="0"/>
                <a:ea typeface="Arial" pitchFamily="34" charset="-122"/>
                <a:cs typeface="Arial" pitchFamily="34" charset="-120"/>
              </a:rPr>
              <a:t>91.2</a:t>
            </a:r>
            <a:endParaRPr lang="en-US" sz="1800" dirty="0"/>
          </a:p>
        </p:txBody>
      </p:sp>
      <p:sp>
        <p:nvSpPr>
          <p:cNvPr id="43" name="Text 39"/>
          <p:cNvSpPr txBox="1"/>
          <p:nvPr/>
        </p:nvSpPr>
        <p:spPr>
          <a:xfrm>
            <a:off x="7936992" y="4306824"/>
            <a:ext cx="3703320" cy="731520"/>
          </a:xfrm>
          <a:prstGeom prst="rect">
            <a:avLst/>
          </a:prstGeom>
          <a:noFill/>
          <a:ln/>
        </p:spPr>
        <p:txBody>
          <a:bodyPr wrap="square" lIns="0" tIns="0" rIns="0" bIns="0" rtlCol="0" anchor="ctr"/>
          <a:lstStyle/>
          <a:p>
            <a:pPr indent="0" marL="0">
              <a:buNone/>
            </a:pPr>
            <a:r>
              <a:rPr lang="en-US" sz="930" b="1" dirty="0">
                <a:solidFill>
                  <a:srgbClr val="262626"/>
                </a:solidFill>
                <a:latin typeface="Arial" pitchFamily="34" charset="0"/>
                <a:ea typeface="Arial" pitchFamily="34" charset="-122"/>
                <a:cs typeface="Arial" pitchFamily="34" charset="-120"/>
              </a:rPr>
              <a:t>Volatility is at records</a:t>
            </a:r>
            <a:endParaRPr lang="en-US" sz="930" dirty="0"/>
          </a:p>
          <a:p>
            <a:pPr indent="0" marL="0">
              <a:buNone/>
            </a:pPr>
            <a:r>
              <a:rPr lang="en-US" sz="930" dirty="0">
                <a:solidFill>
                  <a:srgbClr val="595959"/>
                </a:solidFill>
                <a:latin typeface="Arial" pitchFamily="34" charset="0"/>
                <a:ea typeface="Arial" pitchFamily="34" charset="-122"/>
                <a:cs typeface="Arial" pitchFamily="34" charset="-120"/>
              </a:rPr>
              <a:t>VKOSPI closed at an all-time high of 91.2 on 9 Jun 2026, above the 2008 crisis peak; Korea's circuit breakers fired three times in June.</a:t>
            </a:r>
            <a:endParaRPr lang="en-US" sz="930" dirty="0"/>
          </a:p>
        </p:txBody>
      </p:sp>
      <p:sp>
        <p:nvSpPr>
          <p:cNvPr id="44" name="Shape 40"/>
          <p:cNvSpPr/>
          <p:nvPr/>
        </p:nvSpPr>
        <p:spPr>
          <a:xfrm>
            <a:off x="6245352" y="5047488"/>
            <a:ext cx="5486400" cy="786384"/>
          </a:xfrm>
          <a:prstGeom prst="rect">
            <a:avLst/>
          </a:prstGeom>
          <a:solidFill>
            <a:srgbClr val="F2F2F2"/>
          </a:solidFill>
          <a:ln w="12700">
            <a:solidFill>
              <a:srgbClr val="F2F2F2"/>
            </a:solidFill>
            <a:prstDash val="solid"/>
          </a:ln>
        </p:spPr>
      </p:sp>
      <p:sp>
        <p:nvSpPr>
          <p:cNvPr id="45" name="Shape 41"/>
          <p:cNvSpPr/>
          <p:nvPr/>
        </p:nvSpPr>
        <p:spPr>
          <a:xfrm>
            <a:off x="6336792" y="5230368"/>
            <a:ext cx="384048" cy="384048"/>
          </a:xfrm>
          <a:prstGeom prst="ellipse">
            <a:avLst/>
          </a:prstGeom>
          <a:solidFill>
            <a:srgbClr val="FFFFFF"/>
          </a:solidFill>
          <a:ln w="15875">
            <a:solidFill>
              <a:srgbClr val="2C5F82"/>
            </a:solidFill>
            <a:prstDash val="solid"/>
          </a:ln>
        </p:spPr>
      </p:sp>
      <p:sp>
        <p:nvSpPr>
          <p:cNvPr id="46" name="Text 42"/>
          <p:cNvSpPr txBox="1"/>
          <p:nvPr/>
        </p:nvSpPr>
        <p:spPr>
          <a:xfrm>
            <a:off x="6336792" y="5230368"/>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3</a:t>
            </a:r>
            <a:endParaRPr lang="en-US" sz="1300" dirty="0"/>
          </a:p>
        </p:txBody>
      </p:sp>
      <p:sp>
        <p:nvSpPr>
          <p:cNvPr id="47" name="Text 43"/>
          <p:cNvSpPr txBox="1"/>
          <p:nvPr/>
        </p:nvSpPr>
        <p:spPr>
          <a:xfrm>
            <a:off x="6812280" y="5047488"/>
            <a:ext cx="1051560" cy="786384"/>
          </a:xfrm>
          <a:prstGeom prst="rect">
            <a:avLst/>
          </a:prstGeom>
          <a:noFill/>
          <a:ln/>
        </p:spPr>
        <p:txBody>
          <a:bodyPr wrap="square" lIns="0" tIns="0" rIns="0" bIns="0" rtlCol="0" anchor="ctr"/>
          <a:lstStyle/>
          <a:p>
            <a:pPr algn="ctr" indent="0" marL="0">
              <a:buNone/>
            </a:pPr>
            <a:r>
              <a:rPr lang="en-US" sz="1800" b="1" dirty="0">
                <a:solidFill>
                  <a:srgbClr val="2C5F82"/>
                </a:solidFill>
                <a:latin typeface="Arial" pitchFamily="34" charset="0"/>
                <a:ea typeface="Arial" pitchFamily="34" charset="-122"/>
                <a:cs typeface="Arial" pitchFamily="34" charset="-120"/>
              </a:rPr>
              <a:t>75.8%</a:t>
            </a:r>
            <a:endParaRPr lang="en-US" sz="1800" dirty="0"/>
          </a:p>
        </p:txBody>
      </p:sp>
      <p:sp>
        <p:nvSpPr>
          <p:cNvPr id="48" name="Text 44"/>
          <p:cNvSpPr txBox="1"/>
          <p:nvPr/>
        </p:nvSpPr>
        <p:spPr>
          <a:xfrm>
            <a:off x="7936992" y="5093208"/>
            <a:ext cx="3703320" cy="731520"/>
          </a:xfrm>
          <a:prstGeom prst="rect">
            <a:avLst/>
          </a:prstGeom>
          <a:noFill/>
          <a:ln/>
        </p:spPr>
        <p:txBody>
          <a:bodyPr wrap="square" lIns="0" tIns="0" rIns="0" bIns="0" rtlCol="0" anchor="ctr"/>
          <a:lstStyle/>
          <a:p>
            <a:pPr indent="0" marL="0">
              <a:buNone/>
            </a:pPr>
            <a:r>
              <a:rPr lang="en-US" sz="930" b="1" dirty="0">
                <a:solidFill>
                  <a:srgbClr val="262626"/>
                </a:solidFill>
                <a:latin typeface="Arial" pitchFamily="34" charset="0"/>
                <a:ea typeface="Arial" pitchFamily="34" charset="-122"/>
                <a:cs typeface="Arial" pitchFamily="34" charset="-120"/>
              </a:rPr>
              <a:t>High rates make guarantees cheap</a:t>
            </a:r>
            <a:endParaRPr lang="en-US" sz="930" dirty="0"/>
          </a:p>
          <a:p>
            <a:pPr indent="0" marL="0">
              <a:buNone/>
            </a:pPr>
            <a:r>
              <a:rPr lang="en-US" sz="930" dirty="0">
                <a:solidFill>
                  <a:srgbClr val="595959"/>
                </a:solidFill>
                <a:latin typeface="Arial" pitchFamily="34" charset="0"/>
                <a:ea typeface="Arial" pitchFamily="34" charset="-122"/>
                <a:cs typeface="Arial" pitchFamily="34" charset="-120"/>
              </a:rPr>
              <a:t>At a 5.69% 5-year USD funding rate, USD 100 payable in 5 years costs only USD 75.8 today.</a:t>
            </a:r>
            <a:endParaRPr lang="en-US" sz="930" dirty="0"/>
          </a:p>
        </p:txBody>
      </p:sp>
      <p:sp>
        <p:nvSpPr>
          <p:cNvPr id="49" name="Text 45"/>
          <p:cNvSpPr txBox="1"/>
          <p:nvPr/>
        </p:nvSpPr>
        <p:spPr>
          <a:xfrm>
            <a:off x="457200" y="5870448"/>
            <a:ext cx="11274552" cy="274320"/>
          </a:xfrm>
          <a:prstGeom prst="rect">
            <a:avLst/>
          </a:prstGeom>
          <a:noFill/>
          <a:ln/>
        </p:spPr>
        <p:txBody>
          <a:bodyPr wrap="square" lIns="0" tIns="0" rIns="0" bIns="0" rtlCol="0" anchor="t"/>
          <a:lstStyle/>
          <a:p>
            <a:pPr indent="0" marL="0">
              <a:buNone/>
            </a:pPr>
            <a:r>
              <a:rPr lang="en-US" sz="800" i="1" dirty="0">
                <a:solidFill>
                  <a:srgbClr val="595959"/>
                </a:solidFill>
                <a:latin typeface="Arial" pitchFamily="34" charset="0"/>
                <a:ea typeface="Arial" pitchFamily="34" charset="-122"/>
                <a:cs typeface="Arial" pitchFamily="34" charset="-120"/>
              </a:rPr>
              <a:t>Sources: TWSE, KRX/press, Nikkei (index levels; 2021–23 KOSPI/Nikkei to verify); Asiae, FN News, BIT Research (KOSPI); J.P. Morgan 2026 Outlook; Trading Economics, Siblis (valuations); TrendForce; Federal Reserve via Advisor Perspectives; Herald / SBS (VKOSPI); case funding grid; standard bond maths.</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Investment thesis 2: Traditional strategies fall short in 2026</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Shape 3"/>
          <p:cNvSpPr/>
          <p:nvPr/>
        </p:nvSpPr>
        <p:spPr>
          <a:xfrm>
            <a:off x="1005840" y="6364224"/>
            <a:ext cx="2514600" cy="45720"/>
          </a:xfrm>
          <a:prstGeom prst="rect">
            <a:avLst/>
          </a:prstGeom>
          <a:solidFill>
            <a:srgbClr val="2C5F82"/>
          </a:solidFill>
          <a:ln w="12700">
            <a:solidFill>
              <a:srgbClr val="2C5F82"/>
            </a:solidFill>
            <a:prstDash val="solid"/>
          </a:ln>
        </p:spPr>
      </p:sp>
      <p:sp>
        <p:nvSpPr>
          <p:cNvPr id="6" name="Text 4"/>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ANALYSIS</a:t>
            </a:r>
            <a:endParaRPr lang="en-US" sz="1200" dirty="0"/>
          </a:p>
        </p:txBody>
      </p:sp>
      <p:sp>
        <p:nvSpPr>
          <p:cNvPr id="7" name="Text 5"/>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STRATEGY</a:t>
            </a:r>
            <a:endParaRPr lang="en-US" sz="1200" dirty="0"/>
          </a:p>
        </p:txBody>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APPENDIX</a:t>
            </a:r>
            <a:endParaRPr lang="en-US" sz="1200" dirty="0"/>
          </a:p>
        </p:txBody>
      </p:sp>
      <p:sp>
        <p:nvSpPr>
          <p:cNvPr id="9" name="Text 7"/>
          <p:cNvSpPr txBox="1"/>
          <p:nvPr/>
        </p:nvSpPr>
        <p:spPr>
          <a:xfrm>
            <a:off x="457200" y="960120"/>
            <a:ext cx="11247120" cy="274320"/>
          </a:xfrm>
          <a:prstGeom prst="rect">
            <a:avLst/>
          </a:prstGeom>
          <a:noFill/>
          <a:ln/>
        </p:spPr>
        <p:txBody>
          <a:bodyPr wrap="square" lIns="0" tIns="0" rIns="0" bIns="0" rtlCol="0" anchor="t"/>
          <a:lstStyle/>
          <a:p>
            <a:pPr indent="0" marL="0">
              <a:buNone/>
            </a:pPr>
            <a:r>
              <a:rPr lang="en-US" sz="1150" b="1" i="1" dirty="0">
                <a:solidFill>
                  <a:srgbClr val="262626"/>
                </a:solidFill>
                <a:latin typeface="Arial" pitchFamily="34" charset="0"/>
                <a:ea typeface="Arial" pitchFamily="34" charset="-122"/>
                <a:cs typeface="Arial" pitchFamily="34" charset="-120"/>
              </a:rPr>
              <a:t>Long bonds face rising rates; buy-and-hold equity faces record volatility, concentration and stretched valuations</a:t>
            </a:r>
            <a:endParaRPr lang="en-US" sz="1150" dirty="0"/>
          </a:p>
        </p:txBody>
      </p:sp>
      <p:sp>
        <p:nvSpPr>
          <p:cNvPr id="10" name="Shape 8"/>
          <p:cNvSpPr/>
          <p:nvPr/>
        </p:nvSpPr>
        <p:spPr>
          <a:xfrm>
            <a:off x="457200" y="1325880"/>
            <a:ext cx="3730752" cy="292608"/>
          </a:xfrm>
          <a:prstGeom prst="rect">
            <a:avLst/>
          </a:prstGeom>
          <a:solidFill>
            <a:srgbClr val="2C5F82"/>
          </a:solidFill>
          <a:ln w="12700">
            <a:solidFill>
              <a:srgbClr val="2C5F82"/>
            </a:solidFill>
            <a:prstDash val="solid"/>
          </a:ln>
        </p:spPr>
      </p:sp>
      <p:sp>
        <p:nvSpPr>
          <p:cNvPr id="11" name="Text 9"/>
          <p:cNvSpPr txBox="1"/>
          <p:nvPr/>
        </p:nvSpPr>
        <p:spPr>
          <a:xfrm>
            <a:off x="457200" y="1325880"/>
            <a:ext cx="3730752"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Rates are rising again</a:t>
            </a:r>
            <a:endParaRPr lang="en-US" sz="1050" dirty="0"/>
          </a:p>
        </p:txBody>
      </p:sp>
      <p:graphicFrame>
        <p:nvGraphicFramePr>
          <p:cNvPr id="12" name="Chart 0" descr=""/>
          <p:cNvGraphicFramePr/>
          <p:nvPr/>
        </p:nvGraphicFramePr>
        <p:xfrm>
          <a:off x="457200" y="1655064"/>
          <a:ext cx="3730752" cy="1261872"/>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457200" y="2953512"/>
            <a:ext cx="3730752" cy="365760"/>
          </a:xfrm>
          <a:prstGeom prst="rect">
            <a:avLst/>
          </a:prstGeom>
          <a:noFill/>
          <a:ln/>
        </p:spPr>
        <p:txBody>
          <a:bodyPr wrap="square" lIns="0" tIns="0" rIns="0" bIns="0" rtlCol="0" anchor="t"/>
          <a:lstStyle/>
          <a:p>
            <a:pPr indent="0" marL="0">
              <a:buNone/>
            </a:pPr>
            <a:r>
              <a:rPr lang="en-US" sz="850" dirty="0">
                <a:solidFill>
                  <a:srgbClr val="595959"/>
                </a:solidFill>
                <a:latin typeface="Arial" pitchFamily="34" charset="0"/>
                <a:ea typeface="Arial" pitchFamily="34" charset="-122"/>
                <a:cs typeface="Arial" pitchFamily="34" charset="-120"/>
              </a:rPr>
              <a:t>Fed funds upper bound: hikes 2022–23, cuts 2024–25, a hike again on 16 Sep 2026 (median dot 4.1% for end-2026).</a:t>
            </a:r>
            <a:endParaRPr lang="en-US" sz="850" dirty="0"/>
          </a:p>
        </p:txBody>
      </p:sp>
      <p:sp>
        <p:nvSpPr>
          <p:cNvPr id="14" name="Shape 11"/>
          <p:cNvSpPr/>
          <p:nvPr/>
        </p:nvSpPr>
        <p:spPr>
          <a:xfrm>
            <a:off x="4370832" y="1325880"/>
            <a:ext cx="3730752" cy="292608"/>
          </a:xfrm>
          <a:prstGeom prst="rect">
            <a:avLst/>
          </a:prstGeom>
          <a:solidFill>
            <a:srgbClr val="2C5F82"/>
          </a:solidFill>
          <a:ln w="12700">
            <a:solidFill>
              <a:srgbClr val="2C5F82"/>
            </a:solidFill>
            <a:prstDash val="solid"/>
          </a:ln>
        </p:spPr>
      </p:sp>
      <p:sp>
        <p:nvSpPr>
          <p:cNvPr id="15" name="Text 12"/>
          <p:cNvSpPr txBox="1"/>
          <p:nvPr/>
        </p:nvSpPr>
        <p:spPr>
          <a:xfrm>
            <a:off x="4370832" y="1325880"/>
            <a:ext cx="3730752"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Equity paths are violent</a:t>
            </a:r>
            <a:endParaRPr lang="en-US" sz="1050" dirty="0"/>
          </a:p>
        </p:txBody>
      </p:sp>
      <p:graphicFrame>
        <p:nvGraphicFramePr>
          <p:cNvPr id="16" name="Chart 1" descr=""/>
          <p:cNvGraphicFramePr/>
          <p:nvPr/>
        </p:nvGraphicFramePr>
        <p:xfrm>
          <a:off x="4370832" y="1655064"/>
          <a:ext cx="3730752" cy="1261872"/>
        </p:xfrm>
        <a:graphic xmlns:a="http://schemas.openxmlformats.org/drawingml/2006/main">
          <a:graphicData uri="http://schemas.openxmlformats.org/drawingml/2006/chart">
            <c:chart xmlns:c="http://schemas.openxmlformats.org/drawingml/2006/chart" r:id="rId2"/>
          </a:graphicData>
        </a:graphic>
      </p:graphicFrame>
      <p:sp>
        <p:nvSpPr>
          <p:cNvPr id="17" name="Text 13"/>
          <p:cNvSpPr txBox="1"/>
          <p:nvPr/>
        </p:nvSpPr>
        <p:spPr>
          <a:xfrm>
            <a:off x="4370832" y="2953512"/>
            <a:ext cx="3730752" cy="365760"/>
          </a:xfrm>
          <a:prstGeom prst="rect">
            <a:avLst/>
          </a:prstGeom>
          <a:noFill/>
          <a:ln/>
        </p:spPr>
        <p:txBody>
          <a:bodyPr wrap="square" lIns="0" tIns="0" rIns="0" bIns="0" rtlCol="0" anchor="t"/>
          <a:lstStyle/>
          <a:p>
            <a:pPr indent="0" marL="0">
              <a:buNone/>
            </a:pPr>
            <a:r>
              <a:rPr lang="en-US" sz="850" dirty="0">
                <a:solidFill>
                  <a:srgbClr val="595959"/>
                </a:solidFill>
                <a:latin typeface="Arial" pitchFamily="34" charset="0"/>
                <a:ea typeface="Arial" pitchFamily="34" charset="-122"/>
                <a:cs typeface="Arial" pitchFamily="34" charset="-120"/>
              </a:rPr>
              <a:t>Index levels, end-2021 = 100: −10–25% in 2022, then 2–3×. KOSPI fell ~25% from June to late August 2026.</a:t>
            </a:r>
            <a:endParaRPr lang="en-US" sz="850" dirty="0"/>
          </a:p>
        </p:txBody>
      </p:sp>
      <p:sp>
        <p:nvSpPr>
          <p:cNvPr id="18" name="Shape 14"/>
          <p:cNvSpPr/>
          <p:nvPr/>
        </p:nvSpPr>
        <p:spPr>
          <a:xfrm>
            <a:off x="457200" y="3383280"/>
            <a:ext cx="3730752" cy="292608"/>
          </a:xfrm>
          <a:prstGeom prst="rect">
            <a:avLst/>
          </a:prstGeom>
          <a:solidFill>
            <a:srgbClr val="2C5F82"/>
          </a:solidFill>
          <a:ln w="12700">
            <a:solidFill>
              <a:srgbClr val="2C5F82"/>
            </a:solidFill>
            <a:prstDash val="solid"/>
          </a:ln>
        </p:spPr>
      </p:sp>
      <p:sp>
        <p:nvSpPr>
          <p:cNvPr id="19" name="Text 15"/>
          <p:cNvSpPr txBox="1"/>
          <p:nvPr/>
        </p:nvSpPr>
        <p:spPr>
          <a:xfrm>
            <a:off x="457200" y="3383280"/>
            <a:ext cx="3730752"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Long bonds carry rate risk</a:t>
            </a:r>
            <a:endParaRPr lang="en-US" sz="1050" dirty="0"/>
          </a:p>
        </p:txBody>
      </p:sp>
      <p:graphicFrame>
        <p:nvGraphicFramePr>
          <p:cNvPr id="20" name="Chart 2" descr=""/>
          <p:cNvGraphicFramePr/>
          <p:nvPr/>
        </p:nvGraphicFramePr>
        <p:xfrm>
          <a:off x="457200" y="3712464"/>
          <a:ext cx="3730752" cy="1261872"/>
        </p:xfrm>
        <a:graphic xmlns:a="http://schemas.openxmlformats.org/drawingml/2006/main">
          <a:graphicData uri="http://schemas.openxmlformats.org/drawingml/2006/chart">
            <c:chart xmlns:c="http://schemas.openxmlformats.org/drawingml/2006/chart" r:id="rId3"/>
          </a:graphicData>
        </a:graphic>
      </p:graphicFrame>
      <p:sp>
        <p:nvSpPr>
          <p:cNvPr id="21" name="Text 16"/>
          <p:cNvSpPr txBox="1"/>
          <p:nvPr/>
        </p:nvSpPr>
        <p:spPr>
          <a:xfrm>
            <a:off x="457200" y="5010912"/>
            <a:ext cx="3730752" cy="365760"/>
          </a:xfrm>
          <a:prstGeom prst="rect">
            <a:avLst/>
          </a:prstGeom>
          <a:noFill/>
          <a:ln/>
        </p:spPr>
        <p:txBody>
          <a:bodyPr wrap="square" lIns="0" tIns="0" rIns="0" bIns="0" rtlCol="0" anchor="t"/>
          <a:lstStyle/>
          <a:p>
            <a:pPr indent="0" marL="0">
              <a:buNone/>
            </a:pPr>
            <a:r>
              <a:rPr lang="en-US" sz="850" dirty="0">
                <a:solidFill>
                  <a:srgbClr val="595959"/>
                </a:solidFill>
                <a:latin typeface="Arial" pitchFamily="34" charset="0"/>
                <a:ea typeface="Arial" pitchFamily="34" charset="-122"/>
                <a:cs typeface="Arial" pitchFamily="34" charset="-120"/>
              </a:rPr>
              <a:t>Value change of a 5-year USD bond (5.69% coupon) for parallel rate moves of −2% to +2%.</a:t>
            </a:r>
            <a:endParaRPr lang="en-US" sz="850" dirty="0"/>
          </a:p>
        </p:txBody>
      </p:sp>
      <p:sp>
        <p:nvSpPr>
          <p:cNvPr id="22" name="Shape 17"/>
          <p:cNvSpPr/>
          <p:nvPr/>
        </p:nvSpPr>
        <p:spPr>
          <a:xfrm>
            <a:off x="4370832" y="3383280"/>
            <a:ext cx="3730752" cy="292608"/>
          </a:xfrm>
          <a:prstGeom prst="rect">
            <a:avLst/>
          </a:prstGeom>
          <a:solidFill>
            <a:srgbClr val="2C5F82"/>
          </a:solidFill>
          <a:ln w="12700">
            <a:solidFill>
              <a:srgbClr val="2C5F82"/>
            </a:solidFill>
            <a:prstDash val="solid"/>
          </a:ln>
        </p:spPr>
      </p:sp>
      <p:sp>
        <p:nvSpPr>
          <p:cNvPr id="23" name="Text 18"/>
          <p:cNvSpPr txBox="1"/>
          <p:nvPr/>
        </p:nvSpPr>
        <p:spPr>
          <a:xfrm>
            <a:off x="4370832" y="3383280"/>
            <a:ext cx="3730752"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Valuations already price in a lot</a:t>
            </a:r>
            <a:endParaRPr lang="en-US" sz="1050" dirty="0"/>
          </a:p>
        </p:txBody>
      </p:sp>
      <p:graphicFrame>
        <p:nvGraphicFramePr>
          <p:cNvPr id="24" name="Chart 3" descr=""/>
          <p:cNvGraphicFramePr/>
          <p:nvPr/>
        </p:nvGraphicFramePr>
        <p:xfrm>
          <a:off x="4370832" y="3712464"/>
          <a:ext cx="3730752" cy="1261872"/>
        </p:xfrm>
        <a:graphic xmlns:a="http://schemas.openxmlformats.org/drawingml/2006/main">
          <a:graphicData uri="http://schemas.openxmlformats.org/drawingml/2006/chart">
            <c:chart xmlns:c="http://schemas.openxmlformats.org/drawingml/2006/chart" r:id="rId4"/>
          </a:graphicData>
        </a:graphic>
      </p:graphicFrame>
      <p:sp>
        <p:nvSpPr>
          <p:cNvPr id="25" name="Text 19"/>
          <p:cNvSpPr txBox="1"/>
          <p:nvPr/>
        </p:nvSpPr>
        <p:spPr>
          <a:xfrm>
            <a:off x="4370832" y="5010912"/>
            <a:ext cx="3730752" cy="365760"/>
          </a:xfrm>
          <a:prstGeom prst="rect">
            <a:avLst/>
          </a:prstGeom>
          <a:noFill/>
          <a:ln/>
        </p:spPr>
        <p:txBody>
          <a:bodyPr wrap="square" lIns="0" tIns="0" rIns="0" bIns="0" rtlCol="0" anchor="t"/>
          <a:lstStyle/>
          <a:p>
            <a:pPr indent="0" marL="0">
              <a:buNone/>
            </a:pPr>
            <a:r>
              <a:rPr lang="en-US" sz="850" dirty="0">
                <a:solidFill>
                  <a:srgbClr val="595959"/>
                </a:solidFill>
                <a:latin typeface="Arial" pitchFamily="34" charset="0"/>
                <a:ea typeface="Arial" pitchFamily="34" charset="-122"/>
                <a:cs typeface="Arial" pitchFamily="34" charset="-120"/>
              </a:rPr>
              <a:t>Siblis Research, 1 Jul 2026. Korea's gap assumes earnings roughly triple; Nikkei CAPE 38.6×; Taiwan among the most expensive markets.</a:t>
            </a:r>
            <a:endParaRPr lang="en-US" sz="850" dirty="0"/>
          </a:p>
        </p:txBody>
      </p:sp>
      <p:sp>
        <p:nvSpPr>
          <p:cNvPr id="26" name="Text 20"/>
          <p:cNvSpPr txBox="1"/>
          <p:nvPr/>
        </p:nvSpPr>
        <p:spPr>
          <a:xfrm>
            <a:off x="8211312" y="1280160"/>
            <a:ext cx="3520440" cy="320040"/>
          </a:xfrm>
          <a:prstGeom prst="rect">
            <a:avLst/>
          </a:prstGeom>
          <a:noFill/>
          <a:ln/>
        </p:spPr>
        <p:txBody>
          <a:bodyPr wrap="square" lIns="0" tIns="0" rIns="0" bIns="0" rtlCol="0" anchor="t"/>
          <a:lstStyle/>
          <a:p>
            <a:pPr algn="ctr" indent="0" marL="0">
              <a:buNone/>
            </a:pPr>
            <a:r>
              <a:rPr lang="en-US" sz="1500" b="1" dirty="0">
                <a:solidFill>
                  <a:srgbClr val="262626"/>
                </a:solidFill>
                <a:latin typeface="Arial" pitchFamily="34" charset="0"/>
                <a:ea typeface="Arial" pitchFamily="34" charset="-122"/>
                <a:cs typeface="Arial" pitchFamily="34" charset="-120"/>
              </a:rPr>
              <a:t>Implications</a:t>
            </a:r>
            <a:endParaRPr lang="en-US" sz="1500" dirty="0"/>
          </a:p>
        </p:txBody>
      </p:sp>
      <p:sp>
        <p:nvSpPr>
          <p:cNvPr id="27" name="Shape 21"/>
          <p:cNvSpPr/>
          <p:nvPr/>
        </p:nvSpPr>
        <p:spPr>
          <a:xfrm>
            <a:off x="8485632" y="1627632"/>
            <a:ext cx="2971800" cy="0"/>
          </a:xfrm>
          <a:prstGeom prst="line">
            <a:avLst/>
          </a:prstGeom>
          <a:noFill/>
          <a:ln w="9525">
            <a:solidFill>
              <a:srgbClr val="2C5F82"/>
            </a:solidFill>
            <a:prstDash val="solid"/>
          </a:ln>
        </p:spPr>
      </p:sp>
      <p:sp>
        <p:nvSpPr>
          <p:cNvPr id="28" name="Shape 22"/>
          <p:cNvSpPr/>
          <p:nvPr/>
        </p:nvSpPr>
        <p:spPr>
          <a:xfrm>
            <a:off x="8211312" y="1719072"/>
            <a:ext cx="3520440" cy="658368"/>
          </a:xfrm>
          <a:prstGeom prst="rect">
            <a:avLst/>
          </a:prstGeom>
          <a:solidFill>
            <a:srgbClr val="FFFFFF"/>
          </a:solidFill>
          <a:ln w="12700">
            <a:solidFill>
              <a:srgbClr val="2C5F82"/>
            </a:solidFill>
            <a:prstDash val="solid"/>
          </a:ln>
        </p:spPr>
      </p:sp>
      <p:sp>
        <p:nvSpPr>
          <p:cNvPr id="29" name="Text 23"/>
          <p:cNvSpPr txBox="1"/>
          <p:nvPr/>
        </p:nvSpPr>
        <p:spPr>
          <a:xfrm>
            <a:off x="8257032" y="1719072"/>
            <a:ext cx="411480" cy="658368"/>
          </a:xfrm>
          <a:prstGeom prst="rect">
            <a:avLst/>
          </a:prstGeom>
          <a:noFill/>
          <a:ln/>
        </p:spPr>
        <p:txBody>
          <a:bodyPr wrap="square" lIns="0" tIns="0" rIns="0" bIns="0" rtlCol="0" anchor="ctr"/>
          <a:lstStyle/>
          <a:p>
            <a:pPr algn="ctr" indent="0" marL="0">
              <a:buNone/>
            </a:pPr>
            <a:r>
              <a:rPr lang="en-US" sz="2200" b="1" i="1" dirty="0">
                <a:solidFill>
                  <a:srgbClr val="2C5F82"/>
                </a:solidFill>
                <a:latin typeface="Arial" pitchFamily="34" charset="0"/>
                <a:ea typeface="Arial" pitchFamily="34" charset="-122"/>
                <a:cs typeface="Arial" pitchFamily="34" charset="-120"/>
              </a:rPr>
              <a:t>1</a:t>
            </a:r>
            <a:endParaRPr lang="en-US" sz="2200" dirty="0"/>
          </a:p>
        </p:txBody>
      </p:sp>
      <p:sp>
        <p:nvSpPr>
          <p:cNvPr id="30" name="Text 24"/>
          <p:cNvSpPr txBox="1"/>
          <p:nvPr/>
        </p:nvSpPr>
        <p:spPr>
          <a:xfrm>
            <a:off x="8714232" y="1746504"/>
            <a:ext cx="2926080" cy="603504"/>
          </a:xfrm>
          <a:prstGeom prst="rect">
            <a:avLst/>
          </a:prstGeom>
          <a:noFill/>
          <a:ln/>
        </p:spPr>
        <p:txBody>
          <a:bodyPr wrap="square" lIns="0" tIns="0" rIns="0" bIns="0" rtlCol="0" anchor="ctr"/>
          <a:lstStyle/>
          <a:p>
            <a:pPr indent="0" marL="0">
              <a:buNone/>
            </a:pPr>
            <a:r>
              <a:rPr lang="en-US" sz="900" b="1" dirty="0">
                <a:solidFill>
                  <a:srgbClr val="262626"/>
                </a:solidFill>
                <a:latin typeface="Arial" pitchFamily="34" charset="0"/>
                <a:ea typeface="Arial" pitchFamily="34" charset="-122"/>
                <a:cs typeface="Arial" pitchFamily="34" charset="-120"/>
              </a:rPr>
              <a:t>Bonds: duration hurts: </a:t>
            </a:r>
            <a:pPr indent="0" marL="0">
              <a:buNone/>
            </a:pPr>
            <a:r>
              <a:rPr lang="en-US" sz="900" dirty="0">
                <a:solidFill>
                  <a:srgbClr val="595959"/>
                </a:solidFill>
                <a:latin typeface="Arial" pitchFamily="34" charset="0"/>
                <a:ea typeface="Arial" pitchFamily="34" charset="-122"/>
                <a:cs typeface="Arial" pitchFamily="34" charset="-120"/>
              </a:rPr>
              <a:t>A 5Y bond loses ~4.0% per 1% rate rise as the Fed hikes again</a:t>
            </a:r>
            <a:endParaRPr lang="en-US" sz="900" dirty="0"/>
          </a:p>
        </p:txBody>
      </p:sp>
      <p:sp>
        <p:nvSpPr>
          <p:cNvPr id="31" name="Shape 25"/>
          <p:cNvSpPr/>
          <p:nvPr/>
        </p:nvSpPr>
        <p:spPr>
          <a:xfrm>
            <a:off x="8211312" y="2450592"/>
            <a:ext cx="3520440" cy="658368"/>
          </a:xfrm>
          <a:prstGeom prst="rect">
            <a:avLst/>
          </a:prstGeom>
          <a:solidFill>
            <a:srgbClr val="FFFFFF"/>
          </a:solidFill>
          <a:ln w="12700">
            <a:solidFill>
              <a:srgbClr val="2C5F82"/>
            </a:solidFill>
            <a:prstDash val="solid"/>
          </a:ln>
        </p:spPr>
      </p:sp>
      <p:sp>
        <p:nvSpPr>
          <p:cNvPr id="32" name="Text 26"/>
          <p:cNvSpPr txBox="1"/>
          <p:nvPr/>
        </p:nvSpPr>
        <p:spPr>
          <a:xfrm>
            <a:off x="8257032" y="2450592"/>
            <a:ext cx="411480" cy="658368"/>
          </a:xfrm>
          <a:prstGeom prst="rect">
            <a:avLst/>
          </a:prstGeom>
          <a:noFill/>
          <a:ln/>
        </p:spPr>
        <p:txBody>
          <a:bodyPr wrap="square" lIns="0" tIns="0" rIns="0" bIns="0" rtlCol="0" anchor="ctr"/>
          <a:lstStyle/>
          <a:p>
            <a:pPr algn="ctr" indent="0" marL="0">
              <a:buNone/>
            </a:pPr>
            <a:r>
              <a:rPr lang="en-US" sz="2200" b="1" i="1" dirty="0">
                <a:solidFill>
                  <a:srgbClr val="2C5F82"/>
                </a:solidFill>
                <a:latin typeface="Arial" pitchFamily="34" charset="0"/>
                <a:ea typeface="Arial" pitchFamily="34" charset="-122"/>
                <a:cs typeface="Arial" pitchFamily="34" charset="-120"/>
              </a:rPr>
              <a:t>2</a:t>
            </a:r>
            <a:endParaRPr lang="en-US" sz="2200" dirty="0"/>
          </a:p>
        </p:txBody>
      </p:sp>
      <p:sp>
        <p:nvSpPr>
          <p:cNvPr id="33" name="Text 27"/>
          <p:cNvSpPr txBox="1"/>
          <p:nvPr/>
        </p:nvSpPr>
        <p:spPr>
          <a:xfrm>
            <a:off x="8714232" y="2478024"/>
            <a:ext cx="2926080" cy="603504"/>
          </a:xfrm>
          <a:prstGeom prst="rect">
            <a:avLst/>
          </a:prstGeom>
          <a:noFill/>
          <a:ln/>
        </p:spPr>
        <p:txBody>
          <a:bodyPr wrap="square" lIns="0" tIns="0" rIns="0" bIns="0" rtlCol="0" anchor="ctr"/>
          <a:lstStyle/>
          <a:p>
            <a:pPr indent="0" marL="0">
              <a:buNone/>
            </a:pPr>
            <a:r>
              <a:rPr lang="en-US" sz="900" b="1" dirty="0">
                <a:solidFill>
                  <a:srgbClr val="262626"/>
                </a:solidFill>
                <a:latin typeface="Arial" pitchFamily="34" charset="0"/>
                <a:ea typeface="Arial" pitchFamily="34" charset="-122"/>
                <a:cs typeface="Arial" pitchFamily="34" charset="-120"/>
              </a:rPr>
              <a:t>Stocks: drawdowns are fast: </a:t>
            </a:r>
            <a:pPr indent="0" marL="0">
              <a:buNone/>
            </a:pPr>
            <a:r>
              <a:rPr lang="en-US" sz="900" dirty="0">
                <a:solidFill>
                  <a:srgbClr val="595959"/>
                </a:solidFill>
                <a:latin typeface="Arial" pitchFamily="34" charset="0"/>
                <a:ea typeface="Arial" pitchFamily="34" charset="-122"/>
                <a:cs typeface="Arial" pitchFamily="34" charset="-120"/>
              </a:rPr>
              <a:t>−25% in ten weeks (KOSPI 2026); −25–36% in 2022</a:t>
            </a:r>
            <a:endParaRPr lang="en-US" sz="900" dirty="0"/>
          </a:p>
        </p:txBody>
      </p:sp>
      <p:sp>
        <p:nvSpPr>
          <p:cNvPr id="34" name="Shape 28"/>
          <p:cNvSpPr/>
          <p:nvPr/>
        </p:nvSpPr>
        <p:spPr>
          <a:xfrm>
            <a:off x="8211312" y="3182112"/>
            <a:ext cx="3520440" cy="658368"/>
          </a:xfrm>
          <a:prstGeom prst="rect">
            <a:avLst/>
          </a:prstGeom>
          <a:solidFill>
            <a:srgbClr val="FFFFFF"/>
          </a:solidFill>
          <a:ln w="12700">
            <a:solidFill>
              <a:srgbClr val="2C5F82"/>
            </a:solidFill>
            <a:prstDash val="solid"/>
          </a:ln>
        </p:spPr>
      </p:sp>
      <p:sp>
        <p:nvSpPr>
          <p:cNvPr id="35" name="Text 29"/>
          <p:cNvSpPr txBox="1"/>
          <p:nvPr/>
        </p:nvSpPr>
        <p:spPr>
          <a:xfrm>
            <a:off x="8257032" y="3182112"/>
            <a:ext cx="411480" cy="658368"/>
          </a:xfrm>
          <a:prstGeom prst="rect">
            <a:avLst/>
          </a:prstGeom>
          <a:noFill/>
          <a:ln/>
        </p:spPr>
        <p:txBody>
          <a:bodyPr wrap="square" lIns="0" tIns="0" rIns="0" bIns="0" rtlCol="0" anchor="ctr"/>
          <a:lstStyle/>
          <a:p>
            <a:pPr algn="ctr" indent="0" marL="0">
              <a:buNone/>
            </a:pPr>
            <a:r>
              <a:rPr lang="en-US" sz="2200" b="1" i="1" dirty="0">
                <a:solidFill>
                  <a:srgbClr val="2C5F82"/>
                </a:solidFill>
                <a:latin typeface="Arial" pitchFamily="34" charset="0"/>
                <a:ea typeface="Arial" pitchFamily="34" charset="-122"/>
                <a:cs typeface="Arial" pitchFamily="34" charset="-120"/>
              </a:rPr>
              <a:t>3</a:t>
            </a:r>
            <a:endParaRPr lang="en-US" sz="2200" dirty="0"/>
          </a:p>
        </p:txBody>
      </p:sp>
      <p:sp>
        <p:nvSpPr>
          <p:cNvPr id="36" name="Text 30"/>
          <p:cNvSpPr txBox="1"/>
          <p:nvPr/>
        </p:nvSpPr>
        <p:spPr>
          <a:xfrm>
            <a:off x="8714232" y="3209544"/>
            <a:ext cx="2926080" cy="603504"/>
          </a:xfrm>
          <a:prstGeom prst="rect">
            <a:avLst/>
          </a:prstGeom>
          <a:noFill/>
          <a:ln/>
        </p:spPr>
        <p:txBody>
          <a:bodyPr wrap="square" lIns="0" tIns="0" rIns="0" bIns="0" rtlCol="0" anchor="ctr"/>
          <a:lstStyle/>
          <a:p>
            <a:pPr indent="0" marL="0">
              <a:buNone/>
            </a:pPr>
            <a:r>
              <a:rPr lang="en-US" sz="900" b="1" dirty="0">
                <a:solidFill>
                  <a:srgbClr val="262626"/>
                </a:solidFill>
                <a:latin typeface="Arial" pitchFamily="34" charset="0"/>
                <a:ea typeface="Arial" pitchFamily="34" charset="-122"/>
                <a:cs typeface="Arial" pitchFamily="34" charset="-120"/>
              </a:rPr>
              <a:t>Concentration: few names drive all: </a:t>
            </a:r>
            <a:pPr indent="0" marL="0">
              <a:buNone/>
            </a:pPr>
            <a:r>
              <a:rPr lang="en-US" sz="900" dirty="0">
                <a:solidFill>
                  <a:srgbClr val="595959"/>
                </a:solidFill>
                <a:latin typeface="Arial" pitchFamily="34" charset="0"/>
                <a:ea typeface="Arial" pitchFamily="34" charset="-122"/>
                <a:cs typeface="Arial" pitchFamily="34" charset="-120"/>
              </a:rPr>
              <a:t>TSMC &gt;40% of TAIEX; Samsung + SK hynix ~48% of KOSPI; ~92% of advanced chips from Taiwan</a:t>
            </a:r>
            <a:endParaRPr lang="en-US" sz="900" dirty="0"/>
          </a:p>
        </p:txBody>
      </p:sp>
      <p:sp>
        <p:nvSpPr>
          <p:cNvPr id="37" name="Shape 31"/>
          <p:cNvSpPr/>
          <p:nvPr/>
        </p:nvSpPr>
        <p:spPr>
          <a:xfrm>
            <a:off x="8211312" y="3913632"/>
            <a:ext cx="3520440" cy="658368"/>
          </a:xfrm>
          <a:prstGeom prst="rect">
            <a:avLst/>
          </a:prstGeom>
          <a:solidFill>
            <a:srgbClr val="FFFFFF"/>
          </a:solidFill>
          <a:ln w="12700">
            <a:solidFill>
              <a:srgbClr val="2C5F82"/>
            </a:solidFill>
            <a:prstDash val="solid"/>
          </a:ln>
        </p:spPr>
      </p:sp>
      <p:sp>
        <p:nvSpPr>
          <p:cNvPr id="38" name="Text 32"/>
          <p:cNvSpPr txBox="1"/>
          <p:nvPr/>
        </p:nvSpPr>
        <p:spPr>
          <a:xfrm>
            <a:off x="8257032" y="3913632"/>
            <a:ext cx="411480" cy="658368"/>
          </a:xfrm>
          <a:prstGeom prst="rect">
            <a:avLst/>
          </a:prstGeom>
          <a:noFill/>
          <a:ln/>
        </p:spPr>
        <p:txBody>
          <a:bodyPr wrap="square" lIns="0" tIns="0" rIns="0" bIns="0" rtlCol="0" anchor="ctr"/>
          <a:lstStyle/>
          <a:p>
            <a:pPr algn="ctr" indent="0" marL="0">
              <a:buNone/>
            </a:pPr>
            <a:r>
              <a:rPr lang="en-US" sz="2200" b="1" i="1" dirty="0">
                <a:solidFill>
                  <a:srgbClr val="2C5F82"/>
                </a:solidFill>
                <a:latin typeface="Arial" pitchFamily="34" charset="0"/>
                <a:ea typeface="Arial" pitchFamily="34" charset="-122"/>
                <a:cs typeface="Arial" pitchFamily="34" charset="-120"/>
              </a:rPr>
              <a:t>4</a:t>
            </a:r>
            <a:endParaRPr lang="en-US" sz="2200" dirty="0"/>
          </a:p>
        </p:txBody>
      </p:sp>
      <p:sp>
        <p:nvSpPr>
          <p:cNvPr id="39" name="Text 33"/>
          <p:cNvSpPr txBox="1"/>
          <p:nvPr/>
        </p:nvSpPr>
        <p:spPr>
          <a:xfrm>
            <a:off x="8714232" y="3941064"/>
            <a:ext cx="2926080" cy="603504"/>
          </a:xfrm>
          <a:prstGeom prst="rect">
            <a:avLst/>
          </a:prstGeom>
          <a:noFill/>
          <a:ln/>
        </p:spPr>
        <p:txBody>
          <a:bodyPr wrap="square" lIns="0" tIns="0" rIns="0" bIns="0" rtlCol="0" anchor="ctr"/>
          <a:lstStyle/>
          <a:p>
            <a:pPr indent="0" marL="0">
              <a:buNone/>
            </a:pPr>
            <a:r>
              <a:rPr lang="en-US" sz="900" b="1" dirty="0">
                <a:solidFill>
                  <a:srgbClr val="262626"/>
                </a:solidFill>
                <a:latin typeface="Arial" pitchFamily="34" charset="0"/>
                <a:ea typeface="Arial" pitchFamily="34" charset="-122"/>
                <a:cs typeface="Arial" pitchFamily="34" charset="-120"/>
              </a:rPr>
              <a:t>Volatility: at records: </a:t>
            </a:r>
            <a:pPr indent="0" marL="0">
              <a:buNone/>
            </a:pPr>
            <a:r>
              <a:rPr lang="en-US" sz="900" dirty="0">
                <a:solidFill>
                  <a:srgbClr val="595959"/>
                </a:solidFill>
                <a:latin typeface="Arial" pitchFamily="34" charset="0"/>
                <a:ea typeface="Arial" pitchFamily="34" charset="-122"/>
                <a:cs typeface="Arial" pitchFamily="34" charset="-120"/>
              </a:rPr>
              <a:t>VKOSPI closed at 91.2 (9 Jun 2026), above 2008; circuit breakers fired 3 times in June</a:t>
            </a:r>
            <a:endParaRPr lang="en-US" sz="900" dirty="0"/>
          </a:p>
        </p:txBody>
      </p:sp>
      <p:sp>
        <p:nvSpPr>
          <p:cNvPr id="40" name="Shape 34"/>
          <p:cNvSpPr/>
          <p:nvPr/>
        </p:nvSpPr>
        <p:spPr>
          <a:xfrm>
            <a:off x="8211312" y="4645152"/>
            <a:ext cx="3520440" cy="658368"/>
          </a:xfrm>
          <a:prstGeom prst="rect">
            <a:avLst/>
          </a:prstGeom>
          <a:solidFill>
            <a:srgbClr val="FFFFFF"/>
          </a:solidFill>
          <a:ln w="12700">
            <a:solidFill>
              <a:srgbClr val="2C5F82"/>
            </a:solidFill>
            <a:prstDash val="solid"/>
          </a:ln>
        </p:spPr>
      </p:sp>
      <p:sp>
        <p:nvSpPr>
          <p:cNvPr id="41" name="Text 35"/>
          <p:cNvSpPr txBox="1"/>
          <p:nvPr/>
        </p:nvSpPr>
        <p:spPr>
          <a:xfrm>
            <a:off x="8257032" y="4645152"/>
            <a:ext cx="411480" cy="658368"/>
          </a:xfrm>
          <a:prstGeom prst="rect">
            <a:avLst/>
          </a:prstGeom>
          <a:noFill/>
          <a:ln/>
        </p:spPr>
        <p:txBody>
          <a:bodyPr wrap="square" lIns="0" tIns="0" rIns="0" bIns="0" rtlCol="0" anchor="ctr"/>
          <a:lstStyle/>
          <a:p>
            <a:pPr algn="ctr" indent="0" marL="0">
              <a:buNone/>
            </a:pPr>
            <a:r>
              <a:rPr lang="en-US" sz="2200" b="1" i="1" dirty="0">
                <a:solidFill>
                  <a:srgbClr val="2C5F82"/>
                </a:solidFill>
                <a:latin typeface="Arial" pitchFamily="34" charset="0"/>
                <a:ea typeface="Arial" pitchFamily="34" charset="-122"/>
                <a:cs typeface="Arial" pitchFamily="34" charset="-120"/>
              </a:rPr>
              <a:t>5</a:t>
            </a:r>
            <a:endParaRPr lang="en-US" sz="2200" dirty="0"/>
          </a:p>
        </p:txBody>
      </p:sp>
      <p:sp>
        <p:nvSpPr>
          <p:cNvPr id="42" name="Text 36"/>
          <p:cNvSpPr txBox="1"/>
          <p:nvPr/>
        </p:nvSpPr>
        <p:spPr>
          <a:xfrm>
            <a:off x="8714232" y="4672584"/>
            <a:ext cx="2926080" cy="603504"/>
          </a:xfrm>
          <a:prstGeom prst="rect">
            <a:avLst/>
          </a:prstGeom>
          <a:noFill/>
          <a:ln/>
        </p:spPr>
        <p:txBody>
          <a:bodyPr wrap="square" lIns="0" tIns="0" rIns="0" bIns="0" rtlCol="0" anchor="ctr"/>
          <a:lstStyle/>
          <a:p>
            <a:pPr indent="0" marL="0">
              <a:buNone/>
            </a:pPr>
            <a:r>
              <a:rPr lang="en-US" sz="900" b="1" dirty="0">
                <a:solidFill>
                  <a:srgbClr val="262626"/>
                </a:solidFill>
                <a:latin typeface="Arial" pitchFamily="34" charset="0"/>
                <a:ea typeface="Arial" pitchFamily="34" charset="-122"/>
                <a:cs typeface="Arial" pitchFamily="34" charset="-120"/>
              </a:rPr>
              <a:t>Cycle: late and priced: </a:t>
            </a:r>
            <a:pPr indent="0" marL="0">
              <a:buNone/>
            </a:pPr>
            <a:r>
              <a:rPr lang="en-US" sz="900" dirty="0">
                <a:solidFill>
                  <a:srgbClr val="595959"/>
                </a:solidFill>
                <a:latin typeface="Arial" pitchFamily="34" charset="0"/>
                <a:ea typeface="Arial" pitchFamily="34" charset="-122"/>
                <a:cs typeface="Arial" pitchFamily="34" charset="-120"/>
              </a:rPr>
              <a:t>DRAM price gains slowing; J.P. Morgan's base case has a 10–15% correction in 2026</a:t>
            </a:r>
            <a:endParaRPr lang="en-US" sz="900" dirty="0"/>
          </a:p>
        </p:txBody>
      </p:sp>
      <p:sp>
        <p:nvSpPr>
          <p:cNvPr id="43" name="Shape 37"/>
          <p:cNvSpPr/>
          <p:nvPr/>
        </p:nvSpPr>
        <p:spPr>
          <a:xfrm>
            <a:off x="457200" y="5486400"/>
            <a:ext cx="11274552" cy="438912"/>
          </a:xfrm>
          <a:prstGeom prst="rect">
            <a:avLst/>
          </a:prstGeom>
          <a:solidFill>
            <a:srgbClr val="2C5F82"/>
          </a:solidFill>
          <a:ln w="12700">
            <a:solidFill>
              <a:srgbClr val="2C5F82"/>
            </a:solidFill>
            <a:prstDash val="solid"/>
          </a:ln>
        </p:spPr>
      </p:sp>
      <p:sp>
        <p:nvSpPr>
          <p:cNvPr id="44" name="Text 38"/>
          <p:cNvSpPr txBox="1"/>
          <p:nvPr/>
        </p:nvSpPr>
        <p:spPr>
          <a:xfrm>
            <a:off x="594360" y="5486400"/>
            <a:ext cx="11000232" cy="43891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The theme is attractive, but holding it through plain bonds or plain equities leaves investors exposed to rate, drawdown and concentration risk.</a:t>
            </a:r>
            <a:endParaRPr lang="en-US" sz="1200" dirty="0"/>
          </a:p>
        </p:txBody>
      </p:sp>
      <p:sp>
        <p:nvSpPr>
          <p:cNvPr id="45" name="Text 39"/>
          <p:cNvSpPr txBox="1"/>
          <p:nvPr/>
        </p:nvSpPr>
        <p:spPr>
          <a:xfrm>
            <a:off x="457200" y="5998464"/>
            <a:ext cx="11274552" cy="274320"/>
          </a:xfrm>
          <a:prstGeom prst="rect">
            <a:avLst/>
          </a:prstGeom>
          <a:noFill/>
          <a:ln/>
        </p:spPr>
        <p:txBody>
          <a:bodyPr wrap="square" lIns="0" tIns="0" rIns="0" bIns="0" rtlCol="0" anchor="t"/>
          <a:lstStyle/>
          <a:p>
            <a:pPr indent="0" marL="0">
              <a:buNone/>
            </a:pPr>
            <a:r>
              <a:rPr lang="en-US" sz="800" i="1" dirty="0">
                <a:solidFill>
                  <a:srgbClr val="595959"/>
                </a:solidFill>
                <a:latin typeface="Arial" pitchFamily="34" charset="0"/>
                <a:ea typeface="Arial" pitchFamily="34" charset="-122"/>
                <a:cs typeface="Arial" pitchFamily="34" charset="-120"/>
              </a:rPr>
              <a:t>Sources: Federal Reserve via Advisor Perspectives; TWSE, KRX/press, Nikkei (index levels); Siblis Research (P/E); Herald / SBS (VKOSPI); TrendForce; J.P. Morgan 2026 Outlook; case funding grid with standard bond maths.</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Appendix: sources for the investment thesis</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Text 3"/>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ANALYSIS</a:t>
            </a:r>
            <a:endParaRPr lang="en-US" sz="1200" dirty="0"/>
          </a:p>
        </p:txBody>
      </p:sp>
      <p:sp>
        <p:nvSpPr>
          <p:cNvPr id="6" name="Text 4"/>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STRATEGY</a:t>
            </a:r>
            <a:endParaRPr lang="en-US" sz="1200" dirty="0"/>
          </a:p>
        </p:txBody>
      </p:sp>
      <p:sp>
        <p:nvSpPr>
          <p:cNvPr id="7" name="Shape 5"/>
          <p:cNvSpPr/>
          <p:nvPr/>
        </p:nvSpPr>
        <p:spPr>
          <a:xfrm>
            <a:off x="8677656" y="6364224"/>
            <a:ext cx="2514600" cy="45720"/>
          </a:xfrm>
          <a:prstGeom prst="rect">
            <a:avLst/>
          </a:prstGeom>
          <a:solidFill>
            <a:srgbClr val="2C5F82"/>
          </a:solidFill>
          <a:ln w="12700">
            <a:solidFill>
              <a:srgbClr val="2C5F82"/>
            </a:solidFill>
            <a:prstDash val="solid"/>
          </a:ln>
        </p:spPr>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APPENDIX</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11274552" cy="914400"/>
        </p:xfrm>
        <a:graphic>
          <a:graphicData uri="http://schemas.openxmlformats.org/drawingml/2006/table">
            <a:tbl>
              <a:tblPr/>
              <a:tblGrid>
                <a:gridCol w="6583680"/>
                <a:gridCol w="4690872"/>
              </a:tblGrid>
              <a:tr h="256032">
                <a:tc>
                  <a:txBody>
                    <a:bodyPr/>
                    <a:lstStyle/>
                    <a:p>
                      <a:pPr indent="0" marL="0">
                        <a:buNone/>
                      </a:pPr>
                      <a:r>
                        <a:rPr lang="en-US" sz="850" b="1" dirty="0">
                          <a:solidFill>
                            <a:srgbClr val="FFFFFF"/>
                          </a:solidFill>
                          <a:latin typeface="Arial" pitchFamily="34" charset="0"/>
                          <a:ea typeface="Arial" pitchFamily="34" charset="-122"/>
                          <a:cs typeface="Arial" pitchFamily="34" charset="-120"/>
                        </a:rPr>
                        <a:t>Fact used</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2C5F82"/>
                    </a:solidFill>
                  </a:tcPr>
                </a:tc>
                <a:tc>
                  <a:txBody>
                    <a:bodyPr/>
                    <a:lstStyle/>
                    <a:p>
                      <a:pPr indent="0" marL="0">
                        <a:buNone/>
                      </a:pPr>
                      <a:r>
                        <a:rPr lang="en-US" sz="850" b="1" dirty="0">
                          <a:solidFill>
                            <a:srgbClr val="FFFFFF"/>
                          </a:solidFill>
                          <a:latin typeface="Arial" pitchFamily="34" charset="0"/>
                          <a:ea typeface="Arial" pitchFamily="34" charset="-122"/>
                          <a:cs typeface="Arial" pitchFamily="34" charset="-120"/>
                        </a:rPr>
                        <a:t>Source</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2C5F82"/>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TSMC ~70–73% of global foundry revenue (Q1 2026); HPC 58% of 2025 revenue; 3nm sold out through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Counterpoint via press; TSMC results (verify in TSMC quarterly reports)</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TSMC &gt;40% of TAIEX; TAIEX record 48,476 on 2 Oct 2026 (~+67% vs 2025 close 28,963.6)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Trading Economics (Jul, Oct 2026); TWSE 2025 Market Highlights</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HBM revenue share Q2 2026: SK hynix 50%, Samsung 33%, Micron 18%</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Counterpoint Research, Global DRAM and HBM Market Share</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DRAM contract prices: Q2 2026 +45–50% q/q (consumer), Q3 +13–18%, Q4e +10–15% (conventional)</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TrendForce via press (May–Sep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Advantest ~55–58% of test equipment; TEL ~90% of coater/developers; Advantest 12.2% of Nikkei 225</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Industry research summaries (verify in annual reports); Nikkei Asia</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KOSPI forward P/E 7.8x, trailing 23.0x; Nikkei forward 17.2x, CAPE 38.6 (1 Jul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Siblis Research</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Hyperscaler capex ~USD 725bn in 2026, +77% y/y</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Company guidance after Q1 2026, via AI Weekly / Yahoo Finance</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Chip market ~USD 1.5trn in 2026 (+90%); equipment USD 165.9bn (+23.2%), DRAM equip. +39%, test +31%</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WSTS Spring 2026 (2 Jun 2026); SEMI mid-year forecast (14 Jul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US 25% Section 232 tariff on a narrow set of advanced logic chips from 15 Jan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White House Proclamation 11002, via Perkins Coie / Mondaq</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Fed +0.25% to 3.75–4.00% on 16 Sep 2026, first hike since 2023; median dot 4.1% end-2026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Federal Reserve decision, via Advisor Perspectives</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VKOSPI record close 91.23 (9 Jun 2026), above Oct 2008 (89.30); 83.58 on 5 Mar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Herald Corp; SBS; FN News (Jun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KOSPI 9,000+ in June (~+110% YTD), 6,789 on 28 Aug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BIT Research; FN News / Shinhan Securities (31 Aug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2022: TAIEX −31.6% peak to trough; KOSPI −24.9%; SOX −36%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TWSE 2022 Market Highlights; Korea Times; Bloomberg via BNN</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Japan buybacks ¥18.7trn FY2024, ~¥20trn FY2025e; Korea Value-Up Index +30% vs KOSPI 200</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Asset Management One via portfolio institutional; AllianceBernstein</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42 AI stocks = 65–75% of S&amp;P 500 returns/profits/capex; ~92% of advanced chips from Taiwan; 10–15% correction in 2026 base case</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J.P. Morgan AWM, Eye on the Market 2026 Outlook "Smothering Heights" (1 Jan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5Y bond value change for −2% to +2% rate moves; 5Y discount factor 75.8%</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Standard bond maths on the case USD funding grid (5Y 5.69%)</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10" name="Text 7"/>
          <p:cNvSpPr txBox="1"/>
          <p:nvPr/>
        </p:nvSpPr>
        <p:spPr>
          <a:xfrm>
            <a:off x="457200" y="5806440"/>
            <a:ext cx="11274552" cy="274320"/>
          </a:xfrm>
          <a:prstGeom prst="rect">
            <a:avLst/>
          </a:prstGeom>
          <a:noFill/>
          <a:ln/>
        </p:spPr>
        <p:txBody>
          <a:bodyPr wrap="square" lIns="0" tIns="0" rIns="0" bIns="0" rtlCol="0" anchor="t"/>
          <a:lstStyle/>
          <a:p>
            <a:pPr indent="0" marL="0">
              <a:buNone/>
            </a:pPr>
            <a:r>
              <a:rPr lang="en-US" sz="900" i="1" dirty="0">
                <a:solidFill>
                  <a:srgbClr val="595959"/>
                </a:solidFill>
                <a:latin typeface="Arial" pitchFamily="34" charset="0"/>
                <a:ea typeface="Arial" pitchFamily="34" charset="-122"/>
                <a:cs typeface="Arial" pitchFamily="34" charset="-120"/>
              </a:rPr>
              <a:t>Several figures are forecasts or third-party estimates; numbers marked 'verify' come from a single secondary source. Full URLs: deck/thesis_sources.md.</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Investment thesis slides</dc:title>
  <dc:subject>PptxGenJS Presentation</dc:subject>
  <dc:creator>PptxGenJS</dc:creator>
  <cp:lastModifiedBy>PptxGenJS</cp:lastModifiedBy>
  <cp:revision>1</cp:revision>
  <dcterms:created xsi:type="dcterms:W3CDTF">2026-10-08T06:52:22Z</dcterms:created>
  <dcterms:modified xsi:type="dcterms:W3CDTF">2026-10-08T06:52:22Z</dcterms:modified>
</cp:coreProperties>
</file>