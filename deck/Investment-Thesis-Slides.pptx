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262626"/>
                </a:solidFill>
                <a:latin typeface="Arial"/>
              </a:defRPr>
            </a:pPr>
            <a:r>
              <a:rPr sz="1000" b="0" i="0" u="none" strike="noStrike">
                <a:solidFill>
                  <a:srgbClr val="262626"/>
                </a:solidFill>
                <a:latin typeface="Arial"/>
              </a:rPr>
              <a:t>2026 growth vs 2025 (forecast / guidance)</a:t>
            </a:r>
          </a:p>
        </c:rich>
      </c:tx>
      <c:layout/>
      <c:overlay val="0"/>
    </c:title>
    <c:autoTitleDeleted val="0"/>
    <c:plotArea>
      <c:layout/>
      <c:barChart>
        <c:barDir val="bar"/>
        <c:grouping val="clustered"/>
        <c:varyColors val="0"/>
        <c:ser>
          <c:idx val="0"/>
          <c:order val="0"/>
          <c:tx>
            <c:strRef>
              <c:f>Sheet1!$B$1</c:f>
              <c:strCache>
                <c:ptCount val="1"/>
                <c:pt idx="0">
                  <c:v>2026 growth</c:v>
                </c:pt>
              </c:strCache>
            </c:strRef>
          </c:tx>
          <c:spPr>
            <a:solidFill>
              <a:srgbClr val="2C5F82"/>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Hyperscaler capex</c:v>
                  </c:pt>
                  <c:pt idx="1">
                    <c:v>Global chip market (WSTS)</c:v>
                  </c:pt>
                  <c:pt idx="2">
                    <c:v>DRAM equipment (SEMI)</c:v>
                  </c:pt>
                  <c:pt idx="3">
                    <c:v>Chip test equipment (SEMI)</c:v>
                  </c:pt>
                  <c:pt idx="4">
                    <c:v>All chip equipment (SEMI)</c:v>
                  </c:pt>
                </c:lvl>
              </c:multiLvlStrCache>
            </c:multiLvlStrRef>
          </c:cat>
          <c:val>
            <c:numRef>
              <c:f>Sheet1!$B$2:$B$6</c:f>
              <c:numCache>
                <c:formatCode>General</c:formatCode>
                <c:ptCount val="5"/>
                <c:pt idx="0">
                  <c:v>77</c:v>
                </c:pt>
                <c:pt idx="1">
                  <c:v>90</c:v>
                </c:pt>
                <c:pt idx="2">
                  <c:v>39</c:v>
                </c:pt>
                <c:pt idx="3">
                  <c:v>31</c:v>
                </c:pt>
                <c:pt idx="4">
                  <c:v>23.2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9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Korea 'fear index' (VKOSPI) closes</a:t>
            </a:r>
          </a:p>
        </c:rich>
      </c:tx>
      <c:layout/>
      <c:overlay val="0"/>
    </c:title>
    <c:autoTitleDeleted val="0"/>
    <c:plotArea>
      <c:layout/>
      <c:barChart>
        <c:barDir val="col"/>
        <c:grouping val="clustered"/>
        <c:varyColors val="0"/>
        <c:ser>
          <c:idx val="0"/>
          <c:order val="0"/>
          <c:tx>
            <c:strRef>
              <c:f>Sheet1!$B$1</c:f>
              <c:strCache>
                <c:ptCount val="1"/>
                <c:pt idx="0">
                  <c:v>VKOSPI</c:v>
                </c:pt>
              </c:strCache>
            </c:strRef>
          </c:tx>
          <c:spPr>
            <a:solidFill>
              <a:srgbClr val="7F7F7F"/>
            </a:solidFill>
            <a:effectLst/>
          </c:spPr>
          <c:invertIfNegative val="0"/>
          <c:dLbls>
            <c:numFmt formatCode="0.0"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B23B3B"/>
              </a:solidFill>
              <a:effectLst/>
            </c:spPr>
          </c:dPt>
          <c:cat>
            <c:multiLvlStrRef>
              <c:f>Sheet1!$A$2:$A$4</c:f>
              <c:multiLvlStrCache>
                <c:ptCount val="3"/>
                <c:lvl>
                  <c:pt idx="0">
                    <c:v>Oct 2008 (GFC)</c:v>
                  </c:pt>
                  <c:pt idx="1">
                    <c:v>5 Mar 2026 (Iran war)</c:v>
                  </c:pt>
                  <c:pt idx="2">
                    <c:v>9 Jun 2026</c:v>
                  </c:pt>
                </c:lvl>
              </c:multiLvlStrCache>
            </c:multiLvlStrRef>
          </c:cat>
          <c:val>
            <c:numRef>
              <c:f>Sheet1!$B$2:$B$4</c:f>
              <c:numCache>
                <c:formatCode>General</c:formatCode>
                <c:ptCount val="3"/>
                <c:pt idx="0">
                  <c:v>89.3</c:v>
                </c:pt>
                <c:pt idx="1">
                  <c:v>83.6</c:v>
                </c:pt>
                <c:pt idx="2">
                  <c:v>91.2</c:v>
                </c:pt>
              </c:numCache>
            </c:numRef>
          </c:val>
        </c:ser>
        <c:dLbls>
          <c:numFmt formatCode="0.0"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Value change if rates rise 1%</a:t>
            </a:r>
          </a:p>
        </c:rich>
      </c:tx>
      <c:layout/>
      <c:overlay val="0"/>
    </c:title>
    <c:autoTitleDeleted val="0"/>
    <c:plotArea>
      <c:layout/>
      <c:barChart>
        <c:barDir val="col"/>
        <c:grouping val="clustered"/>
        <c:varyColors val="0"/>
        <c:ser>
          <c:idx val="0"/>
          <c:order val="0"/>
          <c:tx>
            <c:strRef>
              <c:f>Sheet1!$B$1</c:f>
              <c:strCache>
                <c:ptCount val="1"/>
                <c:pt idx="0">
                  <c:v>+1% rates</c:v>
                </c:pt>
              </c:strCache>
            </c:strRef>
          </c:tx>
          <c:spPr>
            <a:solidFill>
              <a:srgbClr val="7F7F7F"/>
            </a:solidFill>
            <a:effectLst/>
          </c:spPr>
          <c:invertIfNegative val="0"/>
          <c:dLbls>
            <c:numFmt formatCode="0.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2C5F82"/>
              </a:solidFill>
              <a:effectLst/>
            </c:spPr>
          </c:dPt>
          <c:cat>
            <c:multiLvlStrRef>
              <c:f>Sheet1!$A$2:$A$3</c:f>
              <c:multiLvlStrCache>
                <c:ptCount val="2"/>
                <c:lvl>
                  <c:pt idx="0">
                    <c:v>5Y USD bond</c:v>
                  </c:pt>
                  <c:pt idx="1">
                    <c:v>Our protected autocall</c:v>
                  </c:pt>
                </c:lvl>
              </c:multiLvlStrCache>
            </c:multiLvlStrRef>
          </c:cat>
          <c:val>
            <c:numRef>
              <c:f>Sheet1!$B$2:$B$3</c:f>
              <c:numCache>
                <c:formatCode>General</c:formatCode>
                <c:ptCount val="2"/>
                <c:pt idx="0">
                  <c:v>-4</c:v>
                </c:pt>
                <c:pt idx="1">
                  <c:v>-1.2</c:v>
                </c:pt>
              </c:numCache>
            </c:numRef>
          </c:val>
        </c:ser>
        <c:dLbls>
          <c:numFmt formatCode="0.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-0.5%</c:v>
                  </c:pt>
                  <c:pt idx="2">
                    <c:v>+0.5%</c:v>
                  </c:pt>
                  <c:pt idx="3">
                    <c:v>+1%</c:v>
                  </c:pt>
                </c:lvl>
              </c:multiLvlStrCache>
            </c:multiLvlStrRef>
          </c:cat>
          <c:val>
            <c:numRef>
              <c:f>Sheet1!$B$2:$B$5</c:f>
              <c:numCache>
                <c:formatCode>General</c:formatCode>
                <c:ptCount val="4"/>
                <c:pt idx="0">
                  <c:v>4.5</c:v>
                </c:pt>
                <c:pt idx="1">
                  <c:v>2.3</c:v>
                </c:pt>
                <c:pt idx="2">
                  <c:v>-2</c:v>
                </c:pt>
                <c:pt idx="3">
                  <c:v>-4</c:v>
                </c:pt>
              </c:numCache>
            </c:numRef>
          </c:val>
        </c:ser>
        <c:ser>
          <c:idx val="1"/>
          <c:order val="1"/>
          <c:tx>
            <c:strRef>
              <c:f>Sheet1!$C$1</c:f>
              <c:strCache>
                <c:ptCount val="1"/>
                <c:pt idx="0">
                  <c:v>Our autocall</c:v>
                </c:pt>
              </c:strCache>
            </c:strRef>
          </c:tx>
          <c:spPr>
            <a:solidFill>
              <a:srgbClr val="2C5F82"/>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-0.5%</c:v>
                  </c:pt>
                  <c:pt idx="2">
                    <c:v>+0.5%</c:v>
                  </c:pt>
                  <c:pt idx="3">
                    <c:v>+1%</c:v>
                  </c:pt>
                </c:lvl>
              </c:multiLvlStrCache>
            </c:multiLvlStrRef>
          </c:cat>
          <c:val>
            <c:numRef>
              <c:f>Sheet1!$C$2:$C$5</c:f>
              <c:numCache>
                <c:formatCode>General</c:formatCode>
                <c:ptCount val="4"/>
                <c:pt idx="0">
                  <c:v>1.3</c:v>
                </c:pt>
                <c:pt idx="1">
                  <c:v>0.6</c:v>
                </c:pt>
                <c:pt idx="2">
                  <c:v>-0.6</c:v>
                </c:pt>
                <c:pt idx="3">
                  <c:v>-1.2</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6"/>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VKOSPI</c:v>
                </c:pt>
              </c:strCache>
            </c:strRef>
          </c:tx>
          <c:spPr>
            <a:solidFill>
              <a:srgbClr val="7F7F7F"/>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B23B3B"/>
              </a:solidFill>
              <a:effectLst/>
            </c:spPr>
          </c:dPt>
          <c:cat>
            <c:multiLvlStrRef>
              <c:f>Sheet1!$A$2:$A$4</c:f>
              <c:multiLvlStrCache>
                <c:ptCount val="3"/>
                <c:lvl>
                  <c:pt idx="0">
                    <c:v>Oct 2008</c:v>
                  </c:pt>
                  <c:pt idx="1">
                    <c:v>Mar 2026</c:v>
                  </c:pt>
                  <c:pt idx="2">
                    <c:v>Jun 2026</c:v>
                  </c:pt>
                </c:lvl>
              </c:multiLvlStrCache>
            </c:multiLvlStrRef>
          </c:cat>
          <c:val>
            <c:numRef>
              <c:f>Sheet1!$B$2:$B$4</c:f>
              <c:numCache>
                <c:formatCode>General</c:formatCode>
                <c:ptCount val="3"/>
                <c:pt idx="0">
                  <c:v>89.3</c:v>
                </c:pt>
                <c:pt idx="1">
                  <c:v>83.6</c:v>
                </c:pt>
                <c:pt idx="2">
                  <c:v>91.2</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Our autocall</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5Y bond</c:v>
                </c:pt>
              </c:strCache>
            </c:strRef>
          </c:tx>
          <c:spPr>
            <a:solidFill>
              <a:srgbClr val="404040"/>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c:v>
                  </c:pt>
                  <c:pt idx="1">
                    <c:v>Flat</c:v>
                  </c:pt>
                  <c:pt idx="2">
                    <c:v>Moderate</c:v>
                  </c:pt>
                  <c:pt idx="3">
                    <c:v>Bull</c:v>
                  </c:pt>
                </c:lvl>
              </c:multiLvlStrCache>
            </c:multiLvlStrRef>
          </c:cat>
          <c:val>
            <c:numRef>
              <c:f>Sheet1!$D$2:$D$5</c:f>
              <c:numCache>
                <c:formatCode>General</c:formatCode>
                <c:ptCount val="4"/>
                <c:pt idx="0">
                  <c:v>5.7</c:v>
                </c:pt>
                <c:pt idx="1">
                  <c:v>5.7</c:v>
                </c:pt>
                <c:pt idx="2">
                  <c:v>5.7</c:v>
                </c:pt>
                <c:pt idx="3">
                  <c:v>5.7</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Our autocall: mean IRR</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Sheet1!$B$2:$B$8</c:f>
              <c:numCache>
                <c:formatCode>General</c:formatCode>
                <c:ptCount val="7"/>
                <c:pt idx="0">
                  <c:v>4.69</c:v>
                </c:pt>
                <c:pt idx="1">
                  <c:v>5.09</c:v>
                </c:pt>
                <c:pt idx="2">
                  <c:v>5.41</c:v>
                </c:pt>
                <c:pt idx="3">
                  <c:v>5.72</c:v>
                </c:pt>
                <c:pt idx="4">
                  <c:v>5.98</c:v>
                </c:pt>
                <c:pt idx="5">
                  <c:v>6.21</c:v>
                </c:pt>
                <c:pt idx="6">
                  <c:v>6.39</c:v>
                </c:pt>
              </c:numCache>
            </c:numRef>
          </c:val>
          <c:smooth val="0"/>
        </c:ser>
        <c:ser>
          <c:idx val="1"/>
          <c:order val="1"/>
          <c:tx>
            <c:strRef>
              <c:f>Sheet1!$C$1</c:f>
              <c:strCache>
                <c:ptCount val="1"/>
                <c:pt idx="0">
                  <c:v>5Y bond</c:v>
                </c:pt>
              </c:strCache>
            </c:strRef>
          </c:tx>
          <c:spPr>
            <a:solidFill>
              <a:srgbClr val="404040"/>
            </a:solidFill>
            <a:ln w="25400" cap="flat">
              <a:solidFill>
                <a:srgbClr val="40404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Sheet1!$A$2:$A$8</c:f>
              <c:multiLvlStrCache>
                <c:ptCount val="7"/>
                <c:lvl>
                  <c:pt idx="0">
                    <c:v>0%</c:v>
                  </c:pt>
                  <c:pt idx="1">
                    <c:v>2%</c:v>
                  </c:pt>
                  <c:pt idx="2">
                    <c:v>4%</c:v>
                  </c:pt>
                  <c:pt idx="3">
                    <c:v>6%</c:v>
                  </c:pt>
                  <c:pt idx="4">
                    <c:v>8%</c:v>
                  </c:pt>
                  <c:pt idx="5">
                    <c:v>10%</c:v>
                  </c:pt>
                  <c:pt idx="6">
                    <c:v>12%</c:v>
                  </c:pt>
                </c:lvl>
              </c:multiLvlStrCache>
            </c:multiLvlStrRef>
          </c:cat>
          <c:val>
            <c:numRef>
              <c:f>Sheet1!$C$2:$C$8</c:f>
              <c:numCache>
                <c:formatCode>General</c:formatCode>
                <c:ptCount val="7"/>
                <c:pt idx="0">
                  <c:v>5.69</c:v>
                </c:pt>
                <c:pt idx="1">
                  <c:v>5.69</c:v>
                </c:pt>
                <c:pt idx="2">
                  <c:v>5.69</c:v>
                </c:pt>
                <c:pt idx="3">
                  <c:v>5.69</c:v>
                </c:pt>
                <c:pt idx="4">
                  <c:v>5.69</c:v>
                </c:pt>
                <c:pt idx="5">
                  <c:v>5.69</c:v>
                </c:pt>
                <c:pt idx="6">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7"/>
          <c:min val="4"/>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our three markets each own a bottleneck. The boom is visible in earnings, not just prices: KOSPI's forward P/E of 7.8x against 23x trailing means analysts expect earnings to roughly triple. But the cycle is maturing: memory price increases are decelerating and US tariffs are a live risk. That tension (great theme, risky path) is the bridge to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in two halves. Economic: demand is structural but the path is violent (record VKOSPI, a 25% KOSPI round trip in ten weeks), concentrated and late-cycle; reforms make a recovery to 100% plausible, which is all our coupon needs. Finance: rates are high and rising, so protection is cheap and long-duration bonds are risky. Our note has about a third of a 5-year bond's rate sensitivity and usually returns cash within two years, when a new note would pay more. Record volatility makes our 6.75% coupon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Panel 1: rates are rising, and our note has about a third of a 5-year bond's rate sensitivity. Panel 2: Korean volatility closed at an all-time high in June 2026, above 2008. Panel 3: the note wins or ties in most market types. Panel 4: it beats the bond in about 4 of 5 outcomes, and its average matches the bond at ~6% equity returns. Implications make the case. Use instead of the two-part thesis 2 plus evidence if you need to save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evidence.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chart" Target="/ppt/charts/chart8.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Each market in our basket controls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4645152"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5"/>
          </a:graphicData>
        </a:graphic>
      </p:graphicFrame>
      <p:sp>
        <p:nvSpPr>
          <p:cNvPr id="36"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7"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Leads straight to thesis 2: own it with protection</a:t>
            </a:r>
            <a:endParaRPr lang="en-US" sz="850" dirty="0"/>
          </a:p>
        </p:txBody>
      </p:sp>
      <p:sp>
        <p:nvSpPr>
          <p:cNvPr id="38"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(TAIEX, 2025 close 28,963.6); TrendForce (DRAM); Siblis Research (P/E, 1 Jul 2026); SEMI (14 Jul 2026); WSTS (Jun 2026); company capex guidance; Nikkei; White House Proclamation 11002. Full list in appendix.</a:t>
            </a:r>
            <a:endParaRPr lang="en-US" sz="800" dirty="0"/>
          </a:p>
        </p:txBody>
      </p:sp>
      <p:sp>
        <p:nvSpPr>
          <p:cNvPr id="39"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0"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Own the AI-hardware theme through a protected autocall</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why this theme needs protection</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path</a:t>
            </a:r>
            <a:endParaRPr lang="en-US" sz="1050" dirty="0"/>
          </a:p>
        </p:txBody>
      </p:sp>
      <p:graphicFrame>
        <p:nvGraphicFramePr>
          <p:cNvPr id="12" name="Chart 0" descr=""/>
          <p:cNvGraphicFramePr/>
          <p:nvPr/>
        </p:nvGraphicFramePr>
        <p:xfrm>
          <a:off x="457200" y="1783080"/>
          <a:ext cx="2377440" cy="16002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26080" y="1810512"/>
            <a:ext cx="2971800" cy="1554480"/>
          </a:xfrm>
          <a:prstGeom prst="rect">
            <a:avLst/>
          </a:prstGeom>
          <a:noFill/>
          <a:ln/>
        </p:spPr>
        <p:txBody>
          <a:bodyPr wrap="square" lIns="0" tIns="0" rIns="0" bIns="0" rtlCol="0" anchor="t"/>
          <a:lstStyle/>
          <a:p>
            <a:pPr indent="0" marL="0">
              <a:spcAft>
                <a:spcPts val="300"/>
              </a:spcAft>
              <a:buNone/>
            </a:pPr>
            <a:r>
              <a:rPr lang="en-US" sz="950" b="1" dirty="0">
                <a:solidFill>
                  <a:srgbClr val="2C5F82"/>
                </a:solidFill>
                <a:latin typeface="Arial" pitchFamily="34" charset="0"/>
                <a:ea typeface="Arial" pitchFamily="34" charset="-122"/>
                <a:cs typeface="Arial" pitchFamily="34" charset="-120"/>
              </a:rPr>
              <a:t>Growth is structural…</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Capex +77%, chip market +90% in 2026 (thesis 1).</a:t>
            </a:r>
            <a:endParaRPr lang="en-US" sz="950" dirty="0"/>
          </a:p>
          <a:p>
            <a:pPr indent="0" marL="0">
              <a:spcAft>
                <a:spcPts val="300"/>
              </a:spcAft>
              <a:buNone/>
            </a:pPr>
            <a:r>
              <a:rPr lang="en-US" sz="950" b="1" dirty="0">
                <a:solidFill>
                  <a:srgbClr val="B23B3B"/>
                </a:solidFill>
                <a:latin typeface="Arial" pitchFamily="34" charset="0"/>
                <a:ea typeface="Arial" pitchFamily="34" charset="-122"/>
                <a:cs typeface="Arial" pitchFamily="34" charset="-120"/>
              </a:rPr>
              <a:t>…but the path is violent</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VKOSPI closed at an all-time high of 91.2 on 9 Jun 2026, above the 2008 crisis peak. Circuit breakers fired three times in June.</a:t>
            </a:r>
            <a:endParaRPr lang="en-US" sz="95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Round trips happen fast</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KOSPI hit 9,000+ in June (~+110% YTD), then closed at 6,789 on 28 Aug: about −25% in ten weeks. 2022: chip markets fell 25–36%.</a:t>
            </a:r>
            <a:endParaRPr lang="en-US" sz="93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Returns hinge on a few names</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TSMC is &gt;40% of the TAIEX; Advantest outgrew the Nikkei's 10% weight cap. Taiwan trades among the world's most expensive markets.</a:t>
            </a:r>
            <a:endParaRPr lang="en-US" sz="93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¥20trn</a:t>
            </a:r>
            <a:endParaRPr lang="en-US" sz="1800" dirty="0"/>
          </a:p>
        </p:txBody>
      </p:sp>
      <p:sp>
        <p:nvSpPr>
          <p:cNvPr id="28" name="Text 25"/>
          <p:cNvSpPr txBox="1"/>
          <p:nvPr/>
        </p:nvSpPr>
        <p:spPr>
          <a:xfrm>
            <a:off x="2148840"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Reforms support a recovery to 100%</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Record Japanese buybacks (~¥20trn FY2025 forecast) and Korea's Value-up programme help the basket get back to its start, which is all the coupon needs.</a:t>
            </a:r>
            <a:endParaRPr lang="en-US" sz="93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why an autocall with protection</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volatility is at records. Both favour this structure</a:t>
            </a:r>
            <a:endParaRPr lang="en-US" sz="1050" dirty="0"/>
          </a:p>
        </p:txBody>
      </p:sp>
      <p:graphicFrame>
        <p:nvGraphicFramePr>
          <p:cNvPr id="32" name="Chart 1" descr=""/>
          <p:cNvGraphicFramePr/>
          <p:nvPr/>
        </p:nvGraphicFramePr>
        <p:xfrm>
          <a:off x="6245352" y="1783080"/>
          <a:ext cx="2377440" cy="160020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8714232" y="1810512"/>
            <a:ext cx="2971800" cy="1554480"/>
          </a:xfrm>
          <a:prstGeom prst="rect">
            <a:avLst/>
          </a:prstGeom>
          <a:noFill/>
          <a:ln/>
        </p:spPr>
        <p:txBody>
          <a:bodyPr wrap="square" lIns="0" tIns="0" rIns="0" bIns="0" rtlCol="0" anchor="t"/>
          <a:lstStyle/>
          <a:p>
            <a:pPr indent="0" marL="0">
              <a:spcAft>
                <a:spcPts val="300"/>
              </a:spcAft>
              <a:buNone/>
            </a:pPr>
            <a:r>
              <a:rPr lang="en-US" sz="950" b="1" dirty="0">
                <a:solidFill>
                  <a:srgbClr val="2C5F82"/>
                </a:solidFill>
                <a:latin typeface="Arial" pitchFamily="34" charset="0"/>
                <a:ea typeface="Arial" pitchFamily="34" charset="-122"/>
                <a:cs typeface="Arial" pitchFamily="34" charset="-120"/>
              </a:rPr>
              <a:t>The Fed is hiking again</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16 Sep 2026: +0.25% to 3.75–4.00%, the first hike since 2023; the median dot points to 4.1% by year end.</a:t>
            </a:r>
            <a:endParaRPr lang="en-US" sz="950" dirty="0"/>
          </a:p>
          <a:p>
            <a:pPr indent="0" marL="0">
              <a:spcAft>
                <a:spcPts val="300"/>
              </a:spcAft>
              <a:buNone/>
            </a:pPr>
            <a:r>
              <a:rPr lang="en-US" sz="950" b="1" dirty="0">
                <a:solidFill>
                  <a:srgbClr val="2C5F82"/>
                </a:solidFill>
                <a:latin typeface="Arial" pitchFamily="34" charset="0"/>
                <a:ea typeface="Arial" pitchFamily="34" charset="-122"/>
                <a:cs typeface="Arial" pitchFamily="34" charset="-120"/>
              </a:rPr>
              <a:t>So: avoid long duration</a:t>
            </a:r>
            <a:endParaRPr lang="en-US" sz="950" dirty="0"/>
          </a:p>
          <a:p>
            <a:pPr indent="0" marL="0">
              <a:spcAft>
                <a:spcPts val="300"/>
              </a:spcAft>
              <a:buNone/>
            </a:pPr>
            <a:r>
              <a:rPr lang="en-US" sz="950" dirty="0">
                <a:solidFill>
                  <a:srgbClr val="262626"/>
                </a:solidFill>
                <a:latin typeface="Arial" pitchFamily="34" charset="0"/>
                <a:ea typeface="Arial" pitchFamily="34" charset="-122"/>
                <a:cs typeface="Arial" pitchFamily="34" charset="-120"/>
              </a:rPr>
              <a:t>Our note has ~30% of a 5Y bond's rate risk: it usually ends within ~2 years.</a:t>
            </a:r>
            <a:endParaRPr lang="en-US" sz="95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38" name="Text 34"/>
          <p:cNvSpPr txBox="1"/>
          <p:nvPr/>
        </p:nvSpPr>
        <p:spPr>
          <a:xfrm>
            <a:off x="7936992" y="3520440"/>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High rates make protection cheap</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At 5.69% 5Y funding, USD 100 at year 5 costs USD 75.8 today; early calls lower it to 89.9% in our note.</a:t>
            </a:r>
            <a:endParaRPr lang="en-US" sz="93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8.2%</a:t>
            </a:r>
            <a:endParaRPr lang="en-US" sz="1800" dirty="0"/>
          </a:p>
        </p:txBody>
      </p:sp>
      <p:sp>
        <p:nvSpPr>
          <p:cNvPr id="43" name="Text 39"/>
          <p:cNvSpPr txBox="1"/>
          <p:nvPr/>
        </p:nvSpPr>
        <p:spPr>
          <a:xfrm>
            <a:off x="7936992" y="4306824"/>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Rising rates pay off at the roll</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51% of notes are called at year 1. If rates are 1% higher by then, a new note would pay ~8.2%.</a:t>
            </a:r>
            <a:endParaRPr lang="en-US" sz="93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7.7%</a:t>
            </a:r>
            <a:endParaRPr lang="en-US" sz="1800" dirty="0"/>
          </a:p>
        </p:txBody>
      </p:sp>
      <p:sp>
        <p:nvSpPr>
          <p:cNvPr id="48" name="Text 44"/>
          <p:cNvSpPr txBox="1"/>
          <p:nvPr/>
        </p:nvSpPr>
        <p:spPr>
          <a:xfrm>
            <a:off x="7936992" y="5093208"/>
            <a:ext cx="3703320" cy="731520"/>
          </a:xfrm>
          <a:prstGeom prst="rect">
            <a:avLst/>
          </a:prstGeom>
          <a:noFill/>
          <a:ln/>
        </p:spPr>
        <p:txBody>
          <a:bodyPr wrap="square" lIns="0" tIns="0" rIns="0" bIns="0" rtlCol="0" anchor="ctr"/>
          <a:lstStyle/>
          <a:p>
            <a:pPr indent="0" marL="0">
              <a:buNone/>
            </a:pPr>
            <a:r>
              <a:rPr lang="en-US" sz="930" b="1" dirty="0">
                <a:solidFill>
                  <a:srgbClr val="262626"/>
                </a:solidFill>
                <a:latin typeface="Arial" pitchFamily="34" charset="0"/>
                <a:ea typeface="Arial" pitchFamily="34" charset="-122"/>
                <a:cs typeface="Arial" pitchFamily="34" charset="-120"/>
              </a:rPr>
              <a:t>Record volatility funds the coupon</a:t>
            </a:r>
            <a:endParaRPr lang="en-US" sz="930" dirty="0"/>
          </a:p>
          <a:p>
            <a:pPr indent="0" marL="0">
              <a:buNone/>
            </a:pPr>
            <a:r>
              <a:rPr lang="en-US" sz="930" dirty="0">
                <a:solidFill>
                  <a:srgbClr val="595959"/>
                </a:solidFill>
                <a:latin typeface="Arial" pitchFamily="34" charset="0"/>
                <a:ea typeface="Arial" pitchFamily="34" charset="-122"/>
                <a:cs typeface="Arial" pitchFamily="34" charset="-120"/>
              </a:rPr>
              <a:t>Fair coupon 7.2% at our vol inputs, 7.7% with 5pts more vol. 2026's record vols make our 6.75% conservative.</a:t>
            </a:r>
            <a:endParaRPr lang="en-US" sz="93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Herald / SBS / FN News (VKOSPI); FN News and Shinhan (KOSPI 28 Aug); TWSE, Korea Times, Bloomberg/BNN (2022); Trading Economics, Nikkei Asia (weights); Siblis (valuations); Asset Management One (buybacks); Federal Reserve via Advisor Perspectives (16 Sep 2026); case funding grid; team Monte Carlo.</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 protected autocall fits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Rising rates, record volatility and a late-cycle chip boom: the conditions where an autocall beats bonds, stocks and plain protected notes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bonds carry the duration risk</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for a parallel rate move. The Fed hiked to 3.75–4.00% on 16 Sep 2026 (first hike since 2023), with another expected.</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Volatility is at records: protection is needed</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VKOSPI closing peaks: 2026 beat the 2008 crisis. KOSPI then fell ~25% (9,000+ in June to 6,789 on 28 Aug).</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The autocall wins in most markets</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Mean return % p.a. by type of 5-year market (team simulation, equities +4% p.a.). Ties the stocks in moderate markets, beats them in bear and flat ones.</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Beats the bond in about 4 of 5 outcomes</a:t>
            </a:r>
            <a:endParaRPr lang="en-US" sz="1050" dirty="0"/>
          </a:p>
        </p:txBody>
      </p:sp>
      <p:graphicFrame>
        <p:nvGraphicFramePr>
          <p:cNvPr id="24" name="Chart 3" descr=""/>
          <p:cNvGraphicFramePr/>
          <p:nvPr/>
        </p:nvGraphicFramePr>
        <p:xfrm>
          <a:off x="4370832" y="3712464"/>
          <a:ext cx="2313066"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6758513" y="3730752"/>
            <a:ext cx="1343071" cy="1261872"/>
          </a:xfrm>
          <a:prstGeom prst="rect">
            <a:avLst/>
          </a:prstGeom>
          <a:noFill/>
          <a:ln/>
        </p:spPr>
        <p:txBody>
          <a:bodyPr wrap="square" lIns="0" tIns="0" rIns="0" bIns="0" rtlCol="0" anchor="t"/>
          <a:lstStyle/>
          <a:p>
            <a:pPr indent="0" marL="0">
              <a:buNone/>
            </a:pPr>
            <a:r>
              <a:rPr lang="en-US" sz="2200" b="1" dirty="0">
                <a:solidFill>
                  <a:srgbClr val="2C5F82"/>
                </a:solidFill>
                <a:latin typeface="Arial" pitchFamily="34" charset="0"/>
                <a:ea typeface="Arial" pitchFamily="34" charset="-122"/>
                <a:cs typeface="Arial" pitchFamily="34" charset="-120"/>
              </a:rPr>
              <a:t>79%</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of paths beat the 5.69% bond at +4% equity a year</a:t>
            </a:r>
            <a:endParaRPr lang="en-US" sz="1200" dirty="0"/>
          </a:p>
          <a:p>
            <a:pPr indent="0" marL="0">
              <a:buNone/>
            </a:pPr>
            <a:r>
              <a:rPr lang="en-US" sz="1800" b="1" dirty="0">
                <a:solidFill>
                  <a:srgbClr val="2C5F82"/>
                </a:solidFill>
                <a:latin typeface="Arial" pitchFamily="34" charset="0"/>
                <a:ea typeface="Arial" pitchFamily="34" charset="-122"/>
                <a:cs typeface="Arial" pitchFamily="34" charset="-120"/>
              </a:rPr>
              <a:t>~6%</a:t>
            </a:r>
            <a:endParaRPr lang="en-US" sz="1200" dirty="0"/>
          </a:p>
          <a:p>
            <a:pPr indent="0" marL="0">
              <a:buNone/>
            </a:pPr>
            <a:r>
              <a:rPr lang="en-US" sz="850" dirty="0">
                <a:solidFill>
                  <a:srgbClr val="595959"/>
                </a:solidFill>
                <a:latin typeface="Arial" pitchFamily="34" charset="0"/>
                <a:ea typeface="Arial" pitchFamily="34" charset="-122"/>
                <a:cs typeface="Arial" pitchFamily="34" charset="-120"/>
              </a:rPr>
              <a:t>equity return at which the average also matches the bond</a:t>
            </a:r>
            <a:endParaRPr lang="en-US" sz="1200" dirty="0"/>
          </a:p>
        </p:txBody>
      </p:sp>
      <p:sp>
        <p:nvSpPr>
          <p:cNvPr id="26" name="Text 20"/>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x-axis: average annual equity return. The note beats the bond in every path where it is called; the bond wins only if the basket never recovers.</a:t>
            </a:r>
            <a:endParaRPr lang="en-US" sz="850" dirty="0"/>
          </a:p>
        </p:txBody>
      </p:sp>
      <p:sp>
        <p:nvSpPr>
          <p:cNvPr id="27" name="Text 21"/>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8" name="Shape 22"/>
          <p:cNvSpPr/>
          <p:nvPr/>
        </p:nvSpPr>
        <p:spPr>
          <a:xfrm>
            <a:off x="8485632" y="1627632"/>
            <a:ext cx="2971800" cy="0"/>
          </a:xfrm>
          <a:prstGeom prst="line">
            <a:avLst/>
          </a:prstGeom>
          <a:noFill/>
          <a:ln w="9525">
            <a:solidFill>
              <a:srgbClr val="2C5F82"/>
            </a:solidFill>
            <a:prstDash val="solid"/>
          </a:ln>
        </p:spPr>
      </p:sp>
      <p:sp>
        <p:nvSpPr>
          <p:cNvPr id="29" name="Shape 23"/>
          <p:cNvSpPr/>
          <p:nvPr/>
        </p:nvSpPr>
        <p:spPr>
          <a:xfrm>
            <a:off x="8211312" y="1719072"/>
            <a:ext cx="3520440" cy="658368"/>
          </a:xfrm>
          <a:prstGeom prst="rect">
            <a:avLst/>
          </a:prstGeom>
          <a:solidFill>
            <a:srgbClr val="FFFFFF"/>
          </a:solidFill>
          <a:ln w="12700">
            <a:solidFill>
              <a:srgbClr val="2C5F82"/>
            </a:solidFill>
            <a:prstDash val="solid"/>
          </a:ln>
        </p:spPr>
      </p:sp>
      <p:sp>
        <p:nvSpPr>
          <p:cNvPr id="30" name="Text 24"/>
          <p:cNvSpPr txBox="1"/>
          <p:nvPr/>
        </p:nvSpPr>
        <p:spPr>
          <a:xfrm>
            <a:off x="8257032" y="171907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74650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Low rate risk: </a:t>
            </a:r>
            <a:pPr indent="0" marL="0">
              <a:buNone/>
            </a:pPr>
            <a:r>
              <a:rPr lang="en-US" sz="900" dirty="0">
                <a:solidFill>
                  <a:srgbClr val="595959"/>
                </a:solidFill>
                <a:latin typeface="Arial" pitchFamily="34" charset="0"/>
                <a:ea typeface="Arial" pitchFamily="34" charset="-122"/>
                <a:cs typeface="Arial" pitchFamily="34" charset="-120"/>
              </a:rPr>
              <a:t>Loses 1.2% if rates rise 1%, vs 4.0% for a 5Y bond</a:t>
            </a:r>
            <a:endParaRPr lang="en-US" sz="900" dirty="0"/>
          </a:p>
        </p:txBody>
      </p:sp>
      <p:sp>
        <p:nvSpPr>
          <p:cNvPr id="32" name="Shape 26"/>
          <p:cNvSpPr/>
          <p:nvPr/>
        </p:nvSpPr>
        <p:spPr>
          <a:xfrm>
            <a:off x="8211312" y="2450592"/>
            <a:ext cx="3520440" cy="658368"/>
          </a:xfrm>
          <a:prstGeom prst="rect">
            <a:avLst/>
          </a:prstGeom>
          <a:solidFill>
            <a:srgbClr val="FFFFFF"/>
          </a:solidFill>
          <a:ln w="12700">
            <a:solidFill>
              <a:srgbClr val="2C5F82"/>
            </a:solidFill>
            <a:prstDash val="solid"/>
          </a:ln>
        </p:spPr>
      </p:sp>
      <p:sp>
        <p:nvSpPr>
          <p:cNvPr id="33" name="Text 27"/>
          <p:cNvSpPr txBox="1"/>
          <p:nvPr/>
        </p:nvSpPr>
        <p:spPr>
          <a:xfrm>
            <a:off x="8257032" y="245059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47802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Rising rates help at the roll: </a:t>
            </a:r>
            <a:pPr indent="0" marL="0">
              <a:buNone/>
            </a:pPr>
            <a:r>
              <a:rPr lang="en-US" sz="900" dirty="0">
                <a:solidFill>
                  <a:srgbClr val="595959"/>
                </a:solidFill>
                <a:latin typeface="Arial" pitchFamily="34" charset="0"/>
                <a:ea typeface="Arial" pitchFamily="34" charset="-122"/>
                <a:cs typeface="Arial" pitchFamily="34" charset="-120"/>
              </a:rPr>
              <a:t>51% called at year 1; a new note would then pay ~8.2% if rates are 1% higher</a:t>
            </a:r>
            <a:endParaRPr lang="en-US" sz="900" dirty="0"/>
          </a:p>
        </p:txBody>
      </p:sp>
      <p:sp>
        <p:nvSpPr>
          <p:cNvPr id="35" name="Shape 29"/>
          <p:cNvSpPr/>
          <p:nvPr/>
        </p:nvSpPr>
        <p:spPr>
          <a:xfrm>
            <a:off x="8211312" y="3182112"/>
            <a:ext cx="3520440" cy="658368"/>
          </a:xfrm>
          <a:prstGeom prst="rect">
            <a:avLst/>
          </a:prstGeom>
          <a:solidFill>
            <a:srgbClr val="FFFFFF"/>
          </a:solidFill>
          <a:ln w="12700">
            <a:solidFill>
              <a:srgbClr val="2C5F82"/>
            </a:solidFill>
            <a:prstDash val="solid"/>
          </a:ln>
        </p:spPr>
      </p:sp>
      <p:sp>
        <p:nvSpPr>
          <p:cNvPr id="36" name="Text 30"/>
          <p:cNvSpPr txBox="1"/>
          <p:nvPr/>
        </p:nvSpPr>
        <p:spPr>
          <a:xfrm>
            <a:off x="8257032" y="318211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20954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Volatility becomes income: </a:t>
            </a:r>
            <a:pPr indent="0" marL="0">
              <a:buNone/>
            </a:pPr>
            <a:r>
              <a:rPr lang="en-US" sz="900" dirty="0">
                <a:solidFill>
                  <a:srgbClr val="595959"/>
                </a:solidFill>
                <a:latin typeface="Arial" pitchFamily="34" charset="0"/>
                <a:ea typeface="Arial" pitchFamily="34" charset="-122"/>
                <a:cs typeface="Arial" pitchFamily="34" charset="-120"/>
              </a:rPr>
              <a:t>Fair coupon 7.2%, 7.7% with 5pts more vol: our 6.75% is conservative</a:t>
            </a:r>
            <a:endParaRPr lang="en-US" sz="900" dirty="0"/>
          </a:p>
        </p:txBody>
      </p:sp>
      <p:sp>
        <p:nvSpPr>
          <p:cNvPr id="38" name="Shape 32"/>
          <p:cNvSpPr/>
          <p:nvPr/>
        </p:nvSpPr>
        <p:spPr>
          <a:xfrm>
            <a:off x="8211312" y="3913632"/>
            <a:ext cx="3520440" cy="658368"/>
          </a:xfrm>
          <a:prstGeom prst="rect">
            <a:avLst/>
          </a:prstGeom>
          <a:solidFill>
            <a:srgbClr val="FFFFFF"/>
          </a:solidFill>
          <a:ln w="12700">
            <a:solidFill>
              <a:srgbClr val="2C5F82"/>
            </a:solidFill>
            <a:prstDash val="solid"/>
          </a:ln>
        </p:spPr>
      </p:sp>
      <p:sp>
        <p:nvSpPr>
          <p:cNvPr id="39" name="Text 33"/>
          <p:cNvSpPr txBox="1"/>
          <p:nvPr/>
        </p:nvSpPr>
        <p:spPr>
          <a:xfrm>
            <a:off x="8257032" y="391363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394106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Pays without a rally: </a:t>
            </a:r>
            <a:pPr indent="0" marL="0">
              <a:buNone/>
            </a:pPr>
            <a:r>
              <a:rPr lang="en-US" sz="900" dirty="0">
                <a:solidFill>
                  <a:srgbClr val="595959"/>
                </a:solidFill>
                <a:latin typeface="Arial" pitchFamily="34" charset="0"/>
                <a:ea typeface="Arial" pitchFamily="34" charset="-122"/>
                <a:cs typeface="Arial" pitchFamily="34" charset="-120"/>
              </a:rPr>
              <a:t>6.2% p.a. vs 2.0% for the stocks when the basket goes sideways</a:t>
            </a:r>
            <a:endParaRPr lang="en-US" sz="900" dirty="0"/>
          </a:p>
        </p:txBody>
      </p:sp>
      <p:sp>
        <p:nvSpPr>
          <p:cNvPr id="41" name="Shape 35"/>
          <p:cNvSpPr/>
          <p:nvPr/>
        </p:nvSpPr>
        <p:spPr>
          <a:xfrm>
            <a:off x="8211312" y="4645152"/>
            <a:ext cx="3520440" cy="658368"/>
          </a:xfrm>
          <a:prstGeom prst="rect">
            <a:avLst/>
          </a:prstGeom>
          <a:solidFill>
            <a:srgbClr val="FFFFFF"/>
          </a:solidFill>
          <a:ln w="12700">
            <a:solidFill>
              <a:srgbClr val="2C5F82"/>
            </a:solidFill>
            <a:prstDash val="solid"/>
          </a:ln>
        </p:spPr>
      </p:sp>
      <p:sp>
        <p:nvSpPr>
          <p:cNvPr id="42" name="Text 36"/>
          <p:cNvSpPr txBox="1"/>
          <p:nvPr/>
        </p:nvSpPr>
        <p:spPr>
          <a:xfrm>
            <a:off x="8257032" y="4645152"/>
            <a:ext cx="411480" cy="658368"/>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672584"/>
            <a:ext cx="2926080" cy="603504"/>
          </a:xfrm>
          <a:prstGeom prst="rect">
            <a:avLst/>
          </a:prstGeom>
          <a:noFill/>
          <a:ln/>
        </p:spPr>
        <p:txBody>
          <a:bodyPr wrap="square" lIns="0" tIns="0" rIns="0" bIns="0" rtlCol="0" anchor="ctr"/>
          <a:lstStyle/>
          <a:p>
            <a:pPr indent="0" marL="0">
              <a:buNone/>
            </a:pPr>
            <a:r>
              <a:rPr lang="en-US" sz="900" b="1" dirty="0">
                <a:solidFill>
                  <a:srgbClr val="262626"/>
                </a:solidFill>
                <a:latin typeface="Arial" pitchFamily="34" charset="0"/>
                <a:ea typeface="Arial" pitchFamily="34" charset="-122"/>
                <a:cs typeface="Arial" pitchFamily="34" charset="-120"/>
              </a:rPr>
              <a:t>Proven in Asia: </a:t>
            </a:r>
            <a:pPr indent="0" marL="0">
              <a:buNone/>
            </a:pPr>
            <a:r>
              <a:rPr lang="en-US" sz="900" dirty="0">
                <a:solidFill>
                  <a:srgbClr val="595959"/>
                </a:solidFill>
                <a:latin typeface="Arial" pitchFamily="34" charset="0"/>
                <a:ea typeface="Arial" pitchFamily="34" charset="-122"/>
                <a:cs typeface="Arial" pitchFamily="34" charset="-120"/>
              </a:rPr>
              <a:t>Taiwan structured-note issuance +81% in 2025; snowball autocalls the favourite payoff (SRP)</a:t>
            </a:r>
            <a:endParaRPr lang="en-US" sz="90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Result: 6.75% a year whenever the basket is back at its start, 100% of capital at maturity, a third of a bond's rate risk.</a:t>
            </a:r>
            <a:endParaRPr lang="en-US" sz="125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(16 Sep 2026); Herald / SBS (VKOSPI); FN News / Shinhan (KOSPI); StructuredRetailProducts.com; team Monte Carlo (scenario2_thesis_numbers.py, scenario2_vs_traditional.py).</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Thesis 2 evidence: the protected autocall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5" name="Shape 11"/>
          <p:cNvSpPr/>
          <p:nvPr/>
        </p:nvSpPr>
        <p:spPr>
          <a:xfrm>
            <a:off x="7086600" y="3291840"/>
            <a:ext cx="4645152" cy="1965960"/>
          </a:xfrm>
          <a:prstGeom prst="rect">
            <a:avLst/>
          </a:prstGeom>
          <a:solidFill>
            <a:srgbClr val="F2F2F2"/>
          </a:solidFill>
          <a:ln w="12700">
            <a:solidFill>
              <a:srgbClr val="F2F2F2"/>
            </a:solidFill>
            <a:prstDash val="solid"/>
          </a:ln>
        </p:spPr>
      </p:sp>
      <p:sp>
        <p:nvSpPr>
          <p:cNvPr id="16" name="Text 12"/>
          <p:cNvSpPr txBox="1"/>
          <p:nvPr/>
        </p:nvSpPr>
        <p:spPr>
          <a:xfrm>
            <a:off x="7223760" y="3364992"/>
            <a:ext cx="4389120" cy="1874520"/>
          </a:xfrm>
          <a:prstGeom prst="rect">
            <a:avLst/>
          </a:prstGeom>
          <a:noFill/>
          <a:ln/>
        </p:spPr>
        <p:txBody>
          <a:bodyPr wrap="square" lIns="0" tIns="0" rIns="0" bIns="0" rtlCol="0" anchor="t"/>
          <a:lstStyle/>
          <a:p>
            <a:pPr indent="0" marL="0">
              <a:spcAft>
                <a:spcPts val="300"/>
              </a:spcAft>
              <a:buNone/>
            </a:pPr>
            <a:r>
              <a:rPr lang="en-US" sz="1200" b="1" i="1" dirty="0">
                <a:solidFill>
                  <a:srgbClr val="2C5F82"/>
                </a:solidFill>
                <a:latin typeface="Arial" pitchFamily="34" charset="0"/>
                <a:ea typeface="Arial" pitchFamily="34" charset="-122"/>
                <a:cs typeface="Arial" pitchFamily="34" charset="-120"/>
              </a:rPr>
              <a:t>Why it works</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Pays in sideways markets: 6.2% vs 2.0% for the stocks when the basket goes nowhere</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Volatility raises the chance of touching 100%, so it funds the coupon instead of hurting the family</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Market evidence: Taiwan structured-note issuance +81% in 2025, snowball autocalls the favourite payoff (SRP)</a:t>
            </a:r>
            <a:endParaRPr lang="en-US" sz="950" dirty="0"/>
          </a:p>
          <a:p>
            <a:pPr marL="127000" indent="-127000">
              <a:spcAft>
                <a:spcPts val="300"/>
              </a:spcAft>
              <a:buSzPct val="100000"/>
              <a:buChar char="•"/>
            </a:pPr>
            <a:r>
              <a:rPr lang="en-US" sz="950" dirty="0">
                <a:solidFill>
                  <a:srgbClr val="B23B3B"/>
                </a:solidFill>
                <a:latin typeface="Arial" pitchFamily="34" charset="0"/>
                <a:ea typeface="Arial" pitchFamily="34" charset="-122"/>
                <a:cs typeface="Arial" pitchFamily="34" charset="-120"/>
              </a:rPr>
              <a:t>Honest caveat: a 5Y bond earns more in bear markets, but gives no AI exposure</a:t>
            </a:r>
            <a:endParaRPr lang="en-US" sz="950" dirty="0"/>
          </a:p>
        </p:txBody>
      </p:sp>
      <p:sp>
        <p:nvSpPr>
          <p:cNvPr id="17" name="Text 13"/>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8" name="Shape 14"/>
          <p:cNvSpPr/>
          <p:nvPr/>
        </p:nvSpPr>
        <p:spPr>
          <a:xfrm>
            <a:off x="457200" y="5650992"/>
            <a:ext cx="11274552" cy="502920"/>
          </a:xfrm>
          <a:prstGeom prst="rect">
            <a:avLst/>
          </a:prstGeom>
          <a:solidFill>
            <a:srgbClr val="2C5F82"/>
          </a:solidFill>
          <a:ln w="12700">
            <a:solidFill>
              <a:srgbClr val="2C5F82"/>
            </a:solidFill>
            <a:prstDash val="solid"/>
          </a:ln>
        </p:spPr>
      </p:sp>
      <p:sp>
        <p:nvSpPr>
          <p:cNvPr id="19" name="Text 15"/>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62626"/>
                          </a:solidFill>
                          <a:latin typeface="Arial" pitchFamily="34" charset="0"/>
                          <a:ea typeface="Arial" pitchFamily="34" charset="-122"/>
                          <a:cs typeface="Arial" pitchFamily="34" charset="-120"/>
                        </a:rPr>
                        <a:t>Rate and vol sensitivities, break-even vs bond, market-type comparison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Team Monte Carlo: scenario2_thesis_numbers.py, scenario2_vs_traditional.py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2026-10-08T06:29:29Z</dcterms:created>
  <dcterms:modified xsi:type="dcterms:W3CDTF">2026-10-08T06:29:29Z</dcterms:modified>
</cp:coreProperties>
</file>