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7F7F7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595959"/>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a capital floor unusually cheap. Each point ends with the autocall link: coupons paid on recovery (not timing), a diversified basket, capped upside that costs little, short duration, coupons funded by volatility, and a floor funded by high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each row: what the 2026 market looks like, what that does to plain bonds or buy-and-hold equity, and how an autocallable answers it. Rates: the Fed's dot plot keeps rates high until 2028 with a hawkish minority, so long bonds carry rate risk, while high rates make a capital floor cheap and an autocall can redeem from year 1. Volatility: violent round trips punish buy-and-hold timing; autocall coupons pay on recovery and record volatility funds them. Valuation: concentration and full prices make upside less valuable, so capping it at the coupon costs little, and a diversified ETF basket avoids single-name risk. Our specific note and its numbers come in the product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own it through a structure built for volatility (thesis 2)</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key risks (concentration, Taiwan, a 10–15% correction) are what an autocall with a 30% buffer and a 70% floor is built to absorb.</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Volatile markets and high rates favour autocallables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a strong theme on a volatile path</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88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 coupons are paid when the basket gets back to its start: no need to time the bottom</a:t>
            </a:r>
            <a:endParaRPr lang="en-US" sz="88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88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Use a diversified ETF basket, not a worst-of on single names</a:t>
            </a:r>
            <a:endParaRPr lang="en-US" sz="88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880" dirty="0">
                <a:solidFill>
                  <a:srgbClr val="595959"/>
                </a:solidFill>
                <a:latin typeface="Arial" pitchFamily="34" charset="0"/>
                <a:ea typeface="Arial" pitchFamily="34" charset="-122"/>
                <a:cs typeface="Arial" pitchFamily="34" charset="-120"/>
              </a:rPr>
              <a:t>Nikkei CAPE 38.6×; Taiwan among the most expensive markets; DRAM price gains slowing.</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Capping upside at the coupon costs little when the good news is already priced</a:t>
            </a:r>
            <a:endParaRPr lang="en-US" sz="88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today's rates and volatility suit autocalls</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880" dirty="0">
                <a:solidFill>
                  <a:srgbClr val="595959"/>
                </a:solidFill>
                <a:latin typeface="Arial" pitchFamily="34" charset="0"/>
                <a:ea typeface="Arial" pitchFamily="34" charset="-122"/>
                <a:cs typeface="Arial" pitchFamily="34" charset="-120"/>
              </a:rPr>
              <a:t>A 5-year bond loses ~4.0% per 1% rate rise, as the Fed hikes again.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Autocalls can redeem from year 1: short duration, and cash to reinvest at higher rates</a:t>
            </a:r>
            <a:endParaRPr lang="en-US" sz="88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88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Rich option premium funds higher autocall coupons</a:t>
            </a:r>
            <a:endParaRPr lang="en-US" sz="88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High rates make guarantees cheap: </a:t>
            </a:r>
            <a:pPr indent="0" marL="0">
              <a:spcAft>
                <a:spcPts val="100"/>
              </a:spcAft>
              <a:buNone/>
            </a:pPr>
            <a:r>
              <a:rPr lang="en-US" sz="880" dirty="0">
                <a:solidFill>
                  <a:srgbClr val="595959"/>
                </a:solidFill>
                <a:latin typeface="Arial" pitchFamily="34" charset="0"/>
                <a:ea typeface="Arial" pitchFamily="34" charset="-122"/>
                <a:cs typeface="Arial" pitchFamily="34" charset="-120"/>
              </a:rPr>
              <a:t>At 5.69% 5Y USD funding, USD 100 payable in 5 years costs only USD 75.8 today.</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 capital floor is affordable inside an autocall</a:t>
            </a:r>
            <a:endParaRPr lang="en-US" sz="88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autocallables fit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2011680" y="1024128"/>
            <a:ext cx="5212080" cy="274320"/>
          </a:xfrm>
          <a:prstGeom prst="rect">
            <a:avLst/>
          </a:prstGeom>
          <a:noFill/>
          <a:ln/>
        </p:spPr>
        <p:txBody>
          <a:bodyPr wrap="square" lIns="0" tIns="0" rIns="0" bIns="0" rtlCol="0" anchor="t"/>
          <a:lstStyle/>
          <a:p>
            <a:pPr algn="l" indent="0" marL="0">
              <a:buNone/>
            </a:pPr>
            <a:r>
              <a:rPr lang="en-US" sz="1100" b="1" dirty="0">
                <a:solidFill>
                  <a:srgbClr val="262626"/>
                </a:solidFill>
                <a:latin typeface="Arial" pitchFamily="34" charset="0"/>
                <a:ea typeface="Arial" pitchFamily="34" charset="-122"/>
                <a:cs typeface="Arial" pitchFamily="34" charset="-120"/>
              </a:rPr>
              <a:t>Market reality in 2026 (evidence)</a:t>
            </a:r>
            <a:endParaRPr lang="en-US" sz="1100" dirty="0"/>
          </a:p>
        </p:txBody>
      </p:sp>
      <p:sp>
        <p:nvSpPr>
          <p:cNvPr id="10" name="Shape 8"/>
          <p:cNvSpPr/>
          <p:nvPr/>
        </p:nvSpPr>
        <p:spPr>
          <a:xfrm>
            <a:off x="2011680" y="1316736"/>
            <a:ext cx="5212080" cy="0"/>
          </a:xfrm>
          <a:prstGeom prst="line">
            <a:avLst/>
          </a:prstGeom>
          <a:noFill/>
          <a:ln w="9525">
            <a:solidFill>
              <a:srgbClr val="BFBFBF"/>
            </a:solidFill>
            <a:prstDash val="solid"/>
          </a:ln>
        </p:spPr>
      </p:sp>
      <p:sp>
        <p:nvSpPr>
          <p:cNvPr id="11" name="Text 9"/>
          <p:cNvSpPr txBox="1"/>
          <p:nvPr/>
        </p:nvSpPr>
        <p:spPr>
          <a:xfrm>
            <a:off x="7315200" y="1024128"/>
            <a:ext cx="2148840" cy="274320"/>
          </a:xfrm>
          <a:prstGeom prst="rect">
            <a:avLst/>
          </a:prstGeom>
          <a:noFill/>
          <a:ln/>
        </p:spPr>
        <p:txBody>
          <a:bodyPr wrap="square" lIns="0" tIns="0" rIns="0" bIns="0" rtlCol="0" anchor="t"/>
          <a:lstStyle/>
          <a:p>
            <a:pPr algn="ctr" indent="0" marL="0">
              <a:buNone/>
            </a:pPr>
            <a:r>
              <a:rPr lang="en-US" sz="1100" b="1" dirty="0">
                <a:solidFill>
                  <a:srgbClr val="B23B3B"/>
                </a:solidFill>
                <a:latin typeface="Arial" pitchFamily="34" charset="0"/>
                <a:ea typeface="Arial" pitchFamily="34" charset="-122"/>
                <a:cs typeface="Arial" pitchFamily="34" charset="-120"/>
              </a:rPr>
              <a:t>Plain bonds / buy-and-hold</a:t>
            </a:r>
            <a:endParaRPr lang="en-US" sz="1100" dirty="0"/>
          </a:p>
        </p:txBody>
      </p:sp>
      <p:sp>
        <p:nvSpPr>
          <p:cNvPr id="12" name="Shape 10"/>
          <p:cNvSpPr/>
          <p:nvPr/>
        </p:nvSpPr>
        <p:spPr>
          <a:xfrm>
            <a:off x="7315200" y="1316736"/>
            <a:ext cx="2148840" cy="0"/>
          </a:xfrm>
          <a:prstGeom prst="line">
            <a:avLst/>
          </a:prstGeom>
          <a:noFill/>
          <a:ln w="25400">
            <a:solidFill>
              <a:srgbClr val="B23B3B"/>
            </a:solidFill>
            <a:prstDash val="solid"/>
          </a:ln>
        </p:spPr>
      </p:sp>
      <p:sp>
        <p:nvSpPr>
          <p:cNvPr id="13" name="Text 11"/>
          <p:cNvSpPr txBox="1"/>
          <p:nvPr/>
        </p:nvSpPr>
        <p:spPr>
          <a:xfrm>
            <a:off x="9555480" y="1024128"/>
            <a:ext cx="2176272" cy="274320"/>
          </a:xfrm>
          <a:prstGeom prst="rect">
            <a:avLst/>
          </a:prstGeom>
          <a:noFill/>
          <a:ln/>
        </p:spPr>
        <p:txBody>
          <a:bodyPr wrap="square" lIns="0" tIns="0" rIns="0" bIns="0" rtlCol="0" anchor="t"/>
          <a:lstStyle/>
          <a:p>
            <a:pPr algn="ctr" indent="0" marL="0">
              <a:buNone/>
            </a:pPr>
            <a:r>
              <a:rPr lang="en-US" sz="1100" b="1" dirty="0">
                <a:solidFill>
                  <a:srgbClr val="2C5F82"/>
                </a:solidFill>
                <a:latin typeface="Arial" pitchFamily="34" charset="0"/>
                <a:ea typeface="Arial" pitchFamily="34" charset="-122"/>
                <a:cs typeface="Arial" pitchFamily="34" charset="-120"/>
              </a:rPr>
              <a:t>Autocallable answer</a:t>
            </a:r>
            <a:endParaRPr lang="en-US" sz="1100" dirty="0"/>
          </a:p>
        </p:txBody>
      </p:sp>
      <p:sp>
        <p:nvSpPr>
          <p:cNvPr id="14" name="Shape 12"/>
          <p:cNvSpPr/>
          <p:nvPr/>
        </p:nvSpPr>
        <p:spPr>
          <a:xfrm>
            <a:off x="9555480" y="1316736"/>
            <a:ext cx="2176272" cy="0"/>
          </a:xfrm>
          <a:prstGeom prst="line">
            <a:avLst/>
          </a:prstGeom>
          <a:noFill/>
          <a:ln w="25400">
            <a:solidFill>
              <a:srgbClr val="2C5F82"/>
            </a:solidFill>
            <a:prstDash val="solid"/>
          </a:ln>
        </p:spPr>
      </p:sp>
      <p:sp>
        <p:nvSpPr>
          <p:cNvPr id="15" name="Shape 13"/>
          <p:cNvSpPr/>
          <p:nvPr/>
        </p:nvSpPr>
        <p:spPr>
          <a:xfrm>
            <a:off x="457200" y="1417320"/>
            <a:ext cx="1463040" cy="1307592"/>
          </a:xfrm>
          <a:prstGeom prst="rect">
            <a:avLst/>
          </a:prstGeom>
          <a:solidFill>
            <a:srgbClr val="2C5F82"/>
          </a:solidFill>
          <a:ln w="12700">
            <a:solidFill>
              <a:srgbClr val="2C5F82"/>
            </a:solidFill>
            <a:prstDash val="solid"/>
          </a:ln>
        </p:spPr>
      </p:sp>
      <p:sp>
        <p:nvSpPr>
          <p:cNvPr id="16" name="Text 14"/>
          <p:cNvSpPr txBox="1"/>
          <p:nvPr/>
        </p:nvSpPr>
        <p:spPr>
          <a:xfrm>
            <a:off x="548640" y="1554480"/>
            <a:ext cx="1280160" cy="45720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Rates</a:t>
            </a:r>
            <a:endParaRPr lang="en-US" sz="1500" dirty="0"/>
          </a:p>
        </p:txBody>
      </p:sp>
      <p:sp>
        <p:nvSpPr>
          <p:cNvPr id="17" name="Text 15"/>
          <p:cNvSpPr txBox="1"/>
          <p:nvPr/>
        </p:nvSpPr>
        <p:spPr>
          <a:xfrm>
            <a:off x="548640" y="2039112"/>
            <a:ext cx="1280160" cy="640080"/>
          </a:xfrm>
          <a:prstGeom prst="rect">
            <a:avLst/>
          </a:prstGeom>
          <a:noFill/>
          <a:ln/>
        </p:spPr>
        <p:txBody>
          <a:bodyPr wrap="square" lIns="0" tIns="0" rIns="0" bIns="0" rtlCol="0" anchor="t"/>
          <a:lstStyle/>
          <a:p>
            <a:pPr indent="0" marL="0">
              <a:buNone/>
            </a:pPr>
            <a:r>
              <a:rPr lang="en-US" sz="900" dirty="0">
                <a:solidFill>
                  <a:srgbClr val="DCE6EE"/>
                </a:solidFill>
                <a:latin typeface="Arial" pitchFamily="34" charset="0"/>
                <a:ea typeface="Arial" pitchFamily="34" charset="-122"/>
                <a:cs typeface="Arial" pitchFamily="34" charset="-120"/>
              </a:rPr>
              <a:t>The Fed sees rates high until 2028</a:t>
            </a:r>
            <a:endParaRPr lang="en-US" sz="900" dirty="0"/>
          </a:p>
        </p:txBody>
      </p:sp>
      <p:sp>
        <p:nvSpPr>
          <p:cNvPr id="18" name="Shape 16"/>
          <p:cNvSpPr/>
          <p:nvPr/>
        </p:nvSpPr>
        <p:spPr>
          <a:xfrm>
            <a:off x="7315200" y="1417320"/>
            <a:ext cx="2148840" cy="1307592"/>
          </a:xfrm>
          <a:prstGeom prst="rect">
            <a:avLst/>
          </a:prstGeom>
          <a:solidFill>
            <a:srgbClr val="F7ECEC"/>
          </a:solidFill>
          <a:ln w="12700">
            <a:solidFill>
              <a:srgbClr val="F7ECEC"/>
            </a:solidFill>
            <a:prstDash val="solid"/>
          </a:ln>
        </p:spPr>
      </p:sp>
      <p:sp>
        <p:nvSpPr>
          <p:cNvPr id="19" name="Text 17"/>
          <p:cNvSpPr txBox="1"/>
          <p:nvPr/>
        </p:nvSpPr>
        <p:spPr>
          <a:xfrm>
            <a:off x="7406640" y="1472184"/>
            <a:ext cx="1965960" cy="1197864"/>
          </a:xfrm>
          <a:prstGeom prst="rect">
            <a:avLst/>
          </a:prstGeom>
          <a:noFill/>
          <a:ln/>
        </p:spPr>
        <p:txBody>
          <a:bodyPr wrap="square" lIns="0" tIns="0" rIns="0" bIns="0" rtlCol="0" anchor="ctr"/>
          <a:lstStyle/>
          <a:p>
            <a:pPr indent="0" marL="0">
              <a:spcAft>
                <a:spcPts val="200"/>
              </a:spcAft>
              <a:buNone/>
            </a:pPr>
            <a:r>
              <a:rPr lang="en-US" sz="880" dirty="0">
                <a:solidFill>
                  <a:srgbClr val="262626"/>
                </a:solidFill>
                <a:latin typeface="Arial" pitchFamily="34" charset="0"/>
                <a:ea typeface="Arial" pitchFamily="34" charset="-122"/>
                <a:cs typeface="Arial" pitchFamily="34" charset="-120"/>
              </a:rPr>
              <a:t>A 5-year bond loses ~4.0% for every 1% rise in rates, </a:t>
            </a:r>
            <a:pPr indent="0" marL="0">
              <a:spcAft>
                <a:spcPts val="200"/>
              </a:spcAft>
              <a:buNone/>
            </a:pPr>
            <a:r>
              <a:rPr lang="en-US" sz="880" dirty="0">
                <a:solidFill>
                  <a:srgbClr val="262626"/>
                </a:solidFill>
                <a:latin typeface="Arial" pitchFamily="34" charset="0"/>
                <a:ea typeface="Arial" pitchFamily="34" charset="-122"/>
                <a:cs typeface="Arial" pitchFamily="34" charset="-120"/>
              </a:rPr>
              <a:t>and 12 Fed dots sit at 4.375% for 2026–27: more hikes are possible.</a:t>
            </a:r>
            <a:endParaRPr lang="en-US" sz="880" dirty="0"/>
          </a:p>
        </p:txBody>
      </p:sp>
      <p:sp>
        <p:nvSpPr>
          <p:cNvPr id="20" name="Shape 18"/>
          <p:cNvSpPr/>
          <p:nvPr/>
        </p:nvSpPr>
        <p:spPr>
          <a:xfrm>
            <a:off x="9555480" y="1417320"/>
            <a:ext cx="2176272" cy="1307592"/>
          </a:xfrm>
          <a:prstGeom prst="rect">
            <a:avLst/>
          </a:prstGeom>
          <a:solidFill>
            <a:srgbClr val="E8EFF5"/>
          </a:solidFill>
          <a:ln w="12700">
            <a:solidFill>
              <a:srgbClr val="E8EFF5"/>
            </a:solidFill>
            <a:prstDash val="solid"/>
          </a:ln>
        </p:spPr>
      </p:sp>
      <p:sp>
        <p:nvSpPr>
          <p:cNvPr id="21" name="Text 19"/>
          <p:cNvSpPr txBox="1"/>
          <p:nvPr/>
        </p:nvSpPr>
        <p:spPr>
          <a:xfrm>
            <a:off x="9646920" y="1472184"/>
            <a:ext cx="1993392" cy="1197864"/>
          </a:xfrm>
          <a:prstGeom prst="rect">
            <a:avLst/>
          </a:prstGeom>
          <a:noFill/>
          <a:ln/>
        </p:spPr>
        <p:txBody>
          <a:bodyPr wrap="square" lIns="0" tIns="0" rIns="0" bIns="0" rtlCol="0" anchor="ctr"/>
          <a:lstStyle/>
          <a:p>
            <a:pPr indent="0" marL="0">
              <a:spcAft>
                <a:spcPts val="200"/>
              </a:spcAft>
              <a:buNone/>
            </a:pPr>
            <a:r>
              <a:rPr lang="en-US" sz="880" b="1" dirty="0">
                <a:solidFill>
                  <a:srgbClr val="2C5F82"/>
                </a:solidFill>
                <a:latin typeface="Arial" pitchFamily="34" charset="0"/>
                <a:ea typeface="Arial" pitchFamily="34" charset="-122"/>
                <a:cs typeface="Arial" pitchFamily="34" charset="-120"/>
              </a:rPr>
              <a:t>Early exit: </a:t>
            </a:r>
            <a:pPr indent="0" marL="0">
              <a:spcAft>
                <a:spcPts val="200"/>
              </a:spcAft>
              <a:buNone/>
            </a:pPr>
            <a:r>
              <a:rPr lang="en-US" sz="880" dirty="0">
                <a:solidFill>
                  <a:srgbClr val="262626"/>
                </a:solidFill>
                <a:latin typeface="Arial" pitchFamily="34" charset="0"/>
                <a:ea typeface="Arial" pitchFamily="34" charset="-122"/>
                <a:cs typeface="Arial" pitchFamily="34" charset="-120"/>
              </a:rPr>
              <a:t>can redeem from year 1, so duration is short.</a:t>
            </a:r>
            <a:endParaRPr lang="en-US" sz="880" dirty="0"/>
          </a:p>
          <a:p>
            <a:pPr indent="0" marL="0">
              <a:spcAft>
                <a:spcPts val="200"/>
              </a:spcAft>
              <a:buNone/>
            </a:pPr>
            <a:r>
              <a:rPr lang="en-US" sz="880" b="1" dirty="0">
                <a:solidFill>
                  <a:srgbClr val="2C5F82"/>
                </a:solidFill>
                <a:latin typeface="Arial" pitchFamily="34" charset="0"/>
                <a:ea typeface="Arial" pitchFamily="34" charset="-122"/>
                <a:cs typeface="Arial" pitchFamily="34" charset="-120"/>
              </a:rPr>
              <a:t>Cheap floor: </a:t>
            </a:r>
            <a:pPr indent="0" marL="0">
              <a:spcAft>
                <a:spcPts val="200"/>
              </a:spcAft>
              <a:buNone/>
            </a:pPr>
            <a:r>
              <a:rPr lang="en-US" sz="880" dirty="0">
                <a:solidFill>
                  <a:srgbClr val="262626"/>
                </a:solidFill>
                <a:latin typeface="Arial" pitchFamily="34" charset="0"/>
                <a:ea typeface="Arial" pitchFamily="34" charset="-122"/>
                <a:cs typeface="Arial" pitchFamily="34" charset="-120"/>
              </a:rPr>
              <a:t>USD 75.8 today buys USD 100 in 5 years, so a 70% floor fits inside.</a:t>
            </a:r>
            <a:endParaRPr lang="en-US" sz="880" dirty="0"/>
          </a:p>
        </p:txBody>
      </p:sp>
      <p:pic>
        <p:nvPicPr>
          <p:cNvPr id="22" name="Image 0" descr="/home/user/natixis-case-comp/deck/fomc_dot_plot_compact.png">    </p:cNvPr>
          <p:cNvPicPr>
            <a:picLocks noChangeAspect="1"/>
          </p:cNvPicPr>
          <p:nvPr/>
        </p:nvPicPr>
        <p:blipFill>
          <a:blip r:embed="rId1"/>
          <a:stretch>
            <a:fillRect/>
          </a:stretch>
        </p:blipFill>
        <p:spPr>
          <a:xfrm>
            <a:off x="2011680" y="1435608"/>
            <a:ext cx="3154680" cy="1115680"/>
          </a:xfrm>
          <a:prstGeom prst="rect">
            <a:avLst/>
          </a:prstGeom>
        </p:spPr>
      </p:pic>
      <p:sp>
        <p:nvSpPr>
          <p:cNvPr id="23" name="Text 20"/>
          <p:cNvSpPr txBox="1"/>
          <p:nvPr/>
        </p:nvSpPr>
        <p:spPr>
          <a:xfrm>
            <a:off x="2011680" y="2551176"/>
            <a:ext cx="3154680" cy="182880"/>
          </a:xfrm>
          <a:prstGeom prst="rect">
            <a:avLst/>
          </a:prstGeom>
          <a:noFill/>
          <a:ln/>
        </p:spPr>
        <p:txBody>
          <a:bodyPr wrap="square" lIns="0" tIns="0" rIns="0" bIns="0" rtlCol="0" anchor="t"/>
          <a:lstStyle/>
          <a:p>
            <a:pPr indent="0" marL="0">
              <a:buNone/>
            </a:pPr>
            <a:r>
              <a:rPr lang="en-US" sz="750" i="1" dirty="0">
                <a:solidFill>
                  <a:srgbClr val="595959"/>
                </a:solidFill>
                <a:latin typeface="Arial" pitchFamily="34" charset="0"/>
                <a:ea typeface="Arial" pitchFamily="34" charset="-122"/>
                <a:cs typeface="Arial" pitchFamily="34" charset="-120"/>
              </a:rPr>
              <a:t>FOMC dot plot, 16 Sep 2026 (shaded: today's 3.75–4.00%)</a:t>
            </a:r>
            <a:endParaRPr lang="en-US" sz="750" dirty="0"/>
          </a:p>
        </p:txBody>
      </p:sp>
      <p:graphicFrame>
        <p:nvGraphicFramePr>
          <p:cNvPr id="24" name="Chart 0" descr=""/>
          <p:cNvGraphicFramePr/>
          <p:nvPr/>
        </p:nvGraphicFramePr>
        <p:xfrm>
          <a:off x="5257800" y="1417320"/>
          <a:ext cx="1965960" cy="1133856"/>
        </p:xfrm>
        <a:graphic xmlns:a="http://schemas.openxmlformats.org/drawingml/2006/main">
          <a:graphicData uri="http://schemas.openxmlformats.org/drawingml/2006/chart">
            <c:chart xmlns:c="http://schemas.openxmlformats.org/drawingml/2006/chart" r:id="rId2"/>
          </a:graphicData>
        </a:graphic>
      </p:graphicFrame>
      <p:sp>
        <p:nvSpPr>
          <p:cNvPr id="25" name="Text 21"/>
          <p:cNvSpPr txBox="1"/>
          <p:nvPr/>
        </p:nvSpPr>
        <p:spPr>
          <a:xfrm>
            <a:off x="5303520" y="2551176"/>
            <a:ext cx="1920240" cy="182880"/>
          </a:xfrm>
          <a:prstGeom prst="rect">
            <a:avLst/>
          </a:prstGeom>
          <a:noFill/>
          <a:ln/>
        </p:spPr>
        <p:txBody>
          <a:bodyPr wrap="square" lIns="0" tIns="0" rIns="0" bIns="0" rtlCol="0" anchor="t"/>
          <a:lstStyle/>
          <a:p>
            <a:pPr indent="0" marL="0">
              <a:buNone/>
            </a:pPr>
            <a:r>
              <a:rPr lang="en-US" sz="750" i="1" dirty="0">
                <a:solidFill>
                  <a:srgbClr val="595959"/>
                </a:solidFill>
                <a:latin typeface="Arial" pitchFamily="34" charset="0"/>
                <a:ea typeface="Arial" pitchFamily="34" charset="-122"/>
                <a:cs typeface="Arial" pitchFamily="34" charset="-120"/>
              </a:rPr>
              <a:t>5Y bond value vs rate move (%)</a:t>
            </a:r>
            <a:endParaRPr lang="en-US" sz="750" dirty="0"/>
          </a:p>
        </p:txBody>
      </p:sp>
      <p:sp>
        <p:nvSpPr>
          <p:cNvPr id="26" name="Shape 22"/>
          <p:cNvSpPr/>
          <p:nvPr/>
        </p:nvSpPr>
        <p:spPr>
          <a:xfrm>
            <a:off x="457200" y="2761488"/>
            <a:ext cx="11274552" cy="0"/>
          </a:xfrm>
          <a:prstGeom prst="line">
            <a:avLst/>
          </a:prstGeom>
          <a:noFill/>
          <a:ln w="6350">
            <a:solidFill>
              <a:srgbClr val="D9D9D9"/>
            </a:solidFill>
            <a:prstDash val="dash"/>
          </a:ln>
        </p:spPr>
      </p:sp>
      <p:sp>
        <p:nvSpPr>
          <p:cNvPr id="27" name="Shape 23"/>
          <p:cNvSpPr/>
          <p:nvPr/>
        </p:nvSpPr>
        <p:spPr>
          <a:xfrm>
            <a:off x="457200" y="2816352"/>
            <a:ext cx="1463040" cy="1307592"/>
          </a:xfrm>
          <a:prstGeom prst="rect">
            <a:avLst/>
          </a:prstGeom>
          <a:solidFill>
            <a:srgbClr val="2C5F82"/>
          </a:solidFill>
          <a:ln w="12700">
            <a:solidFill>
              <a:srgbClr val="2C5F82"/>
            </a:solidFill>
            <a:prstDash val="solid"/>
          </a:ln>
        </p:spPr>
      </p:sp>
      <p:sp>
        <p:nvSpPr>
          <p:cNvPr id="28" name="Text 24"/>
          <p:cNvSpPr txBox="1"/>
          <p:nvPr/>
        </p:nvSpPr>
        <p:spPr>
          <a:xfrm>
            <a:off x="548640" y="2953512"/>
            <a:ext cx="1280160" cy="45720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Volatility</a:t>
            </a:r>
            <a:endParaRPr lang="en-US" sz="1500" dirty="0"/>
          </a:p>
        </p:txBody>
      </p:sp>
      <p:sp>
        <p:nvSpPr>
          <p:cNvPr id="29" name="Text 25"/>
          <p:cNvSpPr txBox="1"/>
          <p:nvPr/>
        </p:nvSpPr>
        <p:spPr>
          <a:xfrm>
            <a:off x="548640" y="3438144"/>
            <a:ext cx="1280160" cy="640080"/>
          </a:xfrm>
          <a:prstGeom prst="rect">
            <a:avLst/>
          </a:prstGeom>
          <a:noFill/>
          <a:ln/>
        </p:spPr>
        <p:txBody>
          <a:bodyPr wrap="square" lIns="0" tIns="0" rIns="0" bIns="0" rtlCol="0" anchor="t"/>
          <a:lstStyle/>
          <a:p>
            <a:pPr indent="0" marL="0">
              <a:buNone/>
            </a:pPr>
            <a:r>
              <a:rPr lang="en-US" sz="900" dirty="0">
                <a:solidFill>
                  <a:srgbClr val="DCE6EE"/>
                </a:solidFill>
                <a:latin typeface="Arial" pitchFamily="34" charset="0"/>
                <a:ea typeface="Arial" pitchFamily="34" charset="-122"/>
                <a:cs typeface="Arial" pitchFamily="34" charset="-120"/>
              </a:rPr>
              <a:t>Violent paths, record fear gauges</a:t>
            </a:r>
            <a:endParaRPr lang="en-US" sz="900" dirty="0"/>
          </a:p>
        </p:txBody>
      </p:sp>
      <p:sp>
        <p:nvSpPr>
          <p:cNvPr id="30" name="Shape 26"/>
          <p:cNvSpPr/>
          <p:nvPr/>
        </p:nvSpPr>
        <p:spPr>
          <a:xfrm>
            <a:off x="7315200" y="2816352"/>
            <a:ext cx="2148840" cy="1307592"/>
          </a:xfrm>
          <a:prstGeom prst="rect">
            <a:avLst/>
          </a:prstGeom>
          <a:solidFill>
            <a:srgbClr val="F7ECEC"/>
          </a:solidFill>
          <a:ln w="12700">
            <a:solidFill>
              <a:srgbClr val="F7ECEC"/>
            </a:solidFill>
            <a:prstDash val="solid"/>
          </a:ln>
        </p:spPr>
      </p:sp>
      <p:sp>
        <p:nvSpPr>
          <p:cNvPr id="31" name="Text 27"/>
          <p:cNvSpPr txBox="1"/>
          <p:nvPr/>
        </p:nvSpPr>
        <p:spPr>
          <a:xfrm>
            <a:off x="7406640" y="2871216"/>
            <a:ext cx="1965960" cy="1197864"/>
          </a:xfrm>
          <a:prstGeom prst="rect">
            <a:avLst/>
          </a:prstGeom>
          <a:noFill/>
          <a:ln/>
        </p:spPr>
        <p:txBody>
          <a:bodyPr wrap="square" lIns="0" tIns="0" rIns="0" bIns="0" rtlCol="0" anchor="ctr"/>
          <a:lstStyle/>
          <a:p>
            <a:pPr indent="0" marL="0">
              <a:spcAft>
                <a:spcPts val="200"/>
              </a:spcAft>
              <a:buNone/>
            </a:pPr>
            <a:r>
              <a:rPr lang="en-US" sz="880" dirty="0">
                <a:solidFill>
                  <a:srgbClr val="262626"/>
                </a:solidFill>
                <a:latin typeface="Arial" pitchFamily="34" charset="0"/>
                <a:ea typeface="Arial" pitchFamily="34" charset="-122"/>
                <a:cs typeface="Arial" pitchFamily="34" charset="-120"/>
              </a:rPr>
              <a:t>Index levels fell 10–25% in 2022, then rose 2–3×; KOSPI lost ~25% from June to August 2026. Buy-and-hold must sit through it or time the bottom.</a:t>
            </a:r>
            <a:endParaRPr lang="en-US" sz="880" dirty="0"/>
          </a:p>
        </p:txBody>
      </p:sp>
      <p:sp>
        <p:nvSpPr>
          <p:cNvPr id="32" name="Shape 28"/>
          <p:cNvSpPr/>
          <p:nvPr/>
        </p:nvSpPr>
        <p:spPr>
          <a:xfrm>
            <a:off x="9555480" y="2816352"/>
            <a:ext cx="2176272" cy="1307592"/>
          </a:xfrm>
          <a:prstGeom prst="rect">
            <a:avLst/>
          </a:prstGeom>
          <a:solidFill>
            <a:srgbClr val="E8EFF5"/>
          </a:solidFill>
          <a:ln w="12700">
            <a:solidFill>
              <a:srgbClr val="E8EFF5"/>
            </a:solidFill>
            <a:prstDash val="solid"/>
          </a:ln>
        </p:spPr>
      </p:sp>
      <p:sp>
        <p:nvSpPr>
          <p:cNvPr id="33" name="Text 29"/>
          <p:cNvSpPr txBox="1"/>
          <p:nvPr/>
        </p:nvSpPr>
        <p:spPr>
          <a:xfrm>
            <a:off x="9646920" y="2871216"/>
            <a:ext cx="1993392" cy="1197864"/>
          </a:xfrm>
          <a:prstGeom prst="rect">
            <a:avLst/>
          </a:prstGeom>
          <a:noFill/>
          <a:ln/>
        </p:spPr>
        <p:txBody>
          <a:bodyPr wrap="square" lIns="0" tIns="0" rIns="0" bIns="0" rtlCol="0" anchor="ctr"/>
          <a:lstStyle/>
          <a:p>
            <a:pPr indent="0" marL="0">
              <a:spcAft>
                <a:spcPts val="200"/>
              </a:spcAft>
              <a:buNone/>
            </a:pPr>
            <a:r>
              <a:rPr lang="en-US" sz="880" b="1" dirty="0">
                <a:solidFill>
                  <a:srgbClr val="2C5F82"/>
                </a:solidFill>
                <a:latin typeface="Arial" pitchFamily="34" charset="0"/>
                <a:ea typeface="Arial" pitchFamily="34" charset="-122"/>
                <a:cs typeface="Arial" pitchFamily="34" charset="-120"/>
              </a:rPr>
              <a:t>Paid on recovery: </a:t>
            </a:r>
            <a:pPr indent="0" marL="0">
              <a:spcAft>
                <a:spcPts val="200"/>
              </a:spcAft>
              <a:buNone/>
            </a:pPr>
            <a:r>
              <a:rPr lang="en-US" sz="880" dirty="0">
                <a:solidFill>
                  <a:srgbClr val="262626"/>
                </a:solidFill>
                <a:latin typeface="Arial" pitchFamily="34" charset="0"/>
                <a:ea typeface="Arial" pitchFamily="34" charset="-122"/>
                <a:cs typeface="Arial" pitchFamily="34" charset="-120"/>
              </a:rPr>
              <a:t>coupons pay once the basket is back at its start; memory catches up missed ones.</a:t>
            </a:r>
            <a:endParaRPr lang="en-US" sz="880" dirty="0"/>
          </a:p>
          <a:p>
            <a:pPr indent="0" marL="0">
              <a:spcAft>
                <a:spcPts val="200"/>
              </a:spcAft>
              <a:buNone/>
            </a:pPr>
            <a:r>
              <a:rPr lang="en-US" sz="880" b="1" dirty="0">
                <a:solidFill>
                  <a:srgbClr val="2C5F82"/>
                </a:solidFill>
                <a:latin typeface="Arial" pitchFamily="34" charset="0"/>
                <a:ea typeface="Arial" pitchFamily="34" charset="-122"/>
                <a:cs typeface="Arial" pitchFamily="34" charset="-120"/>
              </a:rPr>
              <a:t>Vol funds the coupon: </a:t>
            </a:r>
            <a:pPr indent="0" marL="0">
              <a:spcAft>
                <a:spcPts val="200"/>
              </a:spcAft>
              <a:buNone/>
            </a:pPr>
            <a:r>
              <a:rPr lang="en-US" sz="880" dirty="0">
                <a:solidFill>
                  <a:srgbClr val="262626"/>
                </a:solidFill>
                <a:latin typeface="Arial" pitchFamily="34" charset="0"/>
                <a:ea typeface="Arial" pitchFamily="34" charset="-122"/>
                <a:cs typeface="Arial" pitchFamily="34" charset="-120"/>
              </a:rPr>
              <a:t>VKOSPI hit a record 91.2.</a:t>
            </a:r>
            <a:endParaRPr lang="en-US" sz="880" dirty="0"/>
          </a:p>
        </p:txBody>
      </p:sp>
      <p:graphicFrame>
        <p:nvGraphicFramePr>
          <p:cNvPr id="34" name="Chart 1" descr=""/>
          <p:cNvGraphicFramePr/>
          <p:nvPr/>
        </p:nvGraphicFramePr>
        <p:xfrm>
          <a:off x="2011680" y="2816352"/>
          <a:ext cx="5212080" cy="1133856"/>
        </p:xfrm>
        <a:graphic xmlns:a="http://schemas.openxmlformats.org/drawingml/2006/main">
          <a:graphicData uri="http://schemas.openxmlformats.org/drawingml/2006/chart">
            <c:chart xmlns:c="http://schemas.openxmlformats.org/drawingml/2006/chart" r:id="rId3"/>
          </a:graphicData>
        </a:graphic>
      </p:graphicFrame>
      <p:sp>
        <p:nvSpPr>
          <p:cNvPr id="35" name="Text 30"/>
          <p:cNvSpPr txBox="1"/>
          <p:nvPr/>
        </p:nvSpPr>
        <p:spPr>
          <a:xfrm>
            <a:off x="2011680" y="3950208"/>
            <a:ext cx="5212080" cy="182880"/>
          </a:xfrm>
          <a:prstGeom prst="rect">
            <a:avLst/>
          </a:prstGeom>
          <a:noFill/>
          <a:ln/>
        </p:spPr>
        <p:txBody>
          <a:bodyPr wrap="square" lIns="0" tIns="0" rIns="0" bIns="0" rtlCol="0" anchor="t"/>
          <a:lstStyle/>
          <a:p>
            <a:pPr indent="0" marL="0">
              <a:buNone/>
            </a:pPr>
            <a:r>
              <a:rPr lang="en-US" sz="750" i="1" dirty="0">
                <a:solidFill>
                  <a:srgbClr val="595959"/>
                </a:solidFill>
                <a:latin typeface="Arial" pitchFamily="34" charset="0"/>
                <a:ea typeface="Arial" pitchFamily="34" charset="-122"/>
                <a:cs typeface="Arial" pitchFamily="34" charset="-120"/>
              </a:rPr>
              <a:t>TAIEX, KOSPI, Nikkei 225 (end-2021 = 100)</a:t>
            </a:r>
            <a:endParaRPr lang="en-US" sz="750" dirty="0"/>
          </a:p>
        </p:txBody>
      </p:sp>
      <p:sp>
        <p:nvSpPr>
          <p:cNvPr id="36" name="Shape 31"/>
          <p:cNvSpPr/>
          <p:nvPr/>
        </p:nvSpPr>
        <p:spPr>
          <a:xfrm>
            <a:off x="457200" y="4160520"/>
            <a:ext cx="11274552" cy="0"/>
          </a:xfrm>
          <a:prstGeom prst="line">
            <a:avLst/>
          </a:prstGeom>
          <a:noFill/>
          <a:ln w="6350">
            <a:solidFill>
              <a:srgbClr val="D9D9D9"/>
            </a:solidFill>
            <a:prstDash val="dash"/>
          </a:ln>
        </p:spPr>
      </p:sp>
      <p:sp>
        <p:nvSpPr>
          <p:cNvPr id="37" name="Shape 32"/>
          <p:cNvSpPr/>
          <p:nvPr/>
        </p:nvSpPr>
        <p:spPr>
          <a:xfrm>
            <a:off x="457200" y="4215384"/>
            <a:ext cx="1463040" cy="1307592"/>
          </a:xfrm>
          <a:prstGeom prst="rect">
            <a:avLst/>
          </a:prstGeom>
          <a:solidFill>
            <a:srgbClr val="2C5F82"/>
          </a:solidFill>
          <a:ln w="12700">
            <a:solidFill>
              <a:srgbClr val="2C5F82"/>
            </a:solidFill>
            <a:prstDash val="solid"/>
          </a:ln>
        </p:spPr>
      </p:sp>
      <p:sp>
        <p:nvSpPr>
          <p:cNvPr id="38" name="Text 33"/>
          <p:cNvSpPr txBox="1"/>
          <p:nvPr/>
        </p:nvSpPr>
        <p:spPr>
          <a:xfrm>
            <a:off x="548640" y="4352544"/>
            <a:ext cx="1280160" cy="457200"/>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Valuation</a:t>
            </a:r>
            <a:endParaRPr lang="en-US" sz="1500" dirty="0"/>
          </a:p>
        </p:txBody>
      </p:sp>
      <p:sp>
        <p:nvSpPr>
          <p:cNvPr id="39" name="Text 34"/>
          <p:cNvSpPr txBox="1"/>
          <p:nvPr/>
        </p:nvSpPr>
        <p:spPr>
          <a:xfrm>
            <a:off x="548640" y="4837176"/>
            <a:ext cx="1280160" cy="640080"/>
          </a:xfrm>
          <a:prstGeom prst="rect">
            <a:avLst/>
          </a:prstGeom>
          <a:noFill/>
          <a:ln/>
        </p:spPr>
        <p:txBody>
          <a:bodyPr wrap="square" lIns="0" tIns="0" rIns="0" bIns="0" rtlCol="0" anchor="t"/>
          <a:lstStyle/>
          <a:p>
            <a:pPr indent="0" marL="0">
              <a:buNone/>
            </a:pPr>
            <a:r>
              <a:rPr lang="en-US" sz="900" dirty="0">
                <a:solidFill>
                  <a:srgbClr val="DCE6EE"/>
                </a:solidFill>
                <a:latin typeface="Arial" pitchFamily="34" charset="0"/>
                <a:ea typeface="Arial" pitchFamily="34" charset="-122"/>
                <a:cs typeface="Arial" pitchFamily="34" charset="-120"/>
              </a:rPr>
              <a:t>Much good news is priced, in a few names</a:t>
            </a:r>
            <a:endParaRPr lang="en-US" sz="900" dirty="0"/>
          </a:p>
        </p:txBody>
      </p:sp>
      <p:sp>
        <p:nvSpPr>
          <p:cNvPr id="40" name="Shape 35"/>
          <p:cNvSpPr/>
          <p:nvPr/>
        </p:nvSpPr>
        <p:spPr>
          <a:xfrm>
            <a:off x="7315200" y="4215384"/>
            <a:ext cx="2148840" cy="1307592"/>
          </a:xfrm>
          <a:prstGeom prst="rect">
            <a:avLst/>
          </a:prstGeom>
          <a:solidFill>
            <a:srgbClr val="F7ECEC"/>
          </a:solidFill>
          <a:ln w="12700">
            <a:solidFill>
              <a:srgbClr val="F7ECEC"/>
            </a:solidFill>
            <a:prstDash val="solid"/>
          </a:ln>
        </p:spPr>
      </p:sp>
      <p:sp>
        <p:nvSpPr>
          <p:cNvPr id="41" name="Text 36"/>
          <p:cNvSpPr txBox="1"/>
          <p:nvPr/>
        </p:nvSpPr>
        <p:spPr>
          <a:xfrm>
            <a:off x="7406640" y="4270248"/>
            <a:ext cx="1965960" cy="1197864"/>
          </a:xfrm>
          <a:prstGeom prst="rect">
            <a:avLst/>
          </a:prstGeom>
          <a:noFill/>
          <a:ln/>
        </p:spPr>
        <p:txBody>
          <a:bodyPr wrap="square" lIns="0" tIns="0" rIns="0" bIns="0" rtlCol="0" anchor="ctr"/>
          <a:lstStyle/>
          <a:p>
            <a:pPr indent="0" marL="0">
              <a:spcAft>
                <a:spcPts val="200"/>
              </a:spcAft>
              <a:buNone/>
            </a:pPr>
            <a:r>
              <a:rPr lang="en-US" sz="880" dirty="0">
                <a:solidFill>
                  <a:srgbClr val="262626"/>
                </a:solidFill>
                <a:latin typeface="Arial" pitchFamily="34" charset="0"/>
                <a:ea typeface="Arial" pitchFamily="34" charset="-122"/>
                <a:cs typeface="Arial" pitchFamily="34" charset="-120"/>
              </a:rPr>
              <a:t>KOSPI trades at 23× trailing earnings; Nikkei CAPE 38.6×; TSMC is &gt;40% of TAIEX and Taiwan makes ~92% of advanced chips. Upside is concentrated and partly priced.</a:t>
            </a:r>
            <a:endParaRPr lang="en-US" sz="880" dirty="0"/>
          </a:p>
        </p:txBody>
      </p:sp>
      <p:sp>
        <p:nvSpPr>
          <p:cNvPr id="42" name="Shape 37"/>
          <p:cNvSpPr/>
          <p:nvPr/>
        </p:nvSpPr>
        <p:spPr>
          <a:xfrm>
            <a:off x="9555480" y="4215384"/>
            <a:ext cx="2176272" cy="1307592"/>
          </a:xfrm>
          <a:prstGeom prst="rect">
            <a:avLst/>
          </a:prstGeom>
          <a:solidFill>
            <a:srgbClr val="E8EFF5"/>
          </a:solidFill>
          <a:ln w="12700">
            <a:solidFill>
              <a:srgbClr val="E8EFF5"/>
            </a:solidFill>
            <a:prstDash val="solid"/>
          </a:ln>
        </p:spPr>
      </p:sp>
      <p:sp>
        <p:nvSpPr>
          <p:cNvPr id="43" name="Text 38"/>
          <p:cNvSpPr txBox="1"/>
          <p:nvPr/>
        </p:nvSpPr>
        <p:spPr>
          <a:xfrm>
            <a:off x="9646920" y="4270248"/>
            <a:ext cx="1993392" cy="1197864"/>
          </a:xfrm>
          <a:prstGeom prst="rect">
            <a:avLst/>
          </a:prstGeom>
          <a:noFill/>
          <a:ln/>
        </p:spPr>
        <p:txBody>
          <a:bodyPr wrap="square" lIns="0" tIns="0" rIns="0" bIns="0" rtlCol="0" anchor="ctr"/>
          <a:lstStyle/>
          <a:p>
            <a:pPr indent="0" marL="0">
              <a:spcAft>
                <a:spcPts val="200"/>
              </a:spcAft>
              <a:buNone/>
            </a:pPr>
            <a:r>
              <a:rPr lang="en-US" sz="880" b="1" dirty="0">
                <a:solidFill>
                  <a:srgbClr val="2C5F82"/>
                </a:solidFill>
                <a:latin typeface="Arial" pitchFamily="34" charset="0"/>
                <a:ea typeface="Arial" pitchFamily="34" charset="-122"/>
                <a:cs typeface="Arial" pitchFamily="34" charset="-120"/>
              </a:rPr>
              <a:t>Diversify: </a:t>
            </a:r>
            <a:pPr indent="0" marL="0">
              <a:spcAft>
                <a:spcPts val="200"/>
              </a:spcAft>
              <a:buNone/>
            </a:pPr>
            <a:r>
              <a:rPr lang="en-US" sz="880" dirty="0">
                <a:solidFill>
                  <a:srgbClr val="262626"/>
                </a:solidFill>
                <a:latin typeface="Arial" pitchFamily="34" charset="0"/>
                <a:ea typeface="Arial" pitchFamily="34" charset="-122"/>
                <a:cs typeface="Arial" pitchFamily="34" charset="-120"/>
              </a:rPr>
              <a:t>five-ETF basket, not a worst-of on single names.</a:t>
            </a:r>
            <a:endParaRPr lang="en-US" sz="880" dirty="0"/>
          </a:p>
          <a:p>
            <a:pPr indent="0" marL="0">
              <a:spcAft>
                <a:spcPts val="200"/>
              </a:spcAft>
              <a:buNone/>
            </a:pPr>
            <a:r>
              <a:rPr lang="en-US" sz="880" b="1" dirty="0">
                <a:solidFill>
                  <a:srgbClr val="2C5F82"/>
                </a:solidFill>
                <a:latin typeface="Arial" pitchFamily="34" charset="0"/>
                <a:ea typeface="Arial" pitchFamily="34" charset="-122"/>
                <a:cs typeface="Arial" pitchFamily="34" charset="-120"/>
              </a:rPr>
              <a:t>Cap costs little: </a:t>
            </a:r>
            <a:pPr indent="0" marL="0">
              <a:spcAft>
                <a:spcPts val="200"/>
              </a:spcAft>
              <a:buNone/>
            </a:pPr>
            <a:r>
              <a:rPr lang="en-US" sz="880" dirty="0">
                <a:solidFill>
                  <a:srgbClr val="262626"/>
                </a:solidFill>
                <a:latin typeface="Arial" pitchFamily="34" charset="0"/>
                <a:ea typeface="Arial" pitchFamily="34" charset="-122"/>
                <a:cs typeface="Arial" pitchFamily="34" charset="-120"/>
              </a:rPr>
              <a:t>giving up upside beyond the coupon matters less when it is already priced.</a:t>
            </a:r>
            <a:endParaRPr lang="en-US" sz="880" dirty="0"/>
          </a:p>
        </p:txBody>
      </p:sp>
      <p:graphicFrame>
        <p:nvGraphicFramePr>
          <p:cNvPr id="44" name="Chart 2" descr=""/>
          <p:cNvGraphicFramePr/>
          <p:nvPr/>
        </p:nvGraphicFramePr>
        <p:xfrm>
          <a:off x="2011680" y="4215384"/>
          <a:ext cx="5212080" cy="1133856"/>
        </p:xfrm>
        <a:graphic xmlns:a="http://schemas.openxmlformats.org/drawingml/2006/main">
          <a:graphicData uri="http://schemas.openxmlformats.org/drawingml/2006/chart">
            <c:chart xmlns:c="http://schemas.openxmlformats.org/drawingml/2006/chart" r:id="rId4"/>
          </a:graphicData>
        </a:graphic>
      </p:graphicFrame>
      <p:sp>
        <p:nvSpPr>
          <p:cNvPr id="45" name="Text 39"/>
          <p:cNvSpPr txBox="1"/>
          <p:nvPr/>
        </p:nvSpPr>
        <p:spPr>
          <a:xfrm>
            <a:off x="2011680" y="5349240"/>
            <a:ext cx="5212080" cy="182880"/>
          </a:xfrm>
          <a:prstGeom prst="rect">
            <a:avLst/>
          </a:prstGeom>
          <a:noFill/>
          <a:ln/>
        </p:spPr>
        <p:txBody>
          <a:bodyPr wrap="square" lIns="0" tIns="0" rIns="0" bIns="0" rtlCol="0" anchor="t"/>
          <a:lstStyle/>
          <a:p>
            <a:pPr indent="0" marL="0">
              <a:buNone/>
            </a:pPr>
            <a:r>
              <a:rPr lang="en-US" sz="750" i="1" dirty="0">
                <a:solidFill>
                  <a:srgbClr val="595959"/>
                </a:solidFill>
                <a:latin typeface="Arial" pitchFamily="34" charset="0"/>
                <a:ea typeface="Arial" pitchFamily="34" charset="-122"/>
                <a:cs typeface="Arial" pitchFamily="34" charset="-120"/>
              </a:rPr>
              <a:t>Price/earnings, 1 Jul 2026 (Siblis Research)</a:t>
            </a:r>
            <a:endParaRPr lang="en-US" sz="750" dirty="0"/>
          </a:p>
        </p:txBody>
      </p:sp>
      <p:sp>
        <p:nvSpPr>
          <p:cNvPr id="46" name="Text 40"/>
          <p:cNvSpPr txBox="1"/>
          <p:nvPr/>
        </p:nvSpPr>
        <p:spPr>
          <a:xfrm>
            <a:off x="457200" y="5669280"/>
            <a:ext cx="11274552" cy="274320"/>
          </a:xfrm>
          <a:prstGeom prst="rect">
            <a:avLst/>
          </a:prstGeom>
          <a:noFill/>
          <a:ln/>
        </p:spPr>
        <p:txBody>
          <a:bodyPr wrap="square" lIns="0" tIns="0" rIns="0" bIns="0" rtlCol="0" anchor="t"/>
          <a:lstStyle/>
          <a:p>
            <a:pPr indent="0" marL="0">
              <a:buNone/>
            </a:pPr>
            <a:r>
              <a:rPr lang="en-US" sz="1000" b="1" dirty="0">
                <a:solidFill>
                  <a:srgbClr val="2C5F82"/>
                </a:solidFill>
                <a:latin typeface="Arial" pitchFamily="34" charset="0"/>
                <a:ea typeface="Arial" pitchFamily="34" charset="-122"/>
                <a:cs typeface="Arial" pitchFamily="34" charset="-120"/>
              </a:rPr>
              <a:t>Market proof: </a:t>
            </a:r>
            <a:pPr indent="0" marL="0">
              <a:buNone/>
            </a:pPr>
            <a:r>
              <a:rPr lang="en-US" sz="1000" dirty="0">
                <a:solidFill>
                  <a:srgbClr val="262626"/>
                </a:solidFill>
                <a:latin typeface="Arial" pitchFamily="34" charset="0"/>
                <a:ea typeface="Arial" pitchFamily="34" charset="-122"/>
                <a:cs typeface="Arial" pitchFamily="34" charset="-120"/>
              </a:rPr>
              <a:t>Taiwan structured-note issuance rose 81% in 2025, with autocalls the favourite payoff (SRP). Investors facing the same market are already choosing this answer.</a:t>
            </a:r>
            <a:endParaRPr lang="en-US" sz="1000" dirty="0"/>
          </a:p>
        </p:txBody>
      </p:sp>
      <p:sp>
        <p:nvSpPr>
          <p:cNvPr id="47" name="Text 41"/>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Summary of Economic Projections (16 Sep 2026; dot counts read from Figure 2, verify); TWSE, KRX/press, Nikkei (index levels); Siblis Research (P/E); Herald / SBS (VKOSPI); J.P. Morgan 2026 Outlook; StructuredRetailProducts.com;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46888">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FOMC dot plot: medians 4.125% (2026), 4.125% (2027), 3.875% (2028), 3.625% (2029), 3.25% longer run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Summary of Economic Projections, Figure 2 (16 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6089904"/>
            <a:ext cx="11274552" cy="237744"/>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2026-10-08T11:36:02Z</dcterms:created>
  <dcterms:modified xsi:type="dcterms:W3CDTF">2026-10-08T11:36:02Z</dcterms:modified>
</cp:coreProperties>
</file>