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Hyperscaler capex, US$bn</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8DB3D1"/>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Sheet1!$B$2:$B$5</c:f>
              <c:numCache>
                <c:formatCode>General</c:formatCode>
                <c:ptCount val="4"/>
                <c:pt idx="0">
                  <c:v>134.7</c:v>
                </c:pt>
                <c:pt idx="1">
                  <c:v>118</c:v>
                </c:pt>
                <c:pt idx="2">
                  <c:v>91.5</c:v>
                </c:pt>
                <c:pt idx="3">
                  <c:v>72.2</c:v>
                </c:pt>
              </c:numCache>
            </c:numRef>
          </c:val>
        </c:ser>
        <c:ser>
          <c:idx val="1"/>
          <c:order val="1"/>
          <c:tx>
            <c:strRef>
              <c:f>Sheet1!$C$1</c:f>
              <c:strCache>
                <c:ptCount val="1"/>
                <c:pt idx="0">
                  <c:v>2026 guidance</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Sheet1!$C$2:$C$5</c:f>
              <c:numCache>
                <c:formatCode>General</c:formatCode>
                <c:ptCount val="4"/>
                <c:pt idx="0">
                  <c:v>200</c:v>
                </c:pt>
                <c:pt idx="1">
                  <c:v>190</c:v>
                </c:pt>
                <c:pt idx="2">
                  <c:v>185</c:v>
                </c:pt>
                <c:pt idx="3">
                  <c:v>135</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Since ChatGPT's launch (Nov 2022 to Dec 2025)</a:t>
            </a:r>
          </a:p>
        </c:rich>
      </c:tx>
      <c:layout/>
      <c:overlay val="0"/>
    </c:title>
    <c:autoTitleDeleted val="0"/>
    <c:plotArea>
      <c:layout/>
      <c:barChart>
        <c:barDir val="col"/>
        <c:grouping val="clustered"/>
        <c:varyColors val="0"/>
        <c:ser>
          <c:idx val="0"/>
          <c:order val="0"/>
          <c:tx>
            <c:strRef>
              <c:f>Sheet1!$B$1</c:f>
              <c:strCache>
                <c:ptCount val="1"/>
                <c:pt idx="0">
                  <c:v>Price return</c:v>
                </c:pt>
              </c:strCache>
            </c:strRef>
          </c:tx>
          <c:spPr>
            <a:solidFill>
              <a:srgbClr val="2C5F82"/>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Sheet1!$B$2:$B$6</c:f>
              <c:numCache>
                <c:formatCode>General</c:formatCode>
                <c:ptCount val="5"/>
                <c:pt idx="0">
                  <c:v>190</c:v>
                </c:pt>
                <c:pt idx="1">
                  <c:v>26</c:v>
                </c:pt>
                <c:pt idx="2">
                  <c:v>59</c:v>
                </c:pt>
                <c:pt idx="3">
                  <c:v>50</c:v>
                </c:pt>
                <c:pt idx="4">
                  <c:v>33</c:v>
                </c:pt>
              </c:numCache>
            </c:numRef>
          </c:val>
        </c:ser>
        <c:ser>
          <c:idx val="1"/>
          <c:order val="1"/>
          <c:tx>
            <c:strRef>
              <c:f>Sheet1!$C$1</c:f>
              <c:strCache>
                <c:ptCount val="1"/>
                <c:pt idx="0">
                  <c:v>Earnings growth</c:v>
                </c:pt>
              </c:strCache>
            </c:strRef>
          </c:tx>
          <c:spPr>
            <a:solidFill>
              <a:srgbClr val="8DB3D1"/>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Sheet1!$C$2:$C$6</c:f>
              <c:numCache>
                <c:formatCode>General</c:formatCode>
                <c:ptCount val="5"/>
                <c:pt idx="0">
                  <c:v>153</c:v>
                </c:pt>
                <c:pt idx="1">
                  <c:v>19</c:v>
                </c:pt>
                <c:pt idx="2">
                  <c:v>52</c:v>
                </c:pt>
                <c:pt idx="3">
                  <c:v>15</c:v>
                </c:pt>
                <c:pt idx="4">
                  <c:v>4</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Dependence on a single source (JPM, read from chart)</a:t>
            </a:r>
          </a:p>
        </c:rich>
      </c:tx>
      <c:layout/>
      <c:overlay val="0"/>
    </c:title>
    <c:autoTitleDeleted val="0"/>
    <c:plotArea>
      <c:layout/>
      <c:barChart>
        <c:barDir val="col"/>
        <c:grouping val="clustered"/>
        <c:varyColors val="0"/>
        <c:ser>
          <c:idx val="0"/>
          <c:order val="0"/>
          <c:tx>
            <c:strRef>
              <c:f>Sheet1!$B$1</c:f>
              <c:strCache>
                <c:ptCount val="1"/>
                <c:pt idx="0">
                  <c:v>Reliance</c:v>
                </c:pt>
              </c:strCache>
            </c:strRef>
          </c:tx>
          <c:spPr>
            <a:solidFill>
              <a:srgbClr val="A6A6A6"/>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8DB3D1"/>
              </a:solidFill>
              <a:effectLst/>
            </c:spPr>
          </c:dPt>
          <c:dPt>
            <c:idx val="2"/>
            <c:invertIfNegative val="0"/>
            <c:bubble3D val="0"/>
            <c:spPr>
              <a:solidFill>
                <a:srgbClr val="B23B3B"/>
              </a:solidFill>
              <a:effectLst/>
            </c:spPr>
          </c:dPt>
          <c:cat>
            <c:multiLvlStrRef>
              <c:f>Sheet1!$A$2:$A$4</c:f>
              <c:multiLvlStrCache>
                <c:ptCount val="3"/>
                <c:lvl>
                  <c:pt idx="0">
                    <c:v>Europe on Russian energy (2021)</c:v>
                  </c:pt>
                  <c:pt idx="1">
                    <c:v>World on Taiwan: all chips</c:v>
                  </c:pt>
                  <c:pt idx="2">
                    <c:v>World on Taiwan: advanced chips</c:v>
                  </c:pt>
                </c:lvl>
              </c:multiLvlStrCache>
            </c:multiLvlStrRef>
          </c:cat>
          <c:val>
            <c:numRef>
              <c:f>Sheet1!$B$2:$B$4</c:f>
              <c:numCache>
                <c:formatCode>General</c:formatCode>
                <c:ptCount val="3"/>
                <c:pt idx="0">
                  <c:v>22</c:v>
                </c:pt>
                <c:pt idx="1">
                  <c:v>64</c:v>
                </c:pt>
                <c:pt idx="2">
                  <c:v>92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Index level, end-2021 = 100</a:t>
            </a:r>
          </a:p>
        </c:rich>
      </c:tx>
      <c:layout/>
      <c:overlay val="0"/>
    </c:title>
    <c:autoTitleDeleted val="0"/>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Fed funds rate (upper bound), 2022–2026</a:t>
            </a:r>
          </a:p>
        </c:rich>
      </c:tx>
      <c:layout/>
      <c:overlay val="0"/>
    </c:title>
    <c:autoTitleDeleted val="0"/>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100"/>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5Y USD bond</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Sheet1!$A$2:$A$10</c:f>
              <c:multiLvlStrCache>
                <c:ptCount val="9"/>
                <c:lvl>
                  <c:pt idx="0">
                    <c:v>-2.0%</c:v>
                  </c:pt>
                  <c:pt idx="1">
                    <c:v>-1.5%</c:v>
                  </c:pt>
                  <c:pt idx="2">
                    <c:v>-1.0%</c:v>
                  </c:pt>
                  <c:pt idx="3">
                    <c:v>-0.5%</c:v>
                  </c:pt>
                  <c:pt idx="4">
                    <c:v>0</c:v>
                  </c:pt>
                  <c:pt idx="5">
                    <c:v>+0.5%</c:v>
                  </c:pt>
                  <c:pt idx="6">
                    <c:v>+1.0%</c:v>
                  </c:pt>
                  <c:pt idx="7">
                    <c:v>+1.5%</c:v>
                  </c:pt>
                  <c:pt idx="8">
                    <c:v>+2.0%</c:v>
                  </c:pt>
                </c:lvl>
              </c:multiLvlStrCache>
            </c:multiLvlStrRef>
          </c:cat>
          <c:val>
            <c:numRef>
              <c:f>Sheet1!$B$2:$B$10</c:f>
              <c:numCache>
                <c:formatCode>General</c:formatCode>
                <c:ptCount val="9"/>
                <c:pt idx="0">
                  <c:v>9.1</c:v>
                </c:pt>
                <c:pt idx="1">
                  <c:v>6.8</c:v>
                </c:pt>
                <c:pt idx="2">
                  <c:v>4.5</c:v>
                </c:pt>
                <c:pt idx="3">
                  <c:v>2.3</c:v>
                </c:pt>
                <c:pt idx="4">
                  <c:v>0</c:v>
                </c:pt>
                <c:pt idx="5">
                  <c:v>-2</c:v>
                </c:pt>
                <c:pt idx="6">
                  <c:v>-4</c:v>
                </c:pt>
                <c:pt idx="7">
                  <c:v>-6</c:v>
                </c:pt>
                <c:pt idx="8">
                  <c:v>-7.9</c:v>
                </c:pt>
              </c:numCache>
            </c:numRef>
          </c:val>
        </c:ser>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2"/>
          <c:min val="-12"/>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Trailing P/E</c:v>
                </c:pt>
              </c:strCache>
            </c:strRef>
          </c:tx>
          <c:spPr>
            <a:solidFill>
              <a:srgbClr val="A6A6A6"/>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Sheet1!$B$2:$B$3</c:f>
              <c:numCache>
                <c:formatCode>General</c:formatCode>
                <c:ptCount val="2"/>
                <c:pt idx="0">
                  <c:v>22.95</c:v>
                </c:pt>
                <c:pt idx="1">
                  <c:v>22.09</c:v>
                </c:pt>
              </c:numCache>
            </c:numRef>
          </c:val>
        </c:ser>
        <c:ser>
          <c:idx val="1"/>
          <c:order val="1"/>
          <c:tx>
            <c:strRef>
              <c:f>Sheet1!$C$1</c:f>
              <c:strCache>
                <c:ptCount val="1"/>
                <c:pt idx="0">
                  <c:v>Forward P/E</c:v>
                </c:pt>
              </c:strCache>
            </c:strRef>
          </c:tx>
          <c:spPr>
            <a:solidFill>
              <a:srgbClr val="2C5F82"/>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Sheet1!$C$2:$C$3</c:f>
              <c:numCache>
                <c:formatCode>General</c:formatCode>
                <c:ptCount val="2"/>
                <c:pt idx="0">
                  <c:v>7.82</c:v>
                </c:pt>
                <c:pt idx="1">
                  <c:v>17.18</c:v>
                </c:pt>
              </c:numCache>
            </c:numRef>
          </c:val>
        </c:ser>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Taiwan, Korea and Japan each own a bottleneck. The boom is visible in earnings, not just prices: KOSPI's forward P/E of 7.8x against 23x trailing means analysts expect earnings to roughly triple. But the cycle is maturing: memory price increases are decelerating and US tariffs are a live risk. That tension, a great theme on a risky path, is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Third-party validation from J.P. Morgan's 2026 Outlook. Left: the AI theme has driven most of the equity market's returns and earnings since ChatGPT, and the moat runs through TSMC (8 of the 10 largest companies depend on it). Right: JPM's own 'what could go wrong' list highlights: Taiwan dependence (~92% of advanced chips) and blockade vulnerability, a possible 'Metaverse moment' for hyperscaler capex, and a 10–15% correction in its 2026 base case. These are the risks any investor in the theme has to manage. Note: the outlook is dated 1 Jan 2026, before this year's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market evidence only. Economic: AI-hardware demand is structural, but the equity path is violent (2022 falls, 2026 round trips), concentrated in a handful of names, and valuations already assume a lot while memory price momentum slows. Finance: the Fed is hiking again, so long bonds carry real rate risk; volatility is at record highs; and high rates make guaranteeing future capital unusually cheap. Each point ends with the autocall link: coupons paid on recovery (not timing), a diversified basket, capped upside that costs little, short duration, coupons funded by volatility, and protection funded by high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thesis 2, modelled on the 'traditional strategies fall short' format, using market evidence only: rising rates (bond duration risk), violent equity paths, concentration, record volatility and a late, richly priced cycle. Implications link each market fact to why an autocallable structure fits; our specific note and its numbers come in the product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chart" Target="/ppt/charts/chart11.xml"/><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Taiwan, Korea and Japan each control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2240280"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9418320" y="1481328"/>
          <a:ext cx="2313432" cy="2057400"/>
        </p:xfrm>
        <a:graphic xmlns:a="http://schemas.openxmlformats.org/drawingml/2006/main">
          <a:graphicData uri="http://schemas.openxmlformats.org/drawingml/2006/chart">
            <c:chart xmlns:c="http://schemas.openxmlformats.org/drawingml/2006/chart" r:id="rId5"/>
          </a:graphicData>
        </a:graphic>
      </p:graphicFrame>
      <p:graphicFrame>
        <p:nvGraphicFramePr>
          <p:cNvPr id="36" name="Chart 2"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6"/>
          </a:graphicData>
        </a:graphic>
      </p:graphicFrame>
      <p:sp>
        <p:nvSpPr>
          <p:cNvPr id="37"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8"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Structural demand, cyclical prices: own it through a structure built for volatility (thesis 2)</a:t>
            </a:r>
            <a:endParaRPr lang="en-US" sz="850" dirty="0"/>
          </a:p>
        </p:txBody>
      </p:sp>
      <p:sp>
        <p:nvSpPr>
          <p:cNvPr id="39"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TrendForce (DRAM, range midpoints); Siblis (P/E, 1 Jul 2026); SEMI (14 Jul 2026); WSTS (2025 actual $795.6bn; 2024 implied; 2026–27 Spring 2026 forecast); company reports and guidance midpoints (capex; Microsoft 2025 calendar-year estimate); White House Proclamation 11002.</a:t>
            </a:r>
            <a:endParaRPr lang="en-US" sz="800" dirty="0"/>
          </a:p>
        </p:txBody>
      </p:sp>
      <p:sp>
        <p:nvSpPr>
          <p:cNvPr id="40"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1"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Whichever AI model or company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J.P. Morgan's 2026 Outlook: the AI moat is real, and so are its cracks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41832"/>
            <a:ext cx="1124712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"Smothering Heights: is the largest moat in market history indestructible?" (M. Cembalest, J.P. Morgan Asset &amp; Wealth Management, 1 Jan 2026)</a:t>
            </a:r>
            <a:endParaRPr lang="en-US" sz="1100" dirty="0"/>
          </a:p>
        </p:txBody>
      </p:sp>
      <p:sp>
        <p:nvSpPr>
          <p:cNvPr id="10" name="Shape 8"/>
          <p:cNvSpPr/>
          <p:nvPr/>
        </p:nvSpPr>
        <p:spPr>
          <a:xfrm>
            <a:off x="457200" y="1280160"/>
            <a:ext cx="5486400" cy="384048"/>
          </a:xfrm>
          <a:prstGeom prst="rect">
            <a:avLst/>
          </a:prstGeom>
          <a:solidFill>
            <a:srgbClr val="2C5F82"/>
          </a:solidFill>
          <a:ln w="12700">
            <a:solidFill>
              <a:srgbClr val="2C5F82"/>
            </a:solidFill>
            <a:prstDash val="solid"/>
          </a:ln>
        </p:spPr>
      </p:sp>
      <p:sp>
        <p:nvSpPr>
          <p:cNvPr id="11" name="Text 9"/>
          <p:cNvSpPr txBox="1"/>
          <p:nvPr/>
        </p:nvSpPr>
        <p:spPr>
          <a:xfrm>
            <a:off x="457200"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theme is the market</a:t>
            </a:r>
            <a:endParaRPr lang="en-US" sz="1400" dirty="0"/>
          </a:p>
        </p:txBody>
      </p:sp>
      <p:graphicFrame>
        <p:nvGraphicFramePr>
          <p:cNvPr id="12" name="Chart 0" descr=""/>
          <p:cNvGraphicFramePr/>
          <p:nvPr/>
        </p:nvGraphicFramePr>
        <p:xfrm>
          <a:off x="457200" y="1719072"/>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39312"/>
            <a:ext cx="5486400" cy="493776"/>
          </a:xfrm>
          <a:prstGeom prst="rect">
            <a:avLst/>
          </a:prstGeom>
          <a:solidFill>
            <a:srgbClr val="F2F2F2"/>
          </a:solidFill>
          <a:ln w="12700">
            <a:solidFill>
              <a:srgbClr val="F2F2F2"/>
            </a:solidFill>
            <a:prstDash val="solid"/>
          </a:ln>
        </p:spPr>
      </p:sp>
      <p:sp>
        <p:nvSpPr>
          <p:cNvPr id="14" name="Text 11"/>
          <p:cNvSpPr txBox="1"/>
          <p:nvPr/>
        </p:nvSpPr>
        <p:spPr>
          <a:xfrm>
            <a:off x="548640" y="363931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$3trn → $18trn</a:t>
            </a:r>
            <a:endParaRPr lang="en-US" sz="1500" dirty="0"/>
          </a:p>
        </p:txBody>
      </p:sp>
      <p:sp>
        <p:nvSpPr>
          <p:cNvPr id="15" name="Text 12"/>
          <p:cNvSpPr txBox="1"/>
          <p:nvPr/>
        </p:nvSpPr>
        <p:spPr>
          <a:xfrm>
            <a:off x="2240280"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Market cap of 4 hyperscalers + NVIDIA, TSMC, ASML, AMD in ~7 years: ~20% of MSCI World</a:t>
            </a:r>
            <a:endParaRPr lang="en-US" sz="950" dirty="0"/>
          </a:p>
        </p:txBody>
      </p:sp>
      <p:sp>
        <p:nvSpPr>
          <p:cNvPr id="16" name="Shape 13"/>
          <p:cNvSpPr/>
          <p:nvPr/>
        </p:nvSpPr>
        <p:spPr>
          <a:xfrm>
            <a:off x="457200" y="4187952"/>
            <a:ext cx="5486400" cy="493776"/>
          </a:xfrm>
          <a:prstGeom prst="rect">
            <a:avLst/>
          </a:prstGeom>
          <a:solidFill>
            <a:srgbClr val="FFFFFF"/>
          </a:solidFill>
          <a:ln w="12700">
            <a:solidFill>
              <a:srgbClr val="F2F2F2"/>
            </a:solidFill>
            <a:prstDash val="solid"/>
          </a:ln>
        </p:spPr>
      </p:sp>
      <p:sp>
        <p:nvSpPr>
          <p:cNvPr id="17" name="Text 14"/>
          <p:cNvSpPr txBox="1"/>
          <p:nvPr/>
        </p:nvSpPr>
        <p:spPr>
          <a:xfrm>
            <a:off x="548640" y="418795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65–75%</a:t>
            </a:r>
            <a:endParaRPr lang="en-US" sz="1500" dirty="0"/>
          </a:p>
        </p:txBody>
      </p:sp>
      <p:sp>
        <p:nvSpPr>
          <p:cNvPr id="18" name="Text 15"/>
          <p:cNvSpPr txBox="1"/>
          <p:nvPr/>
        </p:nvSpPr>
        <p:spPr>
          <a:xfrm>
            <a:off x="2240280"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Share of S&amp;P 500 returns, profits and capex since Nov 2022 from 42 AI-linked stocks</a:t>
            </a:r>
            <a:endParaRPr lang="en-US" sz="950" dirty="0"/>
          </a:p>
        </p:txBody>
      </p:sp>
      <p:sp>
        <p:nvSpPr>
          <p:cNvPr id="19" name="Shape 16"/>
          <p:cNvSpPr/>
          <p:nvPr/>
        </p:nvSpPr>
        <p:spPr>
          <a:xfrm>
            <a:off x="457200" y="4736592"/>
            <a:ext cx="5486400" cy="493776"/>
          </a:xfrm>
          <a:prstGeom prst="rect">
            <a:avLst/>
          </a:prstGeom>
          <a:solidFill>
            <a:srgbClr val="F2F2F2"/>
          </a:solidFill>
          <a:ln w="12700">
            <a:solidFill>
              <a:srgbClr val="F2F2F2"/>
            </a:solidFill>
            <a:prstDash val="solid"/>
          </a:ln>
        </p:spPr>
      </p:sp>
      <p:sp>
        <p:nvSpPr>
          <p:cNvPr id="20" name="Text 17"/>
          <p:cNvSpPr txBox="1"/>
          <p:nvPr/>
        </p:nvSpPr>
        <p:spPr>
          <a:xfrm>
            <a:off x="548640" y="473659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8 of 10</a:t>
            </a:r>
            <a:endParaRPr lang="en-US" sz="1500" dirty="0"/>
          </a:p>
        </p:txBody>
      </p:sp>
      <p:sp>
        <p:nvSpPr>
          <p:cNvPr id="21" name="Text 18"/>
          <p:cNvSpPr txBox="1"/>
          <p:nvPr/>
        </p:nvSpPr>
        <p:spPr>
          <a:xfrm>
            <a:off x="2240280"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Of the world's 10 largest companies depend heavily on TSMC supply</a:t>
            </a:r>
            <a:endParaRPr lang="en-US" sz="950" dirty="0"/>
          </a:p>
        </p:txBody>
      </p:sp>
      <p:sp>
        <p:nvSpPr>
          <p:cNvPr id="22" name="Shape 19"/>
          <p:cNvSpPr/>
          <p:nvPr/>
        </p:nvSpPr>
        <p:spPr>
          <a:xfrm>
            <a:off x="6245352" y="1280160"/>
            <a:ext cx="5486400" cy="384048"/>
          </a:xfrm>
          <a:prstGeom prst="rect">
            <a:avLst/>
          </a:prstGeom>
          <a:solidFill>
            <a:srgbClr val="2C5F82"/>
          </a:solidFill>
          <a:ln w="12700">
            <a:solidFill>
              <a:srgbClr val="2C5F82"/>
            </a:solidFill>
            <a:prstDash val="solid"/>
          </a:ln>
        </p:spPr>
      </p:sp>
      <p:sp>
        <p:nvSpPr>
          <p:cNvPr id="23" name="Text 20"/>
          <p:cNvSpPr txBox="1"/>
          <p:nvPr/>
        </p:nvSpPr>
        <p:spPr>
          <a:xfrm>
            <a:off x="6245352"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…but the moat has cracks</a:t>
            </a:r>
            <a:endParaRPr lang="en-US" sz="1400" dirty="0"/>
          </a:p>
        </p:txBody>
      </p:sp>
      <p:graphicFrame>
        <p:nvGraphicFramePr>
          <p:cNvPr id="24" name="Chart 1" descr=""/>
          <p:cNvGraphicFramePr/>
          <p:nvPr/>
        </p:nvGraphicFramePr>
        <p:xfrm>
          <a:off x="6245352" y="1719072"/>
          <a:ext cx="5486400" cy="1828800"/>
        </p:xfrm>
        <a:graphic xmlns:a="http://schemas.openxmlformats.org/drawingml/2006/main">
          <a:graphicData uri="http://schemas.openxmlformats.org/drawingml/2006/chart">
            <c:chart xmlns:c="http://schemas.openxmlformats.org/drawingml/2006/chart" r:id="rId2"/>
          </a:graphicData>
        </a:graphic>
      </p:graphicFrame>
      <p:sp>
        <p:nvSpPr>
          <p:cNvPr id="25" name="Shape 21"/>
          <p:cNvSpPr/>
          <p:nvPr/>
        </p:nvSpPr>
        <p:spPr>
          <a:xfrm>
            <a:off x="6245352" y="3639312"/>
            <a:ext cx="5486400" cy="493776"/>
          </a:xfrm>
          <a:prstGeom prst="rect">
            <a:avLst/>
          </a:prstGeom>
          <a:solidFill>
            <a:srgbClr val="F2F2F2"/>
          </a:solidFill>
          <a:ln w="12700">
            <a:solidFill>
              <a:srgbClr val="F2F2F2"/>
            </a:solidFill>
            <a:prstDash val="solid"/>
          </a:ln>
        </p:spPr>
      </p:sp>
      <p:sp>
        <p:nvSpPr>
          <p:cNvPr id="26" name="Text 22"/>
          <p:cNvSpPr txBox="1"/>
          <p:nvPr/>
        </p:nvSpPr>
        <p:spPr>
          <a:xfrm>
            <a:off x="6336792" y="363931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10–11 days</a:t>
            </a:r>
            <a:endParaRPr lang="en-US" sz="1500" dirty="0"/>
          </a:p>
        </p:txBody>
      </p:sp>
      <p:sp>
        <p:nvSpPr>
          <p:cNvPr id="27" name="Text 23"/>
          <p:cNvSpPr txBox="1"/>
          <p:nvPr/>
        </p:nvSpPr>
        <p:spPr>
          <a:xfrm>
            <a:off x="8028432"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Taiwan's gas storage; LNG is 40% of its power and 90% of energy is imported: "the most blockade-sensitive advanced economy"</a:t>
            </a:r>
            <a:endParaRPr lang="en-US" sz="950" dirty="0"/>
          </a:p>
        </p:txBody>
      </p:sp>
      <p:sp>
        <p:nvSpPr>
          <p:cNvPr id="28" name="Shape 24"/>
          <p:cNvSpPr/>
          <p:nvPr/>
        </p:nvSpPr>
        <p:spPr>
          <a:xfrm>
            <a:off x="6245352" y="4187952"/>
            <a:ext cx="5486400" cy="493776"/>
          </a:xfrm>
          <a:prstGeom prst="rect">
            <a:avLst/>
          </a:prstGeom>
          <a:solidFill>
            <a:srgbClr val="FFFFFF"/>
          </a:solidFill>
          <a:ln w="12700">
            <a:solidFill>
              <a:srgbClr val="F2F2F2"/>
            </a:solidFill>
            <a:prstDash val="solid"/>
          </a:ln>
        </p:spPr>
      </p:sp>
      <p:sp>
        <p:nvSpPr>
          <p:cNvPr id="29" name="Text 25"/>
          <p:cNvSpPr txBox="1"/>
          <p:nvPr/>
        </p:nvSpPr>
        <p:spPr>
          <a:xfrm>
            <a:off x="6336792" y="418795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$1.3trn</a:t>
            </a:r>
            <a:endParaRPr lang="en-US" sz="1500" dirty="0"/>
          </a:p>
        </p:txBody>
      </p:sp>
      <p:sp>
        <p:nvSpPr>
          <p:cNvPr id="30" name="Text 26"/>
          <p:cNvSpPr txBox="1"/>
          <p:nvPr/>
        </p:nvSpPr>
        <p:spPr>
          <a:xfrm>
            <a:off x="8028432"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Hyperscaler capex + R&amp;D since 2022: risk of a "Metaverse moment" (Mag 7 fell 50% in 2022)</a:t>
            </a:r>
            <a:endParaRPr lang="en-US" sz="950" dirty="0"/>
          </a:p>
        </p:txBody>
      </p:sp>
      <p:sp>
        <p:nvSpPr>
          <p:cNvPr id="31" name="Shape 27"/>
          <p:cNvSpPr/>
          <p:nvPr/>
        </p:nvSpPr>
        <p:spPr>
          <a:xfrm>
            <a:off x="6245352" y="4736592"/>
            <a:ext cx="5486400" cy="493776"/>
          </a:xfrm>
          <a:prstGeom prst="rect">
            <a:avLst/>
          </a:prstGeom>
          <a:solidFill>
            <a:srgbClr val="F2F2F2"/>
          </a:solidFill>
          <a:ln w="12700">
            <a:solidFill>
              <a:srgbClr val="F2F2F2"/>
            </a:solidFill>
            <a:prstDash val="solid"/>
          </a:ln>
        </p:spPr>
      </p:sp>
      <p:sp>
        <p:nvSpPr>
          <p:cNvPr id="32" name="Text 28"/>
          <p:cNvSpPr txBox="1"/>
          <p:nvPr/>
        </p:nvSpPr>
        <p:spPr>
          <a:xfrm>
            <a:off x="6336792" y="473659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−10–15%</a:t>
            </a:r>
            <a:endParaRPr lang="en-US" sz="1500" dirty="0"/>
          </a:p>
        </p:txBody>
      </p:sp>
      <p:sp>
        <p:nvSpPr>
          <p:cNvPr id="33" name="Text 29"/>
          <p:cNvSpPr txBox="1"/>
          <p:nvPr/>
        </p:nvSpPr>
        <p:spPr>
          <a:xfrm>
            <a:off x="8028432"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JPM's base case: a correction at some point in 2026, then markets end the year higher</a:t>
            </a:r>
            <a:endParaRPr lang="en-US" sz="950" dirty="0"/>
          </a:p>
        </p:txBody>
      </p:sp>
      <p:sp>
        <p:nvSpPr>
          <p:cNvPr id="34" name="Text 30"/>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 J.P. Morgan Asset &amp; Wealth Management, Eye on the Market, 2026 Outlook "Smothering Heights" (M. Cembalest, 1 Jan 2026), pp. 1–2, 7, 33–35, 46; underlying data Bloomberg, USITC, BP, ROC Taiwan, Global Guardian. Reliance values read from JPM's chart (approximate).</a:t>
            </a:r>
            <a:endParaRPr lang="en-US" sz="800" dirty="0"/>
          </a:p>
        </p:txBody>
      </p:sp>
      <p:sp>
        <p:nvSpPr>
          <p:cNvPr id="35" name="Shape 31"/>
          <p:cNvSpPr/>
          <p:nvPr/>
        </p:nvSpPr>
        <p:spPr>
          <a:xfrm>
            <a:off x="457200" y="5650992"/>
            <a:ext cx="11274552" cy="502920"/>
          </a:xfrm>
          <a:prstGeom prst="rect">
            <a:avLst/>
          </a:prstGeom>
          <a:solidFill>
            <a:srgbClr val="2C5F82"/>
          </a:solidFill>
          <a:ln w="12700">
            <a:solidFill>
              <a:srgbClr val="2C5F82"/>
            </a:solidFill>
            <a:prstDash val="solid"/>
          </a:ln>
        </p:spPr>
      </p:sp>
      <p:sp>
        <p:nvSpPr>
          <p:cNvPr id="36" name="Text 32"/>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J.P. Morgan's key risks (concentration, Taiwan, a 10–15% correction) are what a capital-protected autocall is built to absorb.</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Volatile markets and high rates favour autocallables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a strong theme on a volatile path</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concentrated and late-cycle equity market</a:t>
            </a:r>
            <a:endParaRPr lang="en-US" sz="1050" dirty="0"/>
          </a:p>
        </p:txBody>
      </p:sp>
      <p:graphicFrame>
        <p:nvGraphicFramePr>
          <p:cNvPr id="12" name="Chart 0" descr=""/>
          <p:cNvGraphicFramePr/>
          <p:nvPr/>
        </p:nvGraphicFramePr>
        <p:xfrm>
          <a:off x="457200" y="1783080"/>
          <a:ext cx="3429000" cy="1645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977640"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Growth is structural…</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Capex +77% and chip market +90% in 2026 (thesis 1).</a:t>
            </a:r>
            <a:endParaRPr lang="en-US" sz="900" dirty="0"/>
          </a:p>
          <a:p>
            <a:pPr indent="0" marL="0">
              <a:spcAft>
                <a:spcPts val="200"/>
              </a:spcAft>
              <a:buNone/>
            </a:pPr>
            <a:r>
              <a:rPr lang="en-US" sz="900" b="1" dirty="0">
                <a:solidFill>
                  <a:srgbClr val="B23B3B"/>
                </a:solidFill>
                <a:latin typeface="Arial" pitchFamily="34" charset="0"/>
                <a:ea typeface="Arial" pitchFamily="34" charset="-122"/>
                <a:cs typeface="Arial" pitchFamily="34" charset="-120"/>
              </a:rPr>
              <a:t>…but the path is violent</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Down 10–25% in 2022, then 2–3× since. KOSPI fell 8.95% in a single day (13 Jul 2026).</a:t>
            </a:r>
            <a:endParaRPr lang="en-US" sz="9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Round trips happen fast: </a:t>
            </a:r>
            <a:pPr indent="0" marL="0">
              <a:spcAft>
                <a:spcPts val="100"/>
              </a:spcAft>
              <a:buNone/>
            </a:pPr>
            <a:r>
              <a:rPr lang="en-US" sz="880" dirty="0">
                <a:solidFill>
                  <a:srgbClr val="595959"/>
                </a:solidFill>
                <a:latin typeface="Arial" pitchFamily="34" charset="0"/>
                <a:ea typeface="Arial" pitchFamily="34" charset="-122"/>
                <a:cs typeface="Arial" pitchFamily="34" charset="-120"/>
              </a:rPr>
              <a:t>KOSPI went from 9,000+ in June to 6,789 on 28 Aug; J.P. Morgan expects a 10–15% correction in 2026.</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 coupons are paid when the basket gets back to its start: no need to time the bottom</a:t>
            </a:r>
            <a:endParaRPr lang="en-US" sz="88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Returns hinge on a few names: </a:t>
            </a:r>
            <a:pPr indent="0" marL="0">
              <a:spcAft>
                <a:spcPts val="100"/>
              </a:spcAft>
              <a:buNone/>
            </a:pPr>
            <a:r>
              <a:rPr lang="en-US" sz="880" dirty="0">
                <a:solidFill>
                  <a:srgbClr val="595959"/>
                </a:solidFill>
                <a:latin typeface="Arial" pitchFamily="34" charset="0"/>
                <a:ea typeface="Arial" pitchFamily="34" charset="-122"/>
                <a:cs typeface="Arial" pitchFamily="34" charset="-120"/>
              </a:rPr>
              <a:t>TSMC &gt;40% of TAIEX; Samsung + SK hynix ~48% of KOSPI; ~92% of advanced chips from Taiwan.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Use a diversified ETF basket, not a worst-of on single names</a:t>
            </a:r>
            <a:endParaRPr lang="en-US" sz="88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38.6×</a:t>
            </a:r>
            <a:endParaRPr lang="en-US" sz="1800" dirty="0"/>
          </a:p>
        </p:txBody>
      </p:sp>
      <p:sp>
        <p:nvSpPr>
          <p:cNvPr id="28" name="Text 25"/>
          <p:cNvSpPr txBox="1"/>
          <p:nvPr/>
        </p:nvSpPr>
        <p:spPr>
          <a:xfrm>
            <a:off x="2148840"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Valuations price in a lot: </a:t>
            </a:r>
            <a:pPr indent="0" marL="0">
              <a:spcAft>
                <a:spcPts val="100"/>
              </a:spcAft>
              <a:buNone/>
            </a:pPr>
            <a:r>
              <a:rPr lang="en-US" sz="880" dirty="0">
                <a:solidFill>
                  <a:srgbClr val="595959"/>
                </a:solidFill>
                <a:latin typeface="Arial" pitchFamily="34" charset="0"/>
                <a:ea typeface="Arial" pitchFamily="34" charset="-122"/>
                <a:cs typeface="Arial" pitchFamily="34" charset="-120"/>
              </a:rPr>
              <a:t>Nikkei CAPE 38.6×; Taiwan among the most expensive markets; DRAM price gains slowing.</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Capping upside at the coupon costs little when the good news is already priced</a:t>
            </a:r>
            <a:endParaRPr lang="en-US" sz="88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today's rates and volatility suit autocalls</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again; volatility is at records</a:t>
            </a:r>
            <a:endParaRPr lang="en-US" sz="1050" dirty="0"/>
          </a:p>
        </p:txBody>
      </p:sp>
      <p:graphicFrame>
        <p:nvGraphicFramePr>
          <p:cNvPr id="32" name="Chart 1" descr=""/>
          <p:cNvGraphicFramePr/>
          <p:nvPr/>
        </p:nvGraphicFramePr>
        <p:xfrm>
          <a:off x="6245352" y="1783080"/>
          <a:ext cx="3429000" cy="164592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9765792"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The Fed is hiking again</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16 Sep 2026: +0.25% to 3.75–4.00%, the first hike since 2023; median dot 4.1% for end-2026.</a:t>
            </a:r>
            <a:endParaRPr lang="en-US" sz="900" dirty="0"/>
          </a:p>
          <a:p>
            <a:pPr indent="0" marL="0">
              <a:spcAft>
                <a:spcPts val="200"/>
              </a:spcAft>
              <a:buNone/>
            </a:pPr>
            <a:r>
              <a:rPr lang="en-US" sz="900" b="1" dirty="0">
                <a:solidFill>
                  <a:srgbClr val="2C5F82"/>
                </a:solidFill>
                <a:latin typeface="Arial" pitchFamily="34" charset="0"/>
                <a:ea typeface="Arial" pitchFamily="34" charset="-122"/>
                <a:cs typeface="Arial" pitchFamily="34" charset="-120"/>
              </a:rPr>
              <a:t>Markets price more</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~87% probability of at least one further move priced by futures.</a:t>
            </a:r>
            <a:endParaRPr lang="en-US" sz="90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−4.0%</a:t>
            </a:r>
            <a:endParaRPr lang="en-US" sz="1800" dirty="0"/>
          </a:p>
        </p:txBody>
      </p:sp>
      <p:sp>
        <p:nvSpPr>
          <p:cNvPr id="38" name="Text 34"/>
          <p:cNvSpPr txBox="1"/>
          <p:nvPr/>
        </p:nvSpPr>
        <p:spPr>
          <a:xfrm>
            <a:off x="7936992"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Long bonds carry rate risk: </a:t>
            </a:r>
            <a:pPr indent="0" marL="0">
              <a:spcAft>
                <a:spcPts val="100"/>
              </a:spcAft>
              <a:buNone/>
            </a:pPr>
            <a:r>
              <a:rPr lang="en-US" sz="880" dirty="0">
                <a:solidFill>
                  <a:srgbClr val="595959"/>
                </a:solidFill>
                <a:latin typeface="Arial" pitchFamily="34" charset="0"/>
                <a:ea typeface="Arial" pitchFamily="34" charset="-122"/>
                <a:cs typeface="Arial" pitchFamily="34" charset="-120"/>
              </a:rPr>
              <a:t>A 5-year bond loses ~4.0% per 1% rate rise, as the Fed hikes again.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Autocalls can redeem from year 1: short duration, and cash to reinvest at higher rates</a:t>
            </a:r>
            <a:endParaRPr lang="en-US" sz="88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91.2</a:t>
            </a:r>
            <a:endParaRPr lang="en-US" sz="1800" dirty="0"/>
          </a:p>
        </p:txBody>
      </p:sp>
      <p:sp>
        <p:nvSpPr>
          <p:cNvPr id="43" name="Text 39"/>
          <p:cNvSpPr txBox="1"/>
          <p:nvPr/>
        </p:nvSpPr>
        <p:spPr>
          <a:xfrm>
            <a:off x="7936992"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Volatility is at records: </a:t>
            </a:r>
            <a:pPr indent="0" marL="0">
              <a:spcAft>
                <a:spcPts val="100"/>
              </a:spcAft>
              <a:buNone/>
            </a:pPr>
            <a:r>
              <a:rPr lang="en-US" sz="880" dirty="0">
                <a:solidFill>
                  <a:srgbClr val="595959"/>
                </a:solidFill>
                <a:latin typeface="Arial" pitchFamily="34" charset="0"/>
                <a:ea typeface="Arial" pitchFamily="34" charset="-122"/>
                <a:cs typeface="Arial" pitchFamily="34" charset="-120"/>
              </a:rPr>
              <a:t>VKOSPI closed at an all-time high of 91.2 (9 Jun 2026), above the 2008 peak.</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Rich option premium funds higher autocall coupons</a:t>
            </a:r>
            <a:endParaRPr lang="en-US" sz="88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48" name="Text 44"/>
          <p:cNvSpPr txBox="1"/>
          <p:nvPr/>
        </p:nvSpPr>
        <p:spPr>
          <a:xfrm>
            <a:off x="7936992"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High rates make guarantees cheap: </a:t>
            </a:r>
            <a:pPr indent="0" marL="0">
              <a:spcAft>
                <a:spcPts val="100"/>
              </a:spcAft>
              <a:buNone/>
            </a:pPr>
            <a:r>
              <a:rPr lang="en-US" sz="880" dirty="0">
                <a:solidFill>
                  <a:srgbClr val="595959"/>
                </a:solidFill>
                <a:latin typeface="Arial" pitchFamily="34" charset="0"/>
                <a:ea typeface="Arial" pitchFamily="34" charset="-122"/>
                <a:cs typeface="Arial" pitchFamily="34" charset="-120"/>
              </a:rPr>
              <a:t>At 5.69% 5Y USD funding, USD 100 payable in 5 years costs only USD 75.8 today.</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Full capital protection is affordable inside an autocall</a:t>
            </a:r>
            <a:endParaRPr lang="en-US" sz="88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KRX/press, Nikkei (index levels; 2021–23 KOSPI/Nikkei to verify); Asiae, FN News, BIT Research (KOSPI); J.P. Morgan 2026 Outlook; Trading Economics, Siblis (valuations); TrendForce; Federal Reserve via Advisor Perspectives; Herald / SBS (VKOSPI); case funding grid; standard bond maths.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autocallables fit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Long bonds face rising rates; buy-and-hold equity faces record volatility, concentration and stretched valuations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Rates are rising again</a:t>
            </a:r>
            <a:endParaRPr lang="en-US" sz="1050" dirty="0"/>
          </a:p>
        </p:txBody>
      </p:sp>
      <p:graphicFrame>
        <p:nvGraphicFramePr>
          <p:cNvPr id="12" name="Chart 0" descr=""/>
          <p:cNvGraphicFramePr/>
          <p:nvPr/>
        </p:nvGraphicFramePr>
        <p:xfrm>
          <a:off x="457200" y="1655064"/>
          <a:ext cx="3730752" cy="1261872"/>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Fed funds upper bound: hikes 2022–23, cuts 2024–25, a hike again on 16 Sep 2026 (median dot 4.1% for end-2026).</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Equity paths are violent</a:t>
            </a:r>
            <a:endParaRPr lang="en-US" sz="1050" dirty="0"/>
          </a:p>
        </p:txBody>
      </p:sp>
      <p:graphicFrame>
        <p:nvGraphicFramePr>
          <p:cNvPr id="16" name="Chart 1"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Index levels, end-2021 = 100: −10–25% in 2022, then 2–3×. KOSPI fell ~25% from June to late August 2026.</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Long bonds carry rate risk</a:t>
            </a:r>
            <a:endParaRPr lang="en-US" sz="1050" dirty="0"/>
          </a:p>
        </p:txBody>
      </p:sp>
      <p:graphicFrame>
        <p:nvGraphicFramePr>
          <p:cNvPr id="20" name="Chart 2"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Value change of a 5-year USD bond (5.69% coupon) for parallel rate moves of −2% to +2%.</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Valuations already price in a lot</a:t>
            </a:r>
            <a:endParaRPr lang="en-US" sz="1050" dirty="0"/>
          </a:p>
        </p:txBody>
      </p:sp>
      <p:graphicFrame>
        <p:nvGraphicFramePr>
          <p:cNvPr id="24" name="Chart 3" descr=""/>
          <p:cNvGraphicFramePr/>
          <p:nvPr/>
        </p:nvGraphicFramePr>
        <p:xfrm>
          <a:off x="4370832" y="3712464"/>
          <a:ext cx="3730752" cy="1261872"/>
        </p:xfrm>
        <a:graphic xmlns:a="http://schemas.openxmlformats.org/drawingml/2006/main">
          <a:graphicData uri="http://schemas.openxmlformats.org/drawingml/2006/chart">
            <c:chart xmlns:c="http://schemas.openxmlformats.org/drawingml/2006/chart" r:id="rId4"/>
          </a:graphicData>
        </a:graphic>
      </p:graphicFrame>
      <p:sp>
        <p:nvSpPr>
          <p:cNvPr id="25" name="Text 19"/>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Siblis Research, 1 Jul 2026. Korea's gap assumes earnings roughly triple; Nikkei CAPE 38.6×; Taiwan among the most expensive markets.</a:t>
            </a:r>
            <a:endParaRPr lang="en-US" sz="850" dirty="0"/>
          </a:p>
        </p:txBody>
      </p:sp>
      <p:sp>
        <p:nvSpPr>
          <p:cNvPr id="26" name="Text 20"/>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7" name="Shape 21"/>
          <p:cNvSpPr/>
          <p:nvPr/>
        </p:nvSpPr>
        <p:spPr>
          <a:xfrm>
            <a:off x="8485632" y="1627632"/>
            <a:ext cx="2971800" cy="0"/>
          </a:xfrm>
          <a:prstGeom prst="line">
            <a:avLst/>
          </a:prstGeom>
          <a:noFill/>
          <a:ln w="9525">
            <a:solidFill>
              <a:srgbClr val="2C5F82"/>
            </a:solidFill>
            <a:prstDash val="solid"/>
          </a:ln>
        </p:spPr>
      </p:sp>
      <p:sp>
        <p:nvSpPr>
          <p:cNvPr id="28" name="Text 22"/>
          <p:cNvSpPr txBox="1"/>
          <p:nvPr/>
        </p:nvSpPr>
        <p:spPr>
          <a:xfrm>
            <a:off x="8211312" y="1645920"/>
            <a:ext cx="3520440" cy="274320"/>
          </a:xfrm>
          <a:prstGeom prst="rect">
            <a:avLst/>
          </a:prstGeom>
          <a:noFill/>
          <a:ln/>
        </p:spPr>
        <p:txBody>
          <a:bodyPr wrap="square" lIns="0" tIns="0" rIns="0" bIns="0" rtlCol="0" anchor="t"/>
          <a:lstStyle/>
          <a:p>
            <a:pPr algn="ctr" indent="0" marL="0">
              <a:buNone/>
            </a:pPr>
            <a:r>
              <a:rPr lang="en-US" sz="800" i="1" dirty="0">
                <a:solidFill>
                  <a:srgbClr val="595959"/>
                </a:solidFill>
                <a:latin typeface="Arial" pitchFamily="34" charset="0"/>
                <a:ea typeface="Arial" pitchFamily="34" charset="-122"/>
                <a:cs typeface="Arial" pitchFamily="34" charset="-120"/>
              </a:rPr>
              <a:t>Market proof: Taiwan structured-note issuance +81% in 2025, snowball autocalls the favourite payoff (SRP)</a:t>
            </a:r>
            <a:endParaRPr lang="en-US" sz="800" dirty="0"/>
          </a:p>
        </p:txBody>
      </p:sp>
      <p:sp>
        <p:nvSpPr>
          <p:cNvPr id="29" name="Shape 23"/>
          <p:cNvSpPr/>
          <p:nvPr/>
        </p:nvSpPr>
        <p:spPr>
          <a:xfrm>
            <a:off x="8211312" y="1938528"/>
            <a:ext cx="3520440" cy="621792"/>
          </a:xfrm>
          <a:prstGeom prst="rect">
            <a:avLst/>
          </a:prstGeom>
          <a:solidFill>
            <a:srgbClr val="FFFFFF"/>
          </a:solidFill>
          <a:ln w="12700">
            <a:solidFill>
              <a:srgbClr val="2C5F82"/>
            </a:solidFill>
            <a:prstDash val="solid"/>
          </a:ln>
        </p:spPr>
      </p:sp>
      <p:sp>
        <p:nvSpPr>
          <p:cNvPr id="30" name="Text 24"/>
          <p:cNvSpPr txBox="1"/>
          <p:nvPr/>
        </p:nvSpPr>
        <p:spPr>
          <a:xfrm>
            <a:off x="8257032" y="1938528"/>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1" name="Text 25"/>
          <p:cNvSpPr txBox="1"/>
          <p:nvPr/>
        </p:nvSpPr>
        <p:spPr>
          <a:xfrm>
            <a:off x="8714232" y="1956816"/>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Early exit beats duration: </a:t>
            </a:r>
            <a:pPr indent="0" marL="0">
              <a:buNone/>
            </a:pPr>
            <a:r>
              <a:rPr lang="en-US" sz="880" dirty="0">
                <a:solidFill>
                  <a:srgbClr val="595959"/>
                </a:solidFill>
                <a:latin typeface="Arial" pitchFamily="34" charset="0"/>
                <a:ea typeface="Arial" pitchFamily="34" charset="-122"/>
                <a:cs typeface="Arial" pitchFamily="34" charset="-120"/>
              </a:rPr>
              <a:t>Bonds lose ~4.0% per 1% rate rise; autocalls can redeem from year 1</a:t>
            </a:r>
            <a:endParaRPr lang="en-US" sz="880" dirty="0"/>
          </a:p>
        </p:txBody>
      </p:sp>
      <p:sp>
        <p:nvSpPr>
          <p:cNvPr id="32" name="Shape 26"/>
          <p:cNvSpPr/>
          <p:nvPr/>
        </p:nvSpPr>
        <p:spPr>
          <a:xfrm>
            <a:off x="8211312" y="2633472"/>
            <a:ext cx="3520440" cy="621792"/>
          </a:xfrm>
          <a:prstGeom prst="rect">
            <a:avLst/>
          </a:prstGeom>
          <a:solidFill>
            <a:srgbClr val="FFFFFF"/>
          </a:solidFill>
          <a:ln w="12700">
            <a:solidFill>
              <a:srgbClr val="2C5F82"/>
            </a:solidFill>
            <a:prstDash val="solid"/>
          </a:ln>
        </p:spPr>
      </p:sp>
      <p:sp>
        <p:nvSpPr>
          <p:cNvPr id="33" name="Text 27"/>
          <p:cNvSpPr txBox="1"/>
          <p:nvPr/>
        </p:nvSpPr>
        <p:spPr>
          <a:xfrm>
            <a:off x="8257032" y="2633472"/>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4" name="Text 28"/>
          <p:cNvSpPr txBox="1"/>
          <p:nvPr/>
        </p:nvSpPr>
        <p:spPr>
          <a:xfrm>
            <a:off x="8714232" y="2651760"/>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Paid on recovery, not timing: </a:t>
            </a:r>
            <a:pPr indent="0" marL="0">
              <a:buNone/>
            </a:pPr>
            <a:r>
              <a:rPr lang="en-US" sz="880" dirty="0">
                <a:solidFill>
                  <a:srgbClr val="595959"/>
                </a:solidFill>
                <a:latin typeface="Arial" pitchFamily="34" charset="0"/>
                <a:ea typeface="Arial" pitchFamily="34" charset="-122"/>
                <a:cs typeface="Arial" pitchFamily="34" charset="-120"/>
              </a:rPr>
              <a:t>−25% in ten weeks (KOSPI 2026): autocall coupons pay once the basket is back at its start</a:t>
            </a:r>
            <a:endParaRPr lang="en-US" sz="880" dirty="0"/>
          </a:p>
        </p:txBody>
      </p:sp>
      <p:sp>
        <p:nvSpPr>
          <p:cNvPr id="35" name="Shape 29"/>
          <p:cNvSpPr/>
          <p:nvPr/>
        </p:nvSpPr>
        <p:spPr>
          <a:xfrm>
            <a:off x="8211312" y="3328416"/>
            <a:ext cx="3520440" cy="621792"/>
          </a:xfrm>
          <a:prstGeom prst="rect">
            <a:avLst/>
          </a:prstGeom>
          <a:solidFill>
            <a:srgbClr val="FFFFFF"/>
          </a:solidFill>
          <a:ln w="12700">
            <a:solidFill>
              <a:srgbClr val="2C5F82"/>
            </a:solidFill>
            <a:prstDash val="solid"/>
          </a:ln>
        </p:spPr>
      </p:sp>
      <p:sp>
        <p:nvSpPr>
          <p:cNvPr id="36" name="Text 30"/>
          <p:cNvSpPr txBox="1"/>
          <p:nvPr/>
        </p:nvSpPr>
        <p:spPr>
          <a:xfrm>
            <a:off x="8257032" y="3328416"/>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7" name="Text 31"/>
          <p:cNvSpPr txBox="1"/>
          <p:nvPr/>
        </p:nvSpPr>
        <p:spPr>
          <a:xfrm>
            <a:off x="8714232" y="3346704"/>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Diversify the basket: </a:t>
            </a:r>
            <a:pPr indent="0" marL="0">
              <a:buNone/>
            </a:pPr>
            <a:r>
              <a:rPr lang="en-US" sz="880" dirty="0">
                <a:solidFill>
                  <a:srgbClr val="595959"/>
                </a:solidFill>
                <a:latin typeface="Arial" pitchFamily="34" charset="0"/>
                <a:ea typeface="Arial" pitchFamily="34" charset="-122"/>
                <a:cs typeface="Arial" pitchFamily="34" charset="-120"/>
              </a:rPr>
              <a:t>TSMC &gt;40% of TAIEX, ~92% of advanced chips from Taiwan: use a diversified ETF basket, not worst-of</a:t>
            </a:r>
            <a:endParaRPr lang="en-US" sz="880" dirty="0"/>
          </a:p>
        </p:txBody>
      </p:sp>
      <p:sp>
        <p:nvSpPr>
          <p:cNvPr id="38" name="Shape 32"/>
          <p:cNvSpPr/>
          <p:nvPr/>
        </p:nvSpPr>
        <p:spPr>
          <a:xfrm>
            <a:off x="8211312" y="4023360"/>
            <a:ext cx="3520440" cy="621792"/>
          </a:xfrm>
          <a:prstGeom prst="rect">
            <a:avLst/>
          </a:prstGeom>
          <a:solidFill>
            <a:srgbClr val="FFFFFF"/>
          </a:solidFill>
          <a:ln w="12700">
            <a:solidFill>
              <a:srgbClr val="2C5F82"/>
            </a:solidFill>
            <a:prstDash val="solid"/>
          </a:ln>
        </p:spPr>
      </p:sp>
      <p:sp>
        <p:nvSpPr>
          <p:cNvPr id="39" name="Text 33"/>
          <p:cNvSpPr txBox="1"/>
          <p:nvPr/>
        </p:nvSpPr>
        <p:spPr>
          <a:xfrm>
            <a:off x="8257032" y="4023360"/>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40" name="Text 34"/>
          <p:cNvSpPr txBox="1"/>
          <p:nvPr/>
        </p:nvSpPr>
        <p:spPr>
          <a:xfrm>
            <a:off x="8714232" y="4041648"/>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Volatility funds the coupon: </a:t>
            </a:r>
            <a:pPr indent="0" marL="0">
              <a:buNone/>
            </a:pPr>
            <a:r>
              <a:rPr lang="en-US" sz="880" dirty="0">
                <a:solidFill>
                  <a:srgbClr val="595959"/>
                </a:solidFill>
                <a:latin typeface="Arial" pitchFamily="34" charset="0"/>
                <a:ea typeface="Arial" pitchFamily="34" charset="-122"/>
                <a:cs typeface="Arial" pitchFamily="34" charset="-120"/>
              </a:rPr>
              <a:t>VKOSPI at a record 91.2: richer option premium means higher autocall coupons</a:t>
            </a:r>
            <a:endParaRPr lang="en-US" sz="880" dirty="0"/>
          </a:p>
        </p:txBody>
      </p:sp>
      <p:sp>
        <p:nvSpPr>
          <p:cNvPr id="41" name="Shape 35"/>
          <p:cNvSpPr/>
          <p:nvPr/>
        </p:nvSpPr>
        <p:spPr>
          <a:xfrm>
            <a:off x="8211312" y="4718304"/>
            <a:ext cx="3520440" cy="621792"/>
          </a:xfrm>
          <a:prstGeom prst="rect">
            <a:avLst/>
          </a:prstGeom>
          <a:solidFill>
            <a:srgbClr val="FFFFFF"/>
          </a:solidFill>
          <a:ln w="12700">
            <a:solidFill>
              <a:srgbClr val="2C5F82"/>
            </a:solidFill>
            <a:prstDash val="solid"/>
          </a:ln>
        </p:spPr>
      </p:sp>
      <p:sp>
        <p:nvSpPr>
          <p:cNvPr id="42" name="Text 36"/>
          <p:cNvSpPr txBox="1"/>
          <p:nvPr/>
        </p:nvSpPr>
        <p:spPr>
          <a:xfrm>
            <a:off x="8257032" y="4718304"/>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3" name="Text 37"/>
          <p:cNvSpPr txBox="1"/>
          <p:nvPr/>
        </p:nvSpPr>
        <p:spPr>
          <a:xfrm>
            <a:off x="8714232" y="4736592"/>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Protection is affordable: </a:t>
            </a:r>
            <a:pPr indent="0" marL="0">
              <a:buNone/>
            </a:pPr>
            <a:r>
              <a:rPr lang="en-US" sz="880" dirty="0">
                <a:solidFill>
                  <a:srgbClr val="595959"/>
                </a:solidFill>
                <a:latin typeface="Arial" pitchFamily="34" charset="0"/>
                <a:ea typeface="Arial" pitchFamily="34" charset="-122"/>
                <a:cs typeface="Arial" pitchFamily="34" charset="-120"/>
              </a:rPr>
              <a:t>USD 100 in 5 years costs USD 75.8 at 5.69%: capital protection fits inside an autocall</a:t>
            </a:r>
            <a:endParaRPr lang="en-US" sz="880" dirty="0"/>
          </a:p>
        </p:txBody>
      </p:sp>
      <p:sp>
        <p:nvSpPr>
          <p:cNvPr id="44" name="Shape 38"/>
          <p:cNvSpPr/>
          <p:nvPr/>
        </p:nvSpPr>
        <p:spPr>
          <a:xfrm>
            <a:off x="457200" y="5486400"/>
            <a:ext cx="11274552" cy="438912"/>
          </a:xfrm>
          <a:prstGeom prst="rect">
            <a:avLst/>
          </a:prstGeom>
          <a:solidFill>
            <a:srgbClr val="2C5F82"/>
          </a:solidFill>
          <a:ln w="12700">
            <a:solidFill>
              <a:srgbClr val="2C5F82"/>
            </a:solidFill>
            <a:prstDash val="solid"/>
          </a:ln>
        </p:spPr>
      </p:sp>
      <p:sp>
        <p:nvSpPr>
          <p:cNvPr id="45" name="Text 39"/>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Plain bonds and equities leave investors exposed; a capital-protected autocall keeps the theme and manages the risks.</a:t>
            </a:r>
            <a:endParaRPr lang="en-US" sz="1200" dirty="0"/>
          </a:p>
        </p:txBody>
      </p:sp>
      <p:sp>
        <p:nvSpPr>
          <p:cNvPr id="46" name="Text 40"/>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via Advisor Perspectives; TWSE, KRX/press, Nikkei (index levels); Siblis Research (P/E); Herald / SBS (VKOSPI); TrendForce; J.P. Morgan 2026 Outlook; StructuredRetailProducts.com; case funding grid with standard bond maths.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56032">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42 AI stocks = 65–75% of S&amp;P 500 returns/profits/capex; ~92% of advanced chips from Taiwan; 10–15% correction in 2026 base case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J.P. Morgan AWM, Eye on the Market 2026 Outlook "Smothering Heights" (1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StructuredRetailProducts.com, Taiwan Q4 2025 review</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5Y bond value change for −2% to +2% rate moves; 5Y discount factor 75.8%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Standard bond maths on the case USD funding grid (5Y 5.69%)</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2026-10-08T07:30:09Z</dcterms:created>
  <dcterms:modified xsi:type="dcterms:W3CDTF">2026-10-08T07:30:09Z</dcterms:modified>
</cp:coreProperties>
</file>