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guaranteeing future capital unusually cheap. Each point ends with the autocall link: coupons paid on recovery (not timing), a diversified basket, capped upside that costs little, short duration, coupons funded by volatility, and protection funded by high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modelled on the 'traditional strategies fall short' format, using market evidence only: rising rates (bond duration risk), violent equity paths, concentration, record volatility and a late, richly priced cycle. Implications link each market fact to why an autocallable structure fits; our specific note and its numbers come in the product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own it through a structure built for volatility (thesis 2)</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key risks (concentration, Taiwan, a 10–15% correction) are what a capital-protected autocall is built to absorb.</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Volatile markets and high rates favour autocallables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a strong theme on a volatile path</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88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 coupons are paid when the basket gets back to its start: no need to time the bottom</a:t>
            </a:r>
            <a:endParaRPr lang="en-US" sz="88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88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Use a diversified index basket, not a worst-of on single names</a:t>
            </a:r>
            <a:endParaRPr lang="en-US" sz="88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880" dirty="0">
                <a:solidFill>
                  <a:srgbClr val="595959"/>
                </a:solidFill>
                <a:latin typeface="Arial" pitchFamily="34" charset="0"/>
                <a:ea typeface="Arial" pitchFamily="34" charset="-122"/>
                <a:cs typeface="Arial" pitchFamily="34" charset="-120"/>
              </a:rPr>
              <a:t>Nikkei CAPE 38.6×; Taiwan among the most expensive markets; DRAM price gains slowing.</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Capping upside at the coupon costs little when the good news is already priced</a:t>
            </a:r>
            <a:endParaRPr lang="en-US" sz="88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today's rates and volatility suit autocalls</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880" dirty="0">
                <a:solidFill>
                  <a:srgbClr val="595959"/>
                </a:solidFill>
                <a:latin typeface="Arial" pitchFamily="34" charset="0"/>
                <a:ea typeface="Arial" pitchFamily="34" charset="-122"/>
                <a:cs typeface="Arial" pitchFamily="34" charset="-120"/>
              </a:rPr>
              <a:t>A 5-year bond loses ~4.0% per 1% rate rise, as the Fed hikes again.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Autocalls can redeem from year 1: short duration, and cash to reinvest at higher rates</a:t>
            </a:r>
            <a:endParaRPr lang="en-US" sz="88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88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Rich option premium funds higher autocall coupons</a:t>
            </a:r>
            <a:endParaRPr lang="en-US" sz="88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High rates make guarantees cheap: </a:t>
            </a:r>
            <a:pPr indent="0" marL="0">
              <a:spcAft>
                <a:spcPts val="100"/>
              </a:spcAft>
              <a:buNone/>
            </a:pPr>
            <a:r>
              <a:rPr lang="en-US" sz="880" dirty="0">
                <a:solidFill>
                  <a:srgbClr val="595959"/>
                </a:solidFill>
                <a:latin typeface="Arial" pitchFamily="34" charset="0"/>
                <a:ea typeface="Arial" pitchFamily="34" charset="-122"/>
                <a:cs typeface="Arial" pitchFamily="34" charset="-120"/>
              </a:rPr>
              <a:t>At 5.69% 5Y USD funding, USD 100 payable in 5 years costs only USD 75.8 today.</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Full capital protection is affordable inside an autocall</a:t>
            </a:r>
            <a:endParaRPr lang="en-US" sz="88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autocallables fit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Long bonds face rising rates; buy-and-hold equity faces record volatility, concentration and stretched valuations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again</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Fed funds upper bound: hikes 2022–23, cuts 2024–25, a hike again on 16 Sep 2026 (median dot 4.1% for end-2026).</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Equity paths are violent</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KOSPI fell ~25% from June to late August 2026.</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Long bonds carry rate risk</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of a 5-year USD bond (5.69% coupon) for parallel rate moves of −2% to +2%.</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Valuations already price in a lot</a:t>
            </a:r>
            <a:endParaRPr lang="en-US" sz="1050" dirty="0"/>
          </a:p>
        </p:txBody>
      </p:sp>
      <p:graphicFrame>
        <p:nvGraphicFramePr>
          <p:cNvPr id="24" name="Chart 3" descr=""/>
          <p:cNvGraphicFramePr/>
          <p:nvPr/>
        </p:nvGraphicFramePr>
        <p:xfrm>
          <a:off x="4370832" y="3712464"/>
          <a:ext cx="3730752"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Siblis Research, 1 Jul 2026. Korea's gap assumes earnings roughly triple; Nikkei CAPE 38.6×; Taiwan among the most expensive markets.</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Text 22"/>
          <p:cNvSpPr txBox="1"/>
          <p:nvPr/>
        </p:nvSpPr>
        <p:spPr>
          <a:xfrm>
            <a:off x="8211312" y="1645920"/>
            <a:ext cx="3520440" cy="274320"/>
          </a:xfrm>
          <a:prstGeom prst="rect">
            <a:avLst/>
          </a:prstGeom>
          <a:noFill/>
          <a:ln/>
        </p:spPr>
        <p:txBody>
          <a:bodyPr wrap="square" lIns="0" tIns="0" rIns="0" bIns="0" rtlCol="0" anchor="t"/>
          <a:lstStyle/>
          <a:p>
            <a:pPr algn="ctr" indent="0" marL="0">
              <a:buNone/>
            </a:pPr>
            <a:r>
              <a:rPr lang="en-US" sz="800" i="1" dirty="0">
                <a:solidFill>
                  <a:srgbClr val="595959"/>
                </a:solidFill>
                <a:latin typeface="Arial" pitchFamily="34" charset="0"/>
                <a:ea typeface="Arial" pitchFamily="34" charset="-122"/>
                <a:cs typeface="Arial" pitchFamily="34" charset="-120"/>
              </a:rPr>
              <a:t>Market proof: Taiwan structured-note issuance +81% in 2025, snowball autocalls the favourite payoff (SRP)</a:t>
            </a:r>
            <a:endParaRPr lang="en-US" sz="800" dirty="0"/>
          </a:p>
        </p:txBody>
      </p:sp>
      <p:sp>
        <p:nvSpPr>
          <p:cNvPr id="29" name="Shape 23"/>
          <p:cNvSpPr/>
          <p:nvPr/>
        </p:nvSpPr>
        <p:spPr>
          <a:xfrm>
            <a:off x="8211312" y="1938528"/>
            <a:ext cx="3520440" cy="621792"/>
          </a:xfrm>
          <a:prstGeom prst="rect">
            <a:avLst/>
          </a:prstGeom>
          <a:solidFill>
            <a:srgbClr val="FFFFFF"/>
          </a:solidFill>
          <a:ln w="12700">
            <a:solidFill>
              <a:srgbClr val="2C5F82"/>
            </a:solidFill>
            <a:prstDash val="solid"/>
          </a:ln>
        </p:spPr>
      </p:sp>
      <p:sp>
        <p:nvSpPr>
          <p:cNvPr id="30" name="Text 24"/>
          <p:cNvSpPr txBox="1"/>
          <p:nvPr/>
        </p:nvSpPr>
        <p:spPr>
          <a:xfrm>
            <a:off x="8257032" y="1938528"/>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956816"/>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Early exit beats duration: </a:t>
            </a:r>
            <a:pPr indent="0" marL="0">
              <a:buNone/>
            </a:pPr>
            <a:r>
              <a:rPr lang="en-US" sz="880" dirty="0">
                <a:solidFill>
                  <a:srgbClr val="595959"/>
                </a:solidFill>
                <a:latin typeface="Arial" pitchFamily="34" charset="0"/>
                <a:ea typeface="Arial" pitchFamily="34" charset="-122"/>
                <a:cs typeface="Arial" pitchFamily="34" charset="-120"/>
              </a:rPr>
              <a:t>Bonds lose ~4.0% per 1% rate rise; autocalls can redeem from year 1</a:t>
            </a:r>
            <a:endParaRPr lang="en-US" sz="880" dirty="0"/>
          </a:p>
        </p:txBody>
      </p:sp>
      <p:sp>
        <p:nvSpPr>
          <p:cNvPr id="32" name="Shape 26"/>
          <p:cNvSpPr/>
          <p:nvPr/>
        </p:nvSpPr>
        <p:spPr>
          <a:xfrm>
            <a:off x="8211312" y="2633472"/>
            <a:ext cx="3520440" cy="621792"/>
          </a:xfrm>
          <a:prstGeom prst="rect">
            <a:avLst/>
          </a:prstGeom>
          <a:solidFill>
            <a:srgbClr val="FFFFFF"/>
          </a:solidFill>
          <a:ln w="12700">
            <a:solidFill>
              <a:srgbClr val="2C5F82"/>
            </a:solidFill>
            <a:prstDash val="solid"/>
          </a:ln>
        </p:spPr>
      </p:sp>
      <p:sp>
        <p:nvSpPr>
          <p:cNvPr id="33" name="Text 27"/>
          <p:cNvSpPr txBox="1"/>
          <p:nvPr/>
        </p:nvSpPr>
        <p:spPr>
          <a:xfrm>
            <a:off x="8257032" y="2633472"/>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651760"/>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Paid on recovery, not timing: </a:t>
            </a:r>
            <a:pPr indent="0" marL="0">
              <a:buNone/>
            </a:pPr>
            <a:r>
              <a:rPr lang="en-US" sz="880" dirty="0">
                <a:solidFill>
                  <a:srgbClr val="595959"/>
                </a:solidFill>
                <a:latin typeface="Arial" pitchFamily="34" charset="0"/>
                <a:ea typeface="Arial" pitchFamily="34" charset="-122"/>
                <a:cs typeface="Arial" pitchFamily="34" charset="-120"/>
              </a:rPr>
              <a:t>−25% in ten weeks (KOSPI 2026): autocall coupons pay once the basket is back at its start</a:t>
            </a:r>
            <a:endParaRPr lang="en-US" sz="880" dirty="0"/>
          </a:p>
        </p:txBody>
      </p:sp>
      <p:sp>
        <p:nvSpPr>
          <p:cNvPr id="35" name="Shape 29"/>
          <p:cNvSpPr/>
          <p:nvPr/>
        </p:nvSpPr>
        <p:spPr>
          <a:xfrm>
            <a:off x="8211312" y="3328416"/>
            <a:ext cx="3520440" cy="621792"/>
          </a:xfrm>
          <a:prstGeom prst="rect">
            <a:avLst/>
          </a:prstGeom>
          <a:solidFill>
            <a:srgbClr val="FFFFFF"/>
          </a:solidFill>
          <a:ln w="12700">
            <a:solidFill>
              <a:srgbClr val="2C5F82"/>
            </a:solidFill>
            <a:prstDash val="solid"/>
          </a:ln>
        </p:spPr>
      </p:sp>
      <p:sp>
        <p:nvSpPr>
          <p:cNvPr id="36" name="Text 30"/>
          <p:cNvSpPr txBox="1"/>
          <p:nvPr/>
        </p:nvSpPr>
        <p:spPr>
          <a:xfrm>
            <a:off x="8257032" y="3328416"/>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346704"/>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Diversify the basket: </a:t>
            </a:r>
            <a:pPr indent="0" marL="0">
              <a:buNone/>
            </a:pPr>
            <a:r>
              <a:rPr lang="en-US" sz="880" dirty="0">
                <a:solidFill>
                  <a:srgbClr val="595959"/>
                </a:solidFill>
                <a:latin typeface="Arial" pitchFamily="34" charset="0"/>
                <a:ea typeface="Arial" pitchFamily="34" charset="-122"/>
                <a:cs typeface="Arial" pitchFamily="34" charset="-120"/>
              </a:rPr>
              <a:t>TSMC &gt;40% of TAIEX, ~92% of advanced chips from Taiwan: use an index basket, not worst-of</a:t>
            </a:r>
            <a:endParaRPr lang="en-US" sz="880" dirty="0"/>
          </a:p>
        </p:txBody>
      </p:sp>
      <p:sp>
        <p:nvSpPr>
          <p:cNvPr id="38" name="Shape 32"/>
          <p:cNvSpPr/>
          <p:nvPr/>
        </p:nvSpPr>
        <p:spPr>
          <a:xfrm>
            <a:off x="8211312" y="4023360"/>
            <a:ext cx="3520440" cy="621792"/>
          </a:xfrm>
          <a:prstGeom prst="rect">
            <a:avLst/>
          </a:prstGeom>
          <a:solidFill>
            <a:srgbClr val="FFFFFF"/>
          </a:solidFill>
          <a:ln w="12700">
            <a:solidFill>
              <a:srgbClr val="2C5F82"/>
            </a:solidFill>
            <a:prstDash val="solid"/>
          </a:ln>
        </p:spPr>
      </p:sp>
      <p:sp>
        <p:nvSpPr>
          <p:cNvPr id="39" name="Text 33"/>
          <p:cNvSpPr txBox="1"/>
          <p:nvPr/>
        </p:nvSpPr>
        <p:spPr>
          <a:xfrm>
            <a:off x="8257032" y="4023360"/>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4041648"/>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Volatility funds the coupon: </a:t>
            </a:r>
            <a:pPr indent="0" marL="0">
              <a:buNone/>
            </a:pPr>
            <a:r>
              <a:rPr lang="en-US" sz="880" dirty="0">
                <a:solidFill>
                  <a:srgbClr val="595959"/>
                </a:solidFill>
                <a:latin typeface="Arial" pitchFamily="34" charset="0"/>
                <a:ea typeface="Arial" pitchFamily="34" charset="-122"/>
                <a:cs typeface="Arial" pitchFamily="34" charset="-120"/>
              </a:rPr>
              <a:t>VKOSPI at a record 91.2: richer option premium means higher autocall coupons</a:t>
            </a:r>
            <a:endParaRPr lang="en-US" sz="880" dirty="0"/>
          </a:p>
        </p:txBody>
      </p:sp>
      <p:sp>
        <p:nvSpPr>
          <p:cNvPr id="41" name="Shape 35"/>
          <p:cNvSpPr/>
          <p:nvPr/>
        </p:nvSpPr>
        <p:spPr>
          <a:xfrm>
            <a:off x="8211312" y="4718304"/>
            <a:ext cx="3520440" cy="621792"/>
          </a:xfrm>
          <a:prstGeom prst="rect">
            <a:avLst/>
          </a:prstGeom>
          <a:solidFill>
            <a:srgbClr val="FFFFFF"/>
          </a:solidFill>
          <a:ln w="12700">
            <a:solidFill>
              <a:srgbClr val="2C5F82"/>
            </a:solidFill>
            <a:prstDash val="solid"/>
          </a:ln>
        </p:spPr>
      </p:sp>
      <p:sp>
        <p:nvSpPr>
          <p:cNvPr id="42" name="Text 36"/>
          <p:cNvSpPr txBox="1"/>
          <p:nvPr/>
        </p:nvSpPr>
        <p:spPr>
          <a:xfrm>
            <a:off x="8257032" y="4718304"/>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736592"/>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Protection is affordable: </a:t>
            </a:r>
            <a:pPr indent="0" marL="0">
              <a:buNone/>
            </a:pPr>
            <a:r>
              <a:rPr lang="en-US" sz="880" dirty="0">
                <a:solidFill>
                  <a:srgbClr val="595959"/>
                </a:solidFill>
                <a:latin typeface="Arial" pitchFamily="34" charset="0"/>
                <a:ea typeface="Arial" pitchFamily="34" charset="-122"/>
                <a:cs typeface="Arial" pitchFamily="34" charset="-120"/>
              </a:rPr>
              <a:t>USD 100 in 5 years costs USD 75.8 at 5.69%: capital protection fits inside an autocall</a:t>
            </a:r>
            <a:endParaRPr lang="en-US" sz="88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Plain bonds and equities leave investors exposed; a capital-protected autocall keeps the theme and manages the risks.</a:t>
            </a:r>
            <a:endParaRPr lang="en-US" sz="120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TWSE, KRX/press, Nikkei (index levels); Siblis Research (P/E); Herald / SBS (VKOSPI); TrendForce; J.P. Morgan 2026 Outlook; StructuredRetailProducts.com;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56032">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2026-10-08T07:10:59Z</dcterms:created>
  <dcterms:modified xsi:type="dcterms:W3CDTF">2026-10-08T07:10:59Z</dcterms:modified>
</cp:coreProperties>
</file>