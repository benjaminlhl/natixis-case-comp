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2026 growth vs 2025 (forecast / guidance)</a:t>
            </a:r>
          </a:p>
        </c:rich>
      </c:tx>
      <c:layout/>
      <c:overlay val="0"/>
    </c:title>
    <c:autoTitleDeleted val="0"/>
    <c:plotArea>
      <c:layout/>
      <c:barChart>
        <c:barDir val="bar"/>
        <c:grouping val="clustered"/>
        <c:varyColors val="0"/>
        <c:ser>
          <c:idx val="0"/>
          <c:order val="0"/>
          <c:tx>
            <c:strRef>
              <c:f>Sheet1!$B$1</c:f>
              <c:strCache>
                <c:ptCount val="1"/>
                <c:pt idx="0">
                  <c:v>2026 growth</c:v>
                </c:pt>
              </c:strCache>
            </c:strRef>
          </c:tx>
          <c:spPr>
            <a:solidFill>
              <a:srgbClr val="2C5F82"/>
            </a:solidFill>
            <a:effectLst/>
          </c:spPr>
          <c:invertIfNegative val="0"/>
          <c:dLbls>
            <c:numFmt formatCode="&quot;+&quot;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cat>
            <c:multiLvlStrRef>
              <c:f>Sheet1!$A$2:$A$7</c:f>
              <c:multiLvlStrCache>
                <c:ptCount val="6"/>
                <c:lvl>
                  <c:pt idx="0">
                    <c:v>Hyperscaler capex (4 largest)</c:v>
                  </c:pt>
                  <c:pt idx="1">
                    <c:v>Global chip market (WSTS)</c:v>
                  </c:pt>
                  <c:pt idx="2">
                    <c:v>Logic chips (WSTS)</c:v>
                  </c:pt>
                  <c:pt idx="3">
                    <c:v>DRAM equipment (SEMI)</c:v>
                  </c:pt>
                  <c:pt idx="4">
                    <c:v>Chip test equipment (SEMI)</c:v>
                  </c:pt>
                  <c:pt idx="5">
                    <c:v>All chip equipment (SEMI)</c:v>
                  </c:pt>
                </c:lvl>
              </c:multiLvlStrCache>
            </c:multiLvlStrRef>
          </c:cat>
          <c:val>
            <c:numRef>
              <c:f>Sheet1!$B$2:$B$7</c:f>
              <c:numCache>
                <c:formatCode>General</c:formatCode>
                <c:ptCount val="6"/>
                <c:pt idx="0">
                  <c:v>77</c:v>
                </c:pt>
                <c:pt idx="1">
                  <c:v>90</c:v>
                </c:pt>
                <c:pt idx="2">
                  <c:v>37</c:v>
                </c:pt>
                <c:pt idx="3">
                  <c:v>39</c:v>
                </c:pt>
                <c:pt idx="4">
                  <c:v>31</c:v>
                </c:pt>
                <c:pt idx="5">
                  <c:v>23.2</c:v>
                </c:pt>
              </c:numCache>
            </c:numRef>
          </c:val>
        </c:ser>
        <c:dLbls>
          <c:numFmt formatCode="&quot;+&quot;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0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Last down-cycle: 2022 fall</a:t>
            </a:r>
          </a:p>
        </c:rich>
      </c:tx>
      <c:layout/>
      <c:overlay val="0"/>
    </c:title>
    <c:autoTitleDeleted val="0"/>
    <c:plotArea>
      <c:layout/>
      <c:barChart>
        <c:barDir val="col"/>
        <c:grouping val="clustered"/>
        <c:varyColors val="0"/>
        <c:ser>
          <c:idx val="0"/>
          <c:order val="0"/>
          <c:tx>
            <c:strRef>
              <c:f>Sheet1!$B$1</c:f>
              <c:strCache>
                <c:ptCount val="1"/>
                <c:pt idx="0">
                  <c:v>2022</c:v>
                </c:pt>
              </c:strCache>
            </c:strRef>
          </c:tx>
          <c:spPr>
            <a:solidFill>
              <a:srgbClr val="B23B3B"/>
            </a:solidFill>
            <a:effectLst/>
          </c:spPr>
          <c:invertIfNegative val="0"/>
          <c:dLbls>
            <c:numFmt formatCode="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TAIEX</c:v>
                  </c:pt>
                  <c:pt idx="1">
                    <c:v>KOSPI</c:v>
                  </c:pt>
                  <c:pt idx="2">
                    <c:v>Global chip index</c:v>
                  </c:pt>
                </c:lvl>
              </c:multiLvlStrCache>
            </c:multiLvlStrRef>
          </c:cat>
          <c:val>
            <c:numRef>
              <c:f>Sheet1!$B$2:$B$4</c:f>
              <c:numCache>
                <c:formatCode>General</c:formatCode>
                <c:ptCount val="3"/>
                <c:pt idx="0">
                  <c:v>-31.6</c:v>
                </c:pt>
                <c:pt idx="1">
                  <c:v>-24.9</c:v>
                </c:pt>
                <c:pt idx="2">
                  <c:v>-36</c:v>
                </c:pt>
              </c:numCache>
            </c:numRef>
          </c:val>
        </c:ser>
        <c:dLbls>
          <c:numFmt formatCode="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0"/>
          <c:min val="-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Where the client's 100% goes (fair value, % of notional)</a:t>
            </a:r>
          </a:p>
        </c:rich>
      </c:tx>
      <c:layout/>
      <c:overlay val="0"/>
    </c:title>
    <c:autoTitleDeleted val="0"/>
    <c:plotArea>
      <c:layout/>
      <c:barChart>
        <c:barDir val="bar"/>
        <c:grouping val="stacked"/>
        <c:varyColors val="0"/>
        <c:ser>
          <c:idx val="0"/>
          <c:order val="0"/>
          <c:tx>
            <c:strRef>
              <c:f>Sheet1!$B$1</c:f>
              <c:strCache>
                <c:ptCount val="1"/>
                <c:pt idx="0">
                  <c:v>Protected principal: 89.9%</c:v>
                </c:pt>
              </c:strCache>
            </c:strRef>
          </c:tx>
          <c:spPr>
            <a:solidFill>
              <a:srgbClr val="2C5F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100% issue price</c:v>
                  </c:pt>
                </c:lvl>
              </c:multiLvlStrCache>
            </c:multiLvlStrRef>
          </c:cat>
          <c:val>
            <c:numRef>
              <c:f>Sheet1!$B$2:$B$2</c:f>
              <c:numCache>
                <c:formatCode>General</c:formatCode>
                <c:ptCount val="1"/>
                <c:pt idx="0">
                  <c:v>89.9</c:v>
                </c:pt>
              </c:numCache>
            </c:numRef>
          </c:val>
        </c:ser>
        <c:ser>
          <c:idx val="1"/>
          <c:order val="1"/>
          <c:tx>
            <c:strRef>
              <c:f>Sheet1!$C$1</c:f>
              <c:strCache>
                <c:ptCount val="1"/>
                <c:pt idx="0">
                  <c:v>Coupons (net of autocall): 7.6%</c:v>
                </c:pt>
              </c:strCache>
            </c:strRef>
          </c:tx>
          <c:spPr>
            <a:solidFill>
              <a:srgbClr val="8DB3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100% issue price</c:v>
                  </c:pt>
                </c:lvl>
              </c:multiLvlStrCache>
            </c:multiLvlStrRef>
          </c:cat>
          <c:val>
            <c:numRef>
              <c:f>Sheet1!$C$2:$C$2</c:f>
              <c:numCache>
                <c:formatCode>General</c:formatCode>
                <c:ptCount val="1"/>
                <c:pt idx="0">
                  <c:v>7.6</c:v>
                </c:pt>
              </c:numCache>
            </c:numRef>
          </c:val>
        </c:ser>
        <c:ser>
          <c:idx val="2"/>
          <c:order val="2"/>
          <c:tx>
            <c:strRef>
              <c:f>Sheet1!$D$1</c:f>
              <c:strCache>
                <c:ptCount val="1"/>
                <c:pt idx="0">
                  <c:v>Natixis hedging &amp; margin: 2.4%</c:v>
                </c:pt>
              </c:strCache>
            </c:strRef>
          </c:tx>
          <c:spPr>
            <a:solidFill>
              <a:srgbClr val="A6A6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100% issue price</c:v>
                  </c:pt>
                </c:lvl>
              </c:multiLvlStrCache>
            </c:multiLvlStrRef>
          </c:cat>
          <c:val>
            <c:numRef>
              <c:f>Sheet1!$D$2:$D$2</c:f>
              <c:numCache>
                <c:formatCode>General</c:formatCode>
                <c:ptCount val="1"/>
                <c:pt idx="0">
                  <c:v>2.4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sz="10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USD funding</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2022</c:v>
                </c:pt>
              </c:strCache>
            </c:strRef>
          </c:tx>
          <c:spPr>
            <a:solidFill>
              <a:srgbClr val="B23B3B"/>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TAIEX</c:v>
                  </c:pt>
                  <c:pt idx="1">
                    <c:v>KOSPI</c:v>
                  </c:pt>
                  <c:pt idx="2">
                    <c:v>Global chip index</c:v>
                  </c:pt>
                </c:lvl>
              </c:multiLvlStrCache>
            </c:multiLvlStrRef>
          </c:cat>
          <c:val>
            <c:numRef>
              <c:f>Sheet1!$B$2:$B$4</c:f>
              <c:numCache>
                <c:formatCode>General</c:formatCode>
                <c:ptCount val="3"/>
                <c:pt idx="0">
                  <c:v>-31.6</c:v>
                </c:pt>
                <c:pt idx="1">
                  <c:v>-24.9</c:v>
                </c:pt>
                <c:pt idx="2">
                  <c:v>-36</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0"/>
          <c:min val="-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Our autocall</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5Y bond</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Sheet1!$D$2:$D$5</c:f>
              <c:numCache>
                <c:formatCode>General</c:formatCode>
                <c:ptCount val="4"/>
                <c:pt idx="0">
                  <c:v>5.7</c:v>
                </c:pt>
                <c:pt idx="1">
                  <c:v>5.7</c:v>
                </c:pt>
                <c:pt idx="2">
                  <c:v>5.7</c:v>
                </c:pt>
                <c:pt idx="3">
                  <c:v>5.7</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Mean IRR, % p.a. (simulation, equities +4% p.a. on average)</a:t>
            </a:r>
          </a:p>
        </c:rich>
      </c:tx>
      <c:layout/>
      <c:overlay val="0"/>
    </c:title>
    <c:autoTitleDeleted val="0"/>
    <c:plotArea>
      <c:layout/>
      <c:barChart>
        <c:barDir val="col"/>
        <c:grouping val="clustered"/>
        <c:varyColors val="0"/>
        <c:ser>
          <c:idx val="0"/>
          <c:order val="0"/>
          <c:tx>
            <c:strRef>
              <c:f>Sheet1!$B$1</c:f>
              <c:strCache>
                <c:ptCount val="1"/>
                <c:pt idx="0">
                  <c:v>Our protected autocall</c:v>
                </c:pt>
              </c:strCache>
            </c:strRef>
          </c:tx>
          <c:spPr>
            <a:solidFill>
              <a:srgbClr val="2C5F82"/>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Plain protected note</c:v>
                </c:pt>
              </c:strCache>
            </c:strRef>
          </c:tx>
          <c:spPr>
            <a:solidFill>
              <a:srgbClr val="8DB3D1"/>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Sheet1!$D$2:$D$5</c:f>
              <c:numCache>
                <c:formatCode>General</c:formatCode>
                <c:ptCount val="4"/>
                <c:pt idx="0">
                  <c:v>0</c:v>
                </c:pt>
                <c:pt idx="1">
                  <c:v>0.4</c:v>
                </c:pt>
                <c:pt idx="2">
                  <c:v>4.5</c:v>
                </c:pt>
                <c:pt idx="3">
                  <c:v>13.5</c:v>
                </c:pt>
              </c:numCache>
            </c:numRef>
          </c:val>
        </c:ser>
        <c:ser>
          <c:idx val="3"/>
          <c:order val="3"/>
          <c:tx>
            <c:strRef>
              <c:f>Sheet1!$E$1</c:f>
              <c:strCache>
                <c:ptCount val="1"/>
                <c:pt idx="0">
                  <c:v>5Y USD bond (5.69%)</c:v>
                </c:pt>
              </c:strCache>
            </c:strRef>
          </c:tx>
          <c:spPr>
            <a:solidFill>
              <a:srgbClr val="404040"/>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Sheet1!$E$2:$E$5</c:f>
              <c:numCache>
                <c:formatCode>General</c:formatCode>
                <c:ptCount val="4"/>
                <c:pt idx="0">
                  <c:v>5.7</c:v>
                </c:pt>
                <c:pt idx="1">
                  <c:v>5.7</c:v>
                </c:pt>
                <c:pt idx="2">
                  <c:v>5.7</c:v>
                </c:pt>
                <c:pt idx="3">
                  <c:v>5.7</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first a hardware story, and the three markets in our basket each own a chokepoint: Taiwan fabricates the chips, Korea supplies the high-bandwidth memory, Japan makes the equipment and testers. The chart shows 2026 spending growth across the chain. Several figures are forecasts or guidance; HBM and foundry shares are Counterpoint estimates. Verify the KOSPI concentration figure on Bloomberg.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in two halves. Economic: AI hardware demand is structural, but chip stocks move in violent cycles, 2026 prices already reflect a boom, and the indices are concentrated in a few names; governance reforms support a recovery to the starting level. Finance: high USD rates make the 100% protection cheap, Asian volatility makes the 100% coupon trigger likely, and the autocall pays as soon as the basket recovers, with memory catching up missed coupons. Together: the family keeps the theme without the drawdown.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version of thesis 2, modelled on the 'traditional strategies fall short' format. Four panels: rates (protection is cheap), volatility (protection is needed), the market-type comparison and the summary table (the autocall beats the alternatives). Implications on the right make the case for the autocall. Use this instead of the two-part thesis 2 plus evidence slide if you need to save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evidence. Same simulated paths for all four strategies. The note beats holding the basket in bear and flat markets, ties in moderate ones and lags only in bull markets. It beats the plain principal-protected note in every market except a bull market. Be upfront about the bond: a fixed 5.69% wins in bear markets and on average unless equities return ~8% a year, but a bond gives none of the AI exposure the family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builds the hardware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Our three markets own the chokepoints</a:t>
            </a:r>
            <a:endParaRPr lang="en-US" sz="1400" dirty="0"/>
          </a:p>
        </p:txBody>
      </p:sp>
      <p:sp>
        <p:nvSpPr>
          <p:cNvPr id="11" name="Shape 9"/>
          <p:cNvSpPr/>
          <p:nvPr/>
        </p:nvSpPr>
        <p:spPr>
          <a:xfrm>
            <a:off x="457200" y="1572768"/>
            <a:ext cx="6400800" cy="1143000"/>
          </a:xfrm>
          <a:prstGeom prst="rect">
            <a:avLst/>
          </a:prstGeom>
          <a:solidFill>
            <a:srgbClr val="F2F2F2"/>
          </a:solidFill>
          <a:ln w="12700">
            <a:solidFill>
              <a:srgbClr val="F2F2F2"/>
            </a:solidFill>
            <a:prstDash val="solid"/>
          </a:ln>
        </p:spPr>
      </p:sp>
      <p:sp>
        <p:nvSpPr>
          <p:cNvPr id="12" name="Shape 10"/>
          <p:cNvSpPr/>
          <p:nvPr/>
        </p:nvSpPr>
        <p:spPr>
          <a:xfrm>
            <a:off x="594360" y="1709928"/>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819656"/>
            <a:ext cx="237744" cy="237744"/>
          </a:xfrm>
          <a:prstGeom prst="rect">
            <a:avLst/>
          </a:prstGeom>
        </p:spPr>
      </p:pic>
      <p:sp>
        <p:nvSpPr>
          <p:cNvPr id="14" name="Text 11"/>
          <p:cNvSpPr txBox="1"/>
          <p:nvPr/>
        </p:nvSpPr>
        <p:spPr>
          <a:xfrm>
            <a:off x="1188720" y="168249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2011680"/>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High-performance computing (incl. AI) was 58% of TSMC revenue in 2025</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TSMC is &gt;40% of the TAIEX: our largest index is a chip index</a:t>
            </a:r>
            <a:endParaRPr lang="en-US" sz="1000" dirty="0"/>
          </a:p>
        </p:txBody>
      </p:sp>
      <p:sp>
        <p:nvSpPr>
          <p:cNvPr id="16" name="Text 13"/>
          <p:cNvSpPr txBox="1"/>
          <p:nvPr/>
        </p:nvSpPr>
        <p:spPr>
          <a:xfrm>
            <a:off x="4526280" y="164592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14884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834640"/>
            <a:ext cx="6400800" cy="1143000"/>
          </a:xfrm>
          <a:prstGeom prst="rect">
            <a:avLst/>
          </a:prstGeom>
          <a:solidFill>
            <a:srgbClr val="FFFFFF"/>
          </a:solidFill>
          <a:ln w="12700">
            <a:solidFill>
              <a:srgbClr val="F2F2F2"/>
            </a:solidFill>
            <a:prstDash val="solid"/>
          </a:ln>
        </p:spPr>
      </p:sp>
      <p:sp>
        <p:nvSpPr>
          <p:cNvPr id="19" name="Shape 16"/>
          <p:cNvSpPr/>
          <p:nvPr/>
        </p:nvSpPr>
        <p:spPr>
          <a:xfrm>
            <a:off x="594360" y="2971800"/>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3081528"/>
            <a:ext cx="237744" cy="237744"/>
          </a:xfrm>
          <a:prstGeom prst="rect">
            <a:avLst/>
          </a:prstGeom>
        </p:spPr>
      </p:pic>
      <p:sp>
        <p:nvSpPr>
          <p:cNvPr id="21" name="Text 17"/>
          <p:cNvSpPr txBox="1"/>
          <p:nvPr/>
        </p:nvSpPr>
        <p:spPr>
          <a:xfrm>
            <a:off x="1188720" y="2944368"/>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273552"/>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Every AI accelerator needs high-bandwidth memory (HBM)</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Samsung + SK hynix ≈ 48% of KOSPI market cap (verify)</a:t>
            </a:r>
            <a:endParaRPr lang="en-US" sz="1000" dirty="0"/>
          </a:p>
        </p:txBody>
      </p:sp>
      <p:sp>
        <p:nvSpPr>
          <p:cNvPr id="23" name="Text 19"/>
          <p:cNvSpPr txBox="1"/>
          <p:nvPr/>
        </p:nvSpPr>
        <p:spPr>
          <a:xfrm>
            <a:off x="4526280" y="2907792"/>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410712"/>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4096512"/>
            <a:ext cx="6400800" cy="1143000"/>
          </a:xfrm>
          <a:prstGeom prst="rect">
            <a:avLst/>
          </a:prstGeom>
          <a:solidFill>
            <a:srgbClr val="F2F2F2"/>
          </a:solidFill>
          <a:ln w="12700">
            <a:solidFill>
              <a:srgbClr val="F2F2F2"/>
            </a:solidFill>
            <a:prstDash val="solid"/>
          </a:ln>
        </p:spPr>
      </p:sp>
      <p:sp>
        <p:nvSpPr>
          <p:cNvPr id="26" name="Shape 22"/>
          <p:cNvSpPr/>
          <p:nvPr/>
        </p:nvSpPr>
        <p:spPr>
          <a:xfrm>
            <a:off x="594360" y="4233672"/>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343400"/>
            <a:ext cx="237744" cy="237744"/>
          </a:xfrm>
          <a:prstGeom prst="rect">
            <a:avLst/>
          </a:prstGeom>
        </p:spPr>
      </p:pic>
      <p:sp>
        <p:nvSpPr>
          <p:cNvPr id="28" name="Text 23"/>
          <p:cNvSpPr txBox="1"/>
          <p:nvPr/>
        </p:nvSpPr>
        <p:spPr>
          <a:xfrm>
            <a:off x="1188720" y="4206240"/>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535424"/>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Tokyo Electron ~90% of coater/developers; #3 equipment maker</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Advantest + Tokyo Electron ≈ 20% of the Nikkei 225 (Jul 2026)</a:t>
            </a:r>
            <a:endParaRPr lang="en-US" sz="1000" dirty="0"/>
          </a:p>
        </p:txBody>
      </p:sp>
      <p:sp>
        <p:nvSpPr>
          <p:cNvPr id="30" name="Text 25"/>
          <p:cNvSpPr txBox="1"/>
          <p:nvPr/>
        </p:nvSpPr>
        <p:spPr>
          <a:xfrm>
            <a:off x="4526280" y="4169664"/>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672584"/>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2026: spending is surging</a:t>
            </a:r>
            <a:endParaRPr lang="en-US" sz="1400" dirty="0"/>
          </a:p>
        </p:txBody>
      </p:sp>
      <p:graphicFrame>
        <p:nvGraphicFramePr>
          <p:cNvPr id="34" name="Chart 0" descr=""/>
          <p:cNvGraphicFramePr/>
          <p:nvPr/>
        </p:nvGraphicFramePr>
        <p:xfrm>
          <a:off x="7086600" y="1508760"/>
          <a:ext cx="4645152" cy="3749040"/>
        </p:xfrm>
        <a:graphic xmlns:a="http://schemas.openxmlformats.org/drawingml/2006/main">
          <a:graphicData uri="http://schemas.openxmlformats.org/drawingml/2006/chart">
            <c:chart xmlns:c="http://schemas.openxmlformats.org/drawingml/2006/chart" r:id="rId4"/>
          </a:graphicData>
        </a:graphic>
      </p:graphicFrame>
      <p:sp>
        <p:nvSpPr>
          <p:cNvPr id="35" name="Text 29"/>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Q1 2026; HBM Q2 2026); TSMC 2025 results; Trading Economics / Focus Taiwan (TSMC weight); BIT Research (KOSPI weight); company reports and SEMI (TEL, Advantest); Nikkei index summary 17 Jul 2026; company guidance after Q1 2026 (capex); WSTS Spring 2026; SEMI mid-year forecast 14 Jul 2026. Full list in appendix.</a:t>
            </a:r>
            <a:endParaRPr lang="en-US" sz="800" dirty="0"/>
          </a:p>
        </p:txBody>
      </p:sp>
      <p:sp>
        <p:nvSpPr>
          <p:cNvPr id="36" name="Shape 30"/>
          <p:cNvSpPr/>
          <p:nvPr/>
        </p:nvSpPr>
        <p:spPr>
          <a:xfrm>
            <a:off x="457200" y="5650992"/>
            <a:ext cx="11274552" cy="502920"/>
          </a:xfrm>
          <a:prstGeom prst="rect">
            <a:avLst/>
          </a:prstGeom>
          <a:solidFill>
            <a:srgbClr val="2C5F82"/>
          </a:solidFill>
          <a:ln w="12700">
            <a:solidFill>
              <a:srgbClr val="2C5F82"/>
            </a:solidFill>
            <a:prstDash val="solid"/>
          </a:ln>
        </p:spPr>
      </p:sp>
      <p:sp>
        <p:nvSpPr>
          <p:cNvPr id="37" name="Text 31"/>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We buy the picks and shovels: whichever AI model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Own the AI-hardware theme through a protected autocall</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why this theme needs protection</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and concentrated path</a:t>
            </a:r>
            <a:endParaRPr lang="en-US" sz="1050" dirty="0"/>
          </a:p>
        </p:txBody>
      </p:sp>
      <p:graphicFrame>
        <p:nvGraphicFramePr>
          <p:cNvPr id="12" name="Chart 0" descr=""/>
          <p:cNvGraphicFramePr/>
          <p:nvPr/>
        </p:nvGraphicFramePr>
        <p:xfrm>
          <a:off x="457200" y="1783080"/>
          <a:ext cx="2103120" cy="16002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697480" y="1828800"/>
            <a:ext cx="3200400" cy="1508760"/>
          </a:xfrm>
          <a:prstGeom prst="rect">
            <a:avLst/>
          </a:prstGeom>
          <a:noFill/>
          <a:ln/>
        </p:spPr>
        <p:txBody>
          <a:bodyPr wrap="square" lIns="0" tIns="0" rIns="0" bIns="0" rtlCol="0" anchor="t"/>
          <a:lstStyle/>
          <a:p>
            <a:pPr indent="0" marL="0">
              <a:spcAft>
                <a:spcPts val="300"/>
              </a:spcAft>
              <a:buNone/>
            </a:pPr>
            <a:r>
              <a:rPr lang="en-US" sz="1000" b="1" dirty="0">
                <a:solidFill>
                  <a:srgbClr val="2C5F82"/>
                </a:solidFill>
                <a:latin typeface="Arial" pitchFamily="34" charset="0"/>
                <a:ea typeface="Arial" pitchFamily="34" charset="-122"/>
                <a:cs typeface="Arial" pitchFamily="34" charset="-120"/>
              </a:rPr>
              <a:t>Growth is structural…</a:t>
            </a:r>
            <a:endParaRPr lang="en-US" sz="1000" dirty="0"/>
          </a:p>
          <a:p>
            <a:pPr indent="0" marL="0">
              <a:spcAft>
                <a:spcPts val="300"/>
              </a:spcAft>
              <a:buNone/>
            </a:pPr>
            <a:r>
              <a:rPr lang="en-US" sz="1000" dirty="0">
                <a:solidFill>
                  <a:srgbClr val="262626"/>
                </a:solidFill>
                <a:latin typeface="Arial" pitchFamily="34" charset="0"/>
                <a:ea typeface="Arial" pitchFamily="34" charset="-122"/>
                <a:cs typeface="Arial" pitchFamily="34" charset="-120"/>
              </a:rPr>
              <a:t>Hyperscaler capex +77% and chip-equipment sales +23% in 2026 (thesis 1).</a:t>
            </a:r>
            <a:endParaRPr lang="en-US" sz="1000" dirty="0"/>
          </a:p>
          <a:p>
            <a:pPr indent="0" marL="0">
              <a:spcAft>
                <a:spcPts val="300"/>
              </a:spcAft>
              <a:buNone/>
            </a:pPr>
            <a:r>
              <a:rPr lang="en-US" sz="1000" b="1" dirty="0">
                <a:solidFill>
                  <a:srgbClr val="B23B3B"/>
                </a:solidFill>
                <a:latin typeface="Arial" pitchFamily="34" charset="0"/>
                <a:ea typeface="Arial" pitchFamily="34" charset="-122"/>
                <a:cs typeface="Arial" pitchFamily="34" charset="-120"/>
              </a:rPr>
              <a:t>…but the path is not</a:t>
            </a:r>
            <a:endParaRPr lang="en-US" sz="1000" dirty="0"/>
          </a:p>
          <a:p>
            <a:pPr indent="0" marL="0">
              <a:spcAft>
                <a:spcPts val="300"/>
              </a:spcAft>
              <a:buNone/>
            </a:pPr>
            <a:r>
              <a:rPr lang="en-US" sz="1000" dirty="0">
                <a:solidFill>
                  <a:srgbClr val="262626"/>
                </a:solidFill>
                <a:latin typeface="Arial" pitchFamily="34" charset="0"/>
                <a:ea typeface="Arial" pitchFamily="34" charset="-122"/>
                <a:cs typeface="Arial" pitchFamily="34" charset="-120"/>
              </a:rPr>
              <a:t>Chip stocks fell 25–36% in 2022. A direct investor needed a 33–56% rally just to get back to even.</a:t>
            </a:r>
            <a:endParaRPr lang="en-US" sz="10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05840" cy="786384"/>
          </a:xfrm>
          <a:prstGeom prst="rect">
            <a:avLst/>
          </a:prstGeom>
          <a:noFill/>
          <a:ln/>
        </p:spPr>
        <p:txBody>
          <a:bodyPr wrap="square" lIns="0" tIns="0" rIns="0" bIns="0" rtlCol="0" anchor="ctr"/>
          <a:lstStyle/>
          <a:p>
            <a:pPr algn="ctr" indent="0" marL="0">
              <a:buNone/>
            </a:pPr>
            <a:r>
              <a:rPr lang="en-US" sz="1900" b="1" dirty="0">
                <a:solidFill>
                  <a:srgbClr val="B23B3B"/>
                </a:solidFill>
                <a:latin typeface="Arial" pitchFamily="34" charset="0"/>
                <a:ea typeface="Arial" pitchFamily="34" charset="-122"/>
                <a:cs typeface="Arial" pitchFamily="34" charset="-120"/>
              </a:rPr>
              <a:t>~2×</a:t>
            </a:r>
            <a:endParaRPr lang="en-US" sz="1900" dirty="0"/>
          </a:p>
        </p:txBody>
      </p:sp>
      <p:sp>
        <p:nvSpPr>
          <p:cNvPr id="18" name="Text 15"/>
          <p:cNvSpPr txBox="1"/>
          <p:nvPr/>
        </p:nvSpPr>
        <p:spPr>
          <a:xfrm>
            <a:off x="2103120" y="3529584"/>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The 2026 boom is priced in</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KOSPI roughly doubled in 2026 and has already had two violent one-day crashes (verify on Bloomberg).</a:t>
            </a:r>
            <a:endParaRPr lang="en-US" sz="95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&gt;40%</a:t>
            </a:r>
            <a:endParaRPr lang="en-US" sz="1900" dirty="0"/>
          </a:p>
        </p:txBody>
      </p:sp>
      <p:sp>
        <p:nvSpPr>
          <p:cNvPr id="23" name="Text 20"/>
          <p:cNvSpPr txBox="1"/>
          <p:nvPr/>
        </p:nvSpPr>
        <p:spPr>
          <a:xfrm>
            <a:off x="2103120" y="4315968"/>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Returns hinge on a few names</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TSMC is &gt;40% of the TAIEX; Advantest grew past the Nikkei's 10% weight cap. One stock can move the index.</a:t>
            </a:r>
            <a:endParaRPr lang="en-US" sz="95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¥20trn</a:t>
            </a:r>
            <a:endParaRPr lang="en-US" sz="1900" dirty="0"/>
          </a:p>
        </p:txBody>
      </p:sp>
      <p:sp>
        <p:nvSpPr>
          <p:cNvPr id="28" name="Text 25"/>
          <p:cNvSpPr txBox="1"/>
          <p:nvPr/>
        </p:nvSpPr>
        <p:spPr>
          <a:xfrm>
            <a:off x="2103120" y="5102352"/>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Reforms support a recovery to 100%</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Record Japanese buybacks (~¥20trn FY2025 forecast) and Korea's Value-up programme help the basket get back to its start.</a:t>
            </a:r>
            <a:endParaRPr lang="en-US" sz="95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why an autocall with protection</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Today's rates pay for the protection; Asian volatility pays for the coupon</a:t>
            </a:r>
            <a:endParaRPr lang="en-US" sz="1050" dirty="0"/>
          </a:p>
        </p:txBody>
      </p:sp>
      <p:graphicFrame>
        <p:nvGraphicFramePr>
          <p:cNvPr id="32" name="Chart 1" descr=""/>
          <p:cNvGraphicFramePr/>
          <p:nvPr/>
        </p:nvGraphicFramePr>
        <p:xfrm>
          <a:off x="6245352" y="1783080"/>
          <a:ext cx="5486400" cy="1600200"/>
        </p:xfrm>
        <a:graphic xmlns:a="http://schemas.openxmlformats.org/drawingml/2006/main">
          <a:graphicData uri="http://schemas.openxmlformats.org/drawingml/2006/chart">
            <c:chart xmlns:c="http://schemas.openxmlformats.org/drawingml/2006/chart" r:id="rId2"/>
          </a:graphicData>
        </a:graphic>
      </p:graphicFrame>
      <p:sp>
        <p:nvSpPr>
          <p:cNvPr id="33" name="Shape 29"/>
          <p:cNvSpPr/>
          <p:nvPr/>
        </p:nvSpPr>
        <p:spPr>
          <a:xfrm>
            <a:off x="6245352" y="3474720"/>
            <a:ext cx="5486400" cy="786384"/>
          </a:xfrm>
          <a:prstGeom prst="rect">
            <a:avLst/>
          </a:prstGeom>
          <a:solidFill>
            <a:srgbClr val="F2F2F2"/>
          </a:solidFill>
          <a:ln w="12700">
            <a:solidFill>
              <a:srgbClr val="F2F2F2"/>
            </a:solidFill>
            <a:prstDash val="solid"/>
          </a:ln>
        </p:spPr>
      </p:sp>
      <p:sp>
        <p:nvSpPr>
          <p:cNvPr id="34" name="Shape 30"/>
          <p:cNvSpPr/>
          <p:nvPr/>
        </p:nvSpPr>
        <p:spPr>
          <a:xfrm>
            <a:off x="6336792" y="3657600"/>
            <a:ext cx="384048" cy="384048"/>
          </a:xfrm>
          <a:prstGeom prst="ellipse">
            <a:avLst/>
          </a:prstGeom>
          <a:solidFill>
            <a:srgbClr val="FFFFFF"/>
          </a:solidFill>
          <a:ln w="15875">
            <a:solidFill>
              <a:srgbClr val="2C5F82"/>
            </a:solidFill>
            <a:prstDash val="solid"/>
          </a:ln>
        </p:spPr>
      </p:sp>
      <p:sp>
        <p:nvSpPr>
          <p:cNvPr id="35" name="Text 31"/>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6" name="Text 32"/>
          <p:cNvSpPr txBox="1"/>
          <p:nvPr/>
        </p:nvSpPr>
        <p:spPr>
          <a:xfrm>
            <a:off x="6812280" y="3474720"/>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75.8%</a:t>
            </a:r>
            <a:endParaRPr lang="en-US" sz="1900" dirty="0"/>
          </a:p>
        </p:txBody>
      </p:sp>
      <p:sp>
        <p:nvSpPr>
          <p:cNvPr id="37" name="Text 33"/>
          <p:cNvSpPr txBox="1"/>
          <p:nvPr/>
        </p:nvSpPr>
        <p:spPr>
          <a:xfrm>
            <a:off x="7891272" y="3529584"/>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High USD rates make protection cheap</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At 5.69% 5Y funding, USD 100 at year 5 costs only USD 75.8 today, and early calls make it cheaper still (89.9% in our note).</a:t>
            </a:r>
            <a:endParaRPr lang="en-US" sz="950" dirty="0"/>
          </a:p>
        </p:txBody>
      </p:sp>
      <p:sp>
        <p:nvSpPr>
          <p:cNvPr id="38" name="Shape 34"/>
          <p:cNvSpPr/>
          <p:nvPr/>
        </p:nvSpPr>
        <p:spPr>
          <a:xfrm>
            <a:off x="6245352" y="4261104"/>
            <a:ext cx="5486400" cy="786384"/>
          </a:xfrm>
          <a:prstGeom prst="rect">
            <a:avLst/>
          </a:prstGeom>
          <a:solidFill>
            <a:srgbClr val="FFFFFF"/>
          </a:solidFill>
          <a:ln w="12700">
            <a:solidFill>
              <a:srgbClr val="F2F2F2"/>
            </a:solidFill>
            <a:prstDash val="solid"/>
          </a:ln>
        </p:spPr>
      </p:sp>
      <p:sp>
        <p:nvSpPr>
          <p:cNvPr id="39" name="Shape 35"/>
          <p:cNvSpPr/>
          <p:nvPr/>
        </p:nvSpPr>
        <p:spPr>
          <a:xfrm>
            <a:off x="6336792" y="4443984"/>
            <a:ext cx="384048" cy="384048"/>
          </a:xfrm>
          <a:prstGeom prst="ellipse">
            <a:avLst/>
          </a:prstGeom>
          <a:solidFill>
            <a:srgbClr val="FFFFFF"/>
          </a:solidFill>
          <a:ln w="15875">
            <a:solidFill>
              <a:srgbClr val="2C5F82"/>
            </a:solidFill>
            <a:prstDash val="solid"/>
          </a:ln>
        </p:spPr>
      </p:sp>
      <p:sp>
        <p:nvSpPr>
          <p:cNvPr id="40" name="Text 36"/>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1" name="Text 37"/>
          <p:cNvSpPr txBox="1"/>
          <p:nvPr/>
        </p:nvSpPr>
        <p:spPr>
          <a:xfrm>
            <a:off x="6812280" y="4261104"/>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21%</a:t>
            </a:r>
            <a:endParaRPr lang="en-US" sz="1900" dirty="0"/>
          </a:p>
        </p:txBody>
      </p:sp>
      <p:sp>
        <p:nvSpPr>
          <p:cNvPr id="42" name="Text 38"/>
          <p:cNvSpPr txBox="1"/>
          <p:nvPr/>
        </p:nvSpPr>
        <p:spPr>
          <a:xfrm>
            <a:off x="7891272" y="4315968"/>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Volatility funds the coupon, not losses</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Higher vol means more chances to touch 100%: fair coupon 7.1% rising to 7.5% if vol is 3pts higher.</a:t>
            </a:r>
            <a:endParaRPr lang="en-US" sz="950" dirty="0"/>
          </a:p>
        </p:txBody>
      </p:sp>
      <p:sp>
        <p:nvSpPr>
          <p:cNvPr id="43" name="Shape 39"/>
          <p:cNvSpPr/>
          <p:nvPr/>
        </p:nvSpPr>
        <p:spPr>
          <a:xfrm>
            <a:off x="6245352" y="5047488"/>
            <a:ext cx="5486400" cy="786384"/>
          </a:xfrm>
          <a:prstGeom prst="rect">
            <a:avLst/>
          </a:prstGeom>
          <a:solidFill>
            <a:srgbClr val="F2F2F2"/>
          </a:solidFill>
          <a:ln w="12700">
            <a:solidFill>
              <a:srgbClr val="F2F2F2"/>
            </a:solidFill>
            <a:prstDash val="solid"/>
          </a:ln>
        </p:spPr>
      </p:sp>
      <p:sp>
        <p:nvSpPr>
          <p:cNvPr id="44" name="Shape 40"/>
          <p:cNvSpPr/>
          <p:nvPr/>
        </p:nvSpPr>
        <p:spPr>
          <a:xfrm>
            <a:off x="6336792" y="5230368"/>
            <a:ext cx="384048" cy="384048"/>
          </a:xfrm>
          <a:prstGeom prst="ellipse">
            <a:avLst/>
          </a:prstGeom>
          <a:solidFill>
            <a:srgbClr val="FFFFFF"/>
          </a:solidFill>
          <a:ln w="15875">
            <a:solidFill>
              <a:srgbClr val="2C5F82"/>
            </a:solidFill>
            <a:prstDash val="solid"/>
          </a:ln>
        </p:spPr>
      </p:sp>
      <p:sp>
        <p:nvSpPr>
          <p:cNvPr id="45" name="Text 41"/>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6" name="Text 42"/>
          <p:cNvSpPr txBox="1"/>
          <p:nvPr/>
        </p:nvSpPr>
        <p:spPr>
          <a:xfrm>
            <a:off x="6812280" y="5047488"/>
            <a:ext cx="1005840" cy="786384"/>
          </a:xfrm>
          <a:prstGeom prst="rect">
            <a:avLst/>
          </a:prstGeom>
          <a:noFill/>
          <a:ln/>
        </p:spPr>
        <p:txBody>
          <a:bodyPr wrap="square" lIns="0" tIns="0" rIns="0" bIns="0" rtlCol="0" anchor="ctr"/>
          <a:lstStyle/>
          <a:p>
            <a:pPr algn="ctr" indent="0" marL="0">
              <a:buNone/>
            </a:pPr>
            <a:r>
              <a:rPr lang="en-US" sz="1900" b="1" dirty="0">
                <a:solidFill>
                  <a:srgbClr val="2C5F82"/>
                </a:solidFill>
                <a:latin typeface="Arial" pitchFamily="34" charset="0"/>
                <a:ea typeface="Arial" pitchFamily="34" charset="-122"/>
                <a:cs typeface="Arial" pitchFamily="34" charset="-120"/>
              </a:rPr>
              <a:t>82%</a:t>
            </a:r>
            <a:endParaRPr lang="en-US" sz="1900" dirty="0"/>
          </a:p>
        </p:txBody>
      </p:sp>
      <p:sp>
        <p:nvSpPr>
          <p:cNvPr id="47" name="Text 43"/>
          <p:cNvSpPr txBox="1"/>
          <p:nvPr/>
        </p:nvSpPr>
        <p:spPr>
          <a:xfrm>
            <a:off x="7891272" y="5102352"/>
            <a:ext cx="3749040" cy="713232"/>
          </a:xfrm>
          <a:prstGeom prst="rect">
            <a:avLst/>
          </a:prstGeom>
          <a:noFill/>
          <a:ln/>
        </p:spPr>
        <p:txBody>
          <a:bodyPr wrap="square" lIns="0" tIns="0" rIns="0" bIns="0" rtlCol="0" anchor="ctr"/>
          <a:lstStyle/>
          <a:p>
            <a:pPr indent="0" marL="0">
              <a:buNone/>
            </a:pPr>
            <a:r>
              <a:rPr lang="en-US" sz="950" b="1" dirty="0">
                <a:solidFill>
                  <a:srgbClr val="262626"/>
                </a:solidFill>
                <a:latin typeface="Arial" pitchFamily="34" charset="0"/>
                <a:ea typeface="Arial" pitchFamily="34" charset="-122"/>
                <a:cs typeface="Arial" pitchFamily="34" charset="-120"/>
              </a:rPr>
              <a:t>The autocall only needs a recovery</a:t>
            </a:r>
            <a:endParaRPr lang="en-US" sz="950" dirty="0"/>
          </a:p>
          <a:p>
            <a:pPr indent="0" marL="0">
              <a:buNone/>
            </a:pPr>
            <a:r>
              <a:rPr lang="en-US" sz="950" dirty="0">
                <a:solidFill>
                  <a:srgbClr val="595959"/>
                </a:solidFill>
                <a:latin typeface="Arial" pitchFamily="34" charset="0"/>
                <a:ea typeface="Arial" pitchFamily="34" charset="-122"/>
                <a:cs typeface="Arial" pitchFamily="34" charset="-120"/>
              </a:rPr>
              <a:t>Called in 82% of paths (51% at year 1); memory pays missed coupons later. Result: 6.75% p.a. and 0% capital loss.</a:t>
            </a:r>
            <a:endParaRPr lang="en-US" sz="950" dirty="0"/>
          </a:p>
        </p:txBody>
      </p:sp>
      <p:sp>
        <p:nvSpPr>
          <p:cNvPr id="48" name="Text 44"/>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Korea Times, Bloomberg/BNN (2022); BIT Research (KOSPI 2026, single source); Trading Economics, Nikkei Asia (index weights); Asset Management One (buybacks); case funding grid; team Monte Carlo (pricing/scenario2_autocall_mc.py). Full list in appendix.</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 protected autocall fits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A volatile chip boom plus high USD rates: the conditions where an autocall beats bonds, stocks and plain protected notes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High USD rates make protection cheap</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Case funding grid: 5Y at 5.69%, so USD 100 repaid at year 5 costs only USD 75.8 today. If rates fall, protection gets dearer.</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Volatility demands protection</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2022 down-cycle: chip markets fell 25–36% in a year. In 2026 KOSPI roughly doubled, then had two violent one-day crashes (verify).</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The autocall wins in most markets</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Mean return % p.a. by type of 5-year market (team simulation, equities +4% p.a.). Ties the stocks in moderate markets, beats them in bear and flat ones.</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Bonds, stocks and plain protection fall short</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370832" y="3730752"/>
          <a:ext cx="3730752" cy="914400"/>
        </p:xfrm>
        <a:graphic>
          <a:graphicData uri="http://schemas.openxmlformats.org/drawingml/2006/table">
            <a:tbl>
              <a:tblPr/>
              <a:tblGrid>
                <a:gridCol w="1691640"/>
                <a:gridCol w="658368"/>
                <a:gridCol w="694944"/>
                <a:gridCol w="685800"/>
              </a:tblGrid>
              <a:tr h="246888">
                <a:tc>
                  <a:txBody>
                    <a:bodyPr/>
                    <a:lstStyle/>
                    <a:p>
                      <a:pPr indent="0" marL="0">
                        <a:buNone/>
                      </a:pPr>
                      <a:r>
                        <a:rPr lang="en-US" sz="900" b="1" dirty="0">
                          <a:solidFill>
                            <a:srgbClr val="FFFFFF"/>
                          </a:solidFill>
                          <a:latin typeface="Arial" pitchFamily="34" charset="0"/>
                          <a:ea typeface="Arial" pitchFamily="34" charset="-122"/>
                          <a:cs typeface="Arial" pitchFamily="34" charset="-120"/>
                        </a:rPr>
                        <a:t>Strategy</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Mean</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Median</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Loss risk</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46888">
                <a:tc>
                  <a:txBody>
                    <a:bodyPr/>
                    <a:lstStyle/>
                    <a:p>
                      <a:pPr indent="0" marL="0">
                        <a:buNone/>
                      </a:pPr>
                      <a:r>
                        <a:rPr lang="en-US" sz="900" b="1" dirty="0">
                          <a:solidFill>
                            <a:srgbClr val="2C5F82"/>
                          </a:solidFill>
                          <a:latin typeface="Arial" pitchFamily="34" charset="0"/>
                          <a:ea typeface="Arial" pitchFamily="34" charset="-122"/>
                          <a:cs typeface="Arial" pitchFamily="34" charset="-120"/>
                        </a:rPr>
                        <a:t>Our protected autocall</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900" b="1" dirty="0">
                          <a:solidFill>
                            <a:srgbClr val="2C5F82"/>
                          </a:solidFill>
                          <a:latin typeface="Arial" pitchFamily="34" charset="0"/>
                          <a:ea typeface="Arial" pitchFamily="34" charset="-122"/>
                          <a:cs typeface="Arial" pitchFamily="34" charset="-120"/>
                        </a:rPr>
                        <a:t>5.4%</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900" b="1" dirty="0">
                          <a:solidFill>
                            <a:srgbClr val="2C5F82"/>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900" b="1" dirty="0">
                          <a:solidFill>
                            <a:srgbClr val="2C5F82"/>
                          </a:solidFill>
                          <a:latin typeface="Arial" pitchFamily="34" charset="0"/>
                          <a:ea typeface="Arial" pitchFamily="34" charset="-122"/>
                          <a:cs typeface="Arial" pitchFamily="34" charset="-120"/>
                        </a:rPr>
                        <a:t>0%</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r>
              <a:tr h="246888">
                <a:tc>
                  <a:txBody>
                    <a:bodyPr/>
                    <a:lstStyle/>
                    <a:p>
                      <a:pPr indent="0" marL="0">
                        <a:buNone/>
                      </a:pPr>
                      <a:r>
                        <a:rPr lang="en-US" sz="900" dirty="0">
                          <a:solidFill>
                            <a:srgbClr val="262626"/>
                          </a:solidFill>
                          <a:latin typeface="Arial" pitchFamily="34" charset="0"/>
                          <a:ea typeface="Arial" pitchFamily="34" charset="-122"/>
                          <a:cs typeface="Arial" pitchFamily="34" charset="-120"/>
                        </a:rPr>
                        <a:t>5Y USD bond</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5.7%</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5.7%</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0%</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900" dirty="0">
                          <a:solidFill>
                            <a:srgbClr val="262626"/>
                          </a:solidFill>
                          <a:latin typeface="Arial" pitchFamily="34" charset="0"/>
                          <a:ea typeface="Arial" pitchFamily="34" charset="-122"/>
                          <a:cs typeface="Arial" pitchFamily="34" charset="-120"/>
                        </a:rPr>
                        <a:t>Hold the basket</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900" dirty="0">
                          <a:solidFill>
                            <a:srgbClr val="262626"/>
                          </a:solidFill>
                          <a:latin typeface="Arial" pitchFamily="34" charset="0"/>
                          <a:ea typeface="Arial" pitchFamily="34" charset="-122"/>
                          <a:cs typeface="Arial" pitchFamily="34" charset="-120"/>
                        </a:rPr>
                        <a:t>Plain protected note</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0.0%</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0%</a:t>
                      </a:r>
                      <a:endParaRPr lang="en-US" sz="900" dirty="0">
                        <a:latin typeface="Arial" charset="0"/>
                        <a:ea typeface="Arial" charset="0"/>
                        <a:cs typeface="Arial" charset="0"/>
                      </a:endParaRPr>
                    </a:p>
                  </a:txBody>
                  <a:tcPr marL="50800" marR="508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The bond is steady but gives no AI exposure; the stocks lose money in 42% of paths; a plain protected note's median outcome is 0%.</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Shape 22"/>
          <p:cNvSpPr/>
          <p:nvPr/>
        </p:nvSpPr>
        <p:spPr>
          <a:xfrm>
            <a:off x="8211312" y="1719072"/>
            <a:ext cx="3520440" cy="658368"/>
          </a:xfrm>
          <a:prstGeom prst="rect">
            <a:avLst/>
          </a:prstGeom>
          <a:solidFill>
            <a:srgbClr val="FFFFFF"/>
          </a:solidFill>
          <a:ln w="12700">
            <a:solidFill>
              <a:srgbClr val="2C5F82"/>
            </a:solidFill>
            <a:prstDash val="solid"/>
          </a:ln>
        </p:spPr>
      </p:sp>
      <p:sp>
        <p:nvSpPr>
          <p:cNvPr id="29" name="Text 23"/>
          <p:cNvSpPr txBox="1"/>
          <p:nvPr/>
        </p:nvSpPr>
        <p:spPr>
          <a:xfrm>
            <a:off x="8257032" y="171907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0" name="Text 24"/>
          <p:cNvSpPr txBox="1"/>
          <p:nvPr/>
        </p:nvSpPr>
        <p:spPr>
          <a:xfrm>
            <a:off x="8714232" y="174650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Lock in protection now: </a:t>
            </a:r>
            <a:pPr indent="0" marL="0">
              <a:buNone/>
            </a:pPr>
            <a:r>
              <a:rPr lang="en-US" sz="900" dirty="0">
                <a:solidFill>
                  <a:srgbClr val="595959"/>
                </a:solidFill>
                <a:latin typeface="Arial" pitchFamily="34" charset="0"/>
                <a:ea typeface="Arial" pitchFamily="34" charset="-122"/>
                <a:cs typeface="Arial" pitchFamily="34" charset="-120"/>
              </a:rPr>
              <a:t>High rates fund 100% capital protection; that window narrows as rates fall</a:t>
            </a:r>
            <a:endParaRPr lang="en-US" sz="900" dirty="0"/>
          </a:p>
        </p:txBody>
      </p:sp>
      <p:sp>
        <p:nvSpPr>
          <p:cNvPr id="31" name="Shape 25"/>
          <p:cNvSpPr/>
          <p:nvPr/>
        </p:nvSpPr>
        <p:spPr>
          <a:xfrm>
            <a:off x="8211312" y="2450592"/>
            <a:ext cx="3520440" cy="658368"/>
          </a:xfrm>
          <a:prstGeom prst="rect">
            <a:avLst/>
          </a:prstGeom>
          <a:solidFill>
            <a:srgbClr val="FFFFFF"/>
          </a:solidFill>
          <a:ln w="12700">
            <a:solidFill>
              <a:srgbClr val="2C5F82"/>
            </a:solidFill>
            <a:prstDash val="solid"/>
          </a:ln>
        </p:spPr>
      </p:sp>
      <p:sp>
        <p:nvSpPr>
          <p:cNvPr id="32" name="Text 26"/>
          <p:cNvSpPr txBox="1"/>
          <p:nvPr/>
        </p:nvSpPr>
        <p:spPr>
          <a:xfrm>
            <a:off x="8257032" y="245059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3" name="Text 27"/>
          <p:cNvSpPr txBox="1"/>
          <p:nvPr/>
        </p:nvSpPr>
        <p:spPr>
          <a:xfrm>
            <a:off x="8714232" y="247802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Volatility becomes income: </a:t>
            </a:r>
            <a:pPr indent="0" marL="0">
              <a:buNone/>
            </a:pPr>
            <a:r>
              <a:rPr lang="en-US" sz="900" dirty="0">
                <a:solidFill>
                  <a:srgbClr val="595959"/>
                </a:solidFill>
                <a:latin typeface="Arial" pitchFamily="34" charset="0"/>
                <a:ea typeface="Arial" pitchFamily="34" charset="-122"/>
                <a:cs typeface="Arial" pitchFamily="34" charset="-120"/>
              </a:rPr>
              <a:t>It raises the chance of touching 100%: fair coupon 7.1%, 7.5% if vol rises 3pts</a:t>
            </a:r>
            <a:endParaRPr lang="en-US" sz="900" dirty="0"/>
          </a:p>
        </p:txBody>
      </p:sp>
      <p:sp>
        <p:nvSpPr>
          <p:cNvPr id="34" name="Shape 28"/>
          <p:cNvSpPr/>
          <p:nvPr/>
        </p:nvSpPr>
        <p:spPr>
          <a:xfrm>
            <a:off x="8211312" y="3182112"/>
            <a:ext cx="3520440" cy="658368"/>
          </a:xfrm>
          <a:prstGeom prst="rect">
            <a:avLst/>
          </a:prstGeom>
          <a:solidFill>
            <a:srgbClr val="FFFFFF"/>
          </a:solidFill>
          <a:ln w="12700">
            <a:solidFill>
              <a:srgbClr val="2C5F82"/>
            </a:solidFill>
            <a:prstDash val="solid"/>
          </a:ln>
        </p:spPr>
      </p:sp>
      <p:sp>
        <p:nvSpPr>
          <p:cNvPr id="35" name="Text 29"/>
          <p:cNvSpPr txBox="1"/>
          <p:nvPr/>
        </p:nvSpPr>
        <p:spPr>
          <a:xfrm>
            <a:off x="8257032" y="318211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6" name="Text 30"/>
          <p:cNvSpPr txBox="1"/>
          <p:nvPr/>
        </p:nvSpPr>
        <p:spPr>
          <a:xfrm>
            <a:off x="8714232" y="320954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Pays without a rally: </a:t>
            </a:r>
            <a:pPr indent="0" marL="0">
              <a:buNone/>
            </a:pPr>
            <a:r>
              <a:rPr lang="en-US" sz="900" dirty="0">
                <a:solidFill>
                  <a:srgbClr val="595959"/>
                </a:solidFill>
                <a:latin typeface="Arial" pitchFamily="34" charset="0"/>
                <a:ea typeface="Arial" pitchFamily="34" charset="-122"/>
                <a:cs typeface="Arial" pitchFamily="34" charset="-120"/>
              </a:rPr>
              <a:t>6.2% p.a. vs 2.0% for the stocks when the basket goes sideways</a:t>
            </a:r>
            <a:endParaRPr lang="en-US" sz="900" dirty="0"/>
          </a:p>
        </p:txBody>
      </p:sp>
      <p:sp>
        <p:nvSpPr>
          <p:cNvPr id="37" name="Shape 31"/>
          <p:cNvSpPr/>
          <p:nvPr/>
        </p:nvSpPr>
        <p:spPr>
          <a:xfrm>
            <a:off x="8211312" y="3913632"/>
            <a:ext cx="3520440" cy="658368"/>
          </a:xfrm>
          <a:prstGeom prst="rect">
            <a:avLst/>
          </a:prstGeom>
          <a:solidFill>
            <a:srgbClr val="FFFFFF"/>
          </a:solidFill>
          <a:ln w="12700">
            <a:solidFill>
              <a:srgbClr val="2C5F82"/>
            </a:solidFill>
            <a:prstDash val="solid"/>
          </a:ln>
        </p:spPr>
      </p:sp>
      <p:sp>
        <p:nvSpPr>
          <p:cNvPr id="38" name="Text 32"/>
          <p:cNvSpPr txBox="1"/>
          <p:nvPr/>
        </p:nvSpPr>
        <p:spPr>
          <a:xfrm>
            <a:off x="8257032" y="391363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39" name="Text 33"/>
          <p:cNvSpPr txBox="1"/>
          <p:nvPr/>
        </p:nvSpPr>
        <p:spPr>
          <a:xfrm>
            <a:off x="8714232" y="394106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Early exit built in: </a:t>
            </a:r>
            <a:pPr indent="0" marL="0">
              <a:buNone/>
            </a:pPr>
            <a:r>
              <a:rPr lang="en-US" sz="900" dirty="0">
                <a:solidFill>
                  <a:srgbClr val="595959"/>
                </a:solidFill>
                <a:latin typeface="Arial" pitchFamily="34" charset="0"/>
                <a:ea typeface="Arial" pitchFamily="34" charset="-122"/>
                <a:cs typeface="Arial" pitchFamily="34" charset="-120"/>
              </a:rPr>
              <a:t>51% called at year 1 and 82% within 5 years: capital recycled, missed coupons caught up</a:t>
            </a:r>
            <a:endParaRPr lang="en-US" sz="900" dirty="0"/>
          </a:p>
        </p:txBody>
      </p:sp>
      <p:sp>
        <p:nvSpPr>
          <p:cNvPr id="40" name="Shape 34"/>
          <p:cNvSpPr/>
          <p:nvPr/>
        </p:nvSpPr>
        <p:spPr>
          <a:xfrm>
            <a:off x="8211312" y="4645152"/>
            <a:ext cx="3520440" cy="658368"/>
          </a:xfrm>
          <a:prstGeom prst="rect">
            <a:avLst/>
          </a:prstGeom>
          <a:solidFill>
            <a:srgbClr val="FFFFFF"/>
          </a:solidFill>
          <a:ln w="12700">
            <a:solidFill>
              <a:srgbClr val="2C5F82"/>
            </a:solidFill>
            <a:prstDash val="solid"/>
          </a:ln>
        </p:spPr>
      </p:sp>
      <p:sp>
        <p:nvSpPr>
          <p:cNvPr id="41" name="Text 35"/>
          <p:cNvSpPr txBox="1"/>
          <p:nvPr/>
        </p:nvSpPr>
        <p:spPr>
          <a:xfrm>
            <a:off x="8257032" y="464515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2" name="Text 36"/>
          <p:cNvSpPr txBox="1"/>
          <p:nvPr/>
        </p:nvSpPr>
        <p:spPr>
          <a:xfrm>
            <a:off x="8714232" y="467258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Proven in Asia: </a:t>
            </a:r>
            <a:pPr indent="0" marL="0">
              <a:buNone/>
            </a:pPr>
            <a:r>
              <a:rPr lang="en-US" sz="900" dirty="0">
                <a:solidFill>
                  <a:srgbClr val="595959"/>
                </a:solidFill>
                <a:latin typeface="Arial" pitchFamily="34" charset="0"/>
                <a:ea typeface="Arial" pitchFamily="34" charset="-122"/>
                <a:cs typeface="Arial" pitchFamily="34" charset="-120"/>
              </a:rPr>
              <a:t>Taiwan structured-note issuance +81% in 2025; snowball autocalls the favourite payoff (SRP)</a:t>
            </a:r>
            <a:endParaRPr lang="en-US" sz="900" dirty="0"/>
          </a:p>
        </p:txBody>
      </p:sp>
      <p:sp>
        <p:nvSpPr>
          <p:cNvPr id="43" name="Shape 37"/>
          <p:cNvSpPr/>
          <p:nvPr/>
        </p:nvSpPr>
        <p:spPr>
          <a:xfrm>
            <a:off x="457200" y="5486400"/>
            <a:ext cx="11274552" cy="438912"/>
          </a:xfrm>
          <a:prstGeom prst="rect">
            <a:avLst/>
          </a:prstGeom>
          <a:solidFill>
            <a:srgbClr val="2C5F82"/>
          </a:solidFill>
          <a:ln w="12700">
            <a:solidFill>
              <a:srgbClr val="2C5F82"/>
            </a:solidFill>
            <a:prstDash val="solid"/>
          </a:ln>
        </p:spPr>
      </p:sp>
      <p:sp>
        <p:nvSpPr>
          <p:cNvPr id="44" name="Text 38"/>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Result: 6.75% a year whenever the basket is back at its start, 100% of capital at maturity, money back in ~2.1 years on average.</a:t>
            </a:r>
            <a:endParaRPr lang="en-US" sz="1250" dirty="0"/>
          </a:p>
        </p:txBody>
      </p:sp>
      <p:sp>
        <p:nvSpPr>
          <p:cNvPr id="45" name="Text 39"/>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case funding grid; TWSE, Korea Times, Bloomberg/BNN (2022); BIT Research (KOSPI 2026, single source); StructuredRetailProducts.com; team Monte Carlo (pricing/scenario2_vs_traditional.py, scenario2_autocall_mc.py).</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Thesis 2 evidence: the protected autocall beats the usual ways to own this theme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Shape 4"/>
          <p:cNvSpPr/>
          <p:nvPr/>
        </p:nvSpPr>
        <p:spPr>
          <a:xfrm>
            <a:off x="4837176" y="6364224"/>
            <a:ext cx="2514600" cy="45720"/>
          </a:xfrm>
          <a:prstGeom prst="rect">
            <a:avLst/>
          </a:prstGeom>
          <a:solidFill>
            <a:srgbClr val="2C5F82"/>
          </a:solidFill>
          <a:ln w="12700">
            <a:solidFill>
              <a:srgbClr val="2C5F82"/>
            </a:solidFill>
            <a:prstDash val="solid"/>
          </a:ln>
        </p:spPr>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Average annual return by type of market (5 years)</a:t>
            </a:r>
            <a:endParaRPr lang="en-US" sz="1400" dirty="0"/>
          </a:p>
        </p:txBody>
      </p:sp>
      <p:graphicFrame>
        <p:nvGraphicFramePr>
          <p:cNvPr id="11" name="Chart 0" descr=""/>
          <p:cNvGraphicFramePr/>
          <p:nvPr/>
        </p:nvGraphicFramePr>
        <p:xfrm>
          <a:off x="457200" y="1481328"/>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7086600" y="1051560"/>
            <a:ext cx="4645152" cy="384048"/>
          </a:xfrm>
          <a:prstGeom prst="rect">
            <a:avLst/>
          </a:prstGeom>
          <a:solidFill>
            <a:srgbClr val="2C5F82"/>
          </a:solidFill>
          <a:ln w="12700">
            <a:solidFill>
              <a:srgbClr val="2C5F82"/>
            </a:solidFill>
            <a:prstDash val="solid"/>
          </a:ln>
        </p:spPr>
      </p:sp>
      <p:sp>
        <p:nvSpPr>
          <p:cNvPr id="13" name="Text 10"/>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Same 100,000 paths, summary</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086600" y="1508760"/>
          <a:ext cx="4645152" cy="914400"/>
        </p:xfrm>
        <a:graphic>
          <a:graphicData uri="http://schemas.openxmlformats.org/drawingml/2006/table">
            <a:tbl>
              <a:tblPr/>
              <a:tblGrid>
                <a:gridCol w="1737360"/>
                <a:gridCol w="685800"/>
                <a:gridCol w="731520"/>
                <a:gridCol w="731520"/>
                <a:gridCol w="758952"/>
              </a:tblGrid>
              <a:tr h="329184">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Strategy</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Median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Loss risk</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Worst 5%</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29184">
                <a:tc>
                  <a:txBody>
                    <a:bodyPr/>
                    <a:lstStyle/>
                    <a:p>
                      <a:pPr indent="0" marL="0">
                        <a:buNone/>
                      </a:pPr>
                      <a:r>
                        <a:rPr lang="en-US" sz="1000" b="1" dirty="0">
                          <a:solidFill>
                            <a:srgbClr val="2C5F82"/>
                          </a:solidFill>
                          <a:latin typeface="Arial" pitchFamily="34" charset="0"/>
                          <a:ea typeface="Arial" pitchFamily="34" charset="-122"/>
                          <a:cs typeface="Arial" pitchFamily="34" charset="-120"/>
                        </a:rPr>
                        <a:t>Our protected autocall</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5.4%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6.8%</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Hold the basket</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−12.4%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Plain protected note</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5Y USD bond (5.69%)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5" name="Shape 11"/>
          <p:cNvSpPr/>
          <p:nvPr/>
        </p:nvSpPr>
        <p:spPr>
          <a:xfrm>
            <a:off x="7086600" y="3291840"/>
            <a:ext cx="4645152" cy="1965960"/>
          </a:xfrm>
          <a:prstGeom prst="rect">
            <a:avLst/>
          </a:prstGeom>
          <a:solidFill>
            <a:srgbClr val="F2F2F2"/>
          </a:solidFill>
          <a:ln w="12700">
            <a:solidFill>
              <a:srgbClr val="F2F2F2"/>
            </a:solidFill>
            <a:prstDash val="solid"/>
          </a:ln>
        </p:spPr>
      </p:sp>
      <p:sp>
        <p:nvSpPr>
          <p:cNvPr id="16" name="Text 12"/>
          <p:cNvSpPr txBox="1"/>
          <p:nvPr/>
        </p:nvSpPr>
        <p:spPr>
          <a:xfrm>
            <a:off x="7223760" y="3364992"/>
            <a:ext cx="4389120" cy="1874520"/>
          </a:xfrm>
          <a:prstGeom prst="rect">
            <a:avLst/>
          </a:prstGeom>
          <a:noFill/>
          <a:ln/>
        </p:spPr>
        <p:txBody>
          <a:bodyPr wrap="square" lIns="0" tIns="0" rIns="0" bIns="0" rtlCol="0" anchor="t"/>
          <a:lstStyle/>
          <a:p>
            <a:pPr indent="0" marL="0">
              <a:spcAft>
                <a:spcPts val="300"/>
              </a:spcAft>
              <a:buNone/>
            </a:pPr>
            <a:r>
              <a:rPr lang="en-US" sz="1200" b="1" i="1" dirty="0">
                <a:solidFill>
                  <a:srgbClr val="2C5F82"/>
                </a:solidFill>
                <a:latin typeface="Arial" pitchFamily="34" charset="0"/>
                <a:ea typeface="Arial" pitchFamily="34" charset="-122"/>
                <a:cs typeface="Arial" pitchFamily="34" charset="-120"/>
              </a:rPr>
              <a:t>Why it works</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Pays in sideways markets: 6.2% vs 2.0% for the stocks when the basket goes nowhere</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Volatility raises the chance of touching 100%, so it funds the coupon instead of hurting the family</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Market evidence: Taiwan structured-note issuance +81% in 2025, snowball autocalls the favourite payoff (SRP)</a:t>
            </a:r>
            <a:endParaRPr lang="en-US" sz="950" dirty="0"/>
          </a:p>
          <a:p>
            <a:pPr marL="127000" indent="-127000">
              <a:spcAft>
                <a:spcPts val="300"/>
              </a:spcAft>
              <a:buSzPct val="100000"/>
              <a:buChar char="•"/>
            </a:pPr>
            <a:r>
              <a:rPr lang="en-US" sz="950" dirty="0">
                <a:solidFill>
                  <a:srgbClr val="B23B3B"/>
                </a:solidFill>
                <a:latin typeface="Arial" pitchFamily="34" charset="0"/>
                <a:ea typeface="Arial" pitchFamily="34" charset="-122"/>
                <a:cs typeface="Arial" pitchFamily="34" charset="-120"/>
              </a:rPr>
              <a:t>Honest caveat: a 5Y bond earns more in bear markets, but gives no AI exposure</a:t>
            </a:r>
            <a:endParaRPr lang="en-US" sz="950" dirty="0"/>
          </a:p>
        </p:txBody>
      </p:sp>
      <p:sp>
        <p:nvSpPr>
          <p:cNvPr id="17" name="Text 13"/>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Our Monte Carlo (pricing/scenario2_vs_traditional.py): TAIEX 40% / KOSPI 200 30% / Nikkei 225 30%, real-world equity drift 4% p.a.; protected note participation 101%. Market regime = basket's own 5Y annualised total return. Early-called notes are not assumed to be reinvested. SRP = StructuredRetailProducts.com.</a:t>
            </a:r>
            <a:endParaRPr lang="en-US" sz="800" dirty="0"/>
          </a:p>
        </p:txBody>
      </p:sp>
      <p:sp>
        <p:nvSpPr>
          <p:cNvPr id="18" name="Shape 14"/>
          <p:cNvSpPr/>
          <p:nvPr/>
        </p:nvSpPr>
        <p:spPr>
          <a:xfrm>
            <a:off x="457200" y="5650992"/>
            <a:ext cx="11274552" cy="502920"/>
          </a:xfrm>
          <a:prstGeom prst="rect">
            <a:avLst/>
          </a:prstGeom>
          <a:solidFill>
            <a:srgbClr val="2C5F82"/>
          </a:solidFill>
          <a:ln w="12700">
            <a:solidFill>
              <a:srgbClr val="2C5F82"/>
            </a:solidFill>
            <a:prstDash val="solid"/>
          </a:ln>
        </p:spPr>
      </p:sp>
      <p:sp>
        <p:nvSpPr>
          <p:cNvPr id="19" name="Text 15"/>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Best way to own the theme: equals or beats the stocks in 3 of 4 markets, beats a plain protected note in 3 of 4, and never loses capital.</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035040"/>
                <a:gridCol w="5239512"/>
              </a:tblGrid>
              <a:tr h="310896">
                <a:tc>
                  <a:txBody>
                    <a:bodyPr/>
                    <a:lstStyle/>
                    <a:p>
                      <a:pPr indent="0" marL="0">
                        <a:buNone/>
                      </a:pPr>
                      <a:r>
                        <a:rPr lang="en-US" sz="950" b="1" dirty="0">
                          <a:solidFill>
                            <a:srgbClr val="FFFFFF"/>
                          </a:solidFill>
                          <a:latin typeface="Arial" pitchFamily="34" charset="0"/>
                          <a:ea typeface="Arial" pitchFamily="34" charset="-122"/>
                          <a:cs typeface="Arial" pitchFamily="34" charset="-120"/>
                        </a:rPr>
                        <a:t>Fact used</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TSMC ~70–73% of global foundry revenue (Q1 2026); HPC 58% of 2025 revenue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Counterpoint Research via press; TSMC results (verify in TSMC Q-reports)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TSMC &gt;40% of TAIEX market value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Trading Economics (28 Jul 2026); Focus Taiwan (May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HBM revenue share Q2 2026: SK hynix 50%, Samsung 33%, Micron 18%</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Counterpoint Research, Global DRAM and HBM Market Share (quarterly)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Advantest ~55–58% of chip test equipment; TEL ~90% of coater/developers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Industry research summaries; verify in TEL and Advantest annual reports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Advantest 12.2% / TEL ~9–10% of Nikkei 225; weight cap from 1 Oct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Nikkei Asia announcement; Nikkei index summary (17 Jul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Hyperscaler capex ~USD 725bn in 2026, +77% y/y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Company guidance after Q1 2026 earnings, as reported by AI Weekly / Yahoo Finance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Chip market ~USD 1.5trn in 2026 (+90%); logic +37%</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WSTS Spring 2026 forecast (2 Jun 2026), wsts.org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Equipment USD 165.9bn (+23.2%); DRAM equip. +39%; test +31%</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SEMI mid-year forecast (14 Jul 2026), semi.org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2022: TAIEX −31.6% peak to trough; KOSPI −24.9%; SOX −36%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TWSE 2022 Market Highlights; Korea Times / Yonhap; Bloomberg via BNN</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KOSPI ~+100% YTD, above 9,000 (18 Jun 2026); Samsung + SK hynix ~48% of market cap</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BIT Research, 'The KOSPI supercycle' (single source: verify on Bloomberg)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Japan buybacks ¥18.7trn FY2024, ~¥20trn forecast FY2025; P/B&lt;1 share ~50% → 44%</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Asset Management One via portfolio institutional; investment-manager commentary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Korea Value-Up Index beat KOSPI 200 by &gt;30% (late 2024 – 27 Feb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AllianceBernstein, 'South Korea's rising governance tide'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StructuredRetailProducts.com, Taiwan Q4 2025 review</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Strategy comparison, coupon pricing, call probabilities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Team Monte Carlo: pricing/scenario2_vs_traditional.py, scenario2_autocall_mc.py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2026-10-08T06:16:32Z</dcterms:created>
  <dcterms:modified xsi:type="dcterms:W3CDTF">2026-10-08T06:16:32Z</dcterms:modified>
</cp:coreProperties>
</file>