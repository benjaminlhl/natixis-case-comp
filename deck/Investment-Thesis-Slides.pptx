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Hyperscaler capex, US$bn</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8DB3D1"/>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Sheet1!$B$2:$B$5</c:f>
              <c:numCache>
                <c:formatCode>General</c:formatCode>
                <c:ptCount val="4"/>
                <c:pt idx="0">
                  <c:v>134.7</c:v>
                </c:pt>
                <c:pt idx="1">
                  <c:v>118</c:v>
                </c:pt>
                <c:pt idx="2">
                  <c:v>91.5</c:v>
                </c:pt>
                <c:pt idx="3">
                  <c:v>72.2</c:v>
                </c:pt>
              </c:numCache>
            </c:numRef>
          </c:val>
        </c:ser>
        <c:ser>
          <c:idx val="1"/>
          <c:order val="1"/>
          <c:tx>
            <c:strRef>
              <c:f>Sheet1!$C$1</c:f>
              <c:strCache>
                <c:ptCount val="1"/>
                <c:pt idx="0">
                  <c:v>2026 guidance</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Sheet1!$C$2:$C$5</c:f>
              <c:numCache>
                <c:formatCode>General</c:formatCode>
                <c:ptCount val="4"/>
                <c:pt idx="0">
                  <c:v>200</c:v>
                </c:pt>
                <c:pt idx="1">
                  <c:v>190</c:v>
                </c:pt>
                <c:pt idx="2">
                  <c:v>185</c:v>
                </c:pt>
                <c:pt idx="3">
                  <c:v>135</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DRAM contract price, q/q</a:t>
            </a:r>
          </a:p>
        </c:rich>
      </c:tx>
      <c:layout/>
      <c:overlay val="0"/>
    </c:title>
    <c:autoTitleDeleted val="0"/>
    <c:plotArea>
      <c:layout/>
      <c:barChart>
        <c:barDir val="col"/>
        <c:grouping val="clustered"/>
        <c:varyColors val="0"/>
        <c:ser>
          <c:idx val="0"/>
          <c:order val="0"/>
          <c:tx>
            <c:strRef>
              <c:f>Sheet1!$B$1</c:f>
              <c:strCache>
                <c:ptCount val="1"/>
                <c:pt idx="0">
                  <c:v>DRAM</c:v>
                </c:pt>
              </c:strCache>
            </c:strRef>
          </c:tx>
          <c:spPr>
            <a:solidFill>
              <a:srgbClr val="8DB3D1"/>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Q2 2026</c:v>
                  </c:pt>
                  <c:pt idx="1">
                    <c:v>Q3 2026</c:v>
                  </c:pt>
                  <c:pt idx="2">
                    <c:v>Q4 2026e</c:v>
                  </c:pt>
                </c:lvl>
              </c:multiLvlStrCache>
            </c:multiLvlStrRef>
          </c:cat>
          <c:val>
            <c:numRef>
              <c:f>Sheet1!$B$2:$B$4</c:f>
              <c:numCache>
                <c:formatCode>General</c:formatCode>
                <c:ptCount val="3"/>
                <c:pt idx="0">
                  <c:v>47.5</c:v>
                </c:pt>
                <c:pt idx="1">
                  <c:v>15.5</c:v>
                </c:pt>
                <c:pt idx="2">
                  <c:v>12.5</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Since ChatGPT's launch (Nov 2022 to Dec 2025)</a:t>
            </a:r>
          </a:p>
        </c:rich>
      </c:tx>
      <c:layout/>
      <c:overlay val="0"/>
    </c:title>
    <c:autoTitleDeleted val="0"/>
    <c:plotArea>
      <c:layout/>
      <c:barChart>
        <c:barDir val="col"/>
        <c:grouping val="clustered"/>
        <c:varyColors val="0"/>
        <c:ser>
          <c:idx val="0"/>
          <c:order val="0"/>
          <c:tx>
            <c:strRef>
              <c:f>Sheet1!$B$1</c:f>
              <c:strCache>
                <c:ptCount val="1"/>
                <c:pt idx="0">
                  <c:v>Price return</c:v>
                </c:pt>
              </c:strCache>
            </c:strRef>
          </c:tx>
          <c:spPr>
            <a:solidFill>
              <a:srgbClr val="2C5F82"/>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Sheet1!$B$2:$B$6</c:f>
              <c:numCache>
                <c:formatCode>General</c:formatCode>
                <c:ptCount val="5"/>
                <c:pt idx="0">
                  <c:v>190</c:v>
                </c:pt>
                <c:pt idx="1">
                  <c:v>26</c:v>
                </c:pt>
                <c:pt idx="2">
                  <c:v>59</c:v>
                </c:pt>
                <c:pt idx="3">
                  <c:v>50</c:v>
                </c:pt>
                <c:pt idx="4">
                  <c:v>33</c:v>
                </c:pt>
              </c:numCache>
            </c:numRef>
          </c:val>
        </c:ser>
        <c:ser>
          <c:idx val="1"/>
          <c:order val="1"/>
          <c:tx>
            <c:strRef>
              <c:f>Sheet1!$C$1</c:f>
              <c:strCache>
                <c:ptCount val="1"/>
                <c:pt idx="0">
                  <c:v>Earnings growth</c:v>
                </c:pt>
              </c:strCache>
            </c:strRef>
          </c:tx>
          <c:spPr>
            <a:solidFill>
              <a:srgbClr val="8DB3D1"/>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Sheet1!$C$2:$C$6</c:f>
              <c:numCache>
                <c:formatCode>General</c:formatCode>
                <c:ptCount val="5"/>
                <c:pt idx="0">
                  <c:v>153</c:v>
                </c:pt>
                <c:pt idx="1">
                  <c:v>19</c:v>
                </c:pt>
                <c:pt idx="2">
                  <c:v>52</c:v>
                </c:pt>
                <c:pt idx="3">
                  <c:v>15</c:v>
                </c:pt>
                <c:pt idx="4">
                  <c:v>4</c:v>
                </c:pt>
              </c:numCache>
            </c:numRef>
          </c:val>
        </c:ser>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Dependence on a single source (JPM, read from chart)</a:t>
            </a:r>
          </a:p>
        </c:rich>
      </c:tx>
      <c:layout/>
      <c:overlay val="0"/>
    </c:title>
    <c:autoTitleDeleted val="0"/>
    <c:plotArea>
      <c:layout/>
      <c:barChart>
        <c:barDir val="col"/>
        <c:grouping val="clustered"/>
        <c:varyColors val="0"/>
        <c:ser>
          <c:idx val="0"/>
          <c:order val="0"/>
          <c:tx>
            <c:strRef>
              <c:f>Sheet1!$B$1</c:f>
              <c:strCache>
                <c:ptCount val="1"/>
                <c:pt idx="0">
                  <c:v>Reliance</c:v>
                </c:pt>
              </c:strCache>
            </c:strRef>
          </c:tx>
          <c:spPr>
            <a:solidFill>
              <a:srgbClr val="A6A6A6"/>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8DB3D1"/>
              </a:solidFill>
              <a:effectLst/>
            </c:spPr>
          </c:dPt>
          <c:dPt>
            <c:idx val="2"/>
            <c:invertIfNegative val="0"/>
            <c:bubble3D val="0"/>
            <c:spPr>
              <a:solidFill>
                <a:srgbClr val="B23B3B"/>
              </a:solidFill>
              <a:effectLst/>
            </c:spPr>
          </c:dPt>
          <c:cat>
            <c:multiLvlStrRef>
              <c:f>Sheet1!$A$2:$A$4</c:f>
              <c:multiLvlStrCache>
                <c:ptCount val="3"/>
                <c:lvl>
                  <c:pt idx="0">
                    <c:v>Europe on Russian energy (2021)</c:v>
                  </c:pt>
                  <c:pt idx="1">
                    <c:v>World on Taiwan: all chips</c:v>
                  </c:pt>
                  <c:pt idx="2">
                    <c:v>World on Taiwan: advanced chips</c:v>
                  </c:pt>
                </c:lvl>
              </c:multiLvlStrCache>
            </c:multiLvlStrRef>
          </c:cat>
          <c:val>
            <c:numRef>
              <c:f>Sheet1!$B$2:$B$4</c:f>
              <c:numCache>
                <c:formatCode>General</c:formatCode>
                <c:ptCount val="3"/>
                <c:pt idx="0">
                  <c:v>22</c:v>
                </c:pt>
                <c:pt idx="1">
                  <c:v>64</c:v>
                </c:pt>
                <c:pt idx="2">
                  <c:v>92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Index level, end-2021 = 100</a:t>
            </a:r>
          </a:p>
        </c:rich>
      </c:tx>
      <c:layout/>
      <c:overlay val="0"/>
    </c:title>
    <c:autoTitleDeleted val="0"/>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Value change vs parallel rate move</a:t>
            </a:r>
          </a:p>
        </c:rich>
      </c:tx>
      <c:layout/>
      <c:overlay val="0"/>
    </c:title>
    <c:autoTitleDeleted val="0"/>
    <c:plotArea>
      <c:layout/>
      <c:lineChart>
        <c:varyColors val="0"/>
        <c:ser>
          <c:idx val="0"/>
          <c:order val="0"/>
          <c:tx>
            <c:strRef>
              <c:f>Sheet1!$B$1</c:f>
              <c:strCache>
                <c:ptCount val="1"/>
                <c:pt idx="0">
                  <c:v>5Y USD bond</c:v>
                </c:pt>
              </c:strCache>
            </c:strRef>
          </c:tx>
          <c:spPr>
            <a:solidFill>
              <a:srgbClr val="404040"/>
            </a:solidFill>
            <a:ln w="25400" cap="flat">
              <a:solidFill>
                <a:srgbClr val="40404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Sheet1!$A$2:$A$10</c:f>
              <c:multiLvlStrCache>
                <c:ptCount val="9"/>
                <c:lvl>
                  <c:pt idx="0">
                    <c:v>-2.0%</c:v>
                  </c:pt>
                  <c:pt idx="1">
                    <c:v>-1.5%</c:v>
                  </c:pt>
                  <c:pt idx="2">
                    <c:v>-1.0%</c:v>
                  </c:pt>
                  <c:pt idx="3">
                    <c:v>-0.5%</c:v>
                  </c:pt>
                  <c:pt idx="4">
                    <c:v>0</c:v>
                  </c:pt>
                  <c:pt idx="5">
                    <c:v>+0.5%</c:v>
                  </c:pt>
                  <c:pt idx="6">
                    <c:v>+1.0%</c:v>
                  </c:pt>
                  <c:pt idx="7">
                    <c:v>+1.5%</c:v>
                  </c:pt>
                  <c:pt idx="8">
                    <c:v>+2.0%</c:v>
                  </c:pt>
                </c:lvl>
              </c:multiLvlStrCache>
            </c:multiLvlStrRef>
          </c:cat>
          <c:val>
            <c:numRef>
              <c:f>Sheet1!$B$2:$B$10</c:f>
              <c:numCache>
                <c:formatCode>General</c:formatCode>
                <c:ptCount val="9"/>
                <c:pt idx="0">
                  <c:v>9.11</c:v>
                </c:pt>
                <c:pt idx="1">
                  <c:v>6.77</c:v>
                </c:pt>
                <c:pt idx="2">
                  <c:v>4.49</c:v>
                </c:pt>
                <c:pt idx="3">
                  <c:v>2.28</c:v>
                </c:pt>
                <c:pt idx="4">
                  <c:v>0</c:v>
                </c:pt>
                <c:pt idx="5">
                  <c:v>-1.97</c:v>
                </c:pt>
                <c:pt idx="6">
                  <c:v>-4.02</c:v>
                </c:pt>
                <c:pt idx="7">
                  <c:v>-6</c:v>
                </c:pt>
                <c:pt idx="8">
                  <c:v>-7.94</c:v>
                </c:pt>
              </c:numCache>
            </c:numRef>
          </c:val>
          <c:smooth val="0"/>
        </c:ser>
        <c:ser>
          <c:idx val="1"/>
          <c:order val="1"/>
          <c:tx>
            <c:strRef>
              <c:f>Sheet1!$C$1</c:f>
              <c:strCache>
                <c:ptCount val="1"/>
                <c:pt idx="0">
                  <c:v>Our protected autocall</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Sheet1!$A$2:$A$10</c:f>
              <c:multiLvlStrCache>
                <c:ptCount val="9"/>
                <c:lvl>
                  <c:pt idx="0">
                    <c:v>-2.0%</c:v>
                  </c:pt>
                  <c:pt idx="1">
                    <c:v>-1.5%</c:v>
                  </c:pt>
                  <c:pt idx="2">
                    <c:v>-1.0%</c:v>
                  </c:pt>
                  <c:pt idx="3">
                    <c:v>-0.5%</c:v>
                  </c:pt>
                  <c:pt idx="4">
                    <c:v>0</c:v>
                  </c:pt>
                  <c:pt idx="5">
                    <c:v>+0.5%</c:v>
                  </c:pt>
                  <c:pt idx="6">
                    <c:v>+1.0%</c:v>
                  </c:pt>
                  <c:pt idx="7">
                    <c:v>+1.5%</c:v>
                  </c:pt>
                  <c:pt idx="8">
                    <c:v>+2.0%</c:v>
                  </c:pt>
                </c:lvl>
              </c:multiLvlStrCache>
            </c:multiLvlStrRef>
          </c:cat>
          <c:val>
            <c:numRef>
              <c:f>Sheet1!$C$2:$C$10</c:f>
              <c:numCache>
                <c:formatCode>General</c:formatCode>
                <c:ptCount val="9"/>
                <c:pt idx="0">
                  <c:v>2.78</c:v>
                </c:pt>
                <c:pt idx="1">
                  <c:v>2</c:v>
                </c:pt>
                <c:pt idx="2">
                  <c:v>1.27</c:v>
                </c:pt>
                <c:pt idx="3">
                  <c:v>0.61</c:v>
                </c:pt>
                <c:pt idx="4">
                  <c:v>0</c:v>
                </c:pt>
                <c:pt idx="5">
                  <c:v>-0.64</c:v>
                </c:pt>
                <c:pt idx="6">
                  <c:v>-1.17</c:v>
                </c:pt>
                <c:pt idx="7">
                  <c:v>-1.71</c:v>
                </c:pt>
                <c:pt idx="8">
                  <c:v>-2.25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Fed funds (upper bound)</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ser>
          <c:idx val="1"/>
          <c:order val="1"/>
          <c:tx>
            <c:strRef>
              <c:f>Sheet1!$C$1</c:f>
              <c:strCache>
                <c:ptCount val="1"/>
                <c:pt idx="0">
                  <c:v>Case 5Y USD funding</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Sheet1!$C$2:$C$20</c:f>
              <c:numCache>
                <c:formatCode>General</c:formatCode>
                <c:ptCount val="19"/>
                <c:pt idx="0">
                  <c:v>5.69</c:v>
                </c:pt>
                <c:pt idx="1">
                  <c:v>5.69</c:v>
                </c:pt>
                <c:pt idx="2">
                  <c:v>5.69</c:v>
                </c:pt>
                <c:pt idx="3">
                  <c:v>5.69</c:v>
                </c:pt>
                <c:pt idx="4">
                  <c:v>5.69</c:v>
                </c:pt>
                <c:pt idx="5">
                  <c:v>5.69</c:v>
                </c:pt>
                <c:pt idx="6">
                  <c:v>5.69</c:v>
                </c:pt>
                <c:pt idx="7">
                  <c:v>5.69</c:v>
                </c:pt>
                <c:pt idx="8">
                  <c:v>5.69</c:v>
                </c:pt>
                <c:pt idx="9">
                  <c:v>5.69</c:v>
                </c:pt>
                <c:pt idx="10">
                  <c:v>5.69</c:v>
                </c:pt>
                <c:pt idx="11">
                  <c:v>5.69</c:v>
                </c:pt>
                <c:pt idx="12">
                  <c:v>5.69</c:v>
                </c:pt>
                <c:pt idx="13">
                  <c:v>5.69</c:v>
                </c:pt>
                <c:pt idx="14">
                  <c:v>5.69</c:v>
                </c:pt>
                <c:pt idx="15">
                  <c:v>5.69</c:v>
                </c:pt>
                <c:pt idx="16">
                  <c:v>5.69</c:v>
                </c:pt>
                <c:pt idx="17">
                  <c:v>5.69</c:v>
                </c:pt>
                <c:pt idx="1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2"/>
      </c:valAx>
      <c:spPr>
        <a:noFill/>
        <a:ln>
          <a:noFill/>
        </a:ln>
        <a:effectLst/>
      </c:spPr>
    </c:plotArea>
    <c:legend>
      <c:legendPos val="r"/>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100"/>
      </c:valAx>
      <c:spPr>
        <a:noFill/>
        <a:ln>
          <a:noFill/>
        </a:ln>
        <a:effectLst/>
      </c:spPr>
    </c:plotArea>
    <c:legend>
      <c:legendPos val="r"/>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Our autocall</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Sheet1!$B$2:$B$5</c:f>
              <c:numCache>
                <c:formatCode>General</c:formatCode>
                <c:ptCount val="4"/>
                <c:pt idx="0">
                  <c:v>3.7</c:v>
                </c:pt>
                <c:pt idx="1">
                  <c:v>6.2</c:v>
                </c:pt>
                <c:pt idx="2">
                  <c:v>6.8</c:v>
                </c:pt>
                <c:pt idx="3">
                  <c:v>6.8</c:v>
                </c:pt>
              </c:numCache>
            </c:numRef>
          </c:val>
        </c:ser>
        <c:ser>
          <c:idx val="1"/>
          <c:order val="1"/>
          <c:tx>
            <c:strRef>
              <c:f>Sheet1!$C$1</c:f>
              <c:strCache>
                <c:ptCount val="1"/>
                <c:pt idx="0">
                  <c:v>Hold the basket</c:v>
                </c:pt>
              </c:strCache>
            </c:strRef>
          </c:tx>
          <c:spPr>
            <a:solidFill>
              <a:srgbClr val="A6A6A6"/>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Sheet1!$C$2:$C$5</c:f>
              <c:numCache>
                <c:formatCode>General</c:formatCode>
                <c:ptCount val="4"/>
                <c:pt idx="0">
                  <c:v>-6.4</c:v>
                </c:pt>
                <c:pt idx="1">
                  <c:v>2</c:v>
                </c:pt>
                <c:pt idx="2">
                  <c:v>6.8</c:v>
                </c:pt>
                <c:pt idx="3">
                  <c:v>15.9</c:v>
                </c:pt>
              </c:numCache>
            </c:numRef>
          </c:val>
        </c:ser>
        <c:ser>
          <c:idx val="2"/>
          <c:order val="2"/>
          <c:tx>
            <c:strRef>
              <c:f>Sheet1!$D$1</c:f>
              <c:strCache>
                <c:ptCount val="1"/>
                <c:pt idx="0">
                  <c:v>5Y bond</c:v>
                </c:pt>
              </c:strCache>
            </c:strRef>
          </c:tx>
          <c:spPr>
            <a:solidFill>
              <a:srgbClr val="404040"/>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Sheet1!$D$2:$D$5</c:f>
              <c:numCache>
                <c:formatCode>General</c:formatCode>
                <c:ptCount val="4"/>
                <c:pt idx="0">
                  <c:v>5.7</c:v>
                </c:pt>
                <c:pt idx="1">
                  <c:v>5.7</c:v>
                </c:pt>
                <c:pt idx="2">
                  <c:v>5.7</c:v>
                </c:pt>
                <c:pt idx="3">
                  <c:v>5.7</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Our autocall: mean IRR</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0%</c:v>
                  </c:pt>
                  <c:pt idx="1">
                    <c:v>2%</c:v>
                  </c:pt>
                  <c:pt idx="2">
                    <c:v>4%</c:v>
                  </c:pt>
                  <c:pt idx="3">
                    <c:v>6%</c:v>
                  </c:pt>
                  <c:pt idx="4">
                    <c:v>8%</c:v>
                  </c:pt>
                  <c:pt idx="5">
                    <c:v>10%</c:v>
                  </c:pt>
                  <c:pt idx="6">
                    <c:v>12%</c:v>
                  </c:pt>
                </c:lvl>
              </c:multiLvlStrCache>
            </c:multiLvlStrRef>
          </c:cat>
          <c:val>
            <c:numRef>
              <c:f>Sheet1!$B$2:$B$8</c:f>
              <c:numCache>
                <c:formatCode>General</c:formatCode>
                <c:ptCount val="7"/>
                <c:pt idx="0">
                  <c:v>4.7</c:v>
                </c:pt>
                <c:pt idx="1">
                  <c:v>5.08</c:v>
                </c:pt>
                <c:pt idx="2">
                  <c:v>5.39</c:v>
                </c:pt>
                <c:pt idx="3">
                  <c:v>5.72</c:v>
                </c:pt>
                <c:pt idx="4">
                  <c:v>5.98</c:v>
                </c:pt>
                <c:pt idx="5">
                  <c:v>6.2</c:v>
                </c:pt>
                <c:pt idx="6">
                  <c:v>6.38</c:v>
                </c:pt>
              </c:numCache>
            </c:numRef>
          </c:val>
          <c:smooth val="0"/>
        </c:ser>
        <c:ser>
          <c:idx val="1"/>
          <c:order val="1"/>
          <c:tx>
            <c:strRef>
              <c:f>Sheet1!$C$1</c:f>
              <c:strCache>
                <c:ptCount val="1"/>
                <c:pt idx="0">
                  <c:v>5Y bond</c:v>
                </c:pt>
              </c:strCache>
            </c:strRef>
          </c:tx>
          <c:spPr>
            <a:solidFill>
              <a:srgbClr val="404040"/>
            </a:solidFill>
            <a:ln w="25400" cap="flat">
              <a:solidFill>
                <a:srgbClr val="40404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Sheet1!$A$2:$A$8</c:f>
              <c:multiLvlStrCache>
                <c:ptCount val="7"/>
                <c:lvl>
                  <c:pt idx="0">
                    <c:v>0%</c:v>
                  </c:pt>
                  <c:pt idx="1">
                    <c:v>2%</c:v>
                  </c:pt>
                  <c:pt idx="2">
                    <c:v>4%</c:v>
                  </c:pt>
                  <c:pt idx="3">
                    <c:v>6%</c:v>
                  </c:pt>
                  <c:pt idx="4">
                    <c:v>8%</c:v>
                  </c:pt>
                  <c:pt idx="5">
                    <c:v>10%</c:v>
                  </c:pt>
                  <c:pt idx="6">
                    <c:v>12%</c:v>
                  </c:pt>
                </c:lvl>
              </c:multiLvlStrCache>
            </c:multiLvlStrRef>
          </c:cat>
          <c:val>
            <c:numRef>
              <c:f>Sheet1!$C$2:$C$8</c:f>
              <c:numCache>
                <c:formatCode>General</c:formatCode>
                <c:ptCount val="7"/>
                <c:pt idx="0">
                  <c:v>5.69</c:v>
                </c:pt>
                <c:pt idx="1">
                  <c:v>5.69</c:v>
                </c:pt>
                <c:pt idx="2">
                  <c:v>5.69</c:v>
                </c:pt>
                <c:pt idx="3">
                  <c:v>5.69</c:v>
                </c:pt>
                <c:pt idx="4">
                  <c:v>5.69</c:v>
                </c:pt>
                <c:pt idx="5">
                  <c:v>5.69</c:v>
                </c:pt>
                <c:pt idx="6">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7"/>
          <c:min val="4"/>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62626"/>
                </a:solidFill>
                <a:latin typeface="Arial"/>
              </a:defRPr>
            </a:pPr>
            <a:r>
              <a:rPr sz="1100" b="0" i="0" u="none" strike="noStrike">
                <a:solidFill>
                  <a:srgbClr val="262626"/>
                </a:solidFill>
                <a:latin typeface="Arial"/>
              </a:rPr>
              <a:t>Mean IRR, % p.a. (simulation, equities +4% p.a. on average)</a:t>
            </a:r>
          </a:p>
        </c:rich>
      </c:tx>
      <c:layout/>
      <c:overlay val="0"/>
    </c:title>
    <c:autoTitleDeleted val="0"/>
    <c:plotArea>
      <c:layout/>
      <c:barChart>
        <c:barDir val="col"/>
        <c:grouping val="clustered"/>
        <c:varyColors val="0"/>
        <c:ser>
          <c:idx val="0"/>
          <c:order val="0"/>
          <c:tx>
            <c:strRef>
              <c:f>Sheet1!$B$1</c:f>
              <c:strCache>
                <c:ptCount val="1"/>
                <c:pt idx="0">
                  <c:v>Our protected autocall</c:v>
                </c:pt>
              </c:strCache>
            </c:strRef>
          </c:tx>
          <c:spPr>
            <a:solidFill>
              <a:srgbClr val="2C5F82"/>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Sheet1!$B$2:$B$5</c:f>
              <c:numCache>
                <c:formatCode>General</c:formatCode>
                <c:ptCount val="4"/>
                <c:pt idx="0">
                  <c:v>3.7</c:v>
                </c:pt>
                <c:pt idx="1">
                  <c:v>6.2</c:v>
                </c:pt>
                <c:pt idx="2">
                  <c:v>6.8</c:v>
                </c:pt>
                <c:pt idx="3">
                  <c:v>6.8</c:v>
                </c:pt>
              </c:numCache>
            </c:numRef>
          </c:val>
        </c:ser>
        <c:ser>
          <c:idx val="1"/>
          <c:order val="1"/>
          <c:tx>
            <c:strRef>
              <c:f>Sheet1!$C$1</c:f>
              <c:strCache>
                <c:ptCount val="1"/>
                <c:pt idx="0">
                  <c:v>Hold the basket</c:v>
                </c:pt>
              </c:strCache>
            </c:strRef>
          </c:tx>
          <c:spPr>
            <a:solidFill>
              <a:srgbClr val="A6A6A6"/>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Sheet1!$C$2:$C$5</c:f>
              <c:numCache>
                <c:formatCode>General</c:formatCode>
                <c:ptCount val="4"/>
                <c:pt idx="0">
                  <c:v>-6.4</c:v>
                </c:pt>
                <c:pt idx="1">
                  <c:v>2</c:v>
                </c:pt>
                <c:pt idx="2">
                  <c:v>6.8</c:v>
                </c:pt>
                <c:pt idx="3">
                  <c:v>15.9</c:v>
                </c:pt>
              </c:numCache>
            </c:numRef>
          </c:val>
        </c:ser>
        <c:ser>
          <c:idx val="2"/>
          <c:order val="2"/>
          <c:tx>
            <c:strRef>
              <c:f>Sheet1!$D$1</c:f>
              <c:strCache>
                <c:ptCount val="1"/>
                <c:pt idx="0">
                  <c:v>Plain protected note</c:v>
                </c:pt>
              </c:strCache>
            </c:strRef>
          </c:tx>
          <c:spPr>
            <a:solidFill>
              <a:srgbClr val="8DB3D1"/>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Sheet1!$D$2:$D$5</c:f>
              <c:numCache>
                <c:formatCode>General</c:formatCode>
                <c:ptCount val="4"/>
                <c:pt idx="0">
                  <c:v>0</c:v>
                </c:pt>
                <c:pt idx="1">
                  <c:v>0.4</c:v>
                </c:pt>
                <c:pt idx="2">
                  <c:v>4.5</c:v>
                </c:pt>
                <c:pt idx="3">
                  <c:v>13.5</c:v>
                </c:pt>
              </c:numCache>
            </c:numRef>
          </c:val>
        </c:ser>
        <c:ser>
          <c:idx val="3"/>
          <c:order val="3"/>
          <c:tx>
            <c:strRef>
              <c:f>Sheet1!$E$1</c:f>
              <c:strCache>
                <c:ptCount val="1"/>
                <c:pt idx="0">
                  <c:v>5Y USD bond (5.69%)</c:v>
                </c:pt>
              </c:strCache>
            </c:strRef>
          </c:tx>
          <c:spPr>
            <a:solidFill>
              <a:srgbClr val="404040"/>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Sheet1!$E$2:$E$5</c:f>
              <c:numCache>
                <c:formatCode>General</c:formatCode>
                <c:ptCount val="4"/>
                <c:pt idx="0">
                  <c:v>5.7</c:v>
                </c:pt>
                <c:pt idx="1">
                  <c:v>5.7</c:v>
                </c:pt>
                <c:pt idx="2">
                  <c:v>5.7</c:v>
                </c:pt>
                <c:pt idx="3">
                  <c:v>5.7</c:v>
                </c:pt>
              </c:numCache>
            </c:numRef>
          </c:val>
        </c:ser>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Share of paths by annual return (IRR)</a:t>
            </a:r>
          </a:p>
        </c:rich>
      </c:tx>
      <c:layout/>
      <c:overlay val="0"/>
    </c:title>
    <c:autoTitleDeleted val="0"/>
    <c:plotArea>
      <c:layout/>
      <c:barChart>
        <c:barDir val="col"/>
        <c:grouping val="clustered"/>
        <c:varyColors val="0"/>
        <c:ser>
          <c:idx val="0"/>
          <c:order val="0"/>
          <c:tx>
            <c:strRef>
              <c:f>Sheet1!$B$1</c:f>
              <c:strCache>
                <c:ptCount val="1"/>
                <c:pt idx="0">
                  <c:v>Our protected autocall</c:v>
                </c:pt>
              </c:strCache>
            </c:strRef>
          </c:tx>
          <c:spPr>
            <a:solidFill>
              <a:srgbClr val="2C5F8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&lt; −10%</c:v>
                  </c:pt>
                  <c:pt idx="1">
                    <c:v>−10 to −5%</c:v>
                  </c:pt>
                  <c:pt idx="2">
                    <c:v>−5 to 0%</c:v>
                  </c:pt>
                  <c:pt idx="3">
                    <c:v>0 to 2%</c:v>
                  </c:pt>
                  <c:pt idx="4">
                    <c:v>2 to 4%</c:v>
                  </c:pt>
                  <c:pt idx="5">
                    <c:v>4 to 6%</c:v>
                  </c:pt>
                  <c:pt idx="6">
                    <c:v>6 to 8%</c:v>
                  </c:pt>
                  <c:pt idx="7">
                    <c:v>8 to 10%</c:v>
                  </c:pt>
                  <c:pt idx="8">
                    <c:v>10 to 15%</c:v>
                  </c:pt>
                  <c:pt idx="9">
                    <c:v>&gt; 15%</c:v>
                  </c:pt>
                </c:lvl>
              </c:multiLvlStrCache>
            </c:multiLvlStrRef>
          </c:cat>
          <c:val>
            <c:numRef>
              <c:f>Sheet1!$B$2:$B$11</c:f>
              <c:numCache>
                <c:formatCode>General</c:formatCode>
                <c:ptCount val="10"/>
                <c:pt idx="0">
                  <c:v>0</c:v>
                </c:pt>
                <c:pt idx="1">
                  <c:v>0</c:v>
                </c:pt>
                <c:pt idx="2">
                  <c:v>0</c:v>
                </c:pt>
                <c:pt idx="3">
                  <c:v>21</c:v>
                </c:pt>
                <c:pt idx="4">
                  <c:v>0</c:v>
                </c:pt>
                <c:pt idx="5">
                  <c:v>0.3</c:v>
                </c:pt>
                <c:pt idx="6">
                  <c:v>78.7</c:v>
                </c:pt>
                <c:pt idx="7">
                  <c:v>0</c:v>
                </c:pt>
                <c:pt idx="8">
                  <c:v>0</c:v>
                </c:pt>
                <c:pt idx="9">
                  <c:v>0</c:v>
                </c:pt>
              </c:numCache>
            </c:numRef>
          </c:val>
        </c:ser>
        <c:ser>
          <c:idx val="1"/>
          <c:order val="1"/>
          <c:tx>
            <c:strRef>
              <c:f>Sheet1!$C$1</c:f>
              <c:strCache>
                <c:ptCount val="1"/>
                <c:pt idx="0">
                  <c:v>Hold the basket</c:v>
                </c:pt>
              </c:strCache>
            </c:strRef>
          </c:tx>
          <c:spPr>
            <a:solidFill>
              <a:srgbClr val="A6A6A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&lt; −10%</c:v>
                  </c:pt>
                  <c:pt idx="1">
                    <c:v>−10 to −5%</c:v>
                  </c:pt>
                  <c:pt idx="2">
                    <c:v>−5 to 0%</c:v>
                  </c:pt>
                  <c:pt idx="3">
                    <c:v>0 to 2%</c:v>
                  </c:pt>
                  <c:pt idx="4">
                    <c:v>2 to 4%</c:v>
                  </c:pt>
                  <c:pt idx="5">
                    <c:v>4 to 6%</c:v>
                  </c:pt>
                  <c:pt idx="6">
                    <c:v>6 to 8%</c:v>
                  </c:pt>
                  <c:pt idx="7">
                    <c:v>8 to 10%</c:v>
                  </c:pt>
                  <c:pt idx="8">
                    <c:v>10 to 15%</c:v>
                  </c:pt>
                  <c:pt idx="9">
                    <c:v>&gt; 15%</c:v>
                  </c:pt>
                </c:lvl>
              </c:multiLvlStrCache>
            </c:multiLvlStrRef>
          </c:cat>
          <c:val>
            <c:numRef>
              <c:f>Sheet1!$C$2:$C$11</c:f>
              <c:numCache>
                <c:formatCode>General</c:formatCode>
                <c:ptCount val="10"/>
                <c:pt idx="0">
                  <c:v>8.9</c:v>
                </c:pt>
                <c:pt idx="1">
                  <c:v>13.5</c:v>
                </c:pt>
                <c:pt idx="2">
                  <c:v>19.5</c:v>
                </c:pt>
                <c:pt idx="3">
                  <c:v>8.6</c:v>
                </c:pt>
                <c:pt idx="4">
                  <c:v>8.3</c:v>
                </c:pt>
                <c:pt idx="5">
                  <c:v>7.8</c:v>
                </c:pt>
                <c:pt idx="6">
                  <c:v>7</c:v>
                </c:pt>
                <c:pt idx="7">
                  <c:v>6.1</c:v>
                </c:pt>
                <c:pt idx="8">
                  <c:v>10.9</c:v>
                </c:pt>
                <c:pt idx="9">
                  <c:v>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8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a hardware story and our three markets each own a bottleneck. The boom is visible in earnings, not just prices: KOSPI's forward P/E of 7.8x against 23x trailing means analysts expect earnings to roughly triple. But the cycle is maturing: memory price increases are decelerating and US tariffs are a live risk. That tension (great theme, risky path) is the bridge to thesis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Third-party validation from J.P. Morgan's 2026 Outlook. Left: the AI theme has driven most of the equity market's returns and earnings since ChatGPT, and the moat runs through TSMC (8 of the 10 largest companies depend on it). Right: JPM's own 'what could go wrong' list maps onto our risks: Taiwan dependence (~92% of advanced chips) and blockade vulnerability, a possible 'Metaverse moment' for hyperscaler capex, and a 10–15% correction in its 2026 base case. That is the case for owning the theme through capital protection. Note: the outlook is dated 1 Jan 2026, before this year's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in two halves. Economic: demand is structural but the path is violent (record VKOSPI, a 25% KOSPI round trip in ten weeks), concentrated and late-cycle; reforms make a recovery to 100% plausible, which is all our coupon needs. Finance: rates are high and rising, so protection is cheap and long-duration bonds are risky. Our note has about a third of a 5-year bond's rate sensitivity and usually returns cash within two years, when a new note would pay more. Record volatility makes our 6.75% coupon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thesis 2. Panel 1: rates are rising, and our note has about a third of a 5-year bond's rate sensitivity. Panel 2: Korean volatility closed at an all-time high in June 2026, above 2008. Panel 3: the note wins or ties in most market types. Panel 4: it beats the bond in about 4 of 5 outcomes, and its average matches the bond at ~6% equity returns. Implications make the case. Use instead of the two-part thesis 2 plus evidence if you need to save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evidence. Same simulated paths for all four strategies. The note beats holding the basket in bear and flat markets, ties in moderate ones and lags only in bull markets. It beats the plain principal-protected note in every market except a bull market. Be upfront about the bond: a fixed 5.69% wins in bear markets and on average unless equities return ~8% a year, but a bond gives none of the AI exposure the family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chart" Target="/ppt/charts/chart11.xml"/><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owns the chokepoints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Each market in our basket controls a bottleneck</a:t>
            </a:r>
            <a:endParaRPr lang="en-US" sz="1400" dirty="0"/>
          </a:p>
        </p:txBody>
      </p:sp>
      <p:sp>
        <p:nvSpPr>
          <p:cNvPr id="11" name="Shape 9"/>
          <p:cNvSpPr/>
          <p:nvPr/>
        </p:nvSpPr>
        <p:spPr>
          <a:xfrm>
            <a:off x="457200" y="1536192"/>
            <a:ext cx="6400800" cy="1124712"/>
          </a:xfrm>
          <a:prstGeom prst="rect">
            <a:avLst/>
          </a:prstGeom>
          <a:solidFill>
            <a:srgbClr val="F2F2F2"/>
          </a:solidFill>
          <a:ln w="12700">
            <a:solidFill>
              <a:srgbClr val="F2F2F2"/>
            </a:solidFill>
            <a:prstDash val="solid"/>
          </a:ln>
        </p:spPr>
      </p:sp>
      <p:sp>
        <p:nvSpPr>
          <p:cNvPr id="12" name="Shape 10"/>
          <p:cNvSpPr/>
          <p:nvPr/>
        </p:nvSpPr>
        <p:spPr>
          <a:xfrm>
            <a:off x="594360" y="1673352"/>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783080"/>
            <a:ext cx="237744" cy="237744"/>
          </a:xfrm>
          <a:prstGeom prst="rect">
            <a:avLst/>
          </a:prstGeom>
        </p:spPr>
      </p:pic>
      <p:sp>
        <p:nvSpPr>
          <p:cNvPr id="14" name="Text 11"/>
          <p:cNvSpPr txBox="1"/>
          <p:nvPr/>
        </p:nvSpPr>
        <p:spPr>
          <a:xfrm>
            <a:off x="1188720" y="1627632"/>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1947672"/>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HPC/AI 58% of TSMC revenue (2025); 3nm sold out through 2026</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TAIEX record 48,476 (2 Oct 2026), ~+67% YTD; TSMC &gt;40% of the index</a:t>
            </a:r>
            <a:endParaRPr lang="en-US" sz="950" dirty="0"/>
          </a:p>
        </p:txBody>
      </p:sp>
      <p:sp>
        <p:nvSpPr>
          <p:cNvPr id="16" name="Text 13"/>
          <p:cNvSpPr txBox="1"/>
          <p:nvPr/>
        </p:nvSpPr>
        <p:spPr>
          <a:xfrm>
            <a:off x="4526280" y="1591056"/>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093976"/>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752344"/>
            <a:ext cx="6400800" cy="1124712"/>
          </a:xfrm>
          <a:prstGeom prst="rect">
            <a:avLst/>
          </a:prstGeom>
          <a:solidFill>
            <a:srgbClr val="FFFFFF"/>
          </a:solidFill>
          <a:ln w="12700">
            <a:solidFill>
              <a:srgbClr val="F2F2F2"/>
            </a:solidFill>
            <a:prstDash val="solid"/>
          </a:ln>
        </p:spPr>
      </p:sp>
      <p:sp>
        <p:nvSpPr>
          <p:cNvPr id="19" name="Shape 16"/>
          <p:cNvSpPr/>
          <p:nvPr/>
        </p:nvSpPr>
        <p:spPr>
          <a:xfrm>
            <a:off x="594360" y="2889504"/>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2999232"/>
            <a:ext cx="237744" cy="237744"/>
          </a:xfrm>
          <a:prstGeom prst="rect">
            <a:avLst/>
          </a:prstGeom>
        </p:spPr>
      </p:pic>
      <p:sp>
        <p:nvSpPr>
          <p:cNvPr id="21" name="Text 17"/>
          <p:cNvSpPr txBox="1"/>
          <p:nvPr/>
        </p:nvSpPr>
        <p:spPr>
          <a:xfrm>
            <a:off x="1188720" y="2843784"/>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163824"/>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DRAM contract prices +45–50% q/q in Q2 2026; server DRAM still undersupplied</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KOSPI forward P/E 7.8× vs 23× trailing: earnings, not just multiples</a:t>
            </a:r>
            <a:endParaRPr lang="en-US" sz="950" dirty="0"/>
          </a:p>
        </p:txBody>
      </p:sp>
      <p:sp>
        <p:nvSpPr>
          <p:cNvPr id="23" name="Text 19"/>
          <p:cNvSpPr txBox="1"/>
          <p:nvPr/>
        </p:nvSpPr>
        <p:spPr>
          <a:xfrm>
            <a:off x="4526280" y="2807208"/>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310128"/>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3968496"/>
            <a:ext cx="6400800" cy="1124712"/>
          </a:xfrm>
          <a:prstGeom prst="rect">
            <a:avLst/>
          </a:prstGeom>
          <a:solidFill>
            <a:srgbClr val="F2F2F2"/>
          </a:solidFill>
          <a:ln w="12700">
            <a:solidFill>
              <a:srgbClr val="F2F2F2"/>
            </a:solidFill>
            <a:prstDash val="solid"/>
          </a:ln>
        </p:spPr>
      </p:sp>
      <p:sp>
        <p:nvSpPr>
          <p:cNvPr id="26" name="Shape 22"/>
          <p:cNvSpPr/>
          <p:nvPr/>
        </p:nvSpPr>
        <p:spPr>
          <a:xfrm>
            <a:off x="594360" y="4105656"/>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215384"/>
            <a:ext cx="237744" cy="237744"/>
          </a:xfrm>
          <a:prstGeom prst="rect">
            <a:avLst/>
          </a:prstGeom>
        </p:spPr>
      </p:pic>
      <p:sp>
        <p:nvSpPr>
          <p:cNvPr id="28" name="Text 23"/>
          <p:cNvSpPr txBox="1"/>
          <p:nvPr/>
        </p:nvSpPr>
        <p:spPr>
          <a:xfrm>
            <a:off x="1188720" y="405993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379976"/>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Test equipment +31% and DRAM equipment +39% in 2026 (SEMI)</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Advantest + Tokyo Electron ≈ 20% of the Nikkei 225; forward P/E 17.2×</a:t>
            </a:r>
            <a:endParaRPr lang="en-US" sz="950" dirty="0"/>
          </a:p>
        </p:txBody>
      </p:sp>
      <p:sp>
        <p:nvSpPr>
          <p:cNvPr id="30" name="Text 25"/>
          <p:cNvSpPr txBox="1"/>
          <p:nvPr/>
        </p:nvSpPr>
        <p:spPr>
          <a:xfrm>
            <a:off x="4526280" y="402336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52628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Demand is surging, but the cycle is maturing</a:t>
            </a:r>
            <a:endParaRPr lang="en-US" sz="1400" dirty="0"/>
          </a:p>
        </p:txBody>
      </p:sp>
      <p:graphicFrame>
        <p:nvGraphicFramePr>
          <p:cNvPr id="34" name="Chart 0" descr=""/>
          <p:cNvGraphicFramePr/>
          <p:nvPr/>
        </p:nvGraphicFramePr>
        <p:xfrm>
          <a:off x="7086600" y="1481328"/>
          <a:ext cx="2240280" cy="2057400"/>
        </p:xfrm>
        <a:graphic xmlns:a="http://schemas.openxmlformats.org/drawingml/2006/main">
          <a:graphicData uri="http://schemas.openxmlformats.org/drawingml/2006/chart">
            <c:chart xmlns:c="http://schemas.openxmlformats.org/drawingml/2006/chart" r:id="rId4"/>
          </a:graphicData>
        </a:graphic>
      </p:graphicFrame>
      <p:graphicFrame>
        <p:nvGraphicFramePr>
          <p:cNvPr id="35" name="Chart 1" descr=""/>
          <p:cNvGraphicFramePr/>
          <p:nvPr/>
        </p:nvGraphicFramePr>
        <p:xfrm>
          <a:off x="9418320" y="1481328"/>
          <a:ext cx="2313432" cy="2057400"/>
        </p:xfrm>
        <a:graphic xmlns:a="http://schemas.openxmlformats.org/drawingml/2006/main">
          <a:graphicData uri="http://schemas.openxmlformats.org/drawingml/2006/chart">
            <c:chart xmlns:c="http://schemas.openxmlformats.org/drawingml/2006/chart" r:id="rId5"/>
          </a:graphicData>
        </a:graphic>
      </p:graphicFrame>
      <p:graphicFrame>
        <p:nvGraphicFramePr>
          <p:cNvPr id="36" name="Chart 2" descr=""/>
          <p:cNvGraphicFramePr/>
          <p:nvPr/>
        </p:nvGraphicFramePr>
        <p:xfrm>
          <a:off x="7086600" y="3566160"/>
          <a:ext cx="2377440" cy="1737360"/>
        </p:xfrm>
        <a:graphic xmlns:a="http://schemas.openxmlformats.org/drawingml/2006/main">
          <a:graphicData uri="http://schemas.openxmlformats.org/drawingml/2006/chart">
            <c:chart xmlns:c="http://schemas.openxmlformats.org/drawingml/2006/chart" r:id="rId6"/>
          </a:graphicData>
        </a:graphic>
      </p:graphicFrame>
      <p:sp>
        <p:nvSpPr>
          <p:cNvPr id="37" name="Shape 29"/>
          <p:cNvSpPr/>
          <p:nvPr/>
        </p:nvSpPr>
        <p:spPr>
          <a:xfrm>
            <a:off x="9555480" y="3611880"/>
            <a:ext cx="2176272" cy="1691640"/>
          </a:xfrm>
          <a:prstGeom prst="rect">
            <a:avLst/>
          </a:prstGeom>
          <a:solidFill>
            <a:srgbClr val="E8EFF5"/>
          </a:solidFill>
          <a:ln w="12700">
            <a:solidFill>
              <a:srgbClr val="E8EFF5"/>
            </a:solidFill>
            <a:prstDash val="solid"/>
          </a:ln>
        </p:spPr>
      </p:sp>
      <p:sp>
        <p:nvSpPr>
          <p:cNvPr id="38" name="Text 30"/>
          <p:cNvSpPr txBox="1"/>
          <p:nvPr/>
        </p:nvSpPr>
        <p:spPr>
          <a:xfrm>
            <a:off x="9646920" y="3675888"/>
            <a:ext cx="2011680" cy="1600200"/>
          </a:xfrm>
          <a:prstGeom prst="rect">
            <a:avLst/>
          </a:prstGeom>
          <a:noFill/>
          <a:ln/>
        </p:spPr>
        <p:txBody>
          <a:bodyPr wrap="square" lIns="0" tIns="0" rIns="0" bIns="0" rtlCol="0" anchor="t"/>
          <a:lstStyle/>
          <a:p>
            <a:pPr indent="0" marL="0">
              <a:spcAft>
                <a:spcPts val="200"/>
              </a:spcAft>
              <a:buNone/>
            </a:pPr>
            <a:r>
              <a:rPr lang="en-US" sz="850" b="1" i="1" dirty="0">
                <a:solidFill>
                  <a:srgbClr val="2C5F82"/>
                </a:solidFill>
                <a:latin typeface="Arial" pitchFamily="34" charset="0"/>
                <a:ea typeface="Arial" pitchFamily="34" charset="-122"/>
                <a:cs typeface="Arial" pitchFamily="34" charset="-120"/>
              </a:rPr>
              <a:t>Cycle check</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Memory prices still rising, but gains slowing (midpoints of TrendForce ranges)</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US 25% tariff on some advanced chips since Jan 2026 (Section 232)</a:t>
            </a:r>
            <a:endParaRPr lang="en-US" sz="850" dirty="0"/>
          </a:p>
          <a:p>
            <a:pPr marL="101600" indent="-101600">
              <a:spcAft>
                <a:spcPts val="200"/>
              </a:spcAft>
              <a:buSzPct val="100000"/>
              <a:buChar char="•"/>
            </a:pPr>
            <a:r>
              <a:rPr lang="en-US" sz="850" b="1" dirty="0">
                <a:solidFill>
                  <a:srgbClr val="262626"/>
                </a:solidFill>
                <a:latin typeface="Arial" pitchFamily="34" charset="0"/>
                <a:ea typeface="Arial" pitchFamily="34" charset="-122"/>
                <a:cs typeface="Arial" pitchFamily="34" charset="-120"/>
              </a:rPr>
              <a:t>Leads straight to thesis 2: own it with protection</a:t>
            </a:r>
            <a:endParaRPr lang="en-US" sz="850" dirty="0"/>
          </a:p>
        </p:txBody>
      </p:sp>
      <p:sp>
        <p:nvSpPr>
          <p:cNvPr id="39" name="Text 3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HBM); TSMC; Trading Economics / TWSE; TrendForce (DRAM, range midpoints); Siblis (P/E, 1 Jul 2026); SEMI (14 Jul 2026); WSTS (2025 actual $795.6bn; 2024 implied; 2026–27 Spring 2026 forecast); company reports and guidance midpoints (capex; Microsoft 2025 calendar-year estimate); White House Proclamation 11002.</a:t>
            </a:r>
            <a:endParaRPr lang="en-US" sz="800" dirty="0"/>
          </a:p>
        </p:txBody>
      </p:sp>
      <p:sp>
        <p:nvSpPr>
          <p:cNvPr id="40" name="Shape 32"/>
          <p:cNvSpPr/>
          <p:nvPr/>
        </p:nvSpPr>
        <p:spPr>
          <a:xfrm>
            <a:off x="457200" y="5650992"/>
            <a:ext cx="11274552" cy="502920"/>
          </a:xfrm>
          <a:prstGeom prst="rect">
            <a:avLst/>
          </a:prstGeom>
          <a:solidFill>
            <a:srgbClr val="2C5F82"/>
          </a:solidFill>
          <a:ln w="12700">
            <a:solidFill>
              <a:srgbClr val="2C5F82"/>
            </a:solidFill>
            <a:prstDash val="solid"/>
          </a:ln>
        </p:spPr>
      </p:sp>
      <p:sp>
        <p:nvSpPr>
          <p:cNvPr id="41" name="Text 3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We buy the picks and shovels: whichever AI model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J.P. Morgan's 2026 Outlook: the AI moat is real, and so are its cracks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41832"/>
            <a:ext cx="1124712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"Smothering Heights: is the largest moat in market history indestructible?" (M. Cembalest, J.P. Morgan Asset &amp; Wealth Management, 1 Jan 2026)</a:t>
            </a:r>
            <a:endParaRPr lang="en-US" sz="1100" dirty="0"/>
          </a:p>
        </p:txBody>
      </p:sp>
      <p:sp>
        <p:nvSpPr>
          <p:cNvPr id="10" name="Shape 8"/>
          <p:cNvSpPr/>
          <p:nvPr/>
        </p:nvSpPr>
        <p:spPr>
          <a:xfrm>
            <a:off x="457200" y="1280160"/>
            <a:ext cx="5486400" cy="384048"/>
          </a:xfrm>
          <a:prstGeom prst="rect">
            <a:avLst/>
          </a:prstGeom>
          <a:solidFill>
            <a:srgbClr val="2C5F82"/>
          </a:solidFill>
          <a:ln w="12700">
            <a:solidFill>
              <a:srgbClr val="2C5F82"/>
            </a:solidFill>
            <a:prstDash val="solid"/>
          </a:ln>
        </p:spPr>
      </p:sp>
      <p:sp>
        <p:nvSpPr>
          <p:cNvPr id="11" name="Text 9"/>
          <p:cNvSpPr txBox="1"/>
          <p:nvPr/>
        </p:nvSpPr>
        <p:spPr>
          <a:xfrm>
            <a:off x="457200"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The theme is the market</a:t>
            </a:r>
            <a:endParaRPr lang="en-US" sz="1400" dirty="0"/>
          </a:p>
        </p:txBody>
      </p:sp>
      <p:graphicFrame>
        <p:nvGraphicFramePr>
          <p:cNvPr id="12" name="Chart 0" descr=""/>
          <p:cNvGraphicFramePr/>
          <p:nvPr/>
        </p:nvGraphicFramePr>
        <p:xfrm>
          <a:off x="457200" y="1719072"/>
          <a:ext cx="5486400" cy="18288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39312"/>
            <a:ext cx="5486400" cy="493776"/>
          </a:xfrm>
          <a:prstGeom prst="rect">
            <a:avLst/>
          </a:prstGeom>
          <a:solidFill>
            <a:srgbClr val="F2F2F2"/>
          </a:solidFill>
          <a:ln w="12700">
            <a:solidFill>
              <a:srgbClr val="F2F2F2"/>
            </a:solidFill>
            <a:prstDash val="solid"/>
          </a:ln>
        </p:spPr>
      </p:sp>
      <p:sp>
        <p:nvSpPr>
          <p:cNvPr id="14" name="Text 11"/>
          <p:cNvSpPr txBox="1"/>
          <p:nvPr/>
        </p:nvSpPr>
        <p:spPr>
          <a:xfrm>
            <a:off x="548640" y="363931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$3trn → $18trn</a:t>
            </a:r>
            <a:endParaRPr lang="en-US" sz="1500" dirty="0"/>
          </a:p>
        </p:txBody>
      </p:sp>
      <p:sp>
        <p:nvSpPr>
          <p:cNvPr id="15" name="Text 12"/>
          <p:cNvSpPr txBox="1"/>
          <p:nvPr/>
        </p:nvSpPr>
        <p:spPr>
          <a:xfrm>
            <a:off x="2240280"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Market cap of 4 hyperscalers + NVIDIA, TSMC, ASML, AMD in ~7 years: ~20% of MSCI World</a:t>
            </a:r>
            <a:endParaRPr lang="en-US" sz="950" dirty="0"/>
          </a:p>
        </p:txBody>
      </p:sp>
      <p:sp>
        <p:nvSpPr>
          <p:cNvPr id="16" name="Shape 13"/>
          <p:cNvSpPr/>
          <p:nvPr/>
        </p:nvSpPr>
        <p:spPr>
          <a:xfrm>
            <a:off x="457200" y="4187952"/>
            <a:ext cx="5486400" cy="493776"/>
          </a:xfrm>
          <a:prstGeom prst="rect">
            <a:avLst/>
          </a:prstGeom>
          <a:solidFill>
            <a:srgbClr val="FFFFFF"/>
          </a:solidFill>
          <a:ln w="12700">
            <a:solidFill>
              <a:srgbClr val="F2F2F2"/>
            </a:solidFill>
            <a:prstDash val="solid"/>
          </a:ln>
        </p:spPr>
      </p:sp>
      <p:sp>
        <p:nvSpPr>
          <p:cNvPr id="17" name="Text 14"/>
          <p:cNvSpPr txBox="1"/>
          <p:nvPr/>
        </p:nvSpPr>
        <p:spPr>
          <a:xfrm>
            <a:off x="548640" y="418795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65–75%</a:t>
            </a:r>
            <a:endParaRPr lang="en-US" sz="1500" dirty="0"/>
          </a:p>
        </p:txBody>
      </p:sp>
      <p:sp>
        <p:nvSpPr>
          <p:cNvPr id="18" name="Text 15"/>
          <p:cNvSpPr txBox="1"/>
          <p:nvPr/>
        </p:nvSpPr>
        <p:spPr>
          <a:xfrm>
            <a:off x="2240280"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Share of S&amp;P 500 returns, profits and capex since Nov 2022 from 42 AI-linked stocks</a:t>
            </a:r>
            <a:endParaRPr lang="en-US" sz="950" dirty="0"/>
          </a:p>
        </p:txBody>
      </p:sp>
      <p:sp>
        <p:nvSpPr>
          <p:cNvPr id="19" name="Shape 16"/>
          <p:cNvSpPr/>
          <p:nvPr/>
        </p:nvSpPr>
        <p:spPr>
          <a:xfrm>
            <a:off x="457200" y="4736592"/>
            <a:ext cx="5486400" cy="493776"/>
          </a:xfrm>
          <a:prstGeom prst="rect">
            <a:avLst/>
          </a:prstGeom>
          <a:solidFill>
            <a:srgbClr val="F2F2F2"/>
          </a:solidFill>
          <a:ln w="12700">
            <a:solidFill>
              <a:srgbClr val="F2F2F2"/>
            </a:solidFill>
            <a:prstDash val="solid"/>
          </a:ln>
        </p:spPr>
      </p:sp>
      <p:sp>
        <p:nvSpPr>
          <p:cNvPr id="20" name="Text 17"/>
          <p:cNvSpPr txBox="1"/>
          <p:nvPr/>
        </p:nvSpPr>
        <p:spPr>
          <a:xfrm>
            <a:off x="548640" y="473659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8 of 10</a:t>
            </a:r>
            <a:endParaRPr lang="en-US" sz="1500" dirty="0"/>
          </a:p>
        </p:txBody>
      </p:sp>
      <p:sp>
        <p:nvSpPr>
          <p:cNvPr id="21" name="Text 18"/>
          <p:cNvSpPr txBox="1"/>
          <p:nvPr/>
        </p:nvSpPr>
        <p:spPr>
          <a:xfrm>
            <a:off x="2240280"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Of the world's 10 largest companies depend heavily on TSMC supply</a:t>
            </a:r>
            <a:endParaRPr lang="en-US" sz="950" dirty="0"/>
          </a:p>
        </p:txBody>
      </p:sp>
      <p:sp>
        <p:nvSpPr>
          <p:cNvPr id="22" name="Shape 19"/>
          <p:cNvSpPr/>
          <p:nvPr/>
        </p:nvSpPr>
        <p:spPr>
          <a:xfrm>
            <a:off x="6245352" y="1280160"/>
            <a:ext cx="5486400" cy="384048"/>
          </a:xfrm>
          <a:prstGeom prst="rect">
            <a:avLst/>
          </a:prstGeom>
          <a:solidFill>
            <a:srgbClr val="2C5F82"/>
          </a:solidFill>
          <a:ln w="12700">
            <a:solidFill>
              <a:srgbClr val="2C5F82"/>
            </a:solidFill>
            <a:prstDash val="solid"/>
          </a:ln>
        </p:spPr>
      </p:sp>
      <p:sp>
        <p:nvSpPr>
          <p:cNvPr id="23" name="Text 20"/>
          <p:cNvSpPr txBox="1"/>
          <p:nvPr/>
        </p:nvSpPr>
        <p:spPr>
          <a:xfrm>
            <a:off x="6245352"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…but the moat has cracks</a:t>
            </a:r>
            <a:endParaRPr lang="en-US" sz="1400" dirty="0"/>
          </a:p>
        </p:txBody>
      </p:sp>
      <p:graphicFrame>
        <p:nvGraphicFramePr>
          <p:cNvPr id="24" name="Chart 1" descr=""/>
          <p:cNvGraphicFramePr/>
          <p:nvPr/>
        </p:nvGraphicFramePr>
        <p:xfrm>
          <a:off x="6245352" y="1719072"/>
          <a:ext cx="5486400" cy="1828800"/>
        </p:xfrm>
        <a:graphic xmlns:a="http://schemas.openxmlformats.org/drawingml/2006/main">
          <a:graphicData uri="http://schemas.openxmlformats.org/drawingml/2006/chart">
            <c:chart xmlns:c="http://schemas.openxmlformats.org/drawingml/2006/chart" r:id="rId2"/>
          </a:graphicData>
        </a:graphic>
      </p:graphicFrame>
      <p:sp>
        <p:nvSpPr>
          <p:cNvPr id="25" name="Shape 21"/>
          <p:cNvSpPr/>
          <p:nvPr/>
        </p:nvSpPr>
        <p:spPr>
          <a:xfrm>
            <a:off x="6245352" y="3639312"/>
            <a:ext cx="5486400" cy="493776"/>
          </a:xfrm>
          <a:prstGeom prst="rect">
            <a:avLst/>
          </a:prstGeom>
          <a:solidFill>
            <a:srgbClr val="F2F2F2"/>
          </a:solidFill>
          <a:ln w="12700">
            <a:solidFill>
              <a:srgbClr val="F2F2F2"/>
            </a:solidFill>
            <a:prstDash val="solid"/>
          </a:ln>
        </p:spPr>
      </p:sp>
      <p:sp>
        <p:nvSpPr>
          <p:cNvPr id="26" name="Text 22"/>
          <p:cNvSpPr txBox="1"/>
          <p:nvPr/>
        </p:nvSpPr>
        <p:spPr>
          <a:xfrm>
            <a:off x="6336792" y="363931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10–11 days</a:t>
            </a:r>
            <a:endParaRPr lang="en-US" sz="1500" dirty="0"/>
          </a:p>
        </p:txBody>
      </p:sp>
      <p:sp>
        <p:nvSpPr>
          <p:cNvPr id="27" name="Text 23"/>
          <p:cNvSpPr txBox="1"/>
          <p:nvPr/>
        </p:nvSpPr>
        <p:spPr>
          <a:xfrm>
            <a:off x="8028432"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Taiwan's gas storage; LNG is 40% of its power and 90% of energy is imported: "the most blockade-sensitive advanced economy"</a:t>
            </a:r>
            <a:endParaRPr lang="en-US" sz="950" dirty="0"/>
          </a:p>
        </p:txBody>
      </p:sp>
      <p:sp>
        <p:nvSpPr>
          <p:cNvPr id="28" name="Shape 24"/>
          <p:cNvSpPr/>
          <p:nvPr/>
        </p:nvSpPr>
        <p:spPr>
          <a:xfrm>
            <a:off x="6245352" y="4187952"/>
            <a:ext cx="5486400" cy="493776"/>
          </a:xfrm>
          <a:prstGeom prst="rect">
            <a:avLst/>
          </a:prstGeom>
          <a:solidFill>
            <a:srgbClr val="FFFFFF"/>
          </a:solidFill>
          <a:ln w="12700">
            <a:solidFill>
              <a:srgbClr val="F2F2F2"/>
            </a:solidFill>
            <a:prstDash val="solid"/>
          </a:ln>
        </p:spPr>
      </p:sp>
      <p:sp>
        <p:nvSpPr>
          <p:cNvPr id="29" name="Text 25"/>
          <p:cNvSpPr txBox="1"/>
          <p:nvPr/>
        </p:nvSpPr>
        <p:spPr>
          <a:xfrm>
            <a:off x="6336792" y="418795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$1.3trn</a:t>
            </a:r>
            <a:endParaRPr lang="en-US" sz="1500" dirty="0"/>
          </a:p>
        </p:txBody>
      </p:sp>
      <p:sp>
        <p:nvSpPr>
          <p:cNvPr id="30" name="Text 26"/>
          <p:cNvSpPr txBox="1"/>
          <p:nvPr/>
        </p:nvSpPr>
        <p:spPr>
          <a:xfrm>
            <a:off x="8028432"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Hyperscaler capex + R&amp;D since 2022: risk of a "Metaverse moment" (Mag 7 fell 50% in 2022)</a:t>
            </a:r>
            <a:endParaRPr lang="en-US" sz="950" dirty="0"/>
          </a:p>
        </p:txBody>
      </p:sp>
      <p:sp>
        <p:nvSpPr>
          <p:cNvPr id="31" name="Shape 27"/>
          <p:cNvSpPr/>
          <p:nvPr/>
        </p:nvSpPr>
        <p:spPr>
          <a:xfrm>
            <a:off x="6245352" y="4736592"/>
            <a:ext cx="5486400" cy="493776"/>
          </a:xfrm>
          <a:prstGeom prst="rect">
            <a:avLst/>
          </a:prstGeom>
          <a:solidFill>
            <a:srgbClr val="F2F2F2"/>
          </a:solidFill>
          <a:ln w="12700">
            <a:solidFill>
              <a:srgbClr val="F2F2F2"/>
            </a:solidFill>
            <a:prstDash val="solid"/>
          </a:ln>
        </p:spPr>
      </p:sp>
      <p:sp>
        <p:nvSpPr>
          <p:cNvPr id="32" name="Text 28"/>
          <p:cNvSpPr txBox="1"/>
          <p:nvPr/>
        </p:nvSpPr>
        <p:spPr>
          <a:xfrm>
            <a:off x="6336792" y="473659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−10–15%</a:t>
            </a:r>
            <a:endParaRPr lang="en-US" sz="1500" dirty="0"/>
          </a:p>
        </p:txBody>
      </p:sp>
      <p:sp>
        <p:nvSpPr>
          <p:cNvPr id="33" name="Text 29"/>
          <p:cNvSpPr txBox="1"/>
          <p:nvPr/>
        </p:nvSpPr>
        <p:spPr>
          <a:xfrm>
            <a:off x="8028432"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JPM's base case: a correction at some point in 2026, then markets end the year higher</a:t>
            </a:r>
            <a:endParaRPr lang="en-US" sz="950" dirty="0"/>
          </a:p>
        </p:txBody>
      </p:sp>
      <p:sp>
        <p:nvSpPr>
          <p:cNvPr id="34" name="Text 30"/>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 J.P. Morgan Asset &amp; Wealth Management, Eye on the Market, 2026 Outlook "Smothering Heights" (M. Cembalest, 1 Jan 2026), pp. 1–2, 7, 33–35, 46; underlying data Bloomberg, USITC, BP, ROC Taiwan, Global Guardian. Reliance values read from JPM's chart (approximate).</a:t>
            </a:r>
            <a:endParaRPr lang="en-US" sz="800" dirty="0"/>
          </a:p>
        </p:txBody>
      </p:sp>
      <p:sp>
        <p:nvSpPr>
          <p:cNvPr id="35" name="Shape 31"/>
          <p:cNvSpPr/>
          <p:nvPr/>
        </p:nvSpPr>
        <p:spPr>
          <a:xfrm>
            <a:off x="457200" y="5650992"/>
            <a:ext cx="11274552" cy="502920"/>
          </a:xfrm>
          <a:prstGeom prst="rect">
            <a:avLst/>
          </a:prstGeom>
          <a:solidFill>
            <a:srgbClr val="2C5F82"/>
          </a:solidFill>
          <a:ln w="12700">
            <a:solidFill>
              <a:srgbClr val="2C5F82"/>
            </a:solidFill>
            <a:prstDash val="solid"/>
          </a:ln>
        </p:spPr>
      </p:sp>
      <p:sp>
        <p:nvSpPr>
          <p:cNvPr id="36" name="Text 32"/>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Same conclusion as ours: stay in the AI-hardware theme, but not unprotected. Our note keeps the upside path and removes the capital risk.</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Own the AI-hardware theme through a protected autocall</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why this theme needs protection</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concentrated and late-cycle path</a:t>
            </a:r>
            <a:endParaRPr lang="en-US" sz="1050" dirty="0"/>
          </a:p>
        </p:txBody>
      </p:sp>
      <p:graphicFrame>
        <p:nvGraphicFramePr>
          <p:cNvPr id="12" name="Chart 0" descr=""/>
          <p:cNvGraphicFramePr/>
          <p:nvPr/>
        </p:nvGraphicFramePr>
        <p:xfrm>
          <a:off x="457200" y="1783080"/>
          <a:ext cx="3429000" cy="1645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977640"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Growth is structural…</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Capex +77%, chip market +90% in 2026.</a:t>
            </a:r>
            <a:endParaRPr lang="en-US" sz="900" dirty="0"/>
          </a:p>
          <a:p>
            <a:pPr indent="0" marL="0">
              <a:spcAft>
                <a:spcPts val="200"/>
              </a:spcAft>
              <a:buNone/>
            </a:pPr>
            <a:r>
              <a:rPr lang="en-US" sz="900" b="1" dirty="0">
                <a:solidFill>
                  <a:srgbClr val="B23B3B"/>
                </a:solidFill>
                <a:latin typeface="Arial" pitchFamily="34" charset="0"/>
                <a:ea typeface="Arial" pitchFamily="34" charset="-122"/>
                <a:cs typeface="Arial" pitchFamily="34" charset="-120"/>
              </a:rPr>
              <a:t>…but the path is violent</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Down 10–25% in 2022, ~2–3× since. VKOSPI record 91.2 (9 Jun 2026, above 2008); KOSPI −8.95% in one day (13 Jul).</a:t>
            </a:r>
            <a:endParaRPr lang="en-US" sz="90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−25%</a:t>
            </a:r>
            <a:endParaRPr lang="en-US" sz="1800" dirty="0"/>
          </a:p>
        </p:txBody>
      </p:sp>
      <p:sp>
        <p:nvSpPr>
          <p:cNvPr id="18" name="Text 15"/>
          <p:cNvSpPr txBox="1"/>
          <p:nvPr/>
        </p:nvSpPr>
        <p:spPr>
          <a:xfrm>
            <a:off x="2148840" y="3520440"/>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Round trips happen fast</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KOSPI hit 9,000+ in June (~+110% YTD), then 6,789 on 28 Aug: about −25% in ten weeks. J.P. Morgan's 2026 base case includes a 10–15% correction.</a:t>
            </a:r>
            <a:endParaRPr lang="en-US" sz="93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&gt;40%</a:t>
            </a:r>
            <a:endParaRPr lang="en-US" sz="1800" dirty="0"/>
          </a:p>
        </p:txBody>
      </p:sp>
      <p:sp>
        <p:nvSpPr>
          <p:cNvPr id="23" name="Text 20"/>
          <p:cNvSpPr txBox="1"/>
          <p:nvPr/>
        </p:nvSpPr>
        <p:spPr>
          <a:xfrm>
            <a:off x="2148840" y="4306824"/>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Returns hinge on a few names</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TSMC is &gt;40% of the TAIEX, and ~92% of advanced chips are made in Taiwan, which J.P. Morgan calls the most blockade-sensitive advanced economy.</a:t>
            </a:r>
            <a:endParaRPr lang="en-US" sz="93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¥20trn</a:t>
            </a:r>
            <a:endParaRPr lang="en-US" sz="1800" dirty="0"/>
          </a:p>
        </p:txBody>
      </p:sp>
      <p:sp>
        <p:nvSpPr>
          <p:cNvPr id="28" name="Text 25"/>
          <p:cNvSpPr txBox="1"/>
          <p:nvPr/>
        </p:nvSpPr>
        <p:spPr>
          <a:xfrm>
            <a:off x="2148840" y="5093208"/>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Reforms support a recovery to 100%</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Record Japanese buybacks (~¥20trn FY2025 forecast) and Korea's Value-up programme help the basket get back to its start, which is all the coupon needs.</a:t>
            </a:r>
            <a:endParaRPr lang="en-US" sz="93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why an autocall with protection</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Rates are high and rising; volatility is at records. Both favour this structure</a:t>
            </a:r>
            <a:endParaRPr lang="en-US" sz="1050" dirty="0"/>
          </a:p>
        </p:txBody>
      </p:sp>
      <p:graphicFrame>
        <p:nvGraphicFramePr>
          <p:cNvPr id="32" name="Chart 1" descr=""/>
          <p:cNvGraphicFramePr/>
          <p:nvPr/>
        </p:nvGraphicFramePr>
        <p:xfrm>
          <a:off x="6245352" y="1783080"/>
          <a:ext cx="3429000" cy="1645920"/>
        </p:xfrm>
        <a:graphic xmlns:a="http://schemas.openxmlformats.org/drawingml/2006/main">
          <a:graphicData uri="http://schemas.openxmlformats.org/drawingml/2006/chart">
            <c:chart xmlns:c="http://schemas.openxmlformats.org/drawingml/2006/chart" r:id="rId2"/>
          </a:graphicData>
        </a:graphic>
      </p:graphicFrame>
      <p:sp>
        <p:nvSpPr>
          <p:cNvPr id="33" name="Text 29"/>
          <p:cNvSpPr txBox="1"/>
          <p:nvPr/>
        </p:nvSpPr>
        <p:spPr>
          <a:xfrm>
            <a:off x="9765792"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The Fed is hiking again</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16 Sep 2026: +0.25% to 3.75–4.00%, first hike since 2023; median dot 4.1% by year end.</a:t>
            </a:r>
            <a:endParaRPr lang="en-US" sz="900" dirty="0"/>
          </a:p>
          <a:p>
            <a:pPr indent="0" marL="0">
              <a:spcAft>
                <a:spcPts val="200"/>
              </a:spcAft>
              <a:buNone/>
            </a:pPr>
            <a:r>
              <a:rPr lang="en-US" sz="900" b="1" dirty="0">
                <a:solidFill>
                  <a:srgbClr val="2C5F82"/>
                </a:solidFill>
                <a:latin typeface="Arial" pitchFamily="34" charset="0"/>
                <a:ea typeface="Arial" pitchFamily="34" charset="-122"/>
                <a:cs typeface="Arial" pitchFamily="34" charset="-120"/>
              </a:rPr>
              <a:t>So: avoid long duration</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Our note carries ~29% of a 5Y bond's rate risk across ±2%.</a:t>
            </a:r>
            <a:endParaRPr lang="en-US" sz="900" dirty="0"/>
          </a:p>
        </p:txBody>
      </p:sp>
      <p:sp>
        <p:nvSpPr>
          <p:cNvPr id="34" name="Shape 30"/>
          <p:cNvSpPr/>
          <p:nvPr/>
        </p:nvSpPr>
        <p:spPr>
          <a:xfrm>
            <a:off x="6245352" y="3474720"/>
            <a:ext cx="5486400" cy="786384"/>
          </a:xfrm>
          <a:prstGeom prst="rect">
            <a:avLst/>
          </a:prstGeom>
          <a:solidFill>
            <a:srgbClr val="F2F2F2"/>
          </a:solidFill>
          <a:ln w="12700">
            <a:solidFill>
              <a:srgbClr val="F2F2F2"/>
            </a:solidFill>
            <a:prstDash val="solid"/>
          </a:ln>
        </p:spPr>
      </p:sp>
      <p:sp>
        <p:nvSpPr>
          <p:cNvPr id="35" name="Shape 31"/>
          <p:cNvSpPr/>
          <p:nvPr/>
        </p:nvSpPr>
        <p:spPr>
          <a:xfrm>
            <a:off x="6336792" y="3657600"/>
            <a:ext cx="384048" cy="384048"/>
          </a:xfrm>
          <a:prstGeom prst="ellipse">
            <a:avLst/>
          </a:prstGeom>
          <a:solidFill>
            <a:srgbClr val="FFFFFF"/>
          </a:solidFill>
          <a:ln w="15875">
            <a:solidFill>
              <a:srgbClr val="2C5F82"/>
            </a:solidFill>
            <a:prstDash val="solid"/>
          </a:ln>
        </p:spPr>
      </p:sp>
      <p:sp>
        <p:nvSpPr>
          <p:cNvPr id="36" name="Text 32"/>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7" name="Text 33"/>
          <p:cNvSpPr txBox="1"/>
          <p:nvPr/>
        </p:nvSpPr>
        <p:spPr>
          <a:xfrm>
            <a:off x="6812280" y="3474720"/>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75.8%</a:t>
            </a:r>
            <a:endParaRPr lang="en-US" sz="1800" dirty="0"/>
          </a:p>
        </p:txBody>
      </p:sp>
      <p:sp>
        <p:nvSpPr>
          <p:cNvPr id="38" name="Text 34"/>
          <p:cNvSpPr txBox="1"/>
          <p:nvPr/>
        </p:nvSpPr>
        <p:spPr>
          <a:xfrm>
            <a:off x="7936992" y="3520440"/>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High rates make protection cheap</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At 5.69% 5Y funding, USD 100 at year 5 costs USD 75.8 today; early calls lower it to 89.9% in our note.</a:t>
            </a:r>
            <a:endParaRPr lang="en-US" sz="930" dirty="0"/>
          </a:p>
        </p:txBody>
      </p:sp>
      <p:sp>
        <p:nvSpPr>
          <p:cNvPr id="39" name="Shape 35"/>
          <p:cNvSpPr/>
          <p:nvPr/>
        </p:nvSpPr>
        <p:spPr>
          <a:xfrm>
            <a:off x="6245352" y="4261104"/>
            <a:ext cx="5486400" cy="786384"/>
          </a:xfrm>
          <a:prstGeom prst="rect">
            <a:avLst/>
          </a:prstGeom>
          <a:solidFill>
            <a:srgbClr val="FFFFFF"/>
          </a:solidFill>
          <a:ln w="12700">
            <a:solidFill>
              <a:srgbClr val="F2F2F2"/>
            </a:solidFill>
            <a:prstDash val="solid"/>
          </a:ln>
        </p:spPr>
      </p:sp>
      <p:sp>
        <p:nvSpPr>
          <p:cNvPr id="40" name="Shape 36"/>
          <p:cNvSpPr/>
          <p:nvPr/>
        </p:nvSpPr>
        <p:spPr>
          <a:xfrm>
            <a:off x="6336792" y="4443984"/>
            <a:ext cx="384048" cy="384048"/>
          </a:xfrm>
          <a:prstGeom prst="ellipse">
            <a:avLst/>
          </a:prstGeom>
          <a:solidFill>
            <a:srgbClr val="FFFFFF"/>
          </a:solidFill>
          <a:ln w="15875">
            <a:solidFill>
              <a:srgbClr val="2C5F82"/>
            </a:solidFill>
            <a:prstDash val="solid"/>
          </a:ln>
        </p:spPr>
      </p:sp>
      <p:sp>
        <p:nvSpPr>
          <p:cNvPr id="41" name="Text 37"/>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2" name="Text 38"/>
          <p:cNvSpPr txBox="1"/>
          <p:nvPr/>
        </p:nvSpPr>
        <p:spPr>
          <a:xfrm>
            <a:off x="6812280"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8.1%</a:t>
            </a:r>
            <a:endParaRPr lang="en-US" sz="1800" dirty="0"/>
          </a:p>
        </p:txBody>
      </p:sp>
      <p:sp>
        <p:nvSpPr>
          <p:cNvPr id="43" name="Text 39"/>
          <p:cNvSpPr txBox="1"/>
          <p:nvPr/>
        </p:nvSpPr>
        <p:spPr>
          <a:xfrm>
            <a:off x="7936992" y="4306824"/>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Rising rates pay off at the roll</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51% of notes are called at year 1. If rates are 1% higher by then, a new note would pay ~8.1%.</a:t>
            </a:r>
            <a:endParaRPr lang="en-US" sz="930" dirty="0"/>
          </a:p>
        </p:txBody>
      </p:sp>
      <p:sp>
        <p:nvSpPr>
          <p:cNvPr id="44" name="Shape 40"/>
          <p:cNvSpPr/>
          <p:nvPr/>
        </p:nvSpPr>
        <p:spPr>
          <a:xfrm>
            <a:off x="6245352" y="5047488"/>
            <a:ext cx="5486400" cy="786384"/>
          </a:xfrm>
          <a:prstGeom prst="rect">
            <a:avLst/>
          </a:prstGeom>
          <a:solidFill>
            <a:srgbClr val="F2F2F2"/>
          </a:solidFill>
          <a:ln w="12700">
            <a:solidFill>
              <a:srgbClr val="F2F2F2"/>
            </a:solidFill>
            <a:prstDash val="solid"/>
          </a:ln>
        </p:spPr>
      </p:sp>
      <p:sp>
        <p:nvSpPr>
          <p:cNvPr id="45" name="Shape 41"/>
          <p:cNvSpPr/>
          <p:nvPr/>
        </p:nvSpPr>
        <p:spPr>
          <a:xfrm>
            <a:off x="6336792" y="5230368"/>
            <a:ext cx="384048" cy="384048"/>
          </a:xfrm>
          <a:prstGeom prst="ellipse">
            <a:avLst/>
          </a:prstGeom>
          <a:solidFill>
            <a:srgbClr val="FFFFFF"/>
          </a:solidFill>
          <a:ln w="15875">
            <a:solidFill>
              <a:srgbClr val="2C5F82"/>
            </a:solidFill>
            <a:prstDash val="solid"/>
          </a:ln>
        </p:spPr>
      </p:sp>
      <p:sp>
        <p:nvSpPr>
          <p:cNvPr id="46" name="Text 42"/>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7" name="Text 43"/>
          <p:cNvSpPr txBox="1"/>
          <p:nvPr/>
        </p:nvSpPr>
        <p:spPr>
          <a:xfrm>
            <a:off x="6812280"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7.7%</a:t>
            </a:r>
            <a:endParaRPr lang="en-US" sz="1800" dirty="0"/>
          </a:p>
        </p:txBody>
      </p:sp>
      <p:sp>
        <p:nvSpPr>
          <p:cNvPr id="48" name="Text 44"/>
          <p:cNvSpPr txBox="1"/>
          <p:nvPr/>
        </p:nvSpPr>
        <p:spPr>
          <a:xfrm>
            <a:off x="7936992" y="5093208"/>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Record volatility funds the coupon</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Fair coupon 7.2% at our vol inputs, 7.7% with 5pts more vol. 2026's record vols make our 6.75% conservative.</a:t>
            </a:r>
            <a:endParaRPr lang="en-US" sz="930" dirty="0"/>
          </a:p>
        </p:txBody>
      </p:sp>
      <p:sp>
        <p:nvSpPr>
          <p:cNvPr id="49" name="Text 45"/>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Herald / SBS / FN News (VKOSPI); FN News and Shinhan (KOSPI 28 Aug); TWSE, Korea Times, Bloomberg/BNN (2022); Trading Economics, Nikkei Asia (weights); Siblis (valuations); J.P. Morgan 2026 Outlook; Asset Management One (buybacks); Federal Reserve via Advisor Perspectives (16 Sep 2026); case funding grid; team Monte Carlo.</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a protected autocall fits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60120"/>
            <a:ext cx="11247120" cy="274320"/>
          </a:xfrm>
          <a:prstGeom prst="rect">
            <a:avLst/>
          </a:prstGeom>
          <a:noFill/>
          <a:ln/>
        </p:spPr>
        <p:txBody>
          <a:bodyPr wrap="square" lIns="0" tIns="0" rIns="0" bIns="0" rtlCol="0" anchor="t"/>
          <a:lstStyle/>
          <a:p>
            <a:pPr indent="0" marL="0">
              <a:buNone/>
            </a:pPr>
            <a:r>
              <a:rPr lang="en-US" sz="1150" b="1" i="1" dirty="0">
                <a:solidFill>
                  <a:srgbClr val="262626"/>
                </a:solidFill>
                <a:latin typeface="Arial" pitchFamily="34" charset="0"/>
                <a:ea typeface="Arial" pitchFamily="34" charset="-122"/>
                <a:cs typeface="Arial" pitchFamily="34" charset="-120"/>
              </a:rPr>
              <a:t>Rising rates, record volatility and a late-cycle chip boom: the conditions where an autocall beats bonds, stocks and plain protected notes</a:t>
            </a:r>
            <a:endParaRPr lang="en-US" sz="1150" dirty="0"/>
          </a:p>
        </p:txBody>
      </p:sp>
      <p:sp>
        <p:nvSpPr>
          <p:cNvPr id="10" name="Shape 8"/>
          <p:cNvSpPr/>
          <p:nvPr/>
        </p:nvSpPr>
        <p:spPr>
          <a:xfrm>
            <a:off x="457200" y="1325880"/>
            <a:ext cx="3730752" cy="292608"/>
          </a:xfrm>
          <a:prstGeom prst="rect">
            <a:avLst/>
          </a:prstGeom>
          <a:solidFill>
            <a:srgbClr val="2C5F82"/>
          </a:solidFill>
          <a:ln w="12700">
            <a:solidFill>
              <a:srgbClr val="2C5F82"/>
            </a:solidFill>
            <a:prstDash val="solid"/>
          </a:ln>
        </p:spPr>
      </p:sp>
      <p:sp>
        <p:nvSpPr>
          <p:cNvPr id="11" name="Text 9"/>
          <p:cNvSpPr txBox="1"/>
          <p:nvPr/>
        </p:nvSpPr>
        <p:spPr>
          <a:xfrm>
            <a:off x="457200"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Rates are rising: bonds carry the duration risk</a:t>
            </a:r>
            <a:endParaRPr lang="en-US" sz="1050" dirty="0"/>
          </a:p>
        </p:txBody>
      </p:sp>
      <p:graphicFrame>
        <p:nvGraphicFramePr>
          <p:cNvPr id="12" name="Chart 0" descr=""/>
          <p:cNvGraphicFramePr/>
          <p:nvPr/>
        </p:nvGraphicFramePr>
        <p:xfrm>
          <a:off x="457200" y="1655064"/>
          <a:ext cx="3730752" cy="1261872"/>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Hikes 2022–23, cuts 2024–25, hike again on 16 Sep 2026 (median dot 4.1%). If rates rise 1%, a 5Y bond loses 4.0%, our note 1.2%.</a:t>
            </a:r>
            <a:endParaRPr lang="en-US" sz="850" dirty="0"/>
          </a:p>
        </p:txBody>
      </p:sp>
      <p:sp>
        <p:nvSpPr>
          <p:cNvPr id="14" name="Shape 11"/>
          <p:cNvSpPr/>
          <p:nvPr/>
        </p:nvSpPr>
        <p:spPr>
          <a:xfrm>
            <a:off x="4370832" y="1325880"/>
            <a:ext cx="3730752" cy="292608"/>
          </a:xfrm>
          <a:prstGeom prst="rect">
            <a:avLst/>
          </a:prstGeom>
          <a:solidFill>
            <a:srgbClr val="2C5F82"/>
          </a:solidFill>
          <a:ln w="12700">
            <a:solidFill>
              <a:srgbClr val="2C5F82"/>
            </a:solidFill>
            <a:prstDash val="solid"/>
          </a:ln>
        </p:spPr>
      </p:sp>
      <p:sp>
        <p:nvSpPr>
          <p:cNvPr id="15" name="Text 12"/>
          <p:cNvSpPr txBox="1"/>
          <p:nvPr/>
        </p:nvSpPr>
        <p:spPr>
          <a:xfrm>
            <a:off x="4370832"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A violent path: protection is needed</a:t>
            </a:r>
            <a:endParaRPr lang="en-US" sz="1050" dirty="0"/>
          </a:p>
        </p:txBody>
      </p:sp>
      <p:graphicFrame>
        <p:nvGraphicFramePr>
          <p:cNvPr id="16" name="Chart 1" descr=""/>
          <p:cNvGraphicFramePr/>
          <p:nvPr/>
        </p:nvGraphicFramePr>
        <p:xfrm>
          <a:off x="4370832" y="1655064"/>
          <a:ext cx="3730752" cy="1261872"/>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4370832"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Index levels, end-2021 = 100: −10–25% in 2022, then 2–3×. VKOSPI closed at a record 91.2 (Jun 2026); KOSPI fell ~25% by late August.</a:t>
            </a:r>
            <a:endParaRPr lang="en-US" sz="850" dirty="0"/>
          </a:p>
        </p:txBody>
      </p:sp>
      <p:sp>
        <p:nvSpPr>
          <p:cNvPr id="18" name="Shape 14"/>
          <p:cNvSpPr/>
          <p:nvPr/>
        </p:nvSpPr>
        <p:spPr>
          <a:xfrm>
            <a:off x="457200" y="3383280"/>
            <a:ext cx="3730752" cy="292608"/>
          </a:xfrm>
          <a:prstGeom prst="rect">
            <a:avLst/>
          </a:prstGeom>
          <a:solidFill>
            <a:srgbClr val="2C5F82"/>
          </a:solidFill>
          <a:ln w="12700">
            <a:solidFill>
              <a:srgbClr val="2C5F82"/>
            </a:solidFill>
            <a:prstDash val="solid"/>
          </a:ln>
        </p:spPr>
      </p:sp>
      <p:sp>
        <p:nvSpPr>
          <p:cNvPr id="19" name="Text 15"/>
          <p:cNvSpPr txBox="1"/>
          <p:nvPr/>
        </p:nvSpPr>
        <p:spPr>
          <a:xfrm>
            <a:off x="457200"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The autocall wins in most markets</a:t>
            </a:r>
            <a:endParaRPr lang="en-US" sz="1050" dirty="0"/>
          </a:p>
        </p:txBody>
      </p:sp>
      <p:graphicFrame>
        <p:nvGraphicFramePr>
          <p:cNvPr id="20" name="Chart 2" descr=""/>
          <p:cNvGraphicFramePr/>
          <p:nvPr/>
        </p:nvGraphicFramePr>
        <p:xfrm>
          <a:off x="457200" y="3712464"/>
          <a:ext cx="3730752" cy="1261872"/>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457200"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Mean return % p.a. by type of 5-year market (team simulation, equities +4% p.a.). Ties the stocks in moderate markets, beats them in bear and flat ones.</a:t>
            </a:r>
            <a:endParaRPr lang="en-US" sz="850" dirty="0"/>
          </a:p>
        </p:txBody>
      </p:sp>
      <p:sp>
        <p:nvSpPr>
          <p:cNvPr id="22" name="Shape 17"/>
          <p:cNvSpPr/>
          <p:nvPr/>
        </p:nvSpPr>
        <p:spPr>
          <a:xfrm>
            <a:off x="4370832" y="3383280"/>
            <a:ext cx="3730752" cy="292608"/>
          </a:xfrm>
          <a:prstGeom prst="rect">
            <a:avLst/>
          </a:prstGeom>
          <a:solidFill>
            <a:srgbClr val="2C5F82"/>
          </a:solidFill>
          <a:ln w="12700">
            <a:solidFill>
              <a:srgbClr val="2C5F82"/>
            </a:solidFill>
            <a:prstDash val="solid"/>
          </a:ln>
        </p:spPr>
      </p:sp>
      <p:sp>
        <p:nvSpPr>
          <p:cNvPr id="23" name="Text 18"/>
          <p:cNvSpPr txBox="1"/>
          <p:nvPr/>
        </p:nvSpPr>
        <p:spPr>
          <a:xfrm>
            <a:off x="4370832"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Beats the bond in about 4 of 5 outcomes</a:t>
            </a:r>
            <a:endParaRPr lang="en-US" sz="1050" dirty="0"/>
          </a:p>
        </p:txBody>
      </p:sp>
      <p:graphicFrame>
        <p:nvGraphicFramePr>
          <p:cNvPr id="24" name="Chart 3" descr=""/>
          <p:cNvGraphicFramePr/>
          <p:nvPr/>
        </p:nvGraphicFramePr>
        <p:xfrm>
          <a:off x="4370832" y="3712464"/>
          <a:ext cx="2313066" cy="1261872"/>
        </p:xfrm>
        <a:graphic xmlns:a="http://schemas.openxmlformats.org/drawingml/2006/main">
          <a:graphicData uri="http://schemas.openxmlformats.org/drawingml/2006/chart">
            <c:chart xmlns:c="http://schemas.openxmlformats.org/drawingml/2006/chart" r:id="rId4"/>
          </a:graphicData>
        </a:graphic>
      </p:graphicFrame>
      <p:sp>
        <p:nvSpPr>
          <p:cNvPr id="25" name="Text 19"/>
          <p:cNvSpPr txBox="1"/>
          <p:nvPr/>
        </p:nvSpPr>
        <p:spPr>
          <a:xfrm>
            <a:off x="6758513" y="3730752"/>
            <a:ext cx="1343071" cy="1261872"/>
          </a:xfrm>
          <a:prstGeom prst="rect">
            <a:avLst/>
          </a:prstGeom>
          <a:noFill/>
          <a:ln/>
        </p:spPr>
        <p:txBody>
          <a:bodyPr wrap="square" lIns="0" tIns="0" rIns="0" bIns="0" rtlCol="0" anchor="t"/>
          <a:lstStyle/>
          <a:p>
            <a:pPr indent="0" marL="0">
              <a:buNone/>
            </a:pPr>
            <a:r>
              <a:rPr lang="en-US" sz="2200" b="1" dirty="0">
                <a:solidFill>
                  <a:srgbClr val="2C5F82"/>
                </a:solidFill>
                <a:latin typeface="Arial" pitchFamily="34" charset="0"/>
                <a:ea typeface="Arial" pitchFamily="34" charset="-122"/>
                <a:cs typeface="Arial" pitchFamily="34" charset="-120"/>
              </a:rPr>
              <a:t>79%</a:t>
            </a:r>
            <a:endParaRPr lang="en-US" sz="1200" dirty="0"/>
          </a:p>
          <a:p>
            <a:pPr indent="0" marL="0">
              <a:buNone/>
            </a:pPr>
            <a:r>
              <a:rPr lang="en-US" sz="850" dirty="0">
                <a:solidFill>
                  <a:srgbClr val="595959"/>
                </a:solidFill>
                <a:latin typeface="Arial" pitchFamily="34" charset="0"/>
                <a:ea typeface="Arial" pitchFamily="34" charset="-122"/>
                <a:cs typeface="Arial" pitchFamily="34" charset="-120"/>
              </a:rPr>
              <a:t>of paths beat the 5.69% bond at +4% equity a year</a:t>
            </a:r>
            <a:endParaRPr lang="en-US" sz="1200" dirty="0"/>
          </a:p>
          <a:p>
            <a:pPr indent="0" marL="0">
              <a:buNone/>
            </a:pPr>
            <a:r>
              <a:rPr lang="en-US" sz="1800" b="1" dirty="0">
                <a:solidFill>
                  <a:srgbClr val="2C5F82"/>
                </a:solidFill>
                <a:latin typeface="Arial" pitchFamily="34" charset="0"/>
                <a:ea typeface="Arial" pitchFamily="34" charset="-122"/>
                <a:cs typeface="Arial" pitchFamily="34" charset="-120"/>
              </a:rPr>
              <a:t>~6%</a:t>
            </a:r>
            <a:endParaRPr lang="en-US" sz="1200" dirty="0"/>
          </a:p>
          <a:p>
            <a:pPr indent="0" marL="0">
              <a:buNone/>
            </a:pPr>
            <a:r>
              <a:rPr lang="en-US" sz="850" dirty="0">
                <a:solidFill>
                  <a:srgbClr val="595959"/>
                </a:solidFill>
                <a:latin typeface="Arial" pitchFamily="34" charset="0"/>
                <a:ea typeface="Arial" pitchFamily="34" charset="-122"/>
                <a:cs typeface="Arial" pitchFamily="34" charset="-120"/>
              </a:rPr>
              <a:t>equity return at which the average also matches the bond</a:t>
            </a:r>
            <a:endParaRPr lang="en-US" sz="1200" dirty="0"/>
          </a:p>
        </p:txBody>
      </p:sp>
      <p:sp>
        <p:nvSpPr>
          <p:cNvPr id="26" name="Text 20"/>
          <p:cNvSpPr txBox="1"/>
          <p:nvPr/>
        </p:nvSpPr>
        <p:spPr>
          <a:xfrm>
            <a:off x="4370832"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x-axis: average annual equity return. The note beats the bond in every path where it is called; the bond wins only if the basket never recovers.</a:t>
            </a:r>
            <a:endParaRPr lang="en-US" sz="850" dirty="0"/>
          </a:p>
        </p:txBody>
      </p:sp>
      <p:sp>
        <p:nvSpPr>
          <p:cNvPr id="27" name="Text 21"/>
          <p:cNvSpPr txBox="1"/>
          <p:nvPr/>
        </p:nvSpPr>
        <p:spPr>
          <a:xfrm>
            <a:off x="8211312" y="1280160"/>
            <a:ext cx="3520440" cy="320040"/>
          </a:xfrm>
          <a:prstGeom prst="rect">
            <a:avLst/>
          </a:prstGeom>
          <a:noFill/>
          <a:ln/>
        </p:spPr>
        <p:txBody>
          <a:bodyPr wrap="square" lIns="0" tIns="0" rIns="0" bIns="0" rtlCol="0" anchor="t"/>
          <a:lstStyle/>
          <a:p>
            <a:pPr algn="ctr" indent="0" marL="0">
              <a:buNone/>
            </a:pPr>
            <a:r>
              <a:rPr lang="en-US" sz="1500" b="1" dirty="0">
                <a:solidFill>
                  <a:srgbClr val="262626"/>
                </a:solidFill>
                <a:latin typeface="Arial" pitchFamily="34" charset="0"/>
                <a:ea typeface="Arial" pitchFamily="34" charset="-122"/>
                <a:cs typeface="Arial" pitchFamily="34" charset="-120"/>
              </a:rPr>
              <a:t>Implications</a:t>
            </a:r>
            <a:endParaRPr lang="en-US" sz="1500" dirty="0"/>
          </a:p>
        </p:txBody>
      </p:sp>
      <p:sp>
        <p:nvSpPr>
          <p:cNvPr id="28" name="Shape 22"/>
          <p:cNvSpPr/>
          <p:nvPr/>
        </p:nvSpPr>
        <p:spPr>
          <a:xfrm>
            <a:off x="8485632" y="1627632"/>
            <a:ext cx="2971800" cy="0"/>
          </a:xfrm>
          <a:prstGeom prst="line">
            <a:avLst/>
          </a:prstGeom>
          <a:noFill/>
          <a:ln w="9525">
            <a:solidFill>
              <a:srgbClr val="2C5F82"/>
            </a:solidFill>
            <a:prstDash val="solid"/>
          </a:ln>
        </p:spPr>
      </p:sp>
      <p:sp>
        <p:nvSpPr>
          <p:cNvPr id="29" name="Shape 23"/>
          <p:cNvSpPr/>
          <p:nvPr/>
        </p:nvSpPr>
        <p:spPr>
          <a:xfrm>
            <a:off x="8211312" y="1719072"/>
            <a:ext cx="3520440" cy="658368"/>
          </a:xfrm>
          <a:prstGeom prst="rect">
            <a:avLst/>
          </a:prstGeom>
          <a:solidFill>
            <a:srgbClr val="FFFFFF"/>
          </a:solidFill>
          <a:ln w="12700">
            <a:solidFill>
              <a:srgbClr val="2C5F82"/>
            </a:solidFill>
            <a:prstDash val="solid"/>
          </a:ln>
        </p:spPr>
      </p:sp>
      <p:sp>
        <p:nvSpPr>
          <p:cNvPr id="30" name="Text 24"/>
          <p:cNvSpPr txBox="1"/>
          <p:nvPr/>
        </p:nvSpPr>
        <p:spPr>
          <a:xfrm>
            <a:off x="8257032" y="171907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1</a:t>
            </a:r>
            <a:endParaRPr lang="en-US" sz="2200" dirty="0"/>
          </a:p>
        </p:txBody>
      </p:sp>
      <p:sp>
        <p:nvSpPr>
          <p:cNvPr id="31" name="Text 25"/>
          <p:cNvSpPr txBox="1"/>
          <p:nvPr/>
        </p:nvSpPr>
        <p:spPr>
          <a:xfrm>
            <a:off x="8714232" y="174650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Low rate risk: </a:t>
            </a:r>
            <a:pPr indent="0" marL="0">
              <a:buNone/>
            </a:pPr>
            <a:r>
              <a:rPr lang="en-US" sz="900" dirty="0">
                <a:solidFill>
                  <a:srgbClr val="595959"/>
                </a:solidFill>
                <a:latin typeface="Arial" pitchFamily="34" charset="0"/>
                <a:ea typeface="Arial" pitchFamily="34" charset="-122"/>
                <a:cs typeface="Arial" pitchFamily="34" charset="-120"/>
              </a:rPr>
              <a:t>Loses 1.2% if rates rise 1%, vs 4.0% for a 5Y bond</a:t>
            </a:r>
            <a:endParaRPr lang="en-US" sz="900" dirty="0"/>
          </a:p>
        </p:txBody>
      </p:sp>
      <p:sp>
        <p:nvSpPr>
          <p:cNvPr id="32" name="Shape 26"/>
          <p:cNvSpPr/>
          <p:nvPr/>
        </p:nvSpPr>
        <p:spPr>
          <a:xfrm>
            <a:off x="8211312" y="2450592"/>
            <a:ext cx="3520440" cy="658368"/>
          </a:xfrm>
          <a:prstGeom prst="rect">
            <a:avLst/>
          </a:prstGeom>
          <a:solidFill>
            <a:srgbClr val="FFFFFF"/>
          </a:solidFill>
          <a:ln w="12700">
            <a:solidFill>
              <a:srgbClr val="2C5F82"/>
            </a:solidFill>
            <a:prstDash val="solid"/>
          </a:ln>
        </p:spPr>
      </p:sp>
      <p:sp>
        <p:nvSpPr>
          <p:cNvPr id="33" name="Text 27"/>
          <p:cNvSpPr txBox="1"/>
          <p:nvPr/>
        </p:nvSpPr>
        <p:spPr>
          <a:xfrm>
            <a:off x="8257032" y="245059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2</a:t>
            </a:r>
            <a:endParaRPr lang="en-US" sz="2200" dirty="0"/>
          </a:p>
        </p:txBody>
      </p:sp>
      <p:sp>
        <p:nvSpPr>
          <p:cNvPr id="34" name="Text 28"/>
          <p:cNvSpPr txBox="1"/>
          <p:nvPr/>
        </p:nvSpPr>
        <p:spPr>
          <a:xfrm>
            <a:off x="8714232" y="247802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Rising rates help at the roll: </a:t>
            </a:r>
            <a:pPr indent="0" marL="0">
              <a:buNone/>
            </a:pPr>
            <a:r>
              <a:rPr lang="en-US" sz="900" dirty="0">
                <a:solidFill>
                  <a:srgbClr val="595959"/>
                </a:solidFill>
                <a:latin typeface="Arial" pitchFamily="34" charset="0"/>
                <a:ea typeface="Arial" pitchFamily="34" charset="-122"/>
                <a:cs typeface="Arial" pitchFamily="34" charset="-120"/>
              </a:rPr>
              <a:t>51% called at year 1; a new note would then pay ~8.1% if rates are 1% higher</a:t>
            </a:r>
            <a:endParaRPr lang="en-US" sz="900" dirty="0"/>
          </a:p>
        </p:txBody>
      </p:sp>
      <p:sp>
        <p:nvSpPr>
          <p:cNvPr id="35" name="Shape 29"/>
          <p:cNvSpPr/>
          <p:nvPr/>
        </p:nvSpPr>
        <p:spPr>
          <a:xfrm>
            <a:off x="8211312" y="3182112"/>
            <a:ext cx="3520440" cy="658368"/>
          </a:xfrm>
          <a:prstGeom prst="rect">
            <a:avLst/>
          </a:prstGeom>
          <a:solidFill>
            <a:srgbClr val="FFFFFF"/>
          </a:solidFill>
          <a:ln w="12700">
            <a:solidFill>
              <a:srgbClr val="2C5F82"/>
            </a:solidFill>
            <a:prstDash val="solid"/>
          </a:ln>
        </p:spPr>
      </p:sp>
      <p:sp>
        <p:nvSpPr>
          <p:cNvPr id="36" name="Text 30"/>
          <p:cNvSpPr txBox="1"/>
          <p:nvPr/>
        </p:nvSpPr>
        <p:spPr>
          <a:xfrm>
            <a:off x="8257032" y="318211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3</a:t>
            </a:r>
            <a:endParaRPr lang="en-US" sz="2200" dirty="0"/>
          </a:p>
        </p:txBody>
      </p:sp>
      <p:sp>
        <p:nvSpPr>
          <p:cNvPr id="37" name="Text 31"/>
          <p:cNvSpPr txBox="1"/>
          <p:nvPr/>
        </p:nvSpPr>
        <p:spPr>
          <a:xfrm>
            <a:off x="8714232" y="320954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Volatility becomes income: </a:t>
            </a:r>
            <a:pPr indent="0" marL="0">
              <a:buNone/>
            </a:pPr>
            <a:r>
              <a:rPr lang="en-US" sz="900" dirty="0">
                <a:solidFill>
                  <a:srgbClr val="595959"/>
                </a:solidFill>
                <a:latin typeface="Arial" pitchFamily="34" charset="0"/>
                <a:ea typeface="Arial" pitchFamily="34" charset="-122"/>
                <a:cs typeface="Arial" pitchFamily="34" charset="-120"/>
              </a:rPr>
              <a:t>Fair coupon 7.2%, 7.7% with 5pts more vol: our 6.75% is conservative</a:t>
            </a:r>
            <a:endParaRPr lang="en-US" sz="900" dirty="0"/>
          </a:p>
        </p:txBody>
      </p:sp>
      <p:sp>
        <p:nvSpPr>
          <p:cNvPr id="38" name="Shape 32"/>
          <p:cNvSpPr/>
          <p:nvPr/>
        </p:nvSpPr>
        <p:spPr>
          <a:xfrm>
            <a:off x="8211312" y="3913632"/>
            <a:ext cx="3520440" cy="658368"/>
          </a:xfrm>
          <a:prstGeom prst="rect">
            <a:avLst/>
          </a:prstGeom>
          <a:solidFill>
            <a:srgbClr val="FFFFFF"/>
          </a:solidFill>
          <a:ln w="12700">
            <a:solidFill>
              <a:srgbClr val="2C5F82"/>
            </a:solidFill>
            <a:prstDash val="solid"/>
          </a:ln>
        </p:spPr>
      </p:sp>
      <p:sp>
        <p:nvSpPr>
          <p:cNvPr id="39" name="Text 33"/>
          <p:cNvSpPr txBox="1"/>
          <p:nvPr/>
        </p:nvSpPr>
        <p:spPr>
          <a:xfrm>
            <a:off x="8257032" y="391363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4</a:t>
            </a:r>
            <a:endParaRPr lang="en-US" sz="2200" dirty="0"/>
          </a:p>
        </p:txBody>
      </p:sp>
      <p:sp>
        <p:nvSpPr>
          <p:cNvPr id="40" name="Text 34"/>
          <p:cNvSpPr txBox="1"/>
          <p:nvPr/>
        </p:nvSpPr>
        <p:spPr>
          <a:xfrm>
            <a:off x="8714232" y="394106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Pays without a rally: </a:t>
            </a:r>
            <a:pPr indent="0" marL="0">
              <a:buNone/>
            </a:pPr>
            <a:r>
              <a:rPr lang="en-US" sz="900" dirty="0">
                <a:solidFill>
                  <a:srgbClr val="595959"/>
                </a:solidFill>
                <a:latin typeface="Arial" pitchFamily="34" charset="0"/>
                <a:ea typeface="Arial" pitchFamily="34" charset="-122"/>
                <a:cs typeface="Arial" pitchFamily="34" charset="-120"/>
              </a:rPr>
              <a:t>6.2% p.a. vs 2.0% for the stocks when the basket goes sideways</a:t>
            </a:r>
            <a:endParaRPr lang="en-US" sz="900" dirty="0"/>
          </a:p>
        </p:txBody>
      </p:sp>
      <p:sp>
        <p:nvSpPr>
          <p:cNvPr id="41" name="Shape 35"/>
          <p:cNvSpPr/>
          <p:nvPr/>
        </p:nvSpPr>
        <p:spPr>
          <a:xfrm>
            <a:off x="8211312" y="4645152"/>
            <a:ext cx="3520440" cy="658368"/>
          </a:xfrm>
          <a:prstGeom prst="rect">
            <a:avLst/>
          </a:prstGeom>
          <a:solidFill>
            <a:srgbClr val="FFFFFF"/>
          </a:solidFill>
          <a:ln w="12700">
            <a:solidFill>
              <a:srgbClr val="2C5F82"/>
            </a:solidFill>
            <a:prstDash val="solid"/>
          </a:ln>
        </p:spPr>
      </p:sp>
      <p:sp>
        <p:nvSpPr>
          <p:cNvPr id="42" name="Text 36"/>
          <p:cNvSpPr txBox="1"/>
          <p:nvPr/>
        </p:nvSpPr>
        <p:spPr>
          <a:xfrm>
            <a:off x="8257032" y="464515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5</a:t>
            </a:r>
            <a:endParaRPr lang="en-US" sz="2200" dirty="0"/>
          </a:p>
        </p:txBody>
      </p:sp>
      <p:sp>
        <p:nvSpPr>
          <p:cNvPr id="43" name="Text 37"/>
          <p:cNvSpPr txBox="1"/>
          <p:nvPr/>
        </p:nvSpPr>
        <p:spPr>
          <a:xfrm>
            <a:off x="8714232" y="467258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Proven in Asia: </a:t>
            </a:r>
            <a:pPr indent="0" marL="0">
              <a:buNone/>
            </a:pPr>
            <a:r>
              <a:rPr lang="en-US" sz="900" dirty="0">
                <a:solidFill>
                  <a:srgbClr val="595959"/>
                </a:solidFill>
                <a:latin typeface="Arial" pitchFamily="34" charset="0"/>
                <a:ea typeface="Arial" pitchFamily="34" charset="-122"/>
                <a:cs typeface="Arial" pitchFamily="34" charset="-120"/>
              </a:rPr>
              <a:t>Taiwan structured-note issuance +81% in 2025; snowball autocalls the favourite payoff (SRP)</a:t>
            </a:r>
            <a:endParaRPr lang="en-US" sz="900" dirty="0"/>
          </a:p>
        </p:txBody>
      </p:sp>
      <p:sp>
        <p:nvSpPr>
          <p:cNvPr id="44" name="Shape 38"/>
          <p:cNvSpPr/>
          <p:nvPr/>
        </p:nvSpPr>
        <p:spPr>
          <a:xfrm>
            <a:off x="457200" y="5486400"/>
            <a:ext cx="11274552" cy="438912"/>
          </a:xfrm>
          <a:prstGeom prst="rect">
            <a:avLst/>
          </a:prstGeom>
          <a:solidFill>
            <a:srgbClr val="2C5F82"/>
          </a:solidFill>
          <a:ln w="12700">
            <a:solidFill>
              <a:srgbClr val="2C5F82"/>
            </a:solidFill>
            <a:prstDash val="solid"/>
          </a:ln>
        </p:spPr>
      </p:sp>
      <p:sp>
        <p:nvSpPr>
          <p:cNvPr id="45" name="Text 39"/>
          <p:cNvSpPr txBox="1"/>
          <p:nvPr/>
        </p:nvSpPr>
        <p:spPr>
          <a:xfrm>
            <a:off x="594360" y="5486400"/>
            <a:ext cx="11000232" cy="43891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Result: 6.75% a year whenever the basket is back at its start, 100% of capital at maturity, a third of a bond's rate risk.</a:t>
            </a:r>
            <a:endParaRPr lang="en-US" sz="1250" dirty="0"/>
          </a:p>
        </p:txBody>
      </p:sp>
      <p:sp>
        <p:nvSpPr>
          <p:cNvPr id="46" name="Text 40"/>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Federal Reserve via Advisor Perspectives (16 Sep 2026); Herald / SBS (VKOSPI); FN News / Shinhan (KOSPI); StructuredRetailProducts.com; team Monte Carlo (scenario2_thesis_numbers.py, scenario2_vs_traditional.py).</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Thesis 2 evidence: the protected autocall beats the usual ways to own this theme</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Shape 4"/>
          <p:cNvSpPr/>
          <p:nvPr/>
        </p:nvSpPr>
        <p:spPr>
          <a:xfrm>
            <a:off x="4837176" y="6364224"/>
            <a:ext cx="2514600" cy="45720"/>
          </a:xfrm>
          <a:prstGeom prst="rect">
            <a:avLst/>
          </a:prstGeom>
          <a:solidFill>
            <a:srgbClr val="2C5F82"/>
          </a:solidFill>
          <a:ln w="12700">
            <a:solidFill>
              <a:srgbClr val="2C5F82"/>
            </a:solidFill>
            <a:prstDash val="solid"/>
          </a:ln>
        </p:spPr>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Average annual return by type of market (5 years)</a:t>
            </a:r>
            <a:endParaRPr lang="en-US" sz="1400" dirty="0"/>
          </a:p>
        </p:txBody>
      </p:sp>
      <p:graphicFrame>
        <p:nvGraphicFramePr>
          <p:cNvPr id="11" name="Chart 0" descr=""/>
          <p:cNvGraphicFramePr/>
          <p:nvPr/>
        </p:nvGraphicFramePr>
        <p:xfrm>
          <a:off x="457200" y="1481328"/>
          <a:ext cx="6400800" cy="3794760"/>
        </p:xfrm>
        <a:graphic xmlns:a="http://schemas.openxmlformats.org/drawingml/2006/main">
          <a:graphicData uri="http://schemas.openxmlformats.org/drawingml/2006/chart">
            <c:chart xmlns:c="http://schemas.openxmlformats.org/drawingml/2006/chart" r:id="rId1"/>
          </a:graphicData>
        </a:graphic>
      </p:graphicFrame>
      <p:sp>
        <p:nvSpPr>
          <p:cNvPr id="12" name="Shape 9"/>
          <p:cNvSpPr/>
          <p:nvPr/>
        </p:nvSpPr>
        <p:spPr>
          <a:xfrm>
            <a:off x="7086600" y="1051560"/>
            <a:ext cx="4645152" cy="384048"/>
          </a:xfrm>
          <a:prstGeom prst="rect">
            <a:avLst/>
          </a:prstGeom>
          <a:solidFill>
            <a:srgbClr val="2C5F82"/>
          </a:solidFill>
          <a:ln w="12700">
            <a:solidFill>
              <a:srgbClr val="2C5F82"/>
            </a:solidFill>
            <a:prstDash val="solid"/>
          </a:ln>
        </p:spPr>
      </p:sp>
      <p:sp>
        <p:nvSpPr>
          <p:cNvPr id="13" name="Text 10"/>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Same 100,000 paths, summary</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086600" y="1508760"/>
          <a:ext cx="4645152" cy="914400"/>
        </p:xfrm>
        <a:graphic>
          <a:graphicData uri="http://schemas.openxmlformats.org/drawingml/2006/table">
            <a:tbl>
              <a:tblPr/>
              <a:tblGrid>
                <a:gridCol w="1737360"/>
                <a:gridCol w="685800"/>
                <a:gridCol w="731520"/>
                <a:gridCol w="731520"/>
                <a:gridCol w="758952"/>
              </a:tblGrid>
              <a:tr h="329184">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Strategy</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Median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Loss risk</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Worst 5%</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329184">
                <a:tc>
                  <a:txBody>
                    <a:bodyPr/>
                    <a:lstStyle/>
                    <a:p>
                      <a:pPr indent="0" marL="0">
                        <a:buNone/>
                      </a:pPr>
                      <a:r>
                        <a:rPr lang="en-US" sz="1000" b="1" dirty="0">
                          <a:solidFill>
                            <a:srgbClr val="2C5F82"/>
                          </a:solidFill>
                          <a:latin typeface="Arial" pitchFamily="34" charset="0"/>
                          <a:ea typeface="Arial" pitchFamily="34" charset="-122"/>
                          <a:cs typeface="Arial" pitchFamily="34" charset="-120"/>
                        </a:rPr>
                        <a:t>Our protected autocall</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5.4%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6.8%</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Hold the basket</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2.3%</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−12.4%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Plain protected note</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3.7%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5Y USD bond (5.69%)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15" name="Chart 1" descr=""/>
          <p:cNvGraphicFramePr/>
          <p:nvPr/>
        </p:nvGraphicFramePr>
        <p:xfrm>
          <a:off x="7086600" y="3246120"/>
          <a:ext cx="4645152" cy="2011680"/>
        </p:xfrm>
        <a:graphic xmlns:a="http://schemas.openxmlformats.org/drawingml/2006/main">
          <a:graphicData uri="http://schemas.openxmlformats.org/drawingml/2006/chart">
            <c:chart xmlns:c="http://schemas.openxmlformats.org/drawingml/2006/chart" r:id="rId2"/>
          </a:graphicData>
        </a:graphic>
      </p:graphicFrame>
      <p:sp>
        <p:nvSpPr>
          <p:cNvPr id="16" name="Text 1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Our Monte Carlo (pricing/scenario2_vs_traditional.py): TAIEX 40% / KOSPI 200 30% / Nikkei 225 30%, real-world equity drift 4% p.a.; protected note participation 101%. Market regime = basket's own 5Y annualised total return. Early-called notes are not assumed to be reinvested. SRP = StructuredRetailProducts.com.</a:t>
            </a:r>
            <a:endParaRPr lang="en-US" sz="800" dirty="0"/>
          </a:p>
        </p:txBody>
      </p:sp>
      <p:sp>
        <p:nvSpPr>
          <p:cNvPr id="17" name="Shape 12"/>
          <p:cNvSpPr/>
          <p:nvPr/>
        </p:nvSpPr>
        <p:spPr>
          <a:xfrm>
            <a:off x="457200" y="5650992"/>
            <a:ext cx="11274552" cy="502920"/>
          </a:xfrm>
          <a:prstGeom prst="rect">
            <a:avLst/>
          </a:prstGeom>
          <a:solidFill>
            <a:srgbClr val="2C5F82"/>
          </a:solidFill>
          <a:ln w="12700">
            <a:solidFill>
              <a:srgbClr val="2C5F82"/>
            </a:solidFill>
            <a:prstDash val="solid"/>
          </a:ln>
        </p:spPr>
      </p:sp>
      <p:sp>
        <p:nvSpPr>
          <p:cNvPr id="18" name="Text 1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Best way to own the theme: equals or beats the stocks in 3 of 4 markets, beats a plain protected note in 3 of 4, and never loses capital.</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583680"/>
                <a:gridCol w="4690872"/>
              </a:tblGrid>
              <a:tr h="256032">
                <a:tc>
                  <a:txBody>
                    <a:bodyPr/>
                    <a:lstStyle/>
                    <a:p>
                      <a:pPr indent="0" marL="0">
                        <a:buNone/>
                      </a:pPr>
                      <a:r>
                        <a:rPr lang="en-US" sz="850" b="1" dirty="0">
                          <a:solidFill>
                            <a:srgbClr val="FFFFFF"/>
                          </a:solidFill>
                          <a:latin typeface="Arial" pitchFamily="34" charset="0"/>
                          <a:ea typeface="Arial" pitchFamily="34" charset="-122"/>
                          <a:cs typeface="Arial" pitchFamily="34" charset="-120"/>
                        </a:rPr>
                        <a:t>Fact used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Source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~70–73% of global foundry revenue (Q1 2026); HPC 58% of 2025 revenue; 3nm sold out through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via press; TSMC results (verify in TSMC quarterly reports)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&gt;40% of TAIEX; TAIEX record 48,476 on 2 Oct 2026 (~+67% vs 2025 close 28,963.6)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Trading Economics (Jul, Oct 2026); TWSE 2025 Market Highlights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HBM revenue share Q2 2026: SK hynix 50%, Samsung 33%, Micron 18%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Research, Global DRAM and HBM Market Share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DRAM contract prices: Q2 2026 +45–50% q/q (consumer), Q3 +13–18%, Q4e +10–15% (conventional)</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TrendForce via press (May–Sep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Advantest ~55–58% of test equipment; TEL ~90% of coater/developers; Advantest 12.2% of Nikkei 225</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Industry research summaries (verify in annual reports); Nikkei Asia</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forward P/E 7.8x, trailing 23.0x; Nikkei forward 17.2x, CAPE 38.6 (1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Siblis Research</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Hyperscaler capex ~USD 725bn in 2026, +77% y/y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Company guidance after Q1 2026, via AI Weekly / Yahoo Finance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Chip market ~USD 1.5trn in 2026 (+90%); equipment USD 165.9bn (+23.2%), DRAM equip. +39%, test +31%</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WSTS Spring 2026 (2 Jun 2026); SEMI mid-year forecast (14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US 25% Section 232 tariff on a narrow set of advanced logic chips from 15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White House Proclamation 11002, via Perkins Coie / Mondaq</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Fed +0.25% to 3.75–4.00% on 16 Sep 2026, first hike since 2023; median dot 4.1% end-2026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decision, via Advisor Perspectives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VKOSPI record close 91.23 (9 Jun 2026), above Oct 2008 (89.30); 83.58 on 5 Mar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Herald Corp; SBS; FN News (Jun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9,000+ in June (~+110% YTD), 6,789 on 28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BIT Research; FN News / Shinhan Securities (31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2022: TAIEX −31.6% peak to trough; KOSPI −24.9%; SOX −36%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TWSE 2022 Market Highlights; Korea Times; Bloomberg via BNN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Japan buybacks ¥18.7trn FY2024, ~¥20trn FY2025e; Korea Value-Up Index +30% vs KOSPI 200</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Asset Management One via portfolio institutional; AllianceBernstein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42 AI stocks = 65–75% of S&amp;P 500 returns/profits/capex; ~92% of advanced chips from Taiwan; 10–15% correction in 2026 base case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J.P. Morgan AWM, Eye on the Market 2026 Outlook "Smothering Heights" (1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StructuredRetailProducts.com, Taiwan Q4 2025 review</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Rate and vol sensitivities, break-even vs bond, market-type comparison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Team Monte Carlo: scenario2_thesis_numbers.py, scenario2_vs_traditional.py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5806440"/>
            <a:ext cx="11274552" cy="274320"/>
          </a:xfrm>
          <a:prstGeom prst="rect">
            <a:avLst/>
          </a:prstGeom>
          <a:noFill/>
          <a:ln/>
        </p:spPr>
        <p:txBody>
          <a:bodyPr wrap="square" lIns="0" tIns="0" rIns="0" bIns="0" rtlCol="0" anchor="t"/>
          <a:lstStyle/>
          <a:p>
            <a:pPr indent="0" marL="0">
              <a:buNone/>
            </a:pPr>
            <a:r>
              <a:rPr lang="en-US" sz="9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2026-10-08T06:39:44Z</dcterms:created>
  <dcterms:modified xsi:type="dcterms:W3CDTF">2026-10-08T06:39:44Z</dcterms:modified>
</cp:coreProperties>
</file>