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262626"/>
                </a:solidFill>
                <a:latin typeface="Arial"/>
              </a:defRPr>
            </a:pPr>
            <a:r>
              <a:rPr sz="950" b="0" i="0" u="none" strike="noStrike">
                <a:solidFill>
                  <a:srgbClr val="262626"/>
                </a:solidFill>
                <a:latin typeface="Arial"/>
              </a:rPr>
              <a:t>Chip market, US$bn (WSTS)</a:t>
            </a:r>
          </a:p>
        </c:rich>
      </c:tx>
      <c:layout/>
      <c:overlay val="0"/>
    </c:title>
    <c:autoTitleDeleted val="0"/>
    <c:plotArea>
      <c:layout/>
      <c:barChart>
        <c:barDir val="col"/>
        <c:grouping val="clustered"/>
        <c:varyColors val="0"/>
        <c:ser>
          <c:idx val="0"/>
          <c:order val="0"/>
          <c:tx>
            <c:strRef>
              <c:f>Sheet1!$B$1</c:f>
              <c:strCache>
                <c:ptCount val="1"/>
                <c:pt idx="0">
                  <c:v>Chip market</c:v>
                </c:pt>
              </c:strCache>
            </c:strRef>
          </c:tx>
          <c:spPr>
            <a:solidFill>
              <a:srgbClr val="2C5F82"/>
            </a:solidFill>
            <a:effectLst/>
          </c:spPr>
          <c:invertIfNegative val="0"/>
          <c:dLbls>
            <c:numFmt formatCode="&quot;$&quot;#,##0" sourceLinked="0"/>
            <c:txPr>
              <a:bodyPr/>
              <a:lstStyle/>
              <a:p>
                <a:pPr>
                  <a:defRPr b="0" i="0" strike="noStrike" sz="800" u="none">
                    <a:solidFill>
                      <a:srgbClr val="262626"/>
                    </a:solidFill>
                    <a:latin typeface="Arial"/>
                  </a:defRPr>
                </a:pPr>
              </a:p>
            </c:txPr>
            <c:showLegendKey val="0"/>
            <c:showVal val="1"/>
            <c:showCatName val="0"/>
            <c:showSerName val="0"/>
            <c:showPercent val="0"/>
            <c:showBubbleSize val="0"/>
            <c:showLeaderLines val="0"/>
          </c:dLbls>
          <c:dPt>
            <c:idx val="0"/>
            <c:invertIfNegative val="0"/>
            <c:bubble3D val="0"/>
            <c:spPr>
              <a:solidFill>
                <a:srgbClr val="2C5F82"/>
              </a:solidFill>
              <a:effectLst/>
            </c:spPr>
          </c:dPt>
          <c:dPt>
            <c:idx val="1"/>
            <c:invertIfNegative val="0"/>
            <c:bubble3D val="0"/>
            <c:spPr>
              <a:solidFill>
                <a:srgbClr val="2C5F82"/>
              </a:solidFill>
              <a:effectLst/>
            </c:spPr>
          </c:dPt>
          <c:dPt>
            <c:idx val="2"/>
            <c:invertIfNegative val="0"/>
            <c:bubble3D val="0"/>
            <c:spPr>
              <a:solidFill>
                <a:srgbClr val="8DB3D1"/>
              </a:solidFill>
              <a:effectLst/>
            </c:spPr>
          </c:dPt>
          <c:dPt>
            <c:idx val="3"/>
            <c:invertIfNegative val="0"/>
            <c:bubble3D val="0"/>
            <c:spPr>
              <a:solidFill>
                <a:srgbClr val="8DB3D1"/>
              </a:solidFill>
              <a:effectLst/>
            </c:spPr>
          </c:dPt>
          <c:cat>
            <c:multiLvlStrRef>
              <c:f>Sheet1!$A$2:$A$5</c:f>
              <c:multiLvlStrCache>
                <c:ptCount val="4"/>
                <c:lvl>
                  <c:pt idx="0">
                    <c:v>2024</c:v>
                  </c:pt>
                  <c:pt idx="1">
                    <c:v>2025</c:v>
                  </c:pt>
                  <c:pt idx="2">
                    <c:v>2026F</c:v>
                  </c:pt>
                  <c:pt idx="3">
                    <c:v>2027F</c:v>
                  </c:pt>
                </c:lvl>
              </c:multiLvlStrCache>
            </c:multiLvlStrRef>
          </c:cat>
          <c:val>
            <c:numRef>
              <c:f>Sheet1!$B$2:$B$5</c:f>
              <c:numCache>
                <c:formatCode>General</c:formatCode>
                <c:ptCount val="4"/>
                <c:pt idx="0">
                  <c:v>630</c:v>
                </c:pt>
                <c:pt idx="1">
                  <c:v>795.6</c:v>
                </c:pt>
                <c:pt idx="2">
                  <c:v>1510</c:v>
                </c:pt>
                <c:pt idx="3">
                  <c:v>1900</c:v>
                </c:pt>
              </c:numCache>
            </c:numRef>
          </c:val>
        </c:ser>
        <c:dLbls>
          <c:numFmt formatCode="&quot;$&quot;#,##0" sourceLinked="0"/>
          <c:txPr>
            <a:bodyPr/>
            <a:lstStyle/>
            <a:p>
              <a:pPr>
                <a:defRPr b="0" i="0" strike="noStrike" sz="800" u="none">
                  <a:solidFill>
                    <a:srgbClr val="26262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85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max val="22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9595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262626"/>
                </a:solidFill>
                <a:latin typeface="Arial"/>
              </a:defRPr>
            </a:pPr>
            <a:r>
              <a:rPr sz="950" b="0" i="0" u="none" strike="noStrike">
                <a:solidFill>
                  <a:srgbClr val="262626"/>
                </a:solidFill>
                <a:latin typeface="Arial"/>
              </a:rPr>
              <a:t>Hyperscaler capex, US$bn</a:t>
            </a:r>
          </a:p>
        </c:rich>
      </c:tx>
      <c:layout/>
      <c:overlay val="0"/>
    </c:title>
    <c:autoTitleDeleted val="0"/>
    <c:plotArea>
      <c:layout/>
      <c:barChart>
        <c:barDir val="col"/>
        <c:grouping val="clustered"/>
        <c:varyColors val="0"/>
        <c:ser>
          <c:idx val="0"/>
          <c:order val="0"/>
          <c:tx>
            <c:strRef>
              <c:f>Sheet1!$B$1</c:f>
              <c:strCache>
                <c:ptCount val="1"/>
                <c:pt idx="0">
                  <c:v>2025</c:v>
                </c:pt>
              </c:strCache>
            </c:strRef>
          </c:tx>
          <c:spPr>
            <a:solidFill>
              <a:srgbClr val="8DB3D1"/>
            </a:solidFill>
            <a:effectLst/>
          </c:spPr>
          <c:invertIfNegative val="0"/>
          <c:dLbls>
            <c:numFmt formatCode="0" sourceLinked="0"/>
            <c:txPr>
              <a:bodyPr/>
              <a:lstStyle/>
              <a:p>
                <a:pPr>
                  <a:defRPr b="0" i="0" strike="noStrike" sz="700" u="none">
                    <a:solidFill>
                      <a:srgbClr val="262626"/>
                    </a:solidFill>
                    <a:latin typeface="Arial"/>
                  </a:defRPr>
                </a:pPr>
              </a:p>
            </c:txPr>
            <c:showLegendKey val="0"/>
            <c:showVal val="1"/>
            <c:showCatName val="0"/>
            <c:showSerName val="0"/>
            <c:showPercent val="0"/>
            <c:showBubbleSize val="0"/>
            <c:showLeaderLines val="0"/>
          </c:dLbls>
          <c:cat>
            <c:multiLvlStrRef>
              <c:f>Sheet1!$A$2:$A$5</c:f>
              <c:multiLvlStrCache>
                <c:ptCount val="4"/>
                <c:lvl>
                  <c:pt idx="0">
                    <c:v>Amazon</c:v>
                  </c:pt>
                  <c:pt idx="1">
                    <c:v>Microsoft</c:v>
                  </c:pt>
                  <c:pt idx="2">
                    <c:v>Alphabet</c:v>
                  </c:pt>
                  <c:pt idx="3">
                    <c:v>Meta</c:v>
                  </c:pt>
                </c:lvl>
              </c:multiLvlStrCache>
            </c:multiLvlStrRef>
          </c:cat>
          <c:val>
            <c:numRef>
              <c:f>Sheet1!$B$2:$B$5</c:f>
              <c:numCache>
                <c:formatCode>General</c:formatCode>
                <c:ptCount val="4"/>
                <c:pt idx="0">
                  <c:v>134.7</c:v>
                </c:pt>
                <c:pt idx="1">
                  <c:v>118</c:v>
                </c:pt>
                <c:pt idx="2">
                  <c:v>91.5</c:v>
                </c:pt>
                <c:pt idx="3">
                  <c:v>72.2</c:v>
                </c:pt>
              </c:numCache>
            </c:numRef>
          </c:val>
        </c:ser>
        <c:ser>
          <c:idx val="1"/>
          <c:order val="1"/>
          <c:tx>
            <c:strRef>
              <c:f>Sheet1!$C$1</c:f>
              <c:strCache>
                <c:ptCount val="1"/>
                <c:pt idx="0">
                  <c:v>2026 guidance</c:v>
                </c:pt>
              </c:strCache>
            </c:strRef>
          </c:tx>
          <c:spPr>
            <a:solidFill>
              <a:srgbClr val="2C5F82"/>
            </a:solidFill>
            <a:effectLst/>
          </c:spPr>
          <c:invertIfNegative val="0"/>
          <c:dLbls>
            <c:numFmt formatCode="0" sourceLinked="0"/>
            <c:txPr>
              <a:bodyPr/>
              <a:lstStyle/>
              <a:p>
                <a:pPr>
                  <a:defRPr b="0" i="0" strike="noStrike" sz="700" u="none">
                    <a:solidFill>
                      <a:srgbClr val="262626"/>
                    </a:solidFill>
                    <a:latin typeface="Arial"/>
                  </a:defRPr>
                </a:pPr>
              </a:p>
            </c:txPr>
            <c:showLegendKey val="0"/>
            <c:showVal val="1"/>
            <c:showCatName val="0"/>
            <c:showSerName val="0"/>
            <c:showPercent val="0"/>
            <c:showBubbleSize val="0"/>
            <c:showLeaderLines val="0"/>
          </c:dLbls>
          <c:cat>
            <c:multiLvlStrRef>
              <c:f>Sheet1!$A$2:$A$5</c:f>
              <c:multiLvlStrCache>
                <c:ptCount val="4"/>
                <c:lvl>
                  <c:pt idx="0">
                    <c:v>Amazon</c:v>
                  </c:pt>
                  <c:pt idx="1">
                    <c:v>Microsoft</c:v>
                  </c:pt>
                  <c:pt idx="2">
                    <c:v>Alphabet</c:v>
                  </c:pt>
                  <c:pt idx="3">
                    <c:v>Meta</c:v>
                  </c:pt>
                </c:lvl>
              </c:multiLvlStrCache>
            </c:multiLvlStrRef>
          </c:cat>
          <c:val>
            <c:numRef>
              <c:f>Sheet1!$C$2:$C$5</c:f>
              <c:numCache>
                <c:formatCode>General</c:formatCode>
                <c:ptCount val="4"/>
                <c:pt idx="0">
                  <c:v>200</c:v>
                </c:pt>
                <c:pt idx="1">
                  <c:v>190</c:v>
                </c:pt>
                <c:pt idx="2">
                  <c:v>185</c:v>
                </c:pt>
                <c:pt idx="3">
                  <c:v>135</c:v>
                </c:pt>
              </c:numCache>
            </c:numRef>
          </c:val>
        </c:ser>
        <c:dLbls>
          <c:numFmt formatCode="0" sourceLinked="0"/>
          <c:txPr>
            <a:bodyPr/>
            <a:lstStyle/>
            <a:p>
              <a:pPr>
                <a:defRPr b="0" i="0" strike="noStrike" sz="700" u="none">
                  <a:solidFill>
                    <a:srgbClr val="26262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75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max val="24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9595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750">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262626"/>
                </a:solidFill>
                <a:latin typeface="Arial"/>
              </a:defRPr>
            </a:pPr>
            <a:r>
              <a:rPr sz="950" b="0" i="0" u="none" strike="noStrike">
                <a:solidFill>
                  <a:srgbClr val="262626"/>
                </a:solidFill>
                <a:latin typeface="Arial"/>
              </a:rPr>
              <a:t>DRAM contract price, q/q</a:t>
            </a:r>
          </a:p>
        </c:rich>
      </c:tx>
      <c:layout/>
      <c:overlay val="0"/>
    </c:title>
    <c:autoTitleDeleted val="0"/>
    <c:plotArea>
      <c:layout/>
      <c:barChart>
        <c:barDir val="col"/>
        <c:grouping val="clustered"/>
        <c:varyColors val="0"/>
        <c:ser>
          <c:idx val="0"/>
          <c:order val="0"/>
          <c:tx>
            <c:strRef>
              <c:f>Sheet1!$B$1</c:f>
              <c:strCache>
                <c:ptCount val="1"/>
                <c:pt idx="0">
                  <c:v>DRAM</c:v>
                </c:pt>
              </c:strCache>
            </c:strRef>
          </c:tx>
          <c:spPr>
            <a:solidFill>
              <a:srgbClr val="8DB3D1"/>
            </a:solidFill>
            <a:effectLst/>
          </c:spPr>
          <c:invertIfNegative val="0"/>
          <c:dLbls>
            <c:numFmt formatCode="&quot;+&quot;0&quot;%&quot;" sourceLinked="0"/>
            <c:txPr>
              <a:bodyPr/>
              <a:lstStyle/>
              <a:p>
                <a:pPr>
                  <a:defRPr b="0" i="0" strike="noStrike" sz="900" u="none">
                    <a:solidFill>
                      <a:srgbClr val="262626"/>
                    </a:solidFill>
                    <a:latin typeface="Arial"/>
                  </a:defRPr>
                </a:pPr>
              </a:p>
            </c:txPr>
            <c:showLegendKey val="0"/>
            <c:showVal val="1"/>
            <c:showCatName val="0"/>
            <c:showSerName val="0"/>
            <c:showPercent val="0"/>
            <c:showBubbleSize val="0"/>
            <c:showLeaderLines val="0"/>
          </c:dLbls>
          <c:cat>
            <c:multiLvlStrRef>
              <c:f>Sheet1!$A$2:$A$4</c:f>
              <c:multiLvlStrCache>
                <c:ptCount val="3"/>
                <c:lvl>
                  <c:pt idx="0">
                    <c:v>Q2 2026</c:v>
                  </c:pt>
                  <c:pt idx="1">
                    <c:v>Q3 2026</c:v>
                  </c:pt>
                  <c:pt idx="2">
                    <c:v>Q4 2026e</c:v>
                  </c:pt>
                </c:lvl>
              </c:multiLvlStrCache>
            </c:multiLvlStrRef>
          </c:cat>
          <c:val>
            <c:numRef>
              <c:f>Sheet1!$B$2:$B$4</c:f>
              <c:numCache>
                <c:formatCode>General</c:formatCode>
                <c:ptCount val="3"/>
                <c:pt idx="0">
                  <c:v>47.5</c:v>
                </c:pt>
                <c:pt idx="1">
                  <c:v>15.5</c:v>
                </c:pt>
                <c:pt idx="2">
                  <c:v>12.5</c:v>
                </c:pt>
              </c:numCache>
            </c:numRef>
          </c:val>
        </c:ser>
        <c:dLbls>
          <c:numFmt formatCode="&quot;+&quot;0&quot;%&quot;" sourceLinked="0"/>
          <c:txPr>
            <a:bodyPr/>
            <a:lstStyle/>
            <a:p>
              <a:pPr>
                <a:defRPr b="0" i="0" strike="noStrike" sz="900" u="none">
                  <a:solidFill>
                    <a:srgbClr val="26262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85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max val="6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9595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262626"/>
                </a:solidFill>
                <a:latin typeface="Arial"/>
              </a:defRPr>
            </a:pPr>
            <a:r>
              <a:rPr sz="950" b="0" i="0" u="none" strike="noStrike">
                <a:solidFill>
                  <a:srgbClr val="262626"/>
                </a:solidFill>
                <a:latin typeface="Arial"/>
              </a:rPr>
              <a:t>Since ChatGPT's launch (Nov 2022 to Dec 2025)</a:t>
            </a:r>
          </a:p>
        </c:rich>
      </c:tx>
      <c:layout/>
      <c:overlay val="0"/>
    </c:title>
    <c:autoTitleDeleted val="0"/>
    <c:plotArea>
      <c:layout/>
      <c:barChart>
        <c:barDir val="col"/>
        <c:grouping val="clustered"/>
        <c:varyColors val="0"/>
        <c:ser>
          <c:idx val="0"/>
          <c:order val="0"/>
          <c:tx>
            <c:strRef>
              <c:f>Sheet1!$B$1</c:f>
              <c:strCache>
                <c:ptCount val="1"/>
                <c:pt idx="0">
                  <c:v>Price return</c:v>
                </c:pt>
              </c:strCache>
            </c:strRef>
          </c:tx>
          <c:spPr>
            <a:solidFill>
              <a:srgbClr val="2C5F82"/>
            </a:solidFill>
            <a:effectLst/>
          </c:spPr>
          <c:invertIfNegative val="0"/>
          <c:dLbls>
            <c:numFmt formatCode="0&quot;%&quot;" sourceLinked="0"/>
            <c:txPr>
              <a:bodyPr/>
              <a:lstStyle/>
              <a:p>
                <a:pPr>
                  <a:defRPr b="0" i="0" strike="noStrike" sz="800" u="none">
                    <a:solidFill>
                      <a:srgbClr val="262626"/>
                    </a:solidFill>
                    <a:latin typeface="Arial"/>
                  </a:defRPr>
                </a:pPr>
              </a:p>
            </c:txPr>
            <c:showLegendKey val="0"/>
            <c:showVal val="1"/>
            <c:showCatName val="0"/>
            <c:showSerName val="0"/>
            <c:showPercent val="0"/>
            <c:showBubbleSize val="0"/>
            <c:showLeaderLines val="0"/>
          </c:dLbls>
          <c:cat>
            <c:multiLvlStrRef>
              <c:f>Sheet1!$A$2:$A$6</c:f>
              <c:multiLvlStrCache>
                <c:ptCount val="5"/>
                <c:lvl>
                  <c:pt idx="0">
                    <c:v>42 AI stocks</c:v>
                  </c:pt>
                  <c:pt idx="1">
                    <c:v>S&amp;P 500 ex-AI</c:v>
                  </c:pt>
                  <c:pt idx="2">
                    <c:v>MSCI Japan</c:v>
                  </c:pt>
                  <c:pt idx="3">
                    <c:v>MSCI China</c:v>
                  </c:pt>
                  <c:pt idx="4">
                    <c:v>MSCI Europe</c:v>
                  </c:pt>
                </c:lvl>
              </c:multiLvlStrCache>
            </c:multiLvlStrRef>
          </c:cat>
          <c:val>
            <c:numRef>
              <c:f>Sheet1!$B$2:$B$6</c:f>
              <c:numCache>
                <c:formatCode>General</c:formatCode>
                <c:ptCount val="5"/>
                <c:pt idx="0">
                  <c:v>190</c:v>
                </c:pt>
                <c:pt idx="1">
                  <c:v>26</c:v>
                </c:pt>
                <c:pt idx="2">
                  <c:v>59</c:v>
                </c:pt>
                <c:pt idx="3">
                  <c:v>50</c:v>
                </c:pt>
                <c:pt idx="4">
                  <c:v>33</c:v>
                </c:pt>
              </c:numCache>
            </c:numRef>
          </c:val>
        </c:ser>
        <c:ser>
          <c:idx val="1"/>
          <c:order val="1"/>
          <c:tx>
            <c:strRef>
              <c:f>Sheet1!$C$1</c:f>
              <c:strCache>
                <c:ptCount val="1"/>
                <c:pt idx="0">
                  <c:v>Earnings growth</c:v>
                </c:pt>
              </c:strCache>
            </c:strRef>
          </c:tx>
          <c:spPr>
            <a:solidFill>
              <a:srgbClr val="8DB3D1"/>
            </a:solidFill>
            <a:effectLst/>
          </c:spPr>
          <c:invertIfNegative val="0"/>
          <c:dLbls>
            <c:numFmt formatCode="0&quot;%&quot;" sourceLinked="0"/>
            <c:txPr>
              <a:bodyPr/>
              <a:lstStyle/>
              <a:p>
                <a:pPr>
                  <a:defRPr b="0" i="0" strike="noStrike" sz="800" u="none">
                    <a:solidFill>
                      <a:srgbClr val="262626"/>
                    </a:solidFill>
                    <a:latin typeface="Arial"/>
                  </a:defRPr>
                </a:pPr>
              </a:p>
            </c:txPr>
            <c:showLegendKey val="0"/>
            <c:showVal val="1"/>
            <c:showCatName val="0"/>
            <c:showSerName val="0"/>
            <c:showPercent val="0"/>
            <c:showBubbleSize val="0"/>
            <c:showLeaderLines val="0"/>
          </c:dLbls>
          <c:cat>
            <c:multiLvlStrRef>
              <c:f>Sheet1!$A$2:$A$6</c:f>
              <c:multiLvlStrCache>
                <c:ptCount val="5"/>
                <c:lvl>
                  <c:pt idx="0">
                    <c:v>42 AI stocks</c:v>
                  </c:pt>
                  <c:pt idx="1">
                    <c:v>S&amp;P 500 ex-AI</c:v>
                  </c:pt>
                  <c:pt idx="2">
                    <c:v>MSCI Japan</c:v>
                  </c:pt>
                  <c:pt idx="3">
                    <c:v>MSCI China</c:v>
                  </c:pt>
                  <c:pt idx="4">
                    <c:v>MSCI Europe</c:v>
                  </c:pt>
                </c:lvl>
              </c:multiLvlStrCache>
            </c:multiLvlStrRef>
          </c:cat>
          <c:val>
            <c:numRef>
              <c:f>Sheet1!$C$2:$C$6</c:f>
              <c:numCache>
                <c:formatCode>General</c:formatCode>
                <c:ptCount val="5"/>
                <c:pt idx="0">
                  <c:v>153</c:v>
                </c:pt>
                <c:pt idx="1">
                  <c:v>19</c:v>
                </c:pt>
                <c:pt idx="2">
                  <c:v>52</c:v>
                </c:pt>
                <c:pt idx="3">
                  <c:v>15</c:v>
                </c:pt>
                <c:pt idx="4">
                  <c:v>4</c:v>
                </c:pt>
              </c:numCache>
            </c:numRef>
          </c:val>
        </c:ser>
        <c:dLbls>
          <c:numFmt formatCode="0&quot;%&quot;" sourceLinked="0"/>
          <c:txPr>
            <a:bodyPr/>
            <a:lstStyle/>
            <a:p>
              <a:pPr>
                <a:defRPr b="0" i="0" strike="noStrike" sz="800" u="none">
                  <a:solidFill>
                    <a:srgbClr val="26262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85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max val="22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95959"/>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850">
              <a:latin typeface="Arial"/>
              <a:cs typeface="Aria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262626"/>
                </a:solidFill>
                <a:latin typeface="Arial"/>
              </a:defRPr>
            </a:pPr>
            <a:r>
              <a:rPr sz="950" b="0" i="0" u="none" strike="noStrike">
                <a:solidFill>
                  <a:srgbClr val="262626"/>
                </a:solidFill>
                <a:latin typeface="Arial"/>
              </a:rPr>
              <a:t>Dependence on a single source (JPM, read from chart)</a:t>
            </a:r>
          </a:p>
        </c:rich>
      </c:tx>
      <c:layout/>
      <c:overlay val="0"/>
    </c:title>
    <c:autoTitleDeleted val="0"/>
    <c:plotArea>
      <c:layout/>
      <c:barChart>
        <c:barDir val="col"/>
        <c:grouping val="clustered"/>
        <c:varyColors val="0"/>
        <c:ser>
          <c:idx val="0"/>
          <c:order val="0"/>
          <c:tx>
            <c:strRef>
              <c:f>Sheet1!$B$1</c:f>
              <c:strCache>
                <c:ptCount val="1"/>
                <c:pt idx="0">
                  <c:v>Reliance</c:v>
                </c:pt>
              </c:strCache>
            </c:strRef>
          </c:tx>
          <c:spPr>
            <a:solidFill>
              <a:srgbClr val="A6A6A6"/>
            </a:solidFill>
            <a:effectLst/>
          </c:spPr>
          <c:invertIfNegative val="0"/>
          <c:dLbls>
            <c:numFmt formatCode="&quot;~&quot;0&quot;%&quot;" sourceLinked="0"/>
            <c:txPr>
              <a:bodyPr/>
              <a:lstStyle/>
              <a:p>
                <a:pPr>
                  <a:defRPr b="0" i="0" strike="noStrike" sz="900" u="none">
                    <a:solidFill>
                      <a:srgbClr val="262626"/>
                    </a:solidFill>
                    <a:latin typeface="Arial"/>
                  </a:defRPr>
                </a:pPr>
              </a:p>
            </c:txPr>
            <c:showLegendKey val="0"/>
            <c:showVal val="1"/>
            <c:showCatName val="0"/>
            <c:showSerName val="0"/>
            <c:showPercent val="0"/>
            <c:showBubbleSize val="0"/>
            <c:showLeaderLines val="0"/>
          </c:dLbls>
          <c:dPt>
            <c:idx val="0"/>
            <c:invertIfNegative val="0"/>
            <c:bubble3D val="0"/>
            <c:spPr>
              <a:solidFill>
                <a:srgbClr val="A6A6A6"/>
              </a:solidFill>
              <a:effectLst/>
            </c:spPr>
          </c:dPt>
          <c:dPt>
            <c:idx val="1"/>
            <c:invertIfNegative val="0"/>
            <c:bubble3D val="0"/>
            <c:spPr>
              <a:solidFill>
                <a:srgbClr val="8DB3D1"/>
              </a:solidFill>
              <a:effectLst/>
            </c:spPr>
          </c:dPt>
          <c:dPt>
            <c:idx val="2"/>
            <c:invertIfNegative val="0"/>
            <c:bubble3D val="0"/>
            <c:spPr>
              <a:solidFill>
                <a:srgbClr val="B23B3B"/>
              </a:solidFill>
              <a:effectLst/>
            </c:spPr>
          </c:dPt>
          <c:cat>
            <c:multiLvlStrRef>
              <c:f>Sheet1!$A$2:$A$4</c:f>
              <c:multiLvlStrCache>
                <c:ptCount val="3"/>
                <c:lvl>
                  <c:pt idx="0">
                    <c:v>Europe on Russian energy (2021)</c:v>
                  </c:pt>
                  <c:pt idx="1">
                    <c:v>World on Taiwan: all chips</c:v>
                  </c:pt>
                  <c:pt idx="2">
                    <c:v>World on Taiwan: advanced chips</c:v>
                  </c:pt>
                </c:lvl>
              </c:multiLvlStrCache>
            </c:multiLvlStrRef>
          </c:cat>
          <c:val>
            <c:numRef>
              <c:f>Sheet1!$B$2:$B$4</c:f>
              <c:numCache>
                <c:formatCode>General</c:formatCode>
                <c:ptCount val="3"/>
                <c:pt idx="0">
                  <c:v>22</c:v>
                </c:pt>
                <c:pt idx="1">
                  <c:v>64</c:v>
                </c:pt>
                <c:pt idx="2">
                  <c:v>92</c:v>
                </c:pt>
              </c:numCache>
            </c:numRef>
          </c:val>
        </c:ser>
        <c:dLbls>
          <c:numFmt formatCode="&quot;~&quot;0&quot;%&quot;" sourceLinked="0"/>
          <c:txPr>
            <a:bodyPr/>
            <a:lstStyle/>
            <a:p>
              <a:pPr>
                <a:defRPr b="0" i="0" strike="noStrike" sz="900" u="none">
                  <a:solidFill>
                    <a:srgbClr val="26262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85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max val="10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9595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262626"/>
                </a:solidFill>
                <a:latin typeface="Arial"/>
              </a:defRPr>
            </a:pPr>
            <a:r>
              <a:rPr sz="950" b="0" i="0" u="none" strike="noStrike">
                <a:solidFill>
                  <a:srgbClr val="262626"/>
                </a:solidFill>
                <a:latin typeface="Arial"/>
              </a:rPr>
              <a:t>Index level, end-2021 = 100</a:t>
            </a:r>
          </a:p>
        </c:rich>
      </c:tx>
      <c:layout/>
      <c:overlay val="0"/>
    </c:title>
    <c:autoTitleDeleted val="0"/>
    <c:plotArea>
      <c:layout/>
      <c:lineChart>
        <c:varyColors val="0"/>
        <c:ser>
          <c:idx val="0"/>
          <c:order val="0"/>
          <c:tx>
            <c:strRef>
              <c:f>Sheet1!$B$1</c:f>
              <c:strCache>
                <c:ptCount val="1"/>
                <c:pt idx="0">
                  <c:v>TAIEX</c:v>
                </c:pt>
              </c:strCache>
            </c:strRef>
          </c:tx>
          <c:spPr>
            <a:solidFill>
              <a:srgbClr val="2C5F82"/>
            </a:solidFill>
            <a:ln w="25400" cap="flat">
              <a:solidFill>
                <a:srgbClr val="2C5F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2C5F82"/>
              </a:solidFill>
              <a:ln w="9525" cap="flat">
                <a:solidFill>
                  <a:srgbClr val="2C5F82"/>
                </a:solidFill>
                <a:prstDash val="solid"/>
                <a:round/>
              </a:ln>
              <a:effectLst/>
            </c:spPr>
          </c:marker>
          <c:cat>
            <c:multiLvlStrRef>
              <c:f>Sheet1!$A$2:$A$8</c:f>
              <c:multiLvlStrCache>
                <c:ptCount val="7"/>
                <c:lvl>
                  <c:pt idx="0">
                    <c:v>YE2021</c:v>
                  </c:pt>
                  <c:pt idx="1">
                    <c:v>YE2022</c:v>
                  </c:pt>
                  <c:pt idx="2">
                    <c:v>YE2023</c:v>
                  </c:pt>
                  <c:pt idx="3">
                    <c:v>YE2024</c:v>
                  </c:pt>
                  <c:pt idx="4">
                    <c:v>YE2025</c:v>
                  </c:pt>
                  <c:pt idx="5">
                    <c:v>Jun-26 peak</c:v>
                  </c:pt>
                  <c:pt idx="6">
                    <c:v>Latest</c:v>
                  </c:pt>
                </c:lvl>
              </c:multiLvlStrCache>
            </c:multiLvlStrRef>
          </c:cat>
          <c:val>
            <c:numRef>
              <c:f>Sheet1!$B$2:$B$8</c:f>
              <c:numCache>
                <c:formatCode>General</c:formatCode>
                <c:ptCount val="7"/>
                <c:pt idx="0">
                  <c:v>100</c:v>
                </c:pt>
                <c:pt idx="1">
                  <c:v>77.6</c:v>
                </c:pt>
                <c:pt idx="2">
                  <c:v>98.4</c:v>
                </c:pt>
                <c:pt idx="3">
                  <c:v>126.4</c:v>
                </c:pt>
                <c:pt idx="4">
                  <c:v>159</c:v>
                </c:pt>
                <c:pt idx="5">
                  <c:v>262.1</c:v>
                </c:pt>
                <c:pt idx="6">
                  <c:v>266.1</c:v>
                </c:pt>
              </c:numCache>
            </c:numRef>
          </c:val>
          <c:smooth val="0"/>
        </c:ser>
        <c:ser>
          <c:idx val="1"/>
          <c:order val="1"/>
          <c:tx>
            <c:strRef>
              <c:f>Sheet1!$C$1</c:f>
              <c:strCache>
                <c:ptCount val="1"/>
                <c:pt idx="0">
                  <c:v>KOSPI</c:v>
                </c:pt>
              </c:strCache>
            </c:strRef>
          </c:tx>
          <c:spPr>
            <a:solidFill>
              <a:srgbClr val="B23B3B"/>
            </a:solidFill>
            <a:ln w="25400" cap="flat">
              <a:solidFill>
                <a:srgbClr val="B23B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B23B3B"/>
              </a:solidFill>
              <a:ln w="9525" cap="flat">
                <a:solidFill>
                  <a:srgbClr val="B23B3B"/>
                </a:solidFill>
                <a:prstDash val="solid"/>
                <a:round/>
              </a:ln>
              <a:effectLst/>
            </c:spPr>
          </c:marker>
          <c:cat>
            <c:multiLvlStrRef>
              <c:f>Sheet1!$A$2:$A$8</c:f>
              <c:multiLvlStrCache>
                <c:ptCount val="7"/>
                <c:lvl>
                  <c:pt idx="0">
                    <c:v>YE2021</c:v>
                  </c:pt>
                  <c:pt idx="1">
                    <c:v>YE2022</c:v>
                  </c:pt>
                  <c:pt idx="2">
                    <c:v>YE2023</c:v>
                  </c:pt>
                  <c:pt idx="3">
                    <c:v>YE2024</c:v>
                  </c:pt>
                  <c:pt idx="4">
                    <c:v>YE2025</c:v>
                  </c:pt>
                  <c:pt idx="5">
                    <c:v>Jun-26 peak</c:v>
                  </c:pt>
                  <c:pt idx="6">
                    <c:v>Latest</c:v>
                  </c:pt>
                </c:lvl>
              </c:multiLvlStrCache>
            </c:multiLvlStrRef>
          </c:cat>
          <c:val>
            <c:numRef>
              <c:f>Sheet1!$C$2:$C$8</c:f>
              <c:numCache>
                <c:formatCode>General</c:formatCode>
                <c:ptCount val="7"/>
                <c:pt idx="0">
                  <c:v>100</c:v>
                </c:pt>
                <c:pt idx="1">
                  <c:v>75.1</c:v>
                </c:pt>
                <c:pt idx="2">
                  <c:v>89.2</c:v>
                </c:pt>
                <c:pt idx="3">
                  <c:v>80.6</c:v>
                </c:pt>
                <c:pt idx="4">
                  <c:v>141.5</c:v>
                </c:pt>
                <c:pt idx="5">
                  <c:v>302.3</c:v>
                </c:pt>
                <c:pt idx="6">
                  <c:v>237.8</c:v>
                </c:pt>
              </c:numCache>
            </c:numRef>
          </c:val>
          <c:smooth val="0"/>
        </c:ser>
        <c:ser>
          <c:idx val="2"/>
          <c:order val="2"/>
          <c:tx>
            <c:strRef>
              <c:f>Sheet1!$D$1</c:f>
              <c:strCache>
                <c:ptCount val="1"/>
                <c:pt idx="0">
                  <c:v>Nikkei 225</c:v>
                </c:pt>
              </c:strCache>
            </c:strRef>
          </c:tx>
          <c:spPr>
            <a:solidFill>
              <a:srgbClr val="A6A6A6"/>
            </a:solidFill>
            <a:ln w="25400"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A6A6A6"/>
              </a:solidFill>
              <a:ln w="9525" cap="flat">
                <a:solidFill>
                  <a:srgbClr val="A6A6A6"/>
                </a:solidFill>
                <a:prstDash val="solid"/>
                <a:round/>
              </a:ln>
              <a:effectLst/>
            </c:spPr>
          </c:marker>
          <c:cat>
            <c:multiLvlStrRef>
              <c:f>Sheet1!$A$2:$A$8</c:f>
              <c:multiLvlStrCache>
                <c:ptCount val="7"/>
                <c:lvl>
                  <c:pt idx="0">
                    <c:v>YE2021</c:v>
                  </c:pt>
                  <c:pt idx="1">
                    <c:v>YE2022</c:v>
                  </c:pt>
                  <c:pt idx="2">
                    <c:v>YE2023</c:v>
                  </c:pt>
                  <c:pt idx="3">
                    <c:v>YE2024</c:v>
                  </c:pt>
                  <c:pt idx="4">
                    <c:v>YE2025</c:v>
                  </c:pt>
                  <c:pt idx="5">
                    <c:v>Jun-26 peak</c:v>
                  </c:pt>
                  <c:pt idx="6">
                    <c:v>Latest</c:v>
                  </c:pt>
                </c:lvl>
              </c:multiLvlStrCache>
            </c:multiLvlStrRef>
          </c:cat>
          <c:val>
            <c:numRef>
              <c:f>Sheet1!$D$2:$D$8</c:f>
              <c:numCache>
                <c:formatCode>General</c:formatCode>
                <c:ptCount val="7"/>
                <c:pt idx="0">
                  <c:v>100</c:v>
                </c:pt>
                <c:pt idx="1">
                  <c:v>90.6</c:v>
                </c:pt>
                <c:pt idx="2">
                  <c:v>116.2</c:v>
                </c:pt>
                <c:pt idx="3">
                  <c:v>138.6</c:v>
                </c:pt>
                <c:pt idx="4">
                  <c:v>174.8</c:v>
                </c:pt>
                <c:pt idx="5">
                  <c:v>231</c:v>
                </c:pt>
                <c:pt idx="6">
                  <c:v>222.8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70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max val="325"/>
          <c:min val="50"/>
        </c:scaling>
        <c:delete val="0"/>
        <c:axPos val="l"/>
        <c:majorGridlines>
          <c:spPr>
            <a:ln w="6350" cap="flat">
              <a:solidFill>
                <a:srgbClr val="E3E3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50" b="0" i="0" u="none" strike="noStrike">
                <a:solidFill>
                  <a:srgbClr val="595959"/>
                </a:solidFill>
                <a:latin typeface="Arial"/>
              </a:defRPr>
            </a:pPr>
            <a:endParaRPr lang="en-US"/>
          </a:p>
        </c:txPr>
        <c:crossAx val="2094734554"/>
        <c:crosses val="autoZero"/>
        <c:crossBetween val="between"/>
        <c:majorUnit val="50"/>
      </c:valAx>
      <c:spPr>
        <a:noFill/>
        <a:ln>
          <a:noFill/>
        </a:ln>
        <a:effectLst/>
      </c:spPr>
    </c:plotArea>
    <c:legend>
      <c:legendPos val="b"/>
      <c:overlay val="0"/>
      <c:txPr>
        <a:bodyPr/>
        <a:lstStyle/>
        <a:p>
          <a:pPr>
            <a:defRPr sz="750">
              <a:latin typeface="Arial"/>
              <a:cs typeface="Arial"/>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262626"/>
                </a:solidFill>
                <a:latin typeface="Arial"/>
              </a:defRPr>
            </a:pPr>
            <a:r>
              <a:rPr sz="950" b="0" i="0" u="none" strike="noStrike">
                <a:solidFill>
                  <a:srgbClr val="262626"/>
                </a:solidFill>
                <a:latin typeface="Arial"/>
              </a:rPr>
              <a:t>Fed funds rate (upper bound), 2022–2026</a:t>
            </a:r>
          </a:p>
        </c:rich>
      </c:tx>
      <c:layout/>
      <c:overlay val="0"/>
    </c:title>
    <c:autoTitleDeleted val="0"/>
    <c:plotArea>
      <c:layout/>
      <c:lineChart>
        <c:varyColors val="0"/>
        <c:ser>
          <c:idx val="0"/>
          <c:order val="0"/>
          <c:tx>
            <c:strRef>
              <c:f>Sheet1!$B$1</c:f>
              <c:strCache>
                <c:ptCount val="1"/>
                <c:pt idx="0">
                  <c:v>Fed funds (upper bound)</c:v>
                </c:pt>
              </c:strCache>
            </c:strRef>
          </c:tx>
          <c:spPr>
            <a:solidFill>
              <a:srgbClr val="2C5F82"/>
            </a:solidFill>
            <a:ln w="28575" cap="flat">
              <a:solidFill>
                <a:srgbClr val="2C5F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C5F82"/>
              </a:solidFill>
              <a:ln w="9525" cap="flat">
                <a:solidFill>
                  <a:srgbClr val="2C5F82"/>
                </a:solidFill>
                <a:prstDash val="solid"/>
                <a:round/>
              </a:ln>
              <a:effectLst/>
            </c:spPr>
          </c:marker>
          <c:cat>
            <c:multiLvlStrRef>
              <c:f>Sheet1!$A$2:$A$20</c:f>
              <c:multiLvlStrCache>
                <c:ptCount val="19"/>
                <c:lvl>
                  <c:pt idx="0">
                    <c:v>Q1-22</c:v>
                  </c:pt>
                  <c:pt idx="1">
                    <c:v>Q2-22</c:v>
                  </c:pt>
                  <c:pt idx="2">
                    <c:v>Q3-22</c:v>
                  </c:pt>
                  <c:pt idx="3">
                    <c:v>Q4-22</c:v>
                  </c:pt>
                  <c:pt idx="4">
                    <c:v>Q1-23</c:v>
                  </c:pt>
                  <c:pt idx="5">
                    <c:v>Q2-23</c:v>
                  </c:pt>
                  <c:pt idx="6">
                    <c:v>Q3-23</c:v>
                  </c:pt>
                  <c:pt idx="7">
                    <c:v>Q4-23</c:v>
                  </c:pt>
                  <c:pt idx="8">
                    <c:v>Q1-24</c:v>
                  </c:pt>
                  <c:pt idx="9">
                    <c:v>Q2-24</c:v>
                  </c:pt>
                  <c:pt idx="10">
                    <c:v>Q3-24</c:v>
                  </c:pt>
                  <c:pt idx="11">
                    <c:v>Q4-24</c:v>
                  </c:pt>
                  <c:pt idx="12">
                    <c:v>Q1-25</c:v>
                  </c:pt>
                  <c:pt idx="13">
                    <c:v>Q2-25</c:v>
                  </c:pt>
                  <c:pt idx="14">
                    <c:v>Q3-25</c:v>
                  </c:pt>
                  <c:pt idx="15">
                    <c:v>Q4-25</c:v>
                  </c:pt>
                  <c:pt idx="16">
                    <c:v>Q1-26</c:v>
                  </c:pt>
                  <c:pt idx="17">
                    <c:v>Q2-26</c:v>
                  </c:pt>
                  <c:pt idx="18">
                    <c:v>Q3-26</c:v>
                  </c:pt>
                </c:lvl>
              </c:multiLvlStrCache>
            </c:multiLvlStrRef>
          </c:cat>
          <c:val>
            <c:numRef>
              <c:f>Sheet1!$B$2:$B$20</c:f>
              <c:numCache>
                <c:formatCode>General</c:formatCode>
                <c:ptCount val="19"/>
                <c:pt idx="0">
                  <c:v>0.5</c:v>
                </c:pt>
                <c:pt idx="1">
                  <c:v>1.75</c:v>
                </c:pt>
                <c:pt idx="2">
                  <c:v>3.25</c:v>
                </c:pt>
                <c:pt idx="3">
                  <c:v>4.5</c:v>
                </c:pt>
                <c:pt idx="4">
                  <c:v>5</c:v>
                </c:pt>
                <c:pt idx="5">
                  <c:v>5.25</c:v>
                </c:pt>
                <c:pt idx="6">
                  <c:v>5.5</c:v>
                </c:pt>
                <c:pt idx="7">
                  <c:v>5.5</c:v>
                </c:pt>
                <c:pt idx="8">
                  <c:v>5.5</c:v>
                </c:pt>
                <c:pt idx="9">
                  <c:v>5.5</c:v>
                </c:pt>
                <c:pt idx="10">
                  <c:v>5</c:v>
                </c:pt>
                <c:pt idx="11">
                  <c:v>4.5</c:v>
                </c:pt>
                <c:pt idx="12">
                  <c:v>4.5</c:v>
                </c:pt>
                <c:pt idx="13">
                  <c:v>4.5</c:v>
                </c:pt>
                <c:pt idx="14">
                  <c:v>4.25</c:v>
                </c:pt>
                <c:pt idx="15">
                  <c:v>3.75</c:v>
                </c:pt>
                <c:pt idx="16">
                  <c:v>3.75</c:v>
                </c:pt>
                <c:pt idx="17">
                  <c:v>3.75</c:v>
                </c:pt>
                <c:pt idx="18">
                  <c:v>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65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750" b="0" i="0" u="none" strike="noStrike">
                <a:solidFill>
                  <a:srgbClr val="595959"/>
                </a:solidFill>
                <a:latin typeface="Arial"/>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Fed funds (upper bound)</c:v>
                </c:pt>
              </c:strCache>
            </c:strRef>
          </c:tx>
          <c:spPr>
            <a:solidFill>
              <a:srgbClr val="2C5F82"/>
            </a:solidFill>
            <a:ln w="28575" cap="flat">
              <a:solidFill>
                <a:srgbClr val="2C5F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C5F82"/>
              </a:solidFill>
              <a:ln w="9525" cap="flat">
                <a:solidFill>
                  <a:srgbClr val="2C5F82"/>
                </a:solidFill>
                <a:prstDash val="solid"/>
                <a:round/>
              </a:ln>
              <a:effectLst/>
            </c:spPr>
          </c:marker>
          <c:cat>
            <c:multiLvlStrRef>
              <c:f>Sheet1!$A$2:$A$20</c:f>
              <c:multiLvlStrCache>
                <c:ptCount val="19"/>
                <c:lvl>
                  <c:pt idx="0">
                    <c:v>Q1-22</c:v>
                  </c:pt>
                  <c:pt idx="1">
                    <c:v>Q2-22</c:v>
                  </c:pt>
                  <c:pt idx="2">
                    <c:v>Q3-22</c:v>
                  </c:pt>
                  <c:pt idx="3">
                    <c:v>Q4-22</c:v>
                  </c:pt>
                  <c:pt idx="4">
                    <c:v>Q1-23</c:v>
                  </c:pt>
                  <c:pt idx="5">
                    <c:v>Q2-23</c:v>
                  </c:pt>
                  <c:pt idx="6">
                    <c:v>Q3-23</c:v>
                  </c:pt>
                  <c:pt idx="7">
                    <c:v>Q4-23</c:v>
                  </c:pt>
                  <c:pt idx="8">
                    <c:v>Q1-24</c:v>
                  </c:pt>
                  <c:pt idx="9">
                    <c:v>Q2-24</c:v>
                  </c:pt>
                  <c:pt idx="10">
                    <c:v>Q3-24</c:v>
                  </c:pt>
                  <c:pt idx="11">
                    <c:v>Q4-24</c:v>
                  </c:pt>
                  <c:pt idx="12">
                    <c:v>Q1-25</c:v>
                  </c:pt>
                  <c:pt idx="13">
                    <c:v>Q2-25</c:v>
                  </c:pt>
                  <c:pt idx="14">
                    <c:v>Q3-25</c:v>
                  </c:pt>
                  <c:pt idx="15">
                    <c:v>Q4-25</c:v>
                  </c:pt>
                  <c:pt idx="16">
                    <c:v>Q1-26</c:v>
                  </c:pt>
                  <c:pt idx="17">
                    <c:v>Q2-26</c:v>
                  </c:pt>
                  <c:pt idx="18">
                    <c:v>Q3-26</c:v>
                  </c:pt>
                </c:lvl>
              </c:multiLvlStrCache>
            </c:multiLvlStrRef>
          </c:cat>
          <c:val>
            <c:numRef>
              <c:f>Sheet1!$B$2:$B$20</c:f>
              <c:numCache>
                <c:formatCode>General</c:formatCode>
                <c:ptCount val="19"/>
                <c:pt idx="0">
                  <c:v>0.5</c:v>
                </c:pt>
                <c:pt idx="1">
                  <c:v>1.75</c:v>
                </c:pt>
                <c:pt idx="2">
                  <c:v>3.25</c:v>
                </c:pt>
                <c:pt idx="3">
                  <c:v>4.5</c:v>
                </c:pt>
                <c:pt idx="4">
                  <c:v>5</c:v>
                </c:pt>
                <c:pt idx="5">
                  <c:v>5.25</c:v>
                </c:pt>
                <c:pt idx="6">
                  <c:v>5.5</c:v>
                </c:pt>
                <c:pt idx="7">
                  <c:v>5.5</c:v>
                </c:pt>
                <c:pt idx="8">
                  <c:v>5.5</c:v>
                </c:pt>
                <c:pt idx="9">
                  <c:v>5.5</c:v>
                </c:pt>
                <c:pt idx="10">
                  <c:v>5</c:v>
                </c:pt>
                <c:pt idx="11">
                  <c:v>4.5</c:v>
                </c:pt>
                <c:pt idx="12">
                  <c:v>4.5</c:v>
                </c:pt>
                <c:pt idx="13">
                  <c:v>4.5</c:v>
                </c:pt>
                <c:pt idx="14">
                  <c:v>4.25</c:v>
                </c:pt>
                <c:pt idx="15">
                  <c:v>3.75</c:v>
                </c:pt>
                <c:pt idx="16">
                  <c:v>3.75</c:v>
                </c:pt>
                <c:pt idx="17">
                  <c:v>3.75</c:v>
                </c:pt>
                <c:pt idx="18">
                  <c:v>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65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95959"/>
                </a:solidFill>
                <a:latin typeface="Arial"/>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TAIEX</c:v>
                </c:pt>
              </c:strCache>
            </c:strRef>
          </c:tx>
          <c:spPr>
            <a:solidFill>
              <a:srgbClr val="2C5F82"/>
            </a:solidFill>
            <a:ln w="25400" cap="flat">
              <a:solidFill>
                <a:srgbClr val="2C5F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2C5F82"/>
              </a:solidFill>
              <a:ln w="9525" cap="flat">
                <a:solidFill>
                  <a:srgbClr val="2C5F82"/>
                </a:solidFill>
                <a:prstDash val="solid"/>
                <a:round/>
              </a:ln>
              <a:effectLst/>
            </c:spPr>
          </c:marker>
          <c:cat>
            <c:multiLvlStrRef>
              <c:f>Sheet1!$A$2:$A$8</c:f>
              <c:multiLvlStrCache>
                <c:ptCount val="7"/>
                <c:lvl>
                  <c:pt idx="0">
                    <c:v>YE2021</c:v>
                  </c:pt>
                  <c:pt idx="1">
                    <c:v>YE2022</c:v>
                  </c:pt>
                  <c:pt idx="2">
                    <c:v>YE2023</c:v>
                  </c:pt>
                  <c:pt idx="3">
                    <c:v>YE2024</c:v>
                  </c:pt>
                  <c:pt idx="4">
                    <c:v>YE2025</c:v>
                  </c:pt>
                  <c:pt idx="5">
                    <c:v>Jun-26 peak</c:v>
                  </c:pt>
                  <c:pt idx="6">
                    <c:v>Latest</c:v>
                  </c:pt>
                </c:lvl>
              </c:multiLvlStrCache>
            </c:multiLvlStrRef>
          </c:cat>
          <c:val>
            <c:numRef>
              <c:f>Sheet1!$B$2:$B$8</c:f>
              <c:numCache>
                <c:formatCode>General</c:formatCode>
                <c:ptCount val="7"/>
                <c:pt idx="0">
                  <c:v>100</c:v>
                </c:pt>
                <c:pt idx="1">
                  <c:v>77.6</c:v>
                </c:pt>
                <c:pt idx="2">
                  <c:v>98.4</c:v>
                </c:pt>
                <c:pt idx="3">
                  <c:v>126.4</c:v>
                </c:pt>
                <c:pt idx="4">
                  <c:v>159</c:v>
                </c:pt>
                <c:pt idx="5">
                  <c:v>262.1</c:v>
                </c:pt>
                <c:pt idx="6">
                  <c:v>266.1</c:v>
                </c:pt>
              </c:numCache>
            </c:numRef>
          </c:val>
          <c:smooth val="0"/>
        </c:ser>
        <c:ser>
          <c:idx val="1"/>
          <c:order val="1"/>
          <c:tx>
            <c:strRef>
              <c:f>Sheet1!$C$1</c:f>
              <c:strCache>
                <c:ptCount val="1"/>
                <c:pt idx="0">
                  <c:v>KOSPI</c:v>
                </c:pt>
              </c:strCache>
            </c:strRef>
          </c:tx>
          <c:spPr>
            <a:solidFill>
              <a:srgbClr val="B23B3B"/>
            </a:solidFill>
            <a:ln w="25400" cap="flat">
              <a:solidFill>
                <a:srgbClr val="B23B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B23B3B"/>
              </a:solidFill>
              <a:ln w="9525" cap="flat">
                <a:solidFill>
                  <a:srgbClr val="B23B3B"/>
                </a:solidFill>
                <a:prstDash val="solid"/>
                <a:round/>
              </a:ln>
              <a:effectLst/>
            </c:spPr>
          </c:marker>
          <c:cat>
            <c:multiLvlStrRef>
              <c:f>Sheet1!$A$2:$A$8</c:f>
              <c:multiLvlStrCache>
                <c:ptCount val="7"/>
                <c:lvl>
                  <c:pt idx="0">
                    <c:v>YE2021</c:v>
                  </c:pt>
                  <c:pt idx="1">
                    <c:v>YE2022</c:v>
                  </c:pt>
                  <c:pt idx="2">
                    <c:v>YE2023</c:v>
                  </c:pt>
                  <c:pt idx="3">
                    <c:v>YE2024</c:v>
                  </c:pt>
                  <c:pt idx="4">
                    <c:v>YE2025</c:v>
                  </c:pt>
                  <c:pt idx="5">
                    <c:v>Jun-26 peak</c:v>
                  </c:pt>
                  <c:pt idx="6">
                    <c:v>Latest</c:v>
                  </c:pt>
                </c:lvl>
              </c:multiLvlStrCache>
            </c:multiLvlStrRef>
          </c:cat>
          <c:val>
            <c:numRef>
              <c:f>Sheet1!$C$2:$C$8</c:f>
              <c:numCache>
                <c:formatCode>General</c:formatCode>
                <c:ptCount val="7"/>
                <c:pt idx="0">
                  <c:v>100</c:v>
                </c:pt>
                <c:pt idx="1">
                  <c:v>75.1</c:v>
                </c:pt>
                <c:pt idx="2">
                  <c:v>89.2</c:v>
                </c:pt>
                <c:pt idx="3">
                  <c:v>80.6</c:v>
                </c:pt>
                <c:pt idx="4">
                  <c:v>141.5</c:v>
                </c:pt>
                <c:pt idx="5">
                  <c:v>302.3</c:v>
                </c:pt>
                <c:pt idx="6">
                  <c:v>237.8</c:v>
                </c:pt>
              </c:numCache>
            </c:numRef>
          </c:val>
          <c:smooth val="0"/>
        </c:ser>
        <c:ser>
          <c:idx val="2"/>
          <c:order val="2"/>
          <c:tx>
            <c:strRef>
              <c:f>Sheet1!$D$1</c:f>
              <c:strCache>
                <c:ptCount val="1"/>
                <c:pt idx="0">
                  <c:v>Nikkei 225</c:v>
                </c:pt>
              </c:strCache>
            </c:strRef>
          </c:tx>
          <c:spPr>
            <a:solidFill>
              <a:srgbClr val="A6A6A6"/>
            </a:solidFill>
            <a:ln w="25400"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A6A6A6"/>
              </a:solidFill>
              <a:ln w="9525" cap="flat">
                <a:solidFill>
                  <a:srgbClr val="A6A6A6"/>
                </a:solidFill>
                <a:prstDash val="solid"/>
                <a:round/>
              </a:ln>
              <a:effectLst/>
            </c:spPr>
          </c:marker>
          <c:cat>
            <c:multiLvlStrRef>
              <c:f>Sheet1!$A$2:$A$8</c:f>
              <c:multiLvlStrCache>
                <c:ptCount val="7"/>
                <c:lvl>
                  <c:pt idx="0">
                    <c:v>YE2021</c:v>
                  </c:pt>
                  <c:pt idx="1">
                    <c:v>YE2022</c:v>
                  </c:pt>
                  <c:pt idx="2">
                    <c:v>YE2023</c:v>
                  </c:pt>
                  <c:pt idx="3">
                    <c:v>YE2024</c:v>
                  </c:pt>
                  <c:pt idx="4">
                    <c:v>YE2025</c:v>
                  </c:pt>
                  <c:pt idx="5">
                    <c:v>Jun-26 peak</c:v>
                  </c:pt>
                  <c:pt idx="6">
                    <c:v>Latest</c:v>
                  </c:pt>
                </c:lvl>
              </c:multiLvlStrCache>
            </c:multiLvlStrRef>
          </c:cat>
          <c:val>
            <c:numRef>
              <c:f>Sheet1!$D$2:$D$8</c:f>
              <c:numCache>
                <c:formatCode>General</c:formatCode>
                <c:ptCount val="7"/>
                <c:pt idx="0">
                  <c:v>100</c:v>
                </c:pt>
                <c:pt idx="1">
                  <c:v>90.6</c:v>
                </c:pt>
                <c:pt idx="2">
                  <c:v>116.2</c:v>
                </c:pt>
                <c:pt idx="3">
                  <c:v>138.6</c:v>
                </c:pt>
                <c:pt idx="4">
                  <c:v>174.8</c:v>
                </c:pt>
                <c:pt idx="5">
                  <c:v>231</c:v>
                </c:pt>
                <c:pt idx="6">
                  <c:v>222.8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65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max val="325"/>
          <c:min val="50"/>
        </c:scaling>
        <c:delete val="0"/>
        <c:axPos val="l"/>
        <c:majorGridlines>
          <c:spPr>
            <a:ln w="6350" cap="flat">
              <a:solidFill>
                <a:srgbClr val="E3E3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95959"/>
                </a:solidFill>
                <a:latin typeface="Arial"/>
              </a:defRPr>
            </a:pPr>
            <a:endParaRPr lang="en-US"/>
          </a:p>
        </c:txPr>
        <c:crossAx val="2094734554"/>
        <c:crosses val="autoZero"/>
        <c:crossBetween val="between"/>
        <c:majorUnit val="100"/>
      </c:valAx>
      <c:spPr>
        <a:noFill/>
        <a:ln>
          <a:noFill/>
        </a:ln>
        <a:effectLst/>
      </c:spPr>
    </c:plotArea>
    <c:legend>
      <c:legendPos val="r"/>
      <c:overlay val="0"/>
      <c:txPr>
        <a:bodyPr/>
        <a:lstStyle/>
        <a:p>
          <a:pPr>
            <a:defRPr sz="750">
              <a:latin typeface="Arial"/>
              <a:cs typeface="Arial"/>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5Y USD bond</c:v>
                </c:pt>
              </c:strCache>
            </c:strRef>
          </c:tx>
          <c:spPr>
            <a:solidFill>
              <a:srgbClr val="404040"/>
            </a:solidFill>
            <a:effectLst/>
          </c:spPr>
          <c:invertIfNegative val="0"/>
          <c:dLbls>
            <c:numFmt formatCode="0.0" sourceLinked="0"/>
            <c:txPr>
              <a:bodyPr/>
              <a:lstStyle/>
              <a:p>
                <a:pPr>
                  <a:defRPr b="0" i="0" strike="noStrike" sz="700" u="none">
                    <a:solidFill>
                      <a:srgbClr val="262626"/>
                    </a:solidFill>
                    <a:latin typeface="Arial"/>
                  </a:defRPr>
                </a:pPr>
              </a:p>
            </c:txPr>
            <c:showLegendKey val="0"/>
            <c:showVal val="1"/>
            <c:showCatName val="0"/>
            <c:showSerName val="0"/>
            <c:showPercent val="0"/>
            <c:showBubbleSize val="0"/>
            <c:showLeaderLines val="0"/>
          </c:dLbls>
          <c:cat>
            <c:multiLvlStrRef>
              <c:f>Sheet1!$A$2:$A$10</c:f>
              <c:multiLvlStrCache>
                <c:ptCount val="9"/>
                <c:lvl>
                  <c:pt idx="0">
                    <c:v>-2.0%</c:v>
                  </c:pt>
                  <c:pt idx="1">
                    <c:v>-1.5%</c:v>
                  </c:pt>
                  <c:pt idx="2">
                    <c:v>-1.0%</c:v>
                  </c:pt>
                  <c:pt idx="3">
                    <c:v>-0.5%</c:v>
                  </c:pt>
                  <c:pt idx="4">
                    <c:v>0</c:v>
                  </c:pt>
                  <c:pt idx="5">
                    <c:v>+0.5%</c:v>
                  </c:pt>
                  <c:pt idx="6">
                    <c:v>+1.0%</c:v>
                  </c:pt>
                  <c:pt idx="7">
                    <c:v>+1.5%</c:v>
                  </c:pt>
                  <c:pt idx="8">
                    <c:v>+2.0%</c:v>
                  </c:pt>
                </c:lvl>
              </c:multiLvlStrCache>
            </c:multiLvlStrRef>
          </c:cat>
          <c:val>
            <c:numRef>
              <c:f>Sheet1!$B$2:$B$10</c:f>
              <c:numCache>
                <c:formatCode>General</c:formatCode>
                <c:ptCount val="9"/>
                <c:pt idx="0">
                  <c:v>9.1</c:v>
                </c:pt>
                <c:pt idx="1">
                  <c:v>6.8</c:v>
                </c:pt>
                <c:pt idx="2">
                  <c:v>4.5</c:v>
                </c:pt>
                <c:pt idx="3">
                  <c:v>2.3</c:v>
                </c:pt>
                <c:pt idx="4">
                  <c:v>0</c:v>
                </c:pt>
                <c:pt idx="5">
                  <c:v>-2</c:v>
                </c:pt>
                <c:pt idx="6">
                  <c:v>-4</c:v>
                </c:pt>
                <c:pt idx="7">
                  <c:v>-6</c:v>
                </c:pt>
                <c:pt idx="8">
                  <c:v>-7.9</c:v>
                </c:pt>
              </c:numCache>
            </c:numRef>
          </c:val>
        </c:ser>
        <c:dLbls>
          <c:numFmt formatCode="0.0" sourceLinked="0"/>
          <c:txPr>
            <a:bodyPr/>
            <a:lstStyle/>
            <a:p>
              <a:pPr>
                <a:defRPr b="0" i="0" strike="noStrike" sz="700" u="none">
                  <a:solidFill>
                    <a:srgbClr val="26262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75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max val="12"/>
          <c:min val="-12"/>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95959"/>
                </a:solidFill>
                <a:latin typeface="Arial"/>
              </a:defRPr>
            </a:pPr>
            <a:endParaRPr lang="en-US"/>
          </a:p>
        </c:txPr>
        <c:crossAx val="2094734554"/>
        <c:crosses val="autoZero"/>
        <c:crossBetween val="between"/>
        <c:majorUnit val="4"/>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Trailing P/E</c:v>
                </c:pt>
              </c:strCache>
            </c:strRef>
          </c:tx>
          <c:spPr>
            <a:solidFill>
              <a:srgbClr val="A6A6A6"/>
            </a:solidFill>
            <a:effectLst/>
          </c:spPr>
          <c:invertIfNegative val="0"/>
          <c:dLbls>
            <c:numFmt formatCode="0.0&quot;×&quot;" sourceLinked="0"/>
            <c:txPr>
              <a:bodyPr/>
              <a:lstStyle/>
              <a:p>
                <a:pPr>
                  <a:defRPr b="0" i="0" strike="noStrike" sz="800" u="none">
                    <a:solidFill>
                      <a:srgbClr val="262626"/>
                    </a:solidFill>
                    <a:latin typeface="Arial"/>
                  </a:defRPr>
                </a:pPr>
              </a:p>
            </c:txPr>
            <c:showLegendKey val="0"/>
            <c:showVal val="1"/>
            <c:showCatName val="0"/>
            <c:showSerName val="0"/>
            <c:showPercent val="0"/>
            <c:showBubbleSize val="0"/>
            <c:showLeaderLines val="0"/>
          </c:dLbls>
          <c:cat>
            <c:multiLvlStrRef>
              <c:f>Sheet1!$A$2:$A$3</c:f>
              <c:multiLvlStrCache>
                <c:ptCount val="2"/>
                <c:lvl>
                  <c:pt idx="0">
                    <c:v>KOSPI</c:v>
                  </c:pt>
                  <c:pt idx="1">
                    <c:v>Nikkei 225</c:v>
                  </c:pt>
                </c:lvl>
              </c:multiLvlStrCache>
            </c:multiLvlStrRef>
          </c:cat>
          <c:val>
            <c:numRef>
              <c:f>Sheet1!$B$2:$B$3</c:f>
              <c:numCache>
                <c:formatCode>General</c:formatCode>
                <c:ptCount val="2"/>
                <c:pt idx="0">
                  <c:v>22.95</c:v>
                </c:pt>
                <c:pt idx="1">
                  <c:v>22.09</c:v>
                </c:pt>
              </c:numCache>
            </c:numRef>
          </c:val>
        </c:ser>
        <c:ser>
          <c:idx val="1"/>
          <c:order val="1"/>
          <c:tx>
            <c:strRef>
              <c:f>Sheet1!$C$1</c:f>
              <c:strCache>
                <c:ptCount val="1"/>
                <c:pt idx="0">
                  <c:v>Forward P/E</c:v>
                </c:pt>
              </c:strCache>
            </c:strRef>
          </c:tx>
          <c:spPr>
            <a:solidFill>
              <a:srgbClr val="2C5F82"/>
            </a:solidFill>
            <a:effectLst/>
          </c:spPr>
          <c:invertIfNegative val="0"/>
          <c:dLbls>
            <c:numFmt formatCode="0.0&quot;×&quot;" sourceLinked="0"/>
            <c:txPr>
              <a:bodyPr/>
              <a:lstStyle/>
              <a:p>
                <a:pPr>
                  <a:defRPr b="0" i="0" strike="noStrike" sz="800" u="none">
                    <a:solidFill>
                      <a:srgbClr val="262626"/>
                    </a:solidFill>
                    <a:latin typeface="Arial"/>
                  </a:defRPr>
                </a:pPr>
              </a:p>
            </c:txPr>
            <c:showLegendKey val="0"/>
            <c:showVal val="1"/>
            <c:showCatName val="0"/>
            <c:showSerName val="0"/>
            <c:showPercent val="0"/>
            <c:showBubbleSize val="0"/>
            <c:showLeaderLines val="0"/>
          </c:dLbls>
          <c:cat>
            <c:multiLvlStrRef>
              <c:f>Sheet1!$A$2:$A$3</c:f>
              <c:multiLvlStrCache>
                <c:ptCount val="2"/>
                <c:lvl>
                  <c:pt idx="0">
                    <c:v>KOSPI</c:v>
                  </c:pt>
                  <c:pt idx="1">
                    <c:v>Nikkei 225</c:v>
                  </c:pt>
                </c:lvl>
              </c:multiLvlStrCache>
            </c:multiLvlStrRef>
          </c:cat>
          <c:val>
            <c:numRef>
              <c:f>Sheet1!$C$2:$C$3</c:f>
              <c:numCache>
                <c:formatCode>General</c:formatCode>
                <c:ptCount val="2"/>
                <c:pt idx="0">
                  <c:v>7.82</c:v>
                </c:pt>
                <c:pt idx="1">
                  <c:v>17.18</c:v>
                </c:pt>
              </c:numCache>
            </c:numRef>
          </c:val>
        </c:ser>
        <c:dLbls>
          <c:numFmt formatCode="0.0&quot;×&quot;" sourceLinked="0"/>
          <c:txPr>
            <a:bodyPr/>
            <a:lstStyle/>
            <a:p>
              <a:pPr>
                <a:defRPr b="0" i="0" strike="noStrike" sz="800" u="none">
                  <a:solidFill>
                    <a:srgbClr val="26262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85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max val="2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95959"/>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800">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Thesis 1. AI is a hardware story and Taiwan, Korea and Japan each own a bottleneck. The boom is visible in earnings, not just prices: KOSPI's forward P/E of 7.8x against 23x trailing means analysts expect earnings to roughly triple. But the cycle is maturing: memory price increases are decelerating and US tariffs are a live risk. That tension, a great theme on a risky path, is thesis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Third-party validation from J.P. Morgan's 2026 Outlook. Left: the AI theme has driven most of the equity market's returns and earnings since ChatGPT, and the moat runs through TSMC (8 of the 10 largest companies depend on it). Right: JPM's own 'what could go wrong' list highlights: Taiwan dependence (~92% of advanced chips) and blockade vulnerability, a possible 'Metaverse moment' for hyperscaler capex, and a 10–15% correction in its 2026 base case. These are the risks any investor in the theme has to manage. Note: the outlook is dated 1 Jan 2026, before this year's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Thesis 2, market evidence only. Economic: AI-hardware demand is structural, but the equity path is violent (2022 falls, 2026 round trips), concentrated in a handful of names, and valuations already assume a lot while memory price momentum slows. Finance: the Fed is hiking again, so long bonds carry real rate risk; volatility is at record highs; and high rates make a capital floor unusually cheap. Each point ends with the autocall link: coupons paid on recovery (not timing), a diversified basket, capped upside that costs little, short duration, coupons funded by volatility, and a floor funded by high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dot plot is the Fed's own forecast. Each dot is one FOMC participant's view of the right policy rate at year-end. Three readings: (1) the median sees one more hike this year and no cuts until 2028, so USD rates stay high for most of our 5-year horizon; (2) a hawkish minority sees 4.375%, so long bonds carry real downside; (3) the dots are widely spread, so rate volatility, and with it option premium, stays high. Each reading links to why a short-dated autocall with a 70% floor fits: cheap floor, early redemption, coupon funded by volatility, and supportive easing later in the life of the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One-slide thesis 2, modelled on the 'traditional strategies fall short' format, using market evidence only: rising rates (bond duration risk), violent equity paths, concentration, record volatility and a late, richly priced cycle. Implications link each market fact to why an autocallable structure fits; our specific note and its numbers come in the product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chart" Target="/ppt/charts/chart1.xml"/><Relationship Id="rId5" Type="http://schemas.openxmlformats.org/officeDocument/2006/relationships/chart" Target="/ppt/charts/chart2.xml"/><Relationship Id="rId6" Type="http://schemas.openxmlformats.org/officeDocument/2006/relationships/chart" Target="/ppt/charts/chart3.xm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chart" Target="/ppt/charts/chart10.xml"/><Relationship Id="rId4" Type="http://schemas.openxmlformats.org/officeDocument/2006/relationships/chart" Target="/ppt/charts/chart11.xml"/><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548640"/>
          </a:xfrm>
          <a:prstGeom prst="rect">
            <a:avLst/>
          </a:prstGeom>
          <a:noFill/>
          <a:ln/>
        </p:spPr>
        <p:txBody>
          <a:bodyPr wrap="square" lIns="0" tIns="0" rIns="0" bIns="0" rtlCol="0" anchor="ctr"/>
          <a:lstStyle/>
          <a:p>
            <a:pPr indent="0" marL="0">
              <a:buNone/>
            </a:pPr>
            <a:r>
              <a:rPr lang="en-US" sz="2400" dirty="0">
                <a:solidFill>
                  <a:srgbClr val="262626"/>
                </a:solidFill>
                <a:latin typeface="Arial" pitchFamily="34" charset="0"/>
                <a:ea typeface="Arial" pitchFamily="34" charset="-122"/>
                <a:cs typeface="Arial" pitchFamily="34" charset="-120"/>
              </a:rPr>
              <a:t>Investment thesis 1: AI is a hardware boom, and Asia owns the chokepoints</a:t>
            </a:r>
            <a:endParaRPr lang="en-US" sz="2400" dirty="0"/>
          </a:p>
        </p:txBody>
      </p:sp>
      <p:sp>
        <p:nvSpPr>
          <p:cNvPr id="3" name="Shape 1"/>
          <p:cNvSpPr/>
          <p:nvPr/>
        </p:nvSpPr>
        <p:spPr>
          <a:xfrm>
            <a:off x="457200" y="896112"/>
            <a:ext cx="11274552" cy="0"/>
          </a:xfrm>
          <a:prstGeom prst="line">
            <a:avLst/>
          </a:prstGeom>
          <a:noFill/>
          <a:ln w="12700">
            <a:solidFill>
              <a:srgbClr val="2C5F82"/>
            </a:solidFill>
            <a:prstDash val="solid"/>
          </a:ln>
        </p:spPr>
      </p:sp>
      <p:sp>
        <p:nvSpPr>
          <p:cNvPr id="4" name="Shape 2"/>
          <p:cNvSpPr/>
          <p:nvPr/>
        </p:nvSpPr>
        <p:spPr>
          <a:xfrm>
            <a:off x="457200" y="6382512"/>
            <a:ext cx="11274552" cy="0"/>
          </a:xfrm>
          <a:prstGeom prst="line">
            <a:avLst/>
          </a:prstGeom>
          <a:noFill/>
          <a:ln w="9525">
            <a:solidFill>
              <a:srgbClr val="BFBFBF"/>
            </a:solidFill>
            <a:prstDash val="solid"/>
          </a:ln>
        </p:spPr>
      </p:sp>
      <p:sp>
        <p:nvSpPr>
          <p:cNvPr id="5" name="Shape 3"/>
          <p:cNvSpPr/>
          <p:nvPr/>
        </p:nvSpPr>
        <p:spPr>
          <a:xfrm>
            <a:off x="1005840" y="6364224"/>
            <a:ext cx="2514600" cy="45720"/>
          </a:xfrm>
          <a:prstGeom prst="rect">
            <a:avLst/>
          </a:prstGeom>
          <a:solidFill>
            <a:srgbClr val="2C5F82"/>
          </a:solidFill>
          <a:ln w="12700">
            <a:solidFill>
              <a:srgbClr val="2C5F82"/>
            </a:solidFill>
            <a:prstDash val="solid"/>
          </a:ln>
        </p:spPr>
      </p:sp>
      <p:sp>
        <p:nvSpPr>
          <p:cNvPr id="6" name="Text 4"/>
          <p:cNvSpPr txBox="1"/>
          <p:nvPr/>
        </p:nvSpPr>
        <p:spPr>
          <a:xfrm>
            <a:off x="457200" y="6446520"/>
            <a:ext cx="3611880" cy="274320"/>
          </a:xfrm>
          <a:prstGeom prst="rect">
            <a:avLst/>
          </a:prstGeom>
          <a:noFill/>
          <a:ln/>
        </p:spPr>
        <p:txBody>
          <a:bodyPr wrap="square" lIns="0" tIns="0" rIns="0" bIns="0" rtlCol="0" anchor="t"/>
          <a:lstStyle/>
          <a:p>
            <a:pPr algn="ctr" indent="0" marL="0">
              <a:buNone/>
            </a:pPr>
            <a:r>
              <a:rPr lang="en-US" sz="1200" b="1" spc="100" kern="0" dirty="0">
                <a:solidFill>
                  <a:srgbClr val="2C5F82"/>
                </a:solidFill>
                <a:latin typeface="Arial" pitchFamily="34" charset="0"/>
                <a:ea typeface="Arial" pitchFamily="34" charset="-122"/>
                <a:cs typeface="Arial" pitchFamily="34" charset="-120"/>
              </a:rPr>
              <a:t>ANALYSIS</a:t>
            </a:r>
            <a:endParaRPr lang="en-US" sz="1200" dirty="0"/>
          </a:p>
        </p:txBody>
      </p:sp>
      <p:sp>
        <p:nvSpPr>
          <p:cNvPr id="7" name="Text 5"/>
          <p:cNvSpPr txBox="1"/>
          <p:nvPr/>
        </p:nvSpPr>
        <p:spPr>
          <a:xfrm>
            <a:off x="4288536" y="6446520"/>
            <a:ext cx="3611880" cy="274320"/>
          </a:xfrm>
          <a:prstGeom prst="rect">
            <a:avLst/>
          </a:prstGeom>
          <a:noFill/>
          <a:ln/>
        </p:spPr>
        <p:txBody>
          <a:bodyPr wrap="square" lIns="0" tIns="0" rIns="0" bIns="0" rtlCol="0" anchor="t"/>
          <a:lstStyle/>
          <a:p>
            <a:pPr algn="ctr" indent="0" marL="0">
              <a:buNone/>
            </a:pPr>
            <a:r>
              <a:rPr lang="en-US" sz="1200" spc="100" kern="0" dirty="0">
                <a:solidFill>
                  <a:srgbClr val="595959"/>
                </a:solidFill>
                <a:latin typeface="Arial" pitchFamily="34" charset="0"/>
                <a:ea typeface="Arial" pitchFamily="34" charset="-122"/>
                <a:cs typeface="Arial" pitchFamily="34" charset="-120"/>
              </a:rPr>
              <a:t>STRATEGY</a:t>
            </a:r>
            <a:endParaRPr lang="en-US" sz="1200" dirty="0"/>
          </a:p>
        </p:txBody>
      </p:sp>
      <p:sp>
        <p:nvSpPr>
          <p:cNvPr id="8" name="Text 6"/>
          <p:cNvSpPr txBox="1"/>
          <p:nvPr/>
        </p:nvSpPr>
        <p:spPr>
          <a:xfrm>
            <a:off x="8129016" y="6446520"/>
            <a:ext cx="3611880" cy="274320"/>
          </a:xfrm>
          <a:prstGeom prst="rect">
            <a:avLst/>
          </a:prstGeom>
          <a:noFill/>
          <a:ln/>
        </p:spPr>
        <p:txBody>
          <a:bodyPr wrap="square" lIns="0" tIns="0" rIns="0" bIns="0" rtlCol="0" anchor="t"/>
          <a:lstStyle/>
          <a:p>
            <a:pPr algn="ctr" indent="0" marL="0">
              <a:buNone/>
            </a:pPr>
            <a:r>
              <a:rPr lang="en-US" sz="1200" spc="100" kern="0" dirty="0">
                <a:solidFill>
                  <a:srgbClr val="595959"/>
                </a:solidFill>
                <a:latin typeface="Arial" pitchFamily="34" charset="0"/>
                <a:ea typeface="Arial" pitchFamily="34" charset="-122"/>
                <a:cs typeface="Arial" pitchFamily="34" charset="-120"/>
              </a:rPr>
              <a:t>APPENDIX</a:t>
            </a:r>
            <a:endParaRPr lang="en-US" sz="1200" dirty="0"/>
          </a:p>
        </p:txBody>
      </p:sp>
      <p:sp>
        <p:nvSpPr>
          <p:cNvPr id="9" name="Shape 7"/>
          <p:cNvSpPr/>
          <p:nvPr/>
        </p:nvSpPr>
        <p:spPr>
          <a:xfrm>
            <a:off x="457200" y="1051560"/>
            <a:ext cx="6400800" cy="384048"/>
          </a:xfrm>
          <a:prstGeom prst="rect">
            <a:avLst/>
          </a:prstGeom>
          <a:solidFill>
            <a:srgbClr val="2C5F82"/>
          </a:solidFill>
          <a:ln w="12700">
            <a:solidFill>
              <a:srgbClr val="2C5F82"/>
            </a:solidFill>
            <a:prstDash val="solid"/>
          </a:ln>
        </p:spPr>
      </p:sp>
      <p:sp>
        <p:nvSpPr>
          <p:cNvPr id="10" name="Text 8"/>
          <p:cNvSpPr txBox="1"/>
          <p:nvPr/>
        </p:nvSpPr>
        <p:spPr>
          <a:xfrm>
            <a:off x="457200" y="1051560"/>
            <a:ext cx="6400800" cy="384048"/>
          </a:xfrm>
          <a:prstGeom prst="rect">
            <a:avLst/>
          </a:prstGeom>
          <a:noFill/>
          <a:ln/>
        </p:spPr>
        <p:txBody>
          <a:bodyPr wrap="square" lIns="0" tIns="0" rIns="0" bIns="0" rtlCol="0" anchor="ctr"/>
          <a:lstStyle/>
          <a:p>
            <a:pPr algn="ctr" indent="0" marL="0">
              <a:buNone/>
            </a:pPr>
            <a:r>
              <a:rPr lang="en-US" sz="1400" b="1" i="1" dirty="0">
                <a:solidFill>
                  <a:srgbClr val="FFFFFF"/>
                </a:solidFill>
                <a:latin typeface="Arial" pitchFamily="34" charset="0"/>
                <a:ea typeface="Arial" pitchFamily="34" charset="-122"/>
                <a:cs typeface="Arial" pitchFamily="34" charset="-120"/>
              </a:rPr>
              <a:t>Taiwan, Korea and Japan each control a bottleneck</a:t>
            </a:r>
            <a:endParaRPr lang="en-US" sz="1400" dirty="0"/>
          </a:p>
        </p:txBody>
      </p:sp>
      <p:sp>
        <p:nvSpPr>
          <p:cNvPr id="11" name="Shape 9"/>
          <p:cNvSpPr/>
          <p:nvPr/>
        </p:nvSpPr>
        <p:spPr>
          <a:xfrm>
            <a:off x="457200" y="1536192"/>
            <a:ext cx="6400800" cy="1124712"/>
          </a:xfrm>
          <a:prstGeom prst="rect">
            <a:avLst/>
          </a:prstGeom>
          <a:solidFill>
            <a:srgbClr val="F2F2F2"/>
          </a:solidFill>
          <a:ln w="12700">
            <a:solidFill>
              <a:srgbClr val="F2F2F2"/>
            </a:solidFill>
            <a:prstDash val="solid"/>
          </a:ln>
        </p:spPr>
      </p:sp>
      <p:sp>
        <p:nvSpPr>
          <p:cNvPr id="12" name="Shape 10"/>
          <p:cNvSpPr/>
          <p:nvPr/>
        </p:nvSpPr>
        <p:spPr>
          <a:xfrm>
            <a:off x="594360" y="1673352"/>
            <a:ext cx="457200" cy="457200"/>
          </a:xfrm>
          <a:prstGeom prst="ellipse">
            <a:avLst/>
          </a:prstGeom>
          <a:solidFill>
            <a:srgbClr val="2C5F82"/>
          </a:solidFill>
          <a:ln w="12700">
            <a:solidFill>
              <a:srgbClr val="2C5F82"/>
            </a:solidFill>
            <a:prstDash val="solid"/>
          </a:ln>
        </p:spPr>
      </p:sp>
      <p:pic>
        <p:nvPicPr>
          <p:cNvPr id="13" name="Image 0" descr="preencoded.png">    </p:cNvPr>
          <p:cNvPicPr>
            <a:picLocks noChangeAspect="1"/>
          </p:cNvPicPr>
          <p:nvPr/>
        </p:nvPicPr>
        <p:blipFill>
          <a:blip r:embed="rId1"/>
          <a:stretch>
            <a:fillRect/>
          </a:stretch>
        </p:blipFill>
        <p:spPr>
          <a:xfrm>
            <a:off x="704088" y="1783080"/>
            <a:ext cx="237744" cy="237744"/>
          </a:xfrm>
          <a:prstGeom prst="rect">
            <a:avLst/>
          </a:prstGeom>
        </p:spPr>
      </p:pic>
      <p:sp>
        <p:nvSpPr>
          <p:cNvPr id="14" name="Text 11"/>
          <p:cNvSpPr txBox="1"/>
          <p:nvPr/>
        </p:nvSpPr>
        <p:spPr>
          <a:xfrm>
            <a:off x="1188720" y="1627632"/>
            <a:ext cx="3017520" cy="292608"/>
          </a:xfrm>
          <a:prstGeom prst="rect">
            <a:avLst/>
          </a:prstGeom>
          <a:noFill/>
          <a:ln/>
        </p:spPr>
        <p:txBody>
          <a:bodyPr wrap="square" lIns="0" tIns="0" rIns="0" bIns="0" rtlCol="0" anchor="ctr"/>
          <a:lstStyle/>
          <a:p>
            <a:pPr indent="0" marL="0">
              <a:buNone/>
            </a:pPr>
            <a:r>
              <a:rPr lang="en-US" sz="1350" b="1" i="1" dirty="0">
                <a:solidFill>
                  <a:srgbClr val="2C5F82"/>
                </a:solidFill>
                <a:latin typeface="Arial" pitchFamily="34" charset="0"/>
                <a:ea typeface="Arial" pitchFamily="34" charset="-122"/>
                <a:cs typeface="Arial" pitchFamily="34" charset="-120"/>
              </a:rPr>
              <a:t>Taiwan: makes the chips</a:t>
            </a:r>
            <a:endParaRPr lang="en-US" sz="1350" dirty="0"/>
          </a:p>
        </p:txBody>
      </p:sp>
      <p:sp>
        <p:nvSpPr>
          <p:cNvPr id="15" name="Text 12"/>
          <p:cNvSpPr txBox="1"/>
          <p:nvPr/>
        </p:nvSpPr>
        <p:spPr>
          <a:xfrm>
            <a:off x="1188720" y="1947672"/>
            <a:ext cx="3291840" cy="694944"/>
          </a:xfrm>
          <a:prstGeom prst="rect">
            <a:avLst/>
          </a:prstGeom>
          <a:noFill/>
          <a:ln/>
        </p:spPr>
        <p:txBody>
          <a:bodyPr wrap="square" lIns="0" tIns="0" rIns="0" bIns="0" rtlCol="0" anchor="t"/>
          <a:lstStyle/>
          <a:p>
            <a:pPr marL="127000" indent="-127000">
              <a:spcAft>
                <a:spcPts val="200"/>
              </a:spcAft>
              <a:buSzPct val="100000"/>
              <a:buChar char="•"/>
            </a:pPr>
            <a:r>
              <a:rPr lang="en-US" sz="950" dirty="0">
                <a:solidFill>
                  <a:srgbClr val="595959"/>
                </a:solidFill>
                <a:latin typeface="Arial" pitchFamily="34" charset="0"/>
                <a:ea typeface="Arial" pitchFamily="34" charset="-122"/>
                <a:cs typeface="Arial" pitchFamily="34" charset="-120"/>
              </a:rPr>
              <a:t>HPC/AI 58% of TSMC revenue (2025); 3nm sold out through 2026</a:t>
            </a:r>
            <a:endParaRPr lang="en-US" sz="950" dirty="0"/>
          </a:p>
          <a:p>
            <a:pPr marL="127000" indent="-127000">
              <a:spcAft>
                <a:spcPts val="200"/>
              </a:spcAft>
              <a:buSzPct val="100000"/>
              <a:buChar char="•"/>
            </a:pPr>
            <a:r>
              <a:rPr lang="en-US" sz="950" dirty="0">
                <a:solidFill>
                  <a:srgbClr val="595959"/>
                </a:solidFill>
                <a:latin typeface="Arial" pitchFamily="34" charset="0"/>
                <a:ea typeface="Arial" pitchFamily="34" charset="-122"/>
                <a:cs typeface="Arial" pitchFamily="34" charset="-120"/>
              </a:rPr>
              <a:t>TAIEX record 48,476 (2 Oct 2026), ~+67% YTD; TSMC &gt;40% of the index</a:t>
            </a:r>
            <a:endParaRPr lang="en-US" sz="950" dirty="0"/>
          </a:p>
        </p:txBody>
      </p:sp>
      <p:sp>
        <p:nvSpPr>
          <p:cNvPr id="16" name="Text 13"/>
          <p:cNvSpPr txBox="1"/>
          <p:nvPr/>
        </p:nvSpPr>
        <p:spPr>
          <a:xfrm>
            <a:off x="4526280" y="1591056"/>
            <a:ext cx="2240280" cy="502920"/>
          </a:xfrm>
          <a:prstGeom prst="rect">
            <a:avLst/>
          </a:prstGeom>
          <a:noFill/>
          <a:ln/>
        </p:spPr>
        <p:txBody>
          <a:bodyPr wrap="square" lIns="0" tIns="0" rIns="0" bIns="0" rtlCol="0" anchor="ctr"/>
          <a:lstStyle/>
          <a:p>
            <a:pPr algn="ctr" indent="0" marL="0">
              <a:buNone/>
            </a:pPr>
            <a:r>
              <a:rPr lang="en-US" sz="2800" b="1" dirty="0">
                <a:solidFill>
                  <a:srgbClr val="2C5F82"/>
                </a:solidFill>
                <a:latin typeface="Arial" pitchFamily="34" charset="0"/>
                <a:ea typeface="Arial" pitchFamily="34" charset="-122"/>
                <a:cs typeface="Arial" pitchFamily="34" charset="-120"/>
              </a:rPr>
              <a:t>~70%</a:t>
            </a:r>
            <a:endParaRPr lang="en-US" sz="2800" dirty="0"/>
          </a:p>
        </p:txBody>
      </p:sp>
      <p:sp>
        <p:nvSpPr>
          <p:cNvPr id="17" name="Text 14"/>
          <p:cNvSpPr txBox="1"/>
          <p:nvPr/>
        </p:nvSpPr>
        <p:spPr>
          <a:xfrm>
            <a:off x="4526280" y="2093976"/>
            <a:ext cx="2240280" cy="502920"/>
          </a:xfrm>
          <a:prstGeom prst="rect">
            <a:avLst/>
          </a:prstGeom>
          <a:noFill/>
          <a:ln/>
        </p:spPr>
        <p:txBody>
          <a:bodyPr wrap="square" lIns="0" tIns="0" rIns="0" bIns="0" rtlCol="0" anchor="t"/>
          <a:lstStyle/>
          <a:p>
            <a:pPr algn="ctr" indent="0" marL="0">
              <a:buNone/>
            </a:pPr>
            <a:r>
              <a:rPr lang="en-US" sz="900" dirty="0">
                <a:solidFill>
                  <a:srgbClr val="595959"/>
                </a:solidFill>
                <a:latin typeface="Arial" pitchFamily="34" charset="0"/>
                <a:ea typeface="Arial" pitchFamily="34" charset="-122"/>
                <a:cs typeface="Arial" pitchFamily="34" charset="-120"/>
              </a:rPr>
              <a:t>TSMC share of global</a:t>
            </a:r>
            <a:endParaRPr lang="en-US" sz="900" dirty="0"/>
          </a:p>
          <a:p>
            <a:pPr algn="ctr" indent="0" marL="0">
              <a:buNone/>
            </a:pPr>
            <a:r>
              <a:rPr lang="en-US" sz="900" dirty="0">
                <a:solidFill>
                  <a:srgbClr val="595959"/>
                </a:solidFill>
                <a:latin typeface="Arial" pitchFamily="34" charset="0"/>
                <a:ea typeface="Arial" pitchFamily="34" charset="-122"/>
                <a:cs typeface="Arial" pitchFamily="34" charset="-120"/>
              </a:rPr>
              <a:t>foundry revenue (Q1 2026)</a:t>
            </a:r>
            <a:endParaRPr lang="en-US" sz="900" dirty="0"/>
          </a:p>
        </p:txBody>
      </p:sp>
      <p:sp>
        <p:nvSpPr>
          <p:cNvPr id="18" name="Shape 15"/>
          <p:cNvSpPr/>
          <p:nvPr/>
        </p:nvSpPr>
        <p:spPr>
          <a:xfrm>
            <a:off x="457200" y="2752344"/>
            <a:ext cx="6400800" cy="1124712"/>
          </a:xfrm>
          <a:prstGeom prst="rect">
            <a:avLst/>
          </a:prstGeom>
          <a:solidFill>
            <a:srgbClr val="FFFFFF"/>
          </a:solidFill>
          <a:ln w="12700">
            <a:solidFill>
              <a:srgbClr val="F2F2F2"/>
            </a:solidFill>
            <a:prstDash val="solid"/>
          </a:ln>
        </p:spPr>
      </p:sp>
      <p:sp>
        <p:nvSpPr>
          <p:cNvPr id="19" name="Shape 16"/>
          <p:cNvSpPr/>
          <p:nvPr/>
        </p:nvSpPr>
        <p:spPr>
          <a:xfrm>
            <a:off x="594360" y="2889504"/>
            <a:ext cx="457200" cy="457200"/>
          </a:xfrm>
          <a:prstGeom prst="ellipse">
            <a:avLst/>
          </a:prstGeom>
          <a:solidFill>
            <a:srgbClr val="2C5F82"/>
          </a:solidFill>
          <a:ln w="12700">
            <a:solidFill>
              <a:srgbClr val="2C5F82"/>
            </a:solidFill>
            <a:prstDash val="solid"/>
          </a:ln>
        </p:spPr>
      </p:sp>
      <p:pic>
        <p:nvPicPr>
          <p:cNvPr id="20" name="Image 1" descr="preencoded.png">    </p:cNvPr>
          <p:cNvPicPr>
            <a:picLocks noChangeAspect="1"/>
          </p:cNvPicPr>
          <p:nvPr/>
        </p:nvPicPr>
        <p:blipFill>
          <a:blip r:embed="rId2"/>
          <a:stretch>
            <a:fillRect/>
          </a:stretch>
        </p:blipFill>
        <p:spPr>
          <a:xfrm>
            <a:off x="704088" y="2999232"/>
            <a:ext cx="237744" cy="237744"/>
          </a:xfrm>
          <a:prstGeom prst="rect">
            <a:avLst/>
          </a:prstGeom>
        </p:spPr>
      </p:pic>
      <p:sp>
        <p:nvSpPr>
          <p:cNvPr id="21" name="Text 17"/>
          <p:cNvSpPr txBox="1"/>
          <p:nvPr/>
        </p:nvSpPr>
        <p:spPr>
          <a:xfrm>
            <a:off x="1188720" y="2843784"/>
            <a:ext cx="3017520" cy="292608"/>
          </a:xfrm>
          <a:prstGeom prst="rect">
            <a:avLst/>
          </a:prstGeom>
          <a:noFill/>
          <a:ln/>
        </p:spPr>
        <p:txBody>
          <a:bodyPr wrap="square" lIns="0" tIns="0" rIns="0" bIns="0" rtlCol="0" anchor="ctr"/>
          <a:lstStyle/>
          <a:p>
            <a:pPr indent="0" marL="0">
              <a:buNone/>
            </a:pPr>
            <a:r>
              <a:rPr lang="en-US" sz="1350" b="1" i="1" dirty="0">
                <a:solidFill>
                  <a:srgbClr val="2C5F82"/>
                </a:solidFill>
                <a:latin typeface="Arial" pitchFamily="34" charset="0"/>
                <a:ea typeface="Arial" pitchFamily="34" charset="-122"/>
                <a:cs typeface="Arial" pitchFamily="34" charset="-120"/>
              </a:rPr>
              <a:t>Korea: makes the memory</a:t>
            </a:r>
            <a:endParaRPr lang="en-US" sz="1350" dirty="0"/>
          </a:p>
        </p:txBody>
      </p:sp>
      <p:sp>
        <p:nvSpPr>
          <p:cNvPr id="22" name="Text 18"/>
          <p:cNvSpPr txBox="1"/>
          <p:nvPr/>
        </p:nvSpPr>
        <p:spPr>
          <a:xfrm>
            <a:off x="1188720" y="3163824"/>
            <a:ext cx="3291840" cy="694944"/>
          </a:xfrm>
          <a:prstGeom prst="rect">
            <a:avLst/>
          </a:prstGeom>
          <a:noFill/>
          <a:ln/>
        </p:spPr>
        <p:txBody>
          <a:bodyPr wrap="square" lIns="0" tIns="0" rIns="0" bIns="0" rtlCol="0" anchor="t"/>
          <a:lstStyle/>
          <a:p>
            <a:pPr marL="127000" indent="-127000">
              <a:spcAft>
                <a:spcPts val="200"/>
              </a:spcAft>
              <a:buSzPct val="100000"/>
              <a:buChar char="•"/>
            </a:pPr>
            <a:r>
              <a:rPr lang="en-US" sz="950" dirty="0">
                <a:solidFill>
                  <a:srgbClr val="595959"/>
                </a:solidFill>
                <a:latin typeface="Arial" pitchFamily="34" charset="0"/>
                <a:ea typeface="Arial" pitchFamily="34" charset="-122"/>
                <a:cs typeface="Arial" pitchFamily="34" charset="-120"/>
              </a:rPr>
              <a:t>DRAM contract prices +45–50% q/q in Q2 2026; server DRAM still undersupplied</a:t>
            </a:r>
            <a:endParaRPr lang="en-US" sz="950" dirty="0"/>
          </a:p>
          <a:p>
            <a:pPr marL="127000" indent="-127000">
              <a:spcAft>
                <a:spcPts val="200"/>
              </a:spcAft>
              <a:buSzPct val="100000"/>
              <a:buChar char="•"/>
            </a:pPr>
            <a:r>
              <a:rPr lang="en-US" sz="950" dirty="0">
                <a:solidFill>
                  <a:srgbClr val="595959"/>
                </a:solidFill>
                <a:latin typeface="Arial" pitchFamily="34" charset="0"/>
                <a:ea typeface="Arial" pitchFamily="34" charset="-122"/>
                <a:cs typeface="Arial" pitchFamily="34" charset="-120"/>
              </a:rPr>
              <a:t>KOSPI forward P/E 7.8× vs 23× trailing: earnings, not just multiples</a:t>
            </a:r>
            <a:endParaRPr lang="en-US" sz="950" dirty="0"/>
          </a:p>
        </p:txBody>
      </p:sp>
      <p:sp>
        <p:nvSpPr>
          <p:cNvPr id="23" name="Text 19"/>
          <p:cNvSpPr txBox="1"/>
          <p:nvPr/>
        </p:nvSpPr>
        <p:spPr>
          <a:xfrm>
            <a:off x="4526280" y="2807208"/>
            <a:ext cx="2240280" cy="502920"/>
          </a:xfrm>
          <a:prstGeom prst="rect">
            <a:avLst/>
          </a:prstGeom>
          <a:noFill/>
          <a:ln/>
        </p:spPr>
        <p:txBody>
          <a:bodyPr wrap="square" lIns="0" tIns="0" rIns="0" bIns="0" rtlCol="0" anchor="ctr"/>
          <a:lstStyle/>
          <a:p>
            <a:pPr algn="ctr" indent="0" marL="0">
              <a:buNone/>
            </a:pPr>
            <a:r>
              <a:rPr lang="en-US" sz="2800" b="1" dirty="0">
                <a:solidFill>
                  <a:srgbClr val="2C5F82"/>
                </a:solidFill>
                <a:latin typeface="Arial" pitchFamily="34" charset="0"/>
                <a:ea typeface="Arial" pitchFamily="34" charset="-122"/>
                <a:cs typeface="Arial" pitchFamily="34" charset="-120"/>
              </a:rPr>
              <a:t>83%</a:t>
            </a:r>
            <a:endParaRPr lang="en-US" sz="2800" dirty="0"/>
          </a:p>
        </p:txBody>
      </p:sp>
      <p:sp>
        <p:nvSpPr>
          <p:cNvPr id="24" name="Text 20"/>
          <p:cNvSpPr txBox="1"/>
          <p:nvPr/>
        </p:nvSpPr>
        <p:spPr>
          <a:xfrm>
            <a:off x="4526280" y="3310128"/>
            <a:ext cx="2240280" cy="502920"/>
          </a:xfrm>
          <a:prstGeom prst="rect">
            <a:avLst/>
          </a:prstGeom>
          <a:noFill/>
          <a:ln/>
        </p:spPr>
        <p:txBody>
          <a:bodyPr wrap="square" lIns="0" tIns="0" rIns="0" bIns="0" rtlCol="0" anchor="t"/>
          <a:lstStyle/>
          <a:p>
            <a:pPr algn="ctr" indent="0" marL="0">
              <a:buNone/>
            </a:pPr>
            <a:r>
              <a:rPr lang="en-US" sz="900" dirty="0">
                <a:solidFill>
                  <a:srgbClr val="595959"/>
                </a:solidFill>
                <a:latin typeface="Arial" pitchFamily="34" charset="0"/>
                <a:ea typeface="Arial" pitchFamily="34" charset="-122"/>
                <a:cs typeface="Arial" pitchFamily="34" charset="-120"/>
              </a:rPr>
              <a:t>SK hynix (50%) + Samsung (33%)</a:t>
            </a:r>
            <a:endParaRPr lang="en-US" sz="900" dirty="0"/>
          </a:p>
          <a:p>
            <a:pPr algn="ctr" indent="0" marL="0">
              <a:buNone/>
            </a:pPr>
            <a:r>
              <a:rPr lang="en-US" sz="900" dirty="0">
                <a:solidFill>
                  <a:srgbClr val="595959"/>
                </a:solidFill>
                <a:latin typeface="Arial" pitchFamily="34" charset="0"/>
                <a:ea typeface="Arial" pitchFamily="34" charset="-122"/>
                <a:cs typeface="Arial" pitchFamily="34" charset="-120"/>
              </a:rPr>
              <a:t>share of HBM revenue (Q2 2026)</a:t>
            </a:r>
            <a:endParaRPr lang="en-US" sz="900" dirty="0"/>
          </a:p>
        </p:txBody>
      </p:sp>
      <p:sp>
        <p:nvSpPr>
          <p:cNvPr id="25" name="Shape 21"/>
          <p:cNvSpPr/>
          <p:nvPr/>
        </p:nvSpPr>
        <p:spPr>
          <a:xfrm>
            <a:off x="457200" y="3968496"/>
            <a:ext cx="6400800" cy="1124712"/>
          </a:xfrm>
          <a:prstGeom prst="rect">
            <a:avLst/>
          </a:prstGeom>
          <a:solidFill>
            <a:srgbClr val="F2F2F2"/>
          </a:solidFill>
          <a:ln w="12700">
            <a:solidFill>
              <a:srgbClr val="F2F2F2"/>
            </a:solidFill>
            <a:prstDash val="solid"/>
          </a:ln>
        </p:spPr>
      </p:sp>
      <p:sp>
        <p:nvSpPr>
          <p:cNvPr id="26" name="Shape 22"/>
          <p:cNvSpPr/>
          <p:nvPr/>
        </p:nvSpPr>
        <p:spPr>
          <a:xfrm>
            <a:off x="594360" y="4105656"/>
            <a:ext cx="457200" cy="457200"/>
          </a:xfrm>
          <a:prstGeom prst="ellipse">
            <a:avLst/>
          </a:prstGeom>
          <a:solidFill>
            <a:srgbClr val="2C5F82"/>
          </a:solidFill>
          <a:ln w="12700">
            <a:solidFill>
              <a:srgbClr val="2C5F82"/>
            </a:solidFill>
            <a:prstDash val="solid"/>
          </a:ln>
        </p:spPr>
      </p:sp>
      <p:pic>
        <p:nvPicPr>
          <p:cNvPr id="27" name="Image 2" descr="preencoded.png">    </p:cNvPr>
          <p:cNvPicPr>
            <a:picLocks noChangeAspect="1"/>
          </p:cNvPicPr>
          <p:nvPr/>
        </p:nvPicPr>
        <p:blipFill>
          <a:blip r:embed="rId3"/>
          <a:stretch>
            <a:fillRect/>
          </a:stretch>
        </p:blipFill>
        <p:spPr>
          <a:xfrm>
            <a:off x="704088" y="4215384"/>
            <a:ext cx="237744" cy="237744"/>
          </a:xfrm>
          <a:prstGeom prst="rect">
            <a:avLst/>
          </a:prstGeom>
        </p:spPr>
      </p:pic>
      <p:sp>
        <p:nvSpPr>
          <p:cNvPr id="28" name="Text 23"/>
          <p:cNvSpPr txBox="1"/>
          <p:nvPr/>
        </p:nvSpPr>
        <p:spPr>
          <a:xfrm>
            <a:off x="1188720" y="4059936"/>
            <a:ext cx="3017520" cy="292608"/>
          </a:xfrm>
          <a:prstGeom prst="rect">
            <a:avLst/>
          </a:prstGeom>
          <a:noFill/>
          <a:ln/>
        </p:spPr>
        <p:txBody>
          <a:bodyPr wrap="square" lIns="0" tIns="0" rIns="0" bIns="0" rtlCol="0" anchor="ctr"/>
          <a:lstStyle/>
          <a:p>
            <a:pPr indent="0" marL="0">
              <a:buNone/>
            </a:pPr>
            <a:r>
              <a:rPr lang="en-US" sz="1350" b="1" i="1" dirty="0">
                <a:solidFill>
                  <a:srgbClr val="2C5F82"/>
                </a:solidFill>
                <a:latin typeface="Arial" pitchFamily="34" charset="0"/>
                <a:ea typeface="Arial" pitchFamily="34" charset="-122"/>
                <a:cs typeface="Arial" pitchFamily="34" charset="-120"/>
              </a:rPr>
              <a:t>Japan: makes the tools</a:t>
            </a:r>
            <a:endParaRPr lang="en-US" sz="1350" dirty="0"/>
          </a:p>
        </p:txBody>
      </p:sp>
      <p:sp>
        <p:nvSpPr>
          <p:cNvPr id="29" name="Text 24"/>
          <p:cNvSpPr txBox="1"/>
          <p:nvPr/>
        </p:nvSpPr>
        <p:spPr>
          <a:xfrm>
            <a:off x="1188720" y="4379976"/>
            <a:ext cx="3291840" cy="694944"/>
          </a:xfrm>
          <a:prstGeom prst="rect">
            <a:avLst/>
          </a:prstGeom>
          <a:noFill/>
          <a:ln/>
        </p:spPr>
        <p:txBody>
          <a:bodyPr wrap="square" lIns="0" tIns="0" rIns="0" bIns="0" rtlCol="0" anchor="t"/>
          <a:lstStyle/>
          <a:p>
            <a:pPr marL="127000" indent="-127000">
              <a:spcAft>
                <a:spcPts val="200"/>
              </a:spcAft>
              <a:buSzPct val="100000"/>
              <a:buChar char="•"/>
            </a:pPr>
            <a:r>
              <a:rPr lang="en-US" sz="950" dirty="0">
                <a:solidFill>
                  <a:srgbClr val="595959"/>
                </a:solidFill>
                <a:latin typeface="Arial" pitchFamily="34" charset="0"/>
                <a:ea typeface="Arial" pitchFamily="34" charset="-122"/>
                <a:cs typeface="Arial" pitchFamily="34" charset="-120"/>
              </a:rPr>
              <a:t>Test equipment +31% and DRAM equipment +39% in 2026 (SEMI)</a:t>
            </a:r>
            <a:endParaRPr lang="en-US" sz="950" dirty="0"/>
          </a:p>
          <a:p>
            <a:pPr marL="127000" indent="-127000">
              <a:spcAft>
                <a:spcPts val="200"/>
              </a:spcAft>
              <a:buSzPct val="100000"/>
              <a:buChar char="•"/>
            </a:pPr>
            <a:r>
              <a:rPr lang="en-US" sz="950" dirty="0">
                <a:solidFill>
                  <a:srgbClr val="595959"/>
                </a:solidFill>
                <a:latin typeface="Arial" pitchFamily="34" charset="0"/>
                <a:ea typeface="Arial" pitchFamily="34" charset="-122"/>
                <a:cs typeface="Arial" pitchFamily="34" charset="-120"/>
              </a:rPr>
              <a:t>Advantest + Tokyo Electron ≈ 20% of the Nikkei 225; forward P/E 17.2×</a:t>
            </a:r>
            <a:endParaRPr lang="en-US" sz="950" dirty="0"/>
          </a:p>
        </p:txBody>
      </p:sp>
      <p:sp>
        <p:nvSpPr>
          <p:cNvPr id="30" name="Text 25"/>
          <p:cNvSpPr txBox="1"/>
          <p:nvPr/>
        </p:nvSpPr>
        <p:spPr>
          <a:xfrm>
            <a:off x="4526280" y="4023360"/>
            <a:ext cx="2240280" cy="502920"/>
          </a:xfrm>
          <a:prstGeom prst="rect">
            <a:avLst/>
          </a:prstGeom>
          <a:noFill/>
          <a:ln/>
        </p:spPr>
        <p:txBody>
          <a:bodyPr wrap="square" lIns="0" tIns="0" rIns="0" bIns="0" rtlCol="0" anchor="ctr"/>
          <a:lstStyle/>
          <a:p>
            <a:pPr algn="ctr" indent="0" marL="0">
              <a:buNone/>
            </a:pPr>
            <a:r>
              <a:rPr lang="en-US" sz="2800" b="1" dirty="0">
                <a:solidFill>
                  <a:srgbClr val="2C5F82"/>
                </a:solidFill>
                <a:latin typeface="Arial" pitchFamily="34" charset="0"/>
                <a:ea typeface="Arial" pitchFamily="34" charset="-122"/>
                <a:cs typeface="Arial" pitchFamily="34" charset="-120"/>
              </a:rPr>
              <a:t>~55%</a:t>
            </a:r>
            <a:endParaRPr lang="en-US" sz="2800" dirty="0"/>
          </a:p>
        </p:txBody>
      </p:sp>
      <p:sp>
        <p:nvSpPr>
          <p:cNvPr id="31" name="Text 26"/>
          <p:cNvSpPr txBox="1"/>
          <p:nvPr/>
        </p:nvSpPr>
        <p:spPr>
          <a:xfrm>
            <a:off x="4526280" y="4526280"/>
            <a:ext cx="2240280" cy="502920"/>
          </a:xfrm>
          <a:prstGeom prst="rect">
            <a:avLst/>
          </a:prstGeom>
          <a:noFill/>
          <a:ln/>
        </p:spPr>
        <p:txBody>
          <a:bodyPr wrap="square" lIns="0" tIns="0" rIns="0" bIns="0" rtlCol="0" anchor="t"/>
          <a:lstStyle/>
          <a:p>
            <a:pPr algn="ctr" indent="0" marL="0">
              <a:buNone/>
            </a:pPr>
            <a:r>
              <a:rPr lang="en-US" sz="900" dirty="0">
                <a:solidFill>
                  <a:srgbClr val="595959"/>
                </a:solidFill>
                <a:latin typeface="Arial" pitchFamily="34" charset="0"/>
                <a:ea typeface="Arial" pitchFamily="34" charset="-122"/>
                <a:cs typeface="Arial" pitchFamily="34" charset="-120"/>
              </a:rPr>
              <a:t>Advantest share of chip</a:t>
            </a:r>
            <a:endParaRPr lang="en-US" sz="900" dirty="0"/>
          </a:p>
          <a:p>
            <a:pPr algn="ctr" indent="0" marL="0">
              <a:buNone/>
            </a:pPr>
            <a:r>
              <a:rPr lang="en-US" sz="900" dirty="0">
                <a:solidFill>
                  <a:srgbClr val="595959"/>
                </a:solidFill>
                <a:latin typeface="Arial" pitchFamily="34" charset="0"/>
                <a:ea typeface="Arial" pitchFamily="34" charset="-122"/>
                <a:cs typeface="Arial" pitchFamily="34" charset="-120"/>
              </a:rPr>
              <a:t>test equipment</a:t>
            </a:r>
            <a:endParaRPr lang="en-US" sz="900" dirty="0"/>
          </a:p>
        </p:txBody>
      </p:sp>
      <p:sp>
        <p:nvSpPr>
          <p:cNvPr id="32" name="Shape 27"/>
          <p:cNvSpPr/>
          <p:nvPr/>
        </p:nvSpPr>
        <p:spPr>
          <a:xfrm>
            <a:off x="7086600" y="1051560"/>
            <a:ext cx="4645152" cy="384048"/>
          </a:xfrm>
          <a:prstGeom prst="rect">
            <a:avLst/>
          </a:prstGeom>
          <a:solidFill>
            <a:srgbClr val="2C5F82"/>
          </a:solidFill>
          <a:ln w="12700">
            <a:solidFill>
              <a:srgbClr val="2C5F82"/>
            </a:solidFill>
            <a:prstDash val="solid"/>
          </a:ln>
        </p:spPr>
      </p:sp>
      <p:sp>
        <p:nvSpPr>
          <p:cNvPr id="33" name="Text 28"/>
          <p:cNvSpPr txBox="1"/>
          <p:nvPr/>
        </p:nvSpPr>
        <p:spPr>
          <a:xfrm>
            <a:off x="7086600" y="1051560"/>
            <a:ext cx="4645152" cy="384048"/>
          </a:xfrm>
          <a:prstGeom prst="rect">
            <a:avLst/>
          </a:prstGeom>
          <a:noFill/>
          <a:ln/>
        </p:spPr>
        <p:txBody>
          <a:bodyPr wrap="square" lIns="0" tIns="0" rIns="0" bIns="0" rtlCol="0" anchor="ctr"/>
          <a:lstStyle/>
          <a:p>
            <a:pPr algn="ctr" indent="0" marL="0">
              <a:buNone/>
            </a:pPr>
            <a:r>
              <a:rPr lang="en-US" sz="1400" b="1" i="1" dirty="0">
                <a:solidFill>
                  <a:srgbClr val="FFFFFF"/>
                </a:solidFill>
                <a:latin typeface="Arial" pitchFamily="34" charset="0"/>
                <a:ea typeface="Arial" pitchFamily="34" charset="-122"/>
                <a:cs typeface="Arial" pitchFamily="34" charset="-120"/>
              </a:rPr>
              <a:t>Demand is surging, but the cycle is maturing</a:t>
            </a:r>
            <a:endParaRPr lang="en-US" sz="1400" dirty="0"/>
          </a:p>
        </p:txBody>
      </p:sp>
      <p:graphicFrame>
        <p:nvGraphicFramePr>
          <p:cNvPr id="34" name="Chart 0" descr=""/>
          <p:cNvGraphicFramePr/>
          <p:nvPr/>
        </p:nvGraphicFramePr>
        <p:xfrm>
          <a:off x="7086600" y="1481328"/>
          <a:ext cx="2240280" cy="2057400"/>
        </p:xfrm>
        <a:graphic xmlns:a="http://schemas.openxmlformats.org/drawingml/2006/main">
          <a:graphicData uri="http://schemas.openxmlformats.org/drawingml/2006/chart">
            <c:chart xmlns:c="http://schemas.openxmlformats.org/drawingml/2006/chart" r:id="rId4"/>
          </a:graphicData>
        </a:graphic>
      </p:graphicFrame>
      <p:graphicFrame>
        <p:nvGraphicFramePr>
          <p:cNvPr id="35" name="Chart 1" descr=""/>
          <p:cNvGraphicFramePr/>
          <p:nvPr/>
        </p:nvGraphicFramePr>
        <p:xfrm>
          <a:off x="9418320" y="1481328"/>
          <a:ext cx="2313432" cy="2057400"/>
        </p:xfrm>
        <a:graphic xmlns:a="http://schemas.openxmlformats.org/drawingml/2006/main">
          <a:graphicData uri="http://schemas.openxmlformats.org/drawingml/2006/chart">
            <c:chart xmlns:c="http://schemas.openxmlformats.org/drawingml/2006/chart" r:id="rId5"/>
          </a:graphicData>
        </a:graphic>
      </p:graphicFrame>
      <p:graphicFrame>
        <p:nvGraphicFramePr>
          <p:cNvPr id="36" name="Chart 2" descr=""/>
          <p:cNvGraphicFramePr/>
          <p:nvPr/>
        </p:nvGraphicFramePr>
        <p:xfrm>
          <a:off x="7086600" y="3566160"/>
          <a:ext cx="2377440" cy="1737360"/>
        </p:xfrm>
        <a:graphic xmlns:a="http://schemas.openxmlformats.org/drawingml/2006/main">
          <a:graphicData uri="http://schemas.openxmlformats.org/drawingml/2006/chart">
            <c:chart xmlns:c="http://schemas.openxmlformats.org/drawingml/2006/chart" r:id="rId6"/>
          </a:graphicData>
        </a:graphic>
      </p:graphicFrame>
      <p:sp>
        <p:nvSpPr>
          <p:cNvPr id="37" name="Shape 29"/>
          <p:cNvSpPr/>
          <p:nvPr/>
        </p:nvSpPr>
        <p:spPr>
          <a:xfrm>
            <a:off x="9555480" y="3611880"/>
            <a:ext cx="2176272" cy="1691640"/>
          </a:xfrm>
          <a:prstGeom prst="rect">
            <a:avLst/>
          </a:prstGeom>
          <a:solidFill>
            <a:srgbClr val="E8EFF5"/>
          </a:solidFill>
          <a:ln w="12700">
            <a:solidFill>
              <a:srgbClr val="E8EFF5"/>
            </a:solidFill>
            <a:prstDash val="solid"/>
          </a:ln>
        </p:spPr>
      </p:sp>
      <p:sp>
        <p:nvSpPr>
          <p:cNvPr id="38" name="Text 30"/>
          <p:cNvSpPr txBox="1"/>
          <p:nvPr/>
        </p:nvSpPr>
        <p:spPr>
          <a:xfrm>
            <a:off x="9646920" y="3675888"/>
            <a:ext cx="2011680" cy="1600200"/>
          </a:xfrm>
          <a:prstGeom prst="rect">
            <a:avLst/>
          </a:prstGeom>
          <a:noFill/>
          <a:ln/>
        </p:spPr>
        <p:txBody>
          <a:bodyPr wrap="square" lIns="0" tIns="0" rIns="0" bIns="0" rtlCol="0" anchor="t"/>
          <a:lstStyle/>
          <a:p>
            <a:pPr indent="0" marL="0">
              <a:spcAft>
                <a:spcPts val="200"/>
              </a:spcAft>
              <a:buNone/>
            </a:pPr>
            <a:r>
              <a:rPr lang="en-US" sz="850" b="1" i="1" dirty="0">
                <a:solidFill>
                  <a:srgbClr val="2C5F82"/>
                </a:solidFill>
                <a:latin typeface="Arial" pitchFamily="34" charset="0"/>
                <a:ea typeface="Arial" pitchFamily="34" charset="-122"/>
                <a:cs typeface="Arial" pitchFamily="34" charset="-120"/>
              </a:rPr>
              <a:t>Cycle check</a:t>
            </a:r>
            <a:endParaRPr lang="en-US" sz="850" dirty="0"/>
          </a:p>
          <a:p>
            <a:pPr marL="101600" indent="-101600">
              <a:spcAft>
                <a:spcPts val="200"/>
              </a:spcAft>
              <a:buSzPct val="100000"/>
              <a:buChar char="•"/>
            </a:pPr>
            <a:r>
              <a:rPr lang="en-US" sz="850" dirty="0">
                <a:solidFill>
                  <a:srgbClr val="262626"/>
                </a:solidFill>
                <a:latin typeface="Arial" pitchFamily="34" charset="0"/>
                <a:ea typeface="Arial" pitchFamily="34" charset="-122"/>
                <a:cs typeface="Arial" pitchFamily="34" charset="-120"/>
              </a:rPr>
              <a:t>Memory prices still rising, but gains slowing (midpoints of TrendForce ranges)</a:t>
            </a:r>
            <a:endParaRPr lang="en-US" sz="850" dirty="0"/>
          </a:p>
          <a:p>
            <a:pPr marL="101600" indent="-101600">
              <a:spcAft>
                <a:spcPts val="200"/>
              </a:spcAft>
              <a:buSzPct val="100000"/>
              <a:buChar char="•"/>
            </a:pPr>
            <a:r>
              <a:rPr lang="en-US" sz="850" dirty="0">
                <a:solidFill>
                  <a:srgbClr val="262626"/>
                </a:solidFill>
                <a:latin typeface="Arial" pitchFamily="34" charset="0"/>
                <a:ea typeface="Arial" pitchFamily="34" charset="-122"/>
                <a:cs typeface="Arial" pitchFamily="34" charset="-120"/>
              </a:rPr>
              <a:t>US 25% tariff on some advanced chips since Jan 2026 (Section 232)</a:t>
            </a:r>
            <a:endParaRPr lang="en-US" sz="850" dirty="0"/>
          </a:p>
          <a:p>
            <a:pPr marL="101600" indent="-101600">
              <a:spcAft>
                <a:spcPts val="200"/>
              </a:spcAft>
              <a:buSzPct val="100000"/>
              <a:buChar char="•"/>
            </a:pPr>
            <a:r>
              <a:rPr lang="en-US" sz="850" b="1" dirty="0">
                <a:solidFill>
                  <a:srgbClr val="262626"/>
                </a:solidFill>
                <a:latin typeface="Arial" pitchFamily="34" charset="0"/>
                <a:ea typeface="Arial" pitchFamily="34" charset="-122"/>
                <a:cs typeface="Arial" pitchFamily="34" charset="-120"/>
              </a:rPr>
              <a:t>Structural demand, cyclical prices: own it through a structure built for volatility (thesis 2)</a:t>
            </a:r>
            <a:endParaRPr lang="en-US" sz="850" dirty="0"/>
          </a:p>
        </p:txBody>
      </p:sp>
      <p:sp>
        <p:nvSpPr>
          <p:cNvPr id="39" name="Text 31"/>
          <p:cNvSpPr txBox="1"/>
          <p:nvPr/>
        </p:nvSpPr>
        <p:spPr>
          <a:xfrm>
            <a:off x="457200" y="5358384"/>
            <a:ext cx="11274552" cy="274320"/>
          </a:xfrm>
          <a:prstGeom prst="rect">
            <a:avLst/>
          </a:prstGeom>
          <a:noFill/>
          <a:ln/>
        </p:spPr>
        <p:txBody>
          <a:bodyPr wrap="square" lIns="0" tIns="0" rIns="0" bIns="0" rtlCol="0" anchor="t"/>
          <a:lstStyle/>
          <a:p>
            <a:pPr indent="0" marL="0">
              <a:buNone/>
            </a:pPr>
            <a:r>
              <a:rPr lang="en-US" sz="800" i="1" dirty="0">
                <a:solidFill>
                  <a:srgbClr val="595959"/>
                </a:solidFill>
                <a:latin typeface="Arial" pitchFamily="34" charset="0"/>
                <a:ea typeface="Arial" pitchFamily="34" charset="-122"/>
                <a:cs typeface="Arial" pitchFamily="34" charset="-120"/>
              </a:rPr>
              <a:t>Sources: Counterpoint (foundry, HBM); TSMC; Trading Economics / TWSE; TrendForce (DRAM, range midpoints); Siblis (P/E, 1 Jul 2026); SEMI (14 Jul 2026); WSTS (2025 actual $795.6bn; 2024 implied; 2026–27 Spring 2026 forecast); company reports and guidance midpoints (capex; Microsoft 2025 calendar-year estimate); White House Proclamation 11002.</a:t>
            </a:r>
            <a:endParaRPr lang="en-US" sz="800" dirty="0"/>
          </a:p>
        </p:txBody>
      </p:sp>
      <p:sp>
        <p:nvSpPr>
          <p:cNvPr id="40" name="Shape 32"/>
          <p:cNvSpPr/>
          <p:nvPr/>
        </p:nvSpPr>
        <p:spPr>
          <a:xfrm>
            <a:off x="457200" y="5650992"/>
            <a:ext cx="11274552" cy="502920"/>
          </a:xfrm>
          <a:prstGeom prst="rect">
            <a:avLst/>
          </a:prstGeom>
          <a:solidFill>
            <a:srgbClr val="2C5F82"/>
          </a:solidFill>
          <a:ln w="12700">
            <a:solidFill>
              <a:srgbClr val="2C5F82"/>
            </a:solidFill>
            <a:prstDash val="solid"/>
          </a:ln>
        </p:spPr>
      </p:sp>
      <p:sp>
        <p:nvSpPr>
          <p:cNvPr id="41" name="Text 33"/>
          <p:cNvSpPr txBox="1"/>
          <p:nvPr/>
        </p:nvSpPr>
        <p:spPr>
          <a:xfrm>
            <a:off x="594360" y="5650992"/>
            <a:ext cx="11000232"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Whichever AI model or company wins, it needs Taiwan's chips, Korea's memory and Japan's tools.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548640"/>
          </a:xfrm>
          <a:prstGeom prst="rect">
            <a:avLst/>
          </a:prstGeom>
          <a:noFill/>
          <a:ln/>
        </p:spPr>
        <p:txBody>
          <a:bodyPr wrap="square" lIns="0" tIns="0" rIns="0" bIns="0" rtlCol="0" anchor="ctr"/>
          <a:lstStyle/>
          <a:p>
            <a:pPr indent="0" marL="0">
              <a:buNone/>
            </a:pPr>
            <a:r>
              <a:rPr lang="en-US" sz="2400" dirty="0">
                <a:solidFill>
                  <a:srgbClr val="262626"/>
                </a:solidFill>
                <a:latin typeface="Arial" pitchFamily="34" charset="0"/>
                <a:ea typeface="Arial" pitchFamily="34" charset="-122"/>
                <a:cs typeface="Arial" pitchFamily="34" charset="-120"/>
              </a:rPr>
              <a:t>J.P. Morgan's 2026 Outlook: the AI moat is real, and so are its cracks</a:t>
            </a:r>
            <a:endParaRPr lang="en-US" sz="2400" dirty="0"/>
          </a:p>
        </p:txBody>
      </p:sp>
      <p:sp>
        <p:nvSpPr>
          <p:cNvPr id="3" name="Shape 1"/>
          <p:cNvSpPr/>
          <p:nvPr/>
        </p:nvSpPr>
        <p:spPr>
          <a:xfrm>
            <a:off x="457200" y="896112"/>
            <a:ext cx="11274552" cy="0"/>
          </a:xfrm>
          <a:prstGeom prst="line">
            <a:avLst/>
          </a:prstGeom>
          <a:noFill/>
          <a:ln w="12700">
            <a:solidFill>
              <a:srgbClr val="2C5F82"/>
            </a:solidFill>
            <a:prstDash val="solid"/>
          </a:ln>
        </p:spPr>
      </p:sp>
      <p:sp>
        <p:nvSpPr>
          <p:cNvPr id="4" name="Shape 2"/>
          <p:cNvSpPr/>
          <p:nvPr/>
        </p:nvSpPr>
        <p:spPr>
          <a:xfrm>
            <a:off x="457200" y="6382512"/>
            <a:ext cx="11274552" cy="0"/>
          </a:xfrm>
          <a:prstGeom prst="line">
            <a:avLst/>
          </a:prstGeom>
          <a:noFill/>
          <a:ln w="9525">
            <a:solidFill>
              <a:srgbClr val="BFBFBF"/>
            </a:solidFill>
            <a:prstDash val="solid"/>
          </a:ln>
        </p:spPr>
      </p:sp>
      <p:sp>
        <p:nvSpPr>
          <p:cNvPr id="5" name="Shape 3"/>
          <p:cNvSpPr/>
          <p:nvPr/>
        </p:nvSpPr>
        <p:spPr>
          <a:xfrm>
            <a:off x="1005840" y="6364224"/>
            <a:ext cx="2514600" cy="45720"/>
          </a:xfrm>
          <a:prstGeom prst="rect">
            <a:avLst/>
          </a:prstGeom>
          <a:solidFill>
            <a:srgbClr val="2C5F82"/>
          </a:solidFill>
          <a:ln w="12700">
            <a:solidFill>
              <a:srgbClr val="2C5F82"/>
            </a:solidFill>
            <a:prstDash val="solid"/>
          </a:ln>
        </p:spPr>
      </p:sp>
      <p:sp>
        <p:nvSpPr>
          <p:cNvPr id="6" name="Text 4"/>
          <p:cNvSpPr txBox="1"/>
          <p:nvPr/>
        </p:nvSpPr>
        <p:spPr>
          <a:xfrm>
            <a:off x="457200" y="6446520"/>
            <a:ext cx="3611880" cy="274320"/>
          </a:xfrm>
          <a:prstGeom prst="rect">
            <a:avLst/>
          </a:prstGeom>
          <a:noFill/>
          <a:ln/>
        </p:spPr>
        <p:txBody>
          <a:bodyPr wrap="square" lIns="0" tIns="0" rIns="0" bIns="0" rtlCol="0" anchor="t"/>
          <a:lstStyle/>
          <a:p>
            <a:pPr algn="ctr" indent="0" marL="0">
              <a:buNone/>
            </a:pPr>
            <a:r>
              <a:rPr lang="en-US" sz="1200" b="1" spc="100" kern="0" dirty="0">
                <a:solidFill>
                  <a:srgbClr val="2C5F82"/>
                </a:solidFill>
                <a:latin typeface="Arial" pitchFamily="34" charset="0"/>
                <a:ea typeface="Arial" pitchFamily="34" charset="-122"/>
                <a:cs typeface="Arial" pitchFamily="34" charset="-120"/>
              </a:rPr>
              <a:t>ANALYSIS</a:t>
            </a:r>
            <a:endParaRPr lang="en-US" sz="1200" dirty="0"/>
          </a:p>
        </p:txBody>
      </p:sp>
      <p:sp>
        <p:nvSpPr>
          <p:cNvPr id="7" name="Text 5"/>
          <p:cNvSpPr txBox="1"/>
          <p:nvPr/>
        </p:nvSpPr>
        <p:spPr>
          <a:xfrm>
            <a:off x="4288536" y="6446520"/>
            <a:ext cx="3611880" cy="274320"/>
          </a:xfrm>
          <a:prstGeom prst="rect">
            <a:avLst/>
          </a:prstGeom>
          <a:noFill/>
          <a:ln/>
        </p:spPr>
        <p:txBody>
          <a:bodyPr wrap="square" lIns="0" tIns="0" rIns="0" bIns="0" rtlCol="0" anchor="t"/>
          <a:lstStyle/>
          <a:p>
            <a:pPr algn="ctr" indent="0" marL="0">
              <a:buNone/>
            </a:pPr>
            <a:r>
              <a:rPr lang="en-US" sz="1200" spc="100" kern="0" dirty="0">
                <a:solidFill>
                  <a:srgbClr val="595959"/>
                </a:solidFill>
                <a:latin typeface="Arial" pitchFamily="34" charset="0"/>
                <a:ea typeface="Arial" pitchFamily="34" charset="-122"/>
                <a:cs typeface="Arial" pitchFamily="34" charset="-120"/>
              </a:rPr>
              <a:t>STRATEGY</a:t>
            </a:r>
            <a:endParaRPr lang="en-US" sz="1200" dirty="0"/>
          </a:p>
        </p:txBody>
      </p:sp>
      <p:sp>
        <p:nvSpPr>
          <p:cNvPr id="8" name="Text 6"/>
          <p:cNvSpPr txBox="1"/>
          <p:nvPr/>
        </p:nvSpPr>
        <p:spPr>
          <a:xfrm>
            <a:off x="8129016" y="6446520"/>
            <a:ext cx="3611880" cy="274320"/>
          </a:xfrm>
          <a:prstGeom prst="rect">
            <a:avLst/>
          </a:prstGeom>
          <a:noFill/>
          <a:ln/>
        </p:spPr>
        <p:txBody>
          <a:bodyPr wrap="square" lIns="0" tIns="0" rIns="0" bIns="0" rtlCol="0" anchor="t"/>
          <a:lstStyle/>
          <a:p>
            <a:pPr algn="ctr" indent="0" marL="0">
              <a:buNone/>
            </a:pPr>
            <a:r>
              <a:rPr lang="en-US" sz="1200" spc="100" kern="0" dirty="0">
                <a:solidFill>
                  <a:srgbClr val="595959"/>
                </a:solidFill>
                <a:latin typeface="Arial" pitchFamily="34" charset="0"/>
                <a:ea typeface="Arial" pitchFamily="34" charset="-122"/>
                <a:cs typeface="Arial" pitchFamily="34" charset="-120"/>
              </a:rPr>
              <a:t>APPENDIX</a:t>
            </a:r>
            <a:endParaRPr lang="en-US" sz="1200" dirty="0"/>
          </a:p>
        </p:txBody>
      </p:sp>
      <p:sp>
        <p:nvSpPr>
          <p:cNvPr id="9" name="Text 7"/>
          <p:cNvSpPr txBox="1"/>
          <p:nvPr/>
        </p:nvSpPr>
        <p:spPr>
          <a:xfrm>
            <a:off x="457200" y="941832"/>
            <a:ext cx="11247120" cy="274320"/>
          </a:xfrm>
          <a:prstGeom prst="rect">
            <a:avLst/>
          </a:prstGeom>
          <a:noFill/>
          <a:ln/>
        </p:spPr>
        <p:txBody>
          <a:bodyPr wrap="square" lIns="0" tIns="0" rIns="0" bIns="0" rtlCol="0" anchor="t"/>
          <a:lstStyle/>
          <a:p>
            <a:pPr indent="0" marL="0">
              <a:buNone/>
            </a:pPr>
            <a:r>
              <a:rPr lang="en-US" sz="1100" i="1" dirty="0">
                <a:solidFill>
                  <a:srgbClr val="595959"/>
                </a:solidFill>
                <a:latin typeface="Arial" pitchFamily="34" charset="0"/>
                <a:ea typeface="Arial" pitchFamily="34" charset="-122"/>
                <a:cs typeface="Arial" pitchFamily="34" charset="-120"/>
              </a:rPr>
              <a:t>"Smothering Heights: is the largest moat in market history indestructible?" (M. Cembalest, J.P. Morgan Asset &amp; Wealth Management, 1 Jan 2026)</a:t>
            </a:r>
            <a:endParaRPr lang="en-US" sz="1100" dirty="0"/>
          </a:p>
        </p:txBody>
      </p:sp>
      <p:sp>
        <p:nvSpPr>
          <p:cNvPr id="10" name="Shape 8"/>
          <p:cNvSpPr/>
          <p:nvPr/>
        </p:nvSpPr>
        <p:spPr>
          <a:xfrm>
            <a:off x="457200" y="1280160"/>
            <a:ext cx="5486400" cy="384048"/>
          </a:xfrm>
          <a:prstGeom prst="rect">
            <a:avLst/>
          </a:prstGeom>
          <a:solidFill>
            <a:srgbClr val="2C5F82"/>
          </a:solidFill>
          <a:ln w="12700">
            <a:solidFill>
              <a:srgbClr val="2C5F82"/>
            </a:solidFill>
            <a:prstDash val="solid"/>
          </a:ln>
        </p:spPr>
      </p:sp>
      <p:sp>
        <p:nvSpPr>
          <p:cNvPr id="11" name="Text 9"/>
          <p:cNvSpPr txBox="1"/>
          <p:nvPr/>
        </p:nvSpPr>
        <p:spPr>
          <a:xfrm>
            <a:off x="457200" y="1280160"/>
            <a:ext cx="5486400" cy="384048"/>
          </a:xfrm>
          <a:prstGeom prst="rect">
            <a:avLst/>
          </a:prstGeom>
          <a:noFill/>
          <a:ln/>
        </p:spPr>
        <p:txBody>
          <a:bodyPr wrap="square" lIns="0" tIns="0" rIns="0" bIns="0" rtlCol="0" anchor="ctr"/>
          <a:lstStyle/>
          <a:p>
            <a:pPr algn="ctr" indent="0" marL="0">
              <a:buNone/>
            </a:pPr>
            <a:r>
              <a:rPr lang="en-US" sz="1400" b="1" i="1" dirty="0">
                <a:solidFill>
                  <a:srgbClr val="FFFFFF"/>
                </a:solidFill>
                <a:latin typeface="Arial" pitchFamily="34" charset="0"/>
                <a:ea typeface="Arial" pitchFamily="34" charset="-122"/>
                <a:cs typeface="Arial" pitchFamily="34" charset="-120"/>
              </a:rPr>
              <a:t>The theme is the market</a:t>
            </a:r>
            <a:endParaRPr lang="en-US" sz="1400" dirty="0"/>
          </a:p>
        </p:txBody>
      </p:sp>
      <p:graphicFrame>
        <p:nvGraphicFramePr>
          <p:cNvPr id="12" name="Chart 0" descr=""/>
          <p:cNvGraphicFramePr/>
          <p:nvPr/>
        </p:nvGraphicFramePr>
        <p:xfrm>
          <a:off x="457200" y="1719072"/>
          <a:ext cx="5486400" cy="1828800"/>
        </p:xfrm>
        <a:graphic xmlns:a="http://schemas.openxmlformats.org/drawingml/2006/main">
          <a:graphicData uri="http://schemas.openxmlformats.org/drawingml/2006/chart">
            <c:chart xmlns:c="http://schemas.openxmlformats.org/drawingml/2006/chart" r:id="rId1"/>
          </a:graphicData>
        </a:graphic>
      </p:graphicFrame>
      <p:sp>
        <p:nvSpPr>
          <p:cNvPr id="13" name="Shape 10"/>
          <p:cNvSpPr/>
          <p:nvPr/>
        </p:nvSpPr>
        <p:spPr>
          <a:xfrm>
            <a:off x="457200" y="3639312"/>
            <a:ext cx="5486400" cy="493776"/>
          </a:xfrm>
          <a:prstGeom prst="rect">
            <a:avLst/>
          </a:prstGeom>
          <a:solidFill>
            <a:srgbClr val="F2F2F2"/>
          </a:solidFill>
          <a:ln w="12700">
            <a:solidFill>
              <a:srgbClr val="F2F2F2"/>
            </a:solidFill>
            <a:prstDash val="solid"/>
          </a:ln>
        </p:spPr>
      </p:sp>
      <p:sp>
        <p:nvSpPr>
          <p:cNvPr id="14" name="Text 11"/>
          <p:cNvSpPr txBox="1"/>
          <p:nvPr/>
        </p:nvSpPr>
        <p:spPr>
          <a:xfrm>
            <a:off x="548640" y="3639312"/>
            <a:ext cx="1600200" cy="493776"/>
          </a:xfrm>
          <a:prstGeom prst="rect">
            <a:avLst/>
          </a:prstGeom>
          <a:noFill/>
          <a:ln/>
        </p:spPr>
        <p:txBody>
          <a:bodyPr wrap="square" lIns="0" tIns="0" rIns="0" bIns="0" rtlCol="0" anchor="ctr"/>
          <a:lstStyle/>
          <a:p>
            <a:pPr algn="ctr" indent="0" marL="0">
              <a:buNone/>
            </a:pPr>
            <a:r>
              <a:rPr lang="en-US" sz="1500" b="1" dirty="0">
                <a:solidFill>
                  <a:srgbClr val="2C5F82"/>
                </a:solidFill>
                <a:latin typeface="Arial" pitchFamily="34" charset="0"/>
                <a:ea typeface="Arial" pitchFamily="34" charset="-122"/>
                <a:cs typeface="Arial" pitchFamily="34" charset="-120"/>
              </a:rPr>
              <a:t>$3trn → $18trn</a:t>
            </a:r>
            <a:endParaRPr lang="en-US" sz="1500" dirty="0"/>
          </a:p>
        </p:txBody>
      </p:sp>
      <p:sp>
        <p:nvSpPr>
          <p:cNvPr id="15" name="Text 12"/>
          <p:cNvSpPr txBox="1"/>
          <p:nvPr/>
        </p:nvSpPr>
        <p:spPr>
          <a:xfrm>
            <a:off x="2240280" y="3639312"/>
            <a:ext cx="3611880" cy="493776"/>
          </a:xfrm>
          <a:prstGeom prst="rect">
            <a:avLst/>
          </a:prstGeom>
          <a:noFill/>
          <a:ln/>
        </p:spPr>
        <p:txBody>
          <a:bodyPr wrap="square" lIns="0" tIns="0" rIns="0" bIns="0" rtlCol="0" anchor="ctr"/>
          <a:lstStyle/>
          <a:p>
            <a:pPr indent="0" marL="0">
              <a:buNone/>
            </a:pPr>
            <a:r>
              <a:rPr lang="en-US" sz="950" dirty="0">
                <a:solidFill>
                  <a:srgbClr val="262626"/>
                </a:solidFill>
                <a:latin typeface="Arial" pitchFamily="34" charset="0"/>
                <a:ea typeface="Arial" pitchFamily="34" charset="-122"/>
                <a:cs typeface="Arial" pitchFamily="34" charset="-120"/>
              </a:rPr>
              <a:t>Market cap of 4 hyperscalers + NVIDIA, TSMC, ASML, AMD in ~7 years: ~20% of MSCI World</a:t>
            </a:r>
            <a:endParaRPr lang="en-US" sz="950" dirty="0"/>
          </a:p>
        </p:txBody>
      </p:sp>
      <p:sp>
        <p:nvSpPr>
          <p:cNvPr id="16" name="Shape 13"/>
          <p:cNvSpPr/>
          <p:nvPr/>
        </p:nvSpPr>
        <p:spPr>
          <a:xfrm>
            <a:off x="457200" y="4187952"/>
            <a:ext cx="5486400" cy="493776"/>
          </a:xfrm>
          <a:prstGeom prst="rect">
            <a:avLst/>
          </a:prstGeom>
          <a:solidFill>
            <a:srgbClr val="FFFFFF"/>
          </a:solidFill>
          <a:ln w="12700">
            <a:solidFill>
              <a:srgbClr val="F2F2F2"/>
            </a:solidFill>
            <a:prstDash val="solid"/>
          </a:ln>
        </p:spPr>
      </p:sp>
      <p:sp>
        <p:nvSpPr>
          <p:cNvPr id="17" name="Text 14"/>
          <p:cNvSpPr txBox="1"/>
          <p:nvPr/>
        </p:nvSpPr>
        <p:spPr>
          <a:xfrm>
            <a:off x="548640" y="4187952"/>
            <a:ext cx="1600200" cy="493776"/>
          </a:xfrm>
          <a:prstGeom prst="rect">
            <a:avLst/>
          </a:prstGeom>
          <a:noFill/>
          <a:ln/>
        </p:spPr>
        <p:txBody>
          <a:bodyPr wrap="square" lIns="0" tIns="0" rIns="0" bIns="0" rtlCol="0" anchor="ctr"/>
          <a:lstStyle/>
          <a:p>
            <a:pPr algn="ctr" indent="0" marL="0">
              <a:buNone/>
            </a:pPr>
            <a:r>
              <a:rPr lang="en-US" sz="1500" b="1" dirty="0">
                <a:solidFill>
                  <a:srgbClr val="2C5F82"/>
                </a:solidFill>
                <a:latin typeface="Arial" pitchFamily="34" charset="0"/>
                <a:ea typeface="Arial" pitchFamily="34" charset="-122"/>
                <a:cs typeface="Arial" pitchFamily="34" charset="-120"/>
              </a:rPr>
              <a:t>65–75%</a:t>
            </a:r>
            <a:endParaRPr lang="en-US" sz="1500" dirty="0"/>
          </a:p>
        </p:txBody>
      </p:sp>
      <p:sp>
        <p:nvSpPr>
          <p:cNvPr id="18" name="Text 15"/>
          <p:cNvSpPr txBox="1"/>
          <p:nvPr/>
        </p:nvSpPr>
        <p:spPr>
          <a:xfrm>
            <a:off x="2240280" y="4187952"/>
            <a:ext cx="3611880" cy="493776"/>
          </a:xfrm>
          <a:prstGeom prst="rect">
            <a:avLst/>
          </a:prstGeom>
          <a:noFill/>
          <a:ln/>
        </p:spPr>
        <p:txBody>
          <a:bodyPr wrap="square" lIns="0" tIns="0" rIns="0" bIns="0" rtlCol="0" anchor="ctr"/>
          <a:lstStyle/>
          <a:p>
            <a:pPr indent="0" marL="0">
              <a:buNone/>
            </a:pPr>
            <a:r>
              <a:rPr lang="en-US" sz="950" dirty="0">
                <a:solidFill>
                  <a:srgbClr val="262626"/>
                </a:solidFill>
                <a:latin typeface="Arial" pitchFamily="34" charset="0"/>
                <a:ea typeface="Arial" pitchFamily="34" charset="-122"/>
                <a:cs typeface="Arial" pitchFamily="34" charset="-120"/>
              </a:rPr>
              <a:t>Share of S&amp;P 500 returns, profits and capex since Nov 2022 from 42 AI-linked stocks</a:t>
            </a:r>
            <a:endParaRPr lang="en-US" sz="950" dirty="0"/>
          </a:p>
        </p:txBody>
      </p:sp>
      <p:sp>
        <p:nvSpPr>
          <p:cNvPr id="19" name="Shape 16"/>
          <p:cNvSpPr/>
          <p:nvPr/>
        </p:nvSpPr>
        <p:spPr>
          <a:xfrm>
            <a:off x="457200" y="4736592"/>
            <a:ext cx="5486400" cy="493776"/>
          </a:xfrm>
          <a:prstGeom prst="rect">
            <a:avLst/>
          </a:prstGeom>
          <a:solidFill>
            <a:srgbClr val="F2F2F2"/>
          </a:solidFill>
          <a:ln w="12700">
            <a:solidFill>
              <a:srgbClr val="F2F2F2"/>
            </a:solidFill>
            <a:prstDash val="solid"/>
          </a:ln>
        </p:spPr>
      </p:sp>
      <p:sp>
        <p:nvSpPr>
          <p:cNvPr id="20" name="Text 17"/>
          <p:cNvSpPr txBox="1"/>
          <p:nvPr/>
        </p:nvSpPr>
        <p:spPr>
          <a:xfrm>
            <a:off x="548640" y="4736592"/>
            <a:ext cx="1600200" cy="493776"/>
          </a:xfrm>
          <a:prstGeom prst="rect">
            <a:avLst/>
          </a:prstGeom>
          <a:noFill/>
          <a:ln/>
        </p:spPr>
        <p:txBody>
          <a:bodyPr wrap="square" lIns="0" tIns="0" rIns="0" bIns="0" rtlCol="0" anchor="ctr"/>
          <a:lstStyle/>
          <a:p>
            <a:pPr algn="ctr" indent="0" marL="0">
              <a:buNone/>
            </a:pPr>
            <a:r>
              <a:rPr lang="en-US" sz="1500" b="1" dirty="0">
                <a:solidFill>
                  <a:srgbClr val="2C5F82"/>
                </a:solidFill>
                <a:latin typeface="Arial" pitchFamily="34" charset="0"/>
                <a:ea typeface="Arial" pitchFamily="34" charset="-122"/>
                <a:cs typeface="Arial" pitchFamily="34" charset="-120"/>
              </a:rPr>
              <a:t>8 of 10</a:t>
            </a:r>
            <a:endParaRPr lang="en-US" sz="1500" dirty="0"/>
          </a:p>
        </p:txBody>
      </p:sp>
      <p:sp>
        <p:nvSpPr>
          <p:cNvPr id="21" name="Text 18"/>
          <p:cNvSpPr txBox="1"/>
          <p:nvPr/>
        </p:nvSpPr>
        <p:spPr>
          <a:xfrm>
            <a:off x="2240280" y="4736592"/>
            <a:ext cx="3611880" cy="493776"/>
          </a:xfrm>
          <a:prstGeom prst="rect">
            <a:avLst/>
          </a:prstGeom>
          <a:noFill/>
          <a:ln/>
        </p:spPr>
        <p:txBody>
          <a:bodyPr wrap="square" lIns="0" tIns="0" rIns="0" bIns="0" rtlCol="0" anchor="ctr"/>
          <a:lstStyle/>
          <a:p>
            <a:pPr indent="0" marL="0">
              <a:buNone/>
            </a:pPr>
            <a:r>
              <a:rPr lang="en-US" sz="950" dirty="0">
                <a:solidFill>
                  <a:srgbClr val="262626"/>
                </a:solidFill>
                <a:latin typeface="Arial" pitchFamily="34" charset="0"/>
                <a:ea typeface="Arial" pitchFamily="34" charset="-122"/>
                <a:cs typeface="Arial" pitchFamily="34" charset="-120"/>
              </a:rPr>
              <a:t>Of the world's 10 largest companies depend heavily on TSMC supply</a:t>
            </a:r>
            <a:endParaRPr lang="en-US" sz="950" dirty="0"/>
          </a:p>
        </p:txBody>
      </p:sp>
      <p:sp>
        <p:nvSpPr>
          <p:cNvPr id="22" name="Shape 19"/>
          <p:cNvSpPr/>
          <p:nvPr/>
        </p:nvSpPr>
        <p:spPr>
          <a:xfrm>
            <a:off x="6245352" y="1280160"/>
            <a:ext cx="5486400" cy="384048"/>
          </a:xfrm>
          <a:prstGeom prst="rect">
            <a:avLst/>
          </a:prstGeom>
          <a:solidFill>
            <a:srgbClr val="2C5F82"/>
          </a:solidFill>
          <a:ln w="12700">
            <a:solidFill>
              <a:srgbClr val="2C5F82"/>
            </a:solidFill>
            <a:prstDash val="solid"/>
          </a:ln>
        </p:spPr>
      </p:sp>
      <p:sp>
        <p:nvSpPr>
          <p:cNvPr id="23" name="Text 20"/>
          <p:cNvSpPr txBox="1"/>
          <p:nvPr/>
        </p:nvSpPr>
        <p:spPr>
          <a:xfrm>
            <a:off x="6245352" y="1280160"/>
            <a:ext cx="5486400" cy="384048"/>
          </a:xfrm>
          <a:prstGeom prst="rect">
            <a:avLst/>
          </a:prstGeom>
          <a:noFill/>
          <a:ln/>
        </p:spPr>
        <p:txBody>
          <a:bodyPr wrap="square" lIns="0" tIns="0" rIns="0" bIns="0" rtlCol="0" anchor="ctr"/>
          <a:lstStyle/>
          <a:p>
            <a:pPr algn="ctr" indent="0" marL="0">
              <a:buNone/>
            </a:pPr>
            <a:r>
              <a:rPr lang="en-US" sz="1400" b="1" i="1" dirty="0">
                <a:solidFill>
                  <a:srgbClr val="FFFFFF"/>
                </a:solidFill>
                <a:latin typeface="Arial" pitchFamily="34" charset="0"/>
                <a:ea typeface="Arial" pitchFamily="34" charset="-122"/>
                <a:cs typeface="Arial" pitchFamily="34" charset="-120"/>
              </a:rPr>
              <a:t>…but the moat has cracks</a:t>
            </a:r>
            <a:endParaRPr lang="en-US" sz="1400" dirty="0"/>
          </a:p>
        </p:txBody>
      </p:sp>
      <p:graphicFrame>
        <p:nvGraphicFramePr>
          <p:cNvPr id="24" name="Chart 1" descr=""/>
          <p:cNvGraphicFramePr/>
          <p:nvPr/>
        </p:nvGraphicFramePr>
        <p:xfrm>
          <a:off x="6245352" y="1719072"/>
          <a:ext cx="5486400" cy="1828800"/>
        </p:xfrm>
        <a:graphic xmlns:a="http://schemas.openxmlformats.org/drawingml/2006/main">
          <a:graphicData uri="http://schemas.openxmlformats.org/drawingml/2006/chart">
            <c:chart xmlns:c="http://schemas.openxmlformats.org/drawingml/2006/chart" r:id="rId2"/>
          </a:graphicData>
        </a:graphic>
      </p:graphicFrame>
      <p:sp>
        <p:nvSpPr>
          <p:cNvPr id="25" name="Shape 21"/>
          <p:cNvSpPr/>
          <p:nvPr/>
        </p:nvSpPr>
        <p:spPr>
          <a:xfrm>
            <a:off x="6245352" y="3639312"/>
            <a:ext cx="5486400" cy="493776"/>
          </a:xfrm>
          <a:prstGeom prst="rect">
            <a:avLst/>
          </a:prstGeom>
          <a:solidFill>
            <a:srgbClr val="F2F2F2"/>
          </a:solidFill>
          <a:ln w="12700">
            <a:solidFill>
              <a:srgbClr val="F2F2F2"/>
            </a:solidFill>
            <a:prstDash val="solid"/>
          </a:ln>
        </p:spPr>
      </p:sp>
      <p:sp>
        <p:nvSpPr>
          <p:cNvPr id="26" name="Text 22"/>
          <p:cNvSpPr txBox="1"/>
          <p:nvPr/>
        </p:nvSpPr>
        <p:spPr>
          <a:xfrm>
            <a:off x="6336792" y="3639312"/>
            <a:ext cx="1600200" cy="493776"/>
          </a:xfrm>
          <a:prstGeom prst="rect">
            <a:avLst/>
          </a:prstGeom>
          <a:noFill/>
          <a:ln/>
        </p:spPr>
        <p:txBody>
          <a:bodyPr wrap="square" lIns="0" tIns="0" rIns="0" bIns="0" rtlCol="0" anchor="ctr"/>
          <a:lstStyle/>
          <a:p>
            <a:pPr algn="ctr" indent="0" marL="0">
              <a:buNone/>
            </a:pPr>
            <a:r>
              <a:rPr lang="en-US" sz="1500" b="1" dirty="0">
                <a:solidFill>
                  <a:srgbClr val="B23B3B"/>
                </a:solidFill>
                <a:latin typeface="Arial" pitchFamily="34" charset="0"/>
                <a:ea typeface="Arial" pitchFamily="34" charset="-122"/>
                <a:cs typeface="Arial" pitchFamily="34" charset="-120"/>
              </a:rPr>
              <a:t>10–11 days</a:t>
            </a:r>
            <a:endParaRPr lang="en-US" sz="1500" dirty="0"/>
          </a:p>
        </p:txBody>
      </p:sp>
      <p:sp>
        <p:nvSpPr>
          <p:cNvPr id="27" name="Text 23"/>
          <p:cNvSpPr txBox="1"/>
          <p:nvPr/>
        </p:nvSpPr>
        <p:spPr>
          <a:xfrm>
            <a:off x="8028432" y="3639312"/>
            <a:ext cx="3611880" cy="493776"/>
          </a:xfrm>
          <a:prstGeom prst="rect">
            <a:avLst/>
          </a:prstGeom>
          <a:noFill/>
          <a:ln/>
        </p:spPr>
        <p:txBody>
          <a:bodyPr wrap="square" lIns="0" tIns="0" rIns="0" bIns="0" rtlCol="0" anchor="ctr"/>
          <a:lstStyle/>
          <a:p>
            <a:pPr indent="0" marL="0">
              <a:buNone/>
            </a:pPr>
            <a:r>
              <a:rPr lang="en-US" sz="950" dirty="0">
                <a:solidFill>
                  <a:srgbClr val="262626"/>
                </a:solidFill>
                <a:latin typeface="Arial" pitchFamily="34" charset="0"/>
                <a:ea typeface="Arial" pitchFamily="34" charset="-122"/>
                <a:cs typeface="Arial" pitchFamily="34" charset="-120"/>
              </a:rPr>
              <a:t>Taiwan's gas storage; LNG is 40% of its power and 90% of energy is imported: "the most blockade-sensitive advanced economy"</a:t>
            </a:r>
            <a:endParaRPr lang="en-US" sz="950" dirty="0"/>
          </a:p>
        </p:txBody>
      </p:sp>
      <p:sp>
        <p:nvSpPr>
          <p:cNvPr id="28" name="Shape 24"/>
          <p:cNvSpPr/>
          <p:nvPr/>
        </p:nvSpPr>
        <p:spPr>
          <a:xfrm>
            <a:off x="6245352" y="4187952"/>
            <a:ext cx="5486400" cy="493776"/>
          </a:xfrm>
          <a:prstGeom prst="rect">
            <a:avLst/>
          </a:prstGeom>
          <a:solidFill>
            <a:srgbClr val="FFFFFF"/>
          </a:solidFill>
          <a:ln w="12700">
            <a:solidFill>
              <a:srgbClr val="F2F2F2"/>
            </a:solidFill>
            <a:prstDash val="solid"/>
          </a:ln>
        </p:spPr>
      </p:sp>
      <p:sp>
        <p:nvSpPr>
          <p:cNvPr id="29" name="Text 25"/>
          <p:cNvSpPr txBox="1"/>
          <p:nvPr/>
        </p:nvSpPr>
        <p:spPr>
          <a:xfrm>
            <a:off x="6336792" y="4187952"/>
            <a:ext cx="1600200" cy="493776"/>
          </a:xfrm>
          <a:prstGeom prst="rect">
            <a:avLst/>
          </a:prstGeom>
          <a:noFill/>
          <a:ln/>
        </p:spPr>
        <p:txBody>
          <a:bodyPr wrap="square" lIns="0" tIns="0" rIns="0" bIns="0" rtlCol="0" anchor="ctr"/>
          <a:lstStyle/>
          <a:p>
            <a:pPr algn="ctr" indent="0" marL="0">
              <a:buNone/>
            </a:pPr>
            <a:r>
              <a:rPr lang="en-US" sz="1500" b="1" dirty="0">
                <a:solidFill>
                  <a:srgbClr val="B23B3B"/>
                </a:solidFill>
                <a:latin typeface="Arial" pitchFamily="34" charset="0"/>
                <a:ea typeface="Arial" pitchFamily="34" charset="-122"/>
                <a:cs typeface="Arial" pitchFamily="34" charset="-120"/>
              </a:rPr>
              <a:t>$1.3trn</a:t>
            </a:r>
            <a:endParaRPr lang="en-US" sz="1500" dirty="0"/>
          </a:p>
        </p:txBody>
      </p:sp>
      <p:sp>
        <p:nvSpPr>
          <p:cNvPr id="30" name="Text 26"/>
          <p:cNvSpPr txBox="1"/>
          <p:nvPr/>
        </p:nvSpPr>
        <p:spPr>
          <a:xfrm>
            <a:off x="8028432" y="4187952"/>
            <a:ext cx="3611880" cy="493776"/>
          </a:xfrm>
          <a:prstGeom prst="rect">
            <a:avLst/>
          </a:prstGeom>
          <a:noFill/>
          <a:ln/>
        </p:spPr>
        <p:txBody>
          <a:bodyPr wrap="square" lIns="0" tIns="0" rIns="0" bIns="0" rtlCol="0" anchor="ctr"/>
          <a:lstStyle/>
          <a:p>
            <a:pPr indent="0" marL="0">
              <a:buNone/>
            </a:pPr>
            <a:r>
              <a:rPr lang="en-US" sz="950" dirty="0">
                <a:solidFill>
                  <a:srgbClr val="262626"/>
                </a:solidFill>
                <a:latin typeface="Arial" pitchFamily="34" charset="0"/>
                <a:ea typeface="Arial" pitchFamily="34" charset="-122"/>
                <a:cs typeface="Arial" pitchFamily="34" charset="-120"/>
              </a:rPr>
              <a:t>Hyperscaler capex + R&amp;D since 2022: risk of a "Metaverse moment" (Mag 7 fell 50% in 2022)</a:t>
            </a:r>
            <a:endParaRPr lang="en-US" sz="950" dirty="0"/>
          </a:p>
        </p:txBody>
      </p:sp>
      <p:sp>
        <p:nvSpPr>
          <p:cNvPr id="31" name="Shape 27"/>
          <p:cNvSpPr/>
          <p:nvPr/>
        </p:nvSpPr>
        <p:spPr>
          <a:xfrm>
            <a:off x="6245352" y="4736592"/>
            <a:ext cx="5486400" cy="493776"/>
          </a:xfrm>
          <a:prstGeom prst="rect">
            <a:avLst/>
          </a:prstGeom>
          <a:solidFill>
            <a:srgbClr val="F2F2F2"/>
          </a:solidFill>
          <a:ln w="12700">
            <a:solidFill>
              <a:srgbClr val="F2F2F2"/>
            </a:solidFill>
            <a:prstDash val="solid"/>
          </a:ln>
        </p:spPr>
      </p:sp>
      <p:sp>
        <p:nvSpPr>
          <p:cNvPr id="32" name="Text 28"/>
          <p:cNvSpPr txBox="1"/>
          <p:nvPr/>
        </p:nvSpPr>
        <p:spPr>
          <a:xfrm>
            <a:off x="6336792" y="4736592"/>
            <a:ext cx="1600200" cy="493776"/>
          </a:xfrm>
          <a:prstGeom prst="rect">
            <a:avLst/>
          </a:prstGeom>
          <a:noFill/>
          <a:ln/>
        </p:spPr>
        <p:txBody>
          <a:bodyPr wrap="square" lIns="0" tIns="0" rIns="0" bIns="0" rtlCol="0" anchor="ctr"/>
          <a:lstStyle/>
          <a:p>
            <a:pPr algn="ctr" indent="0" marL="0">
              <a:buNone/>
            </a:pPr>
            <a:r>
              <a:rPr lang="en-US" sz="1500" b="1" dirty="0">
                <a:solidFill>
                  <a:srgbClr val="B23B3B"/>
                </a:solidFill>
                <a:latin typeface="Arial" pitchFamily="34" charset="0"/>
                <a:ea typeface="Arial" pitchFamily="34" charset="-122"/>
                <a:cs typeface="Arial" pitchFamily="34" charset="-120"/>
              </a:rPr>
              <a:t>−10–15%</a:t>
            </a:r>
            <a:endParaRPr lang="en-US" sz="1500" dirty="0"/>
          </a:p>
        </p:txBody>
      </p:sp>
      <p:sp>
        <p:nvSpPr>
          <p:cNvPr id="33" name="Text 29"/>
          <p:cNvSpPr txBox="1"/>
          <p:nvPr/>
        </p:nvSpPr>
        <p:spPr>
          <a:xfrm>
            <a:off x="8028432" y="4736592"/>
            <a:ext cx="3611880" cy="493776"/>
          </a:xfrm>
          <a:prstGeom prst="rect">
            <a:avLst/>
          </a:prstGeom>
          <a:noFill/>
          <a:ln/>
        </p:spPr>
        <p:txBody>
          <a:bodyPr wrap="square" lIns="0" tIns="0" rIns="0" bIns="0" rtlCol="0" anchor="ctr"/>
          <a:lstStyle/>
          <a:p>
            <a:pPr indent="0" marL="0">
              <a:buNone/>
            </a:pPr>
            <a:r>
              <a:rPr lang="en-US" sz="950" dirty="0">
                <a:solidFill>
                  <a:srgbClr val="262626"/>
                </a:solidFill>
                <a:latin typeface="Arial" pitchFamily="34" charset="0"/>
                <a:ea typeface="Arial" pitchFamily="34" charset="-122"/>
                <a:cs typeface="Arial" pitchFamily="34" charset="-120"/>
              </a:rPr>
              <a:t>JPM's base case: a correction at some point in 2026, then markets end the year higher</a:t>
            </a:r>
            <a:endParaRPr lang="en-US" sz="950" dirty="0"/>
          </a:p>
        </p:txBody>
      </p:sp>
      <p:sp>
        <p:nvSpPr>
          <p:cNvPr id="34" name="Text 30"/>
          <p:cNvSpPr txBox="1"/>
          <p:nvPr/>
        </p:nvSpPr>
        <p:spPr>
          <a:xfrm>
            <a:off x="457200" y="5358384"/>
            <a:ext cx="11274552" cy="274320"/>
          </a:xfrm>
          <a:prstGeom prst="rect">
            <a:avLst/>
          </a:prstGeom>
          <a:noFill/>
          <a:ln/>
        </p:spPr>
        <p:txBody>
          <a:bodyPr wrap="square" lIns="0" tIns="0" rIns="0" bIns="0" rtlCol="0" anchor="t"/>
          <a:lstStyle/>
          <a:p>
            <a:pPr indent="0" marL="0">
              <a:buNone/>
            </a:pPr>
            <a:r>
              <a:rPr lang="en-US" sz="800" i="1" dirty="0">
                <a:solidFill>
                  <a:srgbClr val="595959"/>
                </a:solidFill>
                <a:latin typeface="Arial" pitchFamily="34" charset="0"/>
                <a:ea typeface="Arial" pitchFamily="34" charset="-122"/>
                <a:cs typeface="Arial" pitchFamily="34" charset="-120"/>
              </a:rPr>
              <a:t>Source: J.P. Morgan Asset &amp; Wealth Management, Eye on the Market, 2026 Outlook "Smothering Heights" (M. Cembalest, 1 Jan 2026), pp. 1–2, 7, 33–35, 46; underlying data Bloomberg, USITC, BP, ROC Taiwan, Global Guardian. Reliance values read from JPM's chart (approximate).</a:t>
            </a:r>
            <a:endParaRPr lang="en-US" sz="800" dirty="0"/>
          </a:p>
        </p:txBody>
      </p:sp>
      <p:sp>
        <p:nvSpPr>
          <p:cNvPr id="35" name="Shape 31"/>
          <p:cNvSpPr/>
          <p:nvPr/>
        </p:nvSpPr>
        <p:spPr>
          <a:xfrm>
            <a:off x="457200" y="5650992"/>
            <a:ext cx="11274552" cy="502920"/>
          </a:xfrm>
          <a:prstGeom prst="rect">
            <a:avLst/>
          </a:prstGeom>
          <a:solidFill>
            <a:srgbClr val="2C5F82"/>
          </a:solidFill>
          <a:ln w="12700">
            <a:solidFill>
              <a:srgbClr val="2C5F82"/>
            </a:solidFill>
            <a:prstDash val="solid"/>
          </a:ln>
        </p:spPr>
      </p:sp>
      <p:sp>
        <p:nvSpPr>
          <p:cNvPr id="36" name="Text 32"/>
          <p:cNvSpPr txBox="1"/>
          <p:nvPr/>
        </p:nvSpPr>
        <p:spPr>
          <a:xfrm>
            <a:off x="594360" y="5650992"/>
            <a:ext cx="11000232"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J.P. Morgan's key risks (concentration, Taiwan, a 10–15% correction) are what an autocall with a 30% buffer and a 70% floor is built to absorb.</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548640"/>
          </a:xfrm>
          <a:prstGeom prst="rect">
            <a:avLst/>
          </a:prstGeom>
          <a:noFill/>
          <a:ln/>
        </p:spPr>
        <p:txBody>
          <a:bodyPr wrap="square" lIns="0" tIns="0" rIns="0" bIns="0" rtlCol="0" anchor="ctr"/>
          <a:lstStyle/>
          <a:p>
            <a:pPr indent="0" marL="0">
              <a:buNone/>
            </a:pPr>
            <a:r>
              <a:rPr lang="en-US" sz="2400" dirty="0">
                <a:solidFill>
                  <a:srgbClr val="262626"/>
                </a:solidFill>
                <a:latin typeface="Arial" pitchFamily="34" charset="0"/>
                <a:ea typeface="Arial" pitchFamily="34" charset="-122"/>
                <a:cs typeface="Arial" pitchFamily="34" charset="-120"/>
              </a:rPr>
              <a:t>Investment thesis 2: Volatile markets and high rates favour autocallables</a:t>
            </a:r>
            <a:endParaRPr lang="en-US" sz="2400" dirty="0"/>
          </a:p>
        </p:txBody>
      </p:sp>
      <p:sp>
        <p:nvSpPr>
          <p:cNvPr id="3" name="Shape 1"/>
          <p:cNvSpPr/>
          <p:nvPr/>
        </p:nvSpPr>
        <p:spPr>
          <a:xfrm>
            <a:off x="457200" y="896112"/>
            <a:ext cx="11274552" cy="0"/>
          </a:xfrm>
          <a:prstGeom prst="line">
            <a:avLst/>
          </a:prstGeom>
          <a:noFill/>
          <a:ln w="12700">
            <a:solidFill>
              <a:srgbClr val="2C5F82"/>
            </a:solidFill>
            <a:prstDash val="solid"/>
          </a:ln>
        </p:spPr>
      </p:sp>
      <p:sp>
        <p:nvSpPr>
          <p:cNvPr id="4" name="Shape 2"/>
          <p:cNvSpPr/>
          <p:nvPr/>
        </p:nvSpPr>
        <p:spPr>
          <a:xfrm>
            <a:off x="457200" y="6382512"/>
            <a:ext cx="11274552" cy="0"/>
          </a:xfrm>
          <a:prstGeom prst="line">
            <a:avLst/>
          </a:prstGeom>
          <a:noFill/>
          <a:ln w="9525">
            <a:solidFill>
              <a:srgbClr val="BFBFBF"/>
            </a:solidFill>
            <a:prstDash val="solid"/>
          </a:ln>
        </p:spPr>
      </p:sp>
      <p:sp>
        <p:nvSpPr>
          <p:cNvPr id="5" name="Shape 3"/>
          <p:cNvSpPr/>
          <p:nvPr/>
        </p:nvSpPr>
        <p:spPr>
          <a:xfrm>
            <a:off x="1005840" y="6364224"/>
            <a:ext cx="2514600" cy="45720"/>
          </a:xfrm>
          <a:prstGeom prst="rect">
            <a:avLst/>
          </a:prstGeom>
          <a:solidFill>
            <a:srgbClr val="2C5F82"/>
          </a:solidFill>
          <a:ln w="12700">
            <a:solidFill>
              <a:srgbClr val="2C5F82"/>
            </a:solidFill>
            <a:prstDash val="solid"/>
          </a:ln>
        </p:spPr>
      </p:sp>
      <p:sp>
        <p:nvSpPr>
          <p:cNvPr id="6" name="Text 4"/>
          <p:cNvSpPr txBox="1"/>
          <p:nvPr/>
        </p:nvSpPr>
        <p:spPr>
          <a:xfrm>
            <a:off x="457200" y="6446520"/>
            <a:ext cx="3611880" cy="274320"/>
          </a:xfrm>
          <a:prstGeom prst="rect">
            <a:avLst/>
          </a:prstGeom>
          <a:noFill/>
          <a:ln/>
        </p:spPr>
        <p:txBody>
          <a:bodyPr wrap="square" lIns="0" tIns="0" rIns="0" bIns="0" rtlCol="0" anchor="t"/>
          <a:lstStyle/>
          <a:p>
            <a:pPr algn="ctr" indent="0" marL="0">
              <a:buNone/>
            </a:pPr>
            <a:r>
              <a:rPr lang="en-US" sz="1200" b="1" spc="100" kern="0" dirty="0">
                <a:solidFill>
                  <a:srgbClr val="2C5F82"/>
                </a:solidFill>
                <a:latin typeface="Arial" pitchFamily="34" charset="0"/>
                <a:ea typeface="Arial" pitchFamily="34" charset="-122"/>
                <a:cs typeface="Arial" pitchFamily="34" charset="-120"/>
              </a:rPr>
              <a:t>ANALYSIS</a:t>
            </a:r>
            <a:endParaRPr lang="en-US" sz="1200" dirty="0"/>
          </a:p>
        </p:txBody>
      </p:sp>
      <p:sp>
        <p:nvSpPr>
          <p:cNvPr id="7" name="Text 5"/>
          <p:cNvSpPr txBox="1"/>
          <p:nvPr/>
        </p:nvSpPr>
        <p:spPr>
          <a:xfrm>
            <a:off x="4288536" y="6446520"/>
            <a:ext cx="3611880" cy="274320"/>
          </a:xfrm>
          <a:prstGeom prst="rect">
            <a:avLst/>
          </a:prstGeom>
          <a:noFill/>
          <a:ln/>
        </p:spPr>
        <p:txBody>
          <a:bodyPr wrap="square" lIns="0" tIns="0" rIns="0" bIns="0" rtlCol="0" anchor="t"/>
          <a:lstStyle/>
          <a:p>
            <a:pPr algn="ctr" indent="0" marL="0">
              <a:buNone/>
            </a:pPr>
            <a:r>
              <a:rPr lang="en-US" sz="1200" spc="100" kern="0" dirty="0">
                <a:solidFill>
                  <a:srgbClr val="595959"/>
                </a:solidFill>
                <a:latin typeface="Arial" pitchFamily="34" charset="0"/>
                <a:ea typeface="Arial" pitchFamily="34" charset="-122"/>
                <a:cs typeface="Arial" pitchFamily="34" charset="-120"/>
              </a:rPr>
              <a:t>STRATEGY</a:t>
            </a:r>
            <a:endParaRPr lang="en-US" sz="1200" dirty="0"/>
          </a:p>
        </p:txBody>
      </p:sp>
      <p:sp>
        <p:nvSpPr>
          <p:cNvPr id="8" name="Text 6"/>
          <p:cNvSpPr txBox="1"/>
          <p:nvPr/>
        </p:nvSpPr>
        <p:spPr>
          <a:xfrm>
            <a:off x="8129016" y="6446520"/>
            <a:ext cx="3611880" cy="274320"/>
          </a:xfrm>
          <a:prstGeom prst="rect">
            <a:avLst/>
          </a:prstGeom>
          <a:noFill/>
          <a:ln/>
        </p:spPr>
        <p:txBody>
          <a:bodyPr wrap="square" lIns="0" tIns="0" rIns="0" bIns="0" rtlCol="0" anchor="t"/>
          <a:lstStyle/>
          <a:p>
            <a:pPr algn="ctr" indent="0" marL="0">
              <a:buNone/>
            </a:pPr>
            <a:r>
              <a:rPr lang="en-US" sz="1200" spc="100" kern="0" dirty="0">
                <a:solidFill>
                  <a:srgbClr val="595959"/>
                </a:solidFill>
                <a:latin typeface="Arial" pitchFamily="34" charset="0"/>
                <a:ea typeface="Arial" pitchFamily="34" charset="-122"/>
                <a:cs typeface="Arial" pitchFamily="34" charset="-120"/>
              </a:rPr>
              <a:t>APPENDIX</a:t>
            </a:r>
            <a:endParaRPr lang="en-US" sz="1200" dirty="0"/>
          </a:p>
        </p:txBody>
      </p:sp>
      <p:sp>
        <p:nvSpPr>
          <p:cNvPr id="9" name="Shape 7"/>
          <p:cNvSpPr/>
          <p:nvPr/>
        </p:nvSpPr>
        <p:spPr>
          <a:xfrm>
            <a:off x="457200" y="1051560"/>
            <a:ext cx="5486400" cy="384048"/>
          </a:xfrm>
          <a:prstGeom prst="rect">
            <a:avLst/>
          </a:prstGeom>
          <a:solidFill>
            <a:srgbClr val="2C5F82"/>
          </a:solidFill>
          <a:ln w="12700">
            <a:solidFill>
              <a:srgbClr val="2C5F82"/>
            </a:solidFill>
            <a:prstDash val="solid"/>
          </a:ln>
        </p:spPr>
      </p:sp>
      <p:sp>
        <p:nvSpPr>
          <p:cNvPr id="10" name="Text 8"/>
          <p:cNvSpPr txBox="1"/>
          <p:nvPr/>
        </p:nvSpPr>
        <p:spPr>
          <a:xfrm>
            <a:off x="457200" y="1051560"/>
            <a:ext cx="5486400" cy="384048"/>
          </a:xfrm>
          <a:prstGeom prst="rect">
            <a:avLst/>
          </a:prstGeom>
          <a:noFill/>
          <a:ln/>
        </p:spPr>
        <p:txBody>
          <a:bodyPr wrap="square" lIns="0" tIns="0" rIns="0" bIns="0" rtlCol="0" anchor="ctr"/>
          <a:lstStyle/>
          <a:p>
            <a:pPr algn="ctr" indent="0" marL="0">
              <a:buNone/>
            </a:pPr>
            <a:r>
              <a:rPr lang="en-US" sz="1400" b="1" i="1" dirty="0">
                <a:solidFill>
                  <a:srgbClr val="FFFFFF"/>
                </a:solidFill>
                <a:latin typeface="Arial" pitchFamily="34" charset="0"/>
                <a:ea typeface="Arial" pitchFamily="34" charset="-122"/>
                <a:cs typeface="Arial" pitchFamily="34" charset="-120"/>
              </a:rPr>
              <a:t>Economic aspect: a strong theme on a volatile path</a:t>
            </a:r>
            <a:endParaRPr lang="en-US" sz="1400" dirty="0"/>
          </a:p>
        </p:txBody>
      </p:sp>
      <p:sp>
        <p:nvSpPr>
          <p:cNvPr id="11" name="Text 9"/>
          <p:cNvSpPr txBox="1"/>
          <p:nvPr/>
        </p:nvSpPr>
        <p:spPr>
          <a:xfrm>
            <a:off x="457200" y="1481328"/>
            <a:ext cx="5486400" cy="274320"/>
          </a:xfrm>
          <a:prstGeom prst="rect">
            <a:avLst/>
          </a:prstGeom>
          <a:noFill/>
          <a:ln/>
        </p:spPr>
        <p:txBody>
          <a:bodyPr wrap="square" lIns="0" tIns="0" rIns="0" bIns="0" rtlCol="0" anchor="t"/>
          <a:lstStyle/>
          <a:p>
            <a:pPr algn="ctr" indent="0" marL="0">
              <a:buNone/>
            </a:pPr>
            <a:r>
              <a:rPr lang="en-US" sz="1050" i="1" dirty="0">
                <a:solidFill>
                  <a:srgbClr val="595959"/>
                </a:solidFill>
                <a:latin typeface="Arial" pitchFamily="34" charset="0"/>
                <a:ea typeface="Arial" pitchFamily="34" charset="-122"/>
                <a:cs typeface="Arial" pitchFamily="34" charset="-120"/>
              </a:rPr>
              <a:t>Structural growth, but a violent, concentrated and late-cycle equity market</a:t>
            </a:r>
            <a:endParaRPr lang="en-US" sz="1050" dirty="0"/>
          </a:p>
        </p:txBody>
      </p:sp>
      <p:graphicFrame>
        <p:nvGraphicFramePr>
          <p:cNvPr id="12" name="Chart 0" descr=""/>
          <p:cNvGraphicFramePr/>
          <p:nvPr/>
        </p:nvGraphicFramePr>
        <p:xfrm>
          <a:off x="457200" y="1783080"/>
          <a:ext cx="3429000" cy="164592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3977640" y="1810512"/>
            <a:ext cx="1920240" cy="1600200"/>
          </a:xfrm>
          <a:prstGeom prst="rect">
            <a:avLst/>
          </a:prstGeom>
          <a:noFill/>
          <a:ln/>
        </p:spPr>
        <p:txBody>
          <a:bodyPr wrap="square" lIns="0" tIns="0" rIns="0" bIns="0" rtlCol="0" anchor="t"/>
          <a:lstStyle/>
          <a:p>
            <a:pPr indent="0" marL="0">
              <a:spcAft>
                <a:spcPts val="200"/>
              </a:spcAft>
              <a:buNone/>
            </a:pPr>
            <a:r>
              <a:rPr lang="en-US" sz="900" b="1" dirty="0">
                <a:solidFill>
                  <a:srgbClr val="2C5F82"/>
                </a:solidFill>
                <a:latin typeface="Arial" pitchFamily="34" charset="0"/>
                <a:ea typeface="Arial" pitchFamily="34" charset="-122"/>
                <a:cs typeface="Arial" pitchFamily="34" charset="-120"/>
              </a:rPr>
              <a:t>Growth is structural…</a:t>
            </a:r>
            <a:endParaRPr lang="en-US" sz="900" dirty="0"/>
          </a:p>
          <a:p>
            <a:pPr indent="0" marL="0">
              <a:spcAft>
                <a:spcPts val="200"/>
              </a:spcAft>
              <a:buNone/>
            </a:pPr>
            <a:r>
              <a:rPr lang="en-US" sz="900" dirty="0">
                <a:solidFill>
                  <a:srgbClr val="262626"/>
                </a:solidFill>
                <a:latin typeface="Arial" pitchFamily="34" charset="0"/>
                <a:ea typeface="Arial" pitchFamily="34" charset="-122"/>
                <a:cs typeface="Arial" pitchFamily="34" charset="-120"/>
              </a:rPr>
              <a:t>Capex +77% and chip market +90% in 2026 (thesis 1).</a:t>
            </a:r>
            <a:endParaRPr lang="en-US" sz="900" dirty="0"/>
          </a:p>
          <a:p>
            <a:pPr indent="0" marL="0">
              <a:spcAft>
                <a:spcPts val="200"/>
              </a:spcAft>
              <a:buNone/>
            </a:pPr>
            <a:r>
              <a:rPr lang="en-US" sz="900" b="1" dirty="0">
                <a:solidFill>
                  <a:srgbClr val="B23B3B"/>
                </a:solidFill>
                <a:latin typeface="Arial" pitchFamily="34" charset="0"/>
                <a:ea typeface="Arial" pitchFamily="34" charset="-122"/>
                <a:cs typeface="Arial" pitchFamily="34" charset="-120"/>
              </a:rPr>
              <a:t>…but the path is violent</a:t>
            </a:r>
            <a:endParaRPr lang="en-US" sz="900" dirty="0"/>
          </a:p>
          <a:p>
            <a:pPr indent="0" marL="0">
              <a:spcAft>
                <a:spcPts val="200"/>
              </a:spcAft>
              <a:buNone/>
            </a:pPr>
            <a:r>
              <a:rPr lang="en-US" sz="900" dirty="0">
                <a:solidFill>
                  <a:srgbClr val="262626"/>
                </a:solidFill>
                <a:latin typeface="Arial" pitchFamily="34" charset="0"/>
                <a:ea typeface="Arial" pitchFamily="34" charset="-122"/>
                <a:cs typeface="Arial" pitchFamily="34" charset="-120"/>
              </a:rPr>
              <a:t>Down 10–25% in 2022, then 2–3× since. KOSPI fell 8.95% in a single day (13 Jul 2026).</a:t>
            </a:r>
            <a:endParaRPr lang="en-US" sz="900" dirty="0"/>
          </a:p>
        </p:txBody>
      </p:sp>
      <p:sp>
        <p:nvSpPr>
          <p:cNvPr id="14" name="Shape 11"/>
          <p:cNvSpPr/>
          <p:nvPr/>
        </p:nvSpPr>
        <p:spPr>
          <a:xfrm>
            <a:off x="457200" y="3474720"/>
            <a:ext cx="5486400" cy="786384"/>
          </a:xfrm>
          <a:prstGeom prst="rect">
            <a:avLst/>
          </a:prstGeom>
          <a:solidFill>
            <a:srgbClr val="F2F2F2"/>
          </a:solidFill>
          <a:ln w="12700">
            <a:solidFill>
              <a:srgbClr val="F2F2F2"/>
            </a:solidFill>
            <a:prstDash val="solid"/>
          </a:ln>
        </p:spPr>
      </p:sp>
      <p:sp>
        <p:nvSpPr>
          <p:cNvPr id="15" name="Shape 12"/>
          <p:cNvSpPr/>
          <p:nvPr/>
        </p:nvSpPr>
        <p:spPr>
          <a:xfrm>
            <a:off x="548640" y="3657600"/>
            <a:ext cx="384048" cy="384048"/>
          </a:xfrm>
          <a:prstGeom prst="ellipse">
            <a:avLst/>
          </a:prstGeom>
          <a:solidFill>
            <a:srgbClr val="FFFFFF"/>
          </a:solidFill>
          <a:ln w="15875">
            <a:solidFill>
              <a:srgbClr val="2C5F82"/>
            </a:solidFill>
            <a:prstDash val="solid"/>
          </a:ln>
        </p:spPr>
      </p:sp>
      <p:sp>
        <p:nvSpPr>
          <p:cNvPr id="16" name="Text 13"/>
          <p:cNvSpPr txBox="1"/>
          <p:nvPr/>
        </p:nvSpPr>
        <p:spPr>
          <a:xfrm>
            <a:off x="548640" y="3657600"/>
            <a:ext cx="384048" cy="384048"/>
          </a:xfrm>
          <a:prstGeom prst="rect">
            <a:avLst/>
          </a:prstGeom>
          <a:noFill/>
          <a:ln/>
        </p:spPr>
        <p:txBody>
          <a:bodyPr wrap="square" lIns="0" tIns="0" rIns="0" bIns="0" rtlCol="0" anchor="ctr"/>
          <a:lstStyle/>
          <a:p>
            <a:pPr algn="ctr" indent="0" marL="0">
              <a:buNone/>
            </a:pPr>
            <a:r>
              <a:rPr lang="en-US" sz="1300" b="1" i="1" dirty="0">
                <a:solidFill>
                  <a:srgbClr val="2C5F82"/>
                </a:solidFill>
                <a:latin typeface="Arial" pitchFamily="34" charset="0"/>
                <a:ea typeface="Arial" pitchFamily="34" charset="-122"/>
                <a:cs typeface="Arial" pitchFamily="34" charset="-120"/>
              </a:rPr>
              <a:t>1</a:t>
            </a:r>
            <a:endParaRPr lang="en-US" sz="1300" dirty="0"/>
          </a:p>
        </p:txBody>
      </p:sp>
      <p:sp>
        <p:nvSpPr>
          <p:cNvPr id="17" name="Text 14"/>
          <p:cNvSpPr txBox="1"/>
          <p:nvPr/>
        </p:nvSpPr>
        <p:spPr>
          <a:xfrm>
            <a:off x="1024128" y="3474720"/>
            <a:ext cx="1051560" cy="786384"/>
          </a:xfrm>
          <a:prstGeom prst="rect">
            <a:avLst/>
          </a:prstGeom>
          <a:noFill/>
          <a:ln/>
        </p:spPr>
        <p:txBody>
          <a:bodyPr wrap="square" lIns="0" tIns="0" rIns="0" bIns="0" rtlCol="0" anchor="ctr"/>
          <a:lstStyle/>
          <a:p>
            <a:pPr algn="ctr" indent="0" marL="0">
              <a:buNone/>
            </a:pPr>
            <a:r>
              <a:rPr lang="en-US" sz="1800" b="1" dirty="0">
                <a:solidFill>
                  <a:srgbClr val="B23B3B"/>
                </a:solidFill>
                <a:latin typeface="Arial" pitchFamily="34" charset="0"/>
                <a:ea typeface="Arial" pitchFamily="34" charset="-122"/>
                <a:cs typeface="Arial" pitchFamily="34" charset="-120"/>
              </a:rPr>
              <a:t>−25%</a:t>
            </a:r>
            <a:endParaRPr lang="en-US" sz="1800" dirty="0"/>
          </a:p>
        </p:txBody>
      </p:sp>
      <p:sp>
        <p:nvSpPr>
          <p:cNvPr id="18" name="Text 15"/>
          <p:cNvSpPr txBox="1"/>
          <p:nvPr/>
        </p:nvSpPr>
        <p:spPr>
          <a:xfrm>
            <a:off x="2148840" y="3511296"/>
            <a:ext cx="3703320" cy="731520"/>
          </a:xfrm>
          <a:prstGeom prst="rect">
            <a:avLst/>
          </a:prstGeom>
          <a:noFill/>
          <a:ln/>
        </p:spPr>
        <p:txBody>
          <a:bodyPr wrap="square" lIns="0" tIns="0" rIns="0" bIns="0" rtlCol="0" anchor="ctr"/>
          <a:lstStyle/>
          <a:p>
            <a:pPr indent="0" marL="0">
              <a:spcAft>
                <a:spcPts val="100"/>
              </a:spcAft>
              <a:buNone/>
            </a:pPr>
            <a:r>
              <a:rPr lang="en-US" sz="880" b="1" dirty="0">
                <a:solidFill>
                  <a:srgbClr val="262626"/>
                </a:solidFill>
                <a:latin typeface="Arial" pitchFamily="34" charset="0"/>
                <a:ea typeface="Arial" pitchFamily="34" charset="-122"/>
                <a:cs typeface="Arial" pitchFamily="34" charset="-120"/>
              </a:rPr>
              <a:t>Round trips happen fast: </a:t>
            </a:r>
            <a:pPr indent="0" marL="0">
              <a:spcAft>
                <a:spcPts val="100"/>
              </a:spcAft>
              <a:buNone/>
            </a:pPr>
            <a:r>
              <a:rPr lang="en-US" sz="880" dirty="0">
                <a:solidFill>
                  <a:srgbClr val="595959"/>
                </a:solidFill>
                <a:latin typeface="Arial" pitchFamily="34" charset="0"/>
                <a:ea typeface="Arial" pitchFamily="34" charset="-122"/>
                <a:cs typeface="Arial" pitchFamily="34" charset="-120"/>
              </a:rPr>
              <a:t>KOSPI went from 9,000+ in June to 6,789 on 28 Aug; J.P. Morgan expects a 10–15% correction in 2026.</a:t>
            </a:r>
            <a:endParaRPr lang="en-US" sz="880" dirty="0"/>
          </a:p>
          <a:p>
            <a:pPr indent="0" marL="0">
              <a:spcAft>
                <a:spcPts val="100"/>
              </a:spcAft>
              <a:buNone/>
            </a:pPr>
            <a:r>
              <a:rPr lang="en-US" sz="880" b="1" dirty="0">
                <a:solidFill>
                  <a:srgbClr val="2C5F82"/>
                </a:solidFill>
                <a:latin typeface="Arial" pitchFamily="34" charset="0"/>
                <a:ea typeface="Arial" pitchFamily="34" charset="-122"/>
                <a:cs typeface="Arial" pitchFamily="34" charset="-120"/>
              </a:rPr>
              <a:t>→ Autocall coupons are paid when the basket gets back to its start: no need to time the bottom</a:t>
            </a:r>
            <a:endParaRPr lang="en-US" sz="880" dirty="0"/>
          </a:p>
        </p:txBody>
      </p:sp>
      <p:sp>
        <p:nvSpPr>
          <p:cNvPr id="19" name="Shape 16"/>
          <p:cNvSpPr/>
          <p:nvPr/>
        </p:nvSpPr>
        <p:spPr>
          <a:xfrm>
            <a:off x="457200" y="4261104"/>
            <a:ext cx="5486400" cy="786384"/>
          </a:xfrm>
          <a:prstGeom prst="rect">
            <a:avLst/>
          </a:prstGeom>
          <a:solidFill>
            <a:srgbClr val="FFFFFF"/>
          </a:solidFill>
          <a:ln w="12700">
            <a:solidFill>
              <a:srgbClr val="F2F2F2"/>
            </a:solidFill>
            <a:prstDash val="solid"/>
          </a:ln>
        </p:spPr>
      </p:sp>
      <p:sp>
        <p:nvSpPr>
          <p:cNvPr id="20" name="Shape 17"/>
          <p:cNvSpPr/>
          <p:nvPr/>
        </p:nvSpPr>
        <p:spPr>
          <a:xfrm>
            <a:off x="548640" y="4443984"/>
            <a:ext cx="384048" cy="384048"/>
          </a:xfrm>
          <a:prstGeom prst="ellipse">
            <a:avLst/>
          </a:prstGeom>
          <a:solidFill>
            <a:srgbClr val="FFFFFF"/>
          </a:solidFill>
          <a:ln w="15875">
            <a:solidFill>
              <a:srgbClr val="2C5F82"/>
            </a:solidFill>
            <a:prstDash val="solid"/>
          </a:ln>
        </p:spPr>
      </p:sp>
      <p:sp>
        <p:nvSpPr>
          <p:cNvPr id="21" name="Text 18"/>
          <p:cNvSpPr txBox="1"/>
          <p:nvPr/>
        </p:nvSpPr>
        <p:spPr>
          <a:xfrm>
            <a:off x="548640" y="4443984"/>
            <a:ext cx="384048" cy="384048"/>
          </a:xfrm>
          <a:prstGeom prst="rect">
            <a:avLst/>
          </a:prstGeom>
          <a:noFill/>
          <a:ln/>
        </p:spPr>
        <p:txBody>
          <a:bodyPr wrap="square" lIns="0" tIns="0" rIns="0" bIns="0" rtlCol="0" anchor="ctr"/>
          <a:lstStyle/>
          <a:p>
            <a:pPr algn="ctr" indent="0" marL="0">
              <a:buNone/>
            </a:pPr>
            <a:r>
              <a:rPr lang="en-US" sz="1300" b="1" i="1" dirty="0">
                <a:solidFill>
                  <a:srgbClr val="2C5F82"/>
                </a:solidFill>
                <a:latin typeface="Arial" pitchFamily="34" charset="0"/>
                <a:ea typeface="Arial" pitchFamily="34" charset="-122"/>
                <a:cs typeface="Arial" pitchFamily="34" charset="-120"/>
              </a:rPr>
              <a:t>2</a:t>
            </a:r>
            <a:endParaRPr lang="en-US" sz="1300" dirty="0"/>
          </a:p>
        </p:txBody>
      </p:sp>
      <p:sp>
        <p:nvSpPr>
          <p:cNvPr id="22" name="Text 19"/>
          <p:cNvSpPr txBox="1"/>
          <p:nvPr/>
        </p:nvSpPr>
        <p:spPr>
          <a:xfrm>
            <a:off x="1024128" y="4261104"/>
            <a:ext cx="1051560" cy="786384"/>
          </a:xfrm>
          <a:prstGeom prst="rect">
            <a:avLst/>
          </a:prstGeom>
          <a:noFill/>
          <a:ln/>
        </p:spPr>
        <p:txBody>
          <a:bodyPr wrap="square" lIns="0" tIns="0" rIns="0" bIns="0" rtlCol="0" anchor="ctr"/>
          <a:lstStyle/>
          <a:p>
            <a:pPr algn="ctr" indent="0" marL="0">
              <a:buNone/>
            </a:pPr>
            <a:r>
              <a:rPr lang="en-US" sz="1800" b="1" dirty="0">
                <a:solidFill>
                  <a:srgbClr val="2C5F82"/>
                </a:solidFill>
                <a:latin typeface="Arial" pitchFamily="34" charset="0"/>
                <a:ea typeface="Arial" pitchFamily="34" charset="-122"/>
                <a:cs typeface="Arial" pitchFamily="34" charset="-120"/>
              </a:rPr>
              <a:t>&gt;40%</a:t>
            </a:r>
            <a:endParaRPr lang="en-US" sz="1800" dirty="0"/>
          </a:p>
        </p:txBody>
      </p:sp>
      <p:sp>
        <p:nvSpPr>
          <p:cNvPr id="23" name="Text 20"/>
          <p:cNvSpPr txBox="1"/>
          <p:nvPr/>
        </p:nvSpPr>
        <p:spPr>
          <a:xfrm>
            <a:off x="2148840" y="4297680"/>
            <a:ext cx="3703320" cy="731520"/>
          </a:xfrm>
          <a:prstGeom prst="rect">
            <a:avLst/>
          </a:prstGeom>
          <a:noFill/>
          <a:ln/>
        </p:spPr>
        <p:txBody>
          <a:bodyPr wrap="square" lIns="0" tIns="0" rIns="0" bIns="0" rtlCol="0" anchor="ctr"/>
          <a:lstStyle/>
          <a:p>
            <a:pPr indent="0" marL="0">
              <a:spcAft>
                <a:spcPts val="100"/>
              </a:spcAft>
              <a:buNone/>
            </a:pPr>
            <a:r>
              <a:rPr lang="en-US" sz="880" b="1" dirty="0">
                <a:solidFill>
                  <a:srgbClr val="262626"/>
                </a:solidFill>
                <a:latin typeface="Arial" pitchFamily="34" charset="0"/>
                <a:ea typeface="Arial" pitchFamily="34" charset="-122"/>
                <a:cs typeface="Arial" pitchFamily="34" charset="-120"/>
              </a:rPr>
              <a:t>Returns hinge on a few names: </a:t>
            </a:r>
            <a:pPr indent="0" marL="0">
              <a:spcAft>
                <a:spcPts val="100"/>
              </a:spcAft>
              <a:buNone/>
            </a:pPr>
            <a:r>
              <a:rPr lang="en-US" sz="880" dirty="0">
                <a:solidFill>
                  <a:srgbClr val="595959"/>
                </a:solidFill>
                <a:latin typeface="Arial" pitchFamily="34" charset="0"/>
                <a:ea typeface="Arial" pitchFamily="34" charset="-122"/>
                <a:cs typeface="Arial" pitchFamily="34" charset="-120"/>
              </a:rPr>
              <a:t>TSMC &gt;40% of TAIEX; Samsung + SK hynix ~48% of KOSPI; ~92% of advanced chips from Taiwan.</a:t>
            </a:r>
            <a:endParaRPr lang="en-US" sz="880" dirty="0"/>
          </a:p>
          <a:p>
            <a:pPr indent="0" marL="0">
              <a:spcAft>
                <a:spcPts val="100"/>
              </a:spcAft>
              <a:buNone/>
            </a:pPr>
            <a:r>
              <a:rPr lang="en-US" sz="880" b="1" dirty="0">
                <a:solidFill>
                  <a:srgbClr val="2C5F82"/>
                </a:solidFill>
                <a:latin typeface="Arial" pitchFamily="34" charset="0"/>
                <a:ea typeface="Arial" pitchFamily="34" charset="-122"/>
                <a:cs typeface="Arial" pitchFamily="34" charset="-120"/>
              </a:rPr>
              <a:t>→ Use a diversified ETF basket, not a worst-of on single names</a:t>
            </a:r>
            <a:endParaRPr lang="en-US" sz="880" dirty="0"/>
          </a:p>
        </p:txBody>
      </p:sp>
      <p:sp>
        <p:nvSpPr>
          <p:cNvPr id="24" name="Shape 21"/>
          <p:cNvSpPr/>
          <p:nvPr/>
        </p:nvSpPr>
        <p:spPr>
          <a:xfrm>
            <a:off x="457200" y="5047488"/>
            <a:ext cx="5486400" cy="786384"/>
          </a:xfrm>
          <a:prstGeom prst="rect">
            <a:avLst/>
          </a:prstGeom>
          <a:solidFill>
            <a:srgbClr val="F2F2F2"/>
          </a:solidFill>
          <a:ln w="12700">
            <a:solidFill>
              <a:srgbClr val="F2F2F2"/>
            </a:solidFill>
            <a:prstDash val="solid"/>
          </a:ln>
        </p:spPr>
      </p:sp>
      <p:sp>
        <p:nvSpPr>
          <p:cNvPr id="25" name="Shape 22"/>
          <p:cNvSpPr/>
          <p:nvPr/>
        </p:nvSpPr>
        <p:spPr>
          <a:xfrm>
            <a:off x="548640" y="5230368"/>
            <a:ext cx="384048" cy="384048"/>
          </a:xfrm>
          <a:prstGeom prst="ellipse">
            <a:avLst/>
          </a:prstGeom>
          <a:solidFill>
            <a:srgbClr val="FFFFFF"/>
          </a:solidFill>
          <a:ln w="15875">
            <a:solidFill>
              <a:srgbClr val="2C5F82"/>
            </a:solidFill>
            <a:prstDash val="solid"/>
          </a:ln>
        </p:spPr>
      </p:sp>
      <p:sp>
        <p:nvSpPr>
          <p:cNvPr id="26" name="Text 23"/>
          <p:cNvSpPr txBox="1"/>
          <p:nvPr/>
        </p:nvSpPr>
        <p:spPr>
          <a:xfrm>
            <a:off x="548640" y="5230368"/>
            <a:ext cx="384048" cy="384048"/>
          </a:xfrm>
          <a:prstGeom prst="rect">
            <a:avLst/>
          </a:prstGeom>
          <a:noFill/>
          <a:ln/>
        </p:spPr>
        <p:txBody>
          <a:bodyPr wrap="square" lIns="0" tIns="0" rIns="0" bIns="0" rtlCol="0" anchor="ctr"/>
          <a:lstStyle/>
          <a:p>
            <a:pPr algn="ctr" indent="0" marL="0">
              <a:buNone/>
            </a:pPr>
            <a:r>
              <a:rPr lang="en-US" sz="1300" b="1" i="1" dirty="0">
                <a:solidFill>
                  <a:srgbClr val="2C5F82"/>
                </a:solidFill>
                <a:latin typeface="Arial" pitchFamily="34" charset="0"/>
                <a:ea typeface="Arial" pitchFamily="34" charset="-122"/>
                <a:cs typeface="Arial" pitchFamily="34" charset="-120"/>
              </a:rPr>
              <a:t>3</a:t>
            </a:r>
            <a:endParaRPr lang="en-US" sz="1300" dirty="0"/>
          </a:p>
        </p:txBody>
      </p:sp>
      <p:sp>
        <p:nvSpPr>
          <p:cNvPr id="27" name="Text 24"/>
          <p:cNvSpPr txBox="1"/>
          <p:nvPr/>
        </p:nvSpPr>
        <p:spPr>
          <a:xfrm>
            <a:off x="1024128" y="5047488"/>
            <a:ext cx="1051560" cy="786384"/>
          </a:xfrm>
          <a:prstGeom prst="rect">
            <a:avLst/>
          </a:prstGeom>
          <a:noFill/>
          <a:ln/>
        </p:spPr>
        <p:txBody>
          <a:bodyPr wrap="square" lIns="0" tIns="0" rIns="0" bIns="0" rtlCol="0" anchor="ctr"/>
          <a:lstStyle/>
          <a:p>
            <a:pPr algn="ctr" indent="0" marL="0">
              <a:buNone/>
            </a:pPr>
            <a:r>
              <a:rPr lang="en-US" sz="1800" b="1" dirty="0">
                <a:solidFill>
                  <a:srgbClr val="2C5F82"/>
                </a:solidFill>
                <a:latin typeface="Arial" pitchFamily="34" charset="0"/>
                <a:ea typeface="Arial" pitchFamily="34" charset="-122"/>
                <a:cs typeface="Arial" pitchFamily="34" charset="-120"/>
              </a:rPr>
              <a:t>38.6×</a:t>
            </a:r>
            <a:endParaRPr lang="en-US" sz="1800" dirty="0"/>
          </a:p>
        </p:txBody>
      </p:sp>
      <p:sp>
        <p:nvSpPr>
          <p:cNvPr id="28" name="Text 25"/>
          <p:cNvSpPr txBox="1"/>
          <p:nvPr/>
        </p:nvSpPr>
        <p:spPr>
          <a:xfrm>
            <a:off x="2148840" y="5084064"/>
            <a:ext cx="3703320" cy="731520"/>
          </a:xfrm>
          <a:prstGeom prst="rect">
            <a:avLst/>
          </a:prstGeom>
          <a:noFill/>
          <a:ln/>
        </p:spPr>
        <p:txBody>
          <a:bodyPr wrap="square" lIns="0" tIns="0" rIns="0" bIns="0" rtlCol="0" anchor="ctr"/>
          <a:lstStyle/>
          <a:p>
            <a:pPr indent="0" marL="0">
              <a:spcAft>
                <a:spcPts val="100"/>
              </a:spcAft>
              <a:buNone/>
            </a:pPr>
            <a:r>
              <a:rPr lang="en-US" sz="880" b="1" dirty="0">
                <a:solidFill>
                  <a:srgbClr val="262626"/>
                </a:solidFill>
                <a:latin typeface="Arial" pitchFamily="34" charset="0"/>
                <a:ea typeface="Arial" pitchFamily="34" charset="-122"/>
                <a:cs typeface="Arial" pitchFamily="34" charset="-120"/>
              </a:rPr>
              <a:t>Valuations price in a lot: </a:t>
            </a:r>
            <a:pPr indent="0" marL="0">
              <a:spcAft>
                <a:spcPts val="100"/>
              </a:spcAft>
              <a:buNone/>
            </a:pPr>
            <a:r>
              <a:rPr lang="en-US" sz="880" dirty="0">
                <a:solidFill>
                  <a:srgbClr val="595959"/>
                </a:solidFill>
                <a:latin typeface="Arial" pitchFamily="34" charset="0"/>
                <a:ea typeface="Arial" pitchFamily="34" charset="-122"/>
                <a:cs typeface="Arial" pitchFamily="34" charset="-120"/>
              </a:rPr>
              <a:t>Nikkei CAPE 38.6×; Taiwan among the most expensive markets; DRAM price gains slowing.</a:t>
            </a:r>
            <a:endParaRPr lang="en-US" sz="880" dirty="0"/>
          </a:p>
          <a:p>
            <a:pPr indent="0" marL="0">
              <a:spcAft>
                <a:spcPts val="100"/>
              </a:spcAft>
              <a:buNone/>
            </a:pPr>
            <a:r>
              <a:rPr lang="en-US" sz="880" b="1" dirty="0">
                <a:solidFill>
                  <a:srgbClr val="2C5F82"/>
                </a:solidFill>
                <a:latin typeface="Arial" pitchFamily="34" charset="0"/>
                <a:ea typeface="Arial" pitchFamily="34" charset="-122"/>
                <a:cs typeface="Arial" pitchFamily="34" charset="-120"/>
              </a:rPr>
              <a:t>→ Capping upside at the coupon costs little when the good news is already priced</a:t>
            </a:r>
            <a:endParaRPr lang="en-US" sz="880" dirty="0"/>
          </a:p>
        </p:txBody>
      </p:sp>
      <p:sp>
        <p:nvSpPr>
          <p:cNvPr id="29" name="Shape 26"/>
          <p:cNvSpPr/>
          <p:nvPr/>
        </p:nvSpPr>
        <p:spPr>
          <a:xfrm>
            <a:off x="6245352" y="1051560"/>
            <a:ext cx="5486400" cy="384048"/>
          </a:xfrm>
          <a:prstGeom prst="rect">
            <a:avLst/>
          </a:prstGeom>
          <a:solidFill>
            <a:srgbClr val="2C5F82"/>
          </a:solidFill>
          <a:ln w="12700">
            <a:solidFill>
              <a:srgbClr val="2C5F82"/>
            </a:solidFill>
            <a:prstDash val="solid"/>
          </a:ln>
        </p:spPr>
      </p:sp>
      <p:sp>
        <p:nvSpPr>
          <p:cNvPr id="30" name="Text 27"/>
          <p:cNvSpPr txBox="1"/>
          <p:nvPr/>
        </p:nvSpPr>
        <p:spPr>
          <a:xfrm>
            <a:off x="6245352" y="1051560"/>
            <a:ext cx="5486400" cy="384048"/>
          </a:xfrm>
          <a:prstGeom prst="rect">
            <a:avLst/>
          </a:prstGeom>
          <a:noFill/>
          <a:ln/>
        </p:spPr>
        <p:txBody>
          <a:bodyPr wrap="square" lIns="0" tIns="0" rIns="0" bIns="0" rtlCol="0" anchor="ctr"/>
          <a:lstStyle/>
          <a:p>
            <a:pPr algn="ctr" indent="0" marL="0">
              <a:buNone/>
            </a:pPr>
            <a:r>
              <a:rPr lang="en-US" sz="1400" b="1" i="1" dirty="0">
                <a:solidFill>
                  <a:srgbClr val="FFFFFF"/>
                </a:solidFill>
                <a:latin typeface="Arial" pitchFamily="34" charset="0"/>
                <a:ea typeface="Arial" pitchFamily="34" charset="-122"/>
                <a:cs typeface="Arial" pitchFamily="34" charset="-120"/>
              </a:rPr>
              <a:t>Finance aspect: today's rates and volatility suit autocalls</a:t>
            </a:r>
            <a:endParaRPr lang="en-US" sz="1400" dirty="0"/>
          </a:p>
        </p:txBody>
      </p:sp>
      <p:sp>
        <p:nvSpPr>
          <p:cNvPr id="31" name="Text 28"/>
          <p:cNvSpPr txBox="1"/>
          <p:nvPr/>
        </p:nvSpPr>
        <p:spPr>
          <a:xfrm>
            <a:off x="6245352" y="1481328"/>
            <a:ext cx="5486400" cy="274320"/>
          </a:xfrm>
          <a:prstGeom prst="rect">
            <a:avLst/>
          </a:prstGeom>
          <a:noFill/>
          <a:ln/>
        </p:spPr>
        <p:txBody>
          <a:bodyPr wrap="square" lIns="0" tIns="0" rIns="0" bIns="0" rtlCol="0" anchor="t"/>
          <a:lstStyle/>
          <a:p>
            <a:pPr algn="ctr" indent="0" marL="0">
              <a:buNone/>
            </a:pPr>
            <a:r>
              <a:rPr lang="en-US" sz="1050" i="1" dirty="0">
                <a:solidFill>
                  <a:srgbClr val="595959"/>
                </a:solidFill>
                <a:latin typeface="Arial" pitchFamily="34" charset="0"/>
                <a:ea typeface="Arial" pitchFamily="34" charset="-122"/>
                <a:cs typeface="Arial" pitchFamily="34" charset="-120"/>
              </a:rPr>
              <a:t>Rates are high and rising again; volatility is at records</a:t>
            </a:r>
            <a:endParaRPr lang="en-US" sz="1050" dirty="0"/>
          </a:p>
        </p:txBody>
      </p:sp>
      <p:graphicFrame>
        <p:nvGraphicFramePr>
          <p:cNvPr id="32" name="Chart 1" descr=""/>
          <p:cNvGraphicFramePr/>
          <p:nvPr/>
        </p:nvGraphicFramePr>
        <p:xfrm>
          <a:off x="6245352" y="1783080"/>
          <a:ext cx="3429000" cy="1645920"/>
        </p:xfrm>
        <a:graphic xmlns:a="http://schemas.openxmlformats.org/drawingml/2006/main">
          <a:graphicData uri="http://schemas.openxmlformats.org/drawingml/2006/chart">
            <c:chart xmlns:c="http://schemas.openxmlformats.org/drawingml/2006/chart" r:id="rId2"/>
          </a:graphicData>
        </a:graphic>
      </p:graphicFrame>
      <p:sp>
        <p:nvSpPr>
          <p:cNvPr id="33" name="Text 29"/>
          <p:cNvSpPr txBox="1"/>
          <p:nvPr/>
        </p:nvSpPr>
        <p:spPr>
          <a:xfrm>
            <a:off x="9765792" y="1810512"/>
            <a:ext cx="1920240" cy="1600200"/>
          </a:xfrm>
          <a:prstGeom prst="rect">
            <a:avLst/>
          </a:prstGeom>
          <a:noFill/>
          <a:ln/>
        </p:spPr>
        <p:txBody>
          <a:bodyPr wrap="square" lIns="0" tIns="0" rIns="0" bIns="0" rtlCol="0" anchor="t"/>
          <a:lstStyle/>
          <a:p>
            <a:pPr indent="0" marL="0">
              <a:spcAft>
                <a:spcPts val="200"/>
              </a:spcAft>
              <a:buNone/>
            </a:pPr>
            <a:r>
              <a:rPr lang="en-US" sz="900" b="1" dirty="0">
                <a:solidFill>
                  <a:srgbClr val="2C5F82"/>
                </a:solidFill>
                <a:latin typeface="Arial" pitchFamily="34" charset="0"/>
                <a:ea typeface="Arial" pitchFamily="34" charset="-122"/>
                <a:cs typeface="Arial" pitchFamily="34" charset="-120"/>
              </a:rPr>
              <a:t>The Fed is hiking again</a:t>
            </a:r>
            <a:endParaRPr lang="en-US" sz="900" dirty="0"/>
          </a:p>
          <a:p>
            <a:pPr indent="0" marL="0">
              <a:spcAft>
                <a:spcPts val="200"/>
              </a:spcAft>
              <a:buNone/>
            </a:pPr>
            <a:r>
              <a:rPr lang="en-US" sz="900" dirty="0">
                <a:solidFill>
                  <a:srgbClr val="262626"/>
                </a:solidFill>
                <a:latin typeface="Arial" pitchFamily="34" charset="0"/>
                <a:ea typeface="Arial" pitchFamily="34" charset="-122"/>
                <a:cs typeface="Arial" pitchFamily="34" charset="-120"/>
              </a:rPr>
              <a:t>16 Sep 2026: +0.25% to 3.75–4.00%, the first hike since 2023; median dot 4.1% for end-2026.</a:t>
            </a:r>
            <a:endParaRPr lang="en-US" sz="900" dirty="0"/>
          </a:p>
          <a:p>
            <a:pPr indent="0" marL="0">
              <a:spcAft>
                <a:spcPts val="200"/>
              </a:spcAft>
              <a:buNone/>
            </a:pPr>
            <a:r>
              <a:rPr lang="en-US" sz="900" b="1" dirty="0">
                <a:solidFill>
                  <a:srgbClr val="2C5F82"/>
                </a:solidFill>
                <a:latin typeface="Arial" pitchFamily="34" charset="0"/>
                <a:ea typeface="Arial" pitchFamily="34" charset="-122"/>
                <a:cs typeface="Arial" pitchFamily="34" charset="-120"/>
              </a:rPr>
              <a:t>Markets price more</a:t>
            </a:r>
            <a:endParaRPr lang="en-US" sz="900" dirty="0"/>
          </a:p>
          <a:p>
            <a:pPr indent="0" marL="0">
              <a:spcAft>
                <a:spcPts val="200"/>
              </a:spcAft>
              <a:buNone/>
            </a:pPr>
            <a:r>
              <a:rPr lang="en-US" sz="900" dirty="0">
                <a:solidFill>
                  <a:srgbClr val="262626"/>
                </a:solidFill>
                <a:latin typeface="Arial" pitchFamily="34" charset="0"/>
                <a:ea typeface="Arial" pitchFamily="34" charset="-122"/>
                <a:cs typeface="Arial" pitchFamily="34" charset="-120"/>
              </a:rPr>
              <a:t>~87% probability of at least one further move priced by futures.</a:t>
            </a:r>
            <a:endParaRPr lang="en-US" sz="900" dirty="0"/>
          </a:p>
        </p:txBody>
      </p:sp>
      <p:sp>
        <p:nvSpPr>
          <p:cNvPr id="34" name="Shape 30"/>
          <p:cNvSpPr/>
          <p:nvPr/>
        </p:nvSpPr>
        <p:spPr>
          <a:xfrm>
            <a:off x="6245352" y="3474720"/>
            <a:ext cx="5486400" cy="786384"/>
          </a:xfrm>
          <a:prstGeom prst="rect">
            <a:avLst/>
          </a:prstGeom>
          <a:solidFill>
            <a:srgbClr val="F2F2F2"/>
          </a:solidFill>
          <a:ln w="12700">
            <a:solidFill>
              <a:srgbClr val="F2F2F2"/>
            </a:solidFill>
            <a:prstDash val="solid"/>
          </a:ln>
        </p:spPr>
      </p:sp>
      <p:sp>
        <p:nvSpPr>
          <p:cNvPr id="35" name="Shape 31"/>
          <p:cNvSpPr/>
          <p:nvPr/>
        </p:nvSpPr>
        <p:spPr>
          <a:xfrm>
            <a:off x="6336792" y="3657600"/>
            <a:ext cx="384048" cy="384048"/>
          </a:xfrm>
          <a:prstGeom prst="ellipse">
            <a:avLst/>
          </a:prstGeom>
          <a:solidFill>
            <a:srgbClr val="FFFFFF"/>
          </a:solidFill>
          <a:ln w="15875">
            <a:solidFill>
              <a:srgbClr val="2C5F82"/>
            </a:solidFill>
            <a:prstDash val="solid"/>
          </a:ln>
        </p:spPr>
      </p:sp>
      <p:sp>
        <p:nvSpPr>
          <p:cNvPr id="36" name="Text 32"/>
          <p:cNvSpPr txBox="1"/>
          <p:nvPr/>
        </p:nvSpPr>
        <p:spPr>
          <a:xfrm>
            <a:off x="6336792" y="3657600"/>
            <a:ext cx="384048" cy="384048"/>
          </a:xfrm>
          <a:prstGeom prst="rect">
            <a:avLst/>
          </a:prstGeom>
          <a:noFill/>
          <a:ln/>
        </p:spPr>
        <p:txBody>
          <a:bodyPr wrap="square" lIns="0" tIns="0" rIns="0" bIns="0" rtlCol="0" anchor="ctr"/>
          <a:lstStyle/>
          <a:p>
            <a:pPr algn="ctr" indent="0" marL="0">
              <a:buNone/>
            </a:pPr>
            <a:r>
              <a:rPr lang="en-US" sz="1300" b="1" i="1" dirty="0">
                <a:solidFill>
                  <a:srgbClr val="2C5F82"/>
                </a:solidFill>
                <a:latin typeface="Arial" pitchFamily="34" charset="0"/>
                <a:ea typeface="Arial" pitchFamily="34" charset="-122"/>
                <a:cs typeface="Arial" pitchFamily="34" charset="-120"/>
              </a:rPr>
              <a:t>1</a:t>
            </a:r>
            <a:endParaRPr lang="en-US" sz="1300" dirty="0"/>
          </a:p>
        </p:txBody>
      </p:sp>
      <p:sp>
        <p:nvSpPr>
          <p:cNvPr id="37" name="Text 33"/>
          <p:cNvSpPr txBox="1"/>
          <p:nvPr/>
        </p:nvSpPr>
        <p:spPr>
          <a:xfrm>
            <a:off x="6812280" y="3474720"/>
            <a:ext cx="1051560" cy="786384"/>
          </a:xfrm>
          <a:prstGeom prst="rect">
            <a:avLst/>
          </a:prstGeom>
          <a:noFill/>
          <a:ln/>
        </p:spPr>
        <p:txBody>
          <a:bodyPr wrap="square" lIns="0" tIns="0" rIns="0" bIns="0" rtlCol="0" anchor="ctr"/>
          <a:lstStyle/>
          <a:p>
            <a:pPr algn="ctr" indent="0" marL="0">
              <a:buNone/>
            </a:pPr>
            <a:r>
              <a:rPr lang="en-US" sz="1800" b="1" dirty="0">
                <a:solidFill>
                  <a:srgbClr val="B23B3B"/>
                </a:solidFill>
                <a:latin typeface="Arial" pitchFamily="34" charset="0"/>
                <a:ea typeface="Arial" pitchFamily="34" charset="-122"/>
                <a:cs typeface="Arial" pitchFamily="34" charset="-120"/>
              </a:rPr>
              <a:t>−4.0%</a:t>
            </a:r>
            <a:endParaRPr lang="en-US" sz="1800" dirty="0"/>
          </a:p>
        </p:txBody>
      </p:sp>
      <p:sp>
        <p:nvSpPr>
          <p:cNvPr id="38" name="Text 34"/>
          <p:cNvSpPr txBox="1"/>
          <p:nvPr/>
        </p:nvSpPr>
        <p:spPr>
          <a:xfrm>
            <a:off x="7936992" y="3511296"/>
            <a:ext cx="3703320" cy="731520"/>
          </a:xfrm>
          <a:prstGeom prst="rect">
            <a:avLst/>
          </a:prstGeom>
          <a:noFill/>
          <a:ln/>
        </p:spPr>
        <p:txBody>
          <a:bodyPr wrap="square" lIns="0" tIns="0" rIns="0" bIns="0" rtlCol="0" anchor="ctr"/>
          <a:lstStyle/>
          <a:p>
            <a:pPr indent="0" marL="0">
              <a:spcAft>
                <a:spcPts val="100"/>
              </a:spcAft>
              <a:buNone/>
            </a:pPr>
            <a:r>
              <a:rPr lang="en-US" sz="880" b="1" dirty="0">
                <a:solidFill>
                  <a:srgbClr val="262626"/>
                </a:solidFill>
                <a:latin typeface="Arial" pitchFamily="34" charset="0"/>
                <a:ea typeface="Arial" pitchFamily="34" charset="-122"/>
                <a:cs typeface="Arial" pitchFamily="34" charset="-120"/>
              </a:rPr>
              <a:t>Long bonds carry rate risk: </a:t>
            </a:r>
            <a:pPr indent="0" marL="0">
              <a:spcAft>
                <a:spcPts val="100"/>
              </a:spcAft>
              <a:buNone/>
            </a:pPr>
            <a:r>
              <a:rPr lang="en-US" sz="880" dirty="0">
                <a:solidFill>
                  <a:srgbClr val="595959"/>
                </a:solidFill>
                <a:latin typeface="Arial" pitchFamily="34" charset="0"/>
                <a:ea typeface="Arial" pitchFamily="34" charset="-122"/>
                <a:cs typeface="Arial" pitchFamily="34" charset="-120"/>
              </a:rPr>
              <a:t>A 5-year bond loses ~4.0% per 1% rate rise, as the Fed hikes again.</a:t>
            </a:r>
            <a:endParaRPr lang="en-US" sz="880" dirty="0"/>
          </a:p>
          <a:p>
            <a:pPr indent="0" marL="0">
              <a:spcAft>
                <a:spcPts val="100"/>
              </a:spcAft>
              <a:buNone/>
            </a:pPr>
            <a:r>
              <a:rPr lang="en-US" sz="880" b="1" dirty="0">
                <a:solidFill>
                  <a:srgbClr val="2C5F82"/>
                </a:solidFill>
                <a:latin typeface="Arial" pitchFamily="34" charset="0"/>
                <a:ea typeface="Arial" pitchFamily="34" charset="-122"/>
                <a:cs typeface="Arial" pitchFamily="34" charset="-120"/>
              </a:rPr>
              <a:t>→ Autocalls can redeem from year 1: short duration, and cash to reinvest at higher rates</a:t>
            </a:r>
            <a:endParaRPr lang="en-US" sz="880" dirty="0"/>
          </a:p>
        </p:txBody>
      </p:sp>
      <p:sp>
        <p:nvSpPr>
          <p:cNvPr id="39" name="Shape 35"/>
          <p:cNvSpPr/>
          <p:nvPr/>
        </p:nvSpPr>
        <p:spPr>
          <a:xfrm>
            <a:off x="6245352" y="4261104"/>
            <a:ext cx="5486400" cy="786384"/>
          </a:xfrm>
          <a:prstGeom prst="rect">
            <a:avLst/>
          </a:prstGeom>
          <a:solidFill>
            <a:srgbClr val="FFFFFF"/>
          </a:solidFill>
          <a:ln w="12700">
            <a:solidFill>
              <a:srgbClr val="F2F2F2"/>
            </a:solidFill>
            <a:prstDash val="solid"/>
          </a:ln>
        </p:spPr>
      </p:sp>
      <p:sp>
        <p:nvSpPr>
          <p:cNvPr id="40" name="Shape 36"/>
          <p:cNvSpPr/>
          <p:nvPr/>
        </p:nvSpPr>
        <p:spPr>
          <a:xfrm>
            <a:off x="6336792" y="4443984"/>
            <a:ext cx="384048" cy="384048"/>
          </a:xfrm>
          <a:prstGeom prst="ellipse">
            <a:avLst/>
          </a:prstGeom>
          <a:solidFill>
            <a:srgbClr val="FFFFFF"/>
          </a:solidFill>
          <a:ln w="15875">
            <a:solidFill>
              <a:srgbClr val="2C5F82"/>
            </a:solidFill>
            <a:prstDash val="solid"/>
          </a:ln>
        </p:spPr>
      </p:sp>
      <p:sp>
        <p:nvSpPr>
          <p:cNvPr id="41" name="Text 37"/>
          <p:cNvSpPr txBox="1"/>
          <p:nvPr/>
        </p:nvSpPr>
        <p:spPr>
          <a:xfrm>
            <a:off x="6336792" y="4443984"/>
            <a:ext cx="384048" cy="384048"/>
          </a:xfrm>
          <a:prstGeom prst="rect">
            <a:avLst/>
          </a:prstGeom>
          <a:noFill/>
          <a:ln/>
        </p:spPr>
        <p:txBody>
          <a:bodyPr wrap="square" lIns="0" tIns="0" rIns="0" bIns="0" rtlCol="0" anchor="ctr"/>
          <a:lstStyle/>
          <a:p>
            <a:pPr algn="ctr" indent="0" marL="0">
              <a:buNone/>
            </a:pPr>
            <a:r>
              <a:rPr lang="en-US" sz="1300" b="1" i="1" dirty="0">
                <a:solidFill>
                  <a:srgbClr val="2C5F82"/>
                </a:solidFill>
                <a:latin typeface="Arial" pitchFamily="34" charset="0"/>
                <a:ea typeface="Arial" pitchFamily="34" charset="-122"/>
                <a:cs typeface="Arial" pitchFamily="34" charset="-120"/>
              </a:rPr>
              <a:t>2</a:t>
            </a:r>
            <a:endParaRPr lang="en-US" sz="1300" dirty="0"/>
          </a:p>
        </p:txBody>
      </p:sp>
      <p:sp>
        <p:nvSpPr>
          <p:cNvPr id="42" name="Text 38"/>
          <p:cNvSpPr txBox="1"/>
          <p:nvPr/>
        </p:nvSpPr>
        <p:spPr>
          <a:xfrm>
            <a:off x="6812280" y="4261104"/>
            <a:ext cx="1051560" cy="786384"/>
          </a:xfrm>
          <a:prstGeom prst="rect">
            <a:avLst/>
          </a:prstGeom>
          <a:noFill/>
          <a:ln/>
        </p:spPr>
        <p:txBody>
          <a:bodyPr wrap="square" lIns="0" tIns="0" rIns="0" bIns="0" rtlCol="0" anchor="ctr"/>
          <a:lstStyle/>
          <a:p>
            <a:pPr algn="ctr" indent="0" marL="0">
              <a:buNone/>
            </a:pPr>
            <a:r>
              <a:rPr lang="en-US" sz="1800" b="1" dirty="0">
                <a:solidFill>
                  <a:srgbClr val="B23B3B"/>
                </a:solidFill>
                <a:latin typeface="Arial" pitchFamily="34" charset="0"/>
                <a:ea typeface="Arial" pitchFamily="34" charset="-122"/>
                <a:cs typeface="Arial" pitchFamily="34" charset="-120"/>
              </a:rPr>
              <a:t>91.2</a:t>
            </a:r>
            <a:endParaRPr lang="en-US" sz="1800" dirty="0"/>
          </a:p>
        </p:txBody>
      </p:sp>
      <p:sp>
        <p:nvSpPr>
          <p:cNvPr id="43" name="Text 39"/>
          <p:cNvSpPr txBox="1"/>
          <p:nvPr/>
        </p:nvSpPr>
        <p:spPr>
          <a:xfrm>
            <a:off x="7936992" y="4297680"/>
            <a:ext cx="3703320" cy="731520"/>
          </a:xfrm>
          <a:prstGeom prst="rect">
            <a:avLst/>
          </a:prstGeom>
          <a:noFill/>
          <a:ln/>
        </p:spPr>
        <p:txBody>
          <a:bodyPr wrap="square" lIns="0" tIns="0" rIns="0" bIns="0" rtlCol="0" anchor="ctr"/>
          <a:lstStyle/>
          <a:p>
            <a:pPr indent="0" marL="0">
              <a:spcAft>
                <a:spcPts val="100"/>
              </a:spcAft>
              <a:buNone/>
            </a:pPr>
            <a:r>
              <a:rPr lang="en-US" sz="880" b="1" dirty="0">
                <a:solidFill>
                  <a:srgbClr val="262626"/>
                </a:solidFill>
                <a:latin typeface="Arial" pitchFamily="34" charset="0"/>
                <a:ea typeface="Arial" pitchFamily="34" charset="-122"/>
                <a:cs typeface="Arial" pitchFamily="34" charset="-120"/>
              </a:rPr>
              <a:t>Volatility is at records: </a:t>
            </a:r>
            <a:pPr indent="0" marL="0">
              <a:spcAft>
                <a:spcPts val="100"/>
              </a:spcAft>
              <a:buNone/>
            </a:pPr>
            <a:r>
              <a:rPr lang="en-US" sz="880" dirty="0">
                <a:solidFill>
                  <a:srgbClr val="595959"/>
                </a:solidFill>
                <a:latin typeface="Arial" pitchFamily="34" charset="0"/>
                <a:ea typeface="Arial" pitchFamily="34" charset="-122"/>
                <a:cs typeface="Arial" pitchFamily="34" charset="-120"/>
              </a:rPr>
              <a:t>VKOSPI closed at an all-time high of 91.2 (9 Jun 2026), above the 2008 peak.</a:t>
            </a:r>
            <a:endParaRPr lang="en-US" sz="880" dirty="0"/>
          </a:p>
          <a:p>
            <a:pPr indent="0" marL="0">
              <a:spcAft>
                <a:spcPts val="100"/>
              </a:spcAft>
              <a:buNone/>
            </a:pPr>
            <a:r>
              <a:rPr lang="en-US" sz="880" b="1" dirty="0">
                <a:solidFill>
                  <a:srgbClr val="2C5F82"/>
                </a:solidFill>
                <a:latin typeface="Arial" pitchFamily="34" charset="0"/>
                <a:ea typeface="Arial" pitchFamily="34" charset="-122"/>
                <a:cs typeface="Arial" pitchFamily="34" charset="-120"/>
              </a:rPr>
              <a:t>→ Rich option premium funds higher autocall coupons</a:t>
            </a:r>
            <a:endParaRPr lang="en-US" sz="880" dirty="0"/>
          </a:p>
        </p:txBody>
      </p:sp>
      <p:sp>
        <p:nvSpPr>
          <p:cNvPr id="44" name="Shape 40"/>
          <p:cNvSpPr/>
          <p:nvPr/>
        </p:nvSpPr>
        <p:spPr>
          <a:xfrm>
            <a:off x="6245352" y="5047488"/>
            <a:ext cx="5486400" cy="786384"/>
          </a:xfrm>
          <a:prstGeom prst="rect">
            <a:avLst/>
          </a:prstGeom>
          <a:solidFill>
            <a:srgbClr val="F2F2F2"/>
          </a:solidFill>
          <a:ln w="12700">
            <a:solidFill>
              <a:srgbClr val="F2F2F2"/>
            </a:solidFill>
            <a:prstDash val="solid"/>
          </a:ln>
        </p:spPr>
      </p:sp>
      <p:sp>
        <p:nvSpPr>
          <p:cNvPr id="45" name="Shape 41"/>
          <p:cNvSpPr/>
          <p:nvPr/>
        </p:nvSpPr>
        <p:spPr>
          <a:xfrm>
            <a:off x="6336792" y="5230368"/>
            <a:ext cx="384048" cy="384048"/>
          </a:xfrm>
          <a:prstGeom prst="ellipse">
            <a:avLst/>
          </a:prstGeom>
          <a:solidFill>
            <a:srgbClr val="FFFFFF"/>
          </a:solidFill>
          <a:ln w="15875">
            <a:solidFill>
              <a:srgbClr val="2C5F82"/>
            </a:solidFill>
            <a:prstDash val="solid"/>
          </a:ln>
        </p:spPr>
      </p:sp>
      <p:sp>
        <p:nvSpPr>
          <p:cNvPr id="46" name="Text 42"/>
          <p:cNvSpPr txBox="1"/>
          <p:nvPr/>
        </p:nvSpPr>
        <p:spPr>
          <a:xfrm>
            <a:off x="6336792" y="5230368"/>
            <a:ext cx="384048" cy="384048"/>
          </a:xfrm>
          <a:prstGeom prst="rect">
            <a:avLst/>
          </a:prstGeom>
          <a:noFill/>
          <a:ln/>
        </p:spPr>
        <p:txBody>
          <a:bodyPr wrap="square" lIns="0" tIns="0" rIns="0" bIns="0" rtlCol="0" anchor="ctr"/>
          <a:lstStyle/>
          <a:p>
            <a:pPr algn="ctr" indent="0" marL="0">
              <a:buNone/>
            </a:pPr>
            <a:r>
              <a:rPr lang="en-US" sz="1300" b="1" i="1" dirty="0">
                <a:solidFill>
                  <a:srgbClr val="2C5F82"/>
                </a:solidFill>
                <a:latin typeface="Arial" pitchFamily="34" charset="0"/>
                <a:ea typeface="Arial" pitchFamily="34" charset="-122"/>
                <a:cs typeface="Arial" pitchFamily="34" charset="-120"/>
              </a:rPr>
              <a:t>3</a:t>
            </a:r>
            <a:endParaRPr lang="en-US" sz="1300" dirty="0"/>
          </a:p>
        </p:txBody>
      </p:sp>
      <p:sp>
        <p:nvSpPr>
          <p:cNvPr id="47" name="Text 43"/>
          <p:cNvSpPr txBox="1"/>
          <p:nvPr/>
        </p:nvSpPr>
        <p:spPr>
          <a:xfrm>
            <a:off x="6812280" y="5047488"/>
            <a:ext cx="1051560" cy="786384"/>
          </a:xfrm>
          <a:prstGeom prst="rect">
            <a:avLst/>
          </a:prstGeom>
          <a:noFill/>
          <a:ln/>
        </p:spPr>
        <p:txBody>
          <a:bodyPr wrap="square" lIns="0" tIns="0" rIns="0" bIns="0" rtlCol="0" anchor="ctr"/>
          <a:lstStyle/>
          <a:p>
            <a:pPr algn="ctr" indent="0" marL="0">
              <a:buNone/>
            </a:pPr>
            <a:r>
              <a:rPr lang="en-US" sz="1800" b="1" dirty="0">
                <a:solidFill>
                  <a:srgbClr val="2C5F82"/>
                </a:solidFill>
                <a:latin typeface="Arial" pitchFamily="34" charset="0"/>
                <a:ea typeface="Arial" pitchFamily="34" charset="-122"/>
                <a:cs typeface="Arial" pitchFamily="34" charset="-120"/>
              </a:rPr>
              <a:t>75.8%</a:t>
            </a:r>
            <a:endParaRPr lang="en-US" sz="1800" dirty="0"/>
          </a:p>
        </p:txBody>
      </p:sp>
      <p:sp>
        <p:nvSpPr>
          <p:cNvPr id="48" name="Text 44"/>
          <p:cNvSpPr txBox="1"/>
          <p:nvPr/>
        </p:nvSpPr>
        <p:spPr>
          <a:xfrm>
            <a:off x="7936992" y="5084064"/>
            <a:ext cx="3703320" cy="731520"/>
          </a:xfrm>
          <a:prstGeom prst="rect">
            <a:avLst/>
          </a:prstGeom>
          <a:noFill/>
          <a:ln/>
        </p:spPr>
        <p:txBody>
          <a:bodyPr wrap="square" lIns="0" tIns="0" rIns="0" bIns="0" rtlCol="0" anchor="ctr"/>
          <a:lstStyle/>
          <a:p>
            <a:pPr indent="0" marL="0">
              <a:spcAft>
                <a:spcPts val="100"/>
              </a:spcAft>
              <a:buNone/>
            </a:pPr>
            <a:r>
              <a:rPr lang="en-US" sz="880" b="1" dirty="0">
                <a:solidFill>
                  <a:srgbClr val="262626"/>
                </a:solidFill>
                <a:latin typeface="Arial" pitchFamily="34" charset="0"/>
                <a:ea typeface="Arial" pitchFamily="34" charset="-122"/>
                <a:cs typeface="Arial" pitchFamily="34" charset="-120"/>
              </a:rPr>
              <a:t>High rates make guarantees cheap: </a:t>
            </a:r>
            <a:pPr indent="0" marL="0">
              <a:spcAft>
                <a:spcPts val="100"/>
              </a:spcAft>
              <a:buNone/>
            </a:pPr>
            <a:r>
              <a:rPr lang="en-US" sz="880" dirty="0">
                <a:solidFill>
                  <a:srgbClr val="595959"/>
                </a:solidFill>
                <a:latin typeface="Arial" pitchFamily="34" charset="0"/>
                <a:ea typeface="Arial" pitchFamily="34" charset="-122"/>
                <a:cs typeface="Arial" pitchFamily="34" charset="-120"/>
              </a:rPr>
              <a:t>At 5.69% 5Y USD funding, USD 100 payable in 5 years costs only USD 75.8 today.</a:t>
            </a:r>
            <a:endParaRPr lang="en-US" sz="880" dirty="0"/>
          </a:p>
          <a:p>
            <a:pPr indent="0" marL="0">
              <a:spcAft>
                <a:spcPts val="100"/>
              </a:spcAft>
              <a:buNone/>
            </a:pPr>
            <a:r>
              <a:rPr lang="en-US" sz="880" b="1" dirty="0">
                <a:solidFill>
                  <a:srgbClr val="2C5F82"/>
                </a:solidFill>
                <a:latin typeface="Arial" pitchFamily="34" charset="0"/>
                <a:ea typeface="Arial" pitchFamily="34" charset="-122"/>
                <a:cs typeface="Arial" pitchFamily="34" charset="-120"/>
              </a:rPr>
              <a:t>→ A capital floor is affordable inside an autocall</a:t>
            </a:r>
            <a:endParaRPr lang="en-US" sz="880" dirty="0"/>
          </a:p>
        </p:txBody>
      </p:sp>
      <p:sp>
        <p:nvSpPr>
          <p:cNvPr id="49" name="Text 45"/>
          <p:cNvSpPr txBox="1"/>
          <p:nvPr/>
        </p:nvSpPr>
        <p:spPr>
          <a:xfrm>
            <a:off x="457200" y="5870448"/>
            <a:ext cx="11274552" cy="274320"/>
          </a:xfrm>
          <a:prstGeom prst="rect">
            <a:avLst/>
          </a:prstGeom>
          <a:noFill/>
          <a:ln/>
        </p:spPr>
        <p:txBody>
          <a:bodyPr wrap="square" lIns="0" tIns="0" rIns="0" bIns="0" rtlCol="0" anchor="t"/>
          <a:lstStyle/>
          <a:p>
            <a:pPr indent="0" marL="0">
              <a:buNone/>
            </a:pPr>
            <a:r>
              <a:rPr lang="en-US" sz="800" i="1" dirty="0">
                <a:solidFill>
                  <a:srgbClr val="595959"/>
                </a:solidFill>
                <a:latin typeface="Arial" pitchFamily="34" charset="0"/>
                <a:ea typeface="Arial" pitchFamily="34" charset="-122"/>
                <a:cs typeface="Arial" pitchFamily="34" charset="-120"/>
              </a:rPr>
              <a:t>Sources: TWSE, KRX/press, Nikkei (index levels; 2021–23 KOSPI/Nikkei to verify); Asiae, FN News, BIT Research (KOSPI); J.P. Morgan 2026 Outlook; Trading Economics, Siblis (valuations); TrendForce; Federal Reserve via Advisor Perspectives; Herald / SBS (VKOSPI); case funding grid; standard bond maths.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548640"/>
          </a:xfrm>
          <a:prstGeom prst="rect">
            <a:avLst/>
          </a:prstGeom>
          <a:noFill/>
          <a:ln/>
        </p:spPr>
        <p:txBody>
          <a:bodyPr wrap="square" lIns="0" tIns="0" rIns="0" bIns="0" rtlCol="0" anchor="ctr"/>
          <a:lstStyle/>
          <a:p>
            <a:pPr indent="0" marL="0">
              <a:buNone/>
            </a:pPr>
            <a:r>
              <a:rPr lang="en-US" sz="2400" dirty="0">
                <a:solidFill>
                  <a:srgbClr val="262626"/>
                </a:solidFill>
                <a:latin typeface="Arial" pitchFamily="34" charset="0"/>
                <a:ea typeface="Arial" pitchFamily="34" charset="-122"/>
                <a:cs typeface="Arial" pitchFamily="34" charset="-120"/>
              </a:rPr>
              <a:t>Investment thesis 2 (rates): the Fed's dot plot says higher for longer</a:t>
            </a:r>
            <a:endParaRPr lang="en-US" sz="2400" dirty="0"/>
          </a:p>
        </p:txBody>
      </p:sp>
      <p:sp>
        <p:nvSpPr>
          <p:cNvPr id="3" name="Shape 1"/>
          <p:cNvSpPr/>
          <p:nvPr/>
        </p:nvSpPr>
        <p:spPr>
          <a:xfrm>
            <a:off x="457200" y="896112"/>
            <a:ext cx="11274552" cy="0"/>
          </a:xfrm>
          <a:prstGeom prst="line">
            <a:avLst/>
          </a:prstGeom>
          <a:noFill/>
          <a:ln w="12700">
            <a:solidFill>
              <a:srgbClr val="2C5F82"/>
            </a:solidFill>
            <a:prstDash val="solid"/>
          </a:ln>
        </p:spPr>
      </p:sp>
      <p:sp>
        <p:nvSpPr>
          <p:cNvPr id="4" name="Shape 2"/>
          <p:cNvSpPr/>
          <p:nvPr/>
        </p:nvSpPr>
        <p:spPr>
          <a:xfrm>
            <a:off x="457200" y="6382512"/>
            <a:ext cx="11274552" cy="0"/>
          </a:xfrm>
          <a:prstGeom prst="line">
            <a:avLst/>
          </a:prstGeom>
          <a:noFill/>
          <a:ln w="9525">
            <a:solidFill>
              <a:srgbClr val="BFBFBF"/>
            </a:solidFill>
            <a:prstDash val="solid"/>
          </a:ln>
        </p:spPr>
      </p:sp>
      <p:sp>
        <p:nvSpPr>
          <p:cNvPr id="5" name="Shape 3"/>
          <p:cNvSpPr/>
          <p:nvPr/>
        </p:nvSpPr>
        <p:spPr>
          <a:xfrm>
            <a:off x="1005840" y="6364224"/>
            <a:ext cx="2514600" cy="45720"/>
          </a:xfrm>
          <a:prstGeom prst="rect">
            <a:avLst/>
          </a:prstGeom>
          <a:solidFill>
            <a:srgbClr val="2C5F82"/>
          </a:solidFill>
          <a:ln w="12700">
            <a:solidFill>
              <a:srgbClr val="2C5F82"/>
            </a:solidFill>
            <a:prstDash val="solid"/>
          </a:ln>
        </p:spPr>
      </p:sp>
      <p:sp>
        <p:nvSpPr>
          <p:cNvPr id="6" name="Text 4"/>
          <p:cNvSpPr txBox="1"/>
          <p:nvPr/>
        </p:nvSpPr>
        <p:spPr>
          <a:xfrm>
            <a:off x="457200" y="6446520"/>
            <a:ext cx="3611880" cy="274320"/>
          </a:xfrm>
          <a:prstGeom prst="rect">
            <a:avLst/>
          </a:prstGeom>
          <a:noFill/>
          <a:ln/>
        </p:spPr>
        <p:txBody>
          <a:bodyPr wrap="square" lIns="0" tIns="0" rIns="0" bIns="0" rtlCol="0" anchor="t"/>
          <a:lstStyle/>
          <a:p>
            <a:pPr algn="ctr" indent="0" marL="0">
              <a:buNone/>
            </a:pPr>
            <a:r>
              <a:rPr lang="en-US" sz="1200" b="1" spc="100" kern="0" dirty="0">
                <a:solidFill>
                  <a:srgbClr val="2C5F82"/>
                </a:solidFill>
                <a:latin typeface="Arial" pitchFamily="34" charset="0"/>
                <a:ea typeface="Arial" pitchFamily="34" charset="-122"/>
                <a:cs typeface="Arial" pitchFamily="34" charset="-120"/>
              </a:rPr>
              <a:t>ANALYSIS</a:t>
            </a:r>
            <a:endParaRPr lang="en-US" sz="1200" dirty="0"/>
          </a:p>
        </p:txBody>
      </p:sp>
      <p:sp>
        <p:nvSpPr>
          <p:cNvPr id="7" name="Text 5"/>
          <p:cNvSpPr txBox="1"/>
          <p:nvPr/>
        </p:nvSpPr>
        <p:spPr>
          <a:xfrm>
            <a:off x="4288536" y="6446520"/>
            <a:ext cx="3611880" cy="274320"/>
          </a:xfrm>
          <a:prstGeom prst="rect">
            <a:avLst/>
          </a:prstGeom>
          <a:noFill/>
          <a:ln/>
        </p:spPr>
        <p:txBody>
          <a:bodyPr wrap="square" lIns="0" tIns="0" rIns="0" bIns="0" rtlCol="0" anchor="t"/>
          <a:lstStyle/>
          <a:p>
            <a:pPr algn="ctr" indent="0" marL="0">
              <a:buNone/>
            </a:pPr>
            <a:r>
              <a:rPr lang="en-US" sz="1200" spc="100" kern="0" dirty="0">
                <a:solidFill>
                  <a:srgbClr val="595959"/>
                </a:solidFill>
                <a:latin typeface="Arial" pitchFamily="34" charset="0"/>
                <a:ea typeface="Arial" pitchFamily="34" charset="-122"/>
                <a:cs typeface="Arial" pitchFamily="34" charset="-120"/>
              </a:rPr>
              <a:t>STRATEGY</a:t>
            </a:r>
            <a:endParaRPr lang="en-US" sz="1200" dirty="0"/>
          </a:p>
        </p:txBody>
      </p:sp>
      <p:sp>
        <p:nvSpPr>
          <p:cNvPr id="8" name="Text 6"/>
          <p:cNvSpPr txBox="1"/>
          <p:nvPr/>
        </p:nvSpPr>
        <p:spPr>
          <a:xfrm>
            <a:off x="8129016" y="6446520"/>
            <a:ext cx="3611880" cy="274320"/>
          </a:xfrm>
          <a:prstGeom prst="rect">
            <a:avLst/>
          </a:prstGeom>
          <a:noFill/>
          <a:ln/>
        </p:spPr>
        <p:txBody>
          <a:bodyPr wrap="square" lIns="0" tIns="0" rIns="0" bIns="0" rtlCol="0" anchor="t"/>
          <a:lstStyle/>
          <a:p>
            <a:pPr algn="ctr" indent="0" marL="0">
              <a:buNone/>
            </a:pPr>
            <a:r>
              <a:rPr lang="en-US" sz="1200" spc="100" kern="0" dirty="0">
                <a:solidFill>
                  <a:srgbClr val="595959"/>
                </a:solidFill>
                <a:latin typeface="Arial" pitchFamily="34" charset="0"/>
                <a:ea typeface="Arial" pitchFamily="34" charset="-122"/>
                <a:cs typeface="Arial" pitchFamily="34" charset="-120"/>
              </a:rPr>
              <a:t>APPENDIX</a:t>
            </a:r>
            <a:endParaRPr lang="en-US" sz="1200" dirty="0"/>
          </a:p>
        </p:txBody>
      </p:sp>
      <p:pic>
        <p:nvPicPr>
          <p:cNvPr id="9" name="Image 0" descr="/home/user/natixis-case-comp/deck/fomc_dot_plot.png">    </p:cNvPr>
          <p:cNvPicPr>
            <a:picLocks noChangeAspect="1"/>
          </p:cNvPicPr>
          <p:nvPr/>
        </p:nvPicPr>
        <p:blipFill>
          <a:blip r:embed="rId1"/>
          <a:stretch>
            <a:fillRect/>
          </a:stretch>
        </p:blipFill>
        <p:spPr>
          <a:xfrm>
            <a:off x="457200" y="1051560"/>
            <a:ext cx="6583680" cy="4133939"/>
          </a:xfrm>
          <a:prstGeom prst="rect">
            <a:avLst/>
          </a:prstGeom>
        </p:spPr>
      </p:pic>
      <p:sp>
        <p:nvSpPr>
          <p:cNvPr id="10" name="Text 7"/>
          <p:cNvSpPr txBox="1"/>
          <p:nvPr/>
        </p:nvSpPr>
        <p:spPr>
          <a:xfrm>
            <a:off x="457200" y="5230368"/>
            <a:ext cx="6583680" cy="274320"/>
          </a:xfrm>
          <a:prstGeom prst="rect">
            <a:avLst/>
          </a:prstGeom>
          <a:noFill/>
          <a:ln/>
        </p:spPr>
        <p:txBody>
          <a:bodyPr wrap="square" lIns="0" tIns="0" rIns="0" bIns="0" rtlCol="0" anchor="t"/>
          <a:lstStyle/>
          <a:p>
            <a:pPr indent="0" marL="0">
              <a:buNone/>
            </a:pPr>
            <a:r>
              <a:rPr lang="en-US" sz="850" i="1" dirty="0">
                <a:solidFill>
                  <a:srgbClr val="595959"/>
                </a:solidFill>
                <a:latin typeface="Arial" pitchFamily="34" charset="0"/>
                <a:ea typeface="Arial" pitchFamily="34" charset="-122"/>
                <a:cs typeface="Arial" pitchFamily="34" charset="-120"/>
              </a:rPr>
              <a:t>FOMC participants' view of the appropriate fed funds rate (midpoint of target range), Summary of Economic Projections, 16 Sep 2026</a:t>
            </a:r>
            <a:endParaRPr lang="en-US" sz="850" dirty="0"/>
          </a:p>
        </p:txBody>
      </p:sp>
      <p:sp>
        <p:nvSpPr>
          <p:cNvPr id="11" name="Shape 8"/>
          <p:cNvSpPr/>
          <p:nvPr/>
        </p:nvSpPr>
        <p:spPr>
          <a:xfrm>
            <a:off x="7269480" y="1051560"/>
            <a:ext cx="4462272" cy="932688"/>
          </a:xfrm>
          <a:prstGeom prst="rect">
            <a:avLst/>
          </a:prstGeom>
          <a:solidFill>
            <a:srgbClr val="F2F2F2"/>
          </a:solidFill>
          <a:ln w="12700">
            <a:solidFill>
              <a:srgbClr val="F2F2F2"/>
            </a:solidFill>
            <a:prstDash val="solid"/>
          </a:ln>
        </p:spPr>
      </p:sp>
      <p:sp>
        <p:nvSpPr>
          <p:cNvPr id="12" name="Text 9"/>
          <p:cNvSpPr txBox="1"/>
          <p:nvPr/>
        </p:nvSpPr>
        <p:spPr>
          <a:xfrm>
            <a:off x="7315200" y="1051560"/>
            <a:ext cx="1051560" cy="932688"/>
          </a:xfrm>
          <a:prstGeom prst="rect">
            <a:avLst/>
          </a:prstGeom>
          <a:noFill/>
          <a:ln/>
        </p:spPr>
        <p:txBody>
          <a:bodyPr wrap="square" lIns="0" tIns="0" rIns="0" bIns="0" rtlCol="0" anchor="ctr"/>
          <a:lstStyle/>
          <a:p>
            <a:pPr algn="ctr" indent="0" marL="0">
              <a:buNone/>
            </a:pPr>
            <a:r>
              <a:rPr lang="en-US" sz="1600" b="1" dirty="0">
                <a:solidFill>
                  <a:srgbClr val="2C5F82"/>
                </a:solidFill>
                <a:latin typeface="Arial" pitchFamily="34" charset="0"/>
                <a:ea typeface="Arial" pitchFamily="34" charset="-122"/>
                <a:cs typeface="Arial" pitchFamily="34" charset="-120"/>
              </a:rPr>
              <a:t>4.125%</a:t>
            </a:r>
            <a:endParaRPr lang="en-US" sz="1600" dirty="0"/>
          </a:p>
        </p:txBody>
      </p:sp>
      <p:sp>
        <p:nvSpPr>
          <p:cNvPr id="13" name="Text 10"/>
          <p:cNvSpPr txBox="1"/>
          <p:nvPr/>
        </p:nvSpPr>
        <p:spPr>
          <a:xfrm>
            <a:off x="8412480" y="1088136"/>
            <a:ext cx="3227832" cy="859536"/>
          </a:xfrm>
          <a:prstGeom prst="rect">
            <a:avLst/>
          </a:prstGeom>
          <a:noFill/>
          <a:ln/>
        </p:spPr>
        <p:txBody>
          <a:bodyPr wrap="square" lIns="0" tIns="0" rIns="0" bIns="0" rtlCol="0" anchor="ctr"/>
          <a:lstStyle/>
          <a:p>
            <a:pPr indent="0" marL="0">
              <a:spcAft>
                <a:spcPts val="100"/>
              </a:spcAft>
              <a:buNone/>
            </a:pPr>
            <a:r>
              <a:rPr lang="en-US" sz="880" b="1" dirty="0">
                <a:solidFill>
                  <a:srgbClr val="262626"/>
                </a:solidFill>
                <a:latin typeface="Arial" pitchFamily="34" charset="0"/>
                <a:ea typeface="Arial" pitchFamily="34" charset="-122"/>
                <a:cs typeface="Arial" pitchFamily="34" charset="-120"/>
              </a:rPr>
              <a:t>Rates stay high through 2027: </a:t>
            </a:r>
            <a:pPr indent="0" marL="0">
              <a:spcAft>
                <a:spcPts val="100"/>
              </a:spcAft>
              <a:buNone/>
            </a:pPr>
            <a:r>
              <a:rPr lang="en-US" sz="880" dirty="0">
                <a:solidFill>
                  <a:srgbClr val="595959"/>
                </a:solidFill>
                <a:latin typeface="Arial" pitchFamily="34" charset="0"/>
                <a:ea typeface="Arial" pitchFamily="34" charset="-122"/>
                <a:cs typeface="Arial" pitchFamily="34" charset="-120"/>
              </a:rPr>
              <a:t>Median 4.125% at end-2026 and 4.125% at end-2027 (one more hike from 3.75–4.00%); cuts only from 2028.</a:t>
            </a:r>
            <a:endParaRPr lang="en-US" sz="880" dirty="0"/>
          </a:p>
          <a:p>
            <a:pPr indent="0" marL="0">
              <a:spcAft>
                <a:spcPts val="100"/>
              </a:spcAft>
              <a:buNone/>
            </a:pPr>
            <a:r>
              <a:rPr lang="en-US" sz="880" b="1" dirty="0">
                <a:solidFill>
                  <a:srgbClr val="2C5F82"/>
                </a:solidFill>
                <a:latin typeface="Arial" pitchFamily="34" charset="0"/>
                <a:ea typeface="Arial" pitchFamily="34" charset="-122"/>
                <a:cs typeface="Arial" pitchFamily="34" charset="-120"/>
              </a:rPr>
              <a:t>→ USD funding stays high for most of a 5-year note: the principal and a 70% floor are cheap to build</a:t>
            </a:r>
            <a:endParaRPr lang="en-US" sz="880" dirty="0"/>
          </a:p>
        </p:txBody>
      </p:sp>
      <p:sp>
        <p:nvSpPr>
          <p:cNvPr id="14" name="Shape 11"/>
          <p:cNvSpPr/>
          <p:nvPr/>
        </p:nvSpPr>
        <p:spPr>
          <a:xfrm>
            <a:off x="7269480" y="2075688"/>
            <a:ext cx="4462272" cy="932688"/>
          </a:xfrm>
          <a:prstGeom prst="rect">
            <a:avLst/>
          </a:prstGeom>
          <a:solidFill>
            <a:srgbClr val="FFFFFF"/>
          </a:solidFill>
          <a:ln w="12700">
            <a:solidFill>
              <a:srgbClr val="F2F2F2"/>
            </a:solidFill>
            <a:prstDash val="solid"/>
          </a:ln>
        </p:spPr>
      </p:sp>
      <p:sp>
        <p:nvSpPr>
          <p:cNvPr id="15" name="Text 12"/>
          <p:cNvSpPr txBox="1"/>
          <p:nvPr/>
        </p:nvSpPr>
        <p:spPr>
          <a:xfrm>
            <a:off x="7315200" y="2075688"/>
            <a:ext cx="1051560" cy="932688"/>
          </a:xfrm>
          <a:prstGeom prst="rect">
            <a:avLst/>
          </a:prstGeom>
          <a:noFill/>
          <a:ln/>
        </p:spPr>
        <p:txBody>
          <a:bodyPr wrap="square" lIns="0" tIns="0" rIns="0" bIns="0" rtlCol="0" anchor="ctr"/>
          <a:lstStyle/>
          <a:p>
            <a:pPr algn="ctr" indent="0" marL="0">
              <a:buNone/>
            </a:pPr>
            <a:r>
              <a:rPr lang="en-US" sz="1600" b="1" dirty="0">
                <a:solidFill>
                  <a:srgbClr val="2C5F82"/>
                </a:solidFill>
                <a:latin typeface="Arial" pitchFamily="34" charset="0"/>
                <a:ea typeface="Arial" pitchFamily="34" charset="-122"/>
                <a:cs typeface="Arial" pitchFamily="34" charset="-120"/>
              </a:rPr>
              <a:t>12 dots</a:t>
            </a:r>
            <a:endParaRPr lang="en-US" sz="1600" dirty="0"/>
          </a:p>
        </p:txBody>
      </p:sp>
      <p:sp>
        <p:nvSpPr>
          <p:cNvPr id="16" name="Text 13"/>
          <p:cNvSpPr txBox="1"/>
          <p:nvPr/>
        </p:nvSpPr>
        <p:spPr>
          <a:xfrm>
            <a:off x="8412480" y="2112264"/>
            <a:ext cx="3227832" cy="859536"/>
          </a:xfrm>
          <a:prstGeom prst="rect">
            <a:avLst/>
          </a:prstGeom>
          <a:noFill/>
          <a:ln/>
        </p:spPr>
        <p:txBody>
          <a:bodyPr wrap="square" lIns="0" tIns="0" rIns="0" bIns="0" rtlCol="0" anchor="ctr"/>
          <a:lstStyle/>
          <a:p>
            <a:pPr indent="0" marL="0">
              <a:spcAft>
                <a:spcPts val="100"/>
              </a:spcAft>
              <a:buNone/>
            </a:pPr>
            <a:r>
              <a:rPr lang="en-US" sz="880" b="1" dirty="0">
                <a:solidFill>
                  <a:srgbClr val="262626"/>
                </a:solidFill>
                <a:latin typeface="Arial" pitchFamily="34" charset="0"/>
                <a:ea typeface="Arial" pitchFamily="34" charset="-122"/>
                <a:cs typeface="Arial" pitchFamily="34" charset="-120"/>
              </a:rPr>
              <a:t>Risk of more hikes: </a:t>
            </a:r>
            <a:pPr indent="0" marL="0">
              <a:spcAft>
                <a:spcPts val="100"/>
              </a:spcAft>
              <a:buNone/>
            </a:pPr>
            <a:r>
              <a:rPr lang="en-US" sz="880" dirty="0">
                <a:solidFill>
                  <a:srgbClr val="595959"/>
                </a:solidFill>
                <a:latin typeface="Arial" pitchFamily="34" charset="0"/>
                <a:ea typeface="Arial" pitchFamily="34" charset="-122"/>
                <a:cs typeface="Arial" pitchFamily="34" charset="-120"/>
              </a:rPr>
              <a:t>4 participants see 4.375% this year and 8 in 2027, above the median.</a:t>
            </a:r>
            <a:endParaRPr lang="en-US" sz="880" dirty="0"/>
          </a:p>
          <a:p>
            <a:pPr indent="0" marL="0">
              <a:spcAft>
                <a:spcPts val="100"/>
              </a:spcAft>
              <a:buNone/>
            </a:pPr>
            <a:r>
              <a:rPr lang="en-US" sz="880" b="1" dirty="0">
                <a:solidFill>
                  <a:srgbClr val="2C5F82"/>
                </a:solidFill>
                <a:latin typeface="Arial" pitchFamily="34" charset="0"/>
                <a:ea typeface="Arial" pitchFamily="34" charset="-122"/>
                <a:cs typeface="Arial" pitchFamily="34" charset="-120"/>
              </a:rPr>
              <a:t>→ A 5-year bond loses if rates rise further; an autocall can redeem from year 1 (expected life ~2 years)</a:t>
            </a:r>
            <a:endParaRPr lang="en-US" sz="880" dirty="0"/>
          </a:p>
        </p:txBody>
      </p:sp>
      <p:sp>
        <p:nvSpPr>
          <p:cNvPr id="17" name="Shape 14"/>
          <p:cNvSpPr/>
          <p:nvPr/>
        </p:nvSpPr>
        <p:spPr>
          <a:xfrm>
            <a:off x="7269480" y="3099816"/>
            <a:ext cx="4462272" cy="932688"/>
          </a:xfrm>
          <a:prstGeom prst="rect">
            <a:avLst/>
          </a:prstGeom>
          <a:solidFill>
            <a:srgbClr val="F2F2F2"/>
          </a:solidFill>
          <a:ln w="12700">
            <a:solidFill>
              <a:srgbClr val="F2F2F2"/>
            </a:solidFill>
            <a:prstDash val="solid"/>
          </a:ln>
        </p:spPr>
      </p:sp>
      <p:sp>
        <p:nvSpPr>
          <p:cNvPr id="18" name="Text 15"/>
          <p:cNvSpPr txBox="1"/>
          <p:nvPr/>
        </p:nvSpPr>
        <p:spPr>
          <a:xfrm>
            <a:off x="7315200" y="3099816"/>
            <a:ext cx="1051560" cy="932688"/>
          </a:xfrm>
          <a:prstGeom prst="rect">
            <a:avLst/>
          </a:prstGeom>
          <a:noFill/>
          <a:ln/>
        </p:spPr>
        <p:txBody>
          <a:bodyPr wrap="square" lIns="0" tIns="0" rIns="0" bIns="0" rtlCol="0" anchor="ctr"/>
          <a:lstStyle/>
          <a:p>
            <a:pPr algn="ctr" indent="0" marL="0">
              <a:buNone/>
            </a:pPr>
            <a:r>
              <a:rPr lang="en-US" sz="1600" b="1" dirty="0">
                <a:solidFill>
                  <a:srgbClr val="2C5F82"/>
                </a:solidFill>
                <a:latin typeface="Arial" pitchFamily="34" charset="0"/>
                <a:ea typeface="Arial" pitchFamily="34" charset="-122"/>
                <a:cs typeface="Arial" pitchFamily="34" charset="-120"/>
              </a:rPr>
              <a:t>125bp</a:t>
            </a:r>
            <a:endParaRPr lang="en-US" sz="1600" dirty="0"/>
          </a:p>
        </p:txBody>
      </p:sp>
      <p:sp>
        <p:nvSpPr>
          <p:cNvPr id="19" name="Text 16"/>
          <p:cNvSpPr txBox="1"/>
          <p:nvPr/>
        </p:nvSpPr>
        <p:spPr>
          <a:xfrm>
            <a:off x="8412480" y="3136392"/>
            <a:ext cx="3227832" cy="859536"/>
          </a:xfrm>
          <a:prstGeom prst="rect">
            <a:avLst/>
          </a:prstGeom>
          <a:noFill/>
          <a:ln/>
        </p:spPr>
        <p:txBody>
          <a:bodyPr wrap="square" lIns="0" tIns="0" rIns="0" bIns="0" rtlCol="0" anchor="ctr"/>
          <a:lstStyle/>
          <a:p>
            <a:pPr indent="0" marL="0">
              <a:spcAft>
                <a:spcPts val="100"/>
              </a:spcAft>
              <a:buNone/>
            </a:pPr>
            <a:r>
              <a:rPr lang="en-US" sz="880" b="1" dirty="0">
                <a:solidFill>
                  <a:srgbClr val="262626"/>
                </a:solidFill>
                <a:latin typeface="Arial" pitchFamily="34" charset="0"/>
                <a:ea typeface="Arial" pitchFamily="34" charset="-122"/>
                <a:cs typeface="Arial" pitchFamily="34" charset="-120"/>
              </a:rPr>
              <a:t>Wide disagreement: </a:t>
            </a:r>
            <a:pPr indent="0" marL="0">
              <a:spcAft>
                <a:spcPts val="100"/>
              </a:spcAft>
              <a:buNone/>
            </a:pPr>
            <a:r>
              <a:rPr lang="en-US" sz="880" dirty="0">
                <a:solidFill>
                  <a:srgbClr val="595959"/>
                </a:solidFill>
                <a:latin typeface="Arial" pitchFamily="34" charset="0"/>
                <a:ea typeface="Arial" pitchFamily="34" charset="-122"/>
                <a:cs typeface="Arial" pitchFamily="34" charset="-120"/>
              </a:rPr>
              <a:t>2027 dots span 3.125%–4.375%; longer run 2.875%–3.875%. The rate path is uncertain.</a:t>
            </a:r>
            <a:endParaRPr lang="en-US" sz="880" dirty="0"/>
          </a:p>
          <a:p>
            <a:pPr indent="0" marL="0">
              <a:spcAft>
                <a:spcPts val="100"/>
              </a:spcAft>
              <a:buNone/>
            </a:pPr>
            <a:r>
              <a:rPr lang="en-US" sz="880" b="1" dirty="0">
                <a:solidFill>
                  <a:srgbClr val="2C5F82"/>
                </a:solidFill>
                <a:latin typeface="Arial" pitchFamily="34" charset="0"/>
                <a:ea typeface="Arial" pitchFamily="34" charset="-122"/>
                <a:cs typeface="Arial" pitchFamily="34" charset="-120"/>
              </a:rPr>
              <a:t>→ Rate uncertainty keeps volatility high, and richer option premium funds the coupon</a:t>
            </a:r>
            <a:endParaRPr lang="en-US" sz="880" dirty="0"/>
          </a:p>
        </p:txBody>
      </p:sp>
      <p:sp>
        <p:nvSpPr>
          <p:cNvPr id="20" name="Shape 17"/>
          <p:cNvSpPr/>
          <p:nvPr/>
        </p:nvSpPr>
        <p:spPr>
          <a:xfrm>
            <a:off x="7269480" y="4123944"/>
            <a:ext cx="4462272" cy="932688"/>
          </a:xfrm>
          <a:prstGeom prst="rect">
            <a:avLst/>
          </a:prstGeom>
          <a:solidFill>
            <a:srgbClr val="FFFFFF"/>
          </a:solidFill>
          <a:ln w="12700">
            <a:solidFill>
              <a:srgbClr val="F2F2F2"/>
            </a:solidFill>
            <a:prstDash val="solid"/>
          </a:ln>
        </p:spPr>
      </p:sp>
      <p:sp>
        <p:nvSpPr>
          <p:cNvPr id="21" name="Text 18"/>
          <p:cNvSpPr txBox="1"/>
          <p:nvPr/>
        </p:nvSpPr>
        <p:spPr>
          <a:xfrm>
            <a:off x="7315200" y="4123944"/>
            <a:ext cx="1051560" cy="932688"/>
          </a:xfrm>
          <a:prstGeom prst="rect">
            <a:avLst/>
          </a:prstGeom>
          <a:noFill/>
          <a:ln/>
        </p:spPr>
        <p:txBody>
          <a:bodyPr wrap="square" lIns="0" tIns="0" rIns="0" bIns="0" rtlCol="0" anchor="ctr"/>
          <a:lstStyle/>
          <a:p>
            <a:pPr algn="ctr" indent="0" marL="0">
              <a:buNone/>
            </a:pPr>
            <a:r>
              <a:rPr lang="en-US" sz="1600" b="1" dirty="0">
                <a:solidFill>
                  <a:srgbClr val="2C5F82"/>
                </a:solidFill>
                <a:latin typeface="Arial" pitchFamily="34" charset="0"/>
                <a:ea typeface="Arial" pitchFamily="34" charset="-122"/>
                <a:cs typeface="Arial" pitchFamily="34" charset="-120"/>
              </a:rPr>
              <a:t>3.25%</a:t>
            </a:r>
            <a:endParaRPr lang="en-US" sz="1600" dirty="0"/>
          </a:p>
        </p:txBody>
      </p:sp>
      <p:sp>
        <p:nvSpPr>
          <p:cNvPr id="22" name="Text 19"/>
          <p:cNvSpPr txBox="1"/>
          <p:nvPr/>
        </p:nvSpPr>
        <p:spPr>
          <a:xfrm>
            <a:off x="8412480" y="4160520"/>
            <a:ext cx="3227832" cy="859536"/>
          </a:xfrm>
          <a:prstGeom prst="rect">
            <a:avLst/>
          </a:prstGeom>
          <a:noFill/>
          <a:ln/>
        </p:spPr>
        <p:txBody>
          <a:bodyPr wrap="square" lIns="0" tIns="0" rIns="0" bIns="0" rtlCol="0" anchor="ctr"/>
          <a:lstStyle/>
          <a:p>
            <a:pPr indent="0" marL="0">
              <a:spcAft>
                <a:spcPts val="100"/>
              </a:spcAft>
              <a:buNone/>
            </a:pPr>
            <a:r>
              <a:rPr lang="en-US" sz="880" b="1" dirty="0">
                <a:solidFill>
                  <a:srgbClr val="262626"/>
                </a:solidFill>
                <a:latin typeface="Arial" pitchFamily="34" charset="0"/>
                <a:ea typeface="Arial" pitchFamily="34" charset="-122"/>
                <a:cs typeface="Arial" pitchFamily="34" charset="-120"/>
              </a:rPr>
              <a:t>Slow easing later: </a:t>
            </a:r>
            <a:pPr indent="0" marL="0">
              <a:spcAft>
                <a:spcPts val="100"/>
              </a:spcAft>
              <a:buNone/>
            </a:pPr>
            <a:r>
              <a:rPr lang="en-US" sz="880" dirty="0">
                <a:solidFill>
                  <a:srgbClr val="595959"/>
                </a:solidFill>
                <a:latin typeface="Arial" pitchFamily="34" charset="0"/>
                <a:ea typeface="Arial" pitchFamily="34" charset="-122"/>
                <a:cs typeface="Arial" pitchFamily="34" charset="-120"/>
              </a:rPr>
              <a:t>Median falls to 3.875% in 2028 and 3.625% in 2029, towards 3.25% in the long run.</a:t>
            </a:r>
            <a:endParaRPr lang="en-US" sz="880" dirty="0"/>
          </a:p>
          <a:p>
            <a:pPr indent="0" marL="0">
              <a:spcAft>
                <a:spcPts val="100"/>
              </a:spcAft>
              <a:buNone/>
            </a:pPr>
            <a:r>
              <a:rPr lang="en-US" sz="880" b="1" dirty="0">
                <a:solidFill>
                  <a:srgbClr val="2C5F82"/>
                </a:solidFill>
                <a:latin typeface="Arial" pitchFamily="34" charset="0"/>
                <a:ea typeface="Arial" pitchFamily="34" charset="-122"/>
                <a:cs typeface="Arial" pitchFamily="34" charset="-120"/>
              </a:rPr>
              <a:t>→ Lower USD rates late in the note's life support Asian equities, helping the basket back to 100% (autocall)</a:t>
            </a:r>
            <a:endParaRPr lang="en-US" sz="880" dirty="0"/>
          </a:p>
        </p:txBody>
      </p:sp>
      <p:sp>
        <p:nvSpPr>
          <p:cNvPr id="23" name="Shape 20"/>
          <p:cNvSpPr/>
          <p:nvPr/>
        </p:nvSpPr>
        <p:spPr>
          <a:xfrm>
            <a:off x="457200" y="5559552"/>
            <a:ext cx="11274552" cy="438912"/>
          </a:xfrm>
          <a:prstGeom prst="rect">
            <a:avLst/>
          </a:prstGeom>
          <a:solidFill>
            <a:srgbClr val="2C5F82"/>
          </a:solidFill>
          <a:ln w="12700">
            <a:solidFill>
              <a:srgbClr val="2C5F82"/>
            </a:solidFill>
            <a:prstDash val="solid"/>
          </a:ln>
        </p:spPr>
      </p:sp>
      <p:sp>
        <p:nvSpPr>
          <p:cNvPr id="24" name="Text 21"/>
          <p:cNvSpPr txBox="1"/>
          <p:nvPr/>
        </p:nvSpPr>
        <p:spPr>
          <a:xfrm>
            <a:off x="594360" y="5559552"/>
            <a:ext cx="1100023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Higher-for-longer USD rates make a capital floor cheap and long bonds risky: the setting suits a short-dated, buffered autocall.</a:t>
            </a:r>
            <a:endParaRPr lang="en-US" sz="1200" dirty="0"/>
          </a:p>
        </p:txBody>
      </p:sp>
      <p:sp>
        <p:nvSpPr>
          <p:cNvPr id="25" name="Text 22"/>
          <p:cNvSpPr txBox="1"/>
          <p:nvPr/>
        </p:nvSpPr>
        <p:spPr>
          <a:xfrm>
            <a:off x="457200" y="6053328"/>
            <a:ext cx="11274552" cy="274320"/>
          </a:xfrm>
          <a:prstGeom prst="rect">
            <a:avLst/>
          </a:prstGeom>
          <a:noFill/>
          <a:ln/>
        </p:spPr>
        <p:txBody>
          <a:bodyPr wrap="square" lIns="0" tIns="0" rIns="0" bIns="0" rtlCol="0" anchor="t"/>
          <a:lstStyle/>
          <a:p>
            <a:pPr indent="0" marL="0">
              <a:buNone/>
            </a:pPr>
            <a:r>
              <a:rPr lang="en-US" sz="800" i="1" dirty="0">
                <a:solidFill>
                  <a:srgbClr val="595959"/>
                </a:solidFill>
                <a:latin typeface="Arial" pitchFamily="34" charset="0"/>
                <a:ea typeface="Arial" pitchFamily="34" charset="-122"/>
                <a:cs typeface="Arial" pitchFamily="34" charset="-120"/>
              </a:rPr>
              <a:t>Source: Federal Reserve, Summary of Economic Projections, Figure 2 (16 Sep 2026). Dot counts read from the chart (18 participants for 2026–27 and the longer run, 17 for 2028–29): verify against the SEP table.</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548640"/>
          </a:xfrm>
          <a:prstGeom prst="rect">
            <a:avLst/>
          </a:prstGeom>
          <a:noFill/>
          <a:ln/>
        </p:spPr>
        <p:txBody>
          <a:bodyPr wrap="square" lIns="0" tIns="0" rIns="0" bIns="0" rtlCol="0" anchor="ctr"/>
          <a:lstStyle/>
          <a:p>
            <a:pPr indent="0" marL="0">
              <a:buNone/>
            </a:pPr>
            <a:r>
              <a:rPr lang="en-US" sz="2400" dirty="0">
                <a:solidFill>
                  <a:srgbClr val="262626"/>
                </a:solidFill>
                <a:latin typeface="Arial" pitchFamily="34" charset="0"/>
                <a:ea typeface="Arial" pitchFamily="34" charset="-122"/>
                <a:cs typeface="Arial" pitchFamily="34" charset="-120"/>
              </a:rPr>
              <a:t>Investment thesis 2: Traditional strategies fall short; autocallables fit 2026</a:t>
            </a:r>
            <a:endParaRPr lang="en-US" sz="2400" dirty="0"/>
          </a:p>
        </p:txBody>
      </p:sp>
      <p:sp>
        <p:nvSpPr>
          <p:cNvPr id="3" name="Shape 1"/>
          <p:cNvSpPr/>
          <p:nvPr/>
        </p:nvSpPr>
        <p:spPr>
          <a:xfrm>
            <a:off x="457200" y="896112"/>
            <a:ext cx="11274552" cy="0"/>
          </a:xfrm>
          <a:prstGeom prst="line">
            <a:avLst/>
          </a:prstGeom>
          <a:noFill/>
          <a:ln w="12700">
            <a:solidFill>
              <a:srgbClr val="2C5F82"/>
            </a:solidFill>
            <a:prstDash val="solid"/>
          </a:ln>
        </p:spPr>
      </p:sp>
      <p:sp>
        <p:nvSpPr>
          <p:cNvPr id="4" name="Shape 2"/>
          <p:cNvSpPr/>
          <p:nvPr/>
        </p:nvSpPr>
        <p:spPr>
          <a:xfrm>
            <a:off x="457200" y="6382512"/>
            <a:ext cx="11274552" cy="0"/>
          </a:xfrm>
          <a:prstGeom prst="line">
            <a:avLst/>
          </a:prstGeom>
          <a:noFill/>
          <a:ln w="9525">
            <a:solidFill>
              <a:srgbClr val="BFBFBF"/>
            </a:solidFill>
            <a:prstDash val="solid"/>
          </a:ln>
        </p:spPr>
      </p:sp>
      <p:sp>
        <p:nvSpPr>
          <p:cNvPr id="5" name="Shape 3"/>
          <p:cNvSpPr/>
          <p:nvPr/>
        </p:nvSpPr>
        <p:spPr>
          <a:xfrm>
            <a:off x="1005840" y="6364224"/>
            <a:ext cx="2514600" cy="45720"/>
          </a:xfrm>
          <a:prstGeom prst="rect">
            <a:avLst/>
          </a:prstGeom>
          <a:solidFill>
            <a:srgbClr val="2C5F82"/>
          </a:solidFill>
          <a:ln w="12700">
            <a:solidFill>
              <a:srgbClr val="2C5F82"/>
            </a:solidFill>
            <a:prstDash val="solid"/>
          </a:ln>
        </p:spPr>
      </p:sp>
      <p:sp>
        <p:nvSpPr>
          <p:cNvPr id="6" name="Text 4"/>
          <p:cNvSpPr txBox="1"/>
          <p:nvPr/>
        </p:nvSpPr>
        <p:spPr>
          <a:xfrm>
            <a:off x="457200" y="6446520"/>
            <a:ext cx="3611880" cy="274320"/>
          </a:xfrm>
          <a:prstGeom prst="rect">
            <a:avLst/>
          </a:prstGeom>
          <a:noFill/>
          <a:ln/>
        </p:spPr>
        <p:txBody>
          <a:bodyPr wrap="square" lIns="0" tIns="0" rIns="0" bIns="0" rtlCol="0" anchor="t"/>
          <a:lstStyle/>
          <a:p>
            <a:pPr algn="ctr" indent="0" marL="0">
              <a:buNone/>
            </a:pPr>
            <a:r>
              <a:rPr lang="en-US" sz="1200" b="1" spc="100" kern="0" dirty="0">
                <a:solidFill>
                  <a:srgbClr val="2C5F82"/>
                </a:solidFill>
                <a:latin typeface="Arial" pitchFamily="34" charset="0"/>
                <a:ea typeface="Arial" pitchFamily="34" charset="-122"/>
                <a:cs typeface="Arial" pitchFamily="34" charset="-120"/>
              </a:rPr>
              <a:t>ANALYSIS</a:t>
            </a:r>
            <a:endParaRPr lang="en-US" sz="1200" dirty="0"/>
          </a:p>
        </p:txBody>
      </p:sp>
      <p:sp>
        <p:nvSpPr>
          <p:cNvPr id="7" name="Text 5"/>
          <p:cNvSpPr txBox="1"/>
          <p:nvPr/>
        </p:nvSpPr>
        <p:spPr>
          <a:xfrm>
            <a:off x="4288536" y="6446520"/>
            <a:ext cx="3611880" cy="274320"/>
          </a:xfrm>
          <a:prstGeom prst="rect">
            <a:avLst/>
          </a:prstGeom>
          <a:noFill/>
          <a:ln/>
        </p:spPr>
        <p:txBody>
          <a:bodyPr wrap="square" lIns="0" tIns="0" rIns="0" bIns="0" rtlCol="0" anchor="t"/>
          <a:lstStyle/>
          <a:p>
            <a:pPr algn="ctr" indent="0" marL="0">
              <a:buNone/>
            </a:pPr>
            <a:r>
              <a:rPr lang="en-US" sz="1200" spc="100" kern="0" dirty="0">
                <a:solidFill>
                  <a:srgbClr val="595959"/>
                </a:solidFill>
                <a:latin typeface="Arial" pitchFamily="34" charset="0"/>
                <a:ea typeface="Arial" pitchFamily="34" charset="-122"/>
                <a:cs typeface="Arial" pitchFamily="34" charset="-120"/>
              </a:rPr>
              <a:t>STRATEGY</a:t>
            </a:r>
            <a:endParaRPr lang="en-US" sz="1200" dirty="0"/>
          </a:p>
        </p:txBody>
      </p:sp>
      <p:sp>
        <p:nvSpPr>
          <p:cNvPr id="8" name="Text 6"/>
          <p:cNvSpPr txBox="1"/>
          <p:nvPr/>
        </p:nvSpPr>
        <p:spPr>
          <a:xfrm>
            <a:off x="8129016" y="6446520"/>
            <a:ext cx="3611880" cy="274320"/>
          </a:xfrm>
          <a:prstGeom prst="rect">
            <a:avLst/>
          </a:prstGeom>
          <a:noFill/>
          <a:ln/>
        </p:spPr>
        <p:txBody>
          <a:bodyPr wrap="square" lIns="0" tIns="0" rIns="0" bIns="0" rtlCol="0" anchor="t"/>
          <a:lstStyle/>
          <a:p>
            <a:pPr algn="ctr" indent="0" marL="0">
              <a:buNone/>
            </a:pPr>
            <a:r>
              <a:rPr lang="en-US" sz="1200" spc="100" kern="0" dirty="0">
                <a:solidFill>
                  <a:srgbClr val="595959"/>
                </a:solidFill>
                <a:latin typeface="Arial" pitchFamily="34" charset="0"/>
                <a:ea typeface="Arial" pitchFamily="34" charset="-122"/>
                <a:cs typeface="Arial" pitchFamily="34" charset="-120"/>
              </a:rPr>
              <a:t>APPENDIX</a:t>
            </a:r>
            <a:endParaRPr lang="en-US" sz="1200" dirty="0"/>
          </a:p>
        </p:txBody>
      </p:sp>
      <p:sp>
        <p:nvSpPr>
          <p:cNvPr id="9" name="Text 7"/>
          <p:cNvSpPr txBox="1"/>
          <p:nvPr/>
        </p:nvSpPr>
        <p:spPr>
          <a:xfrm>
            <a:off x="457200" y="960120"/>
            <a:ext cx="11247120" cy="274320"/>
          </a:xfrm>
          <a:prstGeom prst="rect">
            <a:avLst/>
          </a:prstGeom>
          <a:noFill/>
          <a:ln/>
        </p:spPr>
        <p:txBody>
          <a:bodyPr wrap="square" lIns="0" tIns="0" rIns="0" bIns="0" rtlCol="0" anchor="t"/>
          <a:lstStyle/>
          <a:p>
            <a:pPr indent="0" marL="0">
              <a:buNone/>
            </a:pPr>
            <a:r>
              <a:rPr lang="en-US" sz="1150" b="1" i="1" dirty="0">
                <a:solidFill>
                  <a:srgbClr val="262626"/>
                </a:solidFill>
                <a:latin typeface="Arial" pitchFamily="34" charset="0"/>
                <a:ea typeface="Arial" pitchFamily="34" charset="-122"/>
                <a:cs typeface="Arial" pitchFamily="34" charset="-120"/>
              </a:rPr>
              <a:t>Long bonds face rising rates; buy-and-hold equity faces record volatility, concentration and stretched valuations</a:t>
            </a:r>
            <a:endParaRPr lang="en-US" sz="1150" dirty="0"/>
          </a:p>
        </p:txBody>
      </p:sp>
      <p:sp>
        <p:nvSpPr>
          <p:cNvPr id="10" name="Shape 8"/>
          <p:cNvSpPr/>
          <p:nvPr/>
        </p:nvSpPr>
        <p:spPr>
          <a:xfrm>
            <a:off x="457200" y="1325880"/>
            <a:ext cx="3730752" cy="292608"/>
          </a:xfrm>
          <a:prstGeom prst="rect">
            <a:avLst/>
          </a:prstGeom>
          <a:solidFill>
            <a:srgbClr val="2C5F82"/>
          </a:solidFill>
          <a:ln w="12700">
            <a:solidFill>
              <a:srgbClr val="2C5F82"/>
            </a:solidFill>
            <a:prstDash val="solid"/>
          </a:ln>
        </p:spPr>
      </p:sp>
      <p:sp>
        <p:nvSpPr>
          <p:cNvPr id="11" name="Text 9"/>
          <p:cNvSpPr txBox="1"/>
          <p:nvPr/>
        </p:nvSpPr>
        <p:spPr>
          <a:xfrm>
            <a:off x="457200" y="1325880"/>
            <a:ext cx="3730752"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Rates are rising again</a:t>
            </a:r>
            <a:endParaRPr lang="en-US" sz="1050" dirty="0"/>
          </a:p>
        </p:txBody>
      </p:sp>
      <p:graphicFrame>
        <p:nvGraphicFramePr>
          <p:cNvPr id="12" name="Chart 0" descr=""/>
          <p:cNvGraphicFramePr/>
          <p:nvPr/>
        </p:nvGraphicFramePr>
        <p:xfrm>
          <a:off x="457200" y="1655064"/>
          <a:ext cx="3730752" cy="1261872"/>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953512"/>
            <a:ext cx="3730752" cy="365760"/>
          </a:xfrm>
          <a:prstGeom prst="rect">
            <a:avLst/>
          </a:prstGeom>
          <a:noFill/>
          <a:ln/>
        </p:spPr>
        <p:txBody>
          <a:bodyPr wrap="square" lIns="0" tIns="0" rIns="0" bIns="0" rtlCol="0" anchor="t"/>
          <a:lstStyle/>
          <a:p>
            <a:pPr indent="0" marL="0">
              <a:buNone/>
            </a:pPr>
            <a:r>
              <a:rPr lang="en-US" sz="850" dirty="0">
                <a:solidFill>
                  <a:srgbClr val="595959"/>
                </a:solidFill>
                <a:latin typeface="Arial" pitchFamily="34" charset="0"/>
                <a:ea typeface="Arial" pitchFamily="34" charset="-122"/>
                <a:cs typeface="Arial" pitchFamily="34" charset="-120"/>
              </a:rPr>
              <a:t>Fed funds upper bound: hikes 2022–23, cuts 2024–25, a hike again on 16 Sep 2026 (median dot 4.1% for end-2026).</a:t>
            </a:r>
            <a:endParaRPr lang="en-US" sz="850" dirty="0"/>
          </a:p>
        </p:txBody>
      </p:sp>
      <p:sp>
        <p:nvSpPr>
          <p:cNvPr id="14" name="Shape 11"/>
          <p:cNvSpPr/>
          <p:nvPr/>
        </p:nvSpPr>
        <p:spPr>
          <a:xfrm>
            <a:off x="4370832" y="1325880"/>
            <a:ext cx="3730752" cy="292608"/>
          </a:xfrm>
          <a:prstGeom prst="rect">
            <a:avLst/>
          </a:prstGeom>
          <a:solidFill>
            <a:srgbClr val="2C5F82"/>
          </a:solidFill>
          <a:ln w="12700">
            <a:solidFill>
              <a:srgbClr val="2C5F82"/>
            </a:solidFill>
            <a:prstDash val="solid"/>
          </a:ln>
        </p:spPr>
      </p:sp>
      <p:sp>
        <p:nvSpPr>
          <p:cNvPr id="15" name="Text 12"/>
          <p:cNvSpPr txBox="1"/>
          <p:nvPr/>
        </p:nvSpPr>
        <p:spPr>
          <a:xfrm>
            <a:off x="4370832" y="1325880"/>
            <a:ext cx="3730752"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Equity paths are violent</a:t>
            </a:r>
            <a:endParaRPr lang="en-US" sz="1050" dirty="0"/>
          </a:p>
        </p:txBody>
      </p:sp>
      <p:graphicFrame>
        <p:nvGraphicFramePr>
          <p:cNvPr id="16" name="Chart 1" descr=""/>
          <p:cNvGraphicFramePr/>
          <p:nvPr/>
        </p:nvGraphicFramePr>
        <p:xfrm>
          <a:off x="4370832" y="1655064"/>
          <a:ext cx="3730752" cy="1261872"/>
        </p:xfrm>
        <a:graphic xmlns:a="http://schemas.openxmlformats.org/drawingml/2006/main">
          <a:graphicData uri="http://schemas.openxmlformats.org/drawingml/2006/chart">
            <c:chart xmlns:c="http://schemas.openxmlformats.org/drawingml/2006/chart" r:id="rId2"/>
          </a:graphicData>
        </a:graphic>
      </p:graphicFrame>
      <p:sp>
        <p:nvSpPr>
          <p:cNvPr id="17" name="Text 13"/>
          <p:cNvSpPr txBox="1"/>
          <p:nvPr/>
        </p:nvSpPr>
        <p:spPr>
          <a:xfrm>
            <a:off x="4370832" y="2953512"/>
            <a:ext cx="3730752" cy="365760"/>
          </a:xfrm>
          <a:prstGeom prst="rect">
            <a:avLst/>
          </a:prstGeom>
          <a:noFill/>
          <a:ln/>
        </p:spPr>
        <p:txBody>
          <a:bodyPr wrap="square" lIns="0" tIns="0" rIns="0" bIns="0" rtlCol="0" anchor="t"/>
          <a:lstStyle/>
          <a:p>
            <a:pPr indent="0" marL="0">
              <a:buNone/>
            </a:pPr>
            <a:r>
              <a:rPr lang="en-US" sz="850" dirty="0">
                <a:solidFill>
                  <a:srgbClr val="595959"/>
                </a:solidFill>
                <a:latin typeface="Arial" pitchFamily="34" charset="0"/>
                <a:ea typeface="Arial" pitchFamily="34" charset="-122"/>
                <a:cs typeface="Arial" pitchFamily="34" charset="-120"/>
              </a:rPr>
              <a:t>Index levels, end-2021 = 100: −10–25% in 2022, then 2–3×. KOSPI fell ~25% from June to late August 2026.</a:t>
            </a:r>
            <a:endParaRPr lang="en-US" sz="850" dirty="0"/>
          </a:p>
        </p:txBody>
      </p:sp>
      <p:sp>
        <p:nvSpPr>
          <p:cNvPr id="18" name="Shape 14"/>
          <p:cNvSpPr/>
          <p:nvPr/>
        </p:nvSpPr>
        <p:spPr>
          <a:xfrm>
            <a:off x="457200" y="3383280"/>
            <a:ext cx="3730752" cy="292608"/>
          </a:xfrm>
          <a:prstGeom prst="rect">
            <a:avLst/>
          </a:prstGeom>
          <a:solidFill>
            <a:srgbClr val="2C5F82"/>
          </a:solidFill>
          <a:ln w="12700">
            <a:solidFill>
              <a:srgbClr val="2C5F82"/>
            </a:solidFill>
            <a:prstDash val="solid"/>
          </a:ln>
        </p:spPr>
      </p:sp>
      <p:sp>
        <p:nvSpPr>
          <p:cNvPr id="19" name="Text 15"/>
          <p:cNvSpPr txBox="1"/>
          <p:nvPr/>
        </p:nvSpPr>
        <p:spPr>
          <a:xfrm>
            <a:off x="457200" y="3383280"/>
            <a:ext cx="3730752"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Long bonds carry rate risk</a:t>
            </a:r>
            <a:endParaRPr lang="en-US" sz="1050" dirty="0"/>
          </a:p>
        </p:txBody>
      </p:sp>
      <p:graphicFrame>
        <p:nvGraphicFramePr>
          <p:cNvPr id="20" name="Chart 2" descr=""/>
          <p:cNvGraphicFramePr/>
          <p:nvPr/>
        </p:nvGraphicFramePr>
        <p:xfrm>
          <a:off x="457200" y="3712464"/>
          <a:ext cx="3730752" cy="1261872"/>
        </p:xfrm>
        <a:graphic xmlns:a="http://schemas.openxmlformats.org/drawingml/2006/main">
          <a:graphicData uri="http://schemas.openxmlformats.org/drawingml/2006/chart">
            <c:chart xmlns:c="http://schemas.openxmlformats.org/drawingml/2006/chart" r:id="rId3"/>
          </a:graphicData>
        </a:graphic>
      </p:graphicFrame>
      <p:sp>
        <p:nvSpPr>
          <p:cNvPr id="21" name="Text 16"/>
          <p:cNvSpPr txBox="1"/>
          <p:nvPr/>
        </p:nvSpPr>
        <p:spPr>
          <a:xfrm>
            <a:off x="457200" y="5010912"/>
            <a:ext cx="3730752" cy="365760"/>
          </a:xfrm>
          <a:prstGeom prst="rect">
            <a:avLst/>
          </a:prstGeom>
          <a:noFill/>
          <a:ln/>
        </p:spPr>
        <p:txBody>
          <a:bodyPr wrap="square" lIns="0" tIns="0" rIns="0" bIns="0" rtlCol="0" anchor="t"/>
          <a:lstStyle/>
          <a:p>
            <a:pPr indent="0" marL="0">
              <a:buNone/>
            </a:pPr>
            <a:r>
              <a:rPr lang="en-US" sz="850" dirty="0">
                <a:solidFill>
                  <a:srgbClr val="595959"/>
                </a:solidFill>
                <a:latin typeface="Arial" pitchFamily="34" charset="0"/>
                <a:ea typeface="Arial" pitchFamily="34" charset="-122"/>
                <a:cs typeface="Arial" pitchFamily="34" charset="-120"/>
              </a:rPr>
              <a:t>Value change of a 5-year USD bond (5.69% coupon) for parallel rate moves of −2% to +2%.</a:t>
            </a:r>
            <a:endParaRPr lang="en-US" sz="850" dirty="0"/>
          </a:p>
        </p:txBody>
      </p:sp>
      <p:sp>
        <p:nvSpPr>
          <p:cNvPr id="22" name="Shape 17"/>
          <p:cNvSpPr/>
          <p:nvPr/>
        </p:nvSpPr>
        <p:spPr>
          <a:xfrm>
            <a:off x="4370832" y="3383280"/>
            <a:ext cx="3730752" cy="292608"/>
          </a:xfrm>
          <a:prstGeom prst="rect">
            <a:avLst/>
          </a:prstGeom>
          <a:solidFill>
            <a:srgbClr val="2C5F82"/>
          </a:solidFill>
          <a:ln w="12700">
            <a:solidFill>
              <a:srgbClr val="2C5F82"/>
            </a:solidFill>
            <a:prstDash val="solid"/>
          </a:ln>
        </p:spPr>
      </p:sp>
      <p:sp>
        <p:nvSpPr>
          <p:cNvPr id="23" name="Text 18"/>
          <p:cNvSpPr txBox="1"/>
          <p:nvPr/>
        </p:nvSpPr>
        <p:spPr>
          <a:xfrm>
            <a:off x="4370832" y="3383280"/>
            <a:ext cx="3730752"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Valuations already price in a lot</a:t>
            </a:r>
            <a:endParaRPr lang="en-US" sz="1050" dirty="0"/>
          </a:p>
        </p:txBody>
      </p:sp>
      <p:graphicFrame>
        <p:nvGraphicFramePr>
          <p:cNvPr id="24" name="Chart 3" descr=""/>
          <p:cNvGraphicFramePr/>
          <p:nvPr/>
        </p:nvGraphicFramePr>
        <p:xfrm>
          <a:off x="4370832" y="3712464"/>
          <a:ext cx="3730752" cy="1261872"/>
        </p:xfrm>
        <a:graphic xmlns:a="http://schemas.openxmlformats.org/drawingml/2006/main">
          <a:graphicData uri="http://schemas.openxmlformats.org/drawingml/2006/chart">
            <c:chart xmlns:c="http://schemas.openxmlformats.org/drawingml/2006/chart" r:id="rId4"/>
          </a:graphicData>
        </a:graphic>
      </p:graphicFrame>
      <p:sp>
        <p:nvSpPr>
          <p:cNvPr id="25" name="Text 19"/>
          <p:cNvSpPr txBox="1"/>
          <p:nvPr/>
        </p:nvSpPr>
        <p:spPr>
          <a:xfrm>
            <a:off x="4370832" y="5010912"/>
            <a:ext cx="3730752" cy="365760"/>
          </a:xfrm>
          <a:prstGeom prst="rect">
            <a:avLst/>
          </a:prstGeom>
          <a:noFill/>
          <a:ln/>
        </p:spPr>
        <p:txBody>
          <a:bodyPr wrap="square" lIns="0" tIns="0" rIns="0" bIns="0" rtlCol="0" anchor="t"/>
          <a:lstStyle/>
          <a:p>
            <a:pPr indent="0" marL="0">
              <a:buNone/>
            </a:pPr>
            <a:r>
              <a:rPr lang="en-US" sz="850" dirty="0">
                <a:solidFill>
                  <a:srgbClr val="595959"/>
                </a:solidFill>
                <a:latin typeface="Arial" pitchFamily="34" charset="0"/>
                <a:ea typeface="Arial" pitchFamily="34" charset="-122"/>
                <a:cs typeface="Arial" pitchFamily="34" charset="-120"/>
              </a:rPr>
              <a:t>Siblis Research, 1 Jul 2026. Korea's gap assumes earnings roughly triple; Nikkei CAPE 38.6×; Taiwan among the most expensive markets.</a:t>
            </a:r>
            <a:endParaRPr lang="en-US" sz="850" dirty="0"/>
          </a:p>
        </p:txBody>
      </p:sp>
      <p:sp>
        <p:nvSpPr>
          <p:cNvPr id="26" name="Text 20"/>
          <p:cNvSpPr txBox="1"/>
          <p:nvPr/>
        </p:nvSpPr>
        <p:spPr>
          <a:xfrm>
            <a:off x="8211312" y="1280160"/>
            <a:ext cx="3520440" cy="320040"/>
          </a:xfrm>
          <a:prstGeom prst="rect">
            <a:avLst/>
          </a:prstGeom>
          <a:noFill/>
          <a:ln/>
        </p:spPr>
        <p:txBody>
          <a:bodyPr wrap="square" lIns="0" tIns="0" rIns="0" bIns="0" rtlCol="0" anchor="t"/>
          <a:lstStyle/>
          <a:p>
            <a:pPr algn="ctr" indent="0" marL="0">
              <a:buNone/>
            </a:pPr>
            <a:r>
              <a:rPr lang="en-US" sz="1500" b="1" dirty="0">
                <a:solidFill>
                  <a:srgbClr val="262626"/>
                </a:solidFill>
                <a:latin typeface="Arial" pitchFamily="34" charset="0"/>
                <a:ea typeface="Arial" pitchFamily="34" charset="-122"/>
                <a:cs typeface="Arial" pitchFamily="34" charset="-120"/>
              </a:rPr>
              <a:t>Implications</a:t>
            </a:r>
            <a:endParaRPr lang="en-US" sz="1500" dirty="0"/>
          </a:p>
        </p:txBody>
      </p:sp>
      <p:sp>
        <p:nvSpPr>
          <p:cNvPr id="27" name="Shape 21"/>
          <p:cNvSpPr/>
          <p:nvPr/>
        </p:nvSpPr>
        <p:spPr>
          <a:xfrm>
            <a:off x="8485632" y="1627632"/>
            <a:ext cx="2971800" cy="0"/>
          </a:xfrm>
          <a:prstGeom prst="line">
            <a:avLst/>
          </a:prstGeom>
          <a:noFill/>
          <a:ln w="9525">
            <a:solidFill>
              <a:srgbClr val="2C5F82"/>
            </a:solidFill>
            <a:prstDash val="solid"/>
          </a:ln>
        </p:spPr>
      </p:sp>
      <p:sp>
        <p:nvSpPr>
          <p:cNvPr id="28" name="Text 22"/>
          <p:cNvSpPr txBox="1"/>
          <p:nvPr/>
        </p:nvSpPr>
        <p:spPr>
          <a:xfrm>
            <a:off x="8211312" y="1645920"/>
            <a:ext cx="3520440" cy="274320"/>
          </a:xfrm>
          <a:prstGeom prst="rect">
            <a:avLst/>
          </a:prstGeom>
          <a:noFill/>
          <a:ln/>
        </p:spPr>
        <p:txBody>
          <a:bodyPr wrap="square" lIns="0" tIns="0" rIns="0" bIns="0" rtlCol="0" anchor="t"/>
          <a:lstStyle/>
          <a:p>
            <a:pPr algn="ctr" indent="0" marL="0">
              <a:buNone/>
            </a:pPr>
            <a:r>
              <a:rPr lang="en-US" sz="800" i="1" dirty="0">
                <a:solidFill>
                  <a:srgbClr val="595959"/>
                </a:solidFill>
                <a:latin typeface="Arial" pitchFamily="34" charset="0"/>
                <a:ea typeface="Arial" pitchFamily="34" charset="-122"/>
                <a:cs typeface="Arial" pitchFamily="34" charset="-120"/>
              </a:rPr>
              <a:t>Market proof: Taiwan structured-note issuance +81% in 2025, snowball autocalls the favourite payoff (SRP)</a:t>
            </a:r>
            <a:endParaRPr lang="en-US" sz="800" dirty="0"/>
          </a:p>
        </p:txBody>
      </p:sp>
      <p:sp>
        <p:nvSpPr>
          <p:cNvPr id="29" name="Shape 23"/>
          <p:cNvSpPr/>
          <p:nvPr/>
        </p:nvSpPr>
        <p:spPr>
          <a:xfrm>
            <a:off x="8211312" y="1938528"/>
            <a:ext cx="3520440" cy="621792"/>
          </a:xfrm>
          <a:prstGeom prst="rect">
            <a:avLst/>
          </a:prstGeom>
          <a:solidFill>
            <a:srgbClr val="FFFFFF"/>
          </a:solidFill>
          <a:ln w="12700">
            <a:solidFill>
              <a:srgbClr val="2C5F82"/>
            </a:solidFill>
            <a:prstDash val="solid"/>
          </a:ln>
        </p:spPr>
      </p:sp>
      <p:sp>
        <p:nvSpPr>
          <p:cNvPr id="30" name="Text 24"/>
          <p:cNvSpPr txBox="1"/>
          <p:nvPr/>
        </p:nvSpPr>
        <p:spPr>
          <a:xfrm>
            <a:off x="8257032" y="1938528"/>
            <a:ext cx="411480" cy="621792"/>
          </a:xfrm>
          <a:prstGeom prst="rect">
            <a:avLst/>
          </a:prstGeom>
          <a:noFill/>
          <a:ln/>
        </p:spPr>
        <p:txBody>
          <a:bodyPr wrap="square" lIns="0" tIns="0" rIns="0" bIns="0" rtlCol="0" anchor="ctr"/>
          <a:lstStyle/>
          <a:p>
            <a:pPr algn="ctr" indent="0" marL="0">
              <a:buNone/>
            </a:pPr>
            <a:r>
              <a:rPr lang="en-US" sz="2200" b="1" i="1" dirty="0">
                <a:solidFill>
                  <a:srgbClr val="2C5F82"/>
                </a:solidFill>
                <a:latin typeface="Arial" pitchFamily="34" charset="0"/>
                <a:ea typeface="Arial" pitchFamily="34" charset="-122"/>
                <a:cs typeface="Arial" pitchFamily="34" charset="-120"/>
              </a:rPr>
              <a:t>1</a:t>
            </a:r>
            <a:endParaRPr lang="en-US" sz="2200" dirty="0"/>
          </a:p>
        </p:txBody>
      </p:sp>
      <p:sp>
        <p:nvSpPr>
          <p:cNvPr id="31" name="Text 25"/>
          <p:cNvSpPr txBox="1"/>
          <p:nvPr/>
        </p:nvSpPr>
        <p:spPr>
          <a:xfrm>
            <a:off x="8714232" y="1956816"/>
            <a:ext cx="2926080" cy="585216"/>
          </a:xfrm>
          <a:prstGeom prst="rect">
            <a:avLst/>
          </a:prstGeom>
          <a:noFill/>
          <a:ln/>
        </p:spPr>
        <p:txBody>
          <a:bodyPr wrap="square" lIns="0" tIns="0" rIns="0" bIns="0" rtlCol="0" anchor="ctr"/>
          <a:lstStyle/>
          <a:p>
            <a:pPr indent="0" marL="0">
              <a:buNone/>
            </a:pPr>
            <a:r>
              <a:rPr lang="en-US" sz="880" b="1" dirty="0">
                <a:solidFill>
                  <a:srgbClr val="262626"/>
                </a:solidFill>
                <a:latin typeface="Arial" pitchFamily="34" charset="0"/>
                <a:ea typeface="Arial" pitchFamily="34" charset="-122"/>
                <a:cs typeface="Arial" pitchFamily="34" charset="-120"/>
              </a:rPr>
              <a:t>Early exit beats duration: </a:t>
            </a:r>
            <a:pPr indent="0" marL="0">
              <a:buNone/>
            </a:pPr>
            <a:r>
              <a:rPr lang="en-US" sz="880" dirty="0">
                <a:solidFill>
                  <a:srgbClr val="595959"/>
                </a:solidFill>
                <a:latin typeface="Arial" pitchFamily="34" charset="0"/>
                <a:ea typeface="Arial" pitchFamily="34" charset="-122"/>
                <a:cs typeface="Arial" pitchFamily="34" charset="-120"/>
              </a:rPr>
              <a:t>Bonds lose ~4.0% per 1% rate rise; autocalls can redeem from year 1</a:t>
            </a:r>
            <a:endParaRPr lang="en-US" sz="880" dirty="0"/>
          </a:p>
        </p:txBody>
      </p:sp>
      <p:sp>
        <p:nvSpPr>
          <p:cNvPr id="32" name="Shape 26"/>
          <p:cNvSpPr/>
          <p:nvPr/>
        </p:nvSpPr>
        <p:spPr>
          <a:xfrm>
            <a:off x="8211312" y="2633472"/>
            <a:ext cx="3520440" cy="621792"/>
          </a:xfrm>
          <a:prstGeom prst="rect">
            <a:avLst/>
          </a:prstGeom>
          <a:solidFill>
            <a:srgbClr val="FFFFFF"/>
          </a:solidFill>
          <a:ln w="12700">
            <a:solidFill>
              <a:srgbClr val="2C5F82"/>
            </a:solidFill>
            <a:prstDash val="solid"/>
          </a:ln>
        </p:spPr>
      </p:sp>
      <p:sp>
        <p:nvSpPr>
          <p:cNvPr id="33" name="Text 27"/>
          <p:cNvSpPr txBox="1"/>
          <p:nvPr/>
        </p:nvSpPr>
        <p:spPr>
          <a:xfrm>
            <a:off x="8257032" y="2633472"/>
            <a:ext cx="411480" cy="621792"/>
          </a:xfrm>
          <a:prstGeom prst="rect">
            <a:avLst/>
          </a:prstGeom>
          <a:noFill/>
          <a:ln/>
        </p:spPr>
        <p:txBody>
          <a:bodyPr wrap="square" lIns="0" tIns="0" rIns="0" bIns="0" rtlCol="0" anchor="ctr"/>
          <a:lstStyle/>
          <a:p>
            <a:pPr algn="ctr" indent="0" marL="0">
              <a:buNone/>
            </a:pPr>
            <a:r>
              <a:rPr lang="en-US" sz="2200" b="1" i="1" dirty="0">
                <a:solidFill>
                  <a:srgbClr val="2C5F82"/>
                </a:solidFill>
                <a:latin typeface="Arial" pitchFamily="34" charset="0"/>
                <a:ea typeface="Arial" pitchFamily="34" charset="-122"/>
                <a:cs typeface="Arial" pitchFamily="34" charset="-120"/>
              </a:rPr>
              <a:t>2</a:t>
            </a:r>
            <a:endParaRPr lang="en-US" sz="2200" dirty="0"/>
          </a:p>
        </p:txBody>
      </p:sp>
      <p:sp>
        <p:nvSpPr>
          <p:cNvPr id="34" name="Text 28"/>
          <p:cNvSpPr txBox="1"/>
          <p:nvPr/>
        </p:nvSpPr>
        <p:spPr>
          <a:xfrm>
            <a:off x="8714232" y="2651760"/>
            <a:ext cx="2926080" cy="585216"/>
          </a:xfrm>
          <a:prstGeom prst="rect">
            <a:avLst/>
          </a:prstGeom>
          <a:noFill/>
          <a:ln/>
        </p:spPr>
        <p:txBody>
          <a:bodyPr wrap="square" lIns="0" tIns="0" rIns="0" bIns="0" rtlCol="0" anchor="ctr"/>
          <a:lstStyle/>
          <a:p>
            <a:pPr indent="0" marL="0">
              <a:buNone/>
            </a:pPr>
            <a:r>
              <a:rPr lang="en-US" sz="880" b="1" dirty="0">
                <a:solidFill>
                  <a:srgbClr val="262626"/>
                </a:solidFill>
                <a:latin typeface="Arial" pitchFamily="34" charset="0"/>
                <a:ea typeface="Arial" pitchFamily="34" charset="-122"/>
                <a:cs typeface="Arial" pitchFamily="34" charset="-120"/>
              </a:rPr>
              <a:t>Paid on recovery, not timing: </a:t>
            </a:r>
            <a:pPr indent="0" marL="0">
              <a:buNone/>
            </a:pPr>
            <a:r>
              <a:rPr lang="en-US" sz="880" dirty="0">
                <a:solidFill>
                  <a:srgbClr val="595959"/>
                </a:solidFill>
                <a:latin typeface="Arial" pitchFamily="34" charset="0"/>
                <a:ea typeface="Arial" pitchFamily="34" charset="-122"/>
                <a:cs typeface="Arial" pitchFamily="34" charset="-120"/>
              </a:rPr>
              <a:t>−25% in ten weeks (KOSPI 2026): autocall coupons pay once the basket is back at its start</a:t>
            </a:r>
            <a:endParaRPr lang="en-US" sz="880" dirty="0"/>
          </a:p>
        </p:txBody>
      </p:sp>
      <p:sp>
        <p:nvSpPr>
          <p:cNvPr id="35" name="Shape 29"/>
          <p:cNvSpPr/>
          <p:nvPr/>
        </p:nvSpPr>
        <p:spPr>
          <a:xfrm>
            <a:off x="8211312" y="3328416"/>
            <a:ext cx="3520440" cy="621792"/>
          </a:xfrm>
          <a:prstGeom prst="rect">
            <a:avLst/>
          </a:prstGeom>
          <a:solidFill>
            <a:srgbClr val="FFFFFF"/>
          </a:solidFill>
          <a:ln w="12700">
            <a:solidFill>
              <a:srgbClr val="2C5F82"/>
            </a:solidFill>
            <a:prstDash val="solid"/>
          </a:ln>
        </p:spPr>
      </p:sp>
      <p:sp>
        <p:nvSpPr>
          <p:cNvPr id="36" name="Text 30"/>
          <p:cNvSpPr txBox="1"/>
          <p:nvPr/>
        </p:nvSpPr>
        <p:spPr>
          <a:xfrm>
            <a:off x="8257032" y="3328416"/>
            <a:ext cx="411480" cy="621792"/>
          </a:xfrm>
          <a:prstGeom prst="rect">
            <a:avLst/>
          </a:prstGeom>
          <a:noFill/>
          <a:ln/>
        </p:spPr>
        <p:txBody>
          <a:bodyPr wrap="square" lIns="0" tIns="0" rIns="0" bIns="0" rtlCol="0" anchor="ctr"/>
          <a:lstStyle/>
          <a:p>
            <a:pPr algn="ctr" indent="0" marL="0">
              <a:buNone/>
            </a:pPr>
            <a:r>
              <a:rPr lang="en-US" sz="2200" b="1" i="1" dirty="0">
                <a:solidFill>
                  <a:srgbClr val="2C5F82"/>
                </a:solidFill>
                <a:latin typeface="Arial" pitchFamily="34" charset="0"/>
                <a:ea typeface="Arial" pitchFamily="34" charset="-122"/>
                <a:cs typeface="Arial" pitchFamily="34" charset="-120"/>
              </a:rPr>
              <a:t>3</a:t>
            </a:r>
            <a:endParaRPr lang="en-US" sz="2200" dirty="0"/>
          </a:p>
        </p:txBody>
      </p:sp>
      <p:sp>
        <p:nvSpPr>
          <p:cNvPr id="37" name="Text 31"/>
          <p:cNvSpPr txBox="1"/>
          <p:nvPr/>
        </p:nvSpPr>
        <p:spPr>
          <a:xfrm>
            <a:off x="8714232" y="3346704"/>
            <a:ext cx="2926080" cy="585216"/>
          </a:xfrm>
          <a:prstGeom prst="rect">
            <a:avLst/>
          </a:prstGeom>
          <a:noFill/>
          <a:ln/>
        </p:spPr>
        <p:txBody>
          <a:bodyPr wrap="square" lIns="0" tIns="0" rIns="0" bIns="0" rtlCol="0" anchor="ctr"/>
          <a:lstStyle/>
          <a:p>
            <a:pPr indent="0" marL="0">
              <a:buNone/>
            </a:pPr>
            <a:r>
              <a:rPr lang="en-US" sz="880" b="1" dirty="0">
                <a:solidFill>
                  <a:srgbClr val="262626"/>
                </a:solidFill>
                <a:latin typeface="Arial" pitchFamily="34" charset="0"/>
                <a:ea typeface="Arial" pitchFamily="34" charset="-122"/>
                <a:cs typeface="Arial" pitchFamily="34" charset="-120"/>
              </a:rPr>
              <a:t>Diversify the basket: </a:t>
            </a:r>
            <a:pPr indent="0" marL="0">
              <a:buNone/>
            </a:pPr>
            <a:r>
              <a:rPr lang="en-US" sz="880" dirty="0">
                <a:solidFill>
                  <a:srgbClr val="595959"/>
                </a:solidFill>
                <a:latin typeface="Arial" pitchFamily="34" charset="0"/>
                <a:ea typeface="Arial" pitchFamily="34" charset="-122"/>
                <a:cs typeface="Arial" pitchFamily="34" charset="-120"/>
              </a:rPr>
              <a:t>TSMC &gt;40% of TAIEX, ~92% of advanced chips from Taiwan: use a diversified ETF basket, not worst-of</a:t>
            </a:r>
            <a:endParaRPr lang="en-US" sz="880" dirty="0"/>
          </a:p>
        </p:txBody>
      </p:sp>
      <p:sp>
        <p:nvSpPr>
          <p:cNvPr id="38" name="Shape 32"/>
          <p:cNvSpPr/>
          <p:nvPr/>
        </p:nvSpPr>
        <p:spPr>
          <a:xfrm>
            <a:off x="8211312" y="4023360"/>
            <a:ext cx="3520440" cy="621792"/>
          </a:xfrm>
          <a:prstGeom prst="rect">
            <a:avLst/>
          </a:prstGeom>
          <a:solidFill>
            <a:srgbClr val="FFFFFF"/>
          </a:solidFill>
          <a:ln w="12700">
            <a:solidFill>
              <a:srgbClr val="2C5F82"/>
            </a:solidFill>
            <a:prstDash val="solid"/>
          </a:ln>
        </p:spPr>
      </p:sp>
      <p:sp>
        <p:nvSpPr>
          <p:cNvPr id="39" name="Text 33"/>
          <p:cNvSpPr txBox="1"/>
          <p:nvPr/>
        </p:nvSpPr>
        <p:spPr>
          <a:xfrm>
            <a:off x="8257032" y="4023360"/>
            <a:ext cx="411480" cy="621792"/>
          </a:xfrm>
          <a:prstGeom prst="rect">
            <a:avLst/>
          </a:prstGeom>
          <a:noFill/>
          <a:ln/>
        </p:spPr>
        <p:txBody>
          <a:bodyPr wrap="square" lIns="0" tIns="0" rIns="0" bIns="0" rtlCol="0" anchor="ctr"/>
          <a:lstStyle/>
          <a:p>
            <a:pPr algn="ctr" indent="0" marL="0">
              <a:buNone/>
            </a:pPr>
            <a:r>
              <a:rPr lang="en-US" sz="2200" b="1" i="1" dirty="0">
                <a:solidFill>
                  <a:srgbClr val="2C5F82"/>
                </a:solidFill>
                <a:latin typeface="Arial" pitchFamily="34" charset="0"/>
                <a:ea typeface="Arial" pitchFamily="34" charset="-122"/>
                <a:cs typeface="Arial" pitchFamily="34" charset="-120"/>
              </a:rPr>
              <a:t>4</a:t>
            </a:r>
            <a:endParaRPr lang="en-US" sz="2200" dirty="0"/>
          </a:p>
        </p:txBody>
      </p:sp>
      <p:sp>
        <p:nvSpPr>
          <p:cNvPr id="40" name="Text 34"/>
          <p:cNvSpPr txBox="1"/>
          <p:nvPr/>
        </p:nvSpPr>
        <p:spPr>
          <a:xfrm>
            <a:off x="8714232" y="4041648"/>
            <a:ext cx="2926080" cy="585216"/>
          </a:xfrm>
          <a:prstGeom prst="rect">
            <a:avLst/>
          </a:prstGeom>
          <a:noFill/>
          <a:ln/>
        </p:spPr>
        <p:txBody>
          <a:bodyPr wrap="square" lIns="0" tIns="0" rIns="0" bIns="0" rtlCol="0" anchor="ctr"/>
          <a:lstStyle/>
          <a:p>
            <a:pPr indent="0" marL="0">
              <a:buNone/>
            </a:pPr>
            <a:r>
              <a:rPr lang="en-US" sz="880" b="1" dirty="0">
                <a:solidFill>
                  <a:srgbClr val="262626"/>
                </a:solidFill>
                <a:latin typeface="Arial" pitchFamily="34" charset="0"/>
                <a:ea typeface="Arial" pitchFamily="34" charset="-122"/>
                <a:cs typeface="Arial" pitchFamily="34" charset="-120"/>
              </a:rPr>
              <a:t>Volatility funds the coupon: </a:t>
            </a:r>
            <a:pPr indent="0" marL="0">
              <a:buNone/>
            </a:pPr>
            <a:r>
              <a:rPr lang="en-US" sz="880" dirty="0">
                <a:solidFill>
                  <a:srgbClr val="595959"/>
                </a:solidFill>
                <a:latin typeface="Arial" pitchFamily="34" charset="0"/>
                <a:ea typeface="Arial" pitchFamily="34" charset="-122"/>
                <a:cs typeface="Arial" pitchFamily="34" charset="-120"/>
              </a:rPr>
              <a:t>VKOSPI at a record 91.2: richer option premium means higher autocall coupons</a:t>
            </a:r>
            <a:endParaRPr lang="en-US" sz="880" dirty="0"/>
          </a:p>
        </p:txBody>
      </p:sp>
      <p:sp>
        <p:nvSpPr>
          <p:cNvPr id="41" name="Shape 35"/>
          <p:cNvSpPr/>
          <p:nvPr/>
        </p:nvSpPr>
        <p:spPr>
          <a:xfrm>
            <a:off x="8211312" y="4718304"/>
            <a:ext cx="3520440" cy="621792"/>
          </a:xfrm>
          <a:prstGeom prst="rect">
            <a:avLst/>
          </a:prstGeom>
          <a:solidFill>
            <a:srgbClr val="FFFFFF"/>
          </a:solidFill>
          <a:ln w="12700">
            <a:solidFill>
              <a:srgbClr val="2C5F82"/>
            </a:solidFill>
            <a:prstDash val="solid"/>
          </a:ln>
        </p:spPr>
      </p:sp>
      <p:sp>
        <p:nvSpPr>
          <p:cNvPr id="42" name="Text 36"/>
          <p:cNvSpPr txBox="1"/>
          <p:nvPr/>
        </p:nvSpPr>
        <p:spPr>
          <a:xfrm>
            <a:off x="8257032" y="4718304"/>
            <a:ext cx="411480" cy="621792"/>
          </a:xfrm>
          <a:prstGeom prst="rect">
            <a:avLst/>
          </a:prstGeom>
          <a:noFill/>
          <a:ln/>
        </p:spPr>
        <p:txBody>
          <a:bodyPr wrap="square" lIns="0" tIns="0" rIns="0" bIns="0" rtlCol="0" anchor="ctr"/>
          <a:lstStyle/>
          <a:p>
            <a:pPr algn="ctr" indent="0" marL="0">
              <a:buNone/>
            </a:pPr>
            <a:r>
              <a:rPr lang="en-US" sz="2200" b="1" i="1" dirty="0">
                <a:solidFill>
                  <a:srgbClr val="2C5F82"/>
                </a:solidFill>
                <a:latin typeface="Arial" pitchFamily="34" charset="0"/>
                <a:ea typeface="Arial" pitchFamily="34" charset="-122"/>
                <a:cs typeface="Arial" pitchFamily="34" charset="-120"/>
              </a:rPr>
              <a:t>5</a:t>
            </a:r>
            <a:endParaRPr lang="en-US" sz="2200" dirty="0"/>
          </a:p>
        </p:txBody>
      </p:sp>
      <p:sp>
        <p:nvSpPr>
          <p:cNvPr id="43" name="Text 37"/>
          <p:cNvSpPr txBox="1"/>
          <p:nvPr/>
        </p:nvSpPr>
        <p:spPr>
          <a:xfrm>
            <a:off x="8714232" y="4736592"/>
            <a:ext cx="2926080" cy="585216"/>
          </a:xfrm>
          <a:prstGeom prst="rect">
            <a:avLst/>
          </a:prstGeom>
          <a:noFill/>
          <a:ln/>
        </p:spPr>
        <p:txBody>
          <a:bodyPr wrap="square" lIns="0" tIns="0" rIns="0" bIns="0" rtlCol="0" anchor="ctr"/>
          <a:lstStyle/>
          <a:p>
            <a:pPr indent="0" marL="0">
              <a:buNone/>
            </a:pPr>
            <a:r>
              <a:rPr lang="en-US" sz="880" b="1" dirty="0">
                <a:solidFill>
                  <a:srgbClr val="262626"/>
                </a:solidFill>
                <a:latin typeface="Arial" pitchFamily="34" charset="0"/>
                <a:ea typeface="Arial" pitchFamily="34" charset="-122"/>
                <a:cs typeface="Arial" pitchFamily="34" charset="-120"/>
              </a:rPr>
              <a:t>Protection is affordable: </a:t>
            </a:r>
            <a:pPr indent="0" marL="0">
              <a:buNone/>
            </a:pPr>
            <a:r>
              <a:rPr lang="en-US" sz="880" dirty="0">
                <a:solidFill>
                  <a:srgbClr val="595959"/>
                </a:solidFill>
                <a:latin typeface="Arial" pitchFamily="34" charset="0"/>
                <a:ea typeface="Arial" pitchFamily="34" charset="-122"/>
                <a:cs typeface="Arial" pitchFamily="34" charset="-120"/>
              </a:rPr>
              <a:t>USD 100 in 5 years costs USD 75.8 at 5.69%: a buffer and a 70% floor fit inside an autocall</a:t>
            </a:r>
            <a:endParaRPr lang="en-US" sz="880" dirty="0"/>
          </a:p>
        </p:txBody>
      </p:sp>
      <p:sp>
        <p:nvSpPr>
          <p:cNvPr id="44" name="Shape 38"/>
          <p:cNvSpPr/>
          <p:nvPr/>
        </p:nvSpPr>
        <p:spPr>
          <a:xfrm>
            <a:off x="457200" y="5486400"/>
            <a:ext cx="11274552" cy="438912"/>
          </a:xfrm>
          <a:prstGeom prst="rect">
            <a:avLst/>
          </a:prstGeom>
          <a:solidFill>
            <a:srgbClr val="2C5F82"/>
          </a:solidFill>
          <a:ln w="12700">
            <a:solidFill>
              <a:srgbClr val="2C5F82"/>
            </a:solidFill>
            <a:prstDash val="solid"/>
          </a:ln>
        </p:spPr>
      </p:sp>
      <p:sp>
        <p:nvSpPr>
          <p:cNvPr id="45" name="Text 39"/>
          <p:cNvSpPr txBox="1"/>
          <p:nvPr/>
        </p:nvSpPr>
        <p:spPr>
          <a:xfrm>
            <a:off x="594360" y="5486400"/>
            <a:ext cx="1100023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Plain bonds and equities leave investors exposed; a buffered autocall with a 70% floor keeps the theme and manages the risks.</a:t>
            </a:r>
            <a:endParaRPr lang="en-US" sz="1200" dirty="0"/>
          </a:p>
        </p:txBody>
      </p:sp>
      <p:sp>
        <p:nvSpPr>
          <p:cNvPr id="46" name="Text 40"/>
          <p:cNvSpPr txBox="1"/>
          <p:nvPr/>
        </p:nvSpPr>
        <p:spPr>
          <a:xfrm>
            <a:off x="457200" y="5998464"/>
            <a:ext cx="11274552" cy="274320"/>
          </a:xfrm>
          <a:prstGeom prst="rect">
            <a:avLst/>
          </a:prstGeom>
          <a:noFill/>
          <a:ln/>
        </p:spPr>
        <p:txBody>
          <a:bodyPr wrap="square" lIns="0" tIns="0" rIns="0" bIns="0" rtlCol="0" anchor="t"/>
          <a:lstStyle/>
          <a:p>
            <a:pPr indent="0" marL="0">
              <a:buNone/>
            </a:pPr>
            <a:r>
              <a:rPr lang="en-US" sz="800" i="1" dirty="0">
                <a:solidFill>
                  <a:srgbClr val="595959"/>
                </a:solidFill>
                <a:latin typeface="Arial" pitchFamily="34" charset="0"/>
                <a:ea typeface="Arial" pitchFamily="34" charset="-122"/>
                <a:cs typeface="Arial" pitchFamily="34" charset="-120"/>
              </a:rPr>
              <a:t>Sources: Federal Reserve via Advisor Perspectives; TWSE, KRX/press, Nikkei (index levels); Siblis Research (P/E); Herald / SBS (VKOSPI); TrendForce; J.P. Morgan 2026 Outlook; StructuredRetailProducts.com; case funding grid with standard bond maths.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548640"/>
          </a:xfrm>
          <a:prstGeom prst="rect">
            <a:avLst/>
          </a:prstGeom>
          <a:noFill/>
          <a:ln/>
        </p:spPr>
        <p:txBody>
          <a:bodyPr wrap="square" lIns="0" tIns="0" rIns="0" bIns="0" rtlCol="0" anchor="ctr"/>
          <a:lstStyle/>
          <a:p>
            <a:pPr indent="0" marL="0">
              <a:buNone/>
            </a:pPr>
            <a:r>
              <a:rPr lang="en-US" sz="2400" dirty="0">
                <a:solidFill>
                  <a:srgbClr val="262626"/>
                </a:solidFill>
                <a:latin typeface="Arial" pitchFamily="34" charset="0"/>
                <a:ea typeface="Arial" pitchFamily="34" charset="-122"/>
                <a:cs typeface="Arial" pitchFamily="34" charset="-120"/>
              </a:rPr>
              <a:t>Appendix: sources for the investment thesis</a:t>
            </a:r>
            <a:endParaRPr lang="en-US" sz="2400" dirty="0"/>
          </a:p>
        </p:txBody>
      </p:sp>
      <p:sp>
        <p:nvSpPr>
          <p:cNvPr id="3" name="Shape 1"/>
          <p:cNvSpPr/>
          <p:nvPr/>
        </p:nvSpPr>
        <p:spPr>
          <a:xfrm>
            <a:off x="457200" y="896112"/>
            <a:ext cx="11274552" cy="0"/>
          </a:xfrm>
          <a:prstGeom prst="line">
            <a:avLst/>
          </a:prstGeom>
          <a:noFill/>
          <a:ln w="12700">
            <a:solidFill>
              <a:srgbClr val="2C5F82"/>
            </a:solidFill>
            <a:prstDash val="solid"/>
          </a:ln>
        </p:spPr>
      </p:sp>
      <p:sp>
        <p:nvSpPr>
          <p:cNvPr id="4" name="Shape 2"/>
          <p:cNvSpPr/>
          <p:nvPr/>
        </p:nvSpPr>
        <p:spPr>
          <a:xfrm>
            <a:off x="457200" y="6382512"/>
            <a:ext cx="11274552" cy="0"/>
          </a:xfrm>
          <a:prstGeom prst="line">
            <a:avLst/>
          </a:prstGeom>
          <a:noFill/>
          <a:ln w="9525">
            <a:solidFill>
              <a:srgbClr val="BFBFBF"/>
            </a:solidFill>
            <a:prstDash val="solid"/>
          </a:ln>
        </p:spPr>
      </p:sp>
      <p:sp>
        <p:nvSpPr>
          <p:cNvPr id="5" name="Text 3"/>
          <p:cNvSpPr txBox="1"/>
          <p:nvPr/>
        </p:nvSpPr>
        <p:spPr>
          <a:xfrm>
            <a:off x="457200" y="6446520"/>
            <a:ext cx="3611880" cy="274320"/>
          </a:xfrm>
          <a:prstGeom prst="rect">
            <a:avLst/>
          </a:prstGeom>
          <a:noFill/>
          <a:ln/>
        </p:spPr>
        <p:txBody>
          <a:bodyPr wrap="square" lIns="0" tIns="0" rIns="0" bIns="0" rtlCol="0" anchor="t"/>
          <a:lstStyle/>
          <a:p>
            <a:pPr algn="ctr" indent="0" marL="0">
              <a:buNone/>
            </a:pPr>
            <a:r>
              <a:rPr lang="en-US" sz="1200" spc="100" kern="0" dirty="0">
                <a:solidFill>
                  <a:srgbClr val="595959"/>
                </a:solidFill>
                <a:latin typeface="Arial" pitchFamily="34" charset="0"/>
                <a:ea typeface="Arial" pitchFamily="34" charset="-122"/>
                <a:cs typeface="Arial" pitchFamily="34" charset="-120"/>
              </a:rPr>
              <a:t>ANALYSIS</a:t>
            </a:r>
            <a:endParaRPr lang="en-US" sz="1200" dirty="0"/>
          </a:p>
        </p:txBody>
      </p:sp>
      <p:sp>
        <p:nvSpPr>
          <p:cNvPr id="6" name="Text 4"/>
          <p:cNvSpPr txBox="1"/>
          <p:nvPr/>
        </p:nvSpPr>
        <p:spPr>
          <a:xfrm>
            <a:off x="4288536" y="6446520"/>
            <a:ext cx="3611880" cy="274320"/>
          </a:xfrm>
          <a:prstGeom prst="rect">
            <a:avLst/>
          </a:prstGeom>
          <a:noFill/>
          <a:ln/>
        </p:spPr>
        <p:txBody>
          <a:bodyPr wrap="square" lIns="0" tIns="0" rIns="0" bIns="0" rtlCol="0" anchor="t"/>
          <a:lstStyle/>
          <a:p>
            <a:pPr algn="ctr" indent="0" marL="0">
              <a:buNone/>
            </a:pPr>
            <a:r>
              <a:rPr lang="en-US" sz="1200" spc="100" kern="0" dirty="0">
                <a:solidFill>
                  <a:srgbClr val="595959"/>
                </a:solidFill>
                <a:latin typeface="Arial" pitchFamily="34" charset="0"/>
                <a:ea typeface="Arial" pitchFamily="34" charset="-122"/>
                <a:cs typeface="Arial" pitchFamily="34" charset="-120"/>
              </a:rPr>
              <a:t>STRATEGY</a:t>
            </a:r>
            <a:endParaRPr lang="en-US" sz="1200" dirty="0"/>
          </a:p>
        </p:txBody>
      </p:sp>
      <p:sp>
        <p:nvSpPr>
          <p:cNvPr id="7" name="Shape 5"/>
          <p:cNvSpPr/>
          <p:nvPr/>
        </p:nvSpPr>
        <p:spPr>
          <a:xfrm>
            <a:off x="8677656" y="6364224"/>
            <a:ext cx="2514600" cy="45720"/>
          </a:xfrm>
          <a:prstGeom prst="rect">
            <a:avLst/>
          </a:prstGeom>
          <a:solidFill>
            <a:srgbClr val="2C5F82"/>
          </a:solidFill>
          <a:ln w="12700">
            <a:solidFill>
              <a:srgbClr val="2C5F82"/>
            </a:solidFill>
            <a:prstDash val="solid"/>
          </a:ln>
        </p:spPr>
      </p:sp>
      <p:sp>
        <p:nvSpPr>
          <p:cNvPr id="8" name="Text 6"/>
          <p:cNvSpPr txBox="1"/>
          <p:nvPr/>
        </p:nvSpPr>
        <p:spPr>
          <a:xfrm>
            <a:off x="8129016" y="6446520"/>
            <a:ext cx="3611880" cy="274320"/>
          </a:xfrm>
          <a:prstGeom prst="rect">
            <a:avLst/>
          </a:prstGeom>
          <a:noFill/>
          <a:ln/>
        </p:spPr>
        <p:txBody>
          <a:bodyPr wrap="square" lIns="0" tIns="0" rIns="0" bIns="0" rtlCol="0" anchor="t"/>
          <a:lstStyle/>
          <a:p>
            <a:pPr algn="ctr" indent="0" marL="0">
              <a:buNone/>
            </a:pPr>
            <a:r>
              <a:rPr lang="en-US" sz="1200" b="1" spc="100" kern="0" dirty="0">
                <a:solidFill>
                  <a:srgbClr val="2C5F82"/>
                </a:solidFill>
                <a:latin typeface="Arial" pitchFamily="34" charset="0"/>
                <a:ea typeface="Arial" pitchFamily="34" charset="-122"/>
                <a:cs typeface="Arial" pitchFamily="34" charset="-120"/>
              </a:rPr>
              <a:t>APPENDIX</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11274552" cy="914400"/>
        </p:xfrm>
        <a:graphic>
          <a:graphicData uri="http://schemas.openxmlformats.org/drawingml/2006/table">
            <a:tbl>
              <a:tblPr/>
              <a:tblGrid>
                <a:gridCol w="6583680"/>
                <a:gridCol w="4690872"/>
              </a:tblGrid>
              <a:tr h="246888">
                <a:tc>
                  <a:txBody>
                    <a:bodyPr/>
                    <a:lstStyle/>
                    <a:p>
                      <a:pPr indent="0" marL="0">
                        <a:buNone/>
                      </a:pPr>
                      <a:r>
                        <a:rPr lang="en-US" sz="850" b="1" dirty="0">
                          <a:solidFill>
                            <a:srgbClr val="FFFFFF"/>
                          </a:solidFill>
                          <a:latin typeface="Arial" pitchFamily="34" charset="0"/>
                          <a:ea typeface="Arial" pitchFamily="34" charset="-122"/>
                          <a:cs typeface="Arial" pitchFamily="34" charset="-120"/>
                        </a:rPr>
                        <a:t>Fact used</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Source</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tr>
              <a:tr h="246888">
                <a:tc>
                  <a:txBody>
                    <a:bodyPr/>
                    <a:lstStyle/>
                    <a:p>
                      <a:pPr indent="0" marL="0">
                        <a:buNone/>
                      </a:pPr>
                      <a:r>
                        <a:rPr lang="en-US" sz="850" dirty="0">
                          <a:solidFill>
                            <a:srgbClr val="262626"/>
                          </a:solidFill>
                          <a:latin typeface="Arial" pitchFamily="34" charset="0"/>
                          <a:ea typeface="Arial" pitchFamily="34" charset="-122"/>
                          <a:cs typeface="Arial" pitchFamily="34" charset="-120"/>
                        </a:rPr>
                        <a:t>TSMC ~70–73% of global foundry revenue (Q1 2026); HPC 58% of 2025 revenue; 3nm sold out through 2026</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Arial" pitchFamily="34" charset="0"/>
                          <a:ea typeface="Arial" pitchFamily="34" charset="-122"/>
                          <a:cs typeface="Arial" pitchFamily="34" charset="-120"/>
                        </a:rPr>
                        <a:t>Counterpoint via press; TSMC results (verify in TSMC quarterly reports)</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246888">
                <a:tc>
                  <a:txBody>
                    <a:bodyPr/>
                    <a:lstStyle/>
                    <a:p>
                      <a:pPr indent="0" marL="0">
                        <a:buNone/>
                      </a:pPr>
                      <a:r>
                        <a:rPr lang="en-US" sz="850" dirty="0">
                          <a:solidFill>
                            <a:srgbClr val="262626"/>
                          </a:solidFill>
                          <a:latin typeface="Arial" pitchFamily="34" charset="0"/>
                          <a:ea typeface="Arial" pitchFamily="34" charset="-122"/>
                          <a:cs typeface="Arial" pitchFamily="34" charset="-120"/>
                        </a:rPr>
                        <a:t>TSMC &gt;40% of TAIEX; TAIEX record 48,476 on 2 Oct 2026 (~+67% vs 2025 close 28,963.6)</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Arial" pitchFamily="34" charset="0"/>
                          <a:ea typeface="Arial" pitchFamily="34" charset="-122"/>
                          <a:cs typeface="Arial" pitchFamily="34" charset="-120"/>
                        </a:rPr>
                        <a:t>Trading Economics (Jul, Oct 2026); TWSE 2025 Market Highlights</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246888">
                <a:tc>
                  <a:txBody>
                    <a:bodyPr/>
                    <a:lstStyle/>
                    <a:p>
                      <a:pPr indent="0" marL="0">
                        <a:buNone/>
                      </a:pPr>
                      <a:r>
                        <a:rPr lang="en-US" sz="850" dirty="0">
                          <a:solidFill>
                            <a:srgbClr val="262626"/>
                          </a:solidFill>
                          <a:latin typeface="Arial" pitchFamily="34" charset="0"/>
                          <a:ea typeface="Arial" pitchFamily="34" charset="-122"/>
                          <a:cs typeface="Arial" pitchFamily="34" charset="-120"/>
                        </a:rPr>
                        <a:t>HBM revenue share Q2 2026: SK hynix 50%, Samsung 33%, Micron 18%</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Arial" pitchFamily="34" charset="0"/>
                          <a:ea typeface="Arial" pitchFamily="34" charset="-122"/>
                          <a:cs typeface="Arial" pitchFamily="34" charset="-120"/>
                        </a:rPr>
                        <a:t>Counterpoint Research, Global DRAM and HBM Market Share</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246888">
                <a:tc>
                  <a:txBody>
                    <a:bodyPr/>
                    <a:lstStyle/>
                    <a:p>
                      <a:pPr indent="0" marL="0">
                        <a:buNone/>
                      </a:pPr>
                      <a:r>
                        <a:rPr lang="en-US" sz="850" dirty="0">
                          <a:solidFill>
                            <a:srgbClr val="262626"/>
                          </a:solidFill>
                          <a:latin typeface="Arial" pitchFamily="34" charset="0"/>
                          <a:ea typeface="Arial" pitchFamily="34" charset="-122"/>
                          <a:cs typeface="Arial" pitchFamily="34" charset="-120"/>
                        </a:rPr>
                        <a:t>DRAM contract prices: Q2 2026 +45–50% q/q (consumer), Q3 +13–18%, Q4e +10–15% (conventional)</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Arial" pitchFamily="34" charset="0"/>
                          <a:ea typeface="Arial" pitchFamily="34" charset="-122"/>
                          <a:cs typeface="Arial" pitchFamily="34" charset="-120"/>
                        </a:rPr>
                        <a:t>TrendForce via press (May–Sep 2026)</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246888">
                <a:tc>
                  <a:txBody>
                    <a:bodyPr/>
                    <a:lstStyle/>
                    <a:p>
                      <a:pPr indent="0" marL="0">
                        <a:buNone/>
                      </a:pPr>
                      <a:r>
                        <a:rPr lang="en-US" sz="850" dirty="0">
                          <a:solidFill>
                            <a:srgbClr val="262626"/>
                          </a:solidFill>
                          <a:latin typeface="Arial" pitchFamily="34" charset="0"/>
                          <a:ea typeface="Arial" pitchFamily="34" charset="-122"/>
                          <a:cs typeface="Arial" pitchFamily="34" charset="-120"/>
                        </a:rPr>
                        <a:t>Advantest ~55–58% of test equipment; TEL ~90% of coater/developers; Advantest 12.2% of Nikkei 225</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Arial" pitchFamily="34" charset="0"/>
                          <a:ea typeface="Arial" pitchFamily="34" charset="-122"/>
                          <a:cs typeface="Arial" pitchFamily="34" charset="-120"/>
                        </a:rPr>
                        <a:t>Industry research summaries (verify in annual reports); Nikkei Asia</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246888">
                <a:tc>
                  <a:txBody>
                    <a:bodyPr/>
                    <a:lstStyle/>
                    <a:p>
                      <a:pPr indent="0" marL="0">
                        <a:buNone/>
                      </a:pPr>
                      <a:r>
                        <a:rPr lang="en-US" sz="850" dirty="0">
                          <a:solidFill>
                            <a:srgbClr val="262626"/>
                          </a:solidFill>
                          <a:latin typeface="Arial" pitchFamily="34" charset="0"/>
                          <a:ea typeface="Arial" pitchFamily="34" charset="-122"/>
                          <a:cs typeface="Arial" pitchFamily="34" charset="-120"/>
                        </a:rPr>
                        <a:t>KOSPI forward P/E 7.8x, trailing 23.0x; Nikkei forward 17.2x, CAPE 38.6 (1 Jul 2026)</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Arial" pitchFamily="34" charset="0"/>
                          <a:ea typeface="Arial" pitchFamily="34" charset="-122"/>
                          <a:cs typeface="Arial" pitchFamily="34" charset="-120"/>
                        </a:rPr>
                        <a:t>Siblis Research</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246888">
                <a:tc>
                  <a:txBody>
                    <a:bodyPr/>
                    <a:lstStyle/>
                    <a:p>
                      <a:pPr indent="0" marL="0">
                        <a:buNone/>
                      </a:pPr>
                      <a:r>
                        <a:rPr lang="en-US" sz="850" dirty="0">
                          <a:solidFill>
                            <a:srgbClr val="262626"/>
                          </a:solidFill>
                          <a:latin typeface="Arial" pitchFamily="34" charset="0"/>
                          <a:ea typeface="Arial" pitchFamily="34" charset="-122"/>
                          <a:cs typeface="Arial" pitchFamily="34" charset="-120"/>
                        </a:rPr>
                        <a:t>Hyperscaler capex ~USD 725bn in 2026, +77% y/y</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Arial" pitchFamily="34" charset="0"/>
                          <a:ea typeface="Arial" pitchFamily="34" charset="-122"/>
                          <a:cs typeface="Arial" pitchFamily="34" charset="-120"/>
                        </a:rPr>
                        <a:t>Company guidance after Q1 2026, via AI Weekly / Yahoo Finance</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246888">
                <a:tc>
                  <a:txBody>
                    <a:bodyPr/>
                    <a:lstStyle/>
                    <a:p>
                      <a:pPr indent="0" marL="0">
                        <a:buNone/>
                      </a:pPr>
                      <a:r>
                        <a:rPr lang="en-US" sz="850" dirty="0">
                          <a:solidFill>
                            <a:srgbClr val="262626"/>
                          </a:solidFill>
                          <a:latin typeface="Arial" pitchFamily="34" charset="0"/>
                          <a:ea typeface="Arial" pitchFamily="34" charset="-122"/>
                          <a:cs typeface="Arial" pitchFamily="34" charset="-120"/>
                        </a:rPr>
                        <a:t>Chip market ~USD 1.5trn in 2026 (+90%); equipment USD 165.9bn (+23.2%), DRAM equip. +39%, test +31%</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Arial" pitchFamily="34" charset="0"/>
                          <a:ea typeface="Arial" pitchFamily="34" charset="-122"/>
                          <a:cs typeface="Arial" pitchFamily="34" charset="-120"/>
                        </a:rPr>
                        <a:t>WSTS Spring 2026 (2 Jun 2026); SEMI mid-year forecast (14 Jul 2026)</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246888">
                <a:tc>
                  <a:txBody>
                    <a:bodyPr/>
                    <a:lstStyle/>
                    <a:p>
                      <a:pPr indent="0" marL="0">
                        <a:buNone/>
                      </a:pPr>
                      <a:r>
                        <a:rPr lang="en-US" sz="850" dirty="0">
                          <a:solidFill>
                            <a:srgbClr val="262626"/>
                          </a:solidFill>
                          <a:latin typeface="Arial" pitchFamily="34" charset="0"/>
                          <a:ea typeface="Arial" pitchFamily="34" charset="-122"/>
                          <a:cs typeface="Arial" pitchFamily="34" charset="-120"/>
                        </a:rPr>
                        <a:t>US 25% Section 232 tariff on a narrow set of advanced logic chips from 15 Jan 2026</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Arial" pitchFamily="34" charset="0"/>
                          <a:ea typeface="Arial" pitchFamily="34" charset="-122"/>
                          <a:cs typeface="Arial" pitchFamily="34" charset="-120"/>
                        </a:rPr>
                        <a:t>White House Proclamation 11002, via Perkins Coie / Mondaq</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246888">
                <a:tc>
                  <a:txBody>
                    <a:bodyPr/>
                    <a:lstStyle/>
                    <a:p>
                      <a:pPr indent="0" marL="0">
                        <a:buNone/>
                      </a:pPr>
                      <a:r>
                        <a:rPr lang="en-US" sz="850" dirty="0">
                          <a:solidFill>
                            <a:srgbClr val="262626"/>
                          </a:solidFill>
                          <a:latin typeface="Arial" pitchFamily="34" charset="0"/>
                          <a:ea typeface="Arial" pitchFamily="34" charset="-122"/>
                          <a:cs typeface="Arial" pitchFamily="34" charset="-120"/>
                        </a:rPr>
                        <a:t>Fed +0.25% to 3.75–4.00% on 16 Sep 2026, first hike since 2023; median dot 4.1% end-2026</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Arial" pitchFamily="34" charset="0"/>
                          <a:ea typeface="Arial" pitchFamily="34" charset="-122"/>
                          <a:cs typeface="Arial" pitchFamily="34" charset="-120"/>
                        </a:rPr>
                        <a:t>Federal Reserve decision, via Advisor Perspectives</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246888">
                <a:tc>
                  <a:txBody>
                    <a:bodyPr/>
                    <a:lstStyle/>
                    <a:p>
                      <a:pPr indent="0" marL="0">
                        <a:buNone/>
                      </a:pPr>
                      <a:r>
                        <a:rPr lang="en-US" sz="850" dirty="0">
                          <a:solidFill>
                            <a:srgbClr val="262626"/>
                          </a:solidFill>
                          <a:latin typeface="Arial" pitchFamily="34" charset="0"/>
                          <a:ea typeface="Arial" pitchFamily="34" charset="-122"/>
                          <a:cs typeface="Arial" pitchFamily="34" charset="-120"/>
                        </a:rPr>
                        <a:t>FOMC dot plot: medians 4.125% (2026), 4.125% (2027), 3.875% (2028), 3.625% (2029), 3.25% longer run</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Arial" pitchFamily="34" charset="0"/>
                          <a:ea typeface="Arial" pitchFamily="34" charset="-122"/>
                          <a:cs typeface="Arial" pitchFamily="34" charset="-120"/>
                        </a:rPr>
                        <a:t>Federal Reserve, Summary of Economic Projections, Figure 2 (16 Sep 2026)</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246888">
                <a:tc>
                  <a:txBody>
                    <a:bodyPr/>
                    <a:lstStyle/>
                    <a:p>
                      <a:pPr indent="0" marL="0">
                        <a:buNone/>
                      </a:pPr>
                      <a:r>
                        <a:rPr lang="en-US" sz="850" dirty="0">
                          <a:solidFill>
                            <a:srgbClr val="262626"/>
                          </a:solidFill>
                          <a:latin typeface="Arial" pitchFamily="34" charset="0"/>
                          <a:ea typeface="Arial" pitchFamily="34" charset="-122"/>
                          <a:cs typeface="Arial" pitchFamily="34" charset="-120"/>
                        </a:rPr>
                        <a:t>VKOSPI record close 91.23 (9 Jun 2026), above Oct 2008 (89.30); 83.58 on 5 Mar 2026</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Arial" pitchFamily="34" charset="0"/>
                          <a:ea typeface="Arial" pitchFamily="34" charset="-122"/>
                          <a:cs typeface="Arial" pitchFamily="34" charset="-120"/>
                        </a:rPr>
                        <a:t>Herald Corp; SBS; FN News (Jun 2026)</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246888">
                <a:tc>
                  <a:txBody>
                    <a:bodyPr/>
                    <a:lstStyle/>
                    <a:p>
                      <a:pPr indent="0" marL="0">
                        <a:buNone/>
                      </a:pPr>
                      <a:r>
                        <a:rPr lang="en-US" sz="850" dirty="0">
                          <a:solidFill>
                            <a:srgbClr val="262626"/>
                          </a:solidFill>
                          <a:latin typeface="Arial" pitchFamily="34" charset="0"/>
                          <a:ea typeface="Arial" pitchFamily="34" charset="-122"/>
                          <a:cs typeface="Arial" pitchFamily="34" charset="-120"/>
                        </a:rPr>
                        <a:t>KOSPI 9,000+ in June (~+110% YTD), 6,789 on 28 Aug 2026</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Arial" pitchFamily="34" charset="0"/>
                          <a:ea typeface="Arial" pitchFamily="34" charset="-122"/>
                          <a:cs typeface="Arial" pitchFamily="34" charset="-120"/>
                        </a:rPr>
                        <a:t>BIT Research; FN News / Shinhan Securities (31 Aug 2026)</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246888">
                <a:tc>
                  <a:txBody>
                    <a:bodyPr/>
                    <a:lstStyle/>
                    <a:p>
                      <a:pPr indent="0" marL="0">
                        <a:buNone/>
                      </a:pPr>
                      <a:r>
                        <a:rPr lang="en-US" sz="850" dirty="0">
                          <a:solidFill>
                            <a:srgbClr val="262626"/>
                          </a:solidFill>
                          <a:latin typeface="Arial" pitchFamily="34" charset="0"/>
                          <a:ea typeface="Arial" pitchFamily="34" charset="-122"/>
                          <a:cs typeface="Arial" pitchFamily="34" charset="-120"/>
                        </a:rPr>
                        <a:t>2022: TAIEX −31.6% peak to trough; KOSPI −24.9%; SOX −36%</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Arial" pitchFamily="34" charset="0"/>
                          <a:ea typeface="Arial" pitchFamily="34" charset="-122"/>
                          <a:cs typeface="Arial" pitchFamily="34" charset="-120"/>
                        </a:rPr>
                        <a:t>TWSE 2022 Market Highlights; Korea Times; Bloomberg via BNN</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246888">
                <a:tc>
                  <a:txBody>
                    <a:bodyPr/>
                    <a:lstStyle/>
                    <a:p>
                      <a:pPr indent="0" marL="0">
                        <a:buNone/>
                      </a:pPr>
                      <a:r>
                        <a:rPr lang="en-US" sz="850" dirty="0">
                          <a:solidFill>
                            <a:srgbClr val="262626"/>
                          </a:solidFill>
                          <a:latin typeface="Arial" pitchFamily="34" charset="0"/>
                          <a:ea typeface="Arial" pitchFamily="34" charset="-122"/>
                          <a:cs typeface="Arial" pitchFamily="34" charset="-120"/>
                        </a:rPr>
                        <a:t>Japan buybacks ¥18.7trn FY2024, ~¥20trn FY2025e; Korea Value-Up Index +30% vs KOSPI 200</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Arial" pitchFamily="34" charset="0"/>
                          <a:ea typeface="Arial" pitchFamily="34" charset="-122"/>
                          <a:cs typeface="Arial" pitchFamily="34" charset="-120"/>
                        </a:rPr>
                        <a:t>Asset Management One via portfolio institutional; AllianceBernstein</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246888">
                <a:tc>
                  <a:txBody>
                    <a:bodyPr/>
                    <a:lstStyle/>
                    <a:p>
                      <a:pPr indent="0" marL="0">
                        <a:buNone/>
                      </a:pPr>
                      <a:r>
                        <a:rPr lang="en-US" sz="850" dirty="0">
                          <a:solidFill>
                            <a:srgbClr val="262626"/>
                          </a:solidFill>
                          <a:latin typeface="Arial" pitchFamily="34" charset="0"/>
                          <a:ea typeface="Arial" pitchFamily="34" charset="-122"/>
                          <a:cs typeface="Arial" pitchFamily="34" charset="-120"/>
                        </a:rPr>
                        <a:t>42 AI stocks = 65–75% of S&amp;P 500 returns/profits/capex; ~92% of advanced chips from Taiwan; 10–15% correction in 2026 base case</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Arial" pitchFamily="34" charset="0"/>
                          <a:ea typeface="Arial" pitchFamily="34" charset="-122"/>
                          <a:cs typeface="Arial" pitchFamily="34" charset="-120"/>
                        </a:rPr>
                        <a:t>J.P. Morgan AWM, Eye on the Market 2026 Outlook "Smothering Heights" (1 Jan 2026)</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246888">
                <a:tc>
                  <a:txBody>
                    <a:bodyPr/>
                    <a:lstStyle/>
                    <a:p>
                      <a:pPr indent="0" marL="0">
                        <a:buNone/>
                      </a:pPr>
                      <a:r>
                        <a:rPr lang="en-US" sz="850" dirty="0">
                          <a:solidFill>
                            <a:srgbClr val="262626"/>
                          </a:solidFill>
                          <a:latin typeface="Arial" pitchFamily="34" charset="0"/>
                          <a:ea typeface="Arial" pitchFamily="34" charset="-122"/>
                          <a:cs typeface="Arial" pitchFamily="34" charset="-120"/>
                        </a:rPr>
                        <a:t>Taiwan structured notes 2025: ~75,900 products, +81%; snowball autocalls favoured</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Arial" pitchFamily="34" charset="0"/>
                          <a:ea typeface="Arial" pitchFamily="34" charset="-122"/>
                          <a:cs typeface="Arial" pitchFamily="34" charset="-120"/>
                        </a:rPr>
                        <a:t>StructuredRetailProducts.com, Taiwan Q4 2025 review</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246888">
                <a:tc>
                  <a:txBody>
                    <a:bodyPr/>
                    <a:lstStyle/>
                    <a:p>
                      <a:pPr indent="0" marL="0">
                        <a:buNone/>
                      </a:pPr>
                      <a:r>
                        <a:rPr lang="en-US" sz="850" dirty="0">
                          <a:solidFill>
                            <a:srgbClr val="262626"/>
                          </a:solidFill>
                          <a:latin typeface="Arial" pitchFamily="34" charset="0"/>
                          <a:ea typeface="Arial" pitchFamily="34" charset="-122"/>
                          <a:cs typeface="Arial" pitchFamily="34" charset="-120"/>
                        </a:rPr>
                        <a:t>5Y bond value change for −2% to +2% rate moves; 5Y discount factor 75.8%</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Arial" pitchFamily="34" charset="0"/>
                          <a:ea typeface="Arial" pitchFamily="34" charset="-122"/>
                          <a:cs typeface="Arial" pitchFamily="34" charset="-120"/>
                        </a:rPr>
                        <a:t>Standard bond maths on the case USD funding grid (5Y 5.69%)</a:t>
                      </a:r>
                      <a:endParaRPr lang="en-US" sz="850" dirty="0">
                        <a:latin typeface="Arial" charset="0"/>
                        <a:ea typeface="Arial" charset="0"/>
                        <a:cs typeface="Arial" charset="0"/>
                      </a:endParaRPr>
                    </a:p>
                  </a:txBody>
                  <a:tcPr marL="63500" marR="635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10" name="Text 7"/>
          <p:cNvSpPr txBox="1"/>
          <p:nvPr/>
        </p:nvSpPr>
        <p:spPr>
          <a:xfrm>
            <a:off x="457200" y="6089904"/>
            <a:ext cx="11274552" cy="237744"/>
          </a:xfrm>
          <a:prstGeom prst="rect">
            <a:avLst/>
          </a:prstGeom>
          <a:noFill/>
          <a:ln/>
        </p:spPr>
        <p:txBody>
          <a:bodyPr wrap="square" lIns="0" tIns="0" rIns="0" bIns="0" rtlCol="0" anchor="t"/>
          <a:lstStyle/>
          <a:p>
            <a:pPr indent="0" marL="0">
              <a:buNone/>
            </a:pPr>
            <a:r>
              <a:rPr lang="en-US" sz="800" i="1" dirty="0">
                <a:solidFill>
                  <a:srgbClr val="595959"/>
                </a:solidFill>
                <a:latin typeface="Arial" pitchFamily="34" charset="0"/>
                <a:ea typeface="Arial" pitchFamily="34" charset="-122"/>
                <a:cs typeface="Arial" pitchFamily="34" charset="-120"/>
              </a:rPr>
              <a:t>Several figures are forecasts or third-party estimates; numbers marked 'verify' come from a single secondary source. Full URLs: deck/thesis_sources.md.</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Investment thesis slides</dc:title>
  <dc:subject>PptxGenJS Presentation</dc:subject>
  <dc:creator>PptxGenJS</dc:creator>
  <cp:lastModifiedBy>PptxGenJS</cp:lastModifiedBy>
  <cp:revision>1</cp:revision>
  <dcterms:created xsi:type="dcterms:W3CDTF">2026-10-08T11:15:36Z</dcterms:created>
  <dcterms:modified xsi:type="dcterms:W3CDTF">2026-10-08T11:15:36Z</dcterms:modified>
</cp:coreProperties>
</file>