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0.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D2B30"/>
                </a:solidFill>
                <a:latin typeface="Calibri"/>
              </a:defRPr>
            </a:pPr>
            <a:r>
              <a:rPr sz="1100" b="0" i="0" u="none" strike="noStrike">
                <a:solidFill>
                  <a:srgbClr val="1D2B30"/>
                </a:solidFill>
                <a:latin typeface="Calibri"/>
              </a:rPr>
              <a:t>USD funding curve (case grid, %)</a:t>
            </a:r>
          </a:p>
        </c:rich>
      </c:tx>
      <c:layout/>
      <c:overlay val="0"/>
    </c:title>
    <c:autoTitleDeleted val="0"/>
    <c:plotArea>
      <c:layout/>
      <c:lineChart>
        <c:varyColors val="0"/>
        <c:ser>
          <c:idx val="0"/>
          <c:order val="0"/>
          <c:tx>
            <c:strRef>
              <c:f>Sheet1!$B$1</c:f>
              <c:strCache>
                <c:ptCount val="1"/>
                <c:pt idx="0">
                  <c:v>USD funding</c:v>
                </c:pt>
              </c:strCache>
            </c:strRef>
          </c:tx>
          <c:spPr>
            <a:solidFill>
              <a:srgbClr val="0F8B8D"/>
            </a:solidFill>
            <a:ln w="25400" cap="flat">
              <a:solidFill>
                <a:srgbClr val="0F8B8D"/>
              </a:solidFill>
              <a:prstDash val="solid"/>
              <a:round/>
            </a:ln>
            <a:effectLst/>
          </c:spPr>
          <c:invertIfNegative val="0"/>
          <c:dLbls>
            <c:numFmt formatCode="0.00" sourceLinked="0"/>
            <c:txPr>
              <a:bodyPr/>
              <a:lstStyle/>
              <a:p>
                <a:pPr>
                  <a:defRPr b="0" i="0" strike="noStrike" sz="750" u="none">
                    <a:solidFill>
                      <a:srgbClr val="5F7176"/>
                    </a:solidFill>
                    <a:latin typeface="Arial"/>
                  </a:defRPr>
                </a:pPr>
              </a:p>
            </c:txPr>
            <c:dLblPos val="t"/>
            <c:showLegendKey val="0"/>
            <c:showVal val="1"/>
            <c:showCatName val="0"/>
            <c:showSerName val="0"/>
            <c:showPercent val="0"/>
            <c:showBubbleSize val="0"/>
            <c:showLeaderLines val="0"/>
          </c:dLbls>
          <c:marker>
            <c:symbol val="circle"/>
            <c:size val="5"/>
            <c:spPr>
              <a:solidFill>
                <a:srgbClr val="0F8B8D"/>
              </a:solidFill>
              <a:ln w="9525" cap="flat">
                <a:solidFill>
                  <a:srgbClr val="0F8B8D"/>
                </a:solidFill>
                <a:prstDash val="solid"/>
                <a:round/>
              </a:ln>
              <a:effectLst/>
            </c:spPr>
          </c:marker>
          <c:cat>
            <c:multiLvlStrRef>
              <c:f>Sheet1!$A$2:$A$8</c:f>
              <c:multiLvlStrCache>
                <c:ptCount val="7"/>
                <c:lvl>
                  <c:pt idx="0">
                    <c:v>1Y</c:v>
                  </c:pt>
                  <c:pt idx="1">
                    <c:v>2Y</c:v>
                  </c:pt>
                  <c:pt idx="2">
                    <c:v>3Y</c:v>
                  </c:pt>
                  <c:pt idx="3">
                    <c:v>5Y</c:v>
                  </c:pt>
                  <c:pt idx="4">
                    <c:v>7Y</c:v>
                  </c:pt>
                  <c:pt idx="5">
                    <c:v>10Y</c:v>
                  </c:pt>
                  <c:pt idx="6">
                    <c:v>20Y</c:v>
                  </c:pt>
                </c:lvl>
              </c:multiLvlStrCache>
            </c:multiLvlStrRef>
          </c:cat>
          <c:val>
            <c:numRef>
              <c:f>Sheet1!$B$2:$B$8</c:f>
              <c:numCache>
                <c:formatCode>General</c:formatCode>
                <c:ptCount val="7"/>
                <c:pt idx="0">
                  <c:v>4.78</c:v>
                </c:pt>
                <c:pt idx="1">
                  <c:v>5.3</c:v>
                </c:pt>
                <c:pt idx="2">
                  <c:v>5.52</c:v>
                </c:pt>
                <c:pt idx="3">
                  <c:v>5.69</c:v>
                </c:pt>
                <c:pt idx="4">
                  <c:v>5.75</c:v>
                </c:pt>
                <c:pt idx="5">
                  <c:v>5.82</c:v>
                </c:pt>
                <c:pt idx="6">
                  <c:v>6.04</c:v>
                </c:pt>
              </c:numCache>
            </c:numRef>
          </c:val>
          <c:smooth val="0"/>
        </c:ser>
        <c:dLbls>
          <c:numFmt formatCode="0.00" sourceLinked="0"/>
          <c:txPr>
            <a:bodyPr/>
            <a:lstStyle/>
            <a:p>
              <a:pPr>
                <a:defRPr b="0" i="0" strike="noStrike" sz="750" u="none">
                  <a:solidFill>
                    <a:srgbClr val="5F7176"/>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catAx>
      <c:valAx>
        <c:axId val="2094734552"/>
        <c:scaling>
          <c:orientation val="minMax"/>
          <c:max val="6.25"/>
          <c:min val="4.5"/>
        </c:scaling>
        <c:delete val="0"/>
        <c:axPos val="l"/>
        <c:majorGridlines>
          <c:spPr>
            <a:ln w="6350" cap="flat">
              <a:solidFill>
                <a:srgbClr val="DCE7E5"/>
              </a:solidFill>
              <a:prstDash val="solid"/>
              <a:round/>
            </a:ln>
          </c:spPr>
        </c:majorGridlines>
        <c:numFmt formatCode="0.0" sourceLinked="0"/>
        <c:majorTickMark val="out"/>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0B3C49"/>
              </a:solidFill>
              <a:effectLst/>
            </c:spPr>
          </c:dPt>
          <c:dPt>
            <c:idx val="1"/>
            <c:bubble3D val="0"/>
            <c:spPr>
              <a:solidFill>
                <a:srgbClr val="0F8B8D"/>
              </a:solidFill>
              <a:effectLst/>
            </c:spPr>
          </c:dPt>
          <c:dPt>
            <c:idx val="2"/>
            <c:bubble3D val="0"/>
            <c:spPr>
              <a:solidFill>
                <a:srgbClr val="D9961A"/>
              </a:solidFill>
              <a:effectLst/>
            </c:spPr>
          </c:dPt>
          <c:dPt>
            <c:idx val="3"/>
            <c:bubble3D val="0"/>
            <c:spPr>
              <a:solidFill>
                <a:srgbClr val="8FA6AA"/>
              </a:solidFill>
              <a:effectLst/>
            </c:spPr>
          </c:dPt>
          <c:dLbls>
            <c:dLbl>
              <c:idx val="0"/>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3"/>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Hang Seng TECH</c:v>
                </c:pt>
                <c:pt idx="1">
                  <c:v>Nikkei 225</c:v>
                </c:pt>
                <c:pt idx="2">
                  <c:v>Taiwan TAIEX</c:v>
                </c:pt>
                <c:pt idx="3">
                  <c:v>MSCI AC Asia Pacific Utilities</c:v>
                </c:pt>
              </c:strCache>
            </c:strRef>
          </c:cat>
          <c:val>
            <c:numRef>
              <c:f>Sheet1!$B$2:$B$5</c:f>
              <c:numCache>
                <c:ptCount val="4"/>
                <c:pt idx="0">
                  <c:v>30</c:v>
                </c:pt>
                <c:pt idx="1">
                  <c:v>30</c:v>
                </c:pt>
                <c:pt idx="2">
                  <c:v>25</c:v>
                </c:pt>
                <c:pt idx="3">
                  <c:v>15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D2B30"/>
                </a:solidFill>
                <a:latin typeface="Calibri"/>
              </a:defRPr>
            </a:pPr>
            <a:r>
              <a:rPr sz="950" b="0" i="0" u="none" strike="noStrike">
                <a:solidFill>
                  <a:srgbClr val="1D2B30"/>
                </a:solidFill>
                <a:latin typeface="Calibri"/>
              </a:rPr>
              <a:t>Fair coupon p.a., same basket / autocall / 65% barrier, issued at 98%</a:t>
            </a:r>
          </a:p>
        </c:rich>
      </c:tx>
      <c:layout/>
      <c:overlay val="0"/>
    </c:title>
    <c:autoTitleDeleted val="0"/>
    <c:plotArea>
      <c:layout/>
      <c:barChart>
        <c:barDir val="bar"/>
        <c:grouping val="clustered"/>
        <c:varyColors val="0"/>
        <c:ser>
          <c:idx val="0"/>
          <c:order val="0"/>
          <c:tx>
            <c:strRef>
              <c:f>Sheet1!$B$1</c:f>
              <c:strCache>
                <c:ptCount val="1"/>
                <c:pt idx="0">
                  <c:v>Fair coupon</c:v>
                </c:pt>
              </c:strCache>
            </c:strRef>
          </c:tx>
          <c:spPr>
            <a:solidFill>
              <a:srgbClr val="8FA6AA"/>
            </a:solidFill>
            <a:effectLst/>
          </c:spPr>
          <c:invertIfNegative val="0"/>
          <c:dLbls>
            <c:numFmt formatCode="0.0&quot;%&quot;" sourceLinked="0"/>
            <c:txPr>
              <a:bodyPr/>
              <a:lstStyle/>
              <a:p>
                <a:pPr>
                  <a:defRPr b="0" i="0" strike="noStrike" sz="1000" u="none">
                    <a:solidFill>
                      <a:srgbClr val="1D2B30"/>
                    </a:solidFill>
                    <a:latin typeface="Arial"/>
                  </a:defRPr>
                </a:pPr>
              </a:p>
            </c:txPr>
            <c:showLegendKey val="0"/>
            <c:showVal val="1"/>
            <c:showCatName val="0"/>
            <c:showSerName val="0"/>
            <c:showPercent val="0"/>
            <c:showBubbleSize val="0"/>
            <c:showLeaderLines val="0"/>
          </c:dLbls>
          <c:dPt>
            <c:idx val="0"/>
            <c:invertIfNegative val="0"/>
            <c:bubble3D val="0"/>
            <c:spPr>
              <a:solidFill>
                <a:srgbClr val="8FA6AA"/>
              </a:solidFill>
              <a:effectLst/>
            </c:spPr>
          </c:dPt>
          <c:dPt>
            <c:idx val="1"/>
            <c:invertIfNegative val="0"/>
            <c:bubble3D val="0"/>
            <c:spPr>
              <a:solidFill>
                <a:srgbClr val="8FA6AA"/>
              </a:solidFill>
              <a:effectLst/>
            </c:spPr>
          </c:dPt>
          <c:dPt>
            <c:idx val="2"/>
            <c:invertIfNegative val="0"/>
            <c:bubble3D val="0"/>
            <c:spPr>
              <a:solidFill>
                <a:srgbClr val="0F8B8D"/>
              </a:solidFill>
              <a:effectLst/>
            </c:spPr>
          </c:dPt>
          <c:cat>
            <c:multiLvlStrRef>
              <c:f>Sheet1!$A$2:$A$4</c:f>
              <c:multiLvlStrCache>
                <c:ptCount val="3"/>
                <c:lvl>
                  <c:pt idx="0">
                    <c:v>Fixed income coupon</c:v>
                  </c:pt>
                  <c:pt idx="1">
                    <c:v>Phoenix memory (70% cpn barrier)</c:v>
                  </c:pt>
                  <c:pt idx="2">
                    <c:v>Snowball (recommended)</c:v>
                  </c:pt>
                </c:lvl>
              </c:multiLvlStrCache>
            </c:multiLvlStrRef>
          </c:cat>
          <c:val>
            <c:numRef>
              <c:f>Sheet1!$B$2:$B$4</c:f>
              <c:numCache>
                <c:formatCode>General</c:formatCode>
                <c:ptCount val="3"/>
                <c:pt idx="0">
                  <c:v>5.6</c:v>
                </c:pt>
                <c:pt idx="1">
                  <c:v>6.1</c:v>
                </c:pt>
                <c:pt idx="2">
                  <c:v>9.7</c:v>
                </c:pt>
              </c:numCache>
            </c:numRef>
          </c:val>
        </c:ser>
        <c:dLbls>
          <c:numFmt formatCode="0.0&quot;%&quot;" sourceLinked="0"/>
          <c:txPr>
            <a:bodyPr/>
            <a:lstStyle/>
            <a:p>
              <a:pPr>
                <a:defRPr b="0" i="0" strike="noStrike" sz="1000" u="none">
                  <a:solidFill>
                    <a:srgbClr val="1D2B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D2B30"/>
                </a:solidFill>
                <a:latin typeface="Calibri"/>
              </a:defRPr>
            </a:pPr>
            <a:r>
              <a:rPr sz="950" b="0" i="0" u="none" strike="noStrike">
                <a:solidFill>
                  <a:srgbClr val="1D2B30"/>
                </a:solidFill>
                <a:latin typeface="Calibri"/>
              </a:rPr>
              <a:t>Redemption at autocall (% of notional), by review quarter Q4–Q20</a:t>
            </a:r>
          </a:p>
        </c:rich>
      </c:tx>
      <c:layout/>
      <c:overlay val="0"/>
    </c:title>
    <c:autoTitleDeleted val="0"/>
    <c:plotArea>
      <c:layout/>
      <c:barChart>
        <c:barDir val="col"/>
        <c:grouping val="clustered"/>
        <c:varyColors val="0"/>
        <c:ser>
          <c:idx val="0"/>
          <c:order val="0"/>
          <c:tx>
            <c:strRef>
              <c:f>Sheet1!$B$1</c:f>
              <c:strCache>
                <c:ptCount val="1"/>
                <c:pt idx="0">
                  <c:v>Redemption if called</c:v>
                </c:pt>
              </c:strCache>
            </c:strRef>
          </c:tx>
          <c:spPr>
            <a:solidFill>
              <a:srgbClr val="0F8B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Sheet1!$A$2:$A$18</c:f>
              <c:multiLvlStrCache>
                <c:ptCount val="17"/>
                <c:lvl>
                  <c:pt idx="0">
                    <c:v>Y1</c:v>
                  </c:pt>
                  <c:pt idx="1">
                    <c:v/>
                  </c:pt>
                  <c:pt idx="2">
                    <c:v/>
                  </c:pt>
                  <c:pt idx="3">
                    <c:v/>
                  </c:pt>
                  <c:pt idx="4">
                    <c:v>Y2</c:v>
                  </c:pt>
                  <c:pt idx="5">
                    <c:v/>
                  </c:pt>
                  <c:pt idx="6">
                    <c:v/>
                  </c:pt>
                  <c:pt idx="7">
                    <c:v/>
                  </c:pt>
                  <c:pt idx="8">
                    <c:v>Y3</c:v>
                  </c:pt>
                  <c:pt idx="9">
                    <c:v/>
                  </c:pt>
                  <c:pt idx="10">
                    <c:v/>
                  </c:pt>
                  <c:pt idx="11">
                    <c:v/>
                  </c:pt>
                  <c:pt idx="12">
                    <c:v>Y4</c:v>
                  </c:pt>
                  <c:pt idx="13">
                    <c:v/>
                  </c:pt>
                  <c:pt idx="14">
                    <c:v/>
                  </c:pt>
                  <c:pt idx="15">
                    <c:v/>
                  </c:pt>
                  <c:pt idx="16">
                    <c:v>Y5</c:v>
                  </c:pt>
                </c:lvl>
              </c:multiLvlStrCache>
            </c:multiLvlStrRef>
          </c:cat>
          <c:val>
            <c:numRef>
              <c:f>Sheet1!$B$2:$B$18</c:f>
              <c:numCache>
                <c:formatCode>General</c:formatCode>
                <c:ptCount val="17"/>
                <c:pt idx="0">
                  <c:v>109</c:v>
                </c:pt>
                <c:pt idx="1">
                  <c:v>111.25</c:v>
                </c:pt>
                <c:pt idx="2">
                  <c:v>113.5</c:v>
                </c:pt>
                <c:pt idx="3">
                  <c:v>115.75</c:v>
                </c:pt>
                <c:pt idx="4">
                  <c:v>118</c:v>
                </c:pt>
                <c:pt idx="5">
                  <c:v>120.25</c:v>
                </c:pt>
                <c:pt idx="6">
                  <c:v>122.5</c:v>
                </c:pt>
                <c:pt idx="7">
                  <c:v>124.75</c:v>
                </c:pt>
                <c:pt idx="8">
                  <c:v>127</c:v>
                </c:pt>
                <c:pt idx="9">
                  <c:v>129.25</c:v>
                </c:pt>
                <c:pt idx="10">
                  <c:v>131.5</c:v>
                </c:pt>
                <c:pt idx="11">
                  <c:v>133.75</c:v>
                </c:pt>
                <c:pt idx="12">
                  <c:v>136</c:v>
                </c:pt>
                <c:pt idx="13">
                  <c:v>138.25</c:v>
                </c:pt>
                <c:pt idx="14">
                  <c:v>140.5</c:v>
                </c:pt>
                <c:pt idx="15">
                  <c:v>142.75</c:v>
                </c:pt>
                <c:pt idx="16">
                  <c:v>145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catAx>
      <c:valAx>
        <c:axId val="2094734552"/>
        <c:scaling>
          <c:orientation val="minMax"/>
          <c:max val="150"/>
          <c:min val="90"/>
        </c:scaling>
        <c:delete val="0"/>
        <c:axPos val="l"/>
        <c:majorGridlines>
          <c:spPr>
            <a:ln w="6350" cap="flat">
              <a:solidFill>
                <a:srgbClr val="DCE7E5"/>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D2B30"/>
                </a:solidFill>
                <a:latin typeface="Calibri"/>
              </a:defRPr>
            </a:pPr>
            <a:r>
              <a:rPr sz="950" b="0" i="0" u="none" strike="noStrike">
                <a:solidFill>
                  <a:srgbClr val="1D2B30"/>
                </a:solidFill>
                <a:latin typeface="Calibri"/>
              </a:rPr>
              <a:t>Maturity payoff (note not called earlier)</a:t>
            </a:r>
          </a:p>
        </c:rich>
      </c:tx>
      <c:layout/>
      <c:overlay val="0"/>
    </c:title>
    <c:autoTitleDeleted val="0"/>
    <c:plotArea>
      <c:layout/>
      <c:scatterChart>
        <c:scatterStyle val="lineMarker"/>
        <c:varyColors val="0"/>
        <c:ser>
          <c:idx val="0"/>
          <c:order val="0"/>
          <c:tx>
            <c:strRef>
              <c:f>Sheet1!$B$1</c:f>
              <c:strCache>
                <c:ptCount val="1"/>
                <c:pt idx="0">
                  <c:v>Snowball note</c:v>
                </c:pt>
              </c:strCache>
            </c:strRef>
          </c:tx>
          <c:spPr>
            <a:solidFill>
              <a:srgbClr val="0F8B8D"/>
            </a:solidFill>
            <a:ln w="28575" cap="flat">
              <a:solidFill>
                <a:srgbClr val="0F8B8D"/>
              </a:solidFill>
              <a:prstDash val="solid"/>
              <a:round/>
            </a:ln>
            <a:effectLst/>
          </c:spPr>
          <c:marker>
            <c:symbol val="none"/>
            <c:size val="6"/>
            <c:spPr>
              <a:solidFill>
                <a:srgbClr val="0F8B8D"/>
              </a:solidFill>
              <a:ln w="9525" cap="flat">
                <a:solidFill>
                  <a:srgbClr val="0F8B8D"/>
                </a:solidFill>
                <a:prstDash val="solid"/>
                <a:round/>
              </a:ln>
              <a:effectLst/>
            </c:spPr>
          </c:marker>
          <c:xVal>
            <c:numRef>
              <c:f>Sheet1!$A$2:$A$262</c:f>
              <c:numCache>
                <c:formatCode>General</c:formatCode>
                <c:ptCount val="261"/>
                <c:pt idx="0">
                  <c:v>30</c:v>
                </c:pt>
                <c:pt idx="1">
                  <c:v>30.5</c:v>
                </c:pt>
                <c:pt idx="2">
                  <c:v>31</c:v>
                </c:pt>
                <c:pt idx="3">
                  <c:v>31.5</c:v>
                </c:pt>
                <c:pt idx="4">
                  <c:v>32</c:v>
                </c:pt>
                <c:pt idx="5">
                  <c:v>32.5</c:v>
                </c:pt>
                <c:pt idx="6">
                  <c:v>33</c:v>
                </c:pt>
                <c:pt idx="7">
                  <c:v>33.5</c:v>
                </c:pt>
                <c:pt idx="8">
                  <c:v>34</c:v>
                </c:pt>
                <c:pt idx="9">
                  <c:v>34.5</c:v>
                </c:pt>
                <c:pt idx="10">
                  <c:v>35</c:v>
                </c:pt>
                <c:pt idx="11">
                  <c:v>35.5</c:v>
                </c:pt>
                <c:pt idx="12">
                  <c:v>36</c:v>
                </c:pt>
                <c:pt idx="13">
                  <c:v>36.5</c:v>
                </c:pt>
                <c:pt idx="14">
                  <c:v>37</c:v>
                </c:pt>
                <c:pt idx="15">
                  <c:v>37.5</c:v>
                </c:pt>
                <c:pt idx="16">
                  <c:v>38</c:v>
                </c:pt>
                <c:pt idx="17">
                  <c:v>38.5</c:v>
                </c:pt>
                <c:pt idx="18">
                  <c:v>39</c:v>
                </c:pt>
                <c:pt idx="19">
                  <c:v>39.5</c:v>
                </c:pt>
                <c:pt idx="20">
                  <c:v>40</c:v>
                </c:pt>
                <c:pt idx="21">
                  <c:v>40.5</c:v>
                </c:pt>
                <c:pt idx="22">
                  <c:v>41</c:v>
                </c:pt>
                <c:pt idx="23">
                  <c:v>41.5</c:v>
                </c:pt>
                <c:pt idx="24">
                  <c:v>42</c:v>
                </c:pt>
                <c:pt idx="25">
                  <c:v>42.5</c:v>
                </c:pt>
                <c:pt idx="26">
                  <c:v>43</c:v>
                </c:pt>
                <c:pt idx="27">
                  <c:v>43.5</c:v>
                </c:pt>
                <c:pt idx="28">
                  <c:v>44</c:v>
                </c:pt>
                <c:pt idx="29">
                  <c:v>44.5</c:v>
                </c:pt>
                <c:pt idx="30">
                  <c:v>45</c:v>
                </c:pt>
                <c:pt idx="31">
                  <c:v>45.5</c:v>
                </c:pt>
                <c:pt idx="32">
                  <c:v>46</c:v>
                </c:pt>
                <c:pt idx="33">
                  <c:v>46.5</c:v>
                </c:pt>
                <c:pt idx="34">
                  <c:v>47</c:v>
                </c:pt>
                <c:pt idx="35">
                  <c:v>47.5</c:v>
                </c:pt>
                <c:pt idx="36">
                  <c:v>48</c:v>
                </c:pt>
                <c:pt idx="37">
                  <c:v>48.5</c:v>
                </c:pt>
                <c:pt idx="38">
                  <c:v>49</c:v>
                </c:pt>
                <c:pt idx="39">
                  <c:v>49.5</c:v>
                </c:pt>
                <c:pt idx="40">
                  <c:v>50</c:v>
                </c:pt>
                <c:pt idx="41">
                  <c:v>50.5</c:v>
                </c:pt>
                <c:pt idx="42">
                  <c:v>51</c:v>
                </c:pt>
                <c:pt idx="43">
                  <c:v>51.5</c:v>
                </c:pt>
                <c:pt idx="44">
                  <c:v>52</c:v>
                </c:pt>
                <c:pt idx="45">
                  <c:v>52.5</c:v>
                </c:pt>
                <c:pt idx="46">
                  <c:v>53</c:v>
                </c:pt>
                <c:pt idx="47">
                  <c:v>53.5</c:v>
                </c:pt>
                <c:pt idx="48">
                  <c:v>54</c:v>
                </c:pt>
                <c:pt idx="49">
                  <c:v>54.5</c:v>
                </c:pt>
                <c:pt idx="50">
                  <c:v>55</c:v>
                </c:pt>
                <c:pt idx="51">
                  <c:v>55.5</c:v>
                </c:pt>
                <c:pt idx="52">
                  <c:v>56</c:v>
                </c:pt>
                <c:pt idx="53">
                  <c:v>56.5</c:v>
                </c:pt>
                <c:pt idx="54">
                  <c:v>57</c:v>
                </c:pt>
                <c:pt idx="55">
                  <c:v>57.5</c:v>
                </c:pt>
                <c:pt idx="56">
                  <c:v>58</c:v>
                </c:pt>
                <c:pt idx="57">
                  <c:v>58.5</c:v>
                </c:pt>
                <c:pt idx="58">
                  <c:v>59</c:v>
                </c:pt>
                <c:pt idx="59">
                  <c:v>59.5</c:v>
                </c:pt>
                <c:pt idx="60">
                  <c:v>60</c:v>
                </c:pt>
                <c:pt idx="61">
                  <c:v>60.5</c:v>
                </c:pt>
                <c:pt idx="62">
                  <c:v>61</c:v>
                </c:pt>
                <c:pt idx="63">
                  <c:v>61.5</c:v>
                </c:pt>
                <c:pt idx="64">
                  <c:v>62</c:v>
                </c:pt>
                <c:pt idx="65">
                  <c:v>62.5</c:v>
                </c:pt>
                <c:pt idx="66">
                  <c:v>63</c:v>
                </c:pt>
                <c:pt idx="67">
                  <c:v>63.5</c:v>
                </c:pt>
                <c:pt idx="68">
                  <c:v>64</c:v>
                </c:pt>
                <c:pt idx="69">
                  <c:v>64.5</c:v>
                </c:pt>
                <c:pt idx="70">
                  <c:v>65</c:v>
                </c:pt>
                <c:pt idx="71">
                  <c:v>65.5</c:v>
                </c:pt>
                <c:pt idx="72">
                  <c:v>66</c:v>
                </c:pt>
                <c:pt idx="73">
                  <c:v>66.5</c:v>
                </c:pt>
                <c:pt idx="74">
                  <c:v>67</c:v>
                </c:pt>
                <c:pt idx="75">
                  <c:v>67.5</c:v>
                </c:pt>
                <c:pt idx="76">
                  <c:v>68</c:v>
                </c:pt>
                <c:pt idx="77">
                  <c:v>68.5</c:v>
                </c:pt>
                <c:pt idx="78">
                  <c:v>69</c:v>
                </c:pt>
                <c:pt idx="79">
                  <c:v>69.5</c:v>
                </c:pt>
                <c:pt idx="80">
                  <c:v>70</c:v>
                </c:pt>
                <c:pt idx="81">
                  <c:v>70.5</c:v>
                </c:pt>
                <c:pt idx="82">
                  <c:v>71</c:v>
                </c:pt>
                <c:pt idx="83">
                  <c:v>71.5</c:v>
                </c:pt>
                <c:pt idx="84">
                  <c:v>72</c:v>
                </c:pt>
                <c:pt idx="85">
                  <c:v>72.5</c:v>
                </c:pt>
                <c:pt idx="86">
                  <c:v>73</c:v>
                </c:pt>
                <c:pt idx="87">
                  <c:v>73.5</c:v>
                </c:pt>
                <c:pt idx="88">
                  <c:v>74</c:v>
                </c:pt>
                <c:pt idx="89">
                  <c:v>74.5</c:v>
                </c:pt>
                <c:pt idx="90">
                  <c:v>75</c:v>
                </c:pt>
                <c:pt idx="91">
                  <c:v>75.5</c:v>
                </c:pt>
                <c:pt idx="92">
                  <c:v>76</c:v>
                </c:pt>
                <c:pt idx="93">
                  <c:v>76.5</c:v>
                </c:pt>
                <c:pt idx="94">
                  <c:v>77</c:v>
                </c:pt>
                <c:pt idx="95">
                  <c:v>77.5</c:v>
                </c:pt>
                <c:pt idx="96">
                  <c:v>78</c:v>
                </c:pt>
                <c:pt idx="97">
                  <c:v>78.5</c:v>
                </c:pt>
                <c:pt idx="98">
                  <c:v>79</c:v>
                </c:pt>
                <c:pt idx="99">
                  <c:v>79.5</c:v>
                </c:pt>
                <c:pt idx="100">
                  <c:v>80</c:v>
                </c:pt>
                <c:pt idx="101">
                  <c:v>80.5</c:v>
                </c:pt>
                <c:pt idx="102">
                  <c:v>81</c:v>
                </c:pt>
                <c:pt idx="103">
                  <c:v>81.5</c:v>
                </c:pt>
                <c:pt idx="104">
                  <c:v>82</c:v>
                </c:pt>
                <c:pt idx="105">
                  <c:v>82.5</c:v>
                </c:pt>
                <c:pt idx="106">
                  <c:v>83</c:v>
                </c:pt>
                <c:pt idx="107">
                  <c:v>83.5</c:v>
                </c:pt>
                <c:pt idx="108">
                  <c:v>84</c:v>
                </c:pt>
                <c:pt idx="109">
                  <c:v>84.5</c:v>
                </c:pt>
                <c:pt idx="110">
                  <c:v>85</c:v>
                </c:pt>
                <c:pt idx="111">
                  <c:v>85.5</c:v>
                </c:pt>
                <c:pt idx="112">
                  <c:v>86</c:v>
                </c:pt>
                <c:pt idx="113">
                  <c:v>86.5</c:v>
                </c:pt>
                <c:pt idx="114">
                  <c:v>87</c:v>
                </c:pt>
                <c:pt idx="115">
                  <c:v>87.5</c:v>
                </c:pt>
                <c:pt idx="116">
                  <c:v>88</c:v>
                </c:pt>
                <c:pt idx="117">
                  <c:v>88.5</c:v>
                </c:pt>
                <c:pt idx="118">
                  <c:v>89</c:v>
                </c:pt>
                <c:pt idx="119">
                  <c:v>89.5</c:v>
                </c:pt>
                <c:pt idx="120">
                  <c:v>90</c:v>
                </c:pt>
                <c:pt idx="121">
                  <c:v>90.5</c:v>
                </c:pt>
                <c:pt idx="122">
                  <c:v>91</c:v>
                </c:pt>
                <c:pt idx="123">
                  <c:v>91.5</c:v>
                </c:pt>
                <c:pt idx="124">
                  <c:v>92</c:v>
                </c:pt>
                <c:pt idx="125">
                  <c:v>92.5</c:v>
                </c:pt>
                <c:pt idx="126">
                  <c:v>93</c:v>
                </c:pt>
                <c:pt idx="127">
                  <c:v>93.5</c:v>
                </c:pt>
                <c:pt idx="128">
                  <c:v>94</c:v>
                </c:pt>
                <c:pt idx="129">
                  <c:v>94.5</c:v>
                </c:pt>
                <c:pt idx="130">
                  <c:v>95</c:v>
                </c:pt>
                <c:pt idx="131">
                  <c:v>95.5</c:v>
                </c:pt>
                <c:pt idx="132">
                  <c:v>96</c:v>
                </c:pt>
                <c:pt idx="133">
                  <c:v>96.5</c:v>
                </c:pt>
                <c:pt idx="134">
                  <c:v>97</c:v>
                </c:pt>
                <c:pt idx="135">
                  <c:v>97.5</c:v>
                </c:pt>
                <c:pt idx="136">
                  <c:v>98</c:v>
                </c:pt>
                <c:pt idx="137">
                  <c:v>98.5</c:v>
                </c:pt>
                <c:pt idx="138">
                  <c:v>99</c:v>
                </c:pt>
                <c:pt idx="139">
                  <c:v>99.5</c:v>
                </c:pt>
                <c:pt idx="140">
                  <c:v>100</c:v>
                </c:pt>
                <c:pt idx="141">
                  <c:v>100.5</c:v>
                </c:pt>
                <c:pt idx="142">
                  <c:v>101</c:v>
                </c:pt>
                <c:pt idx="143">
                  <c:v>101.5</c:v>
                </c:pt>
                <c:pt idx="144">
                  <c:v>102</c:v>
                </c:pt>
                <c:pt idx="145">
                  <c:v>102.5</c:v>
                </c:pt>
                <c:pt idx="146">
                  <c:v>103</c:v>
                </c:pt>
                <c:pt idx="147">
                  <c:v>103.5</c:v>
                </c:pt>
                <c:pt idx="148">
                  <c:v>104</c:v>
                </c:pt>
                <c:pt idx="149">
                  <c:v>104.5</c:v>
                </c:pt>
                <c:pt idx="150">
                  <c:v>105</c:v>
                </c:pt>
                <c:pt idx="151">
                  <c:v>105.5</c:v>
                </c:pt>
                <c:pt idx="152">
                  <c:v>106</c:v>
                </c:pt>
                <c:pt idx="153">
                  <c:v>106.5</c:v>
                </c:pt>
                <c:pt idx="154">
                  <c:v>107</c:v>
                </c:pt>
                <c:pt idx="155">
                  <c:v>107.5</c:v>
                </c:pt>
                <c:pt idx="156">
                  <c:v>108</c:v>
                </c:pt>
                <c:pt idx="157">
                  <c:v>108.5</c:v>
                </c:pt>
                <c:pt idx="158">
                  <c:v>109</c:v>
                </c:pt>
                <c:pt idx="159">
                  <c:v>109.5</c:v>
                </c:pt>
                <c:pt idx="160">
                  <c:v>110</c:v>
                </c:pt>
                <c:pt idx="161">
                  <c:v>110.5</c:v>
                </c:pt>
                <c:pt idx="162">
                  <c:v>111</c:v>
                </c:pt>
                <c:pt idx="163">
                  <c:v>111.5</c:v>
                </c:pt>
                <c:pt idx="164">
                  <c:v>112</c:v>
                </c:pt>
                <c:pt idx="165">
                  <c:v>112.5</c:v>
                </c:pt>
                <c:pt idx="166">
                  <c:v>113</c:v>
                </c:pt>
                <c:pt idx="167">
                  <c:v>113.5</c:v>
                </c:pt>
                <c:pt idx="168">
                  <c:v>114</c:v>
                </c:pt>
                <c:pt idx="169">
                  <c:v>114.5</c:v>
                </c:pt>
                <c:pt idx="170">
                  <c:v>115</c:v>
                </c:pt>
                <c:pt idx="171">
                  <c:v>115.5</c:v>
                </c:pt>
                <c:pt idx="172">
                  <c:v>116</c:v>
                </c:pt>
                <c:pt idx="173">
                  <c:v>116.5</c:v>
                </c:pt>
                <c:pt idx="174">
                  <c:v>117</c:v>
                </c:pt>
                <c:pt idx="175">
                  <c:v>117.5</c:v>
                </c:pt>
                <c:pt idx="176">
                  <c:v>118</c:v>
                </c:pt>
                <c:pt idx="177">
                  <c:v>118.5</c:v>
                </c:pt>
                <c:pt idx="178">
                  <c:v>119</c:v>
                </c:pt>
                <c:pt idx="179">
                  <c:v>119.5</c:v>
                </c:pt>
                <c:pt idx="180">
                  <c:v>120</c:v>
                </c:pt>
                <c:pt idx="181">
                  <c:v>120.5</c:v>
                </c:pt>
                <c:pt idx="182">
                  <c:v>121</c:v>
                </c:pt>
                <c:pt idx="183">
                  <c:v>121.5</c:v>
                </c:pt>
                <c:pt idx="184">
                  <c:v>122</c:v>
                </c:pt>
                <c:pt idx="185">
                  <c:v>122.5</c:v>
                </c:pt>
                <c:pt idx="186">
                  <c:v>123</c:v>
                </c:pt>
                <c:pt idx="187">
                  <c:v>123.5</c:v>
                </c:pt>
                <c:pt idx="188">
                  <c:v>124</c:v>
                </c:pt>
                <c:pt idx="189">
                  <c:v>124.5</c:v>
                </c:pt>
                <c:pt idx="190">
                  <c:v>125</c:v>
                </c:pt>
                <c:pt idx="191">
                  <c:v>125.5</c:v>
                </c:pt>
                <c:pt idx="192">
                  <c:v>126</c:v>
                </c:pt>
                <c:pt idx="193">
                  <c:v>126.5</c:v>
                </c:pt>
                <c:pt idx="194">
                  <c:v>127</c:v>
                </c:pt>
                <c:pt idx="195">
                  <c:v>127.5</c:v>
                </c:pt>
                <c:pt idx="196">
                  <c:v>128</c:v>
                </c:pt>
                <c:pt idx="197">
                  <c:v>128.5</c:v>
                </c:pt>
                <c:pt idx="198">
                  <c:v>129</c:v>
                </c:pt>
                <c:pt idx="199">
                  <c:v>129.5</c:v>
                </c:pt>
                <c:pt idx="200">
                  <c:v>130</c:v>
                </c:pt>
                <c:pt idx="201">
                  <c:v>130.5</c:v>
                </c:pt>
                <c:pt idx="202">
                  <c:v>131</c:v>
                </c:pt>
                <c:pt idx="203">
                  <c:v>131.5</c:v>
                </c:pt>
                <c:pt idx="204">
                  <c:v>132</c:v>
                </c:pt>
                <c:pt idx="205">
                  <c:v>132.5</c:v>
                </c:pt>
                <c:pt idx="206">
                  <c:v>133</c:v>
                </c:pt>
                <c:pt idx="207">
                  <c:v>133.5</c:v>
                </c:pt>
                <c:pt idx="208">
                  <c:v>134</c:v>
                </c:pt>
                <c:pt idx="209">
                  <c:v>134.5</c:v>
                </c:pt>
                <c:pt idx="210">
                  <c:v>135</c:v>
                </c:pt>
                <c:pt idx="211">
                  <c:v>135.5</c:v>
                </c:pt>
                <c:pt idx="212">
                  <c:v>136</c:v>
                </c:pt>
                <c:pt idx="213">
                  <c:v>136.5</c:v>
                </c:pt>
                <c:pt idx="214">
                  <c:v>137</c:v>
                </c:pt>
                <c:pt idx="215">
                  <c:v>137.5</c:v>
                </c:pt>
                <c:pt idx="216">
                  <c:v>138</c:v>
                </c:pt>
                <c:pt idx="217">
                  <c:v>138.5</c:v>
                </c:pt>
                <c:pt idx="218">
                  <c:v>139</c:v>
                </c:pt>
                <c:pt idx="219">
                  <c:v>139.5</c:v>
                </c:pt>
                <c:pt idx="220">
                  <c:v>140</c:v>
                </c:pt>
                <c:pt idx="221">
                  <c:v>140.5</c:v>
                </c:pt>
                <c:pt idx="222">
                  <c:v>141</c:v>
                </c:pt>
                <c:pt idx="223">
                  <c:v>141.5</c:v>
                </c:pt>
                <c:pt idx="224">
                  <c:v>142</c:v>
                </c:pt>
                <c:pt idx="225">
                  <c:v>142.5</c:v>
                </c:pt>
                <c:pt idx="226">
                  <c:v>143</c:v>
                </c:pt>
                <c:pt idx="227">
                  <c:v>143.5</c:v>
                </c:pt>
                <c:pt idx="228">
                  <c:v>144</c:v>
                </c:pt>
                <c:pt idx="229">
                  <c:v>144.5</c:v>
                </c:pt>
                <c:pt idx="230">
                  <c:v>145</c:v>
                </c:pt>
                <c:pt idx="231">
                  <c:v>145.5</c:v>
                </c:pt>
                <c:pt idx="232">
                  <c:v>146</c:v>
                </c:pt>
                <c:pt idx="233">
                  <c:v>146.5</c:v>
                </c:pt>
                <c:pt idx="234">
                  <c:v>147</c:v>
                </c:pt>
                <c:pt idx="235">
                  <c:v>147.5</c:v>
                </c:pt>
                <c:pt idx="236">
                  <c:v>148</c:v>
                </c:pt>
                <c:pt idx="237">
                  <c:v>148.5</c:v>
                </c:pt>
                <c:pt idx="238">
                  <c:v>149</c:v>
                </c:pt>
                <c:pt idx="239">
                  <c:v>149.5</c:v>
                </c:pt>
                <c:pt idx="240">
                  <c:v>150</c:v>
                </c:pt>
                <c:pt idx="241">
                  <c:v>150.5</c:v>
                </c:pt>
                <c:pt idx="242">
                  <c:v>151</c:v>
                </c:pt>
                <c:pt idx="243">
                  <c:v>151.5</c:v>
                </c:pt>
                <c:pt idx="244">
                  <c:v>152</c:v>
                </c:pt>
                <c:pt idx="245">
                  <c:v>152.5</c:v>
                </c:pt>
                <c:pt idx="246">
                  <c:v>153</c:v>
                </c:pt>
                <c:pt idx="247">
                  <c:v>153.5</c:v>
                </c:pt>
                <c:pt idx="248">
                  <c:v>154</c:v>
                </c:pt>
                <c:pt idx="249">
                  <c:v>154.5</c:v>
                </c:pt>
                <c:pt idx="250">
                  <c:v>155</c:v>
                </c:pt>
                <c:pt idx="251">
                  <c:v>155.5</c:v>
                </c:pt>
                <c:pt idx="252">
                  <c:v>156</c:v>
                </c:pt>
                <c:pt idx="253">
                  <c:v>156.5</c:v>
                </c:pt>
                <c:pt idx="254">
                  <c:v>157</c:v>
                </c:pt>
                <c:pt idx="255">
                  <c:v>157.5</c:v>
                </c:pt>
                <c:pt idx="256">
                  <c:v>158</c:v>
                </c:pt>
                <c:pt idx="257">
                  <c:v>158.5</c:v>
                </c:pt>
                <c:pt idx="258">
                  <c:v>159</c:v>
                </c:pt>
                <c:pt idx="259">
                  <c:v>159.5</c:v>
                </c:pt>
                <c:pt idx="260">
                  <c:v>160</c:v>
                </c:pt>
              </c:numCache>
            </c:numRef>
          </c:xVal>
          <c:yVal>
            <c:numRef>
              <c:f>Sheet1!$B$2:$B$262</c:f>
              <c:numCache>
                <c:formatCode>General</c:formatCode>
                <c:ptCount val="261"/>
                <c:pt idx="0">
                  <c:v>30</c:v>
                </c:pt>
                <c:pt idx="1">
                  <c:v>30.5</c:v>
                </c:pt>
                <c:pt idx="2">
                  <c:v>31</c:v>
                </c:pt>
                <c:pt idx="3">
                  <c:v>31.5</c:v>
                </c:pt>
                <c:pt idx="4">
                  <c:v>32</c:v>
                </c:pt>
                <c:pt idx="5">
                  <c:v>32.5</c:v>
                </c:pt>
                <c:pt idx="6">
                  <c:v>33</c:v>
                </c:pt>
                <c:pt idx="7">
                  <c:v>33.5</c:v>
                </c:pt>
                <c:pt idx="8">
                  <c:v>34</c:v>
                </c:pt>
                <c:pt idx="9">
                  <c:v>34.5</c:v>
                </c:pt>
                <c:pt idx="10">
                  <c:v>35</c:v>
                </c:pt>
                <c:pt idx="11">
                  <c:v>35.5</c:v>
                </c:pt>
                <c:pt idx="12">
                  <c:v>36</c:v>
                </c:pt>
                <c:pt idx="13">
                  <c:v>36.5</c:v>
                </c:pt>
                <c:pt idx="14">
                  <c:v>37</c:v>
                </c:pt>
                <c:pt idx="15">
                  <c:v>37.5</c:v>
                </c:pt>
                <c:pt idx="16">
                  <c:v>38</c:v>
                </c:pt>
                <c:pt idx="17">
                  <c:v>38.5</c:v>
                </c:pt>
                <c:pt idx="18">
                  <c:v>39</c:v>
                </c:pt>
                <c:pt idx="19">
                  <c:v>39.5</c:v>
                </c:pt>
                <c:pt idx="20">
                  <c:v>40</c:v>
                </c:pt>
                <c:pt idx="21">
                  <c:v>40.5</c:v>
                </c:pt>
                <c:pt idx="22">
                  <c:v>41</c:v>
                </c:pt>
                <c:pt idx="23">
                  <c:v>41.5</c:v>
                </c:pt>
                <c:pt idx="24">
                  <c:v>42</c:v>
                </c:pt>
                <c:pt idx="25">
                  <c:v>42.5</c:v>
                </c:pt>
                <c:pt idx="26">
                  <c:v>43</c:v>
                </c:pt>
                <c:pt idx="27">
                  <c:v>43.5</c:v>
                </c:pt>
                <c:pt idx="28">
                  <c:v>44</c:v>
                </c:pt>
                <c:pt idx="29">
                  <c:v>44.5</c:v>
                </c:pt>
                <c:pt idx="30">
                  <c:v>45</c:v>
                </c:pt>
                <c:pt idx="31">
                  <c:v>45.5</c:v>
                </c:pt>
                <c:pt idx="32">
                  <c:v>46</c:v>
                </c:pt>
                <c:pt idx="33">
                  <c:v>46.5</c:v>
                </c:pt>
                <c:pt idx="34">
                  <c:v>47</c:v>
                </c:pt>
                <c:pt idx="35">
                  <c:v>47.5</c:v>
                </c:pt>
                <c:pt idx="36">
                  <c:v>48</c:v>
                </c:pt>
                <c:pt idx="37">
                  <c:v>48.5</c:v>
                </c:pt>
                <c:pt idx="38">
                  <c:v>49</c:v>
                </c:pt>
                <c:pt idx="39">
                  <c:v>49.5</c:v>
                </c:pt>
                <c:pt idx="40">
                  <c:v>50</c:v>
                </c:pt>
                <c:pt idx="41">
                  <c:v>50.5</c:v>
                </c:pt>
                <c:pt idx="42">
                  <c:v>51</c:v>
                </c:pt>
                <c:pt idx="43">
                  <c:v>51.5</c:v>
                </c:pt>
                <c:pt idx="44">
                  <c:v>52</c:v>
                </c:pt>
                <c:pt idx="45">
                  <c:v>52.5</c:v>
                </c:pt>
                <c:pt idx="46">
                  <c:v>53</c:v>
                </c:pt>
                <c:pt idx="47">
                  <c:v>53.5</c:v>
                </c:pt>
                <c:pt idx="48">
                  <c:v>54</c:v>
                </c:pt>
                <c:pt idx="49">
                  <c:v>54.5</c:v>
                </c:pt>
                <c:pt idx="50">
                  <c:v>55</c:v>
                </c:pt>
                <c:pt idx="51">
                  <c:v>55.5</c:v>
                </c:pt>
                <c:pt idx="52">
                  <c:v>56</c:v>
                </c:pt>
                <c:pt idx="53">
                  <c:v>56.5</c:v>
                </c:pt>
                <c:pt idx="54">
                  <c:v>57</c:v>
                </c:pt>
                <c:pt idx="55">
                  <c:v>57.5</c:v>
                </c:pt>
                <c:pt idx="56">
                  <c:v>58</c:v>
                </c:pt>
                <c:pt idx="57">
                  <c:v>58.5</c:v>
                </c:pt>
                <c:pt idx="58">
                  <c:v>59</c:v>
                </c:pt>
                <c:pt idx="59">
                  <c:v>59.5</c:v>
                </c:pt>
                <c:pt idx="60">
                  <c:v>60</c:v>
                </c:pt>
                <c:pt idx="61">
                  <c:v>60.5</c:v>
                </c:pt>
                <c:pt idx="62">
                  <c:v>61</c:v>
                </c:pt>
                <c:pt idx="63">
                  <c:v>61.5</c:v>
                </c:pt>
                <c:pt idx="64">
                  <c:v>62</c:v>
                </c:pt>
                <c:pt idx="65">
                  <c:v>62.5</c:v>
                </c:pt>
                <c:pt idx="66">
                  <c:v>63</c:v>
                </c:pt>
                <c:pt idx="67">
                  <c:v>63.5</c:v>
                </c:pt>
                <c:pt idx="68">
                  <c:v>64</c:v>
                </c:pt>
                <c:pt idx="69">
                  <c:v>64.5</c:v>
                </c:pt>
                <c:pt idx="70">
                  <c:v>100</c:v>
                </c:pt>
                <c:pt idx="71">
                  <c:v>100</c:v>
                </c:pt>
                <c:pt idx="72">
                  <c:v>100</c:v>
                </c:pt>
                <c:pt idx="73">
                  <c:v>100</c:v>
                </c:pt>
                <c:pt idx="74">
                  <c:v>100</c:v>
                </c:pt>
                <c:pt idx="75">
                  <c:v>100</c:v>
                </c:pt>
                <c:pt idx="76">
                  <c:v>100</c:v>
                </c:pt>
                <c:pt idx="77">
                  <c:v>100</c:v>
                </c:pt>
                <c:pt idx="78">
                  <c:v>100</c:v>
                </c:pt>
                <c:pt idx="79">
                  <c:v>100</c:v>
                </c:pt>
                <c:pt idx="80">
                  <c:v>100</c:v>
                </c:pt>
                <c:pt idx="81">
                  <c:v>100</c:v>
                </c:pt>
                <c:pt idx="82">
                  <c:v>100</c:v>
                </c:pt>
                <c:pt idx="83">
                  <c:v>100</c:v>
                </c:pt>
                <c:pt idx="84">
                  <c:v>100</c:v>
                </c:pt>
                <c:pt idx="85">
                  <c:v>100</c:v>
                </c:pt>
                <c:pt idx="86">
                  <c:v>100</c:v>
                </c:pt>
                <c:pt idx="87">
                  <c:v>100</c:v>
                </c:pt>
                <c:pt idx="88">
                  <c:v>100</c:v>
                </c:pt>
                <c:pt idx="89">
                  <c:v>100</c:v>
                </c:pt>
                <c:pt idx="90">
                  <c:v>100</c:v>
                </c:pt>
                <c:pt idx="91">
                  <c:v>100</c:v>
                </c:pt>
                <c:pt idx="92">
                  <c:v>100</c:v>
                </c:pt>
                <c:pt idx="93">
                  <c:v>100</c:v>
                </c:pt>
                <c:pt idx="94">
                  <c:v>100</c:v>
                </c:pt>
                <c:pt idx="95">
                  <c:v>100</c:v>
                </c:pt>
                <c:pt idx="96">
                  <c:v>100</c:v>
                </c:pt>
                <c:pt idx="97">
                  <c:v>100</c:v>
                </c:pt>
                <c:pt idx="98">
                  <c:v>100</c:v>
                </c:pt>
                <c:pt idx="99">
                  <c:v>100</c:v>
                </c:pt>
                <c:pt idx="100">
                  <c:v>100</c:v>
                </c:pt>
                <c:pt idx="101">
                  <c:v>100</c:v>
                </c:pt>
                <c:pt idx="102">
                  <c:v>100</c:v>
                </c:pt>
                <c:pt idx="103">
                  <c:v>100</c:v>
                </c:pt>
                <c:pt idx="104">
                  <c:v>100</c:v>
                </c:pt>
                <c:pt idx="105">
                  <c:v>100</c:v>
                </c:pt>
                <c:pt idx="106">
                  <c:v>100</c:v>
                </c:pt>
                <c:pt idx="107">
                  <c:v>100</c:v>
                </c:pt>
                <c:pt idx="108">
                  <c:v>100</c:v>
                </c:pt>
                <c:pt idx="109">
                  <c:v>100</c:v>
                </c:pt>
                <c:pt idx="110">
                  <c:v>100</c:v>
                </c:pt>
                <c:pt idx="111">
                  <c:v>100</c:v>
                </c:pt>
                <c:pt idx="112">
                  <c:v>100</c:v>
                </c:pt>
                <c:pt idx="113">
                  <c:v>100</c:v>
                </c:pt>
                <c:pt idx="114">
                  <c:v>100</c:v>
                </c:pt>
                <c:pt idx="115">
                  <c:v>100</c:v>
                </c:pt>
                <c:pt idx="116">
                  <c:v>100</c:v>
                </c:pt>
                <c:pt idx="117">
                  <c:v>100</c:v>
                </c:pt>
                <c:pt idx="118">
                  <c:v>100</c:v>
                </c:pt>
                <c:pt idx="119">
                  <c:v>100</c:v>
                </c:pt>
                <c:pt idx="120">
                  <c:v>100</c:v>
                </c:pt>
                <c:pt idx="121">
                  <c:v>100</c:v>
                </c:pt>
                <c:pt idx="122">
                  <c:v>100</c:v>
                </c:pt>
                <c:pt idx="123">
                  <c:v>100</c:v>
                </c:pt>
                <c:pt idx="124">
                  <c:v>100</c:v>
                </c:pt>
                <c:pt idx="125">
                  <c:v>100</c:v>
                </c:pt>
                <c:pt idx="126">
                  <c:v>100</c:v>
                </c:pt>
                <c:pt idx="127">
                  <c:v>100</c:v>
                </c:pt>
                <c:pt idx="128">
                  <c:v>100</c:v>
                </c:pt>
                <c:pt idx="129">
                  <c:v>100</c:v>
                </c:pt>
                <c:pt idx="130">
                  <c:v>100</c:v>
                </c:pt>
                <c:pt idx="131">
                  <c:v>100</c:v>
                </c:pt>
                <c:pt idx="132">
                  <c:v>100</c:v>
                </c:pt>
                <c:pt idx="133">
                  <c:v>100</c:v>
                </c:pt>
                <c:pt idx="134">
                  <c:v>100</c:v>
                </c:pt>
                <c:pt idx="135">
                  <c:v>100</c:v>
                </c:pt>
                <c:pt idx="136">
                  <c:v>100</c:v>
                </c:pt>
                <c:pt idx="137">
                  <c:v>100</c:v>
                </c:pt>
                <c:pt idx="138">
                  <c:v>100</c:v>
                </c:pt>
                <c:pt idx="139">
                  <c:v>100</c:v>
                </c:pt>
                <c:pt idx="140">
                  <c:v>145</c:v>
                </c:pt>
                <c:pt idx="141">
                  <c:v>145</c:v>
                </c:pt>
                <c:pt idx="142">
                  <c:v>145</c:v>
                </c:pt>
                <c:pt idx="143">
                  <c:v>145</c:v>
                </c:pt>
                <c:pt idx="144">
                  <c:v>145</c:v>
                </c:pt>
                <c:pt idx="145">
                  <c:v>145</c:v>
                </c:pt>
                <c:pt idx="146">
                  <c:v>145</c:v>
                </c:pt>
                <c:pt idx="147">
                  <c:v>145</c:v>
                </c:pt>
                <c:pt idx="148">
                  <c:v>145</c:v>
                </c:pt>
                <c:pt idx="149">
                  <c:v>145</c:v>
                </c:pt>
                <c:pt idx="150">
                  <c:v>145</c:v>
                </c:pt>
                <c:pt idx="151">
                  <c:v>145</c:v>
                </c:pt>
                <c:pt idx="152">
                  <c:v>145</c:v>
                </c:pt>
                <c:pt idx="153">
                  <c:v>145</c:v>
                </c:pt>
                <c:pt idx="154">
                  <c:v>145</c:v>
                </c:pt>
                <c:pt idx="155">
                  <c:v>145</c:v>
                </c:pt>
                <c:pt idx="156">
                  <c:v>145</c:v>
                </c:pt>
                <c:pt idx="157">
                  <c:v>145</c:v>
                </c:pt>
                <c:pt idx="158">
                  <c:v>145</c:v>
                </c:pt>
                <c:pt idx="159">
                  <c:v>145</c:v>
                </c:pt>
                <c:pt idx="160">
                  <c:v>145</c:v>
                </c:pt>
                <c:pt idx="161">
                  <c:v>145</c:v>
                </c:pt>
                <c:pt idx="162">
                  <c:v>145</c:v>
                </c:pt>
                <c:pt idx="163">
                  <c:v>145</c:v>
                </c:pt>
                <c:pt idx="164">
                  <c:v>145</c:v>
                </c:pt>
                <c:pt idx="165">
                  <c:v>145</c:v>
                </c:pt>
                <c:pt idx="166">
                  <c:v>145</c:v>
                </c:pt>
                <c:pt idx="167">
                  <c:v>145</c:v>
                </c:pt>
                <c:pt idx="168">
                  <c:v>145</c:v>
                </c:pt>
                <c:pt idx="169">
                  <c:v>145</c:v>
                </c:pt>
                <c:pt idx="170">
                  <c:v>145</c:v>
                </c:pt>
                <c:pt idx="171">
                  <c:v>145</c:v>
                </c:pt>
                <c:pt idx="172">
                  <c:v>145</c:v>
                </c:pt>
                <c:pt idx="173">
                  <c:v>145</c:v>
                </c:pt>
                <c:pt idx="174">
                  <c:v>145</c:v>
                </c:pt>
                <c:pt idx="175">
                  <c:v>145</c:v>
                </c:pt>
                <c:pt idx="176">
                  <c:v>145</c:v>
                </c:pt>
                <c:pt idx="177">
                  <c:v>145</c:v>
                </c:pt>
                <c:pt idx="178">
                  <c:v>145</c:v>
                </c:pt>
                <c:pt idx="179">
                  <c:v>145</c:v>
                </c:pt>
                <c:pt idx="180">
                  <c:v>145</c:v>
                </c:pt>
                <c:pt idx="181">
                  <c:v>145</c:v>
                </c:pt>
                <c:pt idx="182">
                  <c:v>145</c:v>
                </c:pt>
                <c:pt idx="183">
                  <c:v>145</c:v>
                </c:pt>
                <c:pt idx="184">
                  <c:v>145</c:v>
                </c:pt>
                <c:pt idx="185">
                  <c:v>145</c:v>
                </c:pt>
                <c:pt idx="186">
                  <c:v>145</c:v>
                </c:pt>
                <c:pt idx="187">
                  <c:v>145</c:v>
                </c:pt>
                <c:pt idx="188">
                  <c:v>145</c:v>
                </c:pt>
                <c:pt idx="189">
                  <c:v>145</c:v>
                </c:pt>
                <c:pt idx="190">
                  <c:v>145</c:v>
                </c:pt>
                <c:pt idx="191">
                  <c:v>145</c:v>
                </c:pt>
                <c:pt idx="192">
                  <c:v>145</c:v>
                </c:pt>
                <c:pt idx="193">
                  <c:v>145</c:v>
                </c:pt>
                <c:pt idx="194">
                  <c:v>145</c:v>
                </c:pt>
                <c:pt idx="195">
                  <c:v>145</c:v>
                </c:pt>
                <c:pt idx="196">
                  <c:v>145</c:v>
                </c:pt>
                <c:pt idx="197">
                  <c:v>145</c:v>
                </c:pt>
                <c:pt idx="198">
                  <c:v>145</c:v>
                </c:pt>
                <c:pt idx="199">
                  <c:v>145</c:v>
                </c:pt>
                <c:pt idx="200">
                  <c:v>145</c:v>
                </c:pt>
                <c:pt idx="201">
                  <c:v>145</c:v>
                </c:pt>
                <c:pt idx="202">
                  <c:v>145</c:v>
                </c:pt>
                <c:pt idx="203">
                  <c:v>145</c:v>
                </c:pt>
                <c:pt idx="204">
                  <c:v>145</c:v>
                </c:pt>
                <c:pt idx="205">
                  <c:v>145</c:v>
                </c:pt>
                <c:pt idx="206">
                  <c:v>145</c:v>
                </c:pt>
                <c:pt idx="207">
                  <c:v>145</c:v>
                </c:pt>
                <c:pt idx="208">
                  <c:v>145</c:v>
                </c:pt>
                <c:pt idx="209">
                  <c:v>145</c:v>
                </c:pt>
                <c:pt idx="210">
                  <c:v>145</c:v>
                </c:pt>
                <c:pt idx="211">
                  <c:v>145</c:v>
                </c:pt>
                <c:pt idx="212">
                  <c:v>145</c:v>
                </c:pt>
                <c:pt idx="213">
                  <c:v>145</c:v>
                </c:pt>
                <c:pt idx="214">
                  <c:v>145</c:v>
                </c:pt>
                <c:pt idx="215">
                  <c:v>145</c:v>
                </c:pt>
                <c:pt idx="216">
                  <c:v>145</c:v>
                </c:pt>
                <c:pt idx="217">
                  <c:v>145</c:v>
                </c:pt>
                <c:pt idx="218">
                  <c:v>145</c:v>
                </c:pt>
                <c:pt idx="219">
                  <c:v>145</c:v>
                </c:pt>
                <c:pt idx="220">
                  <c:v>145</c:v>
                </c:pt>
                <c:pt idx="221">
                  <c:v>145</c:v>
                </c:pt>
                <c:pt idx="222">
                  <c:v>145</c:v>
                </c:pt>
                <c:pt idx="223">
                  <c:v>145</c:v>
                </c:pt>
                <c:pt idx="224">
                  <c:v>145</c:v>
                </c:pt>
                <c:pt idx="225">
                  <c:v>145</c:v>
                </c:pt>
                <c:pt idx="226">
                  <c:v>145</c:v>
                </c:pt>
                <c:pt idx="227">
                  <c:v>145</c:v>
                </c:pt>
                <c:pt idx="228">
                  <c:v>145</c:v>
                </c:pt>
                <c:pt idx="229">
                  <c:v>145</c:v>
                </c:pt>
                <c:pt idx="230">
                  <c:v>145</c:v>
                </c:pt>
                <c:pt idx="231">
                  <c:v>145</c:v>
                </c:pt>
                <c:pt idx="232">
                  <c:v>145</c:v>
                </c:pt>
                <c:pt idx="233">
                  <c:v>145</c:v>
                </c:pt>
                <c:pt idx="234">
                  <c:v>145</c:v>
                </c:pt>
                <c:pt idx="235">
                  <c:v>145</c:v>
                </c:pt>
                <c:pt idx="236">
                  <c:v>145</c:v>
                </c:pt>
                <c:pt idx="237">
                  <c:v>145</c:v>
                </c:pt>
                <c:pt idx="238">
                  <c:v>145</c:v>
                </c:pt>
                <c:pt idx="239">
                  <c:v>145</c:v>
                </c:pt>
                <c:pt idx="240">
                  <c:v>145</c:v>
                </c:pt>
                <c:pt idx="241">
                  <c:v>145</c:v>
                </c:pt>
                <c:pt idx="242">
                  <c:v>145</c:v>
                </c:pt>
                <c:pt idx="243">
                  <c:v>145</c:v>
                </c:pt>
                <c:pt idx="244">
                  <c:v>145</c:v>
                </c:pt>
                <c:pt idx="245">
                  <c:v>145</c:v>
                </c:pt>
                <c:pt idx="246">
                  <c:v>145</c:v>
                </c:pt>
                <c:pt idx="247">
                  <c:v>145</c:v>
                </c:pt>
                <c:pt idx="248">
                  <c:v>145</c:v>
                </c:pt>
                <c:pt idx="249">
                  <c:v>145</c:v>
                </c:pt>
                <c:pt idx="250">
                  <c:v>145</c:v>
                </c:pt>
                <c:pt idx="251">
                  <c:v>145</c:v>
                </c:pt>
                <c:pt idx="252">
                  <c:v>145</c:v>
                </c:pt>
                <c:pt idx="253">
                  <c:v>145</c:v>
                </c:pt>
                <c:pt idx="254">
                  <c:v>145</c:v>
                </c:pt>
                <c:pt idx="255">
                  <c:v>145</c:v>
                </c:pt>
                <c:pt idx="256">
                  <c:v>145</c:v>
                </c:pt>
                <c:pt idx="257">
                  <c:v>145</c:v>
                </c:pt>
                <c:pt idx="258">
                  <c:v>145</c:v>
                </c:pt>
                <c:pt idx="259">
                  <c:v>145</c:v>
                </c:pt>
                <c:pt idx="260">
                  <c:v>145</c:v>
                </c:pt>
              </c:numCache>
            </c:numRef>
          </c:yVal>
          <c:smooth val="0"/>
        </c:ser>
        <c:ser>
          <c:idx val="1"/>
          <c:order val="1"/>
          <c:tx>
            <c:strRef>
              <c:f>Sheet1!$C$1</c:f>
              <c:strCache>
                <c:ptCount val="1"/>
                <c:pt idx="0">
                  <c:v>Basket directly</c:v>
                </c:pt>
              </c:strCache>
            </c:strRef>
          </c:tx>
          <c:spPr>
            <a:solidFill>
              <a:srgbClr val="8FA6AA"/>
            </a:solidFill>
            <a:ln w="28575" cap="flat">
              <a:solidFill>
                <a:srgbClr val="8FA6AA"/>
              </a:solidFill>
              <a:prstDash val="solid"/>
              <a:round/>
            </a:ln>
            <a:effectLst/>
          </c:spPr>
          <c:marker>
            <c:symbol val="none"/>
            <c:size val="6"/>
            <c:spPr>
              <a:solidFill>
                <a:srgbClr val="8FA6AA"/>
              </a:solidFill>
              <a:ln w="9525" cap="flat">
                <a:solidFill>
                  <a:srgbClr val="8FA6AA"/>
                </a:solidFill>
                <a:prstDash val="solid"/>
                <a:round/>
              </a:ln>
              <a:effectLst/>
            </c:spPr>
          </c:marker>
          <c:xVal>
            <c:numRef>
              <c:f>Sheet1!$A$2:$A$262</c:f>
              <c:numCache>
                <c:formatCode>General</c:formatCode>
                <c:ptCount val="261"/>
                <c:pt idx="0">
                  <c:v>30</c:v>
                </c:pt>
                <c:pt idx="1">
                  <c:v>30.5</c:v>
                </c:pt>
                <c:pt idx="2">
                  <c:v>31</c:v>
                </c:pt>
                <c:pt idx="3">
                  <c:v>31.5</c:v>
                </c:pt>
                <c:pt idx="4">
                  <c:v>32</c:v>
                </c:pt>
                <c:pt idx="5">
                  <c:v>32.5</c:v>
                </c:pt>
                <c:pt idx="6">
                  <c:v>33</c:v>
                </c:pt>
                <c:pt idx="7">
                  <c:v>33.5</c:v>
                </c:pt>
                <c:pt idx="8">
                  <c:v>34</c:v>
                </c:pt>
                <c:pt idx="9">
                  <c:v>34.5</c:v>
                </c:pt>
                <c:pt idx="10">
                  <c:v>35</c:v>
                </c:pt>
                <c:pt idx="11">
                  <c:v>35.5</c:v>
                </c:pt>
                <c:pt idx="12">
                  <c:v>36</c:v>
                </c:pt>
                <c:pt idx="13">
                  <c:v>36.5</c:v>
                </c:pt>
                <c:pt idx="14">
                  <c:v>37</c:v>
                </c:pt>
                <c:pt idx="15">
                  <c:v>37.5</c:v>
                </c:pt>
                <c:pt idx="16">
                  <c:v>38</c:v>
                </c:pt>
                <c:pt idx="17">
                  <c:v>38.5</c:v>
                </c:pt>
                <c:pt idx="18">
                  <c:v>39</c:v>
                </c:pt>
                <c:pt idx="19">
                  <c:v>39.5</c:v>
                </c:pt>
                <c:pt idx="20">
                  <c:v>40</c:v>
                </c:pt>
                <c:pt idx="21">
                  <c:v>40.5</c:v>
                </c:pt>
                <c:pt idx="22">
                  <c:v>41</c:v>
                </c:pt>
                <c:pt idx="23">
                  <c:v>41.5</c:v>
                </c:pt>
                <c:pt idx="24">
                  <c:v>42</c:v>
                </c:pt>
                <c:pt idx="25">
                  <c:v>42.5</c:v>
                </c:pt>
                <c:pt idx="26">
                  <c:v>43</c:v>
                </c:pt>
                <c:pt idx="27">
                  <c:v>43.5</c:v>
                </c:pt>
                <c:pt idx="28">
                  <c:v>44</c:v>
                </c:pt>
                <c:pt idx="29">
                  <c:v>44.5</c:v>
                </c:pt>
                <c:pt idx="30">
                  <c:v>45</c:v>
                </c:pt>
                <c:pt idx="31">
                  <c:v>45.5</c:v>
                </c:pt>
                <c:pt idx="32">
                  <c:v>46</c:v>
                </c:pt>
                <c:pt idx="33">
                  <c:v>46.5</c:v>
                </c:pt>
                <c:pt idx="34">
                  <c:v>47</c:v>
                </c:pt>
                <c:pt idx="35">
                  <c:v>47.5</c:v>
                </c:pt>
                <c:pt idx="36">
                  <c:v>48</c:v>
                </c:pt>
                <c:pt idx="37">
                  <c:v>48.5</c:v>
                </c:pt>
                <c:pt idx="38">
                  <c:v>49</c:v>
                </c:pt>
                <c:pt idx="39">
                  <c:v>49.5</c:v>
                </c:pt>
                <c:pt idx="40">
                  <c:v>50</c:v>
                </c:pt>
                <c:pt idx="41">
                  <c:v>50.5</c:v>
                </c:pt>
                <c:pt idx="42">
                  <c:v>51</c:v>
                </c:pt>
                <c:pt idx="43">
                  <c:v>51.5</c:v>
                </c:pt>
                <c:pt idx="44">
                  <c:v>52</c:v>
                </c:pt>
                <c:pt idx="45">
                  <c:v>52.5</c:v>
                </c:pt>
                <c:pt idx="46">
                  <c:v>53</c:v>
                </c:pt>
                <c:pt idx="47">
                  <c:v>53.5</c:v>
                </c:pt>
                <c:pt idx="48">
                  <c:v>54</c:v>
                </c:pt>
                <c:pt idx="49">
                  <c:v>54.5</c:v>
                </c:pt>
                <c:pt idx="50">
                  <c:v>55</c:v>
                </c:pt>
                <c:pt idx="51">
                  <c:v>55.5</c:v>
                </c:pt>
                <c:pt idx="52">
                  <c:v>56</c:v>
                </c:pt>
                <c:pt idx="53">
                  <c:v>56.5</c:v>
                </c:pt>
                <c:pt idx="54">
                  <c:v>57</c:v>
                </c:pt>
                <c:pt idx="55">
                  <c:v>57.5</c:v>
                </c:pt>
                <c:pt idx="56">
                  <c:v>58</c:v>
                </c:pt>
                <c:pt idx="57">
                  <c:v>58.5</c:v>
                </c:pt>
                <c:pt idx="58">
                  <c:v>59</c:v>
                </c:pt>
                <c:pt idx="59">
                  <c:v>59.5</c:v>
                </c:pt>
                <c:pt idx="60">
                  <c:v>60</c:v>
                </c:pt>
                <c:pt idx="61">
                  <c:v>60.5</c:v>
                </c:pt>
                <c:pt idx="62">
                  <c:v>61</c:v>
                </c:pt>
                <c:pt idx="63">
                  <c:v>61.5</c:v>
                </c:pt>
                <c:pt idx="64">
                  <c:v>62</c:v>
                </c:pt>
                <c:pt idx="65">
                  <c:v>62.5</c:v>
                </c:pt>
                <c:pt idx="66">
                  <c:v>63</c:v>
                </c:pt>
                <c:pt idx="67">
                  <c:v>63.5</c:v>
                </c:pt>
                <c:pt idx="68">
                  <c:v>64</c:v>
                </c:pt>
                <c:pt idx="69">
                  <c:v>64.5</c:v>
                </c:pt>
                <c:pt idx="70">
                  <c:v>65</c:v>
                </c:pt>
                <c:pt idx="71">
                  <c:v>65.5</c:v>
                </c:pt>
                <c:pt idx="72">
                  <c:v>66</c:v>
                </c:pt>
                <c:pt idx="73">
                  <c:v>66.5</c:v>
                </c:pt>
                <c:pt idx="74">
                  <c:v>67</c:v>
                </c:pt>
                <c:pt idx="75">
                  <c:v>67.5</c:v>
                </c:pt>
                <c:pt idx="76">
                  <c:v>68</c:v>
                </c:pt>
                <c:pt idx="77">
                  <c:v>68.5</c:v>
                </c:pt>
                <c:pt idx="78">
                  <c:v>69</c:v>
                </c:pt>
                <c:pt idx="79">
                  <c:v>69.5</c:v>
                </c:pt>
                <c:pt idx="80">
                  <c:v>70</c:v>
                </c:pt>
                <c:pt idx="81">
                  <c:v>70.5</c:v>
                </c:pt>
                <c:pt idx="82">
                  <c:v>71</c:v>
                </c:pt>
                <c:pt idx="83">
                  <c:v>71.5</c:v>
                </c:pt>
                <c:pt idx="84">
                  <c:v>72</c:v>
                </c:pt>
                <c:pt idx="85">
                  <c:v>72.5</c:v>
                </c:pt>
                <c:pt idx="86">
                  <c:v>73</c:v>
                </c:pt>
                <c:pt idx="87">
                  <c:v>73.5</c:v>
                </c:pt>
                <c:pt idx="88">
                  <c:v>74</c:v>
                </c:pt>
                <c:pt idx="89">
                  <c:v>74.5</c:v>
                </c:pt>
                <c:pt idx="90">
                  <c:v>75</c:v>
                </c:pt>
                <c:pt idx="91">
                  <c:v>75.5</c:v>
                </c:pt>
                <c:pt idx="92">
                  <c:v>76</c:v>
                </c:pt>
                <c:pt idx="93">
                  <c:v>76.5</c:v>
                </c:pt>
                <c:pt idx="94">
                  <c:v>77</c:v>
                </c:pt>
                <c:pt idx="95">
                  <c:v>77.5</c:v>
                </c:pt>
                <c:pt idx="96">
                  <c:v>78</c:v>
                </c:pt>
                <c:pt idx="97">
                  <c:v>78.5</c:v>
                </c:pt>
                <c:pt idx="98">
                  <c:v>79</c:v>
                </c:pt>
                <c:pt idx="99">
                  <c:v>79.5</c:v>
                </c:pt>
                <c:pt idx="100">
                  <c:v>80</c:v>
                </c:pt>
                <c:pt idx="101">
                  <c:v>80.5</c:v>
                </c:pt>
                <c:pt idx="102">
                  <c:v>81</c:v>
                </c:pt>
                <c:pt idx="103">
                  <c:v>81.5</c:v>
                </c:pt>
                <c:pt idx="104">
                  <c:v>82</c:v>
                </c:pt>
                <c:pt idx="105">
                  <c:v>82.5</c:v>
                </c:pt>
                <c:pt idx="106">
                  <c:v>83</c:v>
                </c:pt>
                <c:pt idx="107">
                  <c:v>83.5</c:v>
                </c:pt>
                <c:pt idx="108">
                  <c:v>84</c:v>
                </c:pt>
                <c:pt idx="109">
                  <c:v>84.5</c:v>
                </c:pt>
                <c:pt idx="110">
                  <c:v>85</c:v>
                </c:pt>
                <c:pt idx="111">
                  <c:v>85.5</c:v>
                </c:pt>
                <c:pt idx="112">
                  <c:v>86</c:v>
                </c:pt>
                <c:pt idx="113">
                  <c:v>86.5</c:v>
                </c:pt>
                <c:pt idx="114">
                  <c:v>87</c:v>
                </c:pt>
                <c:pt idx="115">
                  <c:v>87.5</c:v>
                </c:pt>
                <c:pt idx="116">
                  <c:v>88</c:v>
                </c:pt>
                <c:pt idx="117">
                  <c:v>88.5</c:v>
                </c:pt>
                <c:pt idx="118">
                  <c:v>89</c:v>
                </c:pt>
                <c:pt idx="119">
                  <c:v>89.5</c:v>
                </c:pt>
                <c:pt idx="120">
                  <c:v>90</c:v>
                </c:pt>
                <c:pt idx="121">
                  <c:v>90.5</c:v>
                </c:pt>
                <c:pt idx="122">
                  <c:v>91</c:v>
                </c:pt>
                <c:pt idx="123">
                  <c:v>91.5</c:v>
                </c:pt>
                <c:pt idx="124">
                  <c:v>92</c:v>
                </c:pt>
                <c:pt idx="125">
                  <c:v>92.5</c:v>
                </c:pt>
                <c:pt idx="126">
                  <c:v>93</c:v>
                </c:pt>
                <c:pt idx="127">
                  <c:v>93.5</c:v>
                </c:pt>
                <c:pt idx="128">
                  <c:v>94</c:v>
                </c:pt>
                <c:pt idx="129">
                  <c:v>94.5</c:v>
                </c:pt>
                <c:pt idx="130">
                  <c:v>95</c:v>
                </c:pt>
                <c:pt idx="131">
                  <c:v>95.5</c:v>
                </c:pt>
                <c:pt idx="132">
                  <c:v>96</c:v>
                </c:pt>
                <c:pt idx="133">
                  <c:v>96.5</c:v>
                </c:pt>
                <c:pt idx="134">
                  <c:v>97</c:v>
                </c:pt>
                <c:pt idx="135">
                  <c:v>97.5</c:v>
                </c:pt>
                <c:pt idx="136">
                  <c:v>98</c:v>
                </c:pt>
                <c:pt idx="137">
                  <c:v>98.5</c:v>
                </c:pt>
                <c:pt idx="138">
                  <c:v>99</c:v>
                </c:pt>
                <c:pt idx="139">
                  <c:v>99.5</c:v>
                </c:pt>
                <c:pt idx="140">
                  <c:v>100</c:v>
                </c:pt>
                <c:pt idx="141">
                  <c:v>100.5</c:v>
                </c:pt>
                <c:pt idx="142">
                  <c:v>101</c:v>
                </c:pt>
                <c:pt idx="143">
                  <c:v>101.5</c:v>
                </c:pt>
                <c:pt idx="144">
                  <c:v>102</c:v>
                </c:pt>
                <c:pt idx="145">
                  <c:v>102.5</c:v>
                </c:pt>
                <c:pt idx="146">
                  <c:v>103</c:v>
                </c:pt>
                <c:pt idx="147">
                  <c:v>103.5</c:v>
                </c:pt>
                <c:pt idx="148">
                  <c:v>104</c:v>
                </c:pt>
                <c:pt idx="149">
                  <c:v>104.5</c:v>
                </c:pt>
                <c:pt idx="150">
                  <c:v>105</c:v>
                </c:pt>
                <c:pt idx="151">
                  <c:v>105.5</c:v>
                </c:pt>
                <c:pt idx="152">
                  <c:v>106</c:v>
                </c:pt>
                <c:pt idx="153">
                  <c:v>106.5</c:v>
                </c:pt>
                <c:pt idx="154">
                  <c:v>107</c:v>
                </c:pt>
                <c:pt idx="155">
                  <c:v>107.5</c:v>
                </c:pt>
                <c:pt idx="156">
                  <c:v>108</c:v>
                </c:pt>
                <c:pt idx="157">
                  <c:v>108.5</c:v>
                </c:pt>
                <c:pt idx="158">
                  <c:v>109</c:v>
                </c:pt>
                <c:pt idx="159">
                  <c:v>109.5</c:v>
                </c:pt>
                <c:pt idx="160">
                  <c:v>110</c:v>
                </c:pt>
                <c:pt idx="161">
                  <c:v>110.5</c:v>
                </c:pt>
                <c:pt idx="162">
                  <c:v>111</c:v>
                </c:pt>
                <c:pt idx="163">
                  <c:v>111.5</c:v>
                </c:pt>
                <c:pt idx="164">
                  <c:v>112</c:v>
                </c:pt>
                <c:pt idx="165">
                  <c:v>112.5</c:v>
                </c:pt>
                <c:pt idx="166">
                  <c:v>113</c:v>
                </c:pt>
                <c:pt idx="167">
                  <c:v>113.5</c:v>
                </c:pt>
                <c:pt idx="168">
                  <c:v>114</c:v>
                </c:pt>
                <c:pt idx="169">
                  <c:v>114.5</c:v>
                </c:pt>
                <c:pt idx="170">
                  <c:v>115</c:v>
                </c:pt>
                <c:pt idx="171">
                  <c:v>115.5</c:v>
                </c:pt>
                <c:pt idx="172">
                  <c:v>116</c:v>
                </c:pt>
                <c:pt idx="173">
                  <c:v>116.5</c:v>
                </c:pt>
                <c:pt idx="174">
                  <c:v>117</c:v>
                </c:pt>
                <c:pt idx="175">
                  <c:v>117.5</c:v>
                </c:pt>
                <c:pt idx="176">
                  <c:v>118</c:v>
                </c:pt>
                <c:pt idx="177">
                  <c:v>118.5</c:v>
                </c:pt>
                <c:pt idx="178">
                  <c:v>119</c:v>
                </c:pt>
                <c:pt idx="179">
                  <c:v>119.5</c:v>
                </c:pt>
                <c:pt idx="180">
                  <c:v>120</c:v>
                </c:pt>
                <c:pt idx="181">
                  <c:v>120.5</c:v>
                </c:pt>
                <c:pt idx="182">
                  <c:v>121</c:v>
                </c:pt>
                <c:pt idx="183">
                  <c:v>121.5</c:v>
                </c:pt>
                <c:pt idx="184">
                  <c:v>122</c:v>
                </c:pt>
                <c:pt idx="185">
                  <c:v>122.5</c:v>
                </c:pt>
                <c:pt idx="186">
                  <c:v>123</c:v>
                </c:pt>
                <c:pt idx="187">
                  <c:v>123.5</c:v>
                </c:pt>
                <c:pt idx="188">
                  <c:v>124</c:v>
                </c:pt>
                <c:pt idx="189">
                  <c:v>124.5</c:v>
                </c:pt>
                <c:pt idx="190">
                  <c:v>125</c:v>
                </c:pt>
                <c:pt idx="191">
                  <c:v>125.5</c:v>
                </c:pt>
                <c:pt idx="192">
                  <c:v>126</c:v>
                </c:pt>
                <c:pt idx="193">
                  <c:v>126.5</c:v>
                </c:pt>
                <c:pt idx="194">
                  <c:v>127</c:v>
                </c:pt>
                <c:pt idx="195">
                  <c:v>127.5</c:v>
                </c:pt>
                <c:pt idx="196">
                  <c:v>128</c:v>
                </c:pt>
                <c:pt idx="197">
                  <c:v>128.5</c:v>
                </c:pt>
                <c:pt idx="198">
                  <c:v>129</c:v>
                </c:pt>
                <c:pt idx="199">
                  <c:v>129.5</c:v>
                </c:pt>
                <c:pt idx="200">
                  <c:v>130</c:v>
                </c:pt>
                <c:pt idx="201">
                  <c:v>130.5</c:v>
                </c:pt>
                <c:pt idx="202">
                  <c:v>131</c:v>
                </c:pt>
                <c:pt idx="203">
                  <c:v>131.5</c:v>
                </c:pt>
                <c:pt idx="204">
                  <c:v>132</c:v>
                </c:pt>
                <c:pt idx="205">
                  <c:v>132.5</c:v>
                </c:pt>
                <c:pt idx="206">
                  <c:v>133</c:v>
                </c:pt>
                <c:pt idx="207">
                  <c:v>133.5</c:v>
                </c:pt>
                <c:pt idx="208">
                  <c:v>134</c:v>
                </c:pt>
                <c:pt idx="209">
                  <c:v>134.5</c:v>
                </c:pt>
                <c:pt idx="210">
                  <c:v>135</c:v>
                </c:pt>
                <c:pt idx="211">
                  <c:v>135.5</c:v>
                </c:pt>
                <c:pt idx="212">
                  <c:v>136</c:v>
                </c:pt>
                <c:pt idx="213">
                  <c:v>136.5</c:v>
                </c:pt>
                <c:pt idx="214">
                  <c:v>137</c:v>
                </c:pt>
                <c:pt idx="215">
                  <c:v>137.5</c:v>
                </c:pt>
                <c:pt idx="216">
                  <c:v>138</c:v>
                </c:pt>
                <c:pt idx="217">
                  <c:v>138.5</c:v>
                </c:pt>
                <c:pt idx="218">
                  <c:v>139</c:v>
                </c:pt>
                <c:pt idx="219">
                  <c:v>139.5</c:v>
                </c:pt>
                <c:pt idx="220">
                  <c:v>140</c:v>
                </c:pt>
                <c:pt idx="221">
                  <c:v>140.5</c:v>
                </c:pt>
                <c:pt idx="222">
                  <c:v>141</c:v>
                </c:pt>
                <c:pt idx="223">
                  <c:v>141.5</c:v>
                </c:pt>
                <c:pt idx="224">
                  <c:v>142</c:v>
                </c:pt>
                <c:pt idx="225">
                  <c:v>142.5</c:v>
                </c:pt>
                <c:pt idx="226">
                  <c:v>143</c:v>
                </c:pt>
                <c:pt idx="227">
                  <c:v>143.5</c:v>
                </c:pt>
                <c:pt idx="228">
                  <c:v>144</c:v>
                </c:pt>
                <c:pt idx="229">
                  <c:v>144.5</c:v>
                </c:pt>
                <c:pt idx="230">
                  <c:v>145</c:v>
                </c:pt>
                <c:pt idx="231">
                  <c:v>145.5</c:v>
                </c:pt>
                <c:pt idx="232">
                  <c:v>146</c:v>
                </c:pt>
                <c:pt idx="233">
                  <c:v>146.5</c:v>
                </c:pt>
                <c:pt idx="234">
                  <c:v>147</c:v>
                </c:pt>
                <c:pt idx="235">
                  <c:v>147.5</c:v>
                </c:pt>
                <c:pt idx="236">
                  <c:v>148</c:v>
                </c:pt>
                <c:pt idx="237">
                  <c:v>148.5</c:v>
                </c:pt>
                <c:pt idx="238">
                  <c:v>149</c:v>
                </c:pt>
                <c:pt idx="239">
                  <c:v>149.5</c:v>
                </c:pt>
                <c:pt idx="240">
                  <c:v>150</c:v>
                </c:pt>
                <c:pt idx="241">
                  <c:v>150.5</c:v>
                </c:pt>
                <c:pt idx="242">
                  <c:v>151</c:v>
                </c:pt>
                <c:pt idx="243">
                  <c:v>151.5</c:v>
                </c:pt>
                <c:pt idx="244">
                  <c:v>152</c:v>
                </c:pt>
                <c:pt idx="245">
                  <c:v>152.5</c:v>
                </c:pt>
                <c:pt idx="246">
                  <c:v>153</c:v>
                </c:pt>
                <c:pt idx="247">
                  <c:v>153.5</c:v>
                </c:pt>
                <c:pt idx="248">
                  <c:v>154</c:v>
                </c:pt>
                <c:pt idx="249">
                  <c:v>154.5</c:v>
                </c:pt>
                <c:pt idx="250">
                  <c:v>155</c:v>
                </c:pt>
                <c:pt idx="251">
                  <c:v>155.5</c:v>
                </c:pt>
                <c:pt idx="252">
                  <c:v>156</c:v>
                </c:pt>
                <c:pt idx="253">
                  <c:v>156.5</c:v>
                </c:pt>
                <c:pt idx="254">
                  <c:v>157</c:v>
                </c:pt>
                <c:pt idx="255">
                  <c:v>157.5</c:v>
                </c:pt>
                <c:pt idx="256">
                  <c:v>158</c:v>
                </c:pt>
                <c:pt idx="257">
                  <c:v>158.5</c:v>
                </c:pt>
                <c:pt idx="258">
                  <c:v>159</c:v>
                </c:pt>
                <c:pt idx="259">
                  <c:v>159.5</c:v>
                </c:pt>
                <c:pt idx="260">
                  <c:v>160</c:v>
                </c:pt>
              </c:numCache>
            </c:numRef>
          </c:xVal>
          <c:yVal>
            <c:numRef>
              <c:f>Sheet1!$C$2:$C$262</c:f>
              <c:numCache>
                <c:formatCode>General</c:formatCode>
                <c:ptCount val="261"/>
                <c:pt idx="0">
                  <c:v>30</c:v>
                </c:pt>
                <c:pt idx="1">
                  <c:v>30.5</c:v>
                </c:pt>
                <c:pt idx="2">
                  <c:v>31</c:v>
                </c:pt>
                <c:pt idx="3">
                  <c:v>31.5</c:v>
                </c:pt>
                <c:pt idx="4">
                  <c:v>32</c:v>
                </c:pt>
                <c:pt idx="5">
                  <c:v>32.5</c:v>
                </c:pt>
                <c:pt idx="6">
                  <c:v>33</c:v>
                </c:pt>
                <c:pt idx="7">
                  <c:v>33.5</c:v>
                </c:pt>
                <c:pt idx="8">
                  <c:v>34</c:v>
                </c:pt>
                <c:pt idx="9">
                  <c:v>34.5</c:v>
                </c:pt>
                <c:pt idx="10">
                  <c:v>35</c:v>
                </c:pt>
                <c:pt idx="11">
                  <c:v>35.5</c:v>
                </c:pt>
                <c:pt idx="12">
                  <c:v>36</c:v>
                </c:pt>
                <c:pt idx="13">
                  <c:v>36.5</c:v>
                </c:pt>
                <c:pt idx="14">
                  <c:v>37</c:v>
                </c:pt>
                <c:pt idx="15">
                  <c:v>37.5</c:v>
                </c:pt>
                <c:pt idx="16">
                  <c:v>38</c:v>
                </c:pt>
                <c:pt idx="17">
                  <c:v>38.5</c:v>
                </c:pt>
                <c:pt idx="18">
                  <c:v>39</c:v>
                </c:pt>
                <c:pt idx="19">
                  <c:v>39.5</c:v>
                </c:pt>
                <c:pt idx="20">
                  <c:v>40</c:v>
                </c:pt>
                <c:pt idx="21">
                  <c:v>40.5</c:v>
                </c:pt>
                <c:pt idx="22">
                  <c:v>41</c:v>
                </c:pt>
                <c:pt idx="23">
                  <c:v>41.5</c:v>
                </c:pt>
                <c:pt idx="24">
                  <c:v>42</c:v>
                </c:pt>
                <c:pt idx="25">
                  <c:v>42.5</c:v>
                </c:pt>
                <c:pt idx="26">
                  <c:v>43</c:v>
                </c:pt>
                <c:pt idx="27">
                  <c:v>43.5</c:v>
                </c:pt>
                <c:pt idx="28">
                  <c:v>44</c:v>
                </c:pt>
                <c:pt idx="29">
                  <c:v>44.5</c:v>
                </c:pt>
                <c:pt idx="30">
                  <c:v>45</c:v>
                </c:pt>
                <c:pt idx="31">
                  <c:v>45.5</c:v>
                </c:pt>
                <c:pt idx="32">
                  <c:v>46</c:v>
                </c:pt>
                <c:pt idx="33">
                  <c:v>46.5</c:v>
                </c:pt>
                <c:pt idx="34">
                  <c:v>47</c:v>
                </c:pt>
                <c:pt idx="35">
                  <c:v>47.5</c:v>
                </c:pt>
                <c:pt idx="36">
                  <c:v>48</c:v>
                </c:pt>
                <c:pt idx="37">
                  <c:v>48.5</c:v>
                </c:pt>
                <c:pt idx="38">
                  <c:v>49</c:v>
                </c:pt>
                <c:pt idx="39">
                  <c:v>49.5</c:v>
                </c:pt>
                <c:pt idx="40">
                  <c:v>50</c:v>
                </c:pt>
                <c:pt idx="41">
                  <c:v>50.5</c:v>
                </c:pt>
                <c:pt idx="42">
                  <c:v>51</c:v>
                </c:pt>
                <c:pt idx="43">
                  <c:v>51.5</c:v>
                </c:pt>
                <c:pt idx="44">
                  <c:v>52</c:v>
                </c:pt>
                <c:pt idx="45">
                  <c:v>52.5</c:v>
                </c:pt>
                <c:pt idx="46">
                  <c:v>53</c:v>
                </c:pt>
                <c:pt idx="47">
                  <c:v>53.5</c:v>
                </c:pt>
                <c:pt idx="48">
                  <c:v>54</c:v>
                </c:pt>
                <c:pt idx="49">
                  <c:v>54.5</c:v>
                </c:pt>
                <c:pt idx="50">
                  <c:v>55</c:v>
                </c:pt>
                <c:pt idx="51">
                  <c:v>55.5</c:v>
                </c:pt>
                <c:pt idx="52">
                  <c:v>56</c:v>
                </c:pt>
                <c:pt idx="53">
                  <c:v>56.5</c:v>
                </c:pt>
                <c:pt idx="54">
                  <c:v>57</c:v>
                </c:pt>
                <c:pt idx="55">
                  <c:v>57.5</c:v>
                </c:pt>
                <c:pt idx="56">
                  <c:v>58</c:v>
                </c:pt>
                <c:pt idx="57">
                  <c:v>58.5</c:v>
                </c:pt>
                <c:pt idx="58">
                  <c:v>59</c:v>
                </c:pt>
                <c:pt idx="59">
                  <c:v>59.5</c:v>
                </c:pt>
                <c:pt idx="60">
                  <c:v>60</c:v>
                </c:pt>
                <c:pt idx="61">
                  <c:v>60.5</c:v>
                </c:pt>
                <c:pt idx="62">
                  <c:v>61</c:v>
                </c:pt>
                <c:pt idx="63">
                  <c:v>61.5</c:v>
                </c:pt>
                <c:pt idx="64">
                  <c:v>62</c:v>
                </c:pt>
                <c:pt idx="65">
                  <c:v>62.5</c:v>
                </c:pt>
                <c:pt idx="66">
                  <c:v>63</c:v>
                </c:pt>
                <c:pt idx="67">
                  <c:v>63.5</c:v>
                </c:pt>
                <c:pt idx="68">
                  <c:v>64</c:v>
                </c:pt>
                <c:pt idx="69">
                  <c:v>64.5</c:v>
                </c:pt>
                <c:pt idx="70">
                  <c:v>65</c:v>
                </c:pt>
                <c:pt idx="71">
                  <c:v>65.5</c:v>
                </c:pt>
                <c:pt idx="72">
                  <c:v>66</c:v>
                </c:pt>
                <c:pt idx="73">
                  <c:v>66.5</c:v>
                </c:pt>
                <c:pt idx="74">
                  <c:v>67</c:v>
                </c:pt>
                <c:pt idx="75">
                  <c:v>67.5</c:v>
                </c:pt>
                <c:pt idx="76">
                  <c:v>68</c:v>
                </c:pt>
                <c:pt idx="77">
                  <c:v>68.5</c:v>
                </c:pt>
                <c:pt idx="78">
                  <c:v>69</c:v>
                </c:pt>
                <c:pt idx="79">
                  <c:v>69.5</c:v>
                </c:pt>
                <c:pt idx="80">
                  <c:v>70</c:v>
                </c:pt>
                <c:pt idx="81">
                  <c:v>70.5</c:v>
                </c:pt>
                <c:pt idx="82">
                  <c:v>71</c:v>
                </c:pt>
                <c:pt idx="83">
                  <c:v>71.5</c:v>
                </c:pt>
                <c:pt idx="84">
                  <c:v>72</c:v>
                </c:pt>
                <c:pt idx="85">
                  <c:v>72.5</c:v>
                </c:pt>
                <c:pt idx="86">
                  <c:v>73</c:v>
                </c:pt>
                <c:pt idx="87">
                  <c:v>73.5</c:v>
                </c:pt>
                <c:pt idx="88">
                  <c:v>74</c:v>
                </c:pt>
                <c:pt idx="89">
                  <c:v>74.5</c:v>
                </c:pt>
                <c:pt idx="90">
                  <c:v>75</c:v>
                </c:pt>
                <c:pt idx="91">
                  <c:v>75.5</c:v>
                </c:pt>
                <c:pt idx="92">
                  <c:v>76</c:v>
                </c:pt>
                <c:pt idx="93">
                  <c:v>76.5</c:v>
                </c:pt>
                <c:pt idx="94">
                  <c:v>77</c:v>
                </c:pt>
                <c:pt idx="95">
                  <c:v>77.5</c:v>
                </c:pt>
                <c:pt idx="96">
                  <c:v>78</c:v>
                </c:pt>
                <c:pt idx="97">
                  <c:v>78.5</c:v>
                </c:pt>
                <c:pt idx="98">
                  <c:v>79</c:v>
                </c:pt>
                <c:pt idx="99">
                  <c:v>79.5</c:v>
                </c:pt>
                <c:pt idx="100">
                  <c:v>80</c:v>
                </c:pt>
                <c:pt idx="101">
                  <c:v>80.5</c:v>
                </c:pt>
                <c:pt idx="102">
                  <c:v>81</c:v>
                </c:pt>
                <c:pt idx="103">
                  <c:v>81.5</c:v>
                </c:pt>
                <c:pt idx="104">
                  <c:v>82</c:v>
                </c:pt>
                <c:pt idx="105">
                  <c:v>82.5</c:v>
                </c:pt>
                <c:pt idx="106">
                  <c:v>83</c:v>
                </c:pt>
                <c:pt idx="107">
                  <c:v>83.5</c:v>
                </c:pt>
                <c:pt idx="108">
                  <c:v>84</c:v>
                </c:pt>
                <c:pt idx="109">
                  <c:v>84.5</c:v>
                </c:pt>
                <c:pt idx="110">
                  <c:v>85</c:v>
                </c:pt>
                <c:pt idx="111">
                  <c:v>85.5</c:v>
                </c:pt>
                <c:pt idx="112">
                  <c:v>86</c:v>
                </c:pt>
                <c:pt idx="113">
                  <c:v>86.5</c:v>
                </c:pt>
                <c:pt idx="114">
                  <c:v>87</c:v>
                </c:pt>
                <c:pt idx="115">
                  <c:v>87.5</c:v>
                </c:pt>
                <c:pt idx="116">
                  <c:v>88</c:v>
                </c:pt>
                <c:pt idx="117">
                  <c:v>88.5</c:v>
                </c:pt>
                <c:pt idx="118">
                  <c:v>89</c:v>
                </c:pt>
                <c:pt idx="119">
                  <c:v>89.5</c:v>
                </c:pt>
                <c:pt idx="120">
                  <c:v>90</c:v>
                </c:pt>
                <c:pt idx="121">
                  <c:v>90.5</c:v>
                </c:pt>
                <c:pt idx="122">
                  <c:v>91</c:v>
                </c:pt>
                <c:pt idx="123">
                  <c:v>91.5</c:v>
                </c:pt>
                <c:pt idx="124">
                  <c:v>92</c:v>
                </c:pt>
                <c:pt idx="125">
                  <c:v>92.5</c:v>
                </c:pt>
                <c:pt idx="126">
                  <c:v>93</c:v>
                </c:pt>
                <c:pt idx="127">
                  <c:v>93.5</c:v>
                </c:pt>
                <c:pt idx="128">
                  <c:v>94</c:v>
                </c:pt>
                <c:pt idx="129">
                  <c:v>94.5</c:v>
                </c:pt>
                <c:pt idx="130">
                  <c:v>95</c:v>
                </c:pt>
                <c:pt idx="131">
                  <c:v>95.5</c:v>
                </c:pt>
                <c:pt idx="132">
                  <c:v>96</c:v>
                </c:pt>
                <c:pt idx="133">
                  <c:v>96.5</c:v>
                </c:pt>
                <c:pt idx="134">
                  <c:v>97</c:v>
                </c:pt>
                <c:pt idx="135">
                  <c:v>97.5</c:v>
                </c:pt>
                <c:pt idx="136">
                  <c:v>98</c:v>
                </c:pt>
                <c:pt idx="137">
                  <c:v>98.5</c:v>
                </c:pt>
                <c:pt idx="138">
                  <c:v>99</c:v>
                </c:pt>
                <c:pt idx="139">
                  <c:v>99.5</c:v>
                </c:pt>
                <c:pt idx="140">
                  <c:v>100</c:v>
                </c:pt>
                <c:pt idx="141">
                  <c:v>100.5</c:v>
                </c:pt>
                <c:pt idx="142">
                  <c:v>101</c:v>
                </c:pt>
                <c:pt idx="143">
                  <c:v>101.5</c:v>
                </c:pt>
                <c:pt idx="144">
                  <c:v>102</c:v>
                </c:pt>
                <c:pt idx="145">
                  <c:v>102.5</c:v>
                </c:pt>
                <c:pt idx="146">
                  <c:v>103</c:v>
                </c:pt>
                <c:pt idx="147">
                  <c:v>103.5</c:v>
                </c:pt>
                <c:pt idx="148">
                  <c:v>104</c:v>
                </c:pt>
                <c:pt idx="149">
                  <c:v>104.5</c:v>
                </c:pt>
                <c:pt idx="150">
                  <c:v>105</c:v>
                </c:pt>
                <c:pt idx="151">
                  <c:v>105.5</c:v>
                </c:pt>
                <c:pt idx="152">
                  <c:v>106</c:v>
                </c:pt>
                <c:pt idx="153">
                  <c:v>106.5</c:v>
                </c:pt>
                <c:pt idx="154">
                  <c:v>107</c:v>
                </c:pt>
                <c:pt idx="155">
                  <c:v>107.5</c:v>
                </c:pt>
                <c:pt idx="156">
                  <c:v>108</c:v>
                </c:pt>
                <c:pt idx="157">
                  <c:v>108.5</c:v>
                </c:pt>
                <c:pt idx="158">
                  <c:v>109</c:v>
                </c:pt>
                <c:pt idx="159">
                  <c:v>109.5</c:v>
                </c:pt>
                <c:pt idx="160">
                  <c:v>110</c:v>
                </c:pt>
                <c:pt idx="161">
                  <c:v>110.5</c:v>
                </c:pt>
                <c:pt idx="162">
                  <c:v>111</c:v>
                </c:pt>
                <c:pt idx="163">
                  <c:v>111.5</c:v>
                </c:pt>
                <c:pt idx="164">
                  <c:v>112</c:v>
                </c:pt>
                <c:pt idx="165">
                  <c:v>112.5</c:v>
                </c:pt>
                <c:pt idx="166">
                  <c:v>113</c:v>
                </c:pt>
                <c:pt idx="167">
                  <c:v>113.5</c:v>
                </c:pt>
                <c:pt idx="168">
                  <c:v>114</c:v>
                </c:pt>
                <c:pt idx="169">
                  <c:v>114.5</c:v>
                </c:pt>
                <c:pt idx="170">
                  <c:v>115</c:v>
                </c:pt>
                <c:pt idx="171">
                  <c:v>115.5</c:v>
                </c:pt>
                <c:pt idx="172">
                  <c:v>116</c:v>
                </c:pt>
                <c:pt idx="173">
                  <c:v>116.5</c:v>
                </c:pt>
                <c:pt idx="174">
                  <c:v>117</c:v>
                </c:pt>
                <c:pt idx="175">
                  <c:v>117.5</c:v>
                </c:pt>
                <c:pt idx="176">
                  <c:v>118</c:v>
                </c:pt>
                <c:pt idx="177">
                  <c:v>118.5</c:v>
                </c:pt>
                <c:pt idx="178">
                  <c:v>119</c:v>
                </c:pt>
                <c:pt idx="179">
                  <c:v>119.5</c:v>
                </c:pt>
                <c:pt idx="180">
                  <c:v>120</c:v>
                </c:pt>
                <c:pt idx="181">
                  <c:v>120.5</c:v>
                </c:pt>
                <c:pt idx="182">
                  <c:v>121</c:v>
                </c:pt>
                <c:pt idx="183">
                  <c:v>121.5</c:v>
                </c:pt>
                <c:pt idx="184">
                  <c:v>122</c:v>
                </c:pt>
                <c:pt idx="185">
                  <c:v>122.5</c:v>
                </c:pt>
                <c:pt idx="186">
                  <c:v>123</c:v>
                </c:pt>
                <c:pt idx="187">
                  <c:v>123.5</c:v>
                </c:pt>
                <c:pt idx="188">
                  <c:v>124</c:v>
                </c:pt>
                <c:pt idx="189">
                  <c:v>124.5</c:v>
                </c:pt>
                <c:pt idx="190">
                  <c:v>125</c:v>
                </c:pt>
                <c:pt idx="191">
                  <c:v>125.5</c:v>
                </c:pt>
                <c:pt idx="192">
                  <c:v>126</c:v>
                </c:pt>
                <c:pt idx="193">
                  <c:v>126.5</c:v>
                </c:pt>
                <c:pt idx="194">
                  <c:v>127</c:v>
                </c:pt>
                <c:pt idx="195">
                  <c:v>127.5</c:v>
                </c:pt>
                <c:pt idx="196">
                  <c:v>128</c:v>
                </c:pt>
                <c:pt idx="197">
                  <c:v>128.5</c:v>
                </c:pt>
                <c:pt idx="198">
                  <c:v>129</c:v>
                </c:pt>
                <c:pt idx="199">
                  <c:v>129.5</c:v>
                </c:pt>
                <c:pt idx="200">
                  <c:v>130</c:v>
                </c:pt>
                <c:pt idx="201">
                  <c:v>130.5</c:v>
                </c:pt>
                <c:pt idx="202">
                  <c:v>131</c:v>
                </c:pt>
                <c:pt idx="203">
                  <c:v>131.5</c:v>
                </c:pt>
                <c:pt idx="204">
                  <c:v>132</c:v>
                </c:pt>
                <c:pt idx="205">
                  <c:v>132.5</c:v>
                </c:pt>
                <c:pt idx="206">
                  <c:v>133</c:v>
                </c:pt>
                <c:pt idx="207">
                  <c:v>133.5</c:v>
                </c:pt>
                <c:pt idx="208">
                  <c:v>134</c:v>
                </c:pt>
                <c:pt idx="209">
                  <c:v>134.5</c:v>
                </c:pt>
                <c:pt idx="210">
                  <c:v>135</c:v>
                </c:pt>
                <c:pt idx="211">
                  <c:v>135.5</c:v>
                </c:pt>
                <c:pt idx="212">
                  <c:v>136</c:v>
                </c:pt>
                <c:pt idx="213">
                  <c:v>136.5</c:v>
                </c:pt>
                <c:pt idx="214">
                  <c:v>137</c:v>
                </c:pt>
                <c:pt idx="215">
                  <c:v>137.5</c:v>
                </c:pt>
                <c:pt idx="216">
                  <c:v>138</c:v>
                </c:pt>
                <c:pt idx="217">
                  <c:v>138.5</c:v>
                </c:pt>
                <c:pt idx="218">
                  <c:v>139</c:v>
                </c:pt>
                <c:pt idx="219">
                  <c:v>139.5</c:v>
                </c:pt>
                <c:pt idx="220">
                  <c:v>140</c:v>
                </c:pt>
                <c:pt idx="221">
                  <c:v>140.5</c:v>
                </c:pt>
                <c:pt idx="222">
                  <c:v>141</c:v>
                </c:pt>
                <c:pt idx="223">
                  <c:v>141.5</c:v>
                </c:pt>
                <c:pt idx="224">
                  <c:v>142</c:v>
                </c:pt>
                <c:pt idx="225">
                  <c:v>142.5</c:v>
                </c:pt>
                <c:pt idx="226">
                  <c:v>143</c:v>
                </c:pt>
                <c:pt idx="227">
                  <c:v>143.5</c:v>
                </c:pt>
                <c:pt idx="228">
                  <c:v>144</c:v>
                </c:pt>
                <c:pt idx="229">
                  <c:v>144.5</c:v>
                </c:pt>
                <c:pt idx="230">
                  <c:v>145</c:v>
                </c:pt>
                <c:pt idx="231">
                  <c:v>145.5</c:v>
                </c:pt>
                <c:pt idx="232">
                  <c:v>146</c:v>
                </c:pt>
                <c:pt idx="233">
                  <c:v>146.5</c:v>
                </c:pt>
                <c:pt idx="234">
                  <c:v>147</c:v>
                </c:pt>
                <c:pt idx="235">
                  <c:v>147.5</c:v>
                </c:pt>
                <c:pt idx="236">
                  <c:v>148</c:v>
                </c:pt>
                <c:pt idx="237">
                  <c:v>148.5</c:v>
                </c:pt>
                <c:pt idx="238">
                  <c:v>149</c:v>
                </c:pt>
                <c:pt idx="239">
                  <c:v>149.5</c:v>
                </c:pt>
                <c:pt idx="240">
                  <c:v>150</c:v>
                </c:pt>
                <c:pt idx="241">
                  <c:v>150.5</c:v>
                </c:pt>
                <c:pt idx="242">
                  <c:v>151</c:v>
                </c:pt>
                <c:pt idx="243">
                  <c:v>151.5</c:v>
                </c:pt>
                <c:pt idx="244">
                  <c:v>152</c:v>
                </c:pt>
                <c:pt idx="245">
                  <c:v>152.5</c:v>
                </c:pt>
                <c:pt idx="246">
                  <c:v>153</c:v>
                </c:pt>
                <c:pt idx="247">
                  <c:v>153.5</c:v>
                </c:pt>
                <c:pt idx="248">
                  <c:v>154</c:v>
                </c:pt>
                <c:pt idx="249">
                  <c:v>154.5</c:v>
                </c:pt>
                <c:pt idx="250">
                  <c:v>155</c:v>
                </c:pt>
                <c:pt idx="251">
                  <c:v>155.5</c:v>
                </c:pt>
                <c:pt idx="252">
                  <c:v>156</c:v>
                </c:pt>
                <c:pt idx="253">
                  <c:v>156.5</c:v>
                </c:pt>
                <c:pt idx="254">
                  <c:v>157</c:v>
                </c:pt>
                <c:pt idx="255">
                  <c:v>157.5</c:v>
                </c:pt>
                <c:pt idx="256">
                  <c:v>158</c:v>
                </c:pt>
                <c:pt idx="257">
                  <c:v>158.5</c:v>
                </c:pt>
                <c:pt idx="258">
                  <c:v>159</c:v>
                </c:pt>
                <c:pt idx="259">
                  <c:v>159.5</c:v>
                </c:pt>
                <c:pt idx="260">
                  <c:v>160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60"/>
          <c:min val="30"/>
        </c:scaling>
        <c:delete val="0"/>
        <c:axPos val="b"/>
        <c:title>
          <c:tx>
            <c:rich>
              <a:bodyPr/>
              <a:lstStyle/>
              <a:p>
                <a:pPr>
                  <a:defRPr sz="900" b="0" i="0" u="none" strike="noStrike">
                    <a:solidFill>
                      <a:srgbClr val="5F7176"/>
                    </a:solidFill>
                    <a:latin typeface="Arial"/>
                  </a:defRPr>
                </a:pPr>
                <a:r>
                  <a:rPr sz="900" b="0" i="0" u="none" strike="noStrike">
                    <a:solidFill>
                      <a:srgbClr val="5F7176"/>
                    </a:solidFill>
                    <a:latin typeface="Arial"/>
                  </a:rPr>
                  <a:t>Final basket level (% of initial)</a:t>
                </a:r>
              </a:p>
            </c:rich>
          </c:tx>
          <c:layout/>
          <c:overlay val="0"/>
        </c:title>
        <c:numFmt formatCode="0&quot;%&quot;" sourceLinked="1"/>
        <c:majorTickMark val="none"/>
        <c:minorTickMark val="none"/>
        <c:tickLblPos val="nextTo"/>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majorUnit val="20"/>
      </c:valAx>
      <c:valAx>
        <c:axId val="2094734552"/>
        <c:scaling>
          <c:orientation val="minMax"/>
          <c:max val="160"/>
          <c:min val="20"/>
        </c:scaling>
        <c:delete val="0"/>
        <c:axPos val="l"/>
        <c:majorGridlines>
          <c:spPr>
            <a:ln w="6350" cap="flat">
              <a:solidFill>
                <a:srgbClr val="DCE7E5"/>
              </a:solidFill>
              <a:prstDash val="solid"/>
              <a:round/>
            </a:ln>
          </c:spPr>
        </c:majorGridlines>
        <c:title>
          <c:tx>
            <c:rich>
              <a:bodyPr/>
              <a:lstStyle/>
              <a:p>
                <a:pPr>
                  <a:defRPr sz="900" b="0" i="0" u="none" strike="noStrike">
                    <a:solidFill>
                      <a:srgbClr val="5F7176"/>
                    </a:solidFill>
                    <a:latin typeface="Arial"/>
                  </a:defRPr>
                </a:pPr>
                <a:r>
                  <a:rPr sz="900" b="0" i="0" u="none" strike="noStrike">
                    <a:solidFill>
                      <a:srgbClr val="5F7176"/>
                    </a:solidFill>
                    <a:latin typeface="Arial"/>
                  </a:rPr>
                  <a:t>Redemption at Y5</a:t>
                </a:r>
              </a:p>
            </c:rich>
          </c:tx>
          <c:layout/>
          <c:overlay val="0"/>
        </c:title>
        <c:numFmt formatCode="0&quot;%&quot;" sourceLinked="0"/>
        <c:majorTickMark val="none"/>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midCat"/>
      </c:valAx>
      <c:spPr>
        <a:noFill/>
        <a:ln>
          <a:noFill/>
        </a:ln>
        <a:effectLst/>
      </c:spPr>
    </c:plotArea>
    <c:legend>
      <c:legendPos val="b"/>
      <c:overlay val="0"/>
      <c:txPr>
        <a:bodyPr/>
        <a:lstStyle/>
        <a:p>
          <a:pPr>
            <a:defRPr sz="900">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Zero-coupon bond</c:v>
                </c:pt>
              </c:strCache>
            </c:strRef>
          </c:tx>
          <c:spPr>
            <a:solidFill>
              <a:srgbClr val="0B3C49"/>
            </a:solidFill>
            <a:ln w="25400" cap="flat">
              <a:solidFill>
                <a:srgbClr val="0B3C49"/>
              </a:solidFill>
              <a:prstDash val="solid"/>
              <a:round/>
            </a:ln>
            <a:effectLst/>
          </c:spPr>
          <c:marker>
            <c:symbol val="none"/>
            <c:size val="6"/>
            <c:spPr>
              <a:solidFill>
                <a:srgbClr val="0B3C49"/>
              </a:solidFill>
              <a:ln w="9525" cap="flat">
                <a:solidFill>
                  <a:srgbClr val="0B3C49"/>
                </a:solidFill>
                <a:prstDash val="solid"/>
                <a:round/>
              </a:ln>
              <a:effectLst/>
            </c:spPr>
          </c:marker>
          <c:xVal>
            <c:numRef>
              <c:f>Sheet1!$A$2:$A$102</c:f>
              <c:numCache>
                <c:formatCode>General</c:formatCode>
                <c:ptCount val="10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numCache>
            </c:numRef>
          </c:xVal>
          <c:yVal>
            <c:numRef>
              <c:f>Sheet1!$B$2:$B$102</c:f>
              <c:numCache>
                <c:formatCode>General</c:formatCode>
                <c:ptCount val="101"/>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100</c:v>
                </c:pt>
                <c:pt idx="61">
                  <c:v>100</c:v>
                </c:pt>
                <c:pt idx="62">
                  <c:v>100</c:v>
                </c:pt>
                <c:pt idx="63">
                  <c:v>100</c:v>
                </c:pt>
                <c:pt idx="64">
                  <c:v>100</c:v>
                </c:pt>
                <c:pt idx="65">
                  <c:v>100</c:v>
                </c:pt>
                <c:pt idx="66">
                  <c:v>100</c:v>
                </c:pt>
                <c:pt idx="67">
                  <c:v>100</c:v>
                </c:pt>
                <c:pt idx="68">
                  <c:v>100</c:v>
                </c:pt>
                <c:pt idx="69">
                  <c:v>100</c:v>
                </c:pt>
                <c:pt idx="70">
                  <c:v>100</c:v>
                </c:pt>
                <c:pt idx="71">
                  <c:v>100</c:v>
                </c:pt>
                <c:pt idx="72">
                  <c:v>100</c:v>
                </c:pt>
                <c:pt idx="73">
                  <c:v>100</c:v>
                </c:pt>
                <c:pt idx="74">
                  <c:v>100</c:v>
                </c:pt>
                <c:pt idx="75">
                  <c:v>100</c:v>
                </c:pt>
                <c:pt idx="76">
                  <c:v>100</c:v>
                </c:pt>
                <c:pt idx="77">
                  <c:v>100</c:v>
                </c:pt>
                <c:pt idx="78">
                  <c:v>100</c:v>
                </c:pt>
                <c:pt idx="79">
                  <c:v>100</c:v>
                </c:pt>
                <c:pt idx="80">
                  <c:v>100</c:v>
                </c:pt>
                <c:pt idx="81">
                  <c:v>100</c:v>
                </c:pt>
                <c:pt idx="82">
                  <c:v>100</c:v>
                </c:pt>
                <c:pt idx="83">
                  <c:v>100</c:v>
                </c:pt>
                <c:pt idx="84">
                  <c:v>100</c:v>
                </c:pt>
                <c:pt idx="85">
                  <c:v>100</c:v>
                </c:pt>
                <c:pt idx="86">
                  <c:v>100</c:v>
                </c:pt>
                <c:pt idx="87">
                  <c:v>100</c:v>
                </c:pt>
                <c:pt idx="88">
                  <c:v>100</c:v>
                </c:pt>
                <c:pt idx="89">
                  <c:v>100</c:v>
                </c:pt>
                <c:pt idx="90">
                  <c:v>100</c:v>
                </c:pt>
                <c:pt idx="91">
                  <c:v>100</c:v>
                </c:pt>
                <c:pt idx="92">
                  <c:v>100</c:v>
                </c:pt>
                <c:pt idx="93">
                  <c:v>100</c:v>
                </c:pt>
                <c:pt idx="94">
                  <c:v>100</c:v>
                </c:pt>
                <c:pt idx="95">
                  <c:v>100</c:v>
                </c:pt>
                <c:pt idx="96">
                  <c:v>100</c:v>
                </c:pt>
                <c:pt idx="97">
                  <c:v>100</c:v>
                </c:pt>
                <c:pt idx="98">
                  <c:v>100</c:v>
                </c:pt>
                <c:pt idx="99">
                  <c:v>100</c:v>
                </c:pt>
                <c:pt idx="100">
                  <c:v>100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40"/>
          <c:min val="40"/>
        </c:scaling>
        <c:delete val="0"/>
        <c:axPos val="b"/>
        <c:numFmt formatCode="General" sourceLinked="1"/>
        <c:majorTickMark val="none"/>
        <c:minorTickMark val="none"/>
        <c:tickLblPos val="nextTo"/>
        <c:spPr>
          <a:ln w="12700" cap="flat">
            <a:solidFill>
              <a:srgbClr val="8FA6AA"/>
            </a:solidFill>
            <a:prstDash val="solid"/>
            <a:round/>
          </a:ln>
        </c:spPr>
        <c:txPr>
          <a:bodyPr/>
          <a:lstStyle/>
          <a:p>
            <a:pPr>
              <a:defRPr sz="700" b="0" i="0" u="none" strike="noStrike">
                <a:solidFill>
                  <a:srgbClr val="5F7176"/>
                </a:solidFill>
                <a:latin typeface="Calibri"/>
              </a:defRPr>
            </a:pPr>
            <a:endParaRPr lang="en-US"/>
          </a:p>
        </c:txPr>
        <c:crossAx val="2094734552"/>
        <c:crosses val="autoZero"/>
        <c:auto val="1"/>
        <c:lblAlgn val="ctr"/>
        <c:noMultiLvlLbl val="1"/>
        <c:majorUnit val="25"/>
      </c:valAx>
      <c:valAx>
        <c:axId val="2094734552"/>
        <c:scaling>
          <c:orientation val="minMax"/>
          <c:max val="110"/>
          <c:min val="-50"/>
        </c:scaling>
        <c:delete val="1"/>
        <c:axPos val="l"/>
        <c:majorGridlines>
          <c:spPr>
            <a:ln w="6350" cap="flat">
              <a:solidFill>
                <a:srgbClr val="DCE7E5"/>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midCat"/>
        <c:majorUnit val="50"/>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Long autocall digitals</c:v>
                </c:pt>
              </c:strCache>
            </c:strRef>
          </c:tx>
          <c:spPr>
            <a:solidFill>
              <a:srgbClr val="0F8B8D"/>
            </a:solidFill>
            <a:ln w="25400" cap="flat">
              <a:solidFill>
                <a:srgbClr val="0F8B8D"/>
              </a:solidFill>
              <a:prstDash val="solid"/>
              <a:round/>
            </a:ln>
            <a:effectLst/>
          </c:spPr>
          <c:marker>
            <c:symbol val="none"/>
            <c:size val="6"/>
            <c:spPr>
              <a:solidFill>
                <a:srgbClr val="0F8B8D"/>
              </a:solidFill>
              <a:ln w="9525" cap="flat">
                <a:solidFill>
                  <a:srgbClr val="0F8B8D"/>
                </a:solidFill>
                <a:prstDash val="solid"/>
                <a:round/>
              </a:ln>
              <a:effectLst/>
            </c:spPr>
          </c:marker>
          <c:xVal>
            <c:numRef>
              <c:f>Sheet1!$A$2:$A$102</c:f>
              <c:numCache>
                <c:formatCode>General</c:formatCode>
                <c:ptCount val="10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numCache>
            </c:numRef>
          </c:xVal>
          <c:yVal>
            <c:numRef>
              <c:f>Sheet1!$B$2:$B$102</c:f>
              <c:numCache>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45</c:v>
                </c:pt>
                <c:pt idx="61">
                  <c:v>45</c:v>
                </c:pt>
                <c:pt idx="62">
                  <c:v>45</c:v>
                </c:pt>
                <c:pt idx="63">
                  <c:v>45</c:v>
                </c:pt>
                <c:pt idx="64">
                  <c:v>45</c:v>
                </c:pt>
                <c:pt idx="65">
                  <c:v>45</c:v>
                </c:pt>
                <c:pt idx="66">
                  <c:v>45</c:v>
                </c:pt>
                <c:pt idx="67">
                  <c:v>45</c:v>
                </c:pt>
                <c:pt idx="68">
                  <c:v>45</c:v>
                </c:pt>
                <c:pt idx="69">
                  <c:v>45</c:v>
                </c:pt>
                <c:pt idx="70">
                  <c:v>45</c:v>
                </c:pt>
                <c:pt idx="71">
                  <c:v>45</c:v>
                </c:pt>
                <c:pt idx="72">
                  <c:v>45</c:v>
                </c:pt>
                <c:pt idx="73">
                  <c:v>45</c:v>
                </c:pt>
                <c:pt idx="74">
                  <c:v>45</c:v>
                </c:pt>
                <c:pt idx="75">
                  <c:v>45</c:v>
                </c:pt>
                <c:pt idx="76">
                  <c:v>45</c:v>
                </c:pt>
                <c:pt idx="77">
                  <c:v>45</c:v>
                </c:pt>
                <c:pt idx="78">
                  <c:v>45</c:v>
                </c:pt>
                <c:pt idx="79">
                  <c:v>45</c:v>
                </c:pt>
                <c:pt idx="80">
                  <c:v>45</c:v>
                </c:pt>
                <c:pt idx="81">
                  <c:v>45</c:v>
                </c:pt>
                <c:pt idx="82">
                  <c:v>45</c:v>
                </c:pt>
                <c:pt idx="83">
                  <c:v>45</c:v>
                </c:pt>
                <c:pt idx="84">
                  <c:v>45</c:v>
                </c:pt>
                <c:pt idx="85">
                  <c:v>45</c:v>
                </c:pt>
                <c:pt idx="86">
                  <c:v>45</c:v>
                </c:pt>
                <c:pt idx="87">
                  <c:v>45</c:v>
                </c:pt>
                <c:pt idx="88">
                  <c:v>45</c:v>
                </c:pt>
                <c:pt idx="89">
                  <c:v>45</c:v>
                </c:pt>
                <c:pt idx="90">
                  <c:v>45</c:v>
                </c:pt>
                <c:pt idx="91">
                  <c:v>45</c:v>
                </c:pt>
                <c:pt idx="92">
                  <c:v>45</c:v>
                </c:pt>
                <c:pt idx="93">
                  <c:v>45</c:v>
                </c:pt>
                <c:pt idx="94">
                  <c:v>45</c:v>
                </c:pt>
                <c:pt idx="95">
                  <c:v>45</c:v>
                </c:pt>
                <c:pt idx="96">
                  <c:v>45</c:v>
                </c:pt>
                <c:pt idx="97">
                  <c:v>45</c:v>
                </c:pt>
                <c:pt idx="98">
                  <c:v>45</c:v>
                </c:pt>
                <c:pt idx="99">
                  <c:v>45</c:v>
                </c:pt>
                <c:pt idx="100">
                  <c:v>45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40"/>
          <c:min val="40"/>
        </c:scaling>
        <c:delete val="0"/>
        <c:axPos val="b"/>
        <c:numFmt formatCode="General" sourceLinked="1"/>
        <c:majorTickMark val="none"/>
        <c:minorTickMark val="none"/>
        <c:tickLblPos val="nextTo"/>
        <c:spPr>
          <a:ln w="12700" cap="flat">
            <a:solidFill>
              <a:srgbClr val="8FA6AA"/>
            </a:solidFill>
            <a:prstDash val="solid"/>
            <a:round/>
          </a:ln>
        </c:spPr>
        <c:txPr>
          <a:bodyPr/>
          <a:lstStyle/>
          <a:p>
            <a:pPr>
              <a:defRPr sz="700" b="0" i="0" u="none" strike="noStrike">
                <a:solidFill>
                  <a:srgbClr val="5F7176"/>
                </a:solidFill>
                <a:latin typeface="Calibri"/>
              </a:defRPr>
            </a:pPr>
            <a:endParaRPr lang="en-US"/>
          </a:p>
        </c:txPr>
        <c:crossAx val="2094734552"/>
        <c:crosses val="autoZero"/>
        <c:auto val="1"/>
        <c:lblAlgn val="ctr"/>
        <c:noMultiLvlLbl val="1"/>
        <c:majorUnit val="25"/>
      </c:valAx>
      <c:valAx>
        <c:axId val="2094734552"/>
        <c:scaling>
          <c:orientation val="minMax"/>
          <c:max val="110"/>
          <c:min val="-50"/>
        </c:scaling>
        <c:delete val="1"/>
        <c:axPos val="l"/>
        <c:majorGridlines>
          <c:spPr>
            <a:ln w="6350" cap="flat">
              <a:solidFill>
                <a:srgbClr val="DCE7E5"/>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midCat"/>
        <c:majorUnit val="50"/>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Short European put</c:v>
                </c:pt>
              </c:strCache>
            </c:strRef>
          </c:tx>
          <c:spPr>
            <a:solidFill>
              <a:srgbClr val="B8433A"/>
            </a:solidFill>
            <a:ln w="25400" cap="flat">
              <a:solidFill>
                <a:srgbClr val="B8433A"/>
              </a:solidFill>
              <a:prstDash val="solid"/>
              <a:round/>
            </a:ln>
            <a:effectLst/>
          </c:spPr>
          <c:marker>
            <c:symbol val="none"/>
            <c:size val="6"/>
            <c:spPr>
              <a:solidFill>
                <a:srgbClr val="B8433A"/>
              </a:solidFill>
              <a:ln w="9525" cap="flat">
                <a:solidFill>
                  <a:srgbClr val="B8433A"/>
                </a:solidFill>
                <a:prstDash val="solid"/>
                <a:round/>
              </a:ln>
              <a:effectLst/>
            </c:spPr>
          </c:marker>
          <c:xVal>
            <c:numRef>
              <c:f>Sheet1!$A$2:$A$102</c:f>
              <c:numCache>
                <c:formatCode>General</c:formatCode>
                <c:ptCount val="10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numCache>
            </c:numRef>
          </c:xVal>
          <c:yVal>
            <c:numRef>
              <c:f>Sheet1!$B$2:$B$102</c:f>
              <c:numCache>
                <c:formatCode>General</c:formatCode>
                <c:ptCount val="101"/>
                <c:pt idx="0">
                  <c:v>-25</c:v>
                </c:pt>
                <c:pt idx="1">
                  <c:v>-24</c:v>
                </c:pt>
                <c:pt idx="2">
                  <c:v>-23</c:v>
                </c:pt>
                <c:pt idx="3">
                  <c:v>-22</c:v>
                </c:pt>
                <c:pt idx="4">
                  <c:v>-21</c:v>
                </c:pt>
                <c:pt idx="5">
                  <c:v>-20</c:v>
                </c:pt>
                <c:pt idx="6">
                  <c:v>-19</c:v>
                </c:pt>
                <c:pt idx="7">
                  <c:v>-18</c:v>
                </c:pt>
                <c:pt idx="8">
                  <c:v>-17</c:v>
                </c:pt>
                <c:pt idx="9">
                  <c:v>-16</c:v>
                </c:pt>
                <c:pt idx="10">
                  <c:v>-15</c:v>
                </c:pt>
                <c:pt idx="11">
                  <c:v>-14</c:v>
                </c:pt>
                <c:pt idx="12">
                  <c:v>-13</c:v>
                </c:pt>
                <c:pt idx="13">
                  <c:v>-12</c:v>
                </c:pt>
                <c:pt idx="14">
                  <c:v>-11</c:v>
                </c:pt>
                <c:pt idx="15">
                  <c:v>-10</c:v>
                </c:pt>
                <c:pt idx="16">
                  <c:v>-9</c:v>
                </c:pt>
                <c:pt idx="17">
                  <c:v>-8</c:v>
                </c:pt>
                <c:pt idx="18">
                  <c:v>-7</c:v>
                </c:pt>
                <c:pt idx="19">
                  <c:v>-6</c:v>
                </c:pt>
                <c:pt idx="20">
                  <c:v>-5</c:v>
                </c:pt>
                <c:pt idx="21">
                  <c:v>-4</c:v>
                </c:pt>
                <c:pt idx="22">
                  <c:v>-3</c:v>
                </c:pt>
                <c:pt idx="23">
                  <c:v>-2</c:v>
                </c:pt>
                <c:pt idx="24">
                  <c:v>-1</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40"/>
          <c:min val="40"/>
        </c:scaling>
        <c:delete val="0"/>
        <c:axPos val="b"/>
        <c:numFmt formatCode="General" sourceLinked="1"/>
        <c:majorTickMark val="none"/>
        <c:minorTickMark val="none"/>
        <c:tickLblPos val="nextTo"/>
        <c:spPr>
          <a:ln w="12700" cap="flat">
            <a:solidFill>
              <a:srgbClr val="8FA6AA"/>
            </a:solidFill>
            <a:prstDash val="solid"/>
            <a:round/>
          </a:ln>
        </c:spPr>
        <c:txPr>
          <a:bodyPr/>
          <a:lstStyle/>
          <a:p>
            <a:pPr>
              <a:defRPr sz="700" b="0" i="0" u="none" strike="noStrike">
                <a:solidFill>
                  <a:srgbClr val="5F7176"/>
                </a:solidFill>
                <a:latin typeface="Calibri"/>
              </a:defRPr>
            </a:pPr>
            <a:endParaRPr lang="en-US"/>
          </a:p>
        </c:txPr>
        <c:crossAx val="2094734552"/>
        <c:crosses val="autoZero"/>
        <c:auto val="1"/>
        <c:lblAlgn val="ctr"/>
        <c:noMultiLvlLbl val="1"/>
        <c:majorUnit val="25"/>
      </c:valAx>
      <c:valAx>
        <c:axId val="2094734552"/>
        <c:scaling>
          <c:orientation val="minMax"/>
          <c:max val="110"/>
          <c:min val="-50"/>
        </c:scaling>
        <c:delete val="1"/>
        <c:axPos val="l"/>
        <c:majorGridlines>
          <c:spPr>
            <a:ln w="6350" cap="flat">
              <a:solidFill>
                <a:srgbClr val="DCE7E5"/>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midCat"/>
        <c:majorUnit val="50"/>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Short digital put</c:v>
                </c:pt>
              </c:strCache>
            </c:strRef>
          </c:tx>
          <c:spPr>
            <a:solidFill>
              <a:srgbClr val="B8433A"/>
            </a:solidFill>
            <a:ln w="25400" cap="flat">
              <a:solidFill>
                <a:srgbClr val="B8433A"/>
              </a:solidFill>
              <a:prstDash val="solid"/>
              <a:round/>
            </a:ln>
            <a:effectLst/>
          </c:spPr>
          <c:marker>
            <c:symbol val="none"/>
            <c:size val="6"/>
            <c:spPr>
              <a:solidFill>
                <a:srgbClr val="B8433A"/>
              </a:solidFill>
              <a:ln w="9525" cap="flat">
                <a:solidFill>
                  <a:srgbClr val="B8433A"/>
                </a:solidFill>
                <a:prstDash val="solid"/>
                <a:round/>
              </a:ln>
              <a:effectLst/>
            </c:spPr>
          </c:marker>
          <c:xVal>
            <c:numRef>
              <c:f>Sheet1!$A$2:$A$102</c:f>
              <c:numCache>
                <c:formatCode>General</c:formatCode>
                <c:ptCount val="10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numCache>
            </c:numRef>
          </c:xVal>
          <c:yVal>
            <c:numRef>
              <c:f>Sheet1!$B$2:$B$102</c:f>
              <c:numCache>
                <c:formatCode>General</c:formatCode>
                <c:ptCount val="101"/>
                <c:pt idx="0">
                  <c:v>-35</c:v>
                </c:pt>
                <c:pt idx="1">
                  <c:v>-35</c:v>
                </c:pt>
                <c:pt idx="2">
                  <c:v>-35</c:v>
                </c:pt>
                <c:pt idx="3">
                  <c:v>-35</c:v>
                </c:pt>
                <c:pt idx="4">
                  <c:v>-35</c:v>
                </c:pt>
                <c:pt idx="5">
                  <c:v>-35</c:v>
                </c:pt>
                <c:pt idx="6">
                  <c:v>-35</c:v>
                </c:pt>
                <c:pt idx="7">
                  <c:v>-35</c:v>
                </c:pt>
                <c:pt idx="8">
                  <c:v>-35</c:v>
                </c:pt>
                <c:pt idx="9">
                  <c:v>-35</c:v>
                </c:pt>
                <c:pt idx="10">
                  <c:v>-35</c:v>
                </c:pt>
                <c:pt idx="11">
                  <c:v>-35</c:v>
                </c:pt>
                <c:pt idx="12">
                  <c:v>-35</c:v>
                </c:pt>
                <c:pt idx="13">
                  <c:v>-35</c:v>
                </c:pt>
                <c:pt idx="14">
                  <c:v>-35</c:v>
                </c:pt>
                <c:pt idx="15">
                  <c:v>-35</c:v>
                </c:pt>
                <c:pt idx="16">
                  <c:v>-35</c:v>
                </c:pt>
                <c:pt idx="17">
                  <c:v>-35</c:v>
                </c:pt>
                <c:pt idx="18">
                  <c:v>-35</c:v>
                </c:pt>
                <c:pt idx="19">
                  <c:v>-35</c:v>
                </c:pt>
                <c:pt idx="20">
                  <c:v>-35</c:v>
                </c:pt>
                <c:pt idx="21">
                  <c:v>-35</c:v>
                </c:pt>
                <c:pt idx="22">
                  <c:v>-35</c:v>
                </c:pt>
                <c:pt idx="23">
                  <c:v>-35</c:v>
                </c:pt>
                <c:pt idx="24">
                  <c:v>-35</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40"/>
          <c:min val="40"/>
        </c:scaling>
        <c:delete val="0"/>
        <c:axPos val="b"/>
        <c:numFmt formatCode="General" sourceLinked="1"/>
        <c:majorTickMark val="none"/>
        <c:minorTickMark val="none"/>
        <c:tickLblPos val="nextTo"/>
        <c:spPr>
          <a:ln w="12700" cap="flat">
            <a:solidFill>
              <a:srgbClr val="8FA6AA"/>
            </a:solidFill>
            <a:prstDash val="solid"/>
            <a:round/>
          </a:ln>
        </c:spPr>
        <c:txPr>
          <a:bodyPr/>
          <a:lstStyle/>
          <a:p>
            <a:pPr>
              <a:defRPr sz="700" b="0" i="0" u="none" strike="noStrike">
                <a:solidFill>
                  <a:srgbClr val="5F7176"/>
                </a:solidFill>
                <a:latin typeface="Calibri"/>
              </a:defRPr>
            </a:pPr>
            <a:endParaRPr lang="en-US"/>
          </a:p>
        </c:txPr>
        <c:crossAx val="2094734552"/>
        <c:crosses val="autoZero"/>
        <c:auto val="1"/>
        <c:lblAlgn val="ctr"/>
        <c:noMultiLvlLbl val="1"/>
        <c:majorUnit val="25"/>
      </c:valAx>
      <c:valAx>
        <c:axId val="2094734552"/>
        <c:scaling>
          <c:orientation val="minMax"/>
          <c:max val="110"/>
          <c:min val="-50"/>
        </c:scaling>
        <c:delete val="1"/>
        <c:axPos val="l"/>
        <c:majorGridlines>
          <c:spPr>
            <a:ln w="6350" cap="flat">
              <a:solidFill>
                <a:srgbClr val="DCE7E5"/>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midCat"/>
        <c:majorUnit val="50"/>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D2B30"/>
                </a:solidFill>
                <a:latin typeface="Calibri"/>
              </a:defRPr>
            </a:pPr>
            <a:r>
              <a:rPr sz="950" b="0" i="0" u="none" strike="noStrike">
                <a:solidFill>
                  <a:srgbClr val="1D2B30"/>
                </a:solidFill>
                <a:latin typeface="Calibri"/>
              </a:rPr>
              <a:t>Basket level (% of initial); autocall line 100%, barrier 65%</a:t>
            </a:r>
          </a:p>
        </c:rich>
      </c:tx>
      <c:layout/>
      <c:overlay val="0"/>
    </c:title>
    <c:autoTitleDeleted val="0"/>
    <c:plotArea>
      <c:layout/>
      <c:lineChart>
        <c:varyColors val="0"/>
        <c:ser>
          <c:idx val="0"/>
          <c:order val="0"/>
          <c:tx>
            <c:strRef>
              <c:f>Sheet1!$B$1</c:f>
              <c:strCache>
                <c:ptCount val="1"/>
                <c:pt idx="0">
                  <c:v>AI capex boom</c:v>
                </c:pt>
              </c:strCache>
            </c:strRef>
          </c:tx>
          <c:spPr>
            <a:solidFill>
              <a:srgbClr val="0F8B8D"/>
            </a:solidFill>
            <a:ln w="25400" cap="flat">
              <a:solidFill>
                <a:srgbClr val="0F8B8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8B8D"/>
              </a:solidFill>
              <a:ln w="9525" cap="flat">
                <a:solidFill>
                  <a:srgbClr val="0F8B8D"/>
                </a:solidFill>
                <a:prstDash val="solid"/>
                <a:round/>
              </a:ln>
              <a:effectLst/>
            </c:spPr>
          </c:marker>
          <c:cat>
            <c:multiLvlStrRef>
              <c:f>Sheet1!$A$2:$A$22</c:f>
              <c:multiLvlStrCache>
                <c:ptCount val="21"/>
                <c:lvl>
                  <c:pt idx="0">
                    <c:v>Y0</c:v>
                  </c:pt>
                  <c:pt idx="1">
                    <c:v/>
                  </c:pt>
                  <c:pt idx="2">
                    <c:v/>
                  </c:pt>
                  <c:pt idx="3">
                    <c:v/>
                  </c:pt>
                  <c:pt idx="4">
                    <c:v>Y1</c:v>
                  </c:pt>
                  <c:pt idx="5">
                    <c:v/>
                  </c:pt>
                  <c:pt idx="6">
                    <c:v/>
                  </c:pt>
                  <c:pt idx="7">
                    <c:v/>
                  </c:pt>
                  <c:pt idx="8">
                    <c:v>Y2</c:v>
                  </c:pt>
                  <c:pt idx="9">
                    <c:v/>
                  </c:pt>
                  <c:pt idx="10">
                    <c:v/>
                  </c:pt>
                  <c:pt idx="11">
                    <c:v/>
                  </c:pt>
                  <c:pt idx="12">
                    <c:v>Y3</c:v>
                  </c:pt>
                  <c:pt idx="13">
                    <c:v/>
                  </c:pt>
                  <c:pt idx="14">
                    <c:v/>
                  </c:pt>
                  <c:pt idx="15">
                    <c:v/>
                  </c:pt>
                  <c:pt idx="16">
                    <c:v>Y4</c:v>
                  </c:pt>
                  <c:pt idx="17">
                    <c:v/>
                  </c:pt>
                  <c:pt idx="18">
                    <c:v/>
                  </c:pt>
                  <c:pt idx="19">
                    <c:v/>
                  </c:pt>
                  <c:pt idx="20">
                    <c:v>Y5</c:v>
                  </c:pt>
                </c:lvl>
              </c:multiLvlStrCache>
            </c:multiLvlStrRef>
          </c:cat>
          <c:val>
            <c:numRef>
              <c:f>Sheet1!$B$2:$B$22</c:f>
              <c:numCache>
                <c:formatCode>General</c:formatCode>
                <c:ptCount val="21"/>
                <c:pt idx="0">
                  <c:v>100</c:v>
                </c:pt>
                <c:pt idx="1">
                  <c:v>104.5</c:v>
                </c:pt>
                <c:pt idx="2">
                  <c:v>109</c:v>
                </c:pt>
                <c:pt idx="3">
                  <c:v>113.5</c:v>
                </c:pt>
                <c:pt idx="4">
                  <c:v>118</c:v>
                </c:pt>
                <c:pt idx="5">
                  <c:v>121.9</c:v>
                </c:pt>
                <c:pt idx="6">
                  <c:v>125.7</c:v>
                </c:pt>
                <c:pt idx="7">
                  <c:v>129.6</c:v>
                </c:pt>
                <c:pt idx="8">
                  <c:v>133.5</c:v>
                </c:pt>
                <c:pt idx="9">
                  <c:v>137.4</c:v>
                </c:pt>
                <c:pt idx="10">
                  <c:v>141.3</c:v>
                </c:pt>
                <c:pt idx="11">
                  <c:v>145.1</c:v>
                </c:pt>
                <c:pt idx="12">
                  <c:v>149</c:v>
                </c:pt>
                <c:pt idx="13">
                  <c:v>152.9</c:v>
                </c:pt>
                <c:pt idx="14">
                  <c:v>156.7</c:v>
                </c:pt>
                <c:pt idx="15">
                  <c:v>160.6</c:v>
                </c:pt>
                <c:pt idx="16">
                  <c:v>164.5</c:v>
                </c:pt>
                <c:pt idx="17">
                  <c:v>168.4</c:v>
                </c:pt>
                <c:pt idx="18">
                  <c:v>172.3</c:v>
                </c:pt>
                <c:pt idx="19">
                  <c:v>176.1</c:v>
                </c:pt>
                <c:pt idx="20">
                  <c:v>180</c:v>
                </c:pt>
              </c:numCache>
            </c:numRef>
          </c:val>
          <c:smooth val="0"/>
        </c:ser>
        <c:ser>
          <c:idx val="1"/>
          <c:order val="1"/>
          <c:tx>
            <c:strRef>
              <c:f>Sheet1!$C$1</c:f>
              <c:strCache>
                <c:ptCount val="1"/>
                <c:pt idx="0">
                  <c:v>Range-bound Asia</c:v>
                </c:pt>
              </c:strCache>
            </c:strRef>
          </c:tx>
          <c:spPr>
            <a:solidFill>
              <a:srgbClr val="D9961A"/>
            </a:solidFill>
            <a:ln w="25400" cap="flat">
              <a:solidFill>
                <a:srgbClr val="D996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961A"/>
              </a:solidFill>
              <a:ln w="9525" cap="flat">
                <a:solidFill>
                  <a:srgbClr val="D9961A"/>
                </a:solidFill>
                <a:prstDash val="solid"/>
                <a:round/>
              </a:ln>
              <a:effectLst/>
            </c:spPr>
          </c:marker>
          <c:cat>
            <c:multiLvlStrRef>
              <c:f>Sheet1!$A$2:$A$22</c:f>
              <c:multiLvlStrCache>
                <c:ptCount val="21"/>
                <c:lvl>
                  <c:pt idx="0">
                    <c:v>Y0</c:v>
                  </c:pt>
                  <c:pt idx="1">
                    <c:v/>
                  </c:pt>
                  <c:pt idx="2">
                    <c:v/>
                  </c:pt>
                  <c:pt idx="3">
                    <c:v/>
                  </c:pt>
                  <c:pt idx="4">
                    <c:v>Y1</c:v>
                  </c:pt>
                  <c:pt idx="5">
                    <c:v/>
                  </c:pt>
                  <c:pt idx="6">
                    <c:v/>
                  </c:pt>
                  <c:pt idx="7">
                    <c:v/>
                  </c:pt>
                  <c:pt idx="8">
                    <c:v>Y2</c:v>
                  </c:pt>
                  <c:pt idx="9">
                    <c:v/>
                  </c:pt>
                  <c:pt idx="10">
                    <c:v/>
                  </c:pt>
                  <c:pt idx="11">
                    <c:v/>
                  </c:pt>
                  <c:pt idx="12">
                    <c:v>Y3</c:v>
                  </c:pt>
                  <c:pt idx="13">
                    <c:v/>
                  </c:pt>
                  <c:pt idx="14">
                    <c:v/>
                  </c:pt>
                  <c:pt idx="15">
                    <c:v/>
                  </c:pt>
                  <c:pt idx="16">
                    <c:v>Y4</c:v>
                  </c:pt>
                  <c:pt idx="17">
                    <c:v/>
                  </c:pt>
                  <c:pt idx="18">
                    <c:v/>
                  </c:pt>
                  <c:pt idx="19">
                    <c:v/>
                  </c:pt>
                  <c:pt idx="20">
                    <c:v>Y5</c:v>
                  </c:pt>
                </c:lvl>
              </c:multiLvlStrCache>
            </c:multiLvlStrRef>
          </c:cat>
          <c:val>
            <c:numRef>
              <c:f>Sheet1!$C$2:$C$22</c:f>
              <c:numCache>
                <c:formatCode>General</c:formatCode>
                <c:ptCount val="21"/>
                <c:pt idx="0">
                  <c:v>100</c:v>
                </c:pt>
                <c:pt idx="1">
                  <c:v>99</c:v>
                </c:pt>
                <c:pt idx="2">
                  <c:v>98</c:v>
                </c:pt>
                <c:pt idx="3">
                  <c:v>97</c:v>
                </c:pt>
                <c:pt idx="4">
                  <c:v>96</c:v>
                </c:pt>
                <c:pt idx="5">
                  <c:v>98.5</c:v>
                </c:pt>
                <c:pt idx="6">
                  <c:v>101</c:v>
                </c:pt>
                <c:pt idx="7">
                  <c:v>101.1</c:v>
                </c:pt>
                <c:pt idx="8">
                  <c:v>101.3</c:v>
                </c:pt>
                <c:pt idx="9">
                  <c:v>101.4</c:v>
                </c:pt>
                <c:pt idx="10">
                  <c:v>101.6</c:v>
                </c:pt>
                <c:pt idx="11">
                  <c:v>101.7</c:v>
                </c:pt>
                <c:pt idx="12">
                  <c:v>101.9</c:v>
                </c:pt>
                <c:pt idx="13">
                  <c:v>102</c:v>
                </c:pt>
                <c:pt idx="14">
                  <c:v>102.1</c:v>
                </c:pt>
                <c:pt idx="15">
                  <c:v>102.3</c:v>
                </c:pt>
                <c:pt idx="16">
                  <c:v>102.4</c:v>
                </c:pt>
                <c:pt idx="17">
                  <c:v>102.6</c:v>
                </c:pt>
                <c:pt idx="18">
                  <c:v>102.7</c:v>
                </c:pt>
                <c:pt idx="19">
                  <c:v>102.9</c:v>
                </c:pt>
                <c:pt idx="20">
                  <c:v>103</c:v>
                </c:pt>
              </c:numCache>
            </c:numRef>
          </c:val>
          <c:smooth val="0"/>
        </c:ser>
        <c:ser>
          <c:idx val="2"/>
          <c:order val="2"/>
          <c:tx>
            <c:strRef>
              <c:f>Sheet1!$D$1</c:f>
              <c:strCache>
                <c:ptCount val="1"/>
                <c:pt idx="0">
                  <c:v>2022-style tech drawdown, slow recovery</c:v>
                </c:pt>
              </c:strCache>
            </c:strRef>
          </c:tx>
          <c:spPr>
            <a:solidFill>
              <a:srgbClr val="0B3C49"/>
            </a:solidFill>
            <a:ln w="25400" cap="flat">
              <a:solidFill>
                <a:srgbClr val="0B3C4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3C49"/>
              </a:solidFill>
              <a:ln w="9525" cap="flat">
                <a:solidFill>
                  <a:srgbClr val="0B3C49"/>
                </a:solidFill>
                <a:prstDash val="solid"/>
                <a:round/>
              </a:ln>
              <a:effectLst/>
            </c:spPr>
          </c:marker>
          <c:cat>
            <c:multiLvlStrRef>
              <c:f>Sheet1!$A$2:$A$22</c:f>
              <c:multiLvlStrCache>
                <c:ptCount val="21"/>
                <c:lvl>
                  <c:pt idx="0">
                    <c:v>Y0</c:v>
                  </c:pt>
                  <c:pt idx="1">
                    <c:v/>
                  </c:pt>
                  <c:pt idx="2">
                    <c:v/>
                  </c:pt>
                  <c:pt idx="3">
                    <c:v/>
                  </c:pt>
                  <c:pt idx="4">
                    <c:v>Y1</c:v>
                  </c:pt>
                  <c:pt idx="5">
                    <c:v/>
                  </c:pt>
                  <c:pt idx="6">
                    <c:v/>
                  </c:pt>
                  <c:pt idx="7">
                    <c:v/>
                  </c:pt>
                  <c:pt idx="8">
                    <c:v>Y2</c:v>
                  </c:pt>
                  <c:pt idx="9">
                    <c:v/>
                  </c:pt>
                  <c:pt idx="10">
                    <c:v/>
                  </c:pt>
                  <c:pt idx="11">
                    <c:v/>
                  </c:pt>
                  <c:pt idx="12">
                    <c:v>Y3</c:v>
                  </c:pt>
                  <c:pt idx="13">
                    <c:v/>
                  </c:pt>
                  <c:pt idx="14">
                    <c:v/>
                  </c:pt>
                  <c:pt idx="15">
                    <c:v/>
                  </c:pt>
                  <c:pt idx="16">
                    <c:v>Y4</c:v>
                  </c:pt>
                  <c:pt idx="17">
                    <c:v/>
                  </c:pt>
                  <c:pt idx="18">
                    <c:v/>
                  </c:pt>
                  <c:pt idx="19">
                    <c:v/>
                  </c:pt>
                  <c:pt idx="20">
                    <c:v>Y5</c:v>
                  </c:pt>
                </c:lvl>
              </c:multiLvlStrCache>
            </c:multiLvlStrRef>
          </c:cat>
          <c:val>
            <c:numRef>
              <c:f>Sheet1!$D$2:$D$22</c:f>
              <c:numCache>
                <c:formatCode>General</c:formatCode>
                <c:ptCount val="21"/>
                <c:pt idx="0">
                  <c:v>100</c:v>
                </c:pt>
                <c:pt idx="1">
                  <c:v>90</c:v>
                </c:pt>
                <c:pt idx="2">
                  <c:v>80</c:v>
                </c:pt>
                <c:pt idx="3">
                  <c:v>70</c:v>
                </c:pt>
                <c:pt idx="4">
                  <c:v>71.6</c:v>
                </c:pt>
                <c:pt idx="5">
                  <c:v>73.2</c:v>
                </c:pt>
                <c:pt idx="6">
                  <c:v>74.8</c:v>
                </c:pt>
                <c:pt idx="7">
                  <c:v>76.4</c:v>
                </c:pt>
                <c:pt idx="8">
                  <c:v>78</c:v>
                </c:pt>
                <c:pt idx="9">
                  <c:v>80.8</c:v>
                </c:pt>
                <c:pt idx="10">
                  <c:v>83.7</c:v>
                </c:pt>
                <c:pt idx="11">
                  <c:v>86.5</c:v>
                </c:pt>
                <c:pt idx="12">
                  <c:v>89.3</c:v>
                </c:pt>
                <c:pt idx="13">
                  <c:v>92.2</c:v>
                </c:pt>
                <c:pt idx="14">
                  <c:v>95</c:v>
                </c:pt>
                <c:pt idx="15">
                  <c:v>102</c:v>
                </c:pt>
                <c:pt idx="16">
                  <c:v>103.6</c:v>
                </c:pt>
                <c:pt idx="17">
                  <c:v>105.2</c:v>
                </c:pt>
                <c:pt idx="18">
                  <c:v>106.8</c:v>
                </c:pt>
                <c:pt idx="19">
                  <c:v>108.4</c:v>
                </c:pt>
                <c:pt idx="20">
                  <c:v>110</c:v>
                </c:pt>
              </c:numCache>
            </c:numRef>
          </c:val>
          <c:smooth val="0"/>
        </c:ser>
        <c:ser>
          <c:idx val="3"/>
          <c:order val="3"/>
          <c:tx>
            <c:strRef>
              <c:f>Sheet1!$E$1</c:f>
              <c:strCache>
                <c:ptCount val="1"/>
                <c:pt idx="0">
                  <c:v>Lost decade (sideways below par)</c:v>
                </c:pt>
              </c:strCache>
            </c:strRef>
          </c:tx>
          <c:spPr>
            <a:solidFill>
              <a:srgbClr val="8FA6AA"/>
            </a:solidFill>
            <a:ln w="25400" cap="flat">
              <a:solidFill>
                <a:srgbClr val="8FA6A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FA6AA"/>
              </a:solidFill>
              <a:ln w="9525" cap="flat">
                <a:solidFill>
                  <a:srgbClr val="8FA6AA"/>
                </a:solidFill>
                <a:prstDash val="solid"/>
                <a:round/>
              </a:ln>
              <a:effectLst/>
            </c:spPr>
          </c:marker>
          <c:cat>
            <c:multiLvlStrRef>
              <c:f>Sheet1!$A$2:$A$22</c:f>
              <c:multiLvlStrCache>
                <c:ptCount val="21"/>
                <c:lvl>
                  <c:pt idx="0">
                    <c:v>Y0</c:v>
                  </c:pt>
                  <c:pt idx="1">
                    <c:v/>
                  </c:pt>
                  <c:pt idx="2">
                    <c:v/>
                  </c:pt>
                  <c:pt idx="3">
                    <c:v/>
                  </c:pt>
                  <c:pt idx="4">
                    <c:v>Y1</c:v>
                  </c:pt>
                  <c:pt idx="5">
                    <c:v/>
                  </c:pt>
                  <c:pt idx="6">
                    <c:v/>
                  </c:pt>
                  <c:pt idx="7">
                    <c:v/>
                  </c:pt>
                  <c:pt idx="8">
                    <c:v>Y2</c:v>
                  </c:pt>
                  <c:pt idx="9">
                    <c:v/>
                  </c:pt>
                  <c:pt idx="10">
                    <c:v/>
                  </c:pt>
                  <c:pt idx="11">
                    <c:v/>
                  </c:pt>
                  <c:pt idx="12">
                    <c:v>Y3</c:v>
                  </c:pt>
                  <c:pt idx="13">
                    <c:v/>
                  </c:pt>
                  <c:pt idx="14">
                    <c:v/>
                  </c:pt>
                  <c:pt idx="15">
                    <c:v/>
                  </c:pt>
                  <c:pt idx="16">
                    <c:v>Y4</c:v>
                  </c:pt>
                  <c:pt idx="17">
                    <c:v/>
                  </c:pt>
                  <c:pt idx="18">
                    <c:v/>
                  </c:pt>
                  <c:pt idx="19">
                    <c:v/>
                  </c:pt>
                  <c:pt idx="20">
                    <c:v>Y5</c:v>
                  </c:pt>
                </c:lvl>
              </c:multiLvlStrCache>
            </c:multiLvlStrRef>
          </c:cat>
          <c:val>
            <c:numRef>
              <c:f>Sheet1!$E$2:$E$22</c:f>
              <c:numCache>
                <c:formatCode>General</c:formatCode>
                <c:ptCount val="21"/>
                <c:pt idx="0">
                  <c:v>100</c:v>
                </c:pt>
                <c:pt idx="1">
                  <c:v>96.3</c:v>
                </c:pt>
                <c:pt idx="2">
                  <c:v>92.5</c:v>
                </c:pt>
                <c:pt idx="3">
                  <c:v>88.7</c:v>
                </c:pt>
                <c:pt idx="4">
                  <c:v>85</c:v>
                </c:pt>
                <c:pt idx="5">
                  <c:v>84.2</c:v>
                </c:pt>
                <c:pt idx="6">
                  <c:v>83.3</c:v>
                </c:pt>
                <c:pt idx="7">
                  <c:v>82.5</c:v>
                </c:pt>
                <c:pt idx="8">
                  <c:v>81.7</c:v>
                </c:pt>
                <c:pt idx="9">
                  <c:v>80.8</c:v>
                </c:pt>
                <c:pt idx="10">
                  <c:v>80</c:v>
                </c:pt>
                <c:pt idx="11">
                  <c:v>80.8</c:v>
                </c:pt>
                <c:pt idx="12">
                  <c:v>81.6</c:v>
                </c:pt>
                <c:pt idx="13">
                  <c:v>82.4</c:v>
                </c:pt>
                <c:pt idx="14">
                  <c:v>83.2</c:v>
                </c:pt>
                <c:pt idx="15">
                  <c:v>84</c:v>
                </c:pt>
                <c:pt idx="16">
                  <c:v>84.8</c:v>
                </c:pt>
                <c:pt idx="17">
                  <c:v>85.6</c:v>
                </c:pt>
                <c:pt idx="18">
                  <c:v>86.4</c:v>
                </c:pt>
                <c:pt idx="19">
                  <c:v>87.2</c:v>
                </c:pt>
                <c:pt idx="20">
                  <c:v>88</c:v>
                </c:pt>
              </c:numCache>
            </c:numRef>
          </c:val>
          <c:smooth val="0"/>
        </c:ser>
        <c:ser>
          <c:idx val="4"/>
          <c:order val="4"/>
          <c:tx>
            <c:strRef>
              <c:f>Sheet1!$F$1</c:f>
              <c:strCache>
                <c:ptCount val="1"/>
                <c:pt idx="0">
                  <c:v>Geopolitical shock, no recovery</c:v>
                </c:pt>
              </c:strCache>
            </c:strRef>
          </c:tx>
          <c:spPr>
            <a:solidFill>
              <a:srgbClr val="B8433A"/>
            </a:solidFill>
            <a:ln w="25400" cap="flat">
              <a:solidFill>
                <a:srgbClr val="B843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433A"/>
              </a:solidFill>
              <a:ln w="9525" cap="flat">
                <a:solidFill>
                  <a:srgbClr val="B8433A"/>
                </a:solidFill>
                <a:prstDash val="solid"/>
                <a:round/>
              </a:ln>
              <a:effectLst/>
            </c:spPr>
          </c:marker>
          <c:cat>
            <c:multiLvlStrRef>
              <c:f>Sheet1!$A$2:$A$22</c:f>
              <c:multiLvlStrCache>
                <c:ptCount val="21"/>
                <c:lvl>
                  <c:pt idx="0">
                    <c:v>Y0</c:v>
                  </c:pt>
                  <c:pt idx="1">
                    <c:v/>
                  </c:pt>
                  <c:pt idx="2">
                    <c:v/>
                  </c:pt>
                  <c:pt idx="3">
                    <c:v/>
                  </c:pt>
                  <c:pt idx="4">
                    <c:v>Y1</c:v>
                  </c:pt>
                  <c:pt idx="5">
                    <c:v/>
                  </c:pt>
                  <c:pt idx="6">
                    <c:v/>
                  </c:pt>
                  <c:pt idx="7">
                    <c:v/>
                  </c:pt>
                  <c:pt idx="8">
                    <c:v>Y2</c:v>
                  </c:pt>
                  <c:pt idx="9">
                    <c:v/>
                  </c:pt>
                  <c:pt idx="10">
                    <c:v/>
                  </c:pt>
                  <c:pt idx="11">
                    <c:v/>
                  </c:pt>
                  <c:pt idx="12">
                    <c:v>Y3</c:v>
                  </c:pt>
                  <c:pt idx="13">
                    <c:v/>
                  </c:pt>
                  <c:pt idx="14">
                    <c:v/>
                  </c:pt>
                  <c:pt idx="15">
                    <c:v/>
                  </c:pt>
                  <c:pt idx="16">
                    <c:v>Y4</c:v>
                  </c:pt>
                  <c:pt idx="17">
                    <c:v/>
                  </c:pt>
                  <c:pt idx="18">
                    <c:v/>
                  </c:pt>
                  <c:pt idx="19">
                    <c:v/>
                  </c:pt>
                  <c:pt idx="20">
                    <c:v>Y5</c:v>
                  </c:pt>
                </c:lvl>
              </c:multiLvlStrCache>
            </c:multiLvlStrRef>
          </c:cat>
          <c:val>
            <c:numRef>
              <c:f>Sheet1!$F$2:$F$22</c:f>
              <c:numCache>
                <c:formatCode>General</c:formatCode>
                <c:ptCount val="21"/>
                <c:pt idx="0">
                  <c:v>100</c:v>
                </c:pt>
                <c:pt idx="1">
                  <c:v>80</c:v>
                </c:pt>
                <c:pt idx="2">
                  <c:v>60</c:v>
                </c:pt>
                <c:pt idx="3">
                  <c:v>58.3</c:v>
                </c:pt>
                <c:pt idx="4">
                  <c:v>56.7</c:v>
                </c:pt>
                <c:pt idx="5">
                  <c:v>55</c:v>
                </c:pt>
                <c:pt idx="6">
                  <c:v>53.3</c:v>
                </c:pt>
                <c:pt idx="7">
                  <c:v>51.7</c:v>
                </c:pt>
                <c:pt idx="8">
                  <c:v>50</c:v>
                </c:pt>
                <c:pt idx="9">
                  <c:v>50.4</c:v>
                </c:pt>
                <c:pt idx="10">
                  <c:v>50.8</c:v>
                </c:pt>
                <c:pt idx="11">
                  <c:v>51.2</c:v>
                </c:pt>
                <c:pt idx="12">
                  <c:v>51.7</c:v>
                </c:pt>
                <c:pt idx="13">
                  <c:v>52.1</c:v>
                </c:pt>
                <c:pt idx="14">
                  <c:v>52.5</c:v>
                </c:pt>
                <c:pt idx="15">
                  <c:v>52.9</c:v>
                </c:pt>
                <c:pt idx="16">
                  <c:v>53.3</c:v>
                </c:pt>
                <c:pt idx="17">
                  <c:v>53.8</c:v>
                </c:pt>
                <c:pt idx="18">
                  <c:v>54.2</c:v>
                </c:pt>
                <c:pt idx="19">
                  <c:v>54.6</c:v>
                </c:pt>
                <c:pt idx="20">
                  <c:v>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catAx>
      <c:valAx>
        <c:axId val="2094734552"/>
        <c:scaling>
          <c:orientation val="minMax"/>
          <c:max val="180"/>
          <c:min val="40"/>
        </c:scaling>
        <c:delete val="0"/>
        <c:axPos val="l"/>
        <c:majorGridlines>
          <c:spPr>
            <a:ln w="6350" cap="flat">
              <a:solidFill>
                <a:srgbClr val="DCE7E5"/>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D2B30"/>
                </a:solidFill>
                <a:latin typeface="Calibri"/>
              </a:defRPr>
            </a:pPr>
            <a:r>
              <a:rPr sz="950" b="0" i="0" u="none" strike="noStrike">
                <a:solidFill>
                  <a:srgbClr val="1D2B30"/>
                </a:solidFill>
                <a:latin typeface="Calibri"/>
              </a:rPr>
              <a:t>Cumulative autocall probability (risk-neutral)</a:t>
            </a:r>
          </a:p>
        </c:rich>
      </c:tx>
      <c:layout/>
      <c:overlay val="0"/>
    </c:title>
    <c:autoTitleDeleted val="0"/>
    <c:plotArea>
      <c:layout/>
      <c:barChart>
        <c:barDir val="col"/>
        <c:grouping val="clustered"/>
        <c:varyColors val="0"/>
        <c:ser>
          <c:idx val="0"/>
          <c:order val="0"/>
          <c:tx>
            <c:strRef>
              <c:f>Sheet1!$B$1</c:f>
              <c:strCache>
                <c:ptCount val="1"/>
                <c:pt idx="0">
                  <c:v>Cumulative call probability</c:v>
                </c:pt>
              </c:strCache>
            </c:strRef>
          </c:tx>
          <c:spPr>
            <a:solidFill>
              <a:srgbClr val="0F8B8D"/>
            </a:solidFill>
            <a:effectLst/>
          </c:spPr>
          <c:invertIfNegative val="0"/>
          <c:dLbls>
            <c:numFmt formatCode="0&quot;%&quot;" sourceLinked="0"/>
            <c:txPr>
              <a:bodyPr/>
              <a:lstStyle/>
              <a:p>
                <a:pPr>
                  <a:defRPr b="0" i="0" strike="noStrike" sz="900" u="none">
                    <a:solidFill>
                      <a:srgbClr val="1D2B30"/>
                    </a:solidFill>
                    <a:latin typeface="Arial"/>
                  </a:defRPr>
                </a:pPr>
              </a:p>
            </c:txPr>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51.4</c:v>
                </c:pt>
                <c:pt idx="1">
                  <c:v>69.6</c:v>
                </c:pt>
                <c:pt idx="2">
                  <c:v>76.3</c:v>
                </c:pt>
                <c:pt idx="3">
                  <c:v>80.2</c:v>
                </c:pt>
                <c:pt idx="4">
                  <c:v>82.8</c:v>
                </c:pt>
              </c:numCache>
            </c:numRef>
          </c:val>
        </c:ser>
        <c:dLbls>
          <c:numFmt formatCode="0&quot;%&quot;" sourceLinked="0"/>
          <c:txPr>
            <a:bodyPr/>
            <a:lstStyle/>
            <a:p>
              <a:pPr>
                <a:defRPr b="0" i="0" strike="noStrike" sz="900" u="none">
                  <a:solidFill>
                    <a:srgbClr val="1D2B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E7E5"/>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D2B30"/>
                </a:solidFill>
                <a:latin typeface="Calibri"/>
              </a:defRPr>
            </a:pPr>
            <a:r>
              <a:rPr sz="950" b="0" i="0" u="none" strike="noStrike">
                <a:solidFill>
                  <a:srgbClr val="1D2B30"/>
                </a:solidFill>
                <a:latin typeface="Calibri"/>
              </a:rPr>
              <a:t>Payoff at Y5 vs final basket level</a:t>
            </a:r>
          </a:p>
        </c:rich>
      </c:tx>
      <c:layout/>
      <c:overlay val="0"/>
    </c:title>
    <c:autoTitleDeleted val="0"/>
    <c:plotArea>
      <c:layout/>
      <c:scatterChart>
        <c:scatterStyle val="lineMarker"/>
        <c:varyColors val="0"/>
        <c:ser>
          <c:idx val="0"/>
          <c:order val="0"/>
          <c:tx>
            <c:strRef>
              <c:f>Sheet1!$B$1</c:f>
              <c:strCache>
                <c:ptCount val="1"/>
                <c:pt idx="0">
                  <c:v>PPN</c:v>
                </c:pt>
              </c:strCache>
            </c:strRef>
          </c:tx>
          <c:spPr>
            <a:solidFill>
              <a:srgbClr val="D9961A"/>
            </a:solidFill>
            <a:ln w="25400" cap="flat">
              <a:solidFill>
                <a:srgbClr val="D9961A"/>
              </a:solidFill>
              <a:prstDash val="solid"/>
              <a:round/>
            </a:ln>
            <a:effectLst/>
          </c:spPr>
          <c:marker>
            <c:symbol val="none"/>
            <c:size val="6"/>
            <c:spPr>
              <a:solidFill>
                <a:srgbClr val="D9961A"/>
              </a:solidFill>
              <a:ln w="9525" cap="flat">
                <a:solidFill>
                  <a:srgbClr val="D9961A"/>
                </a:solidFill>
                <a:prstDash val="solid"/>
                <a:round/>
              </a:ln>
              <a:effectLst/>
            </c:spPr>
          </c:marker>
          <c:xVal>
            <c:numRef>
              <c:f>Sheet1!$A$2:$A$142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xVal>
          <c:yVal>
            <c:numRef>
              <c:f>Sheet1!$B$2:$B$142</c:f>
              <c:numCache>
                <c:formatCode>General</c:formatCode>
                <c:ptCount val="141"/>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100</c:v>
                </c:pt>
                <c:pt idx="61">
                  <c:v>101.02</c:v>
                </c:pt>
                <c:pt idx="62">
                  <c:v>102.04</c:v>
                </c:pt>
                <c:pt idx="63">
                  <c:v>103.06</c:v>
                </c:pt>
                <c:pt idx="64">
                  <c:v>104.08</c:v>
                </c:pt>
                <c:pt idx="65">
                  <c:v>105.1</c:v>
                </c:pt>
                <c:pt idx="66">
                  <c:v>106.12</c:v>
                </c:pt>
                <c:pt idx="67">
                  <c:v>107.14</c:v>
                </c:pt>
                <c:pt idx="68">
                  <c:v>108.16</c:v>
                </c:pt>
                <c:pt idx="69">
                  <c:v>109.18</c:v>
                </c:pt>
                <c:pt idx="70">
                  <c:v>110.2</c:v>
                </c:pt>
                <c:pt idx="71">
                  <c:v>111.22</c:v>
                </c:pt>
                <c:pt idx="72">
                  <c:v>112.24</c:v>
                </c:pt>
                <c:pt idx="73">
                  <c:v>113.26</c:v>
                </c:pt>
                <c:pt idx="74">
                  <c:v>114.28</c:v>
                </c:pt>
                <c:pt idx="75">
                  <c:v>115.3</c:v>
                </c:pt>
                <c:pt idx="76">
                  <c:v>116.32</c:v>
                </c:pt>
                <c:pt idx="77">
                  <c:v>117.34</c:v>
                </c:pt>
                <c:pt idx="78">
                  <c:v>118.36</c:v>
                </c:pt>
                <c:pt idx="79">
                  <c:v>119.38</c:v>
                </c:pt>
                <c:pt idx="80">
                  <c:v>120.4</c:v>
                </c:pt>
                <c:pt idx="81">
                  <c:v>121.42</c:v>
                </c:pt>
                <c:pt idx="82">
                  <c:v>122.44</c:v>
                </c:pt>
                <c:pt idx="83">
                  <c:v>123.46000000000001</c:v>
                </c:pt>
                <c:pt idx="84">
                  <c:v>124.48</c:v>
                </c:pt>
                <c:pt idx="85">
                  <c:v>125.5</c:v>
                </c:pt>
                <c:pt idx="86">
                  <c:v>126.52</c:v>
                </c:pt>
                <c:pt idx="87">
                  <c:v>127.53999999999999</c:v>
                </c:pt>
                <c:pt idx="88">
                  <c:v>128.56</c:v>
                </c:pt>
                <c:pt idx="89">
                  <c:v>129.58</c:v>
                </c:pt>
                <c:pt idx="90">
                  <c:v>130.6</c:v>
                </c:pt>
                <c:pt idx="91">
                  <c:v>131.62</c:v>
                </c:pt>
                <c:pt idx="92">
                  <c:v>132.64</c:v>
                </c:pt>
                <c:pt idx="93">
                  <c:v>133.66</c:v>
                </c:pt>
                <c:pt idx="94">
                  <c:v>134.68</c:v>
                </c:pt>
                <c:pt idx="95">
                  <c:v>135.7</c:v>
                </c:pt>
                <c:pt idx="96">
                  <c:v>136.72</c:v>
                </c:pt>
                <c:pt idx="97">
                  <c:v>137.74</c:v>
                </c:pt>
                <c:pt idx="98">
                  <c:v>138.76</c:v>
                </c:pt>
                <c:pt idx="99">
                  <c:v>139.78</c:v>
                </c:pt>
                <c:pt idx="100">
                  <c:v>140.8</c:v>
                </c:pt>
                <c:pt idx="101">
                  <c:v>141.82</c:v>
                </c:pt>
                <c:pt idx="102">
                  <c:v>142.84</c:v>
                </c:pt>
                <c:pt idx="103">
                  <c:v>143.86</c:v>
                </c:pt>
                <c:pt idx="104">
                  <c:v>144.88</c:v>
                </c:pt>
                <c:pt idx="105">
                  <c:v>145.9</c:v>
                </c:pt>
                <c:pt idx="106">
                  <c:v>146.92000000000002</c:v>
                </c:pt>
                <c:pt idx="107">
                  <c:v>147.94</c:v>
                </c:pt>
                <c:pt idx="108">
                  <c:v>148.96</c:v>
                </c:pt>
                <c:pt idx="109">
                  <c:v>149.98000000000002</c:v>
                </c:pt>
                <c:pt idx="110">
                  <c:v>151</c:v>
                </c:pt>
                <c:pt idx="111">
                  <c:v>152.02</c:v>
                </c:pt>
                <c:pt idx="112">
                  <c:v>153.04</c:v>
                </c:pt>
                <c:pt idx="113">
                  <c:v>154.06</c:v>
                </c:pt>
                <c:pt idx="114">
                  <c:v>155.07999999999998</c:v>
                </c:pt>
                <c:pt idx="115">
                  <c:v>156.1</c:v>
                </c:pt>
                <c:pt idx="116">
                  <c:v>157.12</c:v>
                </c:pt>
                <c:pt idx="117">
                  <c:v>158.14</c:v>
                </c:pt>
                <c:pt idx="118">
                  <c:v>159.16</c:v>
                </c:pt>
                <c:pt idx="119">
                  <c:v>160.18</c:v>
                </c:pt>
                <c:pt idx="120">
                  <c:v>161.2</c:v>
                </c:pt>
                <c:pt idx="121">
                  <c:v>162.22</c:v>
                </c:pt>
                <c:pt idx="122">
                  <c:v>163.24</c:v>
                </c:pt>
                <c:pt idx="123">
                  <c:v>164.26</c:v>
                </c:pt>
                <c:pt idx="124">
                  <c:v>165.28</c:v>
                </c:pt>
                <c:pt idx="125">
                  <c:v>166.3</c:v>
                </c:pt>
                <c:pt idx="126">
                  <c:v>167.32</c:v>
                </c:pt>
                <c:pt idx="127">
                  <c:v>168.34</c:v>
                </c:pt>
                <c:pt idx="128">
                  <c:v>169.36</c:v>
                </c:pt>
                <c:pt idx="129">
                  <c:v>170.38</c:v>
                </c:pt>
                <c:pt idx="130">
                  <c:v>171.4</c:v>
                </c:pt>
                <c:pt idx="131">
                  <c:v>172.42000000000002</c:v>
                </c:pt>
                <c:pt idx="132">
                  <c:v>173.44</c:v>
                </c:pt>
                <c:pt idx="133">
                  <c:v>174.46</c:v>
                </c:pt>
                <c:pt idx="134">
                  <c:v>175.48000000000002</c:v>
                </c:pt>
                <c:pt idx="135">
                  <c:v>176.5</c:v>
                </c:pt>
                <c:pt idx="136">
                  <c:v>177.51999999999998</c:v>
                </c:pt>
                <c:pt idx="137">
                  <c:v>178.54000000000002</c:v>
                </c:pt>
                <c:pt idx="138">
                  <c:v>179.56</c:v>
                </c:pt>
                <c:pt idx="139">
                  <c:v>180.57999999999998</c:v>
                </c:pt>
                <c:pt idx="140">
                  <c:v>181.6</c:v>
                </c:pt>
              </c:numCache>
            </c:numRef>
          </c:yVal>
          <c:smooth val="0"/>
        </c:ser>
        <c:ser>
          <c:idx val="1"/>
          <c:order val="1"/>
          <c:tx>
            <c:strRef>
              <c:f>Sheet1!$C$1</c:f>
              <c:strCache>
                <c:ptCount val="1"/>
                <c:pt idx="0">
                  <c:v>Snowball (Y5, not called)</c:v>
                </c:pt>
              </c:strCache>
            </c:strRef>
          </c:tx>
          <c:spPr>
            <a:solidFill>
              <a:srgbClr val="0F8B8D"/>
            </a:solidFill>
            <a:ln w="25400" cap="flat">
              <a:solidFill>
                <a:srgbClr val="0F8B8D"/>
              </a:solidFill>
              <a:prstDash val="solid"/>
              <a:round/>
            </a:ln>
            <a:effectLst/>
          </c:spPr>
          <c:marker>
            <c:symbol val="none"/>
            <c:size val="6"/>
            <c:spPr>
              <a:solidFill>
                <a:srgbClr val="0F8B8D"/>
              </a:solidFill>
              <a:ln w="9525" cap="flat">
                <a:solidFill>
                  <a:srgbClr val="0F8B8D"/>
                </a:solidFill>
                <a:prstDash val="solid"/>
                <a:round/>
              </a:ln>
              <a:effectLst/>
            </c:spPr>
          </c:marker>
          <c:xVal>
            <c:numRef>
              <c:f>Sheet1!$A$2:$A$142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xVal>
          <c:yVal>
            <c:numRef>
              <c:f>Sheet1!$C$2:$C$142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145</c:v>
                </c:pt>
                <c:pt idx="61">
                  <c:v>145</c:v>
                </c:pt>
                <c:pt idx="62">
                  <c:v>145</c:v>
                </c:pt>
                <c:pt idx="63">
                  <c:v>145</c:v>
                </c:pt>
                <c:pt idx="64">
                  <c:v>145</c:v>
                </c:pt>
                <c:pt idx="65">
                  <c:v>145</c:v>
                </c:pt>
                <c:pt idx="66">
                  <c:v>145</c:v>
                </c:pt>
                <c:pt idx="67">
                  <c:v>145</c:v>
                </c:pt>
                <c:pt idx="68">
                  <c:v>145</c:v>
                </c:pt>
                <c:pt idx="69">
                  <c:v>145</c:v>
                </c:pt>
                <c:pt idx="70">
                  <c:v>145</c:v>
                </c:pt>
                <c:pt idx="71">
                  <c:v>145</c:v>
                </c:pt>
                <c:pt idx="72">
                  <c:v>145</c:v>
                </c:pt>
                <c:pt idx="73">
                  <c:v>145</c:v>
                </c:pt>
                <c:pt idx="74">
                  <c:v>145</c:v>
                </c:pt>
                <c:pt idx="75">
                  <c:v>145</c:v>
                </c:pt>
                <c:pt idx="76">
                  <c:v>145</c:v>
                </c:pt>
                <c:pt idx="77">
                  <c:v>145</c:v>
                </c:pt>
                <c:pt idx="78">
                  <c:v>145</c:v>
                </c:pt>
                <c:pt idx="79">
                  <c:v>145</c:v>
                </c:pt>
                <c:pt idx="80">
                  <c:v>145</c:v>
                </c:pt>
                <c:pt idx="81">
                  <c:v>145</c:v>
                </c:pt>
                <c:pt idx="82">
                  <c:v>145</c:v>
                </c:pt>
                <c:pt idx="83">
                  <c:v>145</c:v>
                </c:pt>
                <c:pt idx="84">
                  <c:v>145</c:v>
                </c:pt>
                <c:pt idx="85">
                  <c:v>145</c:v>
                </c:pt>
                <c:pt idx="86">
                  <c:v>145</c:v>
                </c:pt>
                <c:pt idx="87">
                  <c:v>145</c:v>
                </c:pt>
                <c:pt idx="88">
                  <c:v>145</c:v>
                </c:pt>
                <c:pt idx="89">
                  <c:v>145</c:v>
                </c:pt>
                <c:pt idx="90">
                  <c:v>145</c:v>
                </c:pt>
                <c:pt idx="91">
                  <c:v>145</c:v>
                </c:pt>
                <c:pt idx="92">
                  <c:v>145</c:v>
                </c:pt>
                <c:pt idx="93">
                  <c:v>145</c:v>
                </c:pt>
                <c:pt idx="94">
                  <c:v>145</c:v>
                </c:pt>
                <c:pt idx="95">
                  <c:v>145</c:v>
                </c:pt>
                <c:pt idx="96">
                  <c:v>145</c:v>
                </c:pt>
                <c:pt idx="97">
                  <c:v>145</c:v>
                </c:pt>
                <c:pt idx="98">
                  <c:v>145</c:v>
                </c:pt>
                <c:pt idx="99">
                  <c:v>145</c:v>
                </c:pt>
                <c:pt idx="100">
                  <c:v>145</c:v>
                </c:pt>
                <c:pt idx="101">
                  <c:v>145</c:v>
                </c:pt>
                <c:pt idx="102">
                  <c:v>145</c:v>
                </c:pt>
                <c:pt idx="103">
                  <c:v>145</c:v>
                </c:pt>
                <c:pt idx="104">
                  <c:v>145</c:v>
                </c:pt>
                <c:pt idx="105">
                  <c:v>145</c:v>
                </c:pt>
                <c:pt idx="106">
                  <c:v>145</c:v>
                </c:pt>
                <c:pt idx="107">
                  <c:v>145</c:v>
                </c:pt>
                <c:pt idx="108">
                  <c:v>145</c:v>
                </c:pt>
                <c:pt idx="109">
                  <c:v>145</c:v>
                </c:pt>
                <c:pt idx="110">
                  <c:v>145</c:v>
                </c:pt>
                <c:pt idx="111">
                  <c:v>145</c:v>
                </c:pt>
                <c:pt idx="112">
                  <c:v>145</c:v>
                </c:pt>
                <c:pt idx="113">
                  <c:v>145</c:v>
                </c:pt>
                <c:pt idx="114">
                  <c:v>145</c:v>
                </c:pt>
                <c:pt idx="115">
                  <c:v>145</c:v>
                </c:pt>
                <c:pt idx="116">
                  <c:v>145</c:v>
                </c:pt>
                <c:pt idx="117">
                  <c:v>145</c:v>
                </c:pt>
                <c:pt idx="118">
                  <c:v>145</c:v>
                </c:pt>
                <c:pt idx="119">
                  <c:v>145</c:v>
                </c:pt>
                <c:pt idx="120">
                  <c:v>145</c:v>
                </c:pt>
                <c:pt idx="121">
                  <c:v>145</c:v>
                </c:pt>
                <c:pt idx="122">
                  <c:v>145</c:v>
                </c:pt>
                <c:pt idx="123">
                  <c:v>145</c:v>
                </c:pt>
                <c:pt idx="124">
                  <c:v>145</c:v>
                </c:pt>
                <c:pt idx="125">
                  <c:v>145</c:v>
                </c:pt>
                <c:pt idx="126">
                  <c:v>145</c:v>
                </c:pt>
                <c:pt idx="127">
                  <c:v>145</c:v>
                </c:pt>
                <c:pt idx="128">
                  <c:v>145</c:v>
                </c:pt>
                <c:pt idx="129">
                  <c:v>145</c:v>
                </c:pt>
                <c:pt idx="130">
                  <c:v>145</c:v>
                </c:pt>
                <c:pt idx="131">
                  <c:v>145</c:v>
                </c:pt>
                <c:pt idx="132">
                  <c:v>145</c:v>
                </c:pt>
                <c:pt idx="133">
                  <c:v>145</c:v>
                </c:pt>
                <c:pt idx="134">
                  <c:v>145</c:v>
                </c:pt>
                <c:pt idx="135">
                  <c:v>145</c:v>
                </c:pt>
                <c:pt idx="136">
                  <c:v>145</c:v>
                </c:pt>
                <c:pt idx="137">
                  <c:v>145</c:v>
                </c:pt>
                <c:pt idx="138">
                  <c:v>145</c:v>
                </c:pt>
                <c:pt idx="139">
                  <c:v>145</c:v>
                </c:pt>
                <c:pt idx="140">
                  <c:v>145</c:v>
                </c:pt>
              </c:numCache>
            </c:numRef>
          </c:yVal>
          <c:smooth val="0"/>
        </c:ser>
        <c:ser>
          <c:idx val="2"/>
          <c:order val="2"/>
          <c:tx>
            <c:strRef>
              <c:f>Sheet1!$D$1</c:f>
              <c:strCache>
                <c:ptCount val="1"/>
                <c:pt idx="0">
                  <c:v>Basket</c:v>
                </c:pt>
              </c:strCache>
            </c:strRef>
          </c:tx>
          <c:spPr>
            <a:solidFill>
              <a:srgbClr val="8FA6AA"/>
            </a:solidFill>
            <a:ln w="25400" cap="flat">
              <a:solidFill>
                <a:srgbClr val="8FA6AA"/>
              </a:solidFill>
              <a:prstDash val="solid"/>
              <a:round/>
            </a:ln>
            <a:effectLst/>
          </c:spPr>
          <c:marker>
            <c:symbol val="none"/>
            <c:size val="6"/>
            <c:spPr>
              <a:solidFill>
                <a:srgbClr val="8FA6AA"/>
              </a:solidFill>
              <a:ln w="9525" cap="flat">
                <a:solidFill>
                  <a:srgbClr val="8FA6AA"/>
                </a:solidFill>
                <a:prstDash val="solid"/>
                <a:round/>
              </a:ln>
              <a:effectLst/>
            </c:spPr>
          </c:marker>
          <c:xVal>
            <c:numRef>
              <c:f>Sheet1!$A$2:$A$142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xVal>
          <c:yVal>
            <c:numRef>
              <c:f>Sheet1!$D$2:$D$142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80"/>
          <c:min val="40"/>
        </c:scaling>
        <c:delete val="0"/>
        <c:axPos val="b"/>
        <c:numFmt formatCode="0&quot;%&quot;" sourceLinked="1"/>
        <c:majorTickMark val="none"/>
        <c:minorTickMark val="none"/>
        <c:tickLblPos val="nextTo"/>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majorUnit val="20"/>
      </c:valAx>
      <c:valAx>
        <c:axId val="2094734552"/>
        <c:scaling>
          <c:orientation val="minMax"/>
          <c:max val="190"/>
          <c:min val="30"/>
        </c:scaling>
        <c:delete val="0"/>
        <c:axPos val="l"/>
        <c:majorGridlines>
          <c:spPr>
            <a:ln w="6350" cap="flat">
              <a:solidFill>
                <a:srgbClr val="DCE7E5"/>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midCat"/>
      </c:valAx>
      <c:spPr>
        <a:noFill/>
        <a:ln>
          <a:noFill/>
        </a:ln>
        <a:effectLst/>
      </c:spPr>
    </c:plotArea>
    <c:legend>
      <c:legendPos val="b"/>
      <c:overlay val="0"/>
      <c:txPr>
        <a:bodyPr/>
        <a:lstStyle/>
        <a:p>
          <a:pPr>
            <a:defRPr sz="900">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One-line pitch: a growth autocall on the four Asian digital-transformation engines the Chak family already knows from its businesses. The coupon rolls up into principal instead of being paid as income, and capital is protected unless the basket is down more than 35% at maturity.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(does not count toward the 10-slide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needs translate one-for-one into design features. The key insight: the family asked for capital appreciation, not income. That points us to a coupon that accrues and is paid at call (snowball), rather than a quarterly income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arguments. (1) Structural: Asia supplies AI hardware, Japan's reforms re-rate equities, China tech trades at a discount, and power demand grows. (2) Structuring: high USD rates plus Asian vol make an attractive coupon possible on a diversified basket, so we don't need a riskier worst-of.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index is a real Bloomberg ticker (verify MXAP0UT Index for MSCI AC Asia Pacific Utilities). Weights: 60% to the two tech engines the family knows best, 25% to the AI supply chain, and 15% to utilities as a low-vol anchor linked to their renewable assets. Quanto USD: the client takes no JPY/HKD/TWD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is the key design argument. With the same basket, autocall and barrier, the coupon mechanism alone moves the fair coupon from ~5.6% to ~9.7%. In the snowball, the client gives up coupons only in the scenarios where the basket never returns to 100%, which is the trade a growth investor should prefer to an income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note as a single question asked every quarter from Year 1: is the basket at or above where it started? If yes, the family gets its money back plus 9% for every year elapsed. If it is never yes, only one more number matters: the final level versus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the payout ladder. Each quarter adds 2.25% of notional. Right chart: if the note survives to Year 5, there are three zones. Above 100% the family gets 145% (better than the basket up to +45%; above that the basket wins, which is the capped upside). Between 65% and 100% they get par: a 35% buffer versus owning the basket. Below 65% they participate 1-for-1, same as owning the basket.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Mini-charts show each leg's payoff at maturity against the final basket level. In practice the digitals and puts are path-dependent: they all die at the first autocall. The client is effectively selling downside protection below 65% and buying a ladder of autocall digitals.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scenarios. The 2022-style path is the key one: a 30% drawdown in the first year that would scare a direct investor, yet the note still pays 133.75% at Q15 because the barrier is only observed at maturity. The worst path, a geopolitical shock with no recovery, returns 55%: the same as holding the basket.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answers 'what if markets go nowhere?'. Even at 0% equity return the note is called in ~69% of paths, because volatility alone takes the basket back above 100% on some review date. The honest tail: in roughly 1 path in 13 (risk-neutral) the basket ends below 65% and the average loss in those paths is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 risks on the left, desk hedges on the right. The 9% coupon is below the 9.7% fair level, which leaves a cushion if vol or correlation move before the 17 Sep 2026 trade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chart" Target="/ppt/charts/chart9.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5852160" y="-1280160"/>
            <a:ext cx="4937760" cy="4937760"/>
          </a:xfrm>
          <a:prstGeom prst="ellipse">
            <a:avLst/>
          </a:prstGeom>
          <a:solidFill>
            <a:srgbClr val="0F8B8D">
              <a:alpha val="65000"/>
            </a:srgbClr>
          </a:solidFill>
          <a:ln/>
        </p:spPr>
      </p:sp>
      <p:sp>
        <p:nvSpPr>
          <p:cNvPr id="3" name="Shape 1"/>
          <p:cNvSpPr/>
          <p:nvPr/>
        </p:nvSpPr>
        <p:spPr>
          <a:xfrm>
            <a:off x="7589520" y="3200400"/>
            <a:ext cx="2194560" cy="2194560"/>
          </a:xfrm>
          <a:prstGeom prst="ellipse">
            <a:avLst/>
          </a:prstGeom>
          <a:solidFill>
            <a:srgbClr val="D9961A">
              <a:alpha val="85000"/>
            </a:srgbClr>
          </a:solidFill>
          <a:ln/>
        </p:spPr>
      </p:sp>
      <p:sp>
        <p:nvSpPr>
          <p:cNvPr id="4" name="Text 2"/>
          <p:cNvSpPr txBox="1"/>
          <p:nvPr/>
        </p:nvSpPr>
        <p:spPr>
          <a:xfrm>
            <a:off x="548640" y="548640"/>
            <a:ext cx="6858000" cy="320040"/>
          </a:xfrm>
          <a:prstGeom prst="rect">
            <a:avLst/>
          </a:prstGeom>
          <a:noFill/>
          <a:ln/>
        </p:spPr>
        <p:txBody>
          <a:bodyPr wrap="square" lIns="0" tIns="0" rIns="0" bIns="0" rtlCol="0" anchor="t"/>
          <a:lstStyle/>
          <a:p>
            <a:pPr indent="0" marL="0">
              <a:buNone/>
            </a:pPr>
            <a:r>
              <a:rPr lang="en-US" sz="1250" dirty="0">
                <a:solidFill>
                  <a:srgbClr val="BFDCD8"/>
                </a:solidFill>
                <a:latin typeface="Calibri" pitchFamily="34" charset="0"/>
                <a:ea typeface="Calibri" pitchFamily="34" charset="-122"/>
                <a:cs typeface="Calibri" pitchFamily="34" charset="-120"/>
              </a:rPr>
              <a:t>Investment Strategy Challenge 2026 · Proposal for NKE Private Wealth (Chak family)</a:t>
            </a:r>
            <a:endParaRPr lang="en-US" sz="1250" dirty="0"/>
          </a:p>
        </p:txBody>
      </p:sp>
      <p:sp>
        <p:nvSpPr>
          <p:cNvPr id="5" name="Text 3"/>
          <p:cNvSpPr txBox="1"/>
          <p:nvPr/>
        </p:nvSpPr>
        <p:spPr>
          <a:xfrm>
            <a:off x="548640" y="960120"/>
            <a:ext cx="5669280" cy="16002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Asian Digital Transformation Snowball Note</a:t>
            </a:r>
            <a:endParaRPr lang="en-US" sz="3400" dirty="0"/>
          </a:p>
        </p:txBody>
      </p:sp>
      <p:sp>
        <p:nvSpPr>
          <p:cNvPr id="6" name="Text 4"/>
          <p:cNvSpPr txBox="1"/>
          <p:nvPr/>
        </p:nvSpPr>
        <p:spPr>
          <a:xfrm>
            <a:off x="548640" y="2743200"/>
            <a:ext cx="5486400" cy="777240"/>
          </a:xfrm>
          <a:prstGeom prst="rect">
            <a:avLst/>
          </a:prstGeom>
          <a:noFill/>
          <a:ln/>
        </p:spPr>
        <p:txBody>
          <a:bodyPr wrap="square" lIns="0" tIns="0" rIns="0" bIns="0" rtlCol="0" anchor="t"/>
          <a:lstStyle/>
          <a:p>
            <a:pPr indent="0" marL="0">
              <a:buNone/>
            </a:pPr>
            <a:r>
              <a:rPr lang="en-US" sz="1500" i="1" dirty="0">
                <a:solidFill>
                  <a:srgbClr val="E3F1EF"/>
                </a:solidFill>
                <a:latin typeface="Calibri" pitchFamily="34" charset="0"/>
                <a:ea typeface="Calibri" pitchFamily="34" charset="-122"/>
                <a:cs typeface="Calibri" pitchFamily="34" charset="-120"/>
              </a:rPr>
              <a:t>Growth that compounds while Asia digitalises, with capital protected unless the basket is down more than 35% at maturity</a:t>
            </a:r>
            <a:endParaRPr lang="en-US" sz="1500" dirty="0"/>
          </a:p>
        </p:txBody>
      </p:sp>
      <p:sp>
        <p:nvSpPr>
          <p:cNvPr id="7" name="Text 5"/>
          <p:cNvSpPr txBox="1"/>
          <p:nvPr/>
        </p:nvSpPr>
        <p:spPr>
          <a:xfrm>
            <a:off x="548640" y="4069080"/>
            <a:ext cx="6949440" cy="365760"/>
          </a:xfrm>
          <a:prstGeom prst="rect">
            <a:avLst/>
          </a:prstGeom>
          <a:noFill/>
          <a:ln/>
        </p:spPr>
        <p:txBody>
          <a:bodyPr wrap="square" lIns="0" tIns="0" rIns="0" bIns="0" rtlCol="0" anchor="t"/>
          <a:lstStyle/>
          <a:p>
            <a:pPr indent="0" marL="0">
              <a:buNone/>
            </a:pPr>
            <a:r>
              <a:rPr lang="en-US" sz="1150" b="1" dirty="0">
                <a:solidFill>
                  <a:srgbClr val="D9961A"/>
                </a:solidFill>
                <a:latin typeface="Calibri" pitchFamily="34" charset="0"/>
                <a:ea typeface="Calibri" pitchFamily="34" charset="-122"/>
                <a:cs typeface="Calibri" pitchFamily="34" charset="-120"/>
              </a:rPr>
              <a:t>USD 100mn · 5-year note issued by Natixis · 9.0% p.a. snowball coupon · 65% European barrier · Trade date 17 Sep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Agenda</a:t>
            </a:r>
            <a:endParaRPr lang="en-US" sz="2200" dirty="0"/>
          </a:p>
        </p:txBody>
      </p:sp>
      <p:sp>
        <p:nvSpPr>
          <p:cNvPr id="3" name="Shape 1"/>
          <p:cNvSpPr/>
          <p:nvPr/>
        </p:nvSpPr>
        <p:spPr>
          <a:xfrm>
            <a:off x="548640" y="1097280"/>
            <a:ext cx="457200" cy="457200"/>
          </a:xfrm>
          <a:prstGeom prst="ellipse">
            <a:avLst/>
          </a:prstGeom>
          <a:solidFill>
            <a:srgbClr val="0F8B8D"/>
          </a:solidFill>
          <a:ln/>
        </p:spPr>
      </p:sp>
      <p:sp>
        <p:nvSpPr>
          <p:cNvPr id="4" name="Text 2"/>
          <p:cNvSpPr txBox="1"/>
          <p:nvPr/>
        </p:nvSpPr>
        <p:spPr>
          <a:xfrm>
            <a:off x="548640" y="1097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5" name="Text 3"/>
          <p:cNvSpPr txBox="1"/>
          <p:nvPr/>
        </p:nvSpPr>
        <p:spPr>
          <a:xfrm>
            <a:off x="1234440" y="1051560"/>
            <a:ext cx="4572000" cy="292608"/>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Client &amp; market</a:t>
            </a:r>
            <a:endParaRPr lang="en-US" sz="1600" dirty="0"/>
          </a:p>
        </p:txBody>
      </p:sp>
      <p:sp>
        <p:nvSpPr>
          <p:cNvPr id="6" name="Text 4"/>
          <p:cNvSpPr txBox="1"/>
          <p:nvPr/>
        </p:nvSpPr>
        <p:spPr>
          <a:xfrm>
            <a:off x="1234440" y="1353312"/>
            <a:ext cx="6400800" cy="274320"/>
          </a:xfrm>
          <a:prstGeom prst="rect">
            <a:avLst/>
          </a:prstGeom>
          <a:noFill/>
          <a:ln/>
        </p:spPr>
        <p:txBody>
          <a:bodyPr wrap="square" lIns="0" tIns="0" rIns="0" bIns="0" rtlCol="0" anchor="t"/>
          <a:lstStyle/>
          <a:p>
            <a:pPr indent="0" marL="0">
              <a:buNone/>
            </a:pPr>
            <a:r>
              <a:rPr lang="en-US" sz="1150" dirty="0">
                <a:solidFill>
                  <a:srgbClr val="5F7176"/>
                </a:solidFill>
                <a:latin typeface="Calibri" pitchFamily="34" charset="0"/>
                <a:ea typeface="Calibri" pitchFamily="34" charset="-122"/>
                <a:cs typeface="Calibri" pitchFamily="34" charset="-120"/>
              </a:rPr>
              <a:t>Who the Chak family is, what they need, and why Asia's digital build-out now</a:t>
            </a:r>
            <a:endParaRPr lang="en-US" sz="1150" dirty="0"/>
          </a:p>
        </p:txBody>
      </p:sp>
      <p:sp>
        <p:nvSpPr>
          <p:cNvPr id="7" name="Text 5"/>
          <p:cNvSpPr txBox="1"/>
          <p:nvPr/>
        </p:nvSpPr>
        <p:spPr>
          <a:xfrm>
            <a:off x="7315200" y="1124712"/>
            <a:ext cx="1371600" cy="274320"/>
          </a:xfrm>
          <a:prstGeom prst="rect">
            <a:avLst/>
          </a:prstGeom>
          <a:noFill/>
          <a:ln/>
        </p:spPr>
        <p:txBody>
          <a:bodyPr wrap="square" lIns="0" tIns="0" rIns="0" bIns="0" rtlCol="0" anchor="t"/>
          <a:lstStyle/>
          <a:p>
            <a:pPr algn="r" indent="0" marL="0">
              <a:buNone/>
            </a:pPr>
            <a:r>
              <a:rPr lang="en-US" sz="1100" dirty="0">
                <a:solidFill>
                  <a:srgbClr val="5F7176"/>
                </a:solidFill>
                <a:latin typeface="Calibri" pitchFamily="34" charset="0"/>
                <a:ea typeface="Calibri" pitchFamily="34" charset="-122"/>
                <a:cs typeface="Calibri" pitchFamily="34" charset="-120"/>
              </a:rPr>
              <a:t>Slides 1–2</a:t>
            </a:r>
            <a:endParaRPr lang="en-US" sz="1100" dirty="0"/>
          </a:p>
        </p:txBody>
      </p:sp>
      <p:sp>
        <p:nvSpPr>
          <p:cNvPr id="8" name="Shape 6"/>
          <p:cNvSpPr/>
          <p:nvPr/>
        </p:nvSpPr>
        <p:spPr>
          <a:xfrm>
            <a:off x="548640" y="1828800"/>
            <a:ext cx="457200" cy="457200"/>
          </a:xfrm>
          <a:prstGeom prst="ellipse">
            <a:avLst/>
          </a:prstGeom>
          <a:solidFill>
            <a:srgbClr val="D9961A"/>
          </a:solidFill>
          <a:ln/>
        </p:spPr>
      </p:sp>
      <p:sp>
        <p:nvSpPr>
          <p:cNvPr id="9" name="Text 7"/>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234440" y="1783080"/>
            <a:ext cx="4572000" cy="292608"/>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Product design</a:t>
            </a:r>
            <a:endParaRPr lang="en-US" sz="1600" dirty="0"/>
          </a:p>
        </p:txBody>
      </p:sp>
      <p:sp>
        <p:nvSpPr>
          <p:cNvPr id="11" name="Text 9"/>
          <p:cNvSpPr txBox="1"/>
          <p:nvPr/>
        </p:nvSpPr>
        <p:spPr>
          <a:xfrm>
            <a:off x="1234440" y="2084832"/>
            <a:ext cx="6400800" cy="274320"/>
          </a:xfrm>
          <a:prstGeom prst="rect">
            <a:avLst/>
          </a:prstGeom>
          <a:noFill/>
          <a:ln/>
        </p:spPr>
        <p:txBody>
          <a:bodyPr wrap="square" lIns="0" tIns="0" rIns="0" bIns="0" rtlCol="0" anchor="t"/>
          <a:lstStyle/>
          <a:p>
            <a:pPr indent="0" marL="0">
              <a:buNone/>
            </a:pPr>
            <a:r>
              <a:rPr lang="en-US" sz="1150" dirty="0">
                <a:solidFill>
                  <a:srgbClr val="5F7176"/>
                </a:solidFill>
                <a:latin typeface="Calibri" pitchFamily="34" charset="0"/>
                <a:ea typeface="Calibri" pitchFamily="34" charset="-122"/>
                <a:cs typeface="Calibri" pitchFamily="34" charset="-120"/>
              </a:rPr>
              <a:t>Underlying basket, term sheet, and why a snowball coupon</a:t>
            </a:r>
            <a:endParaRPr lang="en-US" sz="1150" dirty="0"/>
          </a:p>
        </p:txBody>
      </p:sp>
      <p:sp>
        <p:nvSpPr>
          <p:cNvPr id="12" name="Text 10"/>
          <p:cNvSpPr txBox="1"/>
          <p:nvPr/>
        </p:nvSpPr>
        <p:spPr>
          <a:xfrm>
            <a:off x="7315200" y="1856232"/>
            <a:ext cx="1371600" cy="274320"/>
          </a:xfrm>
          <a:prstGeom prst="rect">
            <a:avLst/>
          </a:prstGeom>
          <a:noFill/>
          <a:ln/>
        </p:spPr>
        <p:txBody>
          <a:bodyPr wrap="square" lIns="0" tIns="0" rIns="0" bIns="0" rtlCol="0" anchor="t"/>
          <a:lstStyle/>
          <a:p>
            <a:pPr algn="r" indent="0" marL="0">
              <a:buNone/>
            </a:pPr>
            <a:r>
              <a:rPr lang="en-US" sz="1100" dirty="0">
                <a:solidFill>
                  <a:srgbClr val="5F7176"/>
                </a:solidFill>
                <a:latin typeface="Calibri" pitchFamily="34" charset="0"/>
                <a:ea typeface="Calibri" pitchFamily="34" charset="-122"/>
                <a:cs typeface="Calibri" pitchFamily="34" charset="-120"/>
              </a:rPr>
              <a:t>Slides 3–4</a:t>
            </a:r>
            <a:endParaRPr lang="en-US" sz="1100" dirty="0"/>
          </a:p>
        </p:txBody>
      </p:sp>
      <p:sp>
        <p:nvSpPr>
          <p:cNvPr id="13" name="Shape 11"/>
          <p:cNvSpPr/>
          <p:nvPr/>
        </p:nvSpPr>
        <p:spPr>
          <a:xfrm>
            <a:off x="548640" y="2560320"/>
            <a:ext cx="457200" cy="457200"/>
          </a:xfrm>
          <a:prstGeom prst="ellipse">
            <a:avLst/>
          </a:prstGeom>
          <a:solidFill>
            <a:srgbClr val="0F8B8D"/>
          </a:solidFill>
          <a:ln/>
        </p:spPr>
      </p:sp>
      <p:sp>
        <p:nvSpPr>
          <p:cNvPr id="14" name="Text 12"/>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txBox="1"/>
          <p:nvPr/>
        </p:nvSpPr>
        <p:spPr>
          <a:xfrm>
            <a:off x="1234440" y="2514600"/>
            <a:ext cx="4572000" cy="292608"/>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Payoffs explained</a:t>
            </a:r>
            <a:endParaRPr lang="en-US" sz="1600" dirty="0"/>
          </a:p>
        </p:txBody>
      </p:sp>
      <p:sp>
        <p:nvSpPr>
          <p:cNvPr id="16" name="Text 14"/>
          <p:cNvSpPr txBox="1"/>
          <p:nvPr/>
        </p:nvSpPr>
        <p:spPr>
          <a:xfrm>
            <a:off x="1234440" y="2816352"/>
            <a:ext cx="6400800" cy="274320"/>
          </a:xfrm>
          <a:prstGeom prst="rect">
            <a:avLst/>
          </a:prstGeom>
          <a:noFill/>
          <a:ln/>
        </p:spPr>
        <p:txBody>
          <a:bodyPr wrap="square" lIns="0" tIns="0" rIns="0" bIns="0" rtlCol="0" anchor="t"/>
          <a:lstStyle/>
          <a:p>
            <a:pPr indent="0" marL="0">
              <a:buNone/>
            </a:pPr>
            <a:r>
              <a:rPr lang="en-US" sz="1150" dirty="0">
                <a:solidFill>
                  <a:srgbClr val="5F7176"/>
                </a:solidFill>
                <a:latin typeface="Calibri" pitchFamily="34" charset="0"/>
                <a:ea typeface="Calibri" pitchFamily="34" charset="-122"/>
                <a:cs typeface="Calibri" pitchFamily="34" charset="-120"/>
              </a:rPr>
              <a:t>Observation timeline, payoff diagrams, and the building blocks the client owns</a:t>
            </a:r>
            <a:endParaRPr lang="en-US" sz="1150" dirty="0"/>
          </a:p>
        </p:txBody>
      </p:sp>
      <p:sp>
        <p:nvSpPr>
          <p:cNvPr id="17" name="Text 15"/>
          <p:cNvSpPr txBox="1"/>
          <p:nvPr/>
        </p:nvSpPr>
        <p:spPr>
          <a:xfrm>
            <a:off x="7315200" y="2587752"/>
            <a:ext cx="1371600" cy="274320"/>
          </a:xfrm>
          <a:prstGeom prst="rect">
            <a:avLst/>
          </a:prstGeom>
          <a:noFill/>
          <a:ln/>
        </p:spPr>
        <p:txBody>
          <a:bodyPr wrap="square" lIns="0" tIns="0" rIns="0" bIns="0" rtlCol="0" anchor="t"/>
          <a:lstStyle/>
          <a:p>
            <a:pPr algn="r" indent="0" marL="0">
              <a:buNone/>
            </a:pPr>
            <a:r>
              <a:rPr lang="en-US" sz="1100" dirty="0">
                <a:solidFill>
                  <a:srgbClr val="5F7176"/>
                </a:solidFill>
                <a:latin typeface="Calibri" pitchFamily="34" charset="0"/>
                <a:ea typeface="Calibri" pitchFamily="34" charset="-122"/>
                <a:cs typeface="Calibri" pitchFamily="34" charset="-120"/>
              </a:rPr>
              <a:t>Slides 5–7</a:t>
            </a:r>
            <a:endParaRPr lang="en-US" sz="1100" dirty="0"/>
          </a:p>
        </p:txBody>
      </p:sp>
      <p:sp>
        <p:nvSpPr>
          <p:cNvPr id="18" name="Shape 16"/>
          <p:cNvSpPr/>
          <p:nvPr/>
        </p:nvSpPr>
        <p:spPr>
          <a:xfrm>
            <a:off x="548640" y="3291840"/>
            <a:ext cx="457200" cy="457200"/>
          </a:xfrm>
          <a:prstGeom prst="ellipse">
            <a:avLst/>
          </a:prstGeom>
          <a:solidFill>
            <a:srgbClr val="D9961A"/>
          </a:solidFill>
          <a:ln/>
        </p:spPr>
      </p:sp>
      <p:sp>
        <p:nvSpPr>
          <p:cNvPr id="19" name="Text 17"/>
          <p:cNvSpPr txBox="1"/>
          <p:nvPr/>
        </p:nvSpPr>
        <p:spPr>
          <a:xfrm>
            <a:off x="548640" y="32918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0" name="Text 18"/>
          <p:cNvSpPr txBox="1"/>
          <p:nvPr/>
        </p:nvSpPr>
        <p:spPr>
          <a:xfrm>
            <a:off x="1234440" y="3246120"/>
            <a:ext cx="4572000" cy="292608"/>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Scenarios &amp; back-testing</a:t>
            </a:r>
            <a:endParaRPr lang="en-US" sz="1600" dirty="0"/>
          </a:p>
        </p:txBody>
      </p:sp>
      <p:sp>
        <p:nvSpPr>
          <p:cNvPr id="21" name="Text 19"/>
          <p:cNvSpPr txBox="1"/>
          <p:nvPr/>
        </p:nvSpPr>
        <p:spPr>
          <a:xfrm>
            <a:off x="1234440" y="3547872"/>
            <a:ext cx="6400800" cy="274320"/>
          </a:xfrm>
          <a:prstGeom prst="rect">
            <a:avLst/>
          </a:prstGeom>
          <a:noFill/>
          <a:ln/>
        </p:spPr>
        <p:txBody>
          <a:bodyPr wrap="square" lIns="0" tIns="0" rIns="0" bIns="0" rtlCol="0" anchor="t"/>
          <a:lstStyle/>
          <a:p>
            <a:pPr indent="0" marL="0">
              <a:buNone/>
            </a:pPr>
            <a:r>
              <a:rPr lang="en-US" sz="1150" dirty="0">
                <a:solidFill>
                  <a:srgbClr val="5F7176"/>
                </a:solidFill>
                <a:latin typeface="Calibri" pitchFamily="34" charset="0"/>
                <a:ea typeface="Calibri" pitchFamily="34" charset="-122"/>
                <a:cs typeface="Calibri" pitchFamily="34" charset="-120"/>
              </a:rPr>
              <a:t>Stress paths and Monte Carlo outcome distributions</a:t>
            </a:r>
            <a:endParaRPr lang="en-US" sz="1150" dirty="0"/>
          </a:p>
        </p:txBody>
      </p:sp>
      <p:sp>
        <p:nvSpPr>
          <p:cNvPr id="22" name="Text 20"/>
          <p:cNvSpPr txBox="1"/>
          <p:nvPr/>
        </p:nvSpPr>
        <p:spPr>
          <a:xfrm>
            <a:off x="7315200" y="3319272"/>
            <a:ext cx="1371600" cy="274320"/>
          </a:xfrm>
          <a:prstGeom prst="rect">
            <a:avLst/>
          </a:prstGeom>
          <a:noFill/>
          <a:ln/>
        </p:spPr>
        <p:txBody>
          <a:bodyPr wrap="square" lIns="0" tIns="0" rIns="0" bIns="0" rtlCol="0" anchor="t"/>
          <a:lstStyle/>
          <a:p>
            <a:pPr algn="r" indent="0" marL="0">
              <a:buNone/>
            </a:pPr>
            <a:r>
              <a:rPr lang="en-US" sz="1100" dirty="0">
                <a:solidFill>
                  <a:srgbClr val="5F7176"/>
                </a:solidFill>
                <a:latin typeface="Calibri" pitchFamily="34" charset="0"/>
                <a:ea typeface="Calibri" pitchFamily="34" charset="-122"/>
                <a:cs typeface="Calibri" pitchFamily="34" charset="-120"/>
              </a:rPr>
              <a:t>Slides 8–9</a:t>
            </a:r>
            <a:endParaRPr lang="en-US" sz="1100" dirty="0"/>
          </a:p>
        </p:txBody>
      </p:sp>
      <p:sp>
        <p:nvSpPr>
          <p:cNvPr id="23" name="Shape 21"/>
          <p:cNvSpPr/>
          <p:nvPr/>
        </p:nvSpPr>
        <p:spPr>
          <a:xfrm>
            <a:off x="548640" y="4023360"/>
            <a:ext cx="457200" cy="457200"/>
          </a:xfrm>
          <a:prstGeom prst="ellipse">
            <a:avLst/>
          </a:prstGeom>
          <a:solidFill>
            <a:srgbClr val="0F8B8D"/>
          </a:solidFill>
          <a:ln/>
        </p:spPr>
      </p:sp>
      <p:sp>
        <p:nvSpPr>
          <p:cNvPr id="24" name="Text 22"/>
          <p:cNvSpPr txBox="1"/>
          <p:nvPr/>
        </p:nvSpPr>
        <p:spPr>
          <a:xfrm>
            <a:off x="548640" y="4023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5" name="Text 23"/>
          <p:cNvSpPr txBox="1"/>
          <p:nvPr/>
        </p:nvSpPr>
        <p:spPr>
          <a:xfrm>
            <a:off x="1234440" y="3977640"/>
            <a:ext cx="4572000" cy="292608"/>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Risks &amp; hedging</a:t>
            </a:r>
            <a:endParaRPr lang="en-US" sz="1600" dirty="0"/>
          </a:p>
        </p:txBody>
      </p:sp>
      <p:sp>
        <p:nvSpPr>
          <p:cNvPr id="26" name="Text 24"/>
          <p:cNvSpPr txBox="1"/>
          <p:nvPr/>
        </p:nvSpPr>
        <p:spPr>
          <a:xfrm>
            <a:off x="1234440" y="4279392"/>
            <a:ext cx="6400800" cy="274320"/>
          </a:xfrm>
          <a:prstGeom prst="rect">
            <a:avLst/>
          </a:prstGeom>
          <a:noFill/>
          <a:ln/>
        </p:spPr>
        <p:txBody>
          <a:bodyPr wrap="square" lIns="0" tIns="0" rIns="0" bIns="0" rtlCol="0" anchor="t"/>
          <a:lstStyle/>
          <a:p>
            <a:pPr indent="0" marL="0">
              <a:buNone/>
            </a:pPr>
            <a:r>
              <a:rPr lang="en-US" sz="1150" dirty="0">
                <a:solidFill>
                  <a:srgbClr val="5F7176"/>
                </a:solidFill>
                <a:latin typeface="Calibri" pitchFamily="34" charset="0"/>
                <a:ea typeface="Calibri" pitchFamily="34" charset="-122"/>
                <a:cs typeface="Calibri" pitchFamily="34" charset="-120"/>
              </a:rPr>
              <a:t>Investor risks, mitigants, and how the Natixis desk hedges</a:t>
            </a:r>
            <a:endParaRPr lang="en-US" sz="1150" dirty="0"/>
          </a:p>
        </p:txBody>
      </p:sp>
      <p:sp>
        <p:nvSpPr>
          <p:cNvPr id="27" name="Text 25"/>
          <p:cNvSpPr txBox="1"/>
          <p:nvPr/>
        </p:nvSpPr>
        <p:spPr>
          <a:xfrm>
            <a:off x="7315200" y="4050792"/>
            <a:ext cx="1371600" cy="274320"/>
          </a:xfrm>
          <a:prstGeom prst="rect">
            <a:avLst/>
          </a:prstGeom>
          <a:noFill/>
          <a:ln/>
        </p:spPr>
        <p:txBody>
          <a:bodyPr wrap="square" lIns="0" tIns="0" rIns="0" bIns="0" rtlCol="0" anchor="t"/>
          <a:lstStyle/>
          <a:p>
            <a:pPr algn="r" indent="0" marL="0">
              <a:buNone/>
            </a:pPr>
            <a:r>
              <a:rPr lang="en-US" sz="1100" dirty="0">
                <a:solidFill>
                  <a:srgbClr val="5F7176"/>
                </a:solidFill>
                <a:latin typeface="Calibri" pitchFamily="34" charset="0"/>
                <a:ea typeface="Calibri" pitchFamily="34" charset="-122"/>
                <a:cs typeface="Calibri" pitchFamily="34" charset="-120"/>
              </a:rPr>
              <a:t>Slide 10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Executive summary</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One note that turns the family's operating expertise into compounding, protected growth</a:t>
            </a:r>
            <a:endParaRPr lang="en-US" sz="1250" dirty="0"/>
          </a:p>
        </p:txBody>
      </p:sp>
      <p:sp>
        <p:nvSpPr>
          <p:cNvPr id="4" name="Shape 2"/>
          <p:cNvSpPr/>
          <p:nvPr/>
        </p:nvSpPr>
        <p:spPr>
          <a:xfrm>
            <a:off x="457200" y="1234440"/>
            <a:ext cx="2606040" cy="2103120"/>
          </a:xfrm>
          <a:prstGeom prst="roundRect">
            <a:avLst>
              <a:gd name="adj" fmla="val 3043"/>
            </a:avLst>
          </a:prstGeom>
          <a:solidFill>
            <a:srgbClr val="E6F2F0"/>
          </a:solidFill>
          <a:ln w="12700">
            <a:solidFill>
              <a:srgbClr val="E6F2F0"/>
            </a:solidFill>
            <a:prstDash val="solid"/>
          </a:ln>
        </p:spPr>
      </p:sp>
      <p:sp>
        <p:nvSpPr>
          <p:cNvPr id="5" name="Text 3"/>
          <p:cNvSpPr txBox="1"/>
          <p:nvPr/>
        </p:nvSpPr>
        <p:spPr>
          <a:xfrm>
            <a:off x="658368" y="1353312"/>
            <a:ext cx="2240280" cy="731520"/>
          </a:xfrm>
          <a:prstGeom prst="rect">
            <a:avLst/>
          </a:prstGeom>
          <a:noFill/>
          <a:ln/>
        </p:spPr>
        <p:txBody>
          <a:bodyPr wrap="square" lIns="0" tIns="0" rIns="0" bIns="0" rtlCol="0" anchor="ctr"/>
          <a:lstStyle/>
          <a:p>
            <a:pPr indent="0" marL="0">
              <a:buNone/>
            </a:pPr>
            <a:r>
              <a:rPr lang="en-US" sz="3800" b="1" dirty="0">
                <a:solidFill>
                  <a:srgbClr val="0F8B8D"/>
                </a:solidFill>
                <a:latin typeface="Cambria" pitchFamily="34" charset="0"/>
                <a:ea typeface="Cambria" pitchFamily="34" charset="-122"/>
                <a:cs typeface="Cambria" pitchFamily="34" charset="-120"/>
              </a:rPr>
              <a:t>9.0%</a:t>
            </a:r>
            <a:endParaRPr lang="en-US" sz="3800" dirty="0"/>
          </a:p>
        </p:txBody>
      </p:sp>
      <p:sp>
        <p:nvSpPr>
          <p:cNvPr id="6" name="Text 4"/>
          <p:cNvSpPr txBox="1"/>
          <p:nvPr/>
        </p:nvSpPr>
        <p:spPr>
          <a:xfrm>
            <a:off x="658368" y="2103120"/>
            <a:ext cx="2240280" cy="292608"/>
          </a:xfrm>
          <a:prstGeom prst="rect">
            <a:avLst/>
          </a:prstGeom>
          <a:noFill/>
          <a:ln/>
        </p:spPr>
        <p:txBody>
          <a:bodyPr wrap="square" lIns="0" tIns="0" rIns="0" bIns="0" rtlCol="0" anchor="t"/>
          <a:lstStyle/>
          <a:p>
            <a:pPr indent="0" marL="0">
              <a:buNone/>
            </a:pPr>
            <a:r>
              <a:rPr lang="en-US" sz="1300" b="1" dirty="0">
                <a:solidFill>
                  <a:srgbClr val="0B3C49"/>
                </a:solidFill>
                <a:latin typeface="Calibri" pitchFamily="34" charset="0"/>
                <a:ea typeface="Calibri" pitchFamily="34" charset="-122"/>
                <a:cs typeface="Calibri" pitchFamily="34" charset="-120"/>
              </a:rPr>
              <a:t>Snowball coupon p.a.</a:t>
            </a:r>
            <a:endParaRPr lang="en-US" sz="1300" dirty="0"/>
          </a:p>
        </p:txBody>
      </p:sp>
      <p:sp>
        <p:nvSpPr>
          <p:cNvPr id="7" name="Text 5"/>
          <p:cNvSpPr txBox="1"/>
          <p:nvPr/>
        </p:nvSpPr>
        <p:spPr>
          <a:xfrm>
            <a:off x="658368" y="2423160"/>
            <a:ext cx="2240280" cy="868680"/>
          </a:xfrm>
          <a:prstGeom prst="rect">
            <a:avLst/>
          </a:prstGeom>
          <a:noFill/>
          <a:ln/>
        </p:spPr>
        <p:txBody>
          <a:bodyPr wrap="square" lIns="0" tIns="0" rIns="0" bIns="0" rtlCol="0" anchor="t"/>
          <a:lstStyle/>
          <a:p>
            <a:pPr indent="0" marL="0">
              <a:buNone/>
            </a:pPr>
            <a:r>
              <a:rPr lang="en-US" sz="1050" dirty="0">
                <a:solidFill>
                  <a:srgbClr val="5F7176"/>
                </a:solidFill>
                <a:latin typeface="Calibri" pitchFamily="34" charset="0"/>
                <a:ea typeface="Calibri" pitchFamily="34" charset="-122"/>
                <a:cs typeface="Calibri" pitchFamily="34" charset="-120"/>
              </a:rPr>
              <a:t>Accrues every quarter and is paid with principal at autocall: 109% after Y1, up to 145% at Y5</a:t>
            </a:r>
            <a:endParaRPr lang="en-US" sz="1050" dirty="0"/>
          </a:p>
        </p:txBody>
      </p:sp>
      <p:sp>
        <p:nvSpPr>
          <p:cNvPr id="8" name="Shape 6"/>
          <p:cNvSpPr/>
          <p:nvPr/>
        </p:nvSpPr>
        <p:spPr>
          <a:xfrm>
            <a:off x="3246120" y="1234440"/>
            <a:ext cx="2606040" cy="2103120"/>
          </a:xfrm>
          <a:prstGeom prst="roundRect">
            <a:avLst>
              <a:gd name="adj" fmla="val 3043"/>
            </a:avLst>
          </a:prstGeom>
          <a:solidFill>
            <a:srgbClr val="E6F2F0"/>
          </a:solidFill>
          <a:ln w="12700">
            <a:solidFill>
              <a:srgbClr val="E6F2F0"/>
            </a:solidFill>
            <a:prstDash val="solid"/>
          </a:ln>
        </p:spPr>
      </p:sp>
      <p:sp>
        <p:nvSpPr>
          <p:cNvPr id="9" name="Text 7"/>
          <p:cNvSpPr txBox="1"/>
          <p:nvPr/>
        </p:nvSpPr>
        <p:spPr>
          <a:xfrm>
            <a:off x="3447288" y="1353312"/>
            <a:ext cx="2240280" cy="731520"/>
          </a:xfrm>
          <a:prstGeom prst="rect">
            <a:avLst/>
          </a:prstGeom>
          <a:noFill/>
          <a:ln/>
        </p:spPr>
        <p:txBody>
          <a:bodyPr wrap="square" lIns="0" tIns="0" rIns="0" bIns="0" rtlCol="0" anchor="ctr"/>
          <a:lstStyle/>
          <a:p>
            <a:pPr indent="0" marL="0">
              <a:buNone/>
            </a:pPr>
            <a:r>
              <a:rPr lang="en-US" sz="3800" b="1" dirty="0">
                <a:solidFill>
                  <a:srgbClr val="D9961A"/>
                </a:solidFill>
                <a:latin typeface="Cambria" pitchFamily="34" charset="0"/>
                <a:ea typeface="Cambria" pitchFamily="34" charset="-122"/>
                <a:cs typeface="Cambria" pitchFamily="34" charset="-120"/>
              </a:rPr>
              <a:t>−35%</a:t>
            </a:r>
            <a:endParaRPr lang="en-US" sz="3800" dirty="0"/>
          </a:p>
        </p:txBody>
      </p:sp>
      <p:sp>
        <p:nvSpPr>
          <p:cNvPr id="10" name="Text 8"/>
          <p:cNvSpPr txBox="1"/>
          <p:nvPr/>
        </p:nvSpPr>
        <p:spPr>
          <a:xfrm>
            <a:off x="3447288" y="2103120"/>
            <a:ext cx="2240280" cy="292608"/>
          </a:xfrm>
          <a:prstGeom prst="rect">
            <a:avLst/>
          </a:prstGeom>
          <a:noFill/>
          <a:ln/>
        </p:spPr>
        <p:txBody>
          <a:bodyPr wrap="square" lIns="0" tIns="0" rIns="0" bIns="0" rtlCol="0" anchor="t"/>
          <a:lstStyle/>
          <a:p>
            <a:pPr indent="0" marL="0">
              <a:buNone/>
            </a:pPr>
            <a:r>
              <a:rPr lang="en-US" sz="1300" b="1" dirty="0">
                <a:solidFill>
                  <a:srgbClr val="0B3C49"/>
                </a:solidFill>
                <a:latin typeface="Calibri" pitchFamily="34" charset="0"/>
                <a:ea typeface="Calibri" pitchFamily="34" charset="-122"/>
                <a:cs typeface="Calibri" pitchFamily="34" charset="-120"/>
              </a:rPr>
              <a:t>Protection at maturity</a:t>
            </a:r>
            <a:endParaRPr lang="en-US" sz="1300" dirty="0"/>
          </a:p>
        </p:txBody>
      </p:sp>
      <p:sp>
        <p:nvSpPr>
          <p:cNvPr id="11" name="Text 9"/>
          <p:cNvSpPr txBox="1"/>
          <p:nvPr/>
        </p:nvSpPr>
        <p:spPr>
          <a:xfrm>
            <a:off x="3447288" y="2423160"/>
            <a:ext cx="2240280" cy="868680"/>
          </a:xfrm>
          <a:prstGeom prst="rect">
            <a:avLst/>
          </a:prstGeom>
          <a:noFill/>
          <a:ln/>
        </p:spPr>
        <p:txBody>
          <a:bodyPr wrap="square" lIns="0" tIns="0" rIns="0" bIns="0" rtlCol="0" anchor="t"/>
          <a:lstStyle/>
          <a:p>
            <a:pPr indent="0" marL="0">
              <a:buNone/>
            </a:pPr>
            <a:r>
              <a:rPr lang="en-US" sz="1050" dirty="0">
                <a:solidFill>
                  <a:srgbClr val="5F7176"/>
                </a:solidFill>
                <a:latin typeface="Calibri" pitchFamily="34" charset="0"/>
                <a:ea typeface="Calibri" pitchFamily="34" charset="-122"/>
                <a:cs typeface="Calibri" pitchFamily="34" charset="-120"/>
              </a:rPr>
              <a:t>European barrier: only the final level counts, so interim drawdowns cannot hurt the capital</a:t>
            </a:r>
            <a:endParaRPr lang="en-US" sz="1050" dirty="0"/>
          </a:p>
        </p:txBody>
      </p:sp>
      <p:sp>
        <p:nvSpPr>
          <p:cNvPr id="12" name="Shape 10"/>
          <p:cNvSpPr/>
          <p:nvPr/>
        </p:nvSpPr>
        <p:spPr>
          <a:xfrm>
            <a:off x="6035040" y="1234440"/>
            <a:ext cx="2606040" cy="2103120"/>
          </a:xfrm>
          <a:prstGeom prst="roundRect">
            <a:avLst>
              <a:gd name="adj" fmla="val 3043"/>
            </a:avLst>
          </a:prstGeom>
          <a:solidFill>
            <a:srgbClr val="E6F2F0"/>
          </a:solidFill>
          <a:ln w="12700">
            <a:solidFill>
              <a:srgbClr val="E6F2F0"/>
            </a:solidFill>
            <a:prstDash val="solid"/>
          </a:ln>
        </p:spPr>
      </p:sp>
      <p:sp>
        <p:nvSpPr>
          <p:cNvPr id="13" name="Text 11"/>
          <p:cNvSpPr txBox="1"/>
          <p:nvPr/>
        </p:nvSpPr>
        <p:spPr>
          <a:xfrm>
            <a:off x="6236208" y="1353312"/>
            <a:ext cx="2240280" cy="731520"/>
          </a:xfrm>
          <a:prstGeom prst="rect">
            <a:avLst/>
          </a:prstGeom>
          <a:noFill/>
          <a:ln/>
        </p:spPr>
        <p:txBody>
          <a:bodyPr wrap="square" lIns="0" tIns="0" rIns="0" bIns="0" rtlCol="0" anchor="ctr"/>
          <a:lstStyle/>
          <a:p>
            <a:pPr indent="0" marL="0">
              <a:buNone/>
            </a:pPr>
            <a:r>
              <a:rPr lang="en-US" sz="3800" b="1" dirty="0">
                <a:solidFill>
                  <a:srgbClr val="0F8B8D"/>
                </a:solidFill>
                <a:latin typeface="Cambria" pitchFamily="34" charset="0"/>
                <a:ea typeface="Cambria" pitchFamily="34" charset="-122"/>
                <a:cs typeface="Cambria" pitchFamily="34" charset="-120"/>
              </a:rPr>
              <a:t>51%</a:t>
            </a:r>
            <a:endParaRPr lang="en-US" sz="3800" dirty="0"/>
          </a:p>
        </p:txBody>
      </p:sp>
      <p:sp>
        <p:nvSpPr>
          <p:cNvPr id="14" name="Text 12"/>
          <p:cNvSpPr txBox="1"/>
          <p:nvPr/>
        </p:nvSpPr>
        <p:spPr>
          <a:xfrm>
            <a:off x="6236208" y="2103120"/>
            <a:ext cx="2240280" cy="292608"/>
          </a:xfrm>
          <a:prstGeom prst="rect">
            <a:avLst/>
          </a:prstGeom>
          <a:noFill/>
          <a:ln/>
        </p:spPr>
        <p:txBody>
          <a:bodyPr wrap="square" lIns="0" tIns="0" rIns="0" bIns="0" rtlCol="0" anchor="t"/>
          <a:lstStyle/>
          <a:p>
            <a:pPr indent="0" marL="0">
              <a:buNone/>
            </a:pPr>
            <a:r>
              <a:rPr lang="en-US" sz="1300" b="1" dirty="0">
                <a:solidFill>
                  <a:srgbClr val="0B3C49"/>
                </a:solidFill>
                <a:latin typeface="Calibri" pitchFamily="34" charset="0"/>
                <a:ea typeface="Calibri" pitchFamily="34" charset="-122"/>
                <a:cs typeface="Calibri" pitchFamily="34" charset="-120"/>
              </a:rPr>
              <a:t>Called at first review</a:t>
            </a:r>
            <a:endParaRPr lang="en-US" sz="1300" dirty="0"/>
          </a:p>
        </p:txBody>
      </p:sp>
      <p:sp>
        <p:nvSpPr>
          <p:cNvPr id="15" name="Text 13"/>
          <p:cNvSpPr txBox="1"/>
          <p:nvPr/>
        </p:nvSpPr>
        <p:spPr>
          <a:xfrm>
            <a:off x="6236208" y="2423160"/>
            <a:ext cx="2240280" cy="868680"/>
          </a:xfrm>
          <a:prstGeom prst="rect">
            <a:avLst/>
          </a:prstGeom>
          <a:noFill/>
          <a:ln/>
        </p:spPr>
        <p:txBody>
          <a:bodyPr wrap="square" lIns="0" tIns="0" rIns="0" bIns="0" rtlCol="0" anchor="t"/>
          <a:lstStyle/>
          <a:p>
            <a:pPr indent="0" marL="0">
              <a:buNone/>
            </a:pPr>
            <a:r>
              <a:rPr lang="en-US" sz="1050" dirty="0">
                <a:solidFill>
                  <a:srgbClr val="5F7176"/>
                </a:solidFill>
                <a:latin typeface="Calibri" pitchFamily="34" charset="0"/>
                <a:ea typeface="Calibri" pitchFamily="34" charset="-122"/>
                <a:cs typeface="Calibri" pitchFamily="34" charset="-120"/>
              </a:rPr>
              <a:t>Risk-neutral. 83% called within 5 years; expected life 2.08 years</a:t>
            </a:r>
            <a:endParaRPr lang="en-US" sz="1050" dirty="0"/>
          </a:p>
        </p:txBody>
      </p:sp>
      <p:sp>
        <p:nvSpPr>
          <p:cNvPr id="16" name="Text 14"/>
          <p:cNvSpPr txBox="1"/>
          <p:nvPr/>
        </p:nvSpPr>
        <p:spPr>
          <a:xfrm>
            <a:off x="457200" y="3520440"/>
            <a:ext cx="8229600" cy="1188720"/>
          </a:xfrm>
          <a:prstGeom prst="rect">
            <a:avLst/>
          </a:prstGeom>
          <a:noFill/>
          <a:ln/>
        </p:spPr>
        <p:txBody>
          <a:bodyPr wrap="square" lIns="0" tIns="0" rIns="0" bIns="0" rtlCol="0" anchor="t"/>
          <a:lstStyle/>
          <a:p>
            <a:pPr indent="0" marL="0">
              <a:buNone/>
            </a:pPr>
            <a:r>
              <a:rPr lang="en-US" sz="1150" dirty="0">
                <a:solidFill>
                  <a:srgbClr val="1D2B30"/>
                </a:solidFill>
                <a:latin typeface="Calibri" pitchFamily="34" charset="0"/>
                <a:ea typeface="Calibri" pitchFamily="34" charset="-122"/>
                <a:cs typeface="Calibri" pitchFamily="34" charset="-120"/>
              </a:rPr>
              <a:t>We recommend </a:t>
            </a:r>
            <a:pPr indent="0" marL="0">
              <a:buNone/>
            </a:pPr>
            <a:r>
              <a:rPr lang="en-US" sz="1150" b="1" dirty="0">
                <a:solidFill>
                  <a:srgbClr val="0F8B8D"/>
                </a:solidFill>
                <a:latin typeface="Calibri" pitchFamily="34" charset="0"/>
                <a:ea typeface="Calibri" pitchFamily="34" charset="-122"/>
                <a:cs typeface="Calibri" pitchFamily="34" charset="-120"/>
              </a:rPr>
              <a:t>a USD 100mn, 5-year Natixis snowball autocallable note</a:t>
            </a:r>
            <a:pPr indent="0" marL="0">
              <a:buNone/>
            </a:pPr>
            <a:r>
              <a:rPr lang="en-US" sz="1150" dirty="0">
                <a:solidFill>
                  <a:srgbClr val="1D2B30"/>
                </a:solidFill>
                <a:latin typeface="Calibri" pitchFamily="34" charset="0"/>
                <a:ea typeface="Calibri" pitchFamily="34" charset="-122"/>
                <a:cs typeface="Calibri" pitchFamily="34" charset="-120"/>
              </a:rPr>
              <a:t> on a basket of four real, Bloomberg-listed Asian indices (Hang Seng TECH 30%, Nikkei 225 30%, TAIEX 25%, MSCI AC Asia Pacific Utilities 15%). These mirror the family's businesses in Greater China real estate, Japan technology infrastructure and renewable power. </a:t>
            </a:r>
            <a:pPr indent="0" marL="0">
              <a:buNone/>
            </a:pPr>
            <a:r>
              <a:rPr lang="en-US" sz="1150" b="1" dirty="0">
                <a:solidFill>
                  <a:srgbClr val="1D2B30"/>
                </a:solidFill>
                <a:latin typeface="Calibri" pitchFamily="34" charset="0"/>
                <a:ea typeface="Calibri" pitchFamily="34" charset="-122"/>
                <a:cs typeface="Calibri" pitchFamily="34" charset="-120"/>
              </a:rPr>
              <a:t>The coupon compounds into capital rather than paying income, which matches a growth mandate. A diversified basket (not worst-of) and a maturity-only barrier make it suitable for generational wealth. Fair value is 97.3%, so issuing at par leaves Natixis 2.7% to cover hedging and margin.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The family wants growth for the next generation, not income</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Client diagnosis: third-generation dynasty, succession done, now allocating for legacy</a:t>
            </a:r>
            <a:endParaRPr lang="en-US" sz="1250" dirty="0"/>
          </a:p>
        </p:txBody>
      </p:sp>
      <p:sp>
        <p:nvSpPr>
          <p:cNvPr id="4" name="Shape 2"/>
          <p:cNvSpPr/>
          <p:nvPr/>
        </p:nvSpPr>
        <p:spPr>
          <a:xfrm>
            <a:off x="457200" y="1188720"/>
            <a:ext cx="2606040" cy="2057400"/>
          </a:xfrm>
          <a:prstGeom prst="roundRect">
            <a:avLst>
              <a:gd name="adj" fmla="val 3111"/>
            </a:avLst>
          </a:prstGeom>
          <a:solidFill>
            <a:srgbClr val="E6F2F0"/>
          </a:solidFill>
          <a:ln w="12700">
            <a:solidFill>
              <a:srgbClr val="E6F2F0"/>
            </a:solidFill>
            <a:prstDash val="solid"/>
          </a:ln>
        </p:spPr>
      </p:sp>
      <p:sp>
        <p:nvSpPr>
          <p:cNvPr id="5" name="Text 3"/>
          <p:cNvSpPr txBox="1"/>
          <p:nvPr/>
        </p:nvSpPr>
        <p:spPr>
          <a:xfrm>
            <a:off x="640080" y="1298448"/>
            <a:ext cx="2286000" cy="292608"/>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Who they are</a:t>
            </a:r>
            <a:endParaRPr lang="en-US" sz="1400" dirty="0"/>
          </a:p>
        </p:txBody>
      </p:sp>
      <p:sp>
        <p:nvSpPr>
          <p:cNvPr id="6" name="Text 4"/>
          <p:cNvSpPr txBox="1"/>
          <p:nvPr/>
        </p:nvSpPr>
        <p:spPr>
          <a:xfrm>
            <a:off x="640080" y="1645920"/>
            <a:ext cx="2286000" cy="15544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Single-family office: NKE Private Wealth</a:t>
            </a:r>
            <a:endParaRPr lang="en-US" sz="1050" dirty="0"/>
          </a:p>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Net worth &gt; USD 2bn; mandate USD 100mn (~5%)</a:t>
            </a:r>
            <a:endParaRPr lang="en-US" sz="1050" dirty="0"/>
          </a:p>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Businesses: tech infrastructure, renewable power plants, real estate in Japan and Greater China</a:t>
            </a:r>
            <a:endParaRPr lang="en-US" sz="1050" dirty="0"/>
          </a:p>
        </p:txBody>
      </p:sp>
      <p:sp>
        <p:nvSpPr>
          <p:cNvPr id="7" name="Shape 5"/>
          <p:cNvSpPr/>
          <p:nvPr/>
        </p:nvSpPr>
        <p:spPr>
          <a:xfrm>
            <a:off x="3246120" y="1188720"/>
            <a:ext cx="2606040" cy="2057400"/>
          </a:xfrm>
          <a:prstGeom prst="roundRect">
            <a:avLst>
              <a:gd name="adj" fmla="val 3111"/>
            </a:avLst>
          </a:prstGeom>
          <a:solidFill>
            <a:srgbClr val="E6F2F0"/>
          </a:solidFill>
          <a:ln w="12700">
            <a:solidFill>
              <a:srgbClr val="E6F2F0"/>
            </a:solidFill>
            <a:prstDash val="solid"/>
          </a:ln>
        </p:spPr>
      </p:sp>
      <p:sp>
        <p:nvSpPr>
          <p:cNvPr id="8" name="Text 6"/>
          <p:cNvSpPr txBox="1"/>
          <p:nvPr/>
        </p:nvSpPr>
        <p:spPr>
          <a:xfrm>
            <a:off x="3429000" y="1298448"/>
            <a:ext cx="2286000" cy="292608"/>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What they want</a:t>
            </a:r>
            <a:endParaRPr lang="en-US" sz="1400" dirty="0"/>
          </a:p>
        </p:txBody>
      </p:sp>
      <p:sp>
        <p:nvSpPr>
          <p:cNvPr id="9" name="Text 7"/>
          <p:cNvSpPr txBox="1"/>
          <p:nvPr/>
        </p:nvSpPr>
        <p:spPr>
          <a:xfrm>
            <a:off x="3429000" y="1645920"/>
            <a:ext cx="2286000" cy="15544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Capital appreciation for future generations</a:t>
            </a:r>
            <a:endParaRPr lang="en-US" sz="1050" dirty="0"/>
          </a:p>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Meaningful exposure to Asia's digital transformation</a:t>
            </a:r>
            <a:endParaRPr lang="en-US" sz="1050" dirty="0"/>
          </a:p>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To bridge traditional Asian sectors with emerging tech they know</a:t>
            </a:r>
            <a:endParaRPr lang="en-US" sz="1050" dirty="0"/>
          </a:p>
        </p:txBody>
      </p:sp>
      <p:sp>
        <p:nvSpPr>
          <p:cNvPr id="10" name="Shape 8"/>
          <p:cNvSpPr/>
          <p:nvPr/>
        </p:nvSpPr>
        <p:spPr>
          <a:xfrm>
            <a:off x="6035040" y="1188720"/>
            <a:ext cx="2606040" cy="2057400"/>
          </a:xfrm>
          <a:prstGeom prst="roundRect">
            <a:avLst>
              <a:gd name="adj" fmla="val 3111"/>
            </a:avLst>
          </a:prstGeom>
          <a:solidFill>
            <a:srgbClr val="0B3C49"/>
          </a:solidFill>
          <a:ln w="12700">
            <a:solidFill>
              <a:srgbClr val="0B3C49"/>
            </a:solidFill>
            <a:prstDash val="solid"/>
          </a:ln>
        </p:spPr>
      </p:sp>
      <p:sp>
        <p:nvSpPr>
          <p:cNvPr id="11" name="Text 9"/>
          <p:cNvSpPr txBox="1"/>
          <p:nvPr/>
        </p:nvSpPr>
        <p:spPr>
          <a:xfrm>
            <a:off x="6217920" y="1298448"/>
            <a:ext cx="2286000" cy="292608"/>
          </a:xfrm>
          <a:prstGeom prst="rect">
            <a:avLst/>
          </a:prstGeom>
          <a:noFill/>
          <a:ln/>
        </p:spPr>
        <p:txBody>
          <a:bodyPr wrap="square" lIns="0" tIns="0" rIns="0" bIns="0" rtlCol="0" anchor="t"/>
          <a:lstStyle/>
          <a:p>
            <a:pPr indent="0" marL="0">
              <a:buNone/>
            </a:pPr>
            <a:r>
              <a:rPr lang="en-US" sz="1400" b="1" dirty="0">
                <a:solidFill>
                  <a:srgbClr val="D9961A"/>
                </a:solidFill>
                <a:latin typeface="Calibri" pitchFamily="34" charset="0"/>
                <a:ea typeface="Calibri" pitchFamily="34" charset="-122"/>
                <a:cs typeface="Calibri" pitchFamily="34" charset="-120"/>
              </a:rPr>
              <a:t>What they can bear</a:t>
            </a:r>
            <a:endParaRPr lang="en-US" sz="1400" dirty="0"/>
          </a:p>
        </p:txBody>
      </p:sp>
      <p:sp>
        <p:nvSpPr>
          <p:cNvPr id="12" name="Text 10"/>
          <p:cNvSpPr txBox="1"/>
          <p:nvPr/>
        </p:nvSpPr>
        <p:spPr>
          <a:xfrm>
            <a:off x="6217920" y="1645920"/>
            <a:ext cx="2286000" cy="15544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Moderate risk: preserve the legacy first</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5-year horizon with no need for income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Accepts limited liquidity on 5% of wealth</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Volatile backdrop: needs a buffer</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3383280"/>
          <a:ext cx="8229600" cy="914400"/>
        </p:xfrm>
        <a:graphic>
          <a:graphicData uri="http://schemas.openxmlformats.org/drawingml/2006/table">
            <a:tbl>
              <a:tblPr/>
              <a:tblGrid>
                <a:gridCol w="2377440"/>
                <a:gridCol w="5852160"/>
              </a:tblGrid>
              <a:tr h="24688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Client need</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Design answer in our note</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246888">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Capital appreciation</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Snowball coupon: 9% p.a. accrues and is paid with principal, so value compounds instead of leaking out as income</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Exposure to Asian digital transformation</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Four real indices mapped to the family's own industries (slide 3)</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Generational preservation</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European 65% barrier, diversified basket (not worst-of), BPCE-backed issuer</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Volatile markets</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Autocall locks in gains at the first good review date; drawdowns before maturity do not count</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Why now: Asia builds the hardware of the AI economy</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Investment thesis: structural growth themes, with volatility rich enough to fund a high coupon</a:t>
            </a:r>
            <a:endParaRPr lang="en-US" sz="1250" dirty="0"/>
          </a:p>
        </p:txBody>
      </p:sp>
      <p:sp>
        <p:nvSpPr>
          <p:cNvPr id="4" name="Shape 2"/>
          <p:cNvSpPr/>
          <p:nvPr/>
        </p:nvSpPr>
        <p:spPr>
          <a:xfrm>
            <a:off x="457200" y="1188720"/>
            <a:ext cx="2377440" cy="1280160"/>
          </a:xfrm>
          <a:prstGeom prst="roundRect">
            <a:avLst>
              <a:gd name="adj" fmla="val 5000"/>
            </a:avLst>
          </a:prstGeom>
          <a:solidFill>
            <a:srgbClr val="E6F2F0"/>
          </a:solidFill>
          <a:ln w="12700">
            <a:solidFill>
              <a:srgbClr val="E6F2F0"/>
            </a:solidFill>
            <a:prstDash val="solid"/>
          </a:ln>
        </p:spPr>
      </p:sp>
      <p:sp>
        <p:nvSpPr>
          <p:cNvPr id="5" name="Shape 3"/>
          <p:cNvSpPr/>
          <p:nvPr/>
        </p:nvSpPr>
        <p:spPr>
          <a:xfrm>
            <a:off x="594360" y="1325880"/>
            <a:ext cx="347472" cy="347472"/>
          </a:xfrm>
          <a:prstGeom prst="ellipse">
            <a:avLst/>
          </a:prstGeom>
          <a:solidFill>
            <a:srgbClr val="0F8B8D"/>
          </a:solidFill>
          <a:ln/>
        </p:spPr>
      </p:sp>
      <p:sp>
        <p:nvSpPr>
          <p:cNvPr id="6" name="Text 4"/>
          <p:cNvSpPr txBox="1"/>
          <p:nvPr/>
        </p:nvSpPr>
        <p:spPr>
          <a:xfrm>
            <a:off x="594360" y="13258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024128" y="1325880"/>
            <a:ext cx="1737360" cy="384048"/>
          </a:xfrm>
          <a:prstGeom prst="rect">
            <a:avLst/>
          </a:prstGeom>
          <a:noFill/>
          <a:ln/>
        </p:spPr>
        <p:txBody>
          <a:bodyPr wrap="square" lIns="0" tIns="0" rIns="0" bIns="0" rtlCol="0" anchor="ctr"/>
          <a:lstStyle/>
          <a:p>
            <a:pPr indent="0" marL="0">
              <a:buNone/>
            </a:pPr>
            <a:r>
              <a:rPr lang="en-US" sz="1150" b="1" dirty="0">
                <a:solidFill>
                  <a:srgbClr val="0B3C49"/>
                </a:solidFill>
                <a:latin typeface="Calibri" pitchFamily="34" charset="0"/>
                <a:ea typeface="Calibri" pitchFamily="34" charset="-122"/>
                <a:cs typeface="Calibri" pitchFamily="34" charset="-120"/>
              </a:rPr>
              <a:t>AI hardware supply chain</a:t>
            </a:r>
            <a:endParaRPr lang="en-US" sz="1150" dirty="0"/>
          </a:p>
        </p:txBody>
      </p:sp>
      <p:sp>
        <p:nvSpPr>
          <p:cNvPr id="8" name="Text 6"/>
          <p:cNvSpPr txBox="1"/>
          <p:nvPr/>
        </p:nvSpPr>
        <p:spPr>
          <a:xfrm>
            <a:off x="594360" y="1755648"/>
            <a:ext cx="2148840" cy="685800"/>
          </a:xfrm>
          <a:prstGeom prst="rect">
            <a:avLst/>
          </a:prstGeom>
          <a:noFill/>
          <a:ln/>
        </p:spPr>
        <p:txBody>
          <a:bodyPr wrap="square" lIns="0" tIns="0" rIns="0" bIns="0" rtlCol="0" anchor="t"/>
          <a:lstStyle/>
          <a:p>
            <a:pPr indent="0" marL="0">
              <a:buNone/>
            </a:pPr>
            <a:r>
              <a:rPr lang="en-US" sz="950" dirty="0">
                <a:solidFill>
                  <a:srgbClr val="1D2B30"/>
                </a:solidFill>
                <a:latin typeface="Calibri" pitchFamily="34" charset="0"/>
                <a:ea typeface="Calibri" pitchFamily="34" charset="-122"/>
                <a:cs typeface="Calibri" pitchFamily="34" charset="-120"/>
              </a:rPr>
              <a:t>Taiwan and Japan make the chips, equipment and servers behind global AI capex (TSMC, Tokyo Electron, Advantest).</a:t>
            </a:r>
            <a:endParaRPr lang="en-US" sz="950" dirty="0"/>
          </a:p>
        </p:txBody>
      </p:sp>
      <p:sp>
        <p:nvSpPr>
          <p:cNvPr id="9" name="Shape 7"/>
          <p:cNvSpPr/>
          <p:nvPr/>
        </p:nvSpPr>
        <p:spPr>
          <a:xfrm>
            <a:off x="2971800" y="1188720"/>
            <a:ext cx="2377440" cy="1280160"/>
          </a:xfrm>
          <a:prstGeom prst="roundRect">
            <a:avLst>
              <a:gd name="adj" fmla="val 5000"/>
            </a:avLst>
          </a:prstGeom>
          <a:solidFill>
            <a:srgbClr val="E6F2F0"/>
          </a:solidFill>
          <a:ln w="12700">
            <a:solidFill>
              <a:srgbClr val="E6F2F0"/>
            </a:solidFill>
            <a:prstDash val="solid"/>
          </a:ln>
        </p:spPr>
      </p:sp>
      <p:sp>
        <p:nvSpPr>
          <p:cNvPr id="10" name="Shape 8"/>
          <p:cNvSpPr/>
          <p:nvPr/>
        </p:nvSpPr>
        <p:spPr>
          <a:xfrm>
            <a:off x="3108960" y="1325880"/>
            <a:ext cx="347472" cy="347472"/>
          </a:xfrm>
          <a:prstGeom prst="ellipse">
            <a:avLst/>
          </a:prstGeom>
          <a:solidFill>
            <a:srgbClr val="0F8B8D"/>
          </a:solidFill>
          <a:ln/>
        </p:spPr>
      </p:sp>
      <p:sp>
        <p:nvSpPr>
          <p:cNvPr id="11" name="Text 9"/>
          <p:cNvSpPr txBox="1"/>
          <p:nvPr/>
        </p:nvSpPr>
        <p:spPr>
          <a:xfrm>
            <a:off x="3108960" y="13258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3538728" y="1325880"/>
            <a:ext cx="1737360" cy="384048"/>
          </a:xfrm>
          <a:prstGeom prst="rect">
            <a:avLst/>
          </a:prstGeom>
          <a:noFill/>
          <a:ln/>
        </p:spPr>
        <p:txBody>
          <a:bodyPr wrap="square" lIns="0" tIns="0" rIns="0" bIns="0" rtlCol="0" anchor="ctr"/>
          <a:lstStyle/>
          <a:p>
            <a:pPr indent="0" marL="0">
              <a:buNone/>
            </a:pPr>
            <a:r>
              <a:rPr lang="en-US" sz="1150" b="1" dirty="0">
                <a:solidFill>
                  <a:srgbClr val="0B3C49"/>
                </a:solidFill>
                <a:latin typeface="Calibri" pitchFamily="34" charset="0"/>
                <a:ea typeface="Calibri" pitchFamily="34" charset="-122"/>
                <a:cs typeface="Calibri" pitchFamily="34" charset="-120"/>
              </a:rPr>
              <a:t>Japan corporate reform</a:t>
            </a:r>
            <a:endParaRPr lang="en-US" sz="1150" dirty="0"/>
          </a:p>
        </p:txBody>
      </p:sp>
      <p:sp>
        <p:nvSpPr>
          <p:cNvPr id="13" name="Text 11"/>
          <p:cNvSpPr txBox="1"/>
          <p:nvPr/>
        </p:nvSpPr>
        <p:spPr>
          <a:xfrm>
            <a:off x="3108960" y="1755648"/>
            <a:ext cx="2148840" cy="685800"/>
          </a:xfrm>
          <a:prstGeom prst="rect">
            <a:avLst/>
          </a:prstGeom>
          <a:noFill/>
          <a:ln/>
        </p:spPr>
        <p:txBody>
          <a:bodyPr wrap="square" lIns="0" tIns="0" rIns="0" bIns="0" rtlCol="0" anchor="t"/>
          <a:lstStyle/>
          <a:p>
            <a:pPr indent="0" marL="0">
              <a:buNone/>
            </a:pPr>
            <a:r>
              <a:rPr lang="en-US" sz="950" dirty="0">
                <a:solidFill>
                  <a:srgbClr val="1D2B30"/>
                </a:solidFill>
                <a:latin typeface="Calibri" pitchFamily="34" charset="0"/>
                <a:ea typeface="Calibri" pitchFamily="34" charset="-122"/>
                <a:cs typeface="Calibri" pitchFamily="34" charset="-120"/>
              </a:rPr>
              <a:t>TSE pressure on capital efficiency and shareholder returns supports a re-rating of Japanese tech and industrials.</a:t>
            </a:r>
            <a:endParaRPr lang="en-US" sz="950" dirty="0"/>
          </a:p>
        </p:txBody>
      </p:sp>
      <p:sp>
        <p:nvSpPr>
          <p:cNvPr id="14" name="Shape 12"/>
          <p:cNvSpPr/>
          <p:nvPr/>
        </p:nvSpPr>
        <p:spPr>
          <a:xfrm>
            <a:off x="457200" y="2606040"/>
            <a:ext cx="2377440" cy="1280160"/>
          </a:xfrm>
          <a:prstGeom prst="roundRect">
            <a:avLst>
              <a:gd name="adj" fmla="val 5000"/>
            </a:avLst>
          </a:prstGeom>
          <a:solidFill>
            <a:srgbClr val="E6F2F0"/>
          </a:solidFill>
          <a:ln w="12700">
            <a:solidFill>
              <a:srgbClr val="E6F2F0"/>
            </a:solidFill>
            <a:prstDash val="solid"/>
          </a:ln>
        </p:spPr>
      </p:sp>
      <p:sp>
        <p:nvSpPr>
          <p:cNvPr id="15" name="Shape 13"/>
          <p:cNvSpPr/>
          <p:nvPr/>
        </p:nvSpPr>
        <p:spPr>
          <a:xfrm>
            <a:off x="594360" y="2743200"/>
            <a:ext cx="347472" cy="347472"/>
          </a:xfrm>
          <a:prstGeom prst="ellipse">
            <a:avLst/>
          </a:prstGeom>
          <a:solidFill>
            <a:srgbClr val="0F8B8D"/>
          </a:solidFill>
          <a:ln/>
        </p:spPr>
      </p:sp>
      <p:sp>
        <p:nvSpPr>
          <p:cNvPr id="16" name="Text 14"/>
          <p:cNvSpPr txBox="1"/>
          <p:nvPr/>
        </p:nvSpPr>
        <p:spPr>
          <a:xfrm>
            <a:off x="594360" y="27432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1024128" y="2743200"/>
            <a:ext cx="1737360" cy="384048"/>
          </a:xfrm>
          <a:prstGeom prst="rect">
            <a:avLst/>
          </a:prstGeom>
          <a:noFill/>
          <a:ln/>
        </p:spPr>
        <p:txBody>
          <a:bodyPr wrap="square" lIns="0" tIns="0" rIns="0" bIns="0" rtlCol="0" anchor="ctr"/>
          <a:lstStyle/>
          <a:p>
            <a:pPr indent="0" marL="0">
              <a:buNone/>
            </a:pPr>
            <a:r>
              <a:rPr lang="en-US" sz="1150" b="1" dirty="0">
                <a:solidFill>
                  <a:srgbClr val="0B3C49"/>
                </a:solidFill>
                <a:latin typeface="Calibri" pitchFamily="34" charset="0"/>
                <a:ea typeface="Calibri" pitchFamily="34" charset="-122"/>
                <a:cs typeface="Calibri" pitchFamily="34" charset="-120"/>
              </a:rPr>
              <a:t>China platform tech reset</a:t>
            </a:r>
            <a:endParaRPr lang="en-US" sz="1150" dirty="0"/>
          </a:p>
        </p:txBody>
      </p:sp>
      <p:sp>
        <p:nvSpPr>
          <p:cNvPr id="18" name="Text 16"/>
          <p:cNvSpPr txBox="1"/>
          <p:nvPr/>
        </p:nvSpPr>
        <p:spPr>
          <a:xfrm>
            <a:off x="594360" y="3172968"/>
            <a:ext cx="2148840" cy="685800"/>
          </a:xfrm>
          <a:prstGeom prst="rect">
            <a:avLst/>
          </a:prstGeom>
          <a:noFill/>
          <a:ln/>
        </p:spPr>
        <p:txBody>
          <a:bodyPr wrap="square" lIns="0" tIns="0" rIns="0" bIns="0" rtlCol="0" anchor="t"/>
          <a:lstStyle/>
          <a:p>
            <a:pPr indent="0" marL="0">
              <a:buNone/>
            </a:pPr>
            <a:r>
              <a:rPr lang="en-US" sz="950" dirty="0">
                <a:solidFill>
                  <a:srgbClr val="1D2B30"/>
                </a:solidFill>
                <a:latin typeface="Calibri" pitchFamily="34" charset="0"/>
                <a:ea typeface="Calibri" pitchFamily="34" charset="-122"/>
                <a:cs typeface="Calibri" pitchFamily="34" charset="-120"/>
              </a:rPr>
              <a:t>After the 2021–22 regulatory drawdown, Greater China internet and EV leaders trade at a discount to global peers.</a:t>
            </a:r>
            <a:endParaRPr lang="en-US" sz="950" dirty="0"/>
          </a:p>
        </p:txBody>
      </p:sp>
      <p:sp>
        <p:nvSpPr>
          <p:cNvPr id="19" name="Shape 17"/>
          <p:cNvSpPr/>
          <p:nvPr/>
        </p:nvSpPr>
        <p:spPr>
          <a:xfrm>
            <a:off x="2971800" y="2606040"/>
            <a:ext cx="2377440" cy="1280160"/>
          </a:xfrm>
          <a:prstGeom prst="roundRect">
            <a:avLst>
              <a:gd name="adj" fmla="val 5000"/>
            </a:avLst>
          </a:prstGeom>
          <a:solidFill>
            <a:srgbClr val="E6F2F0"/>
          </a:solidFill>
          <a:ln w="12700">
            <a:solidFill>
              <a:srgbClr val="E6F2F0"/>
            </a:solidFill>
            <a:prstDash val="solid"/>
          </a:ln>
        </p:spPr>
      </p:sp>
      <p:sp>
        <p:nvSpPr>
          <p:cNvPr id="20" name="Shape 18"/>
          <p:cNvSpPr/>
          <p:nvPr/>
        </p:nvSpPr>
        <p:spPr>
          <a:xfrm>
            <a:off x="3108960" y="2743200"/>
            <a:ext cx="347472" cy="347472"/>
          </a:xfrm>
          <a:prstGeom prst="ellipse">
            <a:avLst/>
          </a:prstGeom>
          <a:solidFill>
            <a:srgbClr val="D9961A"/>
          </a:solidFill>
          <a:ln/>
        </p:spPr>
      </p:sp>
      <p:sp>
        <p:nvSpPr>
          <p:cNvPr id="21" name="Text 19"/>
          <p:cNvSpPr txBox="1"/>
          <p:nvPr/>
        </p:nvSpPr>
        <p:spPr>
          <a:xfrm>
            <a:off x="3108960" y="27432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2" name="Text 20"/>
          <p:cNvSpPr txBox="1"/>
          <p:nvPr/>
        </p:nvSpPr>
        <p:spPr>
          <a:xfrm>
            <a:off x="3538728" y="2743200"/>
            <a:ext cx="1737360" cy="384048"/>
          </a:xfrm>
          <a:prstGeom prst="rect">
            <a:avLst/>
          </a:prstGeom>
          <a:noFill/>
          <a:ln/>
        </p:spPr>
        <p:txBody>
          <a:bodyPr wrap="square" lIns="0" tIns="0" rIns="0" bIns="0" rtlCol="0" anchor="ctr"/>
          <a:lstStyle/>
          <a:p>
            <a:pPr indent="0" marL="0">
              <a:buNone/>
            </a:pPr>
            <a:r>
              <a:rPr lang="en-US" sz="1150" b="1" dirty="0">
                <a:solidFill>
                  <a:srgbClr val="0B3C49"/>
                </a:solidFill>
                <a:latin typeface="Calibri" pitchFamily="34" charset="0"/>
                <a:ea typeface="Calibri" pitchFamily="34" charset="-122"/>
                <a:cs typeface="Calibri" pitchFamily="34" charset="-120"/>
              </a:rPr>
              <a:t>Power for data centres</a:t>
            </a:r>
            <a:endParaRPr lang="en-US" sz="1150" dirty="0"/>
          </a:p>
        </p:txBody>
      </p:sp>
      <p:sp>
        <p:nvSpPr>
          <p:cNvPr id="23" name="Text 21"/>
          <p:cNvSpPr txBox="1"/>
          <p:nvPr/>
        </p:nvSpPr>
        <p:spPr>
          <a:xfrm>
            <a:off x="3108960" y="3172968"/>
            <a:ext cx="2148840" cy="685800"/>
          </a:xfrm>
          <a:prstGeom prst="rect">
            <a:avLst/>
          </a:prstGeom>
          <a:noFill/>
          <a:ln/>
        </p:spPr>
        <p:txBody>
          <a:bodyPr wrap="square" lIns="0" tIns="0" rIns="0" bIns="0" rtlCol="0" anchor="t"/>
          <a:lstStyle/>
          <a:p>
            <a:pPr indent="0" marL="0">
              <a:buNone/>
            </a:pPr>
            <a:r>
              <a:rPr lang="en-US" sz="950" dirty="0">
                <a:solidFill>
                  <a:srgbClr val="1D2B30"/>
                </a:solidFill>
                <a:latin typeface="Calibri" pitchFamily="34" charset="0"/>
                <a:ea typeface="Calibri" pitchFamily="34" charset="-122"/>
                <a:cs typeface="Calibri" pitchFamily="34" charset="-120"/>
              </a:rPr>
              <a:t>AI data centres drive grid and utility investment: steady, lower-volatility exposure that anchors the basket.</a:t>
            </a:r>
            <a:endParaRPr lang="en-US" sz="950" dirty="0"/>
          </a:p>
        </p:txBody>
      </p:sp>
      <p:graphicFrame>
        <p:nvGraphicFramePr>
          <p:cNvPr id="24" name="Chart 0" descr=""/>
          <p:cNvGraphicFramePr/>
          <p:nvPr/>
        </p:nvGraphicFramePr>
        <p:xfrm>
          <a:off x="5623560" y="1143000"/>
          <a:ext cx="3063240" cy="2011680"/>
        </p:xfrm>
        <a:graphic xmlns:a="http://schemas.openxmlformats.org/drawingml/2006/main">
          <a:graphicData uri="http://schemas.openxmlformats.org/drawingml/2006/chart">
            <c:chart xmlns:c="http://schemas.openxmlformats.org/drawingml/2006/chart" r:id="rId1"/>
          </a:graphicData>
        </a:graphic>
      </p:graphicFrame>
      <p:sp>
        <p:nvSpPr>
          <p:cNvPr id="25" name="Shape 22"/>
          <p:cNvSpPr/>
          <p:nvPr/>
        </p:nvSpPr>
        <p:spPr>
          <a:xfrm>
            <a:off x="5623560" y="3246120"/>
            <a:ext cx="3063240" cy="1417320"/>
          </a:xfrm>
          <a:prstGeom prst="roundRect">
            <a:avLst>
              <a:gd name="adj" fmla="val 4516"/>
            </a:avLst>
          </a:prstGeom>
          <a:solidFill>
            <a:srgbClr val="0B3C49"/>
          </a:solidFill>
          <a:ln w="12700">
            <a:solidFill>
              <a:srgbClr val="0B3C49"/>
            </a:solidFill>
            <a:prstDash val="solid"/>
          </a:ln>
        </p:spPr>
      </p:sp>
      <p:sp>
        <p:nvSpPr>
          <p:cNvPr id="26" name="Text 23"/>
          <p:cNvSpPr txBox="1"/>
          <p:nvPr/>
        </p:nvSpPr>
        <p:spPr>
          <a:xfrm>
            <a:off x="5760720" y="3337560"/>
            <a:ext cx="2788920" cy="1280160"/>
          </a:xfrm>
          <a:prstGeom prst="rect">
            <a:avLst/>
          </a:prstGeom>
          <a:noFill/>
          <a:ln/>
        </p:spPr>
        <p:txBody>
          <a:bodyPr wrap="square" lIns="0" tIns="0" rIns="0" bIns="0" rtlCol="0" anchor="t"/>
          <a:lstStyle/>
          <a:p>
            <a:pPr indent="0" marL="0">
              <a:buNone/>
            </a:pPr>
            <a:r>
              <a:rPr lang="en-US" sz="1000" b="1" dirty="0">
                <a:solidFill>
                  <a:srgbClr val="D9961A"/>
                </a:solidFill>
                <a:latin typeface="Calibri" pitchFamily="34" charset="0"/>
                <a:ea typeface="Calibri" pitchFamily="34" charset="-122"/>
                <a:cs typeface="Calibri" pitchFamily="34" charset="-120"/>
              </a:rPr>
              <a:t>What the curve means for structuring</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High USD rates make the 5Y zero-coupon bond cheap (75.8%). Combined with Asian equity volatility (basket ~19%), this funds a 9% p.a. growth coupon without a worst-of structure.</a:t>
            </a:r>
            <a:endParaRPr lang="en-US" sz="1000" dirty="0"/>
          </a:p>
        </p:txBody>
      </p:sp>
      <p:sp>
        <p:nvSpPr>
          <p:cNvPr id="27" name="Text 24"/>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Thesis is qualitative; index-level data to be refreshed on Bloomberg. Funding grid: Investment Strategy Challenge 2026 rules.</a:t>
            </a:r>
            <a:endParaRPr lang="en-US" sz="800" dirty="0"/>
          </a:p>
        </p:txBody>
      </p:sp>
      <p:sp>
        <p:nvSpPr>
          <p:cNvPr id="28" name="Text 25"/>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Underlying: four indices that mirror the family's businesses</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Bespoke weighted basket, USD quanto (FX risk sits with Natixis); all constituents searchable on Bloomberg</a:t>
            </a:r>
            <a:endParaRPr lang="en-US" sz="1250" dirty="0"/>
          </a:p>
        </p:txBody>
      </p:sp>
      <p:graphicFrame>
        <p:nvGraphicFramePr>
          <p:cNvPr id="4" name="Chart 0" descr=""/>
          <p:cNvGraphicFramePr/>
          <p:nvPr/>
        </p:nvGraphicFramePr>
        <p:xfrm>
          <a:off x="320040" y="1143000"/>
          <a:ext cx="2743200" cy="27432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234440" y="2286000"/>
            <a:ext cx="914400" cy="457200"/>
          </a:xfrm>
          <a:prstGeom prst="rect">
            <a:avLst/>
          </a:prstGeom>
          <a:noFill/>
          <a:ln/>
        </p:spPr>
        <p:txBody>
          <a:bodyPr wrap="square" lIns="0" tIns="0" rIns="0" bIns="0" rtlCol="0" anchor="ctr"/>
          <a:lstStyle/>
          <a:p>
            <a:pPr algn="ctr" indent="0" marL="0">
              <a:buNone/>
            </a:pPr>
            <a:r>
              <a:rPr lang="en-US" sz="1400" b="1" dirty="0">
                <a:solidFill>
                  <a:srgbClr val="0B3C49"/>
                </a:solidFill>
                <a:latin typeface="Cambria" pitchFamily="34" charset="0"/>
                <a:ea typeface="Cambria" pitchFamily="34" charset="-122"/>
                <a:cs typeface="Cambria" pitchFamily="34" charset="-120"/>
              </a:rPr>
              <a:t>Basket</a:t>
            </a:r>
            <a:endParaRPr lang="en-US" sz="1400" dirty="0"/>
          </a:p>
        </p:txBody>
      </p:sp>
      <p:sp>
        <p:nvSpPr>
          <p:cNvPr id="6" name="Shape 3"/>
          <p:cNvSpPr/>
          <p:nvPr/>
        </p:nvSpPr>
        <p:spPr>
          <a:xfrm>
            <a:off x="548640" y="3977640"/>
            <a:ext cx="118872" cy="118872"/>
          </a:xfrm>
          <a:prstGeom prst="rect">
            <a:avLst/>
          </a:prstGeom>
          <a:solidFill>
            <a:srgbClr val="0B3C49"/>
          </a:solidFill>
          <a:ln w="12700">
            <a:solidFill>
              <a:srgbClr val="0B3C49"/>
            </a:solidFill>
            <a:prstDash val="solid"/>
          </a:ln>
        </p:spPr>
      </p:sp>
      <p:sp>
        <p:nvSpPr>
          <p:cNvPr id="7" name="Text 4"/>
          <p:cNvSpPr txBox="1"/>
          <p:nvPr/>
        </p:nvSpPr>
        <p:spPr>
          <a:xfrm>
            <a:off x="731520" y="3941064"/>
            <a:ext cx="2377440" cy="182880"/>
          </a:xfrm>
          <a:prstGeom prst="rect">
            <a:avLst/>
          </a:prstGeom>
          <a:noFill/>
          <a:ln/>
        </p:spPr>
        <p:txBody>
          <a:bodyPr wrap="square" lIns="0" tIns="0" rIns="0" bIns="0" rtlCol="0" anchor="t"/>
          <a:lstStyle/>
          <a:p>
            <a:pPr indent="0" marL="0">
              <a:buNone/>
            </a:pPr>
            <a:r>
              <a:rPr lang="en-US" sz="900" dirty="0">
                <a:solidFill>
                  <a:srgbClr val="1D2B30"/>
                </a:solidFill>
                <a:latin typeface="Calibri" pitchFamily="34" charset="0"/>
                <a:ea typeface="Calibri" pitchFamily="34" charset="-122"/>
                <a:cs typeface="Calibri" pitchFamily="34" charset="-120"/>
              </a:rPr>
              <a:t>Hang Seng TECH</a:t>
            </a:r>
            <a:endParaRPr lang="en-US" sz="900" dirty="0"/>
          </a:p>
        </p:txBody>
      </p:sp>
      <p:sp>
        <p:nvSpPr>
          <p:cNvPr id="8" name="Shape 5"/>
          <p:cNvSpPr/>
          <p:nvPr/>
        </p:nvSpPr>
        <p:spPr>
          <a:xfrm>
            <a:off x="548640" y="4160520"/>
            <a:ext cx="118872" cy="118872"/>
          </a:xfrm>
          <a:prstGeom prst="rect">
            <a:avLst/>
          </a:prstGeom>
          <a:solidFill>
            <a:srgbClr val="0F8B8D"/>
          </a:solidFill>
          <a:ln w="12700">
            <a:solidFill>
              <a:srgbClr val="0F8B8D"/>
            </a:solidFill>
            <a:prstDash val="solid"/>
          </a:ln>
        </p:spPr>
      </p:sp>
      <p:sp>
        <p:nvSpPr>
          <p:cNvPr id="9" name="Text 6"/>
          <p:cNvSpPr txBox="1"/>
          <p:nvPr/>
        </p:nvSpPr>
        <p:spPr>
          <a:xfrm>
            <a:off x="731520" y="4123944"/>
            <a:ext cx="2377440" cy="182880"/>
          </a:xfrm>
          <a:prstGeom prst="rect">
            <a:avLst/>
          </a:prstGeom>
          <a:noFill/>
          <a:ln/>
        </p:spPr>
        <p:txBody>
          <a:bodyPr wrap="square" lIns="0" tIns="0" rIns="0" bIns="0" rtlCol="0" anchor="t"/>
          <a:lstStyle/>
          <a:p>
            <a:pPr indent="0" marL="0">
              <a:buNone/>
            </a:pPr>
            <a:r>
              <a:rPr lang="en-US" sz="900" dirty="0">
                <a:solidFill>
                  <a:srgbClr val="1D2B30"/>
                </a:solidFill>
                <a:latin typeface="Calibri" pitchFamily="34" charset="0"/>
                <a:ea typeface="Calibri" pitchFamily="34" charset="-122"/>
                <a:cs typeface="Calibri" pitchFamily="34" charset="-120"/>
              </a:rPr>
              <a:t>Nikkei 225</a:t>
            </a:r>
            <a:endParaRPr lang="en-US" sz="900" dirty="0"/>
          </a:p>
        </p:txBody>
      </p:sp>
      <p:sp>
        <p:nvSpPr>
          <p:cNvPr id="10" name="Shape 7"/>
          <p:cNvSpPr/>
          <p:nvPr/>
        </p:nvSpPr>
        <p:spPr>
          <a:xfrm>
            <a:off x="548640" y="4343400"/>
            <a:ext cx="118872" cy="118872"/>
          </a:xfrm>
          <a:prstGeom prst="rect">
            <a:avLst/>
          </a:prstGeom>
          <a:solidFill>
            <a:srgbClr val="D9961A"/>
          </a:solidFill>
          <a:ln w="12700">
            <a:solidFill>
              <a:srgbClr val="D9961A"/>
            </a:solidFill>
            <a:prstDash val="solid"/>
          </a:ln>
        </p:spPr>
      </p:sp>
      <p:sp>
        <p:nvSpPr>
          <p:cNvPr id="11" name="Text 8"/>
          <p:cNvSpPr txBox="1"/>
          <p:nvPr/>
        </p:nvSpPr>
        <p:spPr>
          <a:xfrm>
            <a:off x="731520" y="4306824"/>
            <a:ext cx="2377440" cy="182880"/>
          </a:xfrm>
          <a:prstGeom prst="rect">
            <a:avLst/>
          </a:prstGeom>
          <a:noFill/>
          <a:ln/>
        </p:spPr>
        <p:txBody>
          <a:bodyPr wrap="square" lIns="0" tIns="0" rIns="0" bIns="0" rtlCol="0" anchor="t"/>
          <a:lstStyle/>
          <a:p>
            <a:pPr indent="0" marL="0">
              <a:buNone/>
            </a:pPr>
            <a:r>
              <a:rPr lang="en-US" sz="900" dirty="0">
                <a:solidFill>
                  <a:srgbClr val="1D2B30"/>
                </a:solidFill>
                <a:latin typeface="Calibri" pitchFamily="34" charset="0"/>
                <a:ea typeface="Calibri" pitchFamily="34" charset="-122"/>
                <a:cs typeface="Calibri" pitchFamily="34" charset="-120"/>
              </a:rPr>
              <a:t>Taiwan TAIEX</a:t>
            </a:r>
            <a:endParaRPr lang="en-US" sz="900" dirty="0"/>
          </a:p>
        </p:txBody>
      </p:sp>
      <p:sp>
        <p:nvSpPr>
          <p:cNvPr id="12" name="Shape 9"/>
          <p:cNvSpPr/>
          <p:nvPr/>
        </p:nvSpPr>
        <p:spPr>
          <a:xfrm>
            <a:off x="548640" y="4526280"/>
            <a:ext cx="118872" cy="118872"/>
          </a:xfrm>
          <a:prstGeom prst="rect">
            <a:avLst/>
          </a:prstGeom>
          <a:solidFill>
            <a:srgbClr val="8FA6AA"/>
          </a:solidFill>
          <a:ln w="12700">
            <a:solidFill>
              <a:srgbClr val="8FA6AA"/>
            </a:solidFill>
            <a:prstDash val="solid"/>
          </a:ln>
        </p:spPr>
      </p:sp>
      <p:sp>
        <p:nvSpPr>
          <p:cNvPr id="13" name="Text 10"/>
          <p:cNvSpPr txBox="1"/>
          <p:nvPr/>
        </p:nvSpPr>
        <p:spPr>
          <a:xfrm>
            <a:off x="731520" y="4489704"/>
            <a:ext cx="2377440" cy="182880"/>
          </a:xfrm>
          <a:prstGeom prst="rect">
            <a:avLst/>
          </a:prstGeom>
          <a:noFill/>
          <a:ln/>
        </p:spPr>
        <p:txBody>
          <a:bodyPr wrap="square" lIns="0" tIns="0" rIns="0" bIns="0" rtlCol="0" anchor="t"/>
          <a:lstStyle/>
          <a:p>
            <a:pPr indent="0" marL="0">
              <a:buNone/>
            </a:pPr>
            <a:r>
              <a:rPr lang="en-US" sz="900" dirty="0">
                <a:solidFill>
                  <a:srgbClr val="1D2B30"/>
                </a:solidFill>
                <a:latin typeface="Calibri" pitchFamily="34" charset="0"/>
                <a:ea typeface="Calibri" pitchFamily="34" charset="-122"/>
                <a:cs typeface="Calibri" pitchFamily="34" charset="-120"/>
              </a:rPr>
              <a:t>MSCI AC Asia Pacific Utilities</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46120" y="1188720"/>
          <a:ext cx="5440680" cy="914400"/>
        </p:xfrm>
        <a:graphic>
          <a:graphicData uri="http://schemas.openxmlformats.org/drawingml/2006/table">
            <a:tbl>
              <a:tblPr/>
              <a:tblGrid>
                <a:gridCol w="1417320"/>
                <a:gridCol w="411480"/>
                <a:gridCol w="3108960"/>
                <a:gridCol w="50292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Index (Bloomberg)</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Wt</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Why it belongs (link to family)</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Vol*</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603504">
                <a:tc>
                  <a:txBody>
                    <a:bodyPr/>
                    <a:lstStyle/>
                    <a:p>
                      <a:pPr indent="0" marL="0">
                        <a:buNone/>
                      </a:pPr>
                      <a:r>
                        <a:rPr lang="en-US" sz="900" b="1" dirty="0">
                          <a:solidFill>
                            <a:srgbClr val="1D2B30"/>
                          </a:solidFill>
                          <a:latin typeface="Calibri" pitchFamily="34" charset="0"/>
                          <a:ea typeface="Calibri" pitchFamily="34" charset="-122"/>
                          <a:cs typeface="Calibri" pitchFamily="34" charset="-120"/>
                        </a:rPr>
                        <a:t>Hang Seng TECH</a:t>
                      </a:r>
                      <a:endParaRPr lang="en-US" sz="900" dirty="0">
                        <a:latin typeface="Calibri" charset="0"/>
                        <a:ea typeface="Calibri" charset="0"/>
                        <a:cs typeface="Calibri" charset="0"/>
                      </a:endParaRPr>
                    </a:p>
                    <a:p>
                      <a:pPr indent="0" marL="0">
                        <a:buNone/>
                      </a:pPr>
                      <a:r>
                        <a:rPr lang="en-US" sz="900" b="1" dirty="0">
                          <a:solidFill>
                            <a:srgbClr val="1D2B30"/>
                          </a:solidFill>
                          <a:latin typeface="Calibri" pitchFamily="34" charset="0"/>
                          <a:ea typeface="Calibri" pitchFamily="34" charset="-122"/>
                          <a:cs typeface="Calibri" pitchFamily="34" charset="-120"/>
                        </a:rPr>
                        <a:t>HSTECH Index</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Greater China platform, PropTech and EV leaders: digitising the real-estate and consumer economy the family operates in</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603504">
                <a:tc>
                  <a:txBody>
                    <a:bodyPr/>
                    <a:lstStyle/>
                    <a:p>
                      <a:pPr indent="0" marL="0">
                        <a:buNone/>
                      </a:pPr>
                      <a:r>
                        <a:rPr lang="en-US" sz="900" b="1" dirty="0">
                          <a:solidFill>
                            <a:srgbClr val="1D2B30"/>
                          </a:solidFill>
                          <a:latin typeface="Calibri" pitchFamily="34" charset="0"/>
                          <a:ea typeface="Calibri" pitchFamily="34" charset="-122"/>
                          <a:cs typeface="Calibri" pitchFamily="34" charset="-120"/>
                        </a:rPr>
                        <a:t>Nikkei 225</a:t>
                      </a:r>
                      <a:endParaRPr lang="en-US" sz="900" dirty="0">
                        <a:latin typeface="Calibri" charset="0"/>
                        <a:ea typeface="Calibri" charset="0"/>
                        <a:cs typeface="Calibri" charset="0"/>
                      </a:endParaRPr>
                    </a:p>
                    <a:p>
                      <a:pPr indent="0" marL="0">
                        <a:buNone/>
                      </a:pPr>
                      <a:r>
                        <a:rPr lang="en-US" sz="900" b="1" dirty="0">
                          <a:solidFill>
                            <a:srgbClr val="1D2B30"/>
                          </a:solidFill>
                          <a:latin typeface="Calibri" pitchFamily="34" charset="0"/>
                          <a:ea typeface="Calibri" pitchFamily="34" charset="-122"/>
                          <a:cs typeface="Calibri" pitchFamily="34" charset="-120"/>
                        </a:rPr>
                        <a:t>NKY Index</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Japan tech and semiconductor equipment: home market of the family's technology infrastructure business</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603504">
                <a:tc>
                  <a:txBody>
                    <a:bodyPr/>
                    <a:lstStyle/>
                    <a:p>
                      <a:pPr indent="0" marL="0">
                        <a:buNone/>
                      </a:pPr>
                      <a:r>
                        <a:rPr lang="en-US" sz="900" b="1" dirty="0">
                          <a:solidFill>
                            <a:srgbClr val="1D2B30"/>
                          </a:solidFill>
                          <a:latin typeface="Calibri" pitchFamily="34" charset="0"/>
                          <a:ea typeface="Calibri" pitchFamily="34" charset="-122"/>
                          <a:cs typeface="Calibri" pitchFamily="34" charset="-120"/>
                        </a:rPr>
                        <a:t>Taiwan TAIEX</a:t>
                      </a:r>
                      <a:endParaRPr lang="en-US" sz="900" dirty="0">
                        <a:latin typeface="Calibri" charset="0"/>
                        <a:ea typeface="Calibri" charset="0"/>
                        <a:cs typeface="Calibri" charset="0"/>
                      </a:endParaRPr>
                    </a:p>
                    <a:p>
                      <a:pPr indent="0" marL="0">
                        <a:buNone/>
                      </a:pPr>
                      <a:r>
                        <a:rPr lang="en-US" sz="900" b="1" dirty="0">
                          <a:solidFill>
                            <a:srgbClr val="1D2B30"/>
                          </a:solidFill>
                          <a:latin typeface="Calibri" pitchFamily="34" charset="0"/>
                          <a:ea typeface="Calibri" pitchFamily="34" charset="-122"/>
                          <a:cs typeface="Calibri" pitchFamily="34" charset="-120"/>
                        </a:rPr>
                        <a:t>TWSE Index</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AI supply chain and machine learning hardware (foundry, servers, networking) feeding regional logistics and retail</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603504">
                <a:tc>
                  <a:txBody>
                    <a:bodyPr/>
                    <a:lstStyle/>
                    <a:p>
                      <a:pPr indent="0" marL="0">
                        <a:buNone/>
                      </a:pPr>
                      <a:r>
                        <a:rPr lang="en-US" sz="900" b="1" dirty="0">
                          <a:solidFill>
                            <a:srgbClr val="1D2B30"/>
                          </a:solidFill>
                          <a:latin typeface="Calibri" pitchFamily="34" charset="0"/>
                          <a:ea typeface="Calibri" pitchFamily="34" charset="-122"/>
                          <a:cs typeface="Calibri" pitchFamily="34" charset="-120"/>
                        </a:rPr>
                        <a:t>MSCI AC Asia Pacific Utilities</a:t>
                      </a:r>
                      <a:endParaRPr lang="en-US" sz="900" dirty="0">
                        <a:latin typeface="Calibri" charset="0"/>
                        <a:ea typeface="Calibri" charset="0"/>
                        <a:cs typeface="Calibri" charset="0"/>
                      </a:endParaRPr>
                    </a:p>
                    <a:p>
                      <a:pPr indent="0" marL="0">
                        <a:buNone/>
                      </a:pPr>
                      <a:r>
                        <a:rPr lang="en-US" sz="900" b="1" dirty="0">
                          <a:solidFill>
                            <a:srgbClr val="1D2B30"/>
                          </a:solidFill>
                          <a:latin typeface="Calibri" pitchFamily="34" charset="0"/>
                          <a:ea typeface="Calibri" pitchFamily="34" charset="-122"/>
                          <a:cs typeface="Calibri" pitchFamily="34" charset="-120"/>
                        </a:rPr>
                        <a:t>MXAP0UT Index</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Grid and power operators: the smart-grid layer above the family's renewable plants; lowers basket volatility</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63500" marR="635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3246120" y="3977640"/>
            <a:ext cx="5440680" cy="548640"/>
          </a:xfrm>
          <a:prstGeom prst="rect">
            <a:avLst/>
          </a:prstGeom>
          <a:noFill/>
          <a:ln/>
        </p:spPr>
        <p:txBody>
          <a:bodyPr wrap="square" lIns="0" tIns="0" rIns="0" bIns="0" rtlCol="0" anchor="t"/>
          <a:lstStyle/>
          <a:p>
            <a:pPr indent="0" marL="0">
              <a:buNone/>
            </a:pPr>
            <a:r>
              <a:rPr lang="en-US" sz="1000" b="1" dirty="0">
                <a:solidFill>
                  <a:srgbClr val="0F8B8D"/>
                </a:solidFill>
                <a:latin typeface="Calibri" pitchFamily="34" charset="0"/>
                <a:ea typeface="Calibri" pitchFamily="34" charset="-122"/>
                <a:cs typeface="Calibri" pitchFamily="34" charset="-120"/>
              </a:rPr>
              <a:t>Why a weighted basket, not worst-of: </a:t>
            </a:r>
            <a:pPr indent="0" marL="0">
              <a:buNone/>
            </a:pPr>
            <a:r>
              <a:rPr lang="en-US" sz="1000" dirty="0">
                <a:solidFill>
                  <a:srgbClr val="1D2B30"/>
                </a:solidFill>
                <a:latin typeface="Calibri" pitchFamily="34" charset="0"/>
                <a:ea typeface="Calibri" pitchFamily="34" charset="-122"/>
                <a:cs typeface="Calibri" pitchFamily="34" charset="-120"/>
              </a:rPr>
              <a:t>one index collapsing (e.g. a China regulatory shock) is cushioned by the other three. Basket vol is ~19% vs 32% for HSTECH alone, and correlation risk stays with the desk.</a:t>
            </a:r>
            <a:endParaRPr lang="en-US" sz="1000" dirty="0"/>
          </a:p>
        </p:txBody>
      </p:sp>
      <p:sp>
        <p:nvSpPr>
          <p:cNvPr id="16" name="Text 12"/>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*Assumed 5Y implied vols for pricing. The draft's thematic indices (e.g. 'Greater China PropTech &amp; NLP') are not Bloomberg-listed, so we map each theme to a real index.</a:t>
            </a:r>
            <a:endParaRPr lang="en-US" sz="800" dirty="0"/>
          </a:p>
        </p:txBody>
      </p:sp>
      <p:sp>
        <p:nvSpPr>
          <p:cNvPr id="17" name="Text 13"/>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Term sheet: 5-year snowball autocall, 65% European barrier</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Why snowball: same risk as an income autocall, but a much higher coupon and true compounding</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206240" cy="914400"/>
        </p:xfrm>
        <a:graphic>
          <a:graphicData uri="http://schemas.openxmlformats.org/drawingml/2006/table">
            <a:tbl>
              <a:tblPr/>
              <a:tblGrid>
                <a:gridCol w="1463040"/>
                <a:gridCol w="2743200"/>
              </a:tblGrid>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Issuer</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Natixis SA (BPCE Group)</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Notional / currency</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USD 100,000,000 · quanto USD</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Trade / maturity</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17 Sep 2026 / 17 Sep 2031 (5Y)</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Underlying</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Weighted basket of 4 indices (slide 3)</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Quarterly, autocall from Q4 (Year 1)</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Autocall trigger</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Basket ≥ 100% of initial level</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Snowball coupon</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9.0% p.a. × years elapsed, paid at call</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Barrier</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65% European (maturity only)</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Below barrier</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Principal × final basket level</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Issue price / fair value</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100% / 97.3%</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bl>
          </a:graphicData>
        </a:graphic>
      </p:graphicFrame>
      <p:graphicFrame>
        <p:nvGraphicFramePr>
          <p:cNvPr id="5" name="Chart 0" descr=""/>
          <p:cNvGraphicFramePr/>
          <p:nvPr/>
        </p:nvGraphicFramePr>
        <p:xfrm>
          <a:off x="4892040" y="1143000"/>
          <a:ext cx="3794760" cy="21488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4892040" y="3401568"/>
            <a:ext cx="3794760" cy="1261872"/>
          </a:xfrm>
          <a:prstGeom prst="roundRect">
            <a:avLst>
              <a:gd name="adj" fmla="val 5072"/>
            </a:avLst>
          </a:prstGeom>
          <a:solidFill>
            <a:srgbClr val="0B3C49"/>
          </a:solidFill>
          <a:ln w="12700">
            <a:solidFill>
              <a:srgbClr val="0B3C49"/>
            </a:solidFill>
            <a:prstDash val="solid"/>
          </a:ln>
        </p:spPr>
      </p:sp>
      <p:sp>
        <p:nvSpPr>
          <p:cNvPr id="7" name="Text 3"/>
          <p:cNvSpPr txBox="1"/>
          <p:nvPr/>
        </p:nvSpPr>
        <p:spPr>
          <a:xfrm>
            <a:off x="5029200" y="3474720"/>
            <a:ext cx="3520440" cy="1143000"/>
          </a:xfrm>
          <a:prstGeom prst="rect">
            <a:avLst/>
          </a:prstGeom>
          <a:noFill/>
          <a:ln/>
        </p:spPr>
        <p:txBody>
          <a:bodyPr wrap="square" lIns="0" tIns="0" rIns="0" bIns="0" rtlCol="0" anchor="t"/>
          <a:lstStyle/>
          <a:p>
            <a:pPr indent="0" marL="0">
              <a:buNone/>
            </a:pPr>
            <a:r>
              <a:rPr lang="en-US" sz="950" b="1" dirty="0">
                <a:solidFill>
                  <a:srgbClr val="D9961A"/>
                </a:solidFill>
                <a:latin typeface="Calibri" pitchFamily="34" charset="0"/>
                <a:ea typeface="Calibri" pitchFamily="34" charset="-122"/>
                <a:cs typeface="Calibri" pitchFamily="34" charset="-120"/>
              </a:rPr>
              <a:t>Design call: </a:t>
            </a:r>
            <a:pPr indent="0" marL="0">
              <a:buNone/>
            </a:pPr>
            <a:r>
              <a:rPr lang="en-US" sz="950" dirty="0">
                <a:solidFill>
                  <a:srgbClr val="FFFFFF"/>
                </a:solidFill>
                <a:latin typeface="Calibri" pitchFamily="34" charset="0"/>
                <a:ea typeface="Calibri" pitchFamily="34" charset="-122"/>
                <a:cs typeface="Calibri" pitchFamily="34" charset="-120"/>
              </a:rPr>
              <a:t>A quarterly-paid coupon is only worth ~5.6% at the 5.69% funding rate, so the original 8.5% fixed-coupon draft would cost Natixis 5.1% above a 98% issue price. Paying the coupon only at call lifts it to 9.7% fair. We offer 9.0% and keep the rest as hedging margin.</a:t>
            </a:r>
            <a:endParaRPr lang="en-US" sz="950" dirty="0"/>
          </a:p>
        </p:txBody>
      </p:sp>
      <p:sp>
        <p:nvSpPr>
          <p:cNvPr id="8" name="Text 4"/>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Monte Carlo, 200k paths. Vols, dividends and correlations are assumptions to refresh with Bloomberg data as of the 17 Sep 2026 trade date; discounting uses the USD funding grid.</a:t>
            </a:r>
            <a:endParaRPr lang="en-US" sz="800" dirty="0"/>
          </a:p>
        </p:txBody>
      </p:sp>
      <p:sp>
        <p:nvSpPr>
          <p:cNvPr id="9" name="Text 5"/>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How it pays: one question each quarter, one at maturity</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Observation timeline (quarterly from Year 1; one example review date per year shown)</a:t>
            </a:r>
            <a:endParaRPr lang="en-US" sz="1250" dirty="0"/>
          </a:p>
        </p:txBody>
      </p:sp>
      <p:sp>
        <p:nvSpPr>
          <p:cNvPr id="4" name="Shape 2"/>
          <p:cNvSpPr/>
          <p:nvPr/>
        </p:nvSpPr>
        <p:spPr>
          <a:xfrm>
            <a:off x="731520" y="1691640"/>
            <a:ext cx="7680960" cy="0"/>
          </a:xfrm>
          <a:prstGeom prst="line">
            <a:avLst/>
          </a:prstGeom>
          <a:noFill/>
          <a:ln w="25400">
            <a:solidFill>
              <a:srgbClr val="8FA6AA"/>
            </a:solidFill>
            <a:prstDash val="solid"/>
          </a:ln>
        </p:spPr>
      </p:sp>
      <p:sp>
        <p:nvSpPr>
          <p:cNvPr id="5" name="Shape 3"/>
          <p:cNvSpPr/>
          <p:nvPr/>
        </p:nvSpPr>
        <p:spPr>
          <a:xfrm>
            <a:off x="502920" y="1499616"/>
            <a:ext cx="384048" cy="384048"/>
          </a:xfrm>
          <a:prstGeom prst="ellipse">
            <a:avLst/>
          </a:prstGeom>
          <a:solidFill>
            <a:srgbClr val="8FA6AA"/>
          </a:solidFill>
          <a:ln/>
        </p:spPr>
      </p:sp>
      <p:sp>
        <p:nvSpPr>
          <p:cNvPr id="6" name="Text 4"/>
          <p:cNvSpPr txBox="1"/>
          <p:nvPr/>
        </p:nvSpPr>
        <p:spPr>
          <a:xfrm>
            <a:off x="502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a:t>
            </a:r>
            <a:endParaRPr lang="en-US" sz="1300" dirty="0"/>
          </a:p>
        </p:txBody>
      </p:sp>
      <p:sp>
        <p:nvSpPr>
          <p:cNvPr id="7" name="Text 5"/>
          <p:cNvSpPr txBox="1"/>
          <p:nvPr/>
        </p:nvSpPr>
        <p:spPr>
          <a:xfrm>
            <a:off x="137160" y="1938528"/>
            <a:ext cx="1143000" cy="54864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Trade date</a:t>
            </a:r>
            <a:endParaRPr lang="en-US" sz="850" dirty="0"/>
          </a:p>
          <a:p>
            <a:pPr algn="ctr" indent="0" marL="0">
              <a:buNone/>
            </a:pPr>
            <a:r>
              <a:rPr lang="en-US" sz="850" dirty="0">
                <a:solidFill>
                  <a:srgbClr val="5F7176"/>
                </a:solidFill>
                <a:latin typeface="Calibri" pitchFamily="34" charset="0"/>
                <a:ea typeface="Calibri" pitchFamily="34" charset="-122"/>
                <a:cs typeface="Calibri" pitchFamily="34" charset="-120"/>
              </a:rPr>
              <a:t>17 Sep 2026</a:t>
            </a:r>
            <a:endParaRPr lang="en-US" sz="850" dirty="0"/>
          </a:p>
          <a:p>
            <a:pPr algn="ctr" indent="0" marL="0">
              <a:buNone/>
            </a:pPr>
            <a:r>
              <a:rPr lang="en-US" sz="850" dirty="0">
                <a:solidFill>
                  <a:srgbClr val="5F7176"/>
                </a:solidFill>
                <a:latin typeface="Calibri" pitchFamily="34" charset="0"/>
                <a:ea typeface="Calibri" pitchFamily="34" charset="-122"/>
                <a:cs typeface="Calibri" pitchFamily="34" charset="-120"/>
              </a:rPr>
              <a:t>Initial = 100%</a:t>
            </a:r>
            <a:endParaRPr lang="en-US" sz="850" dirty="0"/>
          </a:p>
        </p:txBody>
      </p:sp>
      <p:sp>
        <p:nvSpPr>
          <p:cNvPr id="8" name="Shape 6"/>
          <p:cNvSpPr/>
          <p:nvPr/>
        </p:nvSpPr>
        <p:spPr>
          <a:xfrm>
            <a:off x="1965960" y="1499616"/>
            <a:ext cx="384048" cy="384048"/>
          </a:xfrm>
          <a:prstGeom prst="ellipse">
            <a:avLst/>
          </a:prstGeom>
          <a:solidFill>
            <a:srgbClr val="0F8B8D"/>
          </a:solidFill>
          <a:ln/>
        </p:spPr>
      </p:sp>
      <p:sp>
        <p:nvSpPr>
          <p:cNvPr id="9" name="Text 7"/>
          <p:cNvSpPr txBox="1"/>
          <p:nvPr/>
        </p:nvSpPr>
        <p:spPr>
          <a:xfrm>
            <a:off x="19659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Y1</a:t>
            </a:r>
            <a:endParaRPr lang="en-US" sz="1300" dirty="0"/>
          </a:p>
        </p:txBody>
      </p:sp>
      <p:sp>
        <p:nvSpPr>
          <p:cNvPr id="10" name="Text 8"/>
          <p:cNvSpPr txBox="1"/>
          <p:nvPr/>
        </p:nvSpPr>
        <p:spPr>
          <a:xfrm>
            <a:off x="1508760" y="1938528"/>
            <a:ext cx="1298448" cy="411480"/>
          </a:xfrm>
          <a:prstGeom prst="rect">
            <a:avLst/>
          </a:prstGeom>
          <a:noFill/>
          <a:ln/>
        </p:spPr>
        <p:txBody>
          <a:bodyPr wrap="square" lIns="0" tIns="0" rIns="0" bIns="0" rtlCol="0" anchor="t"/>
          <a:lstStyle/>
          <a:p>
            <a:pPr algn="ctr" indent="0" marL="0">
              <a:buNone/>
            </a:pPr>
            <a:r>
              <a:rPr lang="en-US" sz="950" b="1" dirty="0">
                <a:solidFill>
                  <a:srgbClr val="0F8B8D"/>
                </a:solidFill>
                <a:latin typeface="Calibri" pitchFamily="34" charset="0"/>
                <a:ea typeface="Calibri" pitchFamily="34" charset="-122"/>
                <a:cs typeface="Calibri" pitchFamily="34" charset="-120"/>
              </a:rPr>
              <a:t>If basket ≥ 100%:</a:t>
            </a:r>
            <a:endParaRPr lang="en-US" sz="950" dirty="0"/>
          </a:p>
          <a:p>
            <a:pPr algn="ctr" indent="0" marL="0">
              <a:buNone/>
            </a:pPr>
            <a:r>
              <a:rPr lang="en-US" sz="950" b="1" dirty="0">
                <a:solidFill>
                  <a:srgbClr val="0F8B8D"/>
                </a:solidFill>
                <a:latin typeface="Calibri" pitchFamily="34" charset="0"/>
                <a:ea typeface="Calibri" pitchFamily="34" charset="-122"/>
                <a:cs typeface="Calibri" pitchFamily="34" charset="-120"/>
              </a:rPr>
              <a:t>109% back</a:t>
            </a:r>
            <a:endParaRPr lang="en-US" sz="950" dirty="0"/>
          </a:p>
        </p:txBody>
      </p:sp>
      <p:sp>
        <p:nvSpPr>
          <p:cNvPr id="11" name="Text 9"/>
          <p:cNvSpPr txBox="1"/>
          <p:nvPr/>
        </p:nvSpPr>
        <p:spPr>
          <a:xfrm>
            <a:off x="1508760" y="2331720"/>
            <a:ext cx="1298448" cy="22860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P(called by Y1) 51%</a:t>
            </a:r>
            <a:endParaRPr lang="en-US" sz="850" dirty="0"/>
          </a:p>
        </p:txBody>
      </p:sp>
      <p:sp>
        <p:nvSpPr>
          <p:cNvPr id="12" name="Shape 10"/>
          <p:cNvSpPr/>
          <p:nvPr/>
        </p:nvSpPr>
        <p:spPr>
          <a:xfrm>
            <a:off x="3429000" y="1499616"/>
            <a:ext cx="384048" cy="384048"/>
          </a:xfrm>
          <a:prstGeom prst="ellipse">
            <a:avLst/>
          </a:prstGeom>
          <a:solidFill>
            <a:srgbClr val="0F8B8D"/>
          </a:solidFill>
          <a:ln/>
        </p:spPr>
      </p:sp>
      <p:sp>
        <p:nvSpPr>
          <p:cNvPr id="13" name="Text 11"/>
          <p:cNvSpPr txBox="1"/>
          <p:nvPr/>
        </p:nvSpPr>
        <p:spPr>
          <a:xfrm>
            <a:off x="34290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Y2</a:t>
            </a:r>
            <a:endParaRPr lang="en-US" sz="1300" dirty="0"/>
          </a:p>
        </p:txBody>
      </p:sp>
      <p:sp>
        <p:nvSpPr>
          <p:cNvPr id="14" name="Text 12"/>
          <p:cNvSpPr txBox="1"/>
          <p:nvPr/>
        </p:nvSpPr>
        <p:spPr>
          <a:xfrm>
            <a:off x="2971800" y="1938528"/>
            <a:ext cx="1298448" cy="411480"/>
          </a:xfrm>
          <a:prstGeom prst="rect">
            <a:avLst/>
          </a:prstGeom>
          <a:noFill/>
          <a:ln/>
        </p:spPr>
        <p:txBody>
          <a:bodyPr wrap="square" lIns="0" tIns="0" rIns="0" bIns="0" rtlCol="0" anchor="t"/>
          <a:lstStyle/>
          <a:p>
            <a:pPr algn="ctr" indent="0" marL="0">
              <a:buNone/>
            </a:pPr>
            <a:r>
              <a:rPr lang="en-US" sz="950" b="1" dirty="0">
                <a:solidFill>
                  <a:srgbClr val="0F8B8D"/>
                </a:solidFill>
                <a:latin typeface="Calibri" pitchFamily="34" charset="0"/>
                <a:ea typeface="Calibri" pitchFamily="34" charset="-122"/>
                <a:cs typeface="Calibri" pitchFamily="34" charset="-120"/>
              </a:rPr>
              <a:t>If basket ≥ 100%:</a:t>
            </a:r>
            <a:endParaRPr lang="en-US" sz="950" dirty="0"/>
          </a:p>
          <a:p>
            <a:pPr algn="ctr" indent="0" marL="0">
              <a:buNone/>
            </a:pPr>
            <a:r>
              <a:rPr lang="en-US" sz="950" b="1" dirty="0">
                <a:solidFill>
                  <a:srgbClr val="0F8B8D"/>
                </a:solidFill>
                <a:latin typeface="Calibri" pitchFamily="34" charset="0"/>
                <a:ea typeface="Calibri" pitchFamily="34" charset="-122"/>
                <a:cs typeface="Calibri" pitchFamily="34" charset="-120"/>
              </a:rPr>
              <a:t>118% back</a:t>
            </a:r>
            <a:endParaRPr lang="en-US" sz="950" dirty="0"/>
          </a:p>
        </p:txBody>
      </p:sp>
      <p:sp>
        <p:nvSpPr>
          <p:cNvPr id="15" name="Text 13"/>
          <p:cNvSpPr txBox="1"/>
          <p:nvPr/>
        </p:nvSpPr>
        <p:spPr>
          <a:xfrm>
            <a:off x="2971800" y="2331720"/>
            <a:ext cx="1298448" cy="22860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P(called by Y2) 70%</a:t>
            </a:r>
            <a:endParaRPr lang="en-US" sz="850" dirty="0"/>
          </a:p>
        </p:txBody>
      </p:sp>
      <p:sp>
        <p:nvSpPr>
          <p:cNvPr id="16" name="Shape 14"/>
          <p:cNvSpPr/>
          <p:nvPr/>
        </p:nvSpPr>
        <p:spPr>
          <a:xfrm>
            <a:off x="4892040" y="1499616"/>
            <a:ext cx="384048" cy="384048"/>
          </a:xfrm>
          <a:prstGeom prst="ellipse">
            <a:avLst/>
          </a:prstGeom>
          <a:solidFill>
            <a:srgbClr val="0F8B8D"/>
          </a:solidFill>
          <a:ln/>
        </p:spPr>
      </p:sp>
      <p:sp>
        <p:nvSpPr>
          <p:cNvPr id="17" name="Text 15"/>
          <p:cNvSpPr txBox="1"/>
          <p:nvPr/>
        </p:nvSpPr>
        <p:spPr>
          <a:xfrm>
            <a:off x="48920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Y3</a:t>
            </a:r>
            <a:endParaRPr lang="en-US" sz="1300" dirty="0"/>
          </a:p>
        </p:txBody>
      </p:sp>
      <p:sp>
        <p:nvSpPr>
          <p:cNvPr id="18" name="Text 16"/>
          <p:cNvSpPr txBox="1"/>
          <p:nvPr/>
        </p:nvSpPr>
        <p:spPr>
          <a:xfrm>
            <a:off x="4434840" y="1938528"/>
            <a:ext cx="1298448" cy="411480"/>
          </a:xfrm>
          <a:prstGeom prst="rect">
            <a:avLst/>
          </a:prstGeom>
          <a:noFill/>
          <a:ln/>
        </p:spPr>
        <p:txBody>
          <a:bodyPr wrap="square" lIns="0" tIns="0" rIns="0" bIns="0" rtlCol="0" anchor="t"/>
          <a:lstStyle/>
          <a:p>
            <a:pPr algn="ctr" indent="0" marL="0">
              <a:buNone/>
            </a:pPr>
            <a:r>
              <a:rPr lang="en-US" sz="950" b="1" dirty="0">
                <a:solidFill>
                  <a:srgbClr val="0F8B8D"/>
                </a:solidFill>
                <a:latin typeface="Calibri" pitchFamily="34" charset="0"/>
                <a:ea typeface="Calibri" pitchFamily="34" charset="-122"/>
                <a:cs typeface="Calibri" pitchFamily="34" charset="-120"/>
              </a:rPr>
              <a:t>If basket ≥ 100%:</a:t>
            </a:r>
            <a:endParaRPr lang="en-US" sz="950" dirty="0"/>
          </a:p>
          <a:p>
            <a:pPr algn="ctr" indent="0" marL="0">
              <a:buNone/>
            </a:pPr>
            <a:r>
              <a:rPr lang="en-US" sz="950" b="1" dirty="0">
                <a:solidFill>
                  <a:srgbClr val="0F8B8D"/>
                </a:solidFill>
                <a:latin typeface="Calibri" pitchFamily="34" charset="0"/>
                <a:ea typeface="Calibri" pitchFamily="34" charset="-122"/>
                <a:cs typeface="Calibri" pitchFamily="34" charset="-120"/>
              </a:rPr>
              <a:t>127% back</a:t>
            </a:r>
            <a:endParaRPr lang="en-US" sz="950" dirty="0"/>
          </a:p>
        </p:txBody>
      </p:sp>
      <p:sp>
        <p:nvSpPr>
          <p:cNvPr id="19" name="Text 17"/>
          <p:cNvSpPr txBox="1"/>
          <p:nvPr/>
        </p:nvSpPr>
        <p:spPr>
          <a:xfrm>
            <a:off x="4434840" y="2331720"/>
            <a:ext cx="1298448" cy="22860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P(called by Y3) 76%</a:t>
            </a:r>
            <a:endParaRPr lang="en-US" sz="850" dirty="0"/>
          </a:p>
        </p:txBody>
      </p:sp>
      <p:sp>
        <p:nvSpPr>
          <p:cNvPr id="20" name="Shape 18"/>
          <p:cNvSpPr/>
          <p:nvPr/>
        </p:nvSpPr>
        <p:spPr>
          <a:xfrm>
            <a:off x="6355080" y="1499616"/>
            <a:ext cx="384048" cy="384048"/>
          </a:xfrm>
          <a:prstGeom prst="ellipse">
            <a:avLst/>
          </a:prstGeom>
          <a:solidFill>
            <a:srgbClr val="0F8B8D"/>
          </a:solidFill>
          <a:ln/>
        </p:spPr>
      </p:sp>
      <p:sp>
        <p:nvSpPr>
          <p:cNvPr id="21" name="Text 19"/>
          <p:cNvSpPr txBox="1"/>
          <p:nvPr/>
        </p:nvSpPr>
        <p:spPr>
          <a:xfrm>
            <a:off x="63550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Y4</a:t>
            </a:r>
            <a:endParaRPr lang="en-US" sz="1300" dirty="0"/>
          </a:p>
        </p:txBody>
      </p:sp>
      <p:sp>
        <p:nvSpPr>
          <p:cNvPr id="22" name="Text 20"/>
          <p:cNvSpPr txBox="1"/>
          <p:nvPr/>
        </p:nvSpPr>
        <p:spPr>
          <a:xfrm>
            <a:off x="5897880" y="1938528"/>
            <a:ext cx="1298448" cy="411480"/>
          </a:xfrm>
          <a:prstGeom prst="rect">
            <a:avLst/>
          </a:prstGeom>
          <a:noFill/>
          <a:ln/>
        </p:spPr>
        <p:txBody>
          <a:bodyPr wrap="square" lIns="0" tIns="0" rIns="0" bIns="0" rtlCol="0" anchor="t"/>
          <a:lstStyle/>
          <a:p>
            <a:pPr algn="ctr" indent="0" marL="0">
              <a:buNone/>
            </a:pPr>
            <a:r>
              <a:rPr lang="en-US" sz="950" b="1" dirty="0">
                <a:solidFill>
                  <a:srgbClr val="0F8B8D"/>
                </a:solidFill>
                <a:latin typeface="Calibri" pitchFamily="34" charset="0"/>
                <a:ea typeface="Calibri" pitchFamily="34" charset="-122"/>
                <a:cs typeface="Calibri" pitchFamily="34" charset="-120"/>
              </a:rPr>
              <a:t>If basket ≥ 100%:</a:t>
            </a:r>
            <a:endParaRPr lang="en-US" sz="950" dirty="0"/>
          </a:p>
          <a:p>
            <a:pPr algn="ctr" indent="0" marL="0">
              <a:buNone/>
            </a:pPr>
            <a:r>
              <a:rPr lang="en-US" sz="950" b="1" dirty="0">
                <a:solidFill>
                  <a:srgbClr val="0F8B8D"/>
                </a:solidFill>
                <a:latin typeface="Calibri" pitchFamily="34" charset="0"/>
                <a:ea typeface="Calibri" pitchFamily="34" charset="-122"/>
                <a:cs typeface="Calibri" pitchFamily="34" charset="-120"/>
              </a:rPr>
              <a:t>136% back</a:t>
            </a:r>
            <a:endParaRPr lang="en-US" sz="950" dirty="0"/>
          </a:p>
        </p:txBody>
      </p:sp>
      <p:sp>
        <p:nvSpPr>
          <p:cNvPr id="23" name="Text 21"/>
          <p:cNvSpPr txBox="1"/>
          <p:nvPr/>
        </p:nvSpPr>
        <p:spPr>
          <a:xfrm>
            <a:off x="5897880" y="2331720"/>
            <a:ext cx="1298448" cy="22860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P(called by Y4) 80%</a:t>
            </a:r>
            <a:endParaRPr lang="en-US" sz="850" dirty="0"/>
          </a:p>
        </p:txBody>
      </p:sp>
      <p:sp>
        <p:nvSpPr>
          <p:cNvPr id="24" name="Shape 22"/>
          <p:cNvSpPr/>
          <p:nvPr/>
        </p:nvSpPr>
        <p:spPr>
          <a:xfrm>
            <a:off x="7818120" y="1499616"/>
            <a:ext cx="384048" cy="384048"/>
          </a:xfrm>
          <a:prstGeom prst="ellipse">
            <a:avLst/>
          </a:prstGeom>
          <a:solidFill>
            <a:srgbClr val="D9961A"/>
          </a:solidFill>
          <a:ln/>
        </p:spPr>
      </p:sp>
      <p:sp>
        <p:nvSpPr>
          <p:cNvPr id="25" name="Text 23"/>
          <p:cNvSpPr txBox="1"/>
          <p:nvPr/>
        </p:nvSpPr>
        <p:spPr>
          <a:xfrm>
            <a:off x="78181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Y5</a:t>
            </a:r>
            <a:endParaRPr lang="en-US" sz="1300" dirty="0"/>
          </a:p>
        </p:txBody>
      </p:sp>
      <p:sp>
        <p:nvSpPr>
          <p:cNvPr id="26" name="Text 24"/>
          <p:cNvSpPr txBox="1"/>
          <p:nvPr/>
        </p:nvSpPr>
        <p:spPr>
          <a:xfrm>
            <a:off x="7360920" y="1938528"/>
            <a:ext cx="1298448" cy="411480"/>
          </a:xfrm>
          <a:prstGeom prst="rect">
            <a:avLst/>
          </a:prstGeom>
          <a:noFill/>
          <a:ln/>
        </p:spPr>
        <p:txBody>
          <a:bodyPr wrap="square" lIns="0" tIns="0" rIns="0" bIns="0" rtlCol="0" anchor="t"/>
          <a:lstStyle/>
          <a:p>
            <a:pPr algn="ctr" indent="0" marL="0">
              <a:buNone/>
            </a:pPr>
            <a:r>
              <a:rPr lang="en-US" sz="950" b="1" dirty="0">
                <a:solidFill>
                  <a:srgbClr val="D9961A"/>
                </a:solidFill>
                <a:latin typeface="Calibri" pitchFamily="34" charset="0"/>
                <a:ea typeface="Calibri" pitchFamily="34" charset="-122"/>
                <a:cs typeface="Calibri" pitchFamily="34" charset="-120"/>
              </a:rPr>
              <a:t>If basket ≥ 100%:</a:t>
            </a:r>
            <a:endParaRPr lang="en-US" sz="950" dirty="0"/>
          </a:p>
          <a:p>
            <a:pPr algn="ctr" indent="0" marL="0">
              <a:buNone/>
            </a:pPr>
            <a:r>
              <a:rPr lang="en-US" sz="950" b="1" dirty="0">
                <a:solidFill>
                  <a:srgbClr val="D9961A"/>
                </a:solidFill>
                <a:latin typeface="Calibri" pitchFamily="34" charset="0"/>
                <a:ea typeface="Calibri" pitchFamily="34" charset="-122"/>
                <a:cs typeface="Calibri" pitchFamily="34" charset="-120"/>
              </a:rPr>
              <a:t>145% back</a:t>
            </a:r>
            <a:endParaRPr lang="en-US" sz="950" dirty="0"/>
          </a:p>
        </p:txBody>
      </p:sp>
      <p:sp>
        <p:nvSpPr>
          <p:cNvPr id="27" name="Text 25"/>
          <p:cNvSpPr txBox="1"/>
          <p:nvPr/>
        </p:nvSpPr>
        <p:spPr>
          <a:xfrm>
            <a:off x="7360920" y="2331720"/>
            <a:ext cx="1298448" cy="22860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P(called by Y5) 83%</a:t>
            </a:r>
            <a:endParaRPr lang="en-US" sz="850" dirty="0"/>
          </a:p>
        </p:txBody>
      </p:sp>
      <p:sp>
        <p:nvSpPr>
          <p:cNvPr id="28" name="Text 26"/>
          <p:cNvSpPr txBox="1"/>
          <p:nvPr/>
        </p:nvSpPr>
        <p:spPr>
          <a:xfrm>
            <a:off x="1828800" y="1143000"/>
            <a:ext cx="6583680" cy="228600"/>
          </a:xfrm>
          <a:prstGeom prst="rect">
            <a:avLst/>
          </a:prstGeom>
          <a:noFill/>
          <a:ln/>
        </p:spPr>
        <p:txBody>
          <a:bodyPr wrap="square" lIns="0" tIns="0" rIns="0" bIns="0" rtlCol="0" anchor="t"/>
          <a:lstStyle/>
          <a:p>
            <a:pPr algn="ctr" indent="0" marL="0">
              <a:buNone/>
            </a:pPr>
            <a:r>
              <a:rPr lang="en-US" sz="900" i="1" dirty="0">
                <a:solidFill>
                  <a:srgbClr val="5F7176"/>
                </a:solidFill>
                <a:latin typeface="Calibri" pitchFamily="34" charset="0"/>
                <a:ea typeface="Calibri" pitchFamily="34" charset="-122"/>
                <a:cs typeface="Calibri" pitchFamily="34" charset="-120"/>
              </a:rPr>
              <a:t>Quarterly checks between dates pay pro-rata (e.g. Q6 = 113.5%)</a:t>
            </a:r>
            <a:endParaRPr lang="en-US" sz="900" dirty="0"/>
          </a:p>
        </p:txBody>
      </p:sp>
      <p:sp>
        <p:nvSpPr>
          <p:cNvPr id="29" name="Shape 27"/>
          <p:cNvSpPr/>
          <p:nvPr/>
        </p:nvSpPr>
        <p:spPr>
          <a:xfrm>
            <a:off x="457200" y="2788920"/>
            <a:ext cx="2606040" cy="1828800"/>
          </a:xfrm>
          <a:prstGeom prst="roundRect">
            <a:avLst>
              <a:gd name="adj" fmla="val 3500"/>
            </a:avLst>
          </a:prstGeom>
          <a:solidFill>
            <a:srgbClr val="E6F2F0"/>
          </a:solidFill>
          <a:ln w="12700">
            <a:solidFill>
              <a:srgbClr val="E6F2F0"/>
            </a:solidFill>
            <a:prstDash val="solid"/>
          </a:ln>
        </p:spPr>
      </p:sp>
      <p:sp>
        <p:nvSpPr>
          <p:cNvPr id="30" name="Shape 28"/>
          <p:cNvSpPr/>
          <p:nvPr/>
        </p:nvSpPr>
        <p:spPr>
          <a:xfrm>
            <a:off x="621792" y="2907792"/>
            <a:ext cx="384048" cy="384048"/>
          </a:xfrm>
          <a:prstGeom prst="ellipse">
            <a:avLst/>
          </a:prstGeom>
          <a:solidFill>
            <a:srgbClr val="0F8B8D"/>
          </a:solidFill>
          <a:ln/>
        </p:spPr>
      </p:sp>
      <p:sp>
        <p:nvSpPr>
          <p:cNvPr id="31" name="Text 29"/>
          <p:cNvSpPr txBox="1"/>
          <p:nvPr/>
        </p:nvSpPr>
        <p:spPr>
          <a:xfrm>
            <a:off x="621792" y="2907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a:t>
            </a:r>
            <a:endParaRPr lang="en-US" sz="1300" dirty="0"/>
          </a:p>
        </p:txBody>
      </p:sp>
      <p:sp>
        <p:nvSpPr>
          <p:cNvPr id="32" name="Text 30"/>
          <p:cNvSpPr txBox="1"/>
          <p:nvPr/>
        </p:nvSpPr>
        <p:spPr>
          <a:xfrm>
            <a:off x="1097280" y="2926080"/>
            <a:ext cx="1874520" cy="347472"/>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Autocalled</a:t>
            </a:r>
            <a:endParaRPr lang="en-US" sz="1200" dirty="0"/>
          </a:p>
        </p:txBody>
      </p:sp>
      <p:sp>
        <p:nvSpPr>
          <p:cNvPr id="33" name="Text 31"/>
          <p:cNvSpPr txBox="1"/>
          <p:nvPr/>
        </p:nvSpPr>
        <p:spPr>
          <a:xfrm>
            <a:off x="621792" y="3383280"/>
            <a:ext cx="2286000" cy="731520"/>
          </a:xfrm>
          <a:prstGeom prst="rect">
            <a:avLst/>
          </a:prstGeom>
          <a:noFill/>
          <a:ln/>
        </p:spPr>
        <p:txBody>
          <a:bodyPr wrap="square" lIns="0" tIns="0" rIns="0" bIns="0" rtlCol="0" anchor="t"/>
          <a:lstStyle/>
          <a:p>
            <a:pPr indent="0" marL="0">
              <a:buNone/>
            </a:pPr>
            <a:r>
              <a:rPr lang="en-US" sz="1000" dirty="0">
                <a:solidFill>
                  <a:srgbClr val="1D2B30"/>
                </a:solidFill>
                <a:latin typeface="Calibri" pitchFamily="34" charset="0"/>
                <a:ea typeface="Calibri" pitchFamily="34" charset="-122"/>
                <a:cs typeface="Calibri" pitchFamily="34" charset="-120"/>
              </a:rPr>
              <a:t>Basket ≥ 100% on any review from Q4. Note ends with 100% + 9.0% × years.</a:t>
            </a:r>
            <a:endParaRPr lang="en-US" sz="1000" dirty="0"/>
          </a:p>
        </p:txBody>
      </p:sp>
      <p:sp>
        <p:nvSpPr>
          <p:cNvPr id="34" name="Text 32"/>
          <p:cNvSpPr txBox="1"/>
          <p:nvPr/>
        </p:nvSpPr>
        <p:spPr>
          <a:xfrm>
            <a:off x="621792" y="4160520"/>
            <a:ext cx="2286000" cy="365760"/>
          </a:xfrm>
          <a:prstGeom prst="rect">
            <a:avLst/>
          </a:prstGeom>
          <a:noFill/>
          <a:ln/>
        </p:spPr>
        <p:txBody>
          <a:bodyPr wrap="square" lIns="0" tIns="0" rIns="0" bIns="0" rtlCol="0" anchor="ctr"/>
          <a:lstStyle/>
          <a:p>
            <a:pPr indent="0" marL="0">
              <a:buNone/>
            </a:pPr>
            <a:r>
              <a:rPr lang="en-US" sz="1600" b="1" dirty="0">
                <a:solidFill>
                  <a:srgbClr val="0F8B8D"/>
                </a:solidFill>
                <a:latin typeface="Calibri" pitchFamily="34" charset="0"/>
                <a:ea typeface="Calibri" pitchFamily="34" charset="-122"/>
                <a:cs typeface="Calibri" pitchFamily="34" charset="-120"/>
              </a:rPr>
              <a:t>83%</a:t>
            </a:r>
            <a:pPr indent="0" marL="0">
              <a:buNone/>
            </a:pPr>
            <a:r>
              <a:rPr lang="en-US" sz="850" dirty="0">
                <a:solidFill>
                  <a:srgbClr val="5F7176"/>
                </a:solidFill>
                <a:latin typeface="Calibri" pitchFamily="34" charset="0"/>
                <a:ea typeface="Calibri" pitchFamily="34" charset="-122"/>
                <a:cs typeface="Calibri" pitchFamily="34" charset="-120"/>
              </a:rPr>
              <a:t>  risk-neutral probability</a:t>
            </a:r>
            <a:endParaRPr lang="en-US" sz="1100" dirty="0"/>
          </a:p>
        </p:txBody>
      </p:sp>
      <p:sp>
        <p:nvSpPr>
          <p:cNvPr id="35" name="Shape 33"/>
          <p:cNvSpPr/>
          <p:nvPr/>
        </p:nvSpPr>
        <p:spPr>
          <a:xfrm>
            <a:off x="3246120" y="2788920"/>
            <a:ext cx="2606040" cy="1828800"/>
          </a:xfrm>
          <a:prstGeom prst="roundRect">
            <a:avLst>
              <a:gd name="adj" fmla="val 3500"/>
            </a:avLst>
          </a:prstGeom>
          <a:solidFill>
            <a:srgbClr val="E6F2F0"/>
          </a:solidFill>
          <a:ln w="12700">
            <a:solidFill>
              <a:srgbClr val="E6F2F0"/>
            </a:solidFill>
            <a:prstDash val="solid"/>
          </a:ln>
        </p:spPr>
      </p:sp>
      <p:sp>
        <p:nvSpPr>
          <p:cNvPr id="36" name="Shape 34"/>
          <p:cNvSpPr/>
          <p:nvPr/>
        </p:nvSpPr>
        <p:spPr>
          <a:xfrm>
            <a:off x="3410712" y="2907792"/>
            <a:ext cx="384048" cy="384048"/>
          </a:xfrm>
          <a:prstGeom prst="ellipse">
            <a:avLst/>
          </a:prstGeom>
          <a:solidFill>
            <a:srgbClr val="8FA6AA"/>
          </a:solidFill>
          <a:ln/>
        </p:spPr>
      </p:sp>
      <p:sp>
        <p:nvSpPr>
          <p:cNvPr id="37" name="Text 35"/>
          <p:cNvSpPr txBox="1"/>
          <p:nvPr/>
        </p:nvSpPr>
        <p:spPr>
          <a:xfrm>
            <a:off x="3410712" y="2907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a:t>
            </a:r>
            <a:endParaRPr lang="en-US" sz="1300" dirty="0"/>
          </a:p>
        </p:txBody>
      </p:sp>
      <p:sp>
        <p:nvSpPr>
          <p:cNvPr id="38" name="Text 36"/>
          <p:cNvSpPr txBox="1"/>
          <p:nvPr/>
        </p:nvSpPr>
        <p:spPr>
          <a:xfrm>
            <a:off x="3886200" y="2926080"/>
            <a:ext cx="1874520" cy="347472"/>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Not called, final ≥ 65%</a:t>
            </a:r>
            <a:endParaRPr lang="en-US" sz="1200" dirty="0"/>
          </a:p>
        </p:txBody>
      </p:sp>
      <p:sp>
        <p:nvSpPr>
          <p:cNvPr id="39" name="Text 37"/>
          <p:cNvSpPr txBox="1"/>
          <p:nvPr/>
        </p:nvSpPr>
        <p:spPr>
          <a:xfrm>
            <a:off x="3410712" y="3383280"/>
            <a:ext cx="2286000" cy="731520"/>
          </a:xfrm>
          <a:prstGeom prst="rect">
            <a:avLst/>
          </a:prstGeom>
          <a:noFill/>
          <a:ln/>
        </p:spPr>
        <p:txBody>
          <a:bodyPr wrap="square" lIns="0" tIns="0" rIns="0" bIns="0" rtlCol="0" anchor="t"/>
          <a:lstStyle/>
          <a:p>
            <a:pPr indent="0" marL="0">
              <a:buNone/>
            </a:pPr>
            <a:r>
              <a:rPr lang="en-US" sz="1000" dirty="0">
                <a:solidFill>
                  <a:srgbClr val="1D2B30"/>
                </a:solidFill>
                <a:latin typeface="Calibri" pitchFamily="34" charset="0"/>
                <a:ea typeface="Calibri" pitchFamily="34" charset="-122"/>
                <a:cs typeface="Calibri" pitchFamily="34" charset="-120"/>
              </a:rPr>
              <a:t>Basket ended between 65% and 100% at Year 5. Full principal is returned, with no coupon.</a:t>
            </a:r>
            <a:endParaRPr lang="en-US" sz="1000" dirty="0"/>
          </a:p>
        </p:txBody>
      </p:sp>
      <p:sp>
        <p:nvSpPr>
          <p:cNvPr id="40" name="Text 38"/>
          <p:cNvSpPr txBox="1"/>
          <p:nvPr/>
        </p:nvSpPr>
        <p:spPr>
          <a:xfrm>
            <a:off x="3410712" y="4160520"/>
            <a:ext cx="2286000" cy="365760"/>
          </a:xfrm>
          <a:prstGeom prst="rect">
            <a:avLst/>
          </a:prstGeom>
          <a:noFill/>
          <a:ln/>
        </p:spPr>
        <p:txBody>
          <a:bodyPr wrap="square" lIns="0" tIns="0" rIns="0" bIns="0" rtlCol="0" anchor="ctr"/>
          <a:lstStyle/>
          <a:p>
            <a:pPr indent="0" marL="0">
              <a:buNone/>
            </a:pPr>
            <a:r>
              <a:rPr lang="en-US" sz="1600" b="1" dirty="0">
                <a:solidFill>
                  <a:srgbClr val="8FA6AA"/>
                </a:solidFill>
                <a:latin typeface="Calibri" pitchFamily="34" charset="0"/>
                <a:ea typeface="Calibri" pitchFamily="34" charset="-122"/>
                <a:cs typeface="Calibri" pitchFamily="34" charset="-120"/>
              </a:rPr>
              <a:t>10%</a:t>
            </a:r>
            <a:pPr indent="0" marL="0">
              <a:buNone/>
            </a:pPr>
            <a:r>
              <a:rPr lang="en-US" sz="850" dirty="0">
                <a:solidFill>
                  <a:srgbClr val="5F7176"/>
                </a:solidFill>
                <a:latin typeface="Calibri" pitchFamily="34" charset="0"/>
                <a:ea typeface="Calibri" pitchFamily="34" charset="-122"/>
                <a:cs typeface="Calibri" pitchFamily="34" charset="-120"/>
              </a:rPr>
              <a:t>  risk-neutral probability</a:t>
            </a:r>
            <a:endParaRPr lang="en-US" sz="1100" dirty="0"/>
          </a:p>
        </p:txBody>
      </p:sp>
      <p:sp>
        <p:nvSpPr>
          <p:cNvPr id="41" name="Shape 39"/>
          <p:cNvSpPr/>
          <p:nvPr/>
        </p:nvSpPr>
        <p:spPr>
          <a:xfrm>
            <a:off x="6035040" y="2788920"/>
            <a:ext cx="2606040" cy="1828800"/>
          </a:xfrm>
          <a:prstGeom prst="roundRect">
            <a:avLst>
              <a:gd name="adj" fmla="val 3500"/>
            </a:avLst>
          </a:prstGeom>
          <a:solidFill>
            <a:srgbClr val="E6F2F0"/>
          </a:solidFill>
          <a:ln w="12700">
            <a:solidFill>
              <a:srgbClr val="E6F2F0"/>
            </a:solidFill>
            <a:prstDash val="solid"/>
          </a:ln>
        </p:spPr>
      </p:sp>
      <p:sp>
        <p:nvSpPr>
          <p:cNvPr id="42" name="Shape 40"/>
          <p:cNvSpPr/>
          <p:nvPr/>
        </p:nvSpPr>
        <p:spPr>
          <a:xfrm>
            <a:off x="6199632" y="2907792"/>
            <a:ext cx="384048" cy="384048"/>
          </a:xfrm>
          <a:prstGeom prst="ellipse">
            <a:avLst/>
          </a:prstGeom>
          <a:solidFill>
            <a:srgbClr val="B8433A"/>
          </a:solidFill>
          <a:ln/>
        </p:spPr>
      </p:sp>
      <p:sp>
        <p:nvSpPr>
          <p:cNvPr id="43" name="Text 41"/>
          <p:cNvSpPr txBox="1"/>
          <p:nvPr/>
        </p:nvSpPr>
        <p:spPr>
          <a:xfrm>
            <a:off x="6199632" y="2907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a:t>
            </a:r>
            <a:endParaRPr lang="en-US" sz="1300" dirty="0"/>
          </a:p>
        </p:txBody>
      </p:sp>
      <p:sp>
        <p:nvSpPr>
          <p:cNvPr id="44" name="Text 42"/>
          <p:cNvSpPr txBox="1"/>
          <p:nvPr/>
        </p:nvSpPr>
        <p:spPr>
          <a:xfrm>
            <a:off x="6675120" y="2926080"/>
            <a:ext cx="1874520" cy="347472"/>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Not called, final &lt; 65%</a:t>
            </a:r>
            <a:endParaRPr lang="en-US" sz="1200" dirty="0"/>
          </a:p>
        </p:txBody>
      </p:sp>
      <p:sp>
        <p:nvSpPr>
          <p:cNvPr id="45" name="Text 43"/>
          <p:cNvSpPr txBox="1"/>
          <p:nvPr/>
        </p:nvSpPr>
        <p:spPr>
          <a:xfrm>
            <a:off x="6199632" y="3383280"/>
            <a:ext cx="2286000" cy="731520"/>
          </a:xfrm>
          <a:prstGeom prst="rect">
            <a:avLst/>
          </a:prstGeom>
          <a:noFill/>
          <a:ln/>
        </p:spPr>
        <p:txBody>
          <a:bodyPr wrap="square" lIns="0" tIns="0" rIns="0" bIns="0" rtlCol="0" anchor="t"/>
          <a:lstStyle/>
          <a:p>
            <a:pPr indent="0" marL="0">
              <a:buNone/>
            </a:pPr>
            <a:r>
              <a:rPr lang="en-US" sz="1000" dirty="0">
                <a:solidFill>
                  <a:srgbClr val="1D2B30"/>
                </a:solidFill>
                <a:latin typeface="Calibri" pitchFamily="34" charset="0"/>
                <a:ea typeface="Calibri" pitchFamily="34" charset="-122"/>
                <a:cs typeface="Calibri" pitchFamily="34" charset="-120"/>
              </a:rPr>
              <a:t>Barrier breached at maturity. Principal × final level, e.g. basket at 55% returns 55%.</a:t>
            </a:r>
            <a:endParaRPr lang="en-US" sz="1000" dirty="0"/>
          </a:p>
        </p:txBody>
      </p:sp>
      <p:sp>
        <p:nvSpPr>
          <p:cNvPr id="46" name="Text 44"/>
          <p:cNvSpPr txBox="1"/>
          <p:nvPr/>
        </p:nvSpPr>
        <p:spPr>
          <a:xfrm>
            <a:off x="6199632" y="4160520"/>
            <a:ext cx="2286000" cy="365760"/>
          </a:xfrm>
          <a:prstGeom prst="rect">
            <a:avLst/>
          </a:prstGeom>
          <a:noFill/>
          <a:ln/>
        </p:spPr>
        <p:txBody>
          <a:bodyPr wrap="square" lIns="0" tIns="0" rIns="0" bIns="0" rtlCol="0" anchor="ctr"/>
          <a:lstStyle/>
          <a:p>
            <a:pPr indent="0" marL="0">
              <a:buNone/>
            </a:pPr>
            <a:r>
              <a:rPr lang="en-US" sz="1600" b="1" dirty="0">
                <a:solidFill>
                  <a:srgbClr val="B8433A"/>
                </a:solidFill>
                <a:latin typeface="Calibri" pitchFamily="34" charset="0"/>
                <a:ea typeface="Calibri" pitchFamily="34" charset="-122"/>
                <a:cs typeface="Calibri" pitchFamily="34" charset="-120"/>
              </a:rPr>
              <a:t>7.7%</a:t>
            </a:r>
            <a:pPr indent="0" marL="0">
              <a:buNone/>
            </a:pPr>
            <a:r>
              <a:rPr lang="en-US" sz="850" dirty="0">
                <a:solidFill>
                  <a:srgbClr val="5F7176"/>
                </a:solidFill>
                <a:latin typeface="Calibri" pitchFamily="34" charset="0"/>
                <a:ea typeface="Calibri" pitchFamily="34" charset="-122"/>
                <a:cs typeface="Calibri" pitchFamily="34" charset="-120"/>
              </a:rPr>
              <a:t>  risk-neutral probability</a:t>
            </a:r>
            <a:endParaRPr lang="en-US" sz="1100" dirty="0"/>
          </a:p>
        </p:txBody>
      </p:sp>
      <p:sp>
        <p:nvSpPr>
          <p:cNvPr id="47" name="Text 45"/>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Probabilities are risk-neutral (drift = funding rate − dividends). Real-world outcomes under different equity returns are on slide 9.</a:t>
            </a:r>
            <a:endParaRPr lang="en-US" sz="800" dirty="0"/>
          </a:p>
        </p:txBody>
      </p:sp>
      <p:sp>
        <p:nvSpPr>
          <p:cNvPr id="48" name="Text 46"/>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Payoff diagrams: what the family receives, and when</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Left: redemption if called at each review date. Right: maturity payoff if never called, vs. owning the basket directly</a:t>
            </a:r>
            <a:endParaRPr lang="en-US" sz="1250" dirty="0"/>
          </a:p>
        </p:txBody>
      </p:sp>
      <p:graphicFrame>
        <p:nvGraphicFramePr>
          <p:cNvPr id="4" name="Chart 0" descr=""/>
          <p:cNvGraphicFramePr/>
          <p:nvPr/>
        </p:nvGraphicFramePr>
        <p:xfrm>
          <a:off x="365760" y="1143000"/>
          <a:ext cx="4023360" cy="2606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02920" y="3840480"/>
            <a:ext cx="2103120" cy="868680"/>
          </a:xfrm>
          <a:prstGeom prst="rect">
            <a:avLst/>
          </a:prstGeom>
          <a:noFill/>
          <a:ln/>
        </p:spPr>
        <p:txBody>
          <a:bodyPr wrap="square" lIns="0" tIns="0" rIns="0" bIns="0" rtlCol="0" anchor="t"/>
          <a:lstStyle/>
          <a:p>
            <a:pPr indent="0" marL="0">
              <a:buNone/>
            </a:pPr>
            <a:r>
              <a:rPr lang="en-US" sz="900" dirty="0">
                <a:solidFill>
                  <a:srgbClr val="1D2B30"/>
                </a:solidFill>
                <a:latin typeface="Calibri" pitchFamily="34" charset="0"/>
                <a:ea typeface="Calibri" pitchFamily="34" charset="-122"/>
                <a:cs typeface="Calibri" pitchFamily="34" charset="-120"/>
              </a:rPr>
              <a:t>Y1: 109%  (USD 109mn)</a:t>
            </a:r>
            <a:endParaRPr lang="en-US" sz="900" dirty="0"/>
          </a:p>
          <a:p>
            <a:pPr indent="0" marL="0">
              <a:buNone/>
            </a:pPr>
            <a:r>
              <a:rPr lang="en-US" sz="900" dirty="0">
                <a:solidFill>
                  <a:srgbClr val="1D2B30"/>
                </a:solidFill>
                <a:latin typeface="Calibri" pitchFamily="34" charset="0"/>
                <a:ea typeface="Calibri" pitchFamily="34" charset="-122"/>
                <a:cs typeface="Calibri" pitchFamily="34" charset="-120"/>
              </a:rPr>
              <a:t>Y2: 118%  (USD 118mn)</a:t>
            </a:r>
            <a:endParaRPr lang="en-US" sz="900" dirty="0"/>
          </a:p>
          <a:p>
            <a:pPr indent="0" marL="0">
              <a:buNone/>
            </a:pPr>
            <a:r>
              <a:rPr lang="en-US" sz="900" dirty="0">
                <a:solidFill>
                  <a:srgbClr val="1D2B30"/>
                </a:solidFill>
                <a:latin typeface="Calibri" pitchFamily="34" charset="0"/>
                <a:ea typeface="Calibri" pitchFamily="34" charset="-122"/>
                <a:cs typeface="Calibri" pitchFamily="34" charset="-120"/>
              </a:rPr>
              <a:t>Y3: 127%  (USD 127mn)</a:t>
            </a:r>
            <a:endParaRPr lang="en-US" sz="900" dirty="0"/>
          </a:p>
          <a:p>
            <a:pPr indent="0" marL="0">
              <a:buNone/>
            </a:pPr>
            <a:r>
              <a:rPr lang="en-US" sz="900" dirty="0">
                <a:solidFill>
                  <a:srgbClr val="1D2B30"/>
                </a:solidFill>
                <a:latin typeface="Calibri" pitchFamily="34" charset="0"/>
                <a:ea typeface="Calibri" pitchFamily="34" charset="-122"/>
                <a:cs typeface="Calibri" pitchFamily="34" charset="-120"/>
              </a:rPr>
              <a:t>Y4: 136%  (USD 136mn)</a:t>
            </a:r>
            <a:endParaRPr lang="en-US" sz="900" dirty="0"/>
          </a:p>
          <a:p>
            <a:pPr indent="0" marL="0">
              <a:buNone/>
            </a:pPr>
            <a:r>
              <a:rPr lang="en-US" sz="900" dirty="0">
                <a:solidFill>
                  <a:srgbClr val="1D2B30"/>
                </a:solidFill>
                <a:latin typeface="Calibri" pitchFamily="34" charset="0"/>
                <a:ea typeface="Calibri" pitchFamily="34" charset="-122"/>
                <a:cs typeface="Calibri" pitchFamily="34" charset="-120"/>
              </a:rPr>
              <a:t>Y5: 145%  (USD 145mn)</a:t>
            </a:r>
            <a:endParaRPr lang="en-US" sz="900" dirty="0"/>
          </a:p>
        </p:txBody>
      </p:sp>
      <p:sp>
        <p:nvSpPr>
          <p:cNvPr id="6" name="Text 3"/>
          <p:cNvSpPr txBox="1"/>
          <p:nvPr/>
        </p:nvSpPr>
        <p:spPr>
          <a:xfrm>
            <a:off x="2606040" y="3840480"/>
            <a:ext cx="1783080" cy="868680"/>
          </a:xfrm>
          <a:prstGeom prst="rect">
            <a:avLst/>
          </a:prstGeom>
          <a:noFill/>
          <a:ln/>
        </p:spPr>
        <p:txBody>
          <a:bodyPr wrap="square" lIns="0" tIns="0" rIns="0" bIns="0" rtlCol="0" anchor="t"/>
          <a:lstStyle/>
          <a:p>
            <a:pPr indent="0" marL="0">
              <a:buNone/>
            </a:pPr>
            <a:r>
              <a:rPr lang="en-US" sz="900" i="1" dirty="0">
                <a:solidFill>
                  <a:srgbClr val="5F7176"/>
                </a:solidFill>
                <a:latin typeface="Calibri" pitchFamily="34" charset="0"/>
                <a:ea typeface="Calibri" pitchFamily="34" charset="-122"/>
                <a:cs typeface="Calibri" pitchFamily="34" charset="-120"/>
              </a:rPr>
              <a:t>Coupon grows linearly; there is no compounding cap until maturity. The longer the wait, the bigger the payout.</a:t>
            </a:r>
            <a:endParaRPr lang="en-US" sz="900" dirty="0"/>
          </a:p>
        </p:txBody>
      </p:sp>
      <p:graphicFrame>
        <p:nvGraphicFramePr>
          <p:cNvPr id="7" name="Chart 1" descr=""/>
          <p:cNvGraphicFramePr/>
          <p:nvPr/>
        </p:nvGraphicFramePr>
        <p:xfrm>
          <a:off x="4572000" y="1143000"/>
          <a:ext cx="4206240" cy="301752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4709160" y="4279392"/>
            <a:ext cx="91440" cy="91440"/>
          </a:xfrm>
          <a:prstGeom prst="ellipse">
            <a:avLst/>
          </a:prstGeom>
          <a:solidFill>
            <a:srgbClr val="B8433A"/>
          </a:solidFill>
          <a:ln w="12700">
            <a:solidFill>
              <a:srgbClr val="B8433A"/>
            </a:solidFill>
            <a:prstDash val="solid"/>
          </a:ln>
        </p:spPr>
      </p:sp>
      <p:sp>
        <p:nvSpPr>
          <p:cNvPr id="9" name="Text 5"/>
          <p:cNvSpPr txBox="1"/>
          <p:nvPr/>
        </p:nvSpPr>
        <p:spPr>
          <a:xfrm>
            <a:off x="4864608" y="4224528"/>
            <a:ext cx="3840480" cy="164592"/>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&lt; 65%: 1-for-1 loss, same as the basket</a:t>
            </a:r>
            <a:endParaRPr lang="en-US" sz="850" dirty="0"/>
          </a:p>
        </p:txBody>
      </p:sp>
      <p:sp>
        <p:nvSpPr>
          <p:cNvPr id="10" name="Shape 6"/>
          <p:cNvSpPr/>
          <p:nvPr/>
        </p:nvSpPr>
        <p:spPr>
          <a:xfrm>
            <a:off x="4709160" y="4434840"/>
            <a:ext cx="91440" cy="91440"/>
          </a:xfrm>
          <a:prstGeom prst="ellipse">
            <a:avLst/>
          </a:prstGeom>
          <a:solidFill>
            <a:srgbClr val="8FA6AA"/>
          </a:solidFill>
          <a:ln w="12700">
            <a:solidFill>
              <a:srgbClr val="8FA6AA"/>
            </a:solidFill>
            <a:prstDash val="solid"/>
          </a:ln>
        </p:spPr>
      </p:sp>
      <p:sp>
        <p:nvSpPr>
          <p:cNvPr id="11" name="Text 7"/>
          <p:cNvSpPr txBox="1"/>
          <p:nvPr/>
        </p:nvSpPr>
        <p:spPr>
          <a:xfrm>
            <a:off x="4864608" y="4379976"/>
            <a:ext cx="3840480" cy="164592"/>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65–100%: 100% back (the buffer zone)</a:t>
            </a:r>
            <a:endParaRPr lang="en-US" sz="850" dirty="0"/>
          </a:p>
        </p:txBody>
      </p:sp>
      <p:sp>
        <p:nvSpPr>
          <p:cNvPr id="12" name="Shape 8"/>
          <p:cNvSpPr/>
          <p:nvPr/>
        </p:nvSpPr>
        <p:spPr>
          <a:xfrm>
            <a:off x="4709160" y="4590288"/>
            <a:ext cx="91440" cy="91440"/>
          </a:xfrm>
          <a:prstGeom prst="ellipse">
            <a:avLst/>
          </a:prstGeom>
          <a:solidFill>
            <a:srgbClr val="0F8B8D"/>
          </a:solidFill>
          <a:ln w="12700">
            <a:solidFill>
              <a:srgbClr val="0F8B8D"/>
            </a:solidFill>
            <a:prstDash val="solid"/>
          </a:ln>
        </p:spPr>
      </p:sp>
      <p:sp>
        <p:nvSpPr>
          <p:cNvPr id="13" name="Text 9"/>
          <p:cNvSpPr txBox="1"/>
          <p:nvPr/>
        </p:nvSpPr>
        <p:spPr>
          <a:xfrm>
            <a:off x="4864608" y="4535424"/>
            <a:ext cx="3840480" cy="164592"/>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 100%: 145% (Y5 call)</a:t>
            </a:r>
            <a:endParaRPr lang="en-US" sz="850" dirty="0"/>
          </a:p>
        </p:txBody>
      </p:sp>
      <p:sp>
        <p:nvSpPr>
          <p:cNvPr id="14" name="Text 10"/>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Under the hood: a bond plus three option positions</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Replication used by the Natixis desk to price and hedge (values in % of notional, at trade date)</a:t>
            </a:r>
            <a:endParaRPr lang="en-US" sz="1250" dirty="0"/>
          </a:p>
        </p:txBody>
      </p:sp>
      <p:sp>
        <p:nvSpPr>
          <p:cNvPr id="4" name="Shape 2"/>
          <p:cNvSpPr/>
          <p:nvPr/>
        </p:nvSpPr>
        <p:spPr>
          <a:xfrm>
            <a:off x="411480" y="1188720"/>
            <a:ext cx="1993392" cy="2788920"/>
          </a:xfrm>
          <a:prstGeom prst="roundRect">
            <a:avLst>
              <a:gd name="adj" fmla="val 3211"/>
            </a:avLst>
          </a:prstGeom>
          <a:solidFill>
            <a:srgbClr val="E6F2F0"/>
          </a:solidFill>
          <a:ln w="12700">
            <a:solidFill>
              <a:srgbClr val="E6F2F0"/>
            </a:solidFill>
            <a:prstDash val="solid"/>
          </a:ln>
        </p:spPr>
      </p:sp>
      <p:sp>
        <p:nvSpPr>
          <p:cNvPr id="5" name="Text 3"/>
          <p:cNvSpPr txBox="1"/>
          <p:nvPr/>
        </p:nvSpPr>
        <p:spPr>
          <a:xfrm>
            <a:off x="521208" y="1261872"/>
            <a:ext cx="1783080" cy="274320"/>
          </a:xfrm>
          <a:prstGeom prst="rect">
            <a:avLst/>
          </a:prstGeom>
          <a:noFill/>
          <a:ln/>
        </p:spPr>
        <p:txBody>
          <a:bodyPr wrap="square" lIns="0" tIns="0" rIns="0" bIns="0" rtlCol="0" anchor="t"/>
          <a:lstStyle/>
          <a:p>
            <a:pPr indent="0" marL="0">
              <a:buNone/>
            </a:pPr>
            <a:r>
              <a:rPr lang="en-US" sz="1150" b="1" dirty="0">
                <a:solidFill>
                  <a:srgbClr val="0B3C49"/>
                </a:solidFill>
                <a:latin typeface="Calibri" pitchFamily="34" charset="0"/>
                <a:ea typeface="Calibri" pitchFamily="34" charset="-122"/>
                <a:cs typeface="Calibri" pitchFamily="34" charset="-120"/>
              </a:rPr>
              <a:t>Zero-coupon bond</a:t>
            </a:r>
            <a:endParaRPr lang="en-US" sz="1150" dirty="0"/>
          </a:p>
        </p:txBody>
      </p:sp>
      <p:sp>
        <p:nvSpPr>
          <p:cNvPr id="6" name="Text 4"/>
          <p:cNvSpPr txBox="1"/>
          <p:nvPr/>
        </p:nvSpPr>
        <p:spPr>
          <a:xfrm>
            <a:off x="521208" y="1536192"/>
            <a:ext cx="1783080" cy="548640"/>
          </a:xfrm>
          <a:prstGeom prst="rect">
            <a:avLst/>
          </a:prstGeom>
          <a:noFill/>
          <a:ln/>
        </p:spPr>
        <p:txBody>
          <a:bodyPr wrap="square" lIns="0" tIns="0" rIns="0" bIns="0" rtlCol="0" anchor="t"/>
          <a:lstStyle/>
          <a:p>
            <a:pPr indent="0" marL="0">
              <a:buNone/>
            </a:pPr>
            <a:r>
              <a:rPr lang="en-US" sz="850" dirty="0">
                <a:solidFill>
                  <a:srgbClr val="5F7176"/>
                </a:solidFill>
                <a:latin typeface="Calibri" pitchFamily="34" charset="0"/>
                <a:ea typeface="Calibri" pitchFamily="34" charset="-122"/>
                <a:cs typeface="Calibri" pitchFamily="34" charset="-120"/>
              </a:rPr>
              <a:t>Natixis 5Y funding at 5.69%</a:t>
            </a:r>
            <a:endParaRPr lang="en-US" sz="850" dirty="0"/>
          </a:p>
        </p:txBody>
      </p:sp>
      <p:graphicFrame>
        <p:nvGraphicFramePr>
          <p:cNvPr id="7" name="Chart 0" descr=""/>
          <p:cNvGraphicFramePr/>
          <p:nvPr/>
        </p:nvGraphicFramePr>
        <p:xfrm>
          <a:off x="429768" y="2103120"/>
          <a:ext cx="1938528" cy="17830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2350008" y="2697480"/>
            <a:ext cx="228600" cy="365760"/>
          </a:xfrm>
          <a:prstGeom prst="rect">
            <a:avLst/>
          </a:prstGeom>
          <a:noFill/>
          <a:ln/>
        </p:spPr>
        <p:txBody>
          <a:bodyPr wrap="square" lIns="0" tIns="0" rIns="0" bIns="0" rtlCol="0" anchor="t"/>
          <a:lstStyle/>
          <a:p>
            <a:pPr algn="ctr" indent="0" marL="0">
              <a:buNone/>
            </a:pPr>
            <a:r>
              <a:rPr lang="en-US" sz="1800" b="1" dirty="0">
                <a:solidFill>
                  <a:srgbClr val="0B3C49"/>
                </a:solidFill>
                <a:latin typeface="Calibri" pitchFamily="34" charset="0"/>
                <a:ea typeface="Calibri" pitchFamily="34" charset="-122"/>
                <a:cs typeface="Calibri" pitchFamily="34" charset="-120"/>
              </a:rPr>
              <a:t>+</a:t>
            </a:r>
            <a:endParaRPr lang="en-US" sz="1800" dirty="0"/>
          </a:p>
        </p:txBody>
      </p:sp>
      <p:sp>
        <p:nvSpPr>
          <p:cNvPr id="9" name="Shape 6"/>
          <p:cNvSpPr/>
          <p:nvPr/>
        </p:nvSpPr>
        <p:spPr>
          <a:xfrm>
            <a:off x="2542032" y="1188720"/>
            <a:ext cx="1993392" cy="2788920"/>
          </a:xfrm>
          <a:prstGeom prst="roundRect">
            <a:avLst>
              <a:gd name="adj" fmla="val 3211"/>
            </a:avLst>
          </a:prstGeom>
          <a:solidFill>
            <a:srgbClr val="E6F2F0"/>
          </a:solidFill>
          <a:ln w="12700">
            <a:solidFill>
              <a:srgbClr val="E6F2F0"/>
            </a:solidFill>
            <a:prstDash val="solid"/>
          </a:ln>
        </p:spPr>
      </p:sp>
      <p:sp>
        <p:nvSpPr>
          <p:cNvPr id="10" name="Text 7"/>
          <p:cNvSpPr txBox="1"/>
          <p:nvPr/>
        </p:nvSpPr>
        <p:spPr>
          <a:xfrm>
            <a:off x="2651760" y="1261872"/>
            <a:ext cx="1783080" cy="274320"/>
          </a:xfrm>
          <a:prstGeom prst="rect">
            <a:avLst/>
          </a:prstGeom>
          <a:noFill/>
          <a:ln/>
        </p:spPr>
        <p:txBody>
          <a:bodyPr wrap="square" lIns="0" tIns="0" rIns="0" bIns="0" rtlCol="0" anchor="t"/>
          <a:lstStyle/>
          <a:p>
            <a:pPr indent="0" marL="0">
              <a:buNone/>
            </a:pPr>
            <a:r>
              <a:rPr lang="en-US" sz="1150" b="1" dirty="0">
                <a:solidFill>
                  <a:srgbClr val="0B3C49"/>
                </a:solidFill>
                <a:latin typeface="Calibri" pitchFamily="34" charset="0"/>
                <a:ea typeface="Calibri" pitchFamily="34" charset="-122"/>
                <a:cs typeface="Calibri" pitchFamily="34" charset="-120"/>
              </a:rPr>
              <a:t>Long autocall digitals</a:t>
            </a:r>
            <a:endParaRPr lang="en-US" sz="1150" dirty="0"/>
          </a:p>
        </p:txBody>
      </p:sp>
      <p:sp>
        <p:nvSpPr>
          <p:cNvPr id="11" name="Text 8"/>
          <p:cNvSpPr txBox="1"/>
          <p:nvPr/>
        </p:nvSpPr>
        <p:spPr>
          <a:xfrm>
            <a:off x="2651760" y="1536192"/>
            <a:ext cx="1783080" cy="548640"/>
          </a:xfrm>
          <a:prstGeom prst="rect">
            <a:avLst/>
          </a:prstGeom>
          <a:noFill/>
          <a:ln/>
        </p:spPr>
        <p:txBody>
          <a:bodyPr wrap="square" lIns="0" tIns="0" rIns="0" bIns="0" rtlCol="0" anchor="t"/>
          <a:lstStyle/>
          <a:p>
            <a:pPr indent="0" marL="0">
              <a:buNone/>
            </a:pPr>
            <a:r>
              <a:rPr lang="en-US" sz="850" dirty="0">
                <a:solidFill>
                  <a:srgbClr val="5F7176"/>
                </a:solidFill>
                <a:latin typeface="Calibri" pitchFamily="34" charset="0"/>
                <a:ea typeface="Calibri" pitchFamily="34" charset="-122"/>
                <a:cs typeface="Calibri" pitchFamily="34" charset="-120"/>
              </a:rPr>
              <a:t>Pay 9% × years the first time the basket ≥ 100% on a review date</a:t>
            </a:r>
            <a:endParaRPr lang="en-US" sz="850" dirty="0"/>
          </a:p>
        </p:txBody>
      </p:sp>
      <p:graphicFrame>
        <p:nvGraphicFramePr>
          <p:cNvPr id="12" name="Chart 1" descr=""/>
          <p:cNvGraphicFramePr/>
          <p:nvPr/>
        </p:nvGraphicFramePr>
        <p:xfrm>
          <a:off x="2560320" y="2103120"/>
          <a:ext cx="1938528" cy="178308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4480560" y="2697480"/>
            <a:ext cx="228600" cy="365760"/>
          </a:xfrm>
          <a:prstGeom prst="rect">
            <a:avLst/>
          </a:prstGeom>
          <a:noFill/>
          <a:ln/>
        </p:spPr>
        <p:txBody>
          <a:bodyPr wrap="square" lIns="0" tIns="0" rIns="0" bIns="0" rtlCol="0" anchor="t"/>
          <a:lstStyle/>
          <a:p>
            <a:pPr algn="ctr" indent="0" marL="0">
              <a:buNone/>
            </a:pPr>
            <a:r>
              <a:rPr lang="en-US" sz="1800" b="1" dirty="0">
                <a:solidFill>
                  <a:srgbClr val="0B3C49"/>
                </a:solidFill>
                <a:latin typeface="Calibri" pitchFamily="34" charset="0"/>
                <a:ea typeface="Calibri" pitchFamily="34" charset="-122"/>
                <a:cs typeface="Calibri" pitchFamily="34" charset="-120"/>
              </a:rPr>
              <a:t>+</a:t>
            </a:r>
            <a:endParaRPr lang="en-US" sz="1800" dirty="0"/>
          </a:p>
        </p:txBody>
      </p:sp>
      <p:sp>
        <p:nvSpPr>
          <p:cNvPr id="14" name="Shape 10"/>
          <p:cNvSpPr/>
          <p:nvPr/>
        </p:nvSpPr>
        <p:spPr>
          <a:xfrm>
            <a:off x="4672584" y="1188720"/>
            <a:ext cx="1993392" cy="2788920"/>
          </a:xfrm>
          <a:prstGeom prst="roundRect">
            <a:avLst>
              <a:gd name="adj" fmla="val 3211"/>
            </a:avLst>
          </a:prstGeom>
          <a:solidFill>
            <a:srgbClr val="E6F2F0"/>
          </a:solidFill>
          <a:ln w="12700">
            <a:solidFill>
              <a:srgbClr val="E6F2F0"/>
            </a:solidFill>
            <a:prstDash val="solid"/>
          </a:ln>
        </p:spPr>
      </p:sp>
      <p:sp>
        <p:nvSpPr>
          <p:cNvPr id="15" name="Text 11"/>
          <p:cNvSpPr txBox="1"/>
          <p:nvPr/>
        </p:nvSpPr>
        <p:spPr>
          <a:xfrm>
            <a:off x="4782312" y="1261872"/>
            <a:ext cx="1783080" cy="274320"/>
          </a:xfrm>
          <a:prstGeom prst="rect">
            <a:avLst/>
          </a:prstGeom>
          <a:noFill/>
          <a:ln/>
        </p:spPr>
        <p:txBody>
          <a:bodyPr wrap="square" lIns="0" tIns="0" rIns="0" bIns="0" rtlCol="0" anchor="t"/>
          <a:lstStyle/>
          <a:p>
            <a:pPr indent="0" marL="0">
              <a:buNone/>
            </a:pPr>
            <a:r>
              <a:rPr lang="en-US" sz="1150" b="1" dirty="0">
                <a:solidFill>
                  <a:srgbClr val="B8433A"/>
                </a:solidFill>
                <a:latin typeface="Calibri" pitchFamily="34" charset="0"/>
                <a:ea typeface="Calibri" pitchFamily="34" charset="-122"/>
                <a:cs typeface="Calibri" pitchFamily="34" charset="-120"/>
              </a:rPr>
              <a:t>Short European put</a:t>
            </a:r>
            <a:endParaRPr lang="en-US" sz="1150" dirty="0"/>
          </a:p>
        </p:txBody>
      </p:sp>
      <p:sp>
        <p:nvSpPr>
          <p:cNvPr id="16" name="Text 12"/>
          <p:cNvSpPr txBox="1"/>
          <p:nvPr/>
        </p:nvSpPr>
        <p:spPr>
          <a:xfrm>
            <a:off x="4782312" y="1536192"/>
            <a:ext cx="1783080" cy="548640"/>
          </a:xfrm>
          <a:prstGeom prst="rect">
            <a:avLst/>
          </a:prstGeom>
          <a:noFill/>
          <a:ln/>
        </p:spPr>
        <p:txBody>
          <a:bodyPr wrap="square" lIns="0" tIns="0" rIns="0" bIns="0" rtlCol="0" anchor="t"/>
          <a:lstStyle/>
          <a:p>
            <a:pPr indent="0" marL="0">
              <a:buNone/>
            </a:pPr>
            <a:r>
              <a:rPr lang="en-US" sz="850" dirty="0">
                <a:solidFill>
                  <a:srgbClr val="5F7176"/>
                </a:solidFill>
                <a:latin typeface="Calibri" pitchFamily="34" charset="0"/>
                <a:ea typeface="Calibri" pitchFamily="34" charset="-122"/>
                <a:cs typeface="Calibri" pitchFamily="34" charset="-120"/>
              </a:rPr>
              <a:t>Strike 65%, killed if the note autocalls: the client takes losses below 65%</a:t>
            </a:r>
            <a:endParaRPr lang="en-US" sz="850" dirty="0"/>
          </a:p>
        </p:txBody>
      </p:sp>
      <p:graphicFrame>
        <p:nvGraphicFramePr>
          <p:cNvPr id="17" name="Chart 2" descr=""/>
          <p:cNvGraphicFramePr/>
          <p:nvPr/>
        </p:nvGraphicFramePr>
        <p:xfrm>
          <a:off x="4690872" y="2103120"/>
          <a:ext cx="1938528" cy="1783080"/>
        </p:xfrm>
        <a:graphic xmlns:a="http://schemas.openxmlformats.org/drawingml/2006/main">
          <a:graphicData uri="http://schemas.openxmlformats.org/drawingml/2006/chart">
            <c:chart xmlns:c="http://schemas.openxmlformats.org/drawingml/2006/chart" r:id="rId3"/>
          </a:graphicData>
        </a:graphic>
      </p:graphicFrame>
      <p:sp>
        <p:nvSpPr>
          <p:cNvPr id="18" name="Text 13"/>
          <p:cNvSpPr txBox="1"/>
          <p:nvPr/>
        </p:nvSpPr>
        <p:spPr>
          <a:xfrm>
            <a:off x="6611112" y="2697480"/>
            <a:ext cx="228600" cy="365760"/>
          </a:xfrm>
          <a:prstGeom prst="rect">
            <a:avLst/>
          </a:prstGeom>
          <a:noFill/>
          <a:ln/>
        </p:spPr>
        <p:txBody>
          <a:bodyPr wrap="square" lIns="0" tIns="0" rIns="0" bIns="0" rtlCol="0" anchor="t"/>
          <a:lstStyle/>
          <a:p>
            <a:pPr algn="ctr" indent="0" marL="0">
              <a:buNone/>
            </a:pPr>
            <a:r>
              <a:rPr lang="en-US" sz="1800" b="1" dirty="0">
                <a:solidFill>
                  <a:srgbClr val="0B3C49"/>
                </a:solidFill>
                <a:latin typeface="Calibri" pitchFamily="34" charset="0"/>
                <a:ea typeface="Calibri" pitchFamily="34" charset="-122"/>
                <a:cs typeface="Calibri" pitchFamily="34" charset="-120"/>
              </a:rPr>
              <a:t>+</a:t>
            </a:r>
            <a:endParaRPr lang="en-US" sz="1800" dirty="0"/>
          </a:p>
        </p:txBody>
      </p:sp>
      <p:sp>
        <p:nvSpPr>
          <p:cNvPr id="19" name="Shape 14"/>
          <p:cNvSpPr/>
          <p:nvPr/>
        </p:nvSpPr>
        <p:spPr>
          <a:xfrm>
            <a:off x="6803136" y="1188720"/>
            <a:ext cx="1993392" cy="2788920"/>
          </a:xfrm>
          <a:prstGeom prst="roundRect">
            <a:avLst>
              <a:gd name="adj" fmla="val 3211"/>
            </a:avLst>
          </a:prstGeom>
          <a:solidFill>
            <a:srgbClr val="E6F2F0"/>
          </a:solidFill>
          <a:ln w="12700">
            <a:solidFill>
              <a:srgbClr val="E6F2F0"/>
            </a:solidFill>
            <a:prstDash val="solid"/>
          </a:ln>
        </p:spPr>
      </p:sp>
      <p:sp>
        <p:nvSpPr>
          <p:cNvPr id="20" name="Text 15"/>
          <p:cNvSpPr txBox="1"/>
          <p:nvPr/>
        </p:nvSpPr>
        <p:spPr>
          <a:xfrm>
            <a:off x="6912864" y="1261872"/>
            <a:ext cx="1783080" cy="274320"/>
          </a:xfrm>
          <a:prstGeom prst="rect">
            <a:avLst/>
          </a:prstGeom>
          <a:noFill/>
          <a:ln/>
        </p:spPr>
        <p:txBody>
          <a:bodyPr wrap="square" lIns="0" tIns="0" rIns="0" bIns="0" rtlCol="0" anchor="t"/>
          <a:lstStyle/>
          <a:p>
            <a:pPr indent="0" marL="0">
              <a:buNone/>
            </a:pPr>
            <a:r>
              <a:rPr lang="en-US" sz="1150" b="1" dirty="0">
                <a:solidFill>
                  <a:srgbClr val="B8433A"/>
                </a:solidFill>
                <a:latin typeface="Calibri" pitchFamily="34" charset="0"/>
                <a:ea typeface="Calibri" pitchFamily="34" charset="-122"/>
                <a:cs typeface="Calibri" pitchFamily="34" charset="-120"/>
              </a:rPr>
              <a:t>Short digital put</a:t>
            </a:r>
            <a:endParaRPr lang="en-US" sz="1150" dirty="0"/>
          </a:p>
        </p:txBody>
      </p:sp>
      <p:sp>
        <p:nvSpPr>
          <p:cNvPr id="21" name="Text 16"/>
          <p:cNvSpPr txBox="1"/>
          <p:nvPr/>
        </p:nvSpPr>
        <p:spPr>
          <a:xfrm>
            <a:off x="6912864" y="1536192"/>
            <a:ext cx="1783080" cy="548640"/>
          </a:xfrm>
          <a:prstGeom prst="rect">
            <a:avLst/>
          </a:prstGeom>
          <a:noFill/>
          <a:ln/>
        </p:spPr>
        <p:txBody>
          <a:bodyPr wrap="square" lIns="0" tIns="0" rIns="0" bIns="0" rtlCol="0" anchor="t"/>
          <a:lstStyle/>
          <a:p>
            <a:pPr indent="0" marL="0">
              <a:buNone/>
            </a:pPr>
            <a:r>
              <a:rPr lang="en-US" sz="850" dirty="0">
                <a:solidFill>
                  <a:srgbClr val="5F7176"/>
                </a:solidFill>
                <a:latin typeface="Calibri" pitchFamily="34" charset="0"/>
                <a:ea typeface="Calibri" pitchFamily="34" charset="-122"/>
                <a:cs typeface="Calibri" pitchFamily="34" charset="-120"/>
              </a:rPr>
              <a:t>Pays 35% if final &lt; 65%: the jump from 100% to 65% at the barrier</a:t>
            </a:r>
            <a:endParaRPr lang="en-US" sz="850" dirty="0"/>
          </a:p>
        </p:txBody>
      </p:sp>
      <p:graphicFrame>
        <p:nvGraphicFramePr>
          <p:cNvPr id="22" name="Chart 3" descr=""/>
          <p:cNvGraphicFramePr/>
          <p:nvPr/>
        </p:nvGraphicFramePr>
        <p:xfrm>
          <a:off x="6821424" y="2103120"/>
          <a:ext cx="1938528" cy="1783080"/>
        </p:xfrm>
        <a:graphic xmlns:a="http://schemas.openxmlformats.org/drawingml/2006/main">
          <a:graphicData uri="http://schemas.openxmlformats.org/drawingml/2006/chart">
            <c:chart xmlns:c="http://schemas.openxmlformats.org/drawingml/2006/chart" r:id="rId4"/>
          </a:graphicData>
        </a:graphic>
      </p:graphicFrame>
      <p:sp>
        <p:nvSpPr>
          <p:cNvPr id="23" name="Shape 17"/>
          <p:cNvSpPr/>
          <p:nvPr/>
        </p:nvSpPr>
        <p:spPr>
          <a:xfrm>
            <a:off x="411480" y="4069080"/>
            <a:ext cx="8321040" cy="640080"/>
          </a:xfrm>
          <a:prstGeom prst="roundRect">
            <a:avLst>
              <a:gd name="adj" fmla="val 10000"/>
            </a:avLst>
          </a:prstGeom>
          <a:solidFill>
            <a:srgbClr val="0B3C49"/>
          </a:solidFill>
          <a:ln w="12700">
            <a:solidFill>
              <a:srgbClr val="0B3C49"/>
            </a:solidFill>
            <a:prstDash val="solid"/>
          </a:ln>
        </p:spPr>
      </p:sp>
      <p:sp>
        <p:nvSpPr>
          <p:cNvPr id="24" name="Text 18"/>
          <p:cNvSpPr txBox="1"/>
          <p:nvPr/>
        </p:nvSpPr>
        <p:spPr>
          <a:xfrm>
            <a:off x="548640" y="4133088"/>
            <a:ext cx="8046720" cy="548640"/>
          </a:xfrm>
          <a:prstGeom prst="rect">
            <a:avLst/>
          </a:prstGeom>
          <a:noFill/>
          <a:ln/>
        </p:spPr>
        <p:txBody>
          <a:bodyPr wrap="square" lIns="0" tIns="0" rIns="0" bIns="0" rtlCol="0" anchor="ctr"/>
          <a:lstStyle/>
          <a:p>
            <a:pPr indent="0" marL="0">
              <a:buNone/>
            </a:pPr>
            <a:r>
              <a:rPr lang="en-US" sz="1000" b="1" dirty="0">
                <a:solidFill>
                  <a:srgbClr val="D9961A"/>
                </a:solidFill>
                <a:latin typeface="Calibri" pitchFamily="34" charset="0"/>
                <a:ea typeface="Calibri" pitchFamily="34" charset="-122"/>
                <a:cs typeface="Calibri" pitchFamily="34" charset="-120"/>
              </a:rPr>
              <a:t>Payoff at Y5 = bond + digitals − put − digital put.  </a:t>
            </a:r>
            <a:pPr indent="0" marL="0">
              <a:buNone/>
            </a:pPr>
            <a:r>
              <a:rPr lang="en-US" sz="1000" dirty="0">
                <a:solidFill>
                  <a:srgbClr val="FFFFFF"/>
                </a:solidFill>
                <a:latin typeface="Calibri" pitchFamily="34" charset="0"/>
                <a:ea typeface="Calibri" pitchFamily="34" charset="-122"/>
                <a:cs typeface="Calibri" pitchFamily="34" charset="-120"/>
              </a:rPr>
              <a:t>Fair value 97.3% vs 100% issue price → 2.7% for hedging costs and Natixis margin. The premium the client earns by selling the 65% downside (the two red legs) is what funds the 9% snowball coupon.</a:t>
            </a:r>
            <a:endParaRPr lang="en-US" sz="1000" dirty="0"/>
          </a:p>
        </p:txBody>
      </p:sp>
      <p:sp>
        <p:nvSpPr>
          <p:cNvPr id="25" name="Text 19"/>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Scenario analysis: five paths for Asian markets</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Hypothetical quarterly basket paths and what the USD 100mn note returns in each</a:t>
            </a:r>
            <a:endParaRPr lang="en-US" sz="1250" dirty="0"/>
          </a:p>
        </p:txBody>
      </p:sp>
      <p:graphicFrame>
        <p:nvGraphicFramePr>
          <p:cNvPr id="4" name="Chart 0" descr=""/>
          <p:cNvGraphicFramePr/>
          <p:nvPr/>
        </p:nvGraphicFramePr>
        <p:xfrm>
          <a:off x="320040" y="1097280"/>
          <a:ext cx="420624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663440" y="1188720"/>
          <a:ext cx="4069080" cy="914400"/>
        </p:xfrm>
        <a:graphic>
          <a:graphicData uri="http://schemas.openxmlformats.org/drawingml/2006/table">
            <a:tbl>
              <a:tblPr/>
              <a:tblGrid>
                <a:gridCol w="1417320"/>
                <a:gridCol w="960120"/>
                <a:gridCol w="594360"/>
                <a:gridCol w="548640"/>
                <a:gridCol w="548640"/>
              </a:tblGrid>
              <a:tr h="384048">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Scenario</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Outcome</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Payout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USD mn</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IRR</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384048">
                <a:tc>
                  <a:txBody>
                    <a:bodyPr/>
                    <a:lstStyle/>
                    <a:p>
                      <a:pPr indent="0" marL="0">
                        <a:buNone/>
                      </a:pPr>
                      <a:r>
                        <a:rPr lang="en-US" sz="850" b="1" dirty="0">
                          <a:solidFill>
                            <a:srgbClr val="0F8B8D"/>
                          </a:solidFill>
                          <a:latin typeface="Calibri" pitchFamily="34" charset="0"/>
                          <a:ea typeface="Calibri" pitchFamily="34" charset="-122"/>
                          <a:cs typeface="Calibri" pitchFamily="34" charset="-120"/>
                        </a:rPr>
                        <a:t>AI capex boom</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Called Q4 (1y)</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109.0%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109.0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9.0%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D9961A"/>
                          </a:solidFill>
                          <a:latin typeface="Calibri" pitchFamily="34" charset="0"/>
                          <a:ea typeface="Calibri" pitchFamily="34" charset="-122"/>
                          <a:cs typeface="Calibri" pitchFamily="34" charset="-120"/>
                        </a:rPr>
                        <a:t>Range-bound Asia</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Called Q6 (1.5y)</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113.5%</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113.5</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8.8%</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2022-style tech drawdown, slow recovery</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Called Q15 (3.75y)</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133.8%</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133.8</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8.1%</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5F7176"/>
                          </a:solidFill>
                          <a:latin typeface="Calibri" pitchFamily="34" charset="0"/>
                          <a:ea typeface="Calibri" pitchFamily="34" charset="-122"/>
                          <a:cs typeface="Calibri" pitchFamily="34" charset="-120"/>
                        </a:rPr>
                        <a:t>Lost decade (sideways below par)</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Par at Y5</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0.0%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B8433A"/>
                          </a:solidFill>
                          <a:latin typeface="Calibri" pitchFamily="34" charset="0"/>
                          <a:ea typeface="Calibri" pitchFamily="34" charset="-122"/>
                          <a:cs typeface="Calibri" pitchFamily="34" charset="-120"/>
                        </a:rPr>
                        <a:t>Geopolitical shock, no recovery</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Barrier hit at Y5</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55.0%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55.0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-11.3%</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6" name="Shape 2"/>
          <p:cNvSpPr/>
          <p:nvPr/>
        </p:nvSpPr>
        <p:spPr>
          <a:xfrm>
            <a:off x="4663440" y="3611880"/>
            <a:ext cx="4069080" cy="1051560"/>
          </a:xfrm>
          <a:prstGeom prst="roundRect">
            <a:avLst>
              <a:gd name="adj" fmla="val 6087"/>
            </a:avLst>
          </a:prstGeom>
          <a:solidFill>
            <a:srgbClr val="E6F2F0"/>
          </a:solidFill>
          <a:ln w="12700">
            <a:solidFill>
              <a:srgbClr val="E6F2F0"/>
            </a:solidFill>
            <a:prstDash val="solid"/>
          </a:ln>
        </p:spPr>
      </p:sp>
      <p:sp>
        <p:nvSpPr>
          <p:cNvPr id="7" name="Text 3"/>
          <p:cNvSpPr txBox="1"/>
          <p:nvPr/>
        </p:nvSpPr>
        <p:spPr>
          <a:xfrm>
            <a:off x="4800600" y="3685032"/>
            <a:ext cx="3840480" cy="914400"/>
          </a:xfrm>
          <a:prstGeom prst="rect">
            <a:avLst/>
          </a:prstGeom>
          <a:noFill/>
          <a:ln/>
        </p:spPr>
        <p:txBody>
          <a:bodyPr wrap="square" lIns="0" tIns="0" rIns="0" bIns="0" rtlCol="0" anchor="t"/>
          <a:lstStyle/>
          <a:p>
            <a:pPr indent="0" marL="0">
              <a:buNone/>
            </a:pPr>
            <a:r>
              <a:rPr lang="en-US" sz="950" b="1" dirty="0">
                <a:solidFill>
                  <a:srgbClr val="0F8B8D"/>
                </a:solidFill>
                <a:latin typeface="Calibri" pitchFamily="34" charset="0"/>
                <a:ea typeface="Calibri" pitchFamily="34" charset="-122"/>
                <a:cs typeface="Calibri" pitchFamily="34" charset="-120"/>
              </a:rPr>
              <a:t>Reading: </a:t>
            </a:r>
            <a:pPr indent="0" marL="0">
              <a:buNone/>
            </a:pPr>
            <a:r>
              <a:rPr lang="en-US" sz="950" dirty="0">
                <a:solidFill>
                  <a:srgbClr val="1D2B30"/>
                </a:solidFill>
                <a:latin typeface="Calibri" pitchFamily="34" charset="0"/>
                <a:ea typeface="Calibri" pitchFamily="34" charset="-122"/>
                <a:cs typeface="Calibri" pitchFamily="34" charset="-120"/>
              </a:rPr>
              <a:t>the note earns ~8–9% p.a. in up, flat and recovering markets, including a 30% interim drawdown, because only the final level is tested against the barrier. It returns par in a lost decade, and loses like the basket only if Asia ends 5 years down by more than 35%.</a:t>
            </a:r>
            <a:endParaRPr lang="en-US" sz="950" dirty="0"/>
          </a:p>
        </p:txBody>
      </p:sp>
      <p:sp>
        <p:nvSpPr>
          <p:cNvPr id="8" name="Text 4"/>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Paths are illustrative and not forecasts. Historical rolling-window back-test to be run on Bloomberg index history (method in appendix).</a:t>
            </a:r>
            <a:endParaRPr lang="en-US" sz="800" dirty="0"/>
          </a:p>
        </p:txBody>
      </p:sp>
      <p:sp>
        <p:nvSpPr>
          <p:cNvPr id="9" name="Text 5"/>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Simulation back-test: most paths end early, at a profit</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Monte Carlo outcome distribution: risk-neutral and under three real-world equity return assumptions</a:t>
            </a:r>
            <a:endParaRPr lang="en-US" sz="1250" dirty="0"/>
          </a:p>
        </p:txBody>
      </p:sp>
      <p:graphicFrame>
        <p:nvGraphicFramePr>
          <p:cNvPr id="4" name="Chart 0" descr=""/>
          <p:cNvGraphicFramePr/>
          <p:nvPr/>
        </p:nvGraphicFramePr>
        <p:xfrm>
          <a:off x="320040" y="1097280"/>
          <a:ext cx="356616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069080" y="1143000"/>
          <a:ext cx="4663440" cy="914400"/>
        </p:xfrm>
        <a:graphic>
          <a:graphicData uri="http://schemas.openxmlformats.org/drawingml/2006/table">
            <a:tbl>
              <a:tblPr/>
              <a:tblGrid>
                <a:gridCol w="1298448"/>
                <a:gridCol w="841248"/>
                <a:gridCol w="841248"/>
                <a:gridCol w="841248"/>
                <a:gridCol w="841248"/>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Risk-neutral</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0% equity p.a.</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4% equity p.a.</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8% equity p.a.</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Called within 5Y</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83%</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69%</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89%</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Expected life (yrs)</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Mean IRR</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7.4%</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Par, no coupon</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Capital loss</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7.7%</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19.6%</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9.9%</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Avg loss if loss</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50%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48%</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46%</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ES 95% (loss)</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51%</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63%</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55%</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36%</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 y="3611880"/>
            <a:ext cx="2606040" cy="1005840"/>
          </a:xfrm>
          <a:prstGeom prst="roundRect">
            <a:avLst>
              <a:gd name="adj" fmla="val 6364"/>
            </a:avLst>
          </a:prstGeom>
          <a:solidFill>
            <a:srgbClr val="E6F2F0"/>
          </a:solidFill>
          <a:ln w="12700">
            <a:solidFill>
              <a:srgbClr val="E6F2F0"/>
            </a:solidFill>
            <a:prstDash val="solid"/>
          </a:ln>
        </p:spPr>
      </p:sp>
      <p:sp>
        <p:nvSpPr>
          <p:cNvPr id="7" name="Text 3"/>
          <p:cNvSpPr txBox="1"/>
          <p:nvPr/>
        </p:nvSpPr>
        <p:spPr>
          <a:xfrm>
            <a:off x="548640" y="3675888"/>
            <a:ext cx="1051560" cy="868680"/>
          </a:xfrm>
          <a:prstGeom prst="rect">
            <a:avLst/>
          </a:prstGeom>
          <a:noFill/>
          <a:ln/>
        </p:spPr>
        <p:txBody>
          <a:bodyPr wrap="square" lIns="0" tIns="0" rIns="0" bIns="0" rtlCol="0" anchor="ctr"/>
          <a:lstStyle/>
          <a:p>
            <a:pPr indent="0" marL="0">
              <a:buNone/>
            </a:pPr>
            <a:r>
              <a:rPr lang="en-US" sz="2400" b="1" dirty="0">
                <a:solidFill>
                  <a:srgbClr val="0F8B8D"/>
                </a:solidFill>
                <a:latin typeface="Cambria" pitchFamily="34" charset="0"/>
                <a:ea typeface="Cambria" pitchFamily="34" charset="-122"/>
                <a:cs typeface="Cambria" pitchFamily="34" charset="-120"/>
              </a:rPr>
              <a:t>51%</a:t>
            </a:r>
            <a:endParaRPr lang="en-US" sz="2400" dirty="0"/>
          </a:p>
        </p:txBody>
      </p:sp>
      <p:sp>
        <p:nvSpPr>
          <p:cNvPr id="8" name="Text 4"/>
          <p:cNvSpPr txBox="1"/>
          <p:nvPr/>
        </p:nvSpPr>
        <p:spPr>
          <a:xfrm>
            <a:off x="1600200" y="3675888"/>
            <a:ext cx="1325880" cy="868680"/>
          </a:xfrm>
          <a:prstGeom prst="rect">
            <a:avLst/>
          </a:prstGeom>
          <a:noFill/>
          <a:ln/>
        </p:spPr>
        <p:txBody>
          <a:bodyPr wrap="square" lIns="0" tIns="0" rIns="0" bIns="0" rtlCol="0" anchor="ctr"/>
          <a:lstStyle/>
          <a:p>
            <a:pPr indent="0" marL="0">
              <a:buNone/>
            </a:pPr>
            <a:r>
              <a:rPr lang="en-US" sz="1000" dirty="0">
                <a:solidFill>
                  <a:srgbClr val="1D2B30"/>
                </a:solidFill>
                <a:latin typeface="Calibri" pitchFamily="34" charset="0"/>
                <a:ea typeface="Calibri" pitchFamily="34" charset="-122"/>
                <a:cs typeface="Calibri" pitchFamily="34" charset="-120"/>
              </a:rPr>
              <a:t>called at the first review (109%)</a:t>
            </a:r>
            <a:endParaRPr lang="en-US" sz="1000" dirty="0"/>
          </a:p>
        </p:txBody>
      </p:sp>
      <p:sp>
        <p:nvSpPr>
          <p:cNvPr id="9" name="Shape 5"/>
          <p:cNvSpPr/>
          <p:nvPr/>
        </p:nvSpPr>
        <p:spPr>
          <a:xfrm>
            <a:off x="3200400" y="3611880"/>
            <a:ext cx="2606040" cy="1005840"/>
          </a:xfrm>
          <a:prstGeom prst="roundRect">
            <a:avLst>
              <a:gd name="adj" fmla="val 6364"/>
            </a:avLst>
          </a:prstGeom>
          <a:solidFill>
            <a:srgbClr val="E6F2F0"/>
          </a:solidFill>
          <a:ln w="12700">
            <a:solidFill>
              <a:srgbClr val="E6F2F0"/>
            </a:solidFill>
            <a:prstDash val="solid"/>
          </a:ln>
        </p:spPr>
      </p:sp>
      <p:sp>
        <p:nvSpPr>
          <p:cNvPr id="10" name="Text 6"/>
          <p:cNvSpPr txBox="1"/>
          <p:nvPr/>
        </p:nvSpPr>
        <p:spPr>
          <a:xfrm>
            <a:off x="3337560" y="3675888"/>
            <a:ext cx="1051560" cy="868680"/>
          </a:xfrm>
          <a:prstGeom prst="rect">
            <a:avLst/>
          </a:prstGeom>
          <a:noFill/>
          <a:ln/>
        </p:spPr>
        <p:txBody>
          <a:bodyPr wrap="square" lIns="0" tIns="0" rIns="0" bIns="0" rtlCol="0" anchor="ctr"/>
          <a:lstStyle/>
          <a:p>
            <a:pPr indent="0" marL="0">
              <a:buNone/>
            </a:pPr>
            <a:r>
              <a:rPr lang="en-US" sz="2400" b="1" dirty="0">
                <a:solidFill>
                  <a:srgbClr val="0F8B8D"/>
                </a:solidFill>
                <a:latin typeface="Cambria" pitchFamily="34" charset="0"/>
                <a:ea typeface="Cambria" pitchFamily="34" charset="-122"/>
                <a:cs typeface="Cambria" pitchFamily="34" charset="-120"/>
              </a:rPr>
              <a:t>92%</a:t>
            </a:r>
            <a:endParaRPr lang="en-US" sz="2400" dirty="0"/>
          </a:p>
        </p:txBody>
      </p:sp>
      <p:sp>
        <p:nvSpPr>
          <p:cNvPr id="11" name="Text 7"/>
          <p:cNvSpPr txBox="1"/>
          <p:nvPr/>
        </p:nvSpPr>
        <p:spPr>
          <a:xfrm>
            <a:off x="4389120" y="3675888"/>
            <a:ext cx="1325880" cy="868680"/>
          </a:xfrm>
          <a:prstGeom prst="rect">
            <a:avLst/>
          </a:prstGeom>
          <a:noFill/>
          <a:ln/>
        </p:spPr>
        <p:txBody>
          <a:bodyPr wrap="square" lIns="0" tIns="0" rIns="0" bIns="0" rtlCol="0" anchor="ctr"/>
          <a:lstStyle/>
          <a:p>
            <a:pPr indent="0" marL="0">
              <a:buNone/>
            </a:pPr>
            <a:r>
              <a:rPr lang="en-US" sz="1000" dirty="0">
                <a:solidFill>
                  <a:srgbClr val="1D2B30"/>
                </a:solidFill>
                <a:latin typeface="Calibri" pitchFamily="34" charset="0"/>
                <a:ea typeface="Calibri" pitchFamily="34" charset="-122"/>
                <a:cs typeface="Calibri" pitchFamily="34" charset="-120"/>
              </a:rPr>
              <a:t>of paths return at least par</a:t>
            </a:r>
            <a:endParaRPr lang="en-US" sz="1000" dirty="0"/>
          </a:p>
        </p:txBody>
      </p:sp>
      <p:sp>
        <p:nvSpPr>
          <p:cNvPr id="12" name="Shape 8"/>
          <p:cNvSpPr/>
          <p:nvPr/>
        </p:nvSpPr>
        <p:spPr>
          <a:xfrm>
            <a:off x="5989320" y="3611880"/>
            <a:ext cx="2606040" cy="1005840"/>
          </a:xfrm>
          <a:prstGeom prst="roundRect">
            <a:avLst>
              <a:gd name="adj" fmla="val 6364"/>
            </a:avLst>
          </a:prstGeom>
          <a:solidFill>
            <a:srgbClr val="0B3C49"/>
          </a:solidFill>
          <a:ln w="12700">
            <a:solidFill>
              <a:srgbClr val="0B3C49"/>
            </a:solidFill>
            <a:prstDash val="solid"/>
          </a:ln>
        </p:spPr>
      </p:sp>
      <p:sp>
        <p:nvSpPr>
          <p:cNvPr id="13" name="Text 9"/>
          <p:cNvSpPr txBox="1"/>
          <p:nvPr/>
        </p:nvSpPr>
        <p:spPr>
          <a:xfrm>
            <a:off x="6126480" y="3675888"/>
            <a:ext cx="1051560" cy="868680"/>
          </a:xfrm>
          <a:prstGeom prst="rect">
            <a:avLst/>
          </a:prstGeom>
          <a:noFill/>
          <a:ln/>
        </p:spPr>
        <p:txBody>
          <a:bodyPr wrap="square" lIns="0" tIns="0" rIns="0" bIns="0" rtlCol="0" anchor="ctr"/>
          <a:lstStyle/>
          <a:p>
            <a:pPr indent="0" marL="0">
              <a:buNone/>
            </a:pPr>
            <a:r>
              <a:rPr lang="en-US" sz="2400" b="1" dirty="0">
                <a:solidFill>
                  <a:srgbClr val="D9961A"/>
                </a:solidFill>
                <a:latin typeface="Cambria" pitchFamily="34" charset="0"/>
                <a:ea typeface="Cambria" pitchFamily="34" charset="-122"/>
                <a:cs typeface="Cambria" pitchFamily="34" charset="-120"/>
              </a:rPr>
              <a:t>3.6%</a:t>
            </a:r>
            <a:endParaRPr lang="en-US" sz="2400" dirty="0"/>
          </a:p>
        </p:txBody>
      </p:sp>
      <p:sp>
        <p:nvSpPr>
          <p:cNvPr id="14" name="Text 10"/>
          <p:cNvSpPr txBox="1"/>
          <p:nvPr/>
        </p:nvSpPr>
        <p:spPr>
          <a:xfrm>
            <a:off x="7178040" y="3675888"/>
            <a:ext cx="1325880" cy="8686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expected capital loss (prob × severity)</a:t>
            </a:r>
            <a:endParaRPr lang="en-US" sz="1000" dirty="0"/>
          </a:p>
        </p:txBody>
      </p:sp>
      <p:sp>
        <p:nvSpPr>
          <p:cNvPr id="15" name="Text 11"/>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Monte Carlo, 200k paths. Vols, dividends and correlations are assumptions to refresh with Bloomberg data as of the 17 Sep 2026 trade date; discounting uses the USD funding grid. ES 95% = average loss in the worst 5% of paths.</a:t>
            </a:r>
            <a:endParaRPr lang="en-US" sz="800" dirty="0"/>
          </a:p>
        </p:txBody>
      </p:sp>
      <p:sp>
        <p:nvSpPr>
          <p:cNvPr id="16" name="Text 12"/>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Risks for the family, and how Natixis hedges its side</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Transparent disclosure plus a desk hedging plan for every Greek</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4937760" cy="914400"/>
        </p:xfrm>
        <a:graphic>
          <a:graphicData uri="http://schemas.openxmlformats.org/drawingml/2006/table">
            <a:tbl>
              <a:tblPr/>
              <a:tblGrid>
                <a:gridCol w="1051560"/>
                <a:gridCol w="1965960"/>
                <a:gridCol w="1920240"/>
              </a:tblGrid>
              <a:tr h="246888">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Risk</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What could happen</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Mitigant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512064">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Market / barrier</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Below 65% at Y5, loss is 1-for-1 from 100%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Diversified basket; maturity-only barrier; 35% buffer</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512064">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Opportunity cost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Called early means reinvestment risk; flat 65–100% means 0% for 5Y</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Snowball pays more the longer it waits; roll-over at call</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Capped upside</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Basket +80% still pays 145% at most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15% of family wealth stays in direct equity</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Issuer credit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Unsecured Natixis / BPCE exposure</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BPCE senior rating; optional collateralised wrapper</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Liquidity</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Bespoke note; secondary price at Natixis bid</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Natixis daily indicative price; 5% of net worth only</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5" name="Shape 2"/>
          <p:cNvSpPr/>
          <p:nvPr/>
        </p:nvSpPr>
        <p:spPr>
          <a:xfrm>
            <a:off x="5532120" y="1143000"/>
            <a:ext cx="3200400" cy="795528"/>
          </a:xfrm>
          <a:prstGeom prst="roundRect">
            <a:avLst>
              <a:gd name="adj" fmla="val 8046"/>
            </a:avLst>
          </a:prstGeom>
          <a:solidFill>
            <a:srgbClr val="F2F7F6"/>
          </a:solidFill>
          <a:ln w="12700">
            <a:solidFill>
              <a:srgbClr val="F2F7F6"/>
            </a:solidFill>
            <a:prstDash val="solid"/>
          </a:ln>
        </p:spPr>
      </p:sp>
      <p:sp>
        <p:nvSpPr>
          <p:cNvPr id="6" name="Text 3"/>
          <p:cNvSpPr txBox="1"/>
          <p:nvPr/>
        </p:nvSpPr>
        <p:spPr>
          <a:xfrm>
            <a:off x="5650992" y="1207008"/>
            <a:ext cx="2971800" cy="228600"/>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Delta / vega</a:t>
            </a:r>
            <a:endParaRPr lang="en-US" sz="1050" dirty="0"/>
          </a:p>
        </p:txBody>
      </p:sp>
      <p:sp>
        <p:nvSpPr>
          <p:cNvPr id="7" name="Text 4"/>
          <p:cNvSpPr txBox="1"/>
          <p:nvPr/>
        </p:nvSpPr>
        <p:spPr>
          <a:xfrm>
            <a:off x="5650992" y="1435608"/>
            <a:ext cx="2971800" cy="475488"/>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Natixis is long the 65% put the client sells (long downside vega). Delta-hedge with HSTECH / NKY / TAIEX futures; sell listed OTM index puts to recycle vega and skew</a:t>
            </a:r>
            <a:endParaRPr lang="en-US" sz="850" dirty="0"/>
          </a:p>
        </p:txBody>
      </p:sp>
      <p:sp>
        <p:nvSpPr>
          <p:cNvPr id="8" name="Shape 5"/>
          <p:cNvSpPr/>
          <p:nvPr/>
        </p:nvSpPr>
        <p:spPr>
          <a:xfrm>
            <a:off x="5532120" y="2029968"/>
            <a:ext cx="3200400" cy="795528"/>
          </a:xfrm>
          <a:prstGeom prst="roundRect">
            <a:avLst>
              <a:gd name="adj" fmla="val 8046"/>
            </a:avLst>
          </a:prstGeom>
          <a:solidFill>
            <a:srgbClr val="E6F2F0"/>
          </a:solidFill>
          <a:ln w="12700">
            <a:solidFill>
              <a:srgbClr val="E6F2F0"/>
            </a:solidFill>
            <a:prstDash val="solid"/>
          </a:ln>
        </p:spPr>
      </p:sp>
      <p:sp>
        <p:nvSpPr>
          <p:cNvPr id="9" name="Text 6"/>
          <p:cNvSpPr txBox="1"/>
          <p:nvPr/>
        </p:nvSpPr>
        <p:spPr>
          <a:xfrm>
            <a:off x="5650992" y="2093976"/>
            <a:ext cx="2971800" cy="228600"/>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Correlation</a:t>
            </a:r>
            <a:endParaRPr lang="en-US" sz="1050" dirty="0"/>
          </a:p>
        </p:txBody>
      </p:sp>
      <p:sp>
        <p:nvSpPr>
          <p:cNvPr id="10" name="Text 7"/>
          <p:cNvSpPr txBox="1"/>
          <p:nvPr/>
        </p:nvSpPr>
        <p:spPr>
          <a:xfrm>
            <a:off x="5650992" y="2322576"/>
            <a:ext cx="2971800" cy="475488"/>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Long a basket put means long correlation. Offset by buying worst-of puts or a dispersion trade (short basket vol, long single-index vol)</a:t>
            </a:r>
            <a:endParaRPr lang="en-US" sz="850" dirty="0"/>
          </a:p>
        </p:txBody>
      </p:sp>
      <p:sp>
        <p:nvSpPr>
          <p:cNvPr id="11" name="Shape 8"/>
          <p:cNvSpPr/>
          <p:nvPr/>
        </p:nvSpPr>
        <p:spPr>
          <a:xfrm>
            <a:off x="5532120" y="2916936"/>
            <a:ext cx="3200400" cy="795528"/>
          </a:xfrm>
          <a:prstGeom prst="roundRect">
            <a:avLst>
              <a:gd name="adj" fmla="val 8046"/>
            </a:avLst>
          </a:prstGeom>
          <a:solidFill>
            <a:srgbClr val="F2F7F6"/>
          </a:solidFill>
          <a:ln w="12700">
            <a:solidFill>
              <a:srgbClr val="F2F7F6"/>
            </a:solidFill>
            <a:prstDash val="solid"/>
          </a:ln>
        </p:spPr>
      </p:sp>
      <p:sp>
        <p:nvSpPr>
          <p:cNvPr id="12" name="Text 9"/>
          <p:cNvSpPr txBox="1"/>
          <p:nvPr/>
        </p:nvSpPr>
        <p:spPr>
          <a:xfrm>
            <a:off x="5650992" y="2980944"/>
            <a:ext cx="2971800" cy="228600"/>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Quanto FX</a:t>
            </a:r>
            <a:endParaRPr lang="en-US" sz="1050" dirty="0"/>
          </a:p>
        </p:txBody>
      </p:sp>
      <p:sp>
        <p:nvSpPr>
          <p:cNvPr id="13" name="Text 10"/>
          <p:cNvSpPr txBox="1"/>
          <p:nvPr/>
        </p:nvSpPr>
        <p:spPr>
          <a:xfrm>
            <a:off x="5650992" y="3209544"/>
            <a:ext cx="2971800" cy="475488"/>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USD payout on JPY/HKD/TWD indices: FX forwards and quanto adjustment in price (FX-equity correlation)</a:t>
            </a:r>
            <a:endParaRPr lang="en-US" sz="850" dirty="0"/>
          </a:p>
        </p:txBody>
      </p:sp>
      <p:sp>
        <p:nvSpPr>
          <p:cNvPr id="14" name="Shape 11"/>
          <p:cNvSpPr/>
          <p:nvPr/>
        </p:nvSpPr>
        <p:spPr>
          <a:xfrm>
            <a:off x="5532120" y="3803904"/>
            <a:ext cx="3200400" cy="795528"/>
          </a:xfrm>
          <a:prstGeom prst="roundRect">
            <a:avLst>
              <a:gd name="adj" fmla="val 8046"/>
            </a:avLst>
          </a:prstGeom>
          <a:solidFill>
            <a:srgbClr val="E6F2F0"/>
          </a:solidFill>
          <a:ln w="12700">
            <a:solidFill>
              <a:srgbClr val="E6F2F0"/>
            </a:solidFill>
            <a:prstDash val="solid"/>
          </a:ln>
        </p:spPr>
      </p:sp>
      <p:sp>
        <p:nvSpPr>
          <p:cNvPr id="15" name="Text 12"/>
          <p:cNvSpPr txBox="1"/>
          <p:nvPr/>
        </p:nvSpPr>
        <p:spPr>
          <a:xfrm>
            <a:off x="5650992" y="3867912"/>
            <a:ext cx="2971800" cy="228600"/>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Rates &amp; funding</a:t>
            </a:r>
            <a:endParaRPr lang="en-US" sz="1050" dirty="0"/>
          </a:p>
        </p:txBody>
      </p:sp>
      <p:sp>
        <p:nvSpPr>
          <p:cNvPr id="16" name="Text 13"/>
          <p:cNvSpPr txBox="1"/>
          <p:nvPr/>
        </p:nvSpPr>
        <p:spPr>
          <a:xfrm>
            <a:off x="5650992" y="4096512"/>
            <a:ext cx="2971800" cy="475488"/>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Fixed snowball accrual hedged with USD swaps; proceeds fund the 5.69% ZCB</a:t>
            </a:r>
            <a:endParaRPr lang="en-US" sz="850" dirty="0"/>
          </a:p>
        </p:txBody>
      </p:sp>
      <p:sp>
        <p:nvSpPr>
          <p:cNvPr id="17" name="Text 14"/>
          <p:cNvSpPr txBox="1"/>
          <p:nvPr/>
        </p:nvSpPr>
        <p:spPr>
          <a:xfrm>
            <a:off x="411480" y="4069080"/>
            <a:ext cx="4937760" cy="640080"/>
          </a:xfrm>
          <a:prstGeom prst="rect">
            <a:avLst/>
          </a:prstGeom>
          <a:noFill/>
          <a:ln/>
        </p:spPr>
        <p:txBody>
          <a:bodyPr wrap="square" lIns="0" tIns="0" rIns="0" bIns="0" rtlCol="0" anchor="t"/>
          <a:lstStyle/>
          <a:p>
            <a:pPr indent="0" marL="0">
              <a:buNone/>
            </a:pPr>
            <a:r>
              <a:rPr lang="en-US" sz="900" b="1" dirty="0">
                <a:solidFill>
                  <a:srgbClr val="0B3C49"/>
                </a:solidFill>
                <a:latin typeface="Calibri" pitchFamily="34" charset="0"/>
                <a:ea typeface="Calibri" pitchFamily="34" charset="-122"/>
                <a:cs typeface="Calibri" pitchFamily="34" charset="-120"/>
              </a:rPr>
              <a:t>Pricing sensitivity (fair coupon): </a:t>
            </a:r>
            <a:pPr indent="0" marL="0">
              <a:buNone/>
            </a:pPr>
            <a:r>
              <a:rPr lang="en-US" sz="900" dirty="0">
                <a:solidFill>
                  <a:srgbClr val="1D2B30"/>
                </a:solidFill>
                <a:latin typeface="Calibri" pitchFamily="34" charset="0"/>
                <a:ea typeface="Calibri" pitchFamily="34" charset="-122"/>
                <a:cs typeface="Calibri" pitchFamily="34" charset="-120"/>
              </a:rPr>
              <a:t>base 9.7% · vol ±3pts 8.5%–11.0% · corr ±0.15 8.8%–10.4%. 9.0% is fundable unless vols fall ~3pts before trade date.</a:t>
            </a:r>
            <a:endParaRPr lang="en-US" sz="900" dirty="0"/>
          </a:p>
        </p:txBody>
      </p:sp>
      <p:sp>
        <p:nvSpPr>
          <p:cNvPr id="18" name="Text 15"/>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Appendix A: pricing assumptions and methodology</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Inputs to refresh on Bloomberg at trade date (BVOL / OVDV for vols, CORR for correlations)</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4754880" cy="914400"/>
        </p:xfrm>
        <a:graphic>
          <a:graphicData uri="http://schemas.openxmlformats.org/drawingml/2006/table">
            <a:tbl>
              <a:tblPr/>
              <a:tblGrid>
                <a:gridCol w="822960"/>
                <a:gridCol w="566928"/>
                <a:gridCol w="475488"/>
                <a:gridCol w="475488"/>
                <a:gridCol w="603504"/>
                <a:gridCol w="603504"/>
                <a:gridCol w="603504"/>
                <a:gridCol w="603504"/>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Index</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Weight</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Vol</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Div</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HSTECH</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NKY</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TWSE</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MXAP0UT</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HSTECH</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0.45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0.55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0.35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NKY</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0.45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0.60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0.35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TWSE</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2.8%</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0.55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0.60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0.35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MXAP0UT</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0.35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0.35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0.35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11480" y="2697480"/>
            <a:ext cx="4754880" cy="2011680"/>
          </a:xfrm>
          <a:prstGeom prst="rect">
            <a:avLst/>
          </a:prstGeom>
          <a:noFill/>
          <a:ln/>
        </p:spPr>
        <p:txBody>
          <a:bodyPr wrap="square" lIns="0" tIns="0" rIns="0" bIns="0" rtlCol="0" anchor="t"/>
          <a:lstStyle/>
          <a:p>
            <a:pPr indent="0" marL="0">
              <a:spcAft>
                <a:spcPts val="400"/>
              </a:spcAft>
              <a:buNone/>
            </a:pPr>
            <a:r>
              <a:rPr lang="en-US" sz="950" b="1" dirty="0">
                <a:solidFill>
                  <a:srgbClr val="0F8B8D"/>
                </a:solidFill>
                <a:latin typeface="Calibri" pitchFamily="34" charset="0"/>
                <a:ea typeface="Calibri" pitchFamily="34" charset="-122"/>
                <a:cs typeface="Calibri" pitchFamily="34" charset="-120"/>
              </a:rPr>
              <a:t>Model. </a:t>
            </a:r>
            <a:pPr indent="0" marL="0">
              <a:spcAft>
                <a:spcPts val="400"/>
              </a:spcAft>
              <a:buNone/>
            </a:pPr>
            <a:r>
              <a:rPr lang="en-US" sz="950" dirty="0">
                <a:solidFill>
                  <a:srgbClr val="1D2B30"/>
                </a:solidFill>
                <a:latin typeface="Calibri" pitchFamily="34" charset="0"/>
                <a:ea typeface="Calibri" pitchFamily="34" charset="-122"/>
                <a:cs typeface="Calibri" pitchFamily="34" charset="-120"/>
              </a:rPr>
              <a:t>Correlated GBM for each index, 200,000 paths, quarterly steps. Risk-neutral drift = USD funding (linear interpolation of case grid) − dividend yield. Quanto adjustment ignored (assumed hedged by the desk; to be added with FX-equity correlations).</a:t>
            </a:r>
            <a:endParaRPr lang="en-US" sz="950" dirty="0"/>
          </a:p>
          <a:p>
            <a:pPr indent="0" marL="0">
              <a:spcAft>
                <a:spcPts val="400"/>
              </a:spcAft>
              <a:buNone/>
            </a:pPr>
            <a:r>
              <a:rPr lang="en-US" sz="950" b="1" dirty="0">
                <a:solidFill>
                  <a:srgbClr val="0F8B8D"/>
                </a:solidFill>
                <a:latin typeface="Calibri" pitchFamily="34" charset="0"/>
                <a:ea typeface="Calibri" pitchFamily="34" charset="-122"/>
                <a:cs typeface="Calibri" pitchFamily="34" charset="-120"/>
              </a:rPr>
              <a:t>Discounting. </a:t>
            </a:r>
            <a:pPr indent="0" marL="0">
              <a:spcAft>
                <a:spcPts val="400"/>
              </a:spcAft>
              <a:buNone/>
            </a:pPr>
            <a:r>
              <a:rPr lang="en-US" sz="950" dirty="0">
                <a:solidFill>
                  <a:srgbClr val="1D2B30"/>
                </a:solidFill>
                <a:latin typeface="Calibri" pitchFamily="34" charset="0"/>
                <a:ea typeface="Calibri" pitchFamily="34" charset="-122"/>
                <a:cs typeface="Calibri" pitchFamily="34" charset="-120"/>
              </a:rPr>
              <a:t>USD funding grid from the case rules; 5Y discount factor 0.758.</a:t>
            </a:r>
            <a:endParaRPr lang="en-US" sz="950" dirty="0"/>
          </a:p>
          <a:p>
            <a:pPr indent="0" marL="0">
              <a:spcAft>
                <a:spcPts val="400"/>
              </a:spcAft>
              <a:buNone/>
            </a:pPr>
            <a:r>
              <a:rPr lang="en-US" sz="950" b="1" dirty="0">
                <a:solidFill>
                  <a:srgbClr val="0F8B8D"/>
                </a:solidFill>
                <a:latin typeface="Calibri" pitchFamily="34" charset="0"/>
                <a:ea typeface="Calibri" pitchFamily="34" charset="-122"/>
                <a:cs typeface="Calibri" pitchFamily="34" charset="-120"/>
              </a:rPr>
              <a:t>Coupon solve. </a:t>
            </a:r>
            <a:pPr indent="0" marL="0">
              <a:spcAft>
                <a:spcPts val="400"/>
              </a:spcAft>
              <a:buNone/>
            </a:pPr>
            <a:r>
              <a:rPr lang="en-US" sz="950" dirty="0">
                <a:solidFill>
                  <a:srgbClr val="1D2B30"/>
                </a:solidFill>
                <a:latin typeface="Calibri" pitchFamily="34" charset="0"/>
                <a:ea typeface="Calibri" pitchFamily="34" charset="-122"/>
                <a:cs typeface="Calibri" pitchFamily="34" charset="-120"/>
              </a:rPr>
              <a:t>Bisection on coupon so that PV = 98% (2% hedging cost and margin).</a:t>
            </a:r>
            <a:endParaRPr lang="en-US" sz="950" dirty="0"/>
          </a:p>
          <a:p>
            <a:pPr indent="0" marL="0">
              <a:spcAft>
                <a:spcPts val="400"/>
              </a:spcAft>
              <a:buNone/>
            </a:pPr>
            <a:r>
              <a:rPr lang="en-US" sz="950" b="1" dirty="0">
                <a:solidFill>
                  <a:srgbClr val="0F8B8D"/>
                </a:solidFill>
                <a:latin typeface="Calibri" pitchFamily="34" charset="0"/>
                <a:ea typeface="Calibri" pitchFamily="34" charset="-122"/>
                <a:cs typeface="Calibri" pitchFamily="34" charset="-120"/>
              </a:rPr>
              <a:t>Historical back-test (to run). </a:t>
            </a:r>
            <a:pPr indent="0" marL="0">
              <a:spcAft>
                <a:spcPts val="400"/>
              </a:spcAft>
              <a:buNone/>
            </a:pPr>
            <a:r>
              <a:rPr lang="en-US" sz="950" dirty="0">
                <a:solidFill>
                  <a:srgbClr val="1D2B30"/>
                </a:solidFill>
                <a:latin typeface="Calibri" pitchFamily="34" charset="0"/>
                <a:ea typeface="Calibri" pitchFamily="34" charset="-122"/>
                <a:cs typeface="Calibri" pitchFamily="34" charset="-120"/>
              </a:rPr>
              <a:t>Monthly Bloomberg history since 2015 for all four indices. Launch a hypothetical note every month, apply the same autocall and barrier rules, and record payout, life and IRR. Report hit rates by launch year.</a:t>
            </a:r>
            <a:endParaRPr lang="en-US" sz="95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5440680" y="1188720"/>
          <a:ext cx="3291840" cy="914400"/>
        </p:xfrm>
        <a:graphic>
          <a:graphicData uri="http://schemas.openxmlformats.org/drawingml/2006/table">
            <a:tbl>
              <a:tblPr/>
              <a:tblGrid>
                <a:gridCol w="2377440"/>
                <a:gridCol w="914400"/>
              </a:tblGrid>
              <a:tr h="26517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Design variant</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Fair cpn</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Snowball, 70% barrier</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10.1%</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Snowball, 65% (base)</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9.7%</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Snowball, 60% barrier</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9.2%</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Step-down trigger −5%/yr</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7.6%</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First call at Y2</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Fixed coupon, 70% barrier</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Phoenix memory, 70% cpn barrier</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6.1%</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40680" y="3383280"/>
            <a:ext cx="3291840" cy="411480"/>
          </a:xfrm>
          <a:prstGeom prst="rect">
            <a:avLst/>
          </a:prstGeom>
          <a:noFill/>
          <a:ln/>
        </p:spPr>
        <p:txBody>
          <a:bodyPr wrap="square" lIns="0" tIns="0" rIns="0" bIns="0" rtlCol="0" anchor="t"/>
          <a:lstStyle/>
          <a:p>
            <a:pPr indent="0" marL="0">
              <a:buNone/>
            </a:pPr>
            <a:r>
              <a:rPr lang="en-US" sz="850" i="1" dirty="0">
                <a:solidFill>
                  <a:srgbClr val="5F7176"/>
                </a:solidFill>
                <a:latin typeface="Calibri" pitchFamily="34" charset="0"/>
                <a:ea typeface="Calibri" pitchFamily="34" charset="-122"/>
                <a:cs typeface="Calibri" pitchFamily="34" charset="-120"/>
              </a:rPr>
              <a:t>All variants priced at 98% with the same basket and inputs. Code: pricing/scenario2_autocall_mc.py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Appendix B: alternative for a risk-averse patriarch</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100% principal-protected note on the same basket</a:t>
            </a:r>
            <a:endParaRPr lang="en-US" sz="1250" dirty="0"/>
          </a:p>
        </p:txBody>
      </p:sp>
      <p:graphicFrame>
        <p:nvGraphicFramePr>
          <p:cNvPr id="4" name="Chart 0" descr=""/>
          <p:cNvGraphicFramePr/>
          <p:nvPr/>
        </p:nvGraphicFramePr>
        <p:xfrm>
          <a:off x="365760" y="1143000"/>
          <a:ext cx="45720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212080" y="1188720"/>
          <a:ext cx="3520440" cy="914400"/>
        </p:xfrm>
        <a:graphic>
          <a:graphicData uri="http://schemas.openxmlformats.org/drawingml/2006/table">
            <a:tbl>
              <a:tblPr/>
              <a:tblGrid>
                <a:gridCol w="214884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PPN term</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274320">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Zero-coupon bond (5Y)</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75.8%</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Option budget (at 98%)</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22.2%</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5Y ATM basket call</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21.7%</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Upside participation</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102%</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Minimum redemption</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6" name="Shape 2"/>
          <p:cNvSpPr/>
          <p:nvPr/>
        </p:nvSpPr>
        <p:spPr>
          <a:xfrm>
            <a:off x="5212080" y="2971800"/>
            <a:ext cx="3520440" cy="1463040"/>
          </a:xfrm>
          <a:prstGeom prst="roundRect">
            <a:avLst>
              <a:gd name="adj" fmla="val 4375"/>
            </a:avLst>
          </a:prstGeom>
          <a:solidFill>
            <a:srgbClr val="E6F2F0"/>
          </a:solidFill>
          <a:ln w="12700">
            <a:solidFill>
              <a:srgbClr val="E6F2F0"/>
            </a:solidFill>
            <a:prstDash val="solid"/>
          </a:ln>
        </p:spPr>
      </p:sp>
      <p:sp>
        <p:nvSpPr>
          <p:cNvPr id="7" name="Text 3"/>
          <p:cNvSpPr txBox="1"/>
          <p:nvPr/>
        </p:nvSpPr>
        <p:spPr>
          <a:xfrm>
            <a:off x="5349240" y="3044952"/>
            <a:ext cx="3291840" cy="1325880"/>
          </a:xfrm>
          <a:prstGeom prst="rect">
            <a:avLst/>
          </a:prstGeom>
          <a:noFill/>
          <a:ln/>
        </p:spPr>
        <p:txBody>
          <a:bodyPr wrap="square" lIns="0" tIns="0" rIns="0" bIns="0" rtlCol="0" anchor="t"/>
          <a:lstStyle/>
          <a:p>
            <a:pPr indent="0" marL="0">
              <a:buNone/>
            </a:pPr>
            <a:r>
              <a:rPr lang="en-US" sz="950" b="1" dirty="0">
                <a:solidFill>
                  <a:srgbClr val="0F8B8D"/>
                </a:solidFill>
                <a:latin typeface="Calibri" pitchFamily="34" charset="0"/>
                <a:ea typeface="Calibri" pitchFamily="34" charset="-122"/>
                <a:cs typeface="Calibri" pitchFamily="34" charset="-120"/>
              </a:rPr>
              <a:t>Trade-off: </a:t>
            </a:r>
            <a:pPr indent="0" marL="0">
              <a:buNone/>
            </a:pPr>
            <a:r>
              <a:rPr lang="en-US" sz="950" dirty="0">
                <a:solidFill>
                  <a:srgbClr val="1D2B30"/>
                </a:solidFill>
                <a:latin typeface="Calibri" pitchFamily="34" charset="0"/>
                <a:ea typeface="Calibri" pitchFamily="34" charset="-122"/>
                <a:cs typeface="Calibri" pitchFamily="34" charset="-120"/>
              </a:rPr>
              <a:t>High USD rates fund ~102% participation with full capital protection, but nothing is earned unless the basket ends above 100% after 5 years, and there is no early exit. The snowball earns 9% p.a. in flat-to-up markets and pays out early. We recommend the snowball, and keep the PPN as the fallback if the investment committee requires hard protection.</a:t>
            </a:r>
            <a:endParaRPr lang="en-US" sz="950" dirty="0"/>
          </a:p>
        </p:txBody>
      </p:sp>
      <p:sp>
        <p:nvSpPr>
          <p:cNvPr id="8" name="Text 4"/>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Monte Carlo, 200k paths. Vols, dividends and correlations are assumptions to refresh with Bloomberg data as of the 17 Sep 2026 trade date; discounting uses the USD funding grid.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Asian Digital Transformation Snowball Note</dc:title>
  <dc:subject>PptxGenJS Presentation</dc:subject>
  <dc:creator>PptxGenJS</dc:creator>
  <cp:lastModifiedBy>PptxGenJS</cp:lastModifiedBy>
  <cp:revision>1</cp:revision>
  <dcterms:created xsi:type="dcterms:W3CDTF">2026-10-01T05:22:31Z</dcterms:created>
  <dcterms:modified xsi:type="dcterms:W3CDTF">2026-10-01T05:22:31Z</dcterms:modified>
</cp:coreProperties>
</file>