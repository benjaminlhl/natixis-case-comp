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media/image12.svg" ContentType="image/svg+xml"/>
  <Override PartName="/ppt/media/image14.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85" r:id="rId5"/>
    <p:sldId id="286" r:id="rId6"/>
    <p:sldId id="281" r:id="rId7"/>
    <p:sldId id="280" r:id="rId8"/>
    <p:sldId id="267" r:id="rId9"/>
    <p:sldId id="284" r:id="rId10"/>
    <p:sldId id="272" r:id="rId11"/>
    <p:sldId id="273" r:id="rId12"/>
    <p:sldId id="274" r:id="rId13"/>
    <p:sldId id="275" r:id="rId14"/>
    <p:sldId id="276" r:id="rId15"/>
    <p:sldId id="279" r:id="rId16"/>
    <p:sldId id="278" r:id="rId17"/>
    <p:sldId id="28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7899"/>
    <a:srgbClr val="499AC5"/>
    <a:srgbClr val="93C4D5"/>
    <a:srgbClr val="E3E8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88" dt="2026-10-09T10:45:36.674"/>
    <p1510:client id="{30D345CF-1C58-4C3E-3134-563CB7C8644B}" v="937" dt="2026-10-09T16:36:29.347"/>
    <p1510:client id="{37A4172D-72D8-7D4F-B3D7-4371E159EDF4}" v="660" dt="2026-10-09T16:50:52.245"/>
    <p1510:client id="{C8CF1BC7-B0BF-B216-F450-24A8CCECC1F5}" v="154" dt="2026-10-09T16:46:19.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13"/>
    <p:restoredTop sz="94637"/>
  </p:normalViewPr>
  <p:slideViewPr>
    <p:cSldViewPr snapToGrid="0">
      <p:cViewPr>
        <p:scale>
          <a:sx n="119" d="100"/>
          <a:sy n="119" d="100"/>
        </p:scale>
        <p:origin x="1296" y="8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5/10/relationships/revisionInfo" Target="revisionInfo.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950" b="0" i="0" u="none" strike="noStrike">
                <a:solidFill>
                  <a:srgbClr val="262626"/>
                </a:solidFill>
                <a:latin typeface="Arial"/>
              </a:defRPr>
            </a:pPr>
            <a:r>
              <a:rPr lang="en-US" sz="950" b="0" i="0" u="none" strike="noStrike">
                <a:solidFill>
                  <a:srgbClr val="262626"/>
                </a:solidFill>
                <a:latin typeface="Arial"/>
              </a:rPr>
              <a:t>Global chip market, US$bn (WSTS)</a:t>
            </a:r>
          </a:p>
        </c:rich>
      </c:tx>
      <c:overlay val="0"/>
    </c:title>
    <c:autoTitleDeleted val="0"/>
    <c:plotArea>
      <c:layout/>
      <c:barChart>
        <c:barDir val="col"/>
        <c:grouping val="clustered"/>
        <c:varyColors val="0"/>
        <c:ser>
          <c:idx val="0"/>
          <c:order val="0"/>
          <c:tx>
            <c:strRef>
              <c:f>Sheet1!$B$1</c:f>
              <c:strCache>
                <c:ptCount val="1"/>
                <c:pt idx="0">
                  <c:v>Chip market</c:v>
                </c:pt>
              </c:strCache>
            </c:strRef>
          </c:tx>
          <c:spPr>
            <a:solidFill>
              <a:srgbClr val="2C5F82"/>
            </a:solidFill>
            <a:effectLst/>
          </c:spPr>
          <c:invertIfNegative val="0"/>
          <c:dPt>
            <c:idx val="0"/>
            <c:invertIfNegative val="0"/>
            <c:bubble3D val="0"/>
            <c:spPr>
              <a:solidFill>
                <a:srgbClr val="2C5F82"/>
              </a:solidFill>
              <a:effectLst/>
            </c:spPr>
            <c:extLst>
              <c:ext xmlns:c16="http://schemas.microsoft.com/office/drawing/2014/chart" uri="{C3380CC4-5D6E-409C-BE32-E72D297353CC}">
                <c16:uniqueId val="{00000001-5E60-2C48-9BCE-4771F1287C6C}"/>
              </c:ext>
            </c:extLst>
          </c:dPt>
          <c:dPt>
            <c:idx val="1"/>
            <c:invertIfNegative val="0"/>
            <c:bubble3D val="0"/>
            <c:spPr>
              <a:solidFill>
                <a:srgbClr val="2C5F82"/>
              </a:solidFill>
              <a:effectLst/>
            </c:spPr>
            <c:extLst>
              <c:ext xmlns:c16="http://schemas.microsoft.com/office/drawing/2014/chart" uri="{C3380CC4-5D6E-409C-BE32-E72D297353CC}">
                <c16:uniqueId val="{00000003-5E60-2C48-9BCE-4771F1287C6C}"/>
              </c:ext>
            </c:extLst>
          </c:dPt>
          <c:dPt>
            <c:idx val="2"/>
            <c:invertIfNegative val="0"/>
            <c:bubble3D val="0"/>
            <c:spPr>
              <a:solidFill>
                <a:srgbClr val="8DB3D1"/>
              </a:solidFill>
              <a:effectLst/>
            </c:spPr>
            <c:extLst>
              <c:ext xmlns:c16="http://schemas.microsoft.com/office/drawing/2014/chart" uri="{C3380CC4-5D6E-409C-BE32-E72D297353CC}">
                <c16:uniqueId val="{00000005-5E60-2C48-9BCE-4771F1287C6C}"/>
              </c:ext>
            </c:extLst>
          </c:dPt>
          <c:dPt>
            <c:idx val="3"/>
            <c:invertIfNegative val="0"/>
            <c:bubble3D val="0"/>
            <c:spPr>
              <a:solidFill>
                <a:srgbClr val="8DB3D1"/>
              </a:solidFill>
              <a:effectLst/>
            </c:spPr>
            <c:extLst>
              <c:ext xmlns:c16="http://schemas.microsoft.com/office/drawing/2014/chart" uri="{C3380CC4-5D6E-409C-BE32-E72D297353CC}">
                <c16:uniqueId val="{00000007-5E60-2C48-9BCE-4771F1287C6C}"/>
              </c:ext>
            </c:extLst>
          </c:dPt>
          <c:dLbls>
            <c:numFmt formatCode="&quot;$&quot;#,##0" sourceLinked="0"/>
            <c:spPr>
              <a:noFill/>
              <a:ln>
                <a:noFill/>
              </a:ln>
              <a:effectLst/>
            </c:spPr>
            <c:txPr>
              <a:bodyPr/>
              <a:lstStyle/>
              <a:p>
                <a:pPr>
                  <a:defRPr sz="800" b="0" i="0" u="none" strike="noStrike">
                    <a:solidFill>
                      <a:srgbClr val="2626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2024</c:v>
                </c:pt>
                <c:pt idx="1">
                  <c:v>2025</c:v>
                </c:pt>
                <c:pt idx="2">
                  <c:v>2026F</c:v>
                </c:pt>
                <c:pt idx="3">
                  <c:v>2027F</c:v>
                </c:pt>
              </c:strCache>
            </c:strRef>
          </c:cat>
          <c:val>
            <c:numRef>
              <c:f>Sheet1!$B$2:$B$5</c:f>
              <c:numCache>
                <c:formatCode>General</c:formatCode>
                <c:ptCount val="4"/>
                <c:pt idx="0">
                  <c:v>630</c:v>
                </c:pt>
                <c:pt idx="1">
                  <c:v>795.6</c:v>
                </c:pt>
                <c:pt idx="2">
                  <c:v>1510</c:v>
                </c:pt>
                <c:pt idx="3">
                  <c:v>1900</c:v>
                </c:pt>
              </c:numCache>
            </c:numRef>
          </c:val>
          <c:extLst>
            <c:ext xmlns:c16="http://schemas.microsoft.com/office/drawing/2014/chart" uri="{C3380CC4-5D6E-409C-BE32-E72D297353CC}">
              <c16:uniqueId val="{00000008-5E60-2C48-9BCE-4771F1287C6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85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max val="225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950" b="0" i="0" u="none" strike="noStrike">
                <a:solidFill>
                  <a:srgbClr val="262626"/>
                </a:solidFill>
                <a:latin typeface="Arial"/>
              </a:defRPr>
            </a:pPr>
            <a:r>
              <a:rPr lang="en-US" sz="950" b="0" i="0" u="none" strike="noStrike">
                <a:solidFill>
                  <a:srgbClr val="262626"/>
                </a:solidFill>
                <a:latin typeface="Arial"/>
              </a:rPr>
              <a:t>Index level, end-2021 = 100</a:t>
            </a:r>
          </a:p>
        </c:rich>
      </c:tx>
      <c:overlay val="0"/>
    </c:title>
    <c:autoTitleDeleted val="0"/>
    <c:plotArea>
      <c:layout/>
      <c:lineChart>
        <c:grouping val="standard"/>
        <c:varyColors val="0"/>
        <c:ser>
          <c:idx val="0"/>
          <c:order val="0"/>
          <c:tx>
            <c:strRef>
              <c:f>Sheet1!$B$1</c:f>
              <c:strCache>
                <c:ptCount val="1"/>
                <c:pt idx="0">
                  <c:v>TAIEX</c:v>
                </c:pt>
              </c:strCache>
            </c:strRef>
          </c:tx>
          <c:spPr>
            <a:ln w="25400" cap="flat">
              <a:solidFill>
                <a:srgbClr val="2C5F82"/>
              </a:solidFill>
              <a:prstDash val="solid"/>
              <a:round/>
            </a:ln>
            <a:effectLst/>
          </c:spPr>
          <c:marker>
            <c:symbol val="circle"/>
            <c:size val="4"/>
            <c:spPr>
              <a:solidFill>
                <a:srgbClr val="2C5F82"/>
              </a:solidFill>
              <a:ln w="9525" cap="flat">
                <a:solidFill>
                  <a:srgbClr val="2C5F82"/>
                </a:solidFill>
                <a:prstDash val="solid"/>
                <a:round/>
              </a:ln>
              <a:effectLst/>
            </c:spPr>
          </c:marker>
          <c:cat>
            <c:strRef>
              <c:f>Sheet1!$A$2:$A$8</c:f>
              <c:strCache>
                <c:ptCount val="7"/>
                <c:pt idx="0">
                  <c:v>YE2021</c:v>
                </c:pt>
                <c:pt idx="1">
                  <c:v>YE2022</c:v>
                </c:pt>
                <c:pt idx="2">
                  <c:v>YE2023</c:v>
                </c:pt>
                <c:pt idx="3">
                  <c:v>YE2024</c:v>
                </c:pt>
                <c:pt idx="4">
                  <c:v>YE2025</c:v>
                </c:pt>
                <c:pt idx="5">
                  <c:v>Jun-26 peak</c:v>
                </c:pt>
                <c:pt idx="6">
                  <c:v>Latest</c:v>
                </c:pt>
              </c:strCache>
            </c:strRef>
          </c:cat>
          <c:val>
            <c:numRef>
              <c:f>Sheet1!$B$2:$B$8</c:f>
              <c:numCache>
                <c:formatCode>General</c:formatCode>
                <c:ptCount val="7"/>
                <c:pt idx="0">
                  <c:v>100</c:v>
                </c:pt>
                <c:pt idx="1">
                  <c:v>77.599999999999994</c:v>
                </c:pt>
                <c:pt idx="2">
                  <c:v>98.4</c:v>
                </c:pt>
                <c:pt idx="3">
                  <c:v>126.4</c:v>
                </c:pt>
                <c:pt idx="4">
                  <c:v>159</c:v>
                </c:pt>
                <c:pt idx="5">
                  <c:v>262.10000000000002</c:v>
                </c:pt>
                <c:pt idx="6">
                  <c:v>266.10000000000002</c:v>
                </c:pt>
              </c:numCache>
            </c:numRef>
          </c:val>
          <c:smooth val="0"/>
          <c:extLst>
            <c:ext xmlns:c16="http://schemas.microsoft.com/office/drawing/2014/chart" uri="{C3380CC4-5D6E-409C-BE32-E72D297353CC}">
              <c16:uniqueId val="{00000000-11B5-4B49-A53D-59E0134CDFA6}"/>
            </c:ext>
          </c:extLst>
        </c:ser>
        <c:ser>
          <c:idx val="1"/>
          <c:order val="1"/>
          <c:tx>
            <c:strRef>
              <c:f>Sheet1!$C$1</c:f>
              <c:strCache>
                <c:ptCount val="1"/>
                <c:pt idx="0">
                  <c:v>KOSPI</c:v>
                </c:pt>
              </c:strCache>
            </c:strRef>
          </c:tx>
          <c:spPr>
            <a:ln w="25400" cap="flat">
              <a:solidFill>
                <a:srgbClr val="B23B3B"/>
              </a:solidFill>
              <a:prstDash val="solid"/>
              <a:round/>
            </a:ln>
            <a:effectLst/>
          </c:spPr>
          <c:marker>
            <c:symbol val="circle"/>
            <c:size val="4"/>
            <c:spPr>
              <a:solidFill>
                <a:srgbClr val="B23B3B"/>
              </a:solidFill>
              <a:ln w="9525" cap="flat">
                <a:solidFill>
                  <a:srgbClr val="B23B3B"/>
                </a:solidFill>
                <a:prstDash val="solid"/>
                <a:round/>
              </a:ln>
              <a:effectLst/>
            </c:spPr>
          </c:marker>
          <c:cat>
            <c:strRef>
              <c:f>Sheet1!$A$2:$A$8</c:f>
              <c:strCache>
                <c:ptCount val="7"/>
                <c:pt idx="0">
                  <c:v>YE2021</c:v>
                </c:pt>
                <c:pt idx="1">
                  <c:v>YE2022</c:v>
                </c:pt>
                <c:pt idx="2">
                  <c:v>YE2023</c:v>
                </c:pt>
                <c:pt idx="3">
                  <c:v>YE2024</c:v>
                </c:pt>
                <c:pt idx="4">
                  <c:v>YE2025</c:v>
                </c:pt>
                <c:pt idx="5">
                  <c:v>Jun-26 peak</c:v>
                </c:pt>
                <c:pt idx="6">
                  <c:v>Latest</c:v>
                </c:pt>
              </c:strCache>
            </c:strRef>
          </c:cat>
          <c:val>
            <c:numRef>
              <c:f>Sheet1!$C$2:$C$8</c:f>
              <c:numCache>
                <c:formatCode>General</c:formatCode>
                <c:ptCount val="7"/>
                <c:pt idx="0">
                  <c:v>100</c:v>
                </c:pt>
                <c:pt idx="1">
                  <c:v>75.099999999999994</c:v>
                </c:pt>
                <c:pt idx="2">
                  <c:v>89.2</c:v>
                </c:pt>
                <c:pt idx="3">
                  <c:v>80.599999999999994</c:v>
                </c:pt>
                <c:pt idx="4">
                  <c:v>141.5</c:v>
                </c:pt>
                <c:pt idx="5">
                  <c:v>302.3</c:v>
                </c:pt>
                <c:pt idx="6">
                  <c:v>237.8</c:v>
                </c:pt>
              </c:numCache>
            </c:numRef>
          </c:val>
          <c:smooth val="0"/>
          <c:extLst>
            <c:ext xmlns:c16="http://schemas.microsoft.com/office/drawing/2014/chart" uri="{C3380CC4-5D6E-409C-BE32-E72D297353CC}">
              <c16:uniqueId val="{00000001-11B5-4B49-A53D-59E0134CDFA6}"/>
            </c:ext>
          </c:extLst>
        </c:ser>
        <c:ser>
          <c:idx val="2"/>
          <c:order val="2"/>
          <c:tx>
            <c:strRef>
              <c:f>Sheet1!$D$1</c:f>
              <c:strCache>
                <c:ptCount val="1"/>
                <c:pt idx="0">
                  <c:v>Nikkei 225</c:v>
                </c:pt>
              </c:strCache>
            </c:strRef>
          </c:tx>
          <c:spPr>
            <a:ln w="25400" cap="flat">
              <a:solidFill>
                <a:srgbClr val="A6A6A6"/>
              </a:solidFill>
              <a:prstDash val="solid"/>
              <a:round/>
            </a:ln>
            <a:effectLst/>
          </c:spPr>
          <c:marker>
            <c:symbol val="circle"/>
            <c:size val="4"/>
            <c:spPr>
              <a:solidFill>
                <a:srgbClr val="A6A6A6"/>
              </a:solidFill>
              <a:ln w="9525" cap="flat">
                <a:solidFill>
                  <a:srgbClr val="A6A6A6"/>
                </a:solidFill>
                <a:prstDash val="solid"/>
                <a:round/>
              </a:ln>
              <a:effectLst/>
            </c:spPr>
          </c:marker>
          <c:cat>
            <c:strRef>
              <c:f>Sheet1!$A$2:$A$8</c:f>
              <c:strCache>
                <c:ptCount val="7"/>
                <c:pt idx="0">
                  <c:v>YE2021</c:v>
                </c:pt>
                <c:pt idx="1">
                  <c:v>YE2022</c:v>
                </c:pt>
                <c:pt idx="2">
                  <c:v>YE2023</c:v>
                </c:pt>
                <c:pt idx="3">
                  <c:v>YE2024</c:v>
                </c:pt>
                <c:pt idx="4">
                  <c:v>YE2025</c:v>
                </c:pt>
                <c:pt idx="5">
                  <c:v>Jun-26 peak</c:v>
                </c:pt>
                <c:pt idx="6">
                  <c:v>Latest</c:v>
                </c:pt>
              </c:strCache>
            </c:strRef>
          </c:cat>
          <c:val>
            <c:numRef>
              <c:f>Sheet1!$D$2:$D$8</c:f>
              <c:numCache>
                <c:formatCode>General</c:formatCode>
                <c:ptCount val="7"/>
                <c:pt idx="0">
                  <c:v>100</c:v>
                </c:pt>
                <c:pt idx="1">
                  <c:v>90.6</c:v>
                </c:pt>
                <c:pt idx="2">
                  <c:v>116.2</c:v>
                </c:pt>
                <c:pt idx="3">
                  <c:v>138.6</c:v>
                </c:pt>
                <c:pt idx="4">
                  <c:v>174.8</c:v>
                </c:pt>
                <c:pt idx="5">
                  <c:v>231</c:v>
                </c:pt>
                <c:pt idx="6">
                  <c:v>222.8</c:v>
                </c:pt>
              </c:numCache>
            </c:numRef>
          </c:val>
          <c:smooth val="0"/>
          <c:extLst>
            <c:ext xmlns:c16="http://schemas.microsoft.com/office/drawing/2014/chart" uri="{C3380CC4-5D6E-409C-BE32-E72D297353CC}">
              <c16:uniqueId val="{00000002-11B5-4B49-A53D-59E0134CDFA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7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max val="325"/>
          <c:min val="50"/>
        </c:scaling>
        <c:delete val="0"/>
        <c:axPos val="l"/>
        <c:majorGridlines>
          <c:spPr>
            <a:ln w="6350" cap="flat">
              <a:solidFill>
                <a:srgbClr val="E3E3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50" b="0" i="0" u="none" strike="noStrike">
                <a:solidFill>
                  <a:srgbClr val="595959"/>
                </a:solidFill>
                <a:latin typeface="Arial"/>
              </a:defRPr>
            </a:pPr>
            <a:endParaRPr lang="en-US"/>
          </a:p>
        </c:txPr>
        <c:crossAx val="2094734554"/>
        <c:crosses val="autoZero"/>
        <c:crossBetween val="between"/>
        <c:majorUnit val="50"/>
      </c:valAx>
      <c:spPr>
        <a:noFill/>
        <a:ln>
          <a:noFill/>
        </a:ln>
        <a:effectLst/>
      </c:spPr>
    </c:plotArea>
    <c:legend>
      <c:legendPos val="b"/>
      <c:overlay val="0"/>
      <c:txPr>
        <a:bodyPr/>
        <a:lstStyle/>
        <a:p>
          <a:pPr>
            <a:defRPr sz="75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950" b="0" i="0" u="none" strike="noStrike">
                <a:solidFill>
                  <a:srgbClr val="262626"/>
                </a:solidFill>
                <a:latin typeface="Arial"/>
              </a:defRPr>
            </a:pPr>
            <a:r>
              <a:rPr lang="en-US" sz="950" b="0" i="0" u="none" strike="noStrike">
                <a:solidFill>
                  <a:srgbClr val="262626"/>
                </a:solidFill>
                <a:latin typeface="Arial"/>
              </a:rPr>
              <a:t>5Y USD bond price change vs rate move</a:t>
            </a:r>
          </a:p>
        </c:rich>
      </c:tx>
      <c:overlay val="0"/>
    </c:title>
    <c:autoTitleDeleted val="0"/>
    <c:plotArea>
      <c:layout/>
      <c:barChart>
        <c:barDir val="col"/>
        <c:grouping val="clustered"/>
        <c:varyColors val="0"/>
        <c:ser>
          <c:idx val="0"/>
          <c:order val="0"/>
          <c:tx>
            <c:strRef>
              <c:f>Sheet1!$B$1</c:f>
              <c:strCache>
                <c:ptCount val="1"/>
                <c:pt idx="0">
                  <c:v>5Y USD bond</c:v>
                </c:pt>
              </c:strCache>
            </c:strRef>
          </c:tx>
          <c:spPr>
            <a:solidFill>
              <a:srgbClr val="2C5F82"/>
            </a:solidFill>
            <a:effectLst/>
          </c:spPr>
          <c:invertIfNegative val="0"/>
          <c:dLbls>
            <c:numFmt formatCode="\+0.0&quot;%&quot;;\−0.0&quot;%&quot;;0" sourceLinked="0"/>
            <c:spPr>
              <a:noFill/>
              <a:ln>
                <a:noFill/>
              </a:ln>
              <a:effectLst/>
            </c:spPr>
            <c:txPr>
              <a:bodyPr/>
              <a:lstStyle/>
              <a:p>
                <a:pPr>
                  <a:defRPr sz="800" b="0" i="0" u="none" strike="noStrike">
                    <a:solidFill>
                      <a:srgbClr val="2626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c:v>
                </c:pt>
                <c:pt idx="1">
                  <c:v>−1%</c:v>
                </c:pt>
                <c:pt idx="2">
                  <c:v>0</c:v>
                </c:pt>
                <c:pt idx="3">
                  <c:v>+1%</c:v>
                </c:pt>
                <c:pt idx="4">
                  <c:v>+2%</c:v>
                </c:pt>
              </c:strCache>
            </c:strRef>
          </c:cat>
          <c:val>
            <c:numRef>
              <c:f>Sheet1!$B$2:$B$6</c:f>
              <c:numCache>
                <c:formatCode>General</c:formatCode>
                <c:ptCount val="5"/>
                <c:pt idx="0">
                  <c:v>9.1</c:v>
                </c:pt>
                <c:pt idx="1">
                  <c:v>4.5</c:v>
                </c:pt>
                <c:pt idx="2">
                  <c:v>0</c:v>
                </c:pt>
                <c:pt idx="3">
                  <c:v>-4</c:v>
                </c:pt>
                <c:pt idx="4">
                  <c:v>-7.9</c:v>
                </c:pt>
              </c:numCache>
            </c:numRef>
          </c:val>
          <c:extLst>
            <c:ext xmlns:c16="http://schemas.microsoft.com/office/drawing/2014/chart" uri="{C3380CC4-5D6E-409C-BE32-E72D297353CC}">
              <c16:uniqueId val="{00000000-8D64-6F4A-97AB-19D99D8DF3C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85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max val="12"/>
          <c:min val="-12"/>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dPt>
            <c:idx val="0"/>
            <c:bubble3D val="0"/>
            <c:spPr>
              <a:solidFill>
                <a:srgbClr val="2C5F82"/>
              </a:solidFill>
              <a:effectLst/>
            </c:spPr>
            <c:extLst>
              <c:ext xmlns:c16="http://schemas.microsoft.com/office/drawing/2014/chart" uri="{C3380CC4-5D6E-409C-BE32-E72D297353CC}">
                <c16:uniqueId val="{00000001-9EFB-469F-8FED-5DEF4659595C}"/>
              </c:ext>
            </c:extLst>
          </c:dPt>
          <c:dPt>
            <c:idx val="1"/>
            <c:bubble3D val="0"/>
            <c:spPr>
              <a:solidFill>
                <a:srgbClr val="4F86AE"/>
              </a:solidFill>
              <a:effectLst/>
            </c:spPr>
            <c:extLst>
              <c:ext xmlns:c16="http://schemas.microsoft.com/office/drawing/2014/chart" uri="{C3380CC4-5D6E-409C-BE32-E72D297353CC}">
                <c16:uniqueId val="{00000003-9EFB-469F-8FED-5DEF4659595C}"/>
              </c:ext>
            </c:extLst>
          </c:dPt>
          <c:dPt>
            <c:idx val="2"/>
            <c:bubble3D val="0"/>
            <c:spPr>
              <a:solidFill>
                <a:srgbClr val="8DB3D1"/>
              </a:solidFill>
              <a:effectLst/>
            </c:spPr>
            <c:extLst>
              <c:ext xmlns:c16="http://schemas.microsoft.com/office/drawing/2014/chart" uri="{C3380CC4-5D6E-409C-BE32-E72D297353CC}">
                <c16:uniqueId val="{00000005-9EFB-469F-8FED-5DEF4659595C}"/>
              </c:ext>
            </c:extLst>
          </c:dPt>
          <c:dPt>
            <c:idx val="3"/>
            <c:bubble3D val="0"/>
            <c:spPr>
              <a:solidFill>
                <a:srgbClr val="A6A6A6"/>
              </a:solidFill>
              <a:effectLst/>
            </c:spPr>
            <c:extLst>
              <c:ext xmlns:c16="http://schemas.microsoft.com/office/drawing/2014/chart" uri="{C3380CC4-5D6E-409C-BE32-E72D297353CC}">
                <c16:uniqueId val="{00000007-9EFB-469F-8FED-5DEF4659595C}"/>
              </c:ext>
            </c:extLst>
          </c:dPt>
          <c:dPt>
            <c:idx val="4"/>
            <c:bubble3D val="0"/>
            <c:spPr>
              <a:solidFill>
                <a:srgbClr val="2E9E44"/>
              </a:solidFill>
              <a:effectLst/>
            </c:spPr>
            <c:extLst>
              <c:ext xmlns:c16="http://schemas.microsoft.com/office/drawing/2014/chart" uri="{C3380CC4-5D6E-409C-BE32-E72D297353CC}">
                <c16:uniqueId val="{00000009-9EFB-469F-8FED-5DEF4659595C}"/>
              </c:ext>
            </c:extLst>
          </c:dPt>
          <c:dLbls>
            <c:dLbl>
              <c:idx val="0"/>
              <c:numFmt formatCode="0&quot;%&quot;" sourceLinked="0"/>
              <c:spPr/>
              <c:txPr>
                <a:bodyPr/>
                <a:lstStyle/>
                <a:p>
                  <a:pPr>
                    <a:defRPr sz="92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EFB-469F-8FED-5DEF4659595C}"/>
                </c:ext>
              </c:extLst>
            </c:dLbl>
            <c:dLbl>
              <c:idx val="1"/>
              <c:numFmt formatCode="0&quot;%&quot;" sourceLinked="0"/>
              <c:spPr/>
              <c:txPr>
                <a:bodyPr/>
                <a:lstStyle/>
                <a:p>
                  <a:pPr>
                    <a:defRPr sz="92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EFB-469F-8FED-5DEF4659595C}"/>
                </c:ext>
              </c:extLst>
            </c:dLbl>
            <c:dLbl>
              <c:idx val="2"/>
              <c:numFmt formatCode="0&quot;%&quot;" sourceLinked="0"/>
              <c:spPr/>
              <c:txPr>
                <a:bodyPr/>
                <a:lstStyle/>
                <a:p>
                  <a:pPr>
                    <a:defRPr sz="92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EFB-469F-8FED-5DEF4659595C}"/>
                </c:ext>
              </c:extLst>
            </c:dLbl>
            <c:dLbl>
              <c:idx val="3"/>
              <c:numFmt formatCode="0&quot;%&quot;" sourceLinked="0"/>
              <c:spPr/>
              <c:txPr>
                <a:bodyPr/>
                <a:lstStyle/>
                <a:p>
                  <a:pPr>
                    <a:defRPr sz="92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EFB-469F-8FED-5DEF4659595C}"/>
                </c:ext>
              </c:extLst>
            </c:dLbl>
            <c:dLbl>
              <c:idx val="4"/>
              <c:numFmt formatCode="0&quot;%&quot;" sourceLinked="0"/>
              <c:spPr/>
              <c:txPr>
                <a:bodyPr/>
                <a:lstStyle/>
                <a:p>
                  <a:pPr>
                    <a:defRPr sz="92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EFB-469F-8FED-5DEF4659595C}"/>
                </c:ext>
              </c:extLst>
            </c:dLbl>
            <c:numFmt formatCode="0&quot;%&quot;"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Asia Semiconductor (3119 HK)</c:v>
                </c:pt>
                <c:pt idx="1">
                  <c:v>iShares MSCI South Korea (EWY)</c:v>
                </c:pt>
                <c:pt idx="2">
                  <c:v>iShares MSCI Taiwan (EWT)</c:v>
                </c:pt>
                <c:pt idx="3">
                  <c:v>Japan Semiconductor (2644 JP)</c:v>
                </c:pt>
                <c:pt idx="4">
                  <c:v>Taiwan ESG High Dividend (00878 TT)</c:v>
                </c:pt>
              </c:strCache>
            </c:strRef>
          </c:cat>
          <c:val>
            <c:numRef>
              <c:f>Sheet1!$B$2:$B$6</c:f>
              <c:numCache>
                <c:formatCode>General</c:formatCode>
                <c:ptCount val="5"/>
                <c:pt idx="0">
                  <c:v>35</c:v>
                </c:pt>
                <c:pt idx="1">
                  <c:v>20</c:v>
                </c:pt>
                <c:pt idx="2">
                  <c:v>15</c:v>
                </c:pt>
                <c:pt idx="3">
                  <c:v>15</c:v>
                </c:pt>
                <c:pt idx="4">
                  <c:v>15</c:v>
                </c:pt>
              </c:numCache>
            </c:numRef>
          </c:val>
          <c:extLst>
            <c:ext xmlns:c16="http://schemas.microsoft.com/office/drawing/2014/chart" uri="{C3380CC4-5D6E-409C-BE32-E72D297353CC}">
              <c16:uniqueId val="{0000000A-9EFB-469F-8FED-5DEF4659595C}"/>
            </c:ext>
          </c:extLst>
        </c:ser>
        <c:dLbls>
          <c:showLegendKey val="0"/>
          <c:showVal val="0"/>
          <c:showCatName val="0"/>
          <c:showSerName val="0"/>
          <c:showPercent val="0"/>
          <c:showBubbleSize val="0"/>
          <c:showLeaderLines val="0"/>
        </c:dLbls>
        <c:firstSliceAng val="0"/>
        <c:holeSize val="55"/>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870" b="0" i="0" u="none" strike="noStrike">
                <a:solidFill>
                  <a:srgbClr val="262626"/>
                </a:solidFill>
                <a:latin typeface="Arial"/>
              </a:defRPr>
            </a:pPr>
            <a:r>
              <a:rPr lang="en-US" sz="870" b="0" i="0" u="none" strike="noStrike">
                <a:solidFill>
                  <a:srgbClr val="262626"/>
                </a:solidFill>
                <a:latin typeface="Arial"/>
              </a:rPr>
              <a:t>Cumulative autocall probability (team outlook)</a:t>
            </a:r>
          </a:p>
        </c:rich>
      </c:tx>
      <c:overlay val="0"/>
    </c:title>
    <c:autoTitleDeleted val="0"/>
    <c:plotArea>
      <c:layout/>
      <c:barChart>
        <c:barDir val="col"/>
        <c:grouping val="clustered"/>
        <c:varyColors val="0"/>
        <c:ser>
          <c:idx val="0"/>
          <c:order val="0"/>
          <c:tx>
            <c:strRef>
              <c:f>Sheet1!$B$1</c:f>
              <c:strCache>
                <c:ptCount val="1"/>
                <c:pt idx="0">
                  <c:v>Cumulative call probability</c:v>
                </c:pt>
              </c:strCache>
            </c:strRef>
          </c:tx>
          <c:spPr>
            <a:solidFill>
              <a:srgbClr val="2C5F82"/>
            </a:solidFill>
            <a:effectLst/>
          </c:spPr>
          <c:invertIfNegative val="0"/>
          <c:dLbls>
            <c:numFmt formatCode="0&quot;%&quot;" sourceLinked="0"/>
            <c:spPr>
              <a:noFill/>
              <a:ln>
                <a:noFill/>
              </a:ln>
              <a:effectLst/>
            </c:spPr>
            <c:txPr>
              <a:bodyPr/>
              <a:lstStyle/>
              <a:p>
                <a:pPr>
                  <a:defRPr sz="830" b="0" i="0" u="none" strike="noStrike">
                    <a:solidFill>
                      <a:srgbClr val="26262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Y1</c:v>
                </c:pt>
                <c:pt idx="1">
                  <c:v>Y2</c:v>
                </c:pt>
                <c:pt idx="2">
                  <c:v>Y3</c:v>
                </c:pt>
                <c:pt idx="3">
                  <c:v>Y4</c:v>
                </c:pt>
                <c:pt idx="4">
                  <c:v>Y5</c:v>
                </c:pt>
              </c:strCache>
            </c:strRef>
          </c:cat>
          <c:val>
            <c:numRef>
              <c:f>Sheet1!$B$2:$B$6</c:f>
              <c:numCache>
                <c:formatCode>General</c:formatCode>
                <c:ptCount val="5"/>
                <c:pt idx="0">
                  <c:v>78.099999999999994</c:v>
                </c:pt>
                <c:pt idx="1">
                  <c:v>93</c:v>
                </c:pt>
                <c:pt idx="2">
                  <c:v>96.9</c:v>
                </c:pt>
                <c:pt idx="3">
                  <c:v>98.5</c:v>
                </c:pt>
                <c:pt idx="4">
                  <c:v>99.3</c:v>
                </c:pt>
              </c:numCache>
            </c:numRef>
          </c:val>
          <c:extLst>
            <c:ext xmlns:c16="http://schemas.microsoft.com/office/drawing/2014/chart" uri="{C3380CC4-5D6E-409C-BE32-E72D297353CC}">
              <c16:uniqueId val="{00000000-EDC6-439A-B1D0-4B75EF35636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A6A6A6"/>
            </a:solidFill>
            <a:prstDash val="solid"/>
            <a:round/>
          </a:ln>
        </c:spPr>
        <c:txPr>
          <a:bodyPr/>
          <a:lstStyle/>
          <a:p>
            <a:pPr>
              <a:defRPr sz="83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83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870" b="0" i="0" u="none" strike="noStrike">
                <a:solidFill>
                  <a:srgbClr val="262626"/>
                </a:solidFill>
                <a:latin typeface="Arial"/>
              </a:defRPr>
            </a:pPr>
            <a:r>
              <a:rPr lang="en-US" sz="870" b="0" i="0" u="none" strike="noStrike">
                <a:solidFill>
                  <a:srgbClr val="262626"/>
                </a:solidFill>
                <a:latin typeface="Arial"/>
              </a:rPr>
              <a:t>Basket level (% of initial); coupon and autocall level 100%</a:t>
            </a:r>
          </a:p>
        </c:rich>
      </c:tx>
      <c:overlay val="0"/>
    </c:title>
    <c:autoTitleDeleted val="0"/>
    <c:plotArea>
      <c:layout/>
      <c:lineChart>
        <c:grouping val="standard"/>
        <c:varyColors val="0"/>
        <c:ser>
          <c:idx val="0"/>
          <c:order val="0"/>
          <c:tx>
            <c:strRef>
              <c:f>Sheet1!$B$1</c:f>
              <c:strCache>
                <c:ptCount val="1"/>
                <c:pt idx="0">
                  <c:v>AI capex boom</c:v>
                </c:pt>
              </c:strCache>
            </c:strRef>
          </c:tx>
          <c:spPr>
            <a:ln w="25400" cap="flat">
              <a:solidFill>
                <a:srgbClr val="2C5F82"/>
              </a:solidFill>
              <a:prstDash val="solid"/>
              <a:round/>
            </a:ln>
            <a:effectLst/>
          </c:spPr>
          <c:marker>
            <c:symbol val="none"/>
          </c:marker>
          <c:cat>
            <c:strRef>
              <c:f>Sheet1!$A$2:$A$22</c:f>
              <c:strCache>
                <c:ptCount val="21"/>
                <c:pt idx="0">
                  <c:v>Y0</c:v>
                </c:pt>
                <c:pt idx="4">
                  <c:v>Y1</c:v>
                </c:pt>
                <c:pt idx="8">
                  <c:v>Y2</c:v>
                </c:pt>
                <c:pt idx="12">
                  <c:v>Y3</c:v>
                </c:pt>
                <c:pt idx="16">
                  <c:v>Y4</c:v>
                </c:pt>
                <c:pt idx="20">
                  <c:v>Y5</c:v>
                </c:pt>
              </c:strCache>
            </c:strRef>
          </c:cat>
          <c:val>
            <c:numRef>
              <c:f>Sheet1!$B$2:$B$22</c:f>
              <c:numCache>
                <c:formatCode>General</c:formatCode>
                <c:ptCount val="21"/>
                <c:pt idx="0">
                  <c:v>100</c:v>
                </c:pt>
                <c:pt idx="1">
                  <c:v>104.5</c:v>
                </c:pt>
                <c:pt idx="2">
                  <c:v>109</c:v>
                </c:pt>
                <c:pt idx="3">
                  <c:v>113.5</c:v>
                </c:pt>
                <c:pt idx="4">
                  <c:v>118</c:v>
                </c:pt>
                <c:pt idx="5">
                  <c:v>121.9</c:v>
                </c:pt>
                <c:pt idx="6">
                  <c:v>125.7</c:v>
                </c:pt>
                <c:pt idx="7">
                  <c:v>129.6</c:v>
                </c:pt>
                <c:pt idx="8">
                  <c:v>133.5</c:v>
                </c:pt>
                <c:pt idx="9">
                  <c:v>137.4</c:v>
                </c:pt>
                <c:pt idx="10">
                  <c:v>141.30000000000001</c:v>
                </c:pt>
                <c:pt idx="11">
                  <c:v>145.1</c:v>
                </c:pt>
                <c:pt idx="12">
                  <c:v>149</c:v>
                </c:pt>
                <c:pt idx="13">
                  <c:v>152.9</c:v>
                </c:pt>
                <c:pt idx="14">
                  <c:v>156.69999999999999</c:v>
                </c:pt>
                <c:pt idx="15">
                  <c:v>160.6</c:v>
                </c:pt>
                <c:pt idx="16">
                  <c:v>164.5</c:v>
                </c:pt>
                <c:pt idx="17">
                  <c:v>168.4</c:v>
                </c:pt>
                <c:pt idx="18">
                  <c:v>172.3</c:v>
                </c:pt>
                <c:pt idx="19">
                  <c:v>176.1</c:v>
                </c:pt>
                <c:pt idx="20">
                  <c:v>180</c:v>
                </c:pt>
              </c:numCache>
            </c:numRef>
          </c:val>
          <c:smooth val="0"/>
          <c:extLst>
            <c:ext xmlns:c16="http://schemas.microsoft.com/office/drawing/2014/chart" uri="{C3380CC4-5D6E-409C-BE32-E72D297353CC}">
              <c16:uniqueId val="{00000000-2BE9-E94D-B8B9-20DC2456DB3D}"/>
            </c:ext>
          </c:extLst>
        </c:ser>
        <c:ser>
          <c:idx val="1"/>
          <c:order val="1"/>
          <c:tx>
            <c:strRef>
              <c:f>Sheet1!$C$1</c:f>
              <c:strCache>
                <c:ptCount val="1"/>
                <c:pt idx="0">
                  <c:v>Range-bound Asia</c:v>
                </c:pt>
              </c:strCache>
            </c:strRef>
          </c:tx>
          <c:spPr>
            <a:ln w="25400" cap="flat">
              <a:solidFill>
                <a:srgbClr val="E67E22"/>
              </a:solidFill>
              <a:prstDash val="solid"/>
              <a:round/>
            </a:ln>
            <a:effectLst/>
          </c:spPr>
          <c:marker>
            <c:symbol val="none"/>
          </c:marker>
          <c:cat>
            <c:strRef>
              <c:f>Sheet1!$A$2:$A$22</c:f>
              <c:strCache>
                <c:ptCount val="21"/>
                <c:pt idx="0">
                  <c:v>Y0</c:v>
                </c:pt>
                <c:pt idx="4">
                  <c:v>Y1</c:v>
                </c:pt>
                <c:pt idx="8">
                  <c:v>Y2</c:v>
                </c:pt>
                <c:pt idx="12">
                  <c:v>Y3</c:v>
                </c:pt>
                <c:pt idx="16">
                  <c:v>Y4</c:v>
                </c:pt>
                <c:pt idx="20">
                  <c:v>Y5</c:v>
                </c:pt>
              </c:strCache>
            </c:strRef>
          </c:cat>
          <c:val>
            <c:numRef>
              <c:f>Sheet1!$C$2:$C$22</c:f>
              <c:numCache>
                <c:formatCode>General</c:formatCode>
                <c:ptCount val="21"/>
                <c:pt idx="0">
                  <c:v>100</c:v>
                </c:pt>
                <c:pt idx="1">
                  <c:v>99</c:v>
                </c:pt>
                <c:pt idx="2">
                  <c:v>98</c:v>
                </c:pt>
                <c:pt idx="3">
                  <c:v>97</c:v>
                </c:pt>
                <c:pt idx="4">
                  <c:v>96</c:v>
                </c:pt>
                <c:pt idx="5">
                  <c:v>98.5</c:v>
                </c:pt>
                <c:pt idx="6">
                  <c:v>101</c:v>
                </c:pt>
                <c:pt idx="7">
                  <c:v>101.1</c:v>
                </c:pt>
                <c:pt idx="8">
                  <c:v>101.3</c:v>
                </c:pt>
                <c:pt idx="9">
                  <c:v>101.4</c:v>
                </c:pt>
                <c:pt idx="10">
                  <c:v>101.6</c:v>
                </c:pt>
                <c:pt idx="11">
                  <c:v>101.7</c:v>
                </c:pt>
                <c:pt idx="12">
                  <c:v>101.9</c:v>
                </c:pt>
                <c:pt idx="13">
                  <c:v>102</c:v>
                </c:pt>
                <c:pt idx="14">
                  <c:v>102.1</c:v>
                </c:pt>
                <c:pt idx="15">
                  <c:v>102.3</c:v>
                </c:pt>
                <c:pt idx="16">
                  <c:v>102.4</c:v>
                </c:pt>
                <c:pt idx="17">
                  <c:v>102.6</c:v>
                </c:pt>
                <c:pt idx="18">
                  <c:v>102.7</c:v>
                </c:pt>
                <c:pt idx="19">
                  <c:v>102.9</c:v>
                </c:pt>
                <c:pt idx="20">
                  <c:v>103</c:v>
                </c:pt>
              </c:numCache>
            </c:numRef>
          </c:val>
          <c:smooth val="0"/>
          <c:extLst>
            <c:ext xmlns:c16="http://schemas.microsoft.com/office/drawing/2014/chart" uri="{C3380CC4-5D6E-409C-BE32-E72D297353CC}">
              <c16:uniqueId val="{00000001-2BE9-E94D-B8B9-20DC2456DB3D}"/>
            </c:ext>
          </c:extLst>
        </c:ser>
        <c:ser>
          <c:idx val="2"/>
          <c:order val="2"/>
          <c:tx>
            <c:strRef>
              <c:f>Sheet1!$D$1</c:f>
              <c:strCache>
                <c:ptCount val="1"/>
                <c:pt idx="0">
                  <c:v>2022-style tech drawdown, slow recovery</c:v>
                </c:pt>
              </c:strCache>
            </c:strRef>
          </c:tx>
          <c:spPr>
            <a:ln w="25400" cap="flat">
              <a:solidFill>
                <a:srgbClr val="1F3B57"/>
              </a:solidFill>
              <a:prstDash val="solid"/>
              <a:round/>
            </a:ln>
            <a:effectLst/>
          </c:spPr>
          <c:marker>
            <c:symbol val="none"/>
          </c:marker>
          <c:cat>
            <c:strRef>
              <c:f>Sheet1!$A$2:$A$22</c:f>
              <c:strCache>
                <c:ptCount val="21"/>
                <c:pt idx="0">
                  <c:v>Y0</c:v>
                </c:pt>
                <c:pt idx="4">
                  <c:v>Y1</c:v>
                </c:pt>
                <c:pt idx="8">
                  <c:v>Y2</c:v>
                </c:pt>
                <c:pt idx="12">
                  <c:v>Y3</c:v>
                </c:pt>
                <c:pt idx="16">
                  <c:v>Y4</c:v>
                </c:pt>
                <c:pt idx="20">
                  <c:v>Y5</c:v>
                </c:pt>
              </c:strCache>
            </c:strRef>
          </c:cat>
          <c:val>
            <c:numRef>
              <c:f>Sheet1!$D$2:$D$22</c:f>
              <c:numCache>
                <c:formatCode>General</c:formatCode>
                <c:ptCount val="21"/>
                <c:pt idx="0">
                  <c:v>100</c:v>
                </c:pt>
                <c:pt idx="1">
                  <c:v>90</c:v>
                </c:pt>
                <c:pt idx="2">
                  <c:v>80</c:v>
                </c:pt>
                <c:pt idx="3">
                  <c:v>70</c:v>
                </c:pt>
                <c:pt idx="4">
                  <c:v>71.599999999999994</c:v>
                </c:pt>
                <c:pt idx="5">
                  <c:v>73.2</c:v>
                </c:pt>
                <c:pt idx="6">
                  <c:v>74.8</c:v>
                </c:pt>
                <c:pt idx="7">
                  <c:v>76.400000000000006</c:v>
                </c:pt>
                <c:pt idx="8">
                  <c:v>78</c:v>
                </c:pt>
                <c:pt idx="9">
                  <c:v>80.8</c:v>
                </c:pt>
                <c:pt idx="10">
                  <c:v>83.7</c:v>
                </c:pt>
                <c:pt idx="11">
                  <c:v>86.5</c:v>
                </c:pt>
                <c:pt idx="12">
                  <c:v>89.3</c:v>
                </c:pt>
                <c:pt idx="13">
                  <c:v>92.2</c:v>
                </c:pt>
                <c:pt idx="14">
                  <c:v>95</c:v>
                </c:pt>
                <c:pt idx="15">
                  <c:v>102</c:v>
                </c:pt>
                <c:pt idx="16">
                  <c:v>103.6</c:v>
                </c:pt>
                <c:pt idx="17">
                  <c:v>105.2</c:v>
                </c:pt>
                <c:pt idx="18">
                  <c:v>106.8</c:v>
                </c:pt>
                <c:pt idx="19">
                  <c:v>108.4</c:v>
                </c:pt>
                <c:pt idx="20">
                  <c:v>110</c:v>
                </c:pt>
              </c:numCache>
            </c:numRef>
          </c:val>
          <c:smooth val="0"/>
          <c:extLst>
            <c:ext xmlns:c16="http://schemas.microsoft.com/office/drawing/2014/chart" uri="{C3380CC4-5D6E-409C-BE32-E72D297353CC}">
              <c16:uniqueId val="{00000002-2BE9-E94D-B8B9-20DC2456DB3D}"/>
            </c:ext>
          </c:extLst>
        </c:ser>
        <c:ser>
          <c:idx val="3"/>
          <c:order val="3"/>
          <c:tx>
            <c:strRef>
              <c:f>Sheet1!$E$1</c:f>
              <c:strCache>
                <c:ptCount val="1"/>
                <c:pt idx="0">
                  <c:v>Lost decade (sideways below par)</c:v>
                </c:pt>
              </c:strCache>
            </c:strRef>
          </c:tx>
          <c:spPr>
            <a:ln w="25400" cap="flat">
              <a:solidFill>
                <a:srgbClr val="A6A6A6"/>
              </a:solidFill>
              <a:prstDash val="solid"/>
              <a:round/>
            </a:ln>
            <a:effectLst/>
          </c:spPr>
          <c:marker>
            <c:symbol val="none"/>
          </c:marker>
          <c:cat>
            <c:strRef>
              <c:f>Sheet1!$A$2:$A$22</c:f>
              <c:strCache>
                <c:ptCount val="21"/>
                <c:pt idx="0">
                  <c:v>Y0</c:v>
                </c:pt>
                <c:pt idx="4">
                  <c:v>Y1</c:v>
                </c:pt>
                <c:pt idx="8">
                  <c:v>Y2</c:v>
                </c:pt>
                <c:pt idx="12">
                  <c:v>Y3</c:v>
                </c:pt>
                <c:pt idx="16">
                  <c:v>Y4</c:v>
                </c:pt>
                <c:pt idx="20">
                  <c:v>Y5</c:v>
                </c:pt>
              </c:strCache>
            </c:strRef>
          </c:cat>
          <c:val>
            <c:numRef>
              <c:f>Sheet1!$E$2:$E$22</c:f>
              <c:numCache>
                <c:formatCode>General</c:formatCode>
                <c:ptCount val="21"/>
                <c:pt idx="0">
                  <c:v>100</c:v>
                </c:pt>
                <c:pt idx="1">
                  <c:v>96.3</c:v>
                </c:pt>
                <c:pt idx="2">
                  <c:v>92.5</c:v>
                </c:pt>
                <c:pt idx="3">
                  <c:v>88.7</c:v>
                </c:pt>
                <c:pt idx="4">
                  <c:v>85</c:v>
                </c:pt>
                <c:pt idx="5">
                  <c:v>84.2</c:v>
                </c:pt>
                <c:pt idx="6">
                  <c:v>83.3</c:v>
                </c:pt>
                <c:pt idx="7">
                  <c:v>82.5</c:v>
                </c:pt>
                <c:pt idx="8">
                  <c:v>81.7</c:v>
                </c:pt>
                <c:pt idx="9">
                  <c:v>80.8</c:v>
                </c:pt>
                <c:pt idx="10">
                  <c:v>80</c:v>
                </c:pt>
                <c:pt idx="11">
                  <c:v>80.8</c:v>
                </c:pt>
                <c:pt idx="12">
                  <c:v>81.599999999999994</c:v>
                </c:pt>
                <c:pt idx="13">
                  <c:v>82.4</c:v>
                </c:pt>
                <c:pt idx="14">
                  <c:v>83.2</c:v>
                </c:pt>
                <c:pt idx="15">
                  <c:v>84</c:v>
                </c:pt>
                <c:pt idx="16">
                  <c:v>84.8</c:v>
                </c:pt>
                <c:pt idx="17">
                  <c:v>85.6</c:v>
                </c:pt>
                <c:pt idx="18">
                  <c:v>86.4</c:v>
                </c:pt>
                <c:pt idx="19">
                  <c:v>87.2</c:v>
                </c:pt>
                <c:pt idx="20">
                  <c:v>88</c:v>
                </c:pt>
              </c:numCache>
            </c:numRef>
          </c:val>
          <c:smooth val="0"/>
          <c:extLst>
            <c:ext xmlns:c16="http://schemas.microsoft.com/office/drawing/2014/chart" uri="{C3380CC4-5D6E-409C-BE32-E72D297353CC}">
              <c16:uniqueId val="{00000003-2BE9-E94D-B8B9-20DC2456DB3D}"/>
            </c:ext>
          </c:extLst>
        </c:ser>
        <c:ser>
          <c:idx val="4"/>
          <c:order val="4"/>
          <c:tx>
            <c:strRef>
              <c:f>Sheet1!$F$1</c:f>
              <c:strCache>
                <c:ptCount val="1"/>
                <c:pt idx="0">
                  <c:v>Geopolitical shock, no recovery</c:v>
                </c:pt>
              </c:strCache>
            </c:strRef>
          </c:tx>
          <c:spPr>
            <a:ln w="25400" cap="flat">
              <a:solidFill>
                <a:srgbClr val="B23B3B"/>
              </a:solidFill>
              <a:prstDash val="solid"/>
              <a:round/>
            </a:ln>
            <a:effectLst/>
          </c:spPr>
          <c:marker>
            <c:symbol val="none"/>
          </c:marker>
          <c:cat>
            <c:strRef>
              <c:f>Sheet1!$A$2:$A$22</c:f>
              <c:strCache>
                <c:ptCount val="21"/>
                <c:pt idx="0">
                  <c:v>Y0</c:v>
                </c:pt>
                <c:pt idx="4">
                  <c:v>Y1</c:v>
                </c:pt>
                <c:pt idx="8">
                  <c:v>Y2</c:v>
                </c:pt>
                <c:pt idx="12">
                  <c:v>Y3</c:v>
                </c:pt>
                <c:pt idx="16">
                  <c:v>Y4</c:v>
                </c:pt>
                <c:pt idx="20">
                  <c:v>Y5</c:v>
                </c:pt>
              </c:strCache>
            </c:strRef>
          </c:cat>
          <c:val>
            <c:numRef>
              <c:f>Sheet1!$F$2:$F$22</c:f>
              <c:numCache>
                <c:formatCode>General</c:formatCode>
                <c:ptCount val="21"/>
                <c:pt idx="0">
                  <c:v>100</c:v>
                </c:pt>
                <c:pt idx="1">
                  <c:v>80</c:v>
                </c:pt>
                <c:pt idx="2">
                  <c:v>60</c:v>
                </c:pt>
                <c:pt idx="3">
                  <c:v>58.3</c:v>
                </c:pt>
                <c:pt idx="4">
                  <c:v>56.7</c:v>
                </c:pt>
                <c:pt idx="5">
                  <c:v>55</c:v>
                </c:pt>
                <c:pt idx="6">
                  <c:v>53.3</c:v>
                </c:pt>
                <c:pt idx="7">
                  <c:v>51.7</c:v>
                </c:pt>
                <c:pt idx="8">
                  <c:v>50</c:v>
                </c:pt>
                <c:pt idx="9">
                  <c:v>50.4</c:v>
                </c:pt>
                <c:pt idx="10">
                  <c:v>50.8</c:v>
                </c:pt>
                <c:pt idx="11">
                  <c:v>51.2</c:v>
                </c:pt>
                <c:pt idx="12">
                  <c:v>51.7</c:v>
                </c:pt>
                <c:pt idx="13">
                  <c:v>52.1</c:v>
                </c:pt>
                <c:pt idx="14">
                  <c:v>52.5</c:v>
                </c:pt>
                <c:pt idx="15">
                  <c:v>52.9</c:v>
                </c:pt>
                <c:pt idx="16">
                  <c:v>53.3</c:v>
                </c:pt>
                <c:pt idx="17">
                  <c:v>53.8</c:v>
                </c:pt>
                <c:pt idx="18">
                  <c:v>54.2</c:v>
                </c:pt>
                <c:pt idx="19">
                  <c:v>54.6</c:v>
                </c:pt>
                <c:pt idx="20">
                  <c:v>55</c:v>
                </c:pt>
              </c:numCache>
            </c:numRef>
          </c:val>
          <c:smooth val="0"/>
          <c:extLst>
            <c:ext xmlns:c16="http://schemas.microsoft.com/office/drawing/2014/chart" uri="{C3380CC4-5D6E-409C-BE32-E72D297353CC}">
              <c16:uniqueId val="{00000004-2BE9-E94D-B8B9-20DC2456DB3D}"/>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A6A6A6"/>
            </a:solidFill>
            <a:prstDash val="solid"/>
            <a:round/>
          </a:ln>
        </c:spPr>
        <c:txPr>
          <a:bodyPr/>
          <a:lstStyle/>
          <a:p>
            <a:pPr>
              <a:defRPr sz="83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max val="180"/>
          <c:min val="4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83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Principal</c:v>
                </c:pt>
              </c:strCache>
            </c:strRef>
          </c:tx>
          <c:spPr>
            <a:ln w="25400" cap="flat">
              <a:solidFill>
                <a:srgbClr val="2C5F82"/>
              </a:solidFill>
              <a:prstDash val="solid"/>
              <a:round/>
            </a:ln>
            <a:effectLst/>
          </c:spPr>
          <c:marker>
            <c:symbol val="none"/>
          </c:marker>
          <c:xVal>
            <c:numRef>
              <c:f>Sheet1!$A$2:$A$122</c:f>
              <c:numCache>
                <c:formatCode>General</c:formatCode>
                <c:ptCount val="12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numCache>
            </c:numRef>
          </c:xVal>
          <c:yVal>
            <c:numRef>
              <c:f>Sheet1!$B$2:$B$122</c:f>
              <c:numCache>
                <c:formatCode>General</c:formatCode>
                <c:ptCount val="121"/>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52">
                  <c:v>100</c:v>
                </c:pt>
                <c:pt idx="53">
                  <c:v>100</c:v>
                </c:pt>
                <c:pt idx="54">
                  <c:v>100</c:v>
                </c:pt>
                <c:pt idx="55">
                  <c:v>100</c:v>
                </c:pt>
                <c:pt idx="56">
                  <c:v>100</c:v>
                </c:pt>
                <c:pt idx="57">
                  <c:v>100</c:v>
                </c:pt>
                <c:pt idx="58">
                  <c:v>100</c:v>
                </c:pt>
                <c:pt idx="59">
                  <c:v>100</c:v>
                </c:pt>
                <c:pt idx="60">
                  <c:v>100</c:v>
                </c:pt>
                <c:pt idx="61">
                  <c:v>100</c:v>
                </c:pt>
                <c:pt idx="62">
                  <c:v>100</c:v>
                </c:pt>
                <c:pt idx="63">
                  <c:v>100</c:v>
                </c:pt>
                <c:pt idx="64">
                  <c:v>100</c:v>
                </c:pt>
                <c:pt idx="65">
                  <c:v>100</c:v>
                </c:pt>
                <c:pt idx="66">
                  <c:v>100</c:v>
                </c:pt>
                <c:pt idx="67">
                  <c:v>100</c:v>
                </c:pt>
                <c:pt idx="68">
                  <c:v>100</c:v>
                </c:pt>
                <c:pt idx="69">
                  <c:v>100</c:v>
                </c:pt>
                <c:pt idx="70">
                  <c:v>100</c:v>
                </c:pt>
                <c:pt idx="71">
                  <c:v>100</c:v>
                </c:pt>
                <c:pt idx="72">
                  <c:v>100</c:v>
                </c:pt>
                <c:pt idx="73">
                  <c:v>100</c:v>
                </c:pt>
                <c:pt idx="74">
                  <c:v>100</c:v>
                </c:pt>
                <c:pt idx="75">
                  <c:v>100</c:v>
                </c:pt>
                <c:pt idx="76">
                  <c:v>100</c:v>
                </c:pt>
                <c:pt idx="77">
                  <c:v>100</c:v>
                </c:pt>
                <c:pt idx="78">
                  <c:v>100</c:v>
                </c:pt>
                <c:pt idx="79">
                  <c:v>100</c:v>
                </c:pt>
                <c:pt idx="80">
                  <c:v>100</c:v>
                </c:pt>
                <c:pt idx="81">
                  <c:v>100</c:v>
                </c:pt>
                <c:pt idx="82">
                  <c:v>100</c:v>
                </c:pt>
                <c:pt idx="83">
                  <c:v>100</c:v>
                </c:pt>
                <c:pt idx="84">
                  <c:v>100</c:v>
                </c:pt>
                <c:pt idx="85">
                  <c:v>100</c:v>
                </c:pt>
                <c:pt idx="86">
                  <c:v>100</c:v>
                </c:pt>
                <c:pt idx="87">
                  <c:v>100</c:v>
                </c:pt>
                <c:pt idx="88">
                  <c:v>100</c:v>
                </c:pt>
                <c:pt idx="89">
                  <c:v>100</c:v>
                </c:pt>
                <c:pt idx="90">
                  <c:v>100</c:v>
                </c:pt>
                <c:pt idx="91">
                  <c:v>100</c:v>
                </c:pt>
                <c:pt idx="92">
                  <c:v>100</c:v>
                </c:pt>
                <c:pt idx="93">
                  <c:v>100</c:v>
                </c:pt>
                <c:pt idx="94">
                  <c:v>100</c:v>
                </c:pt>
                <c:pt idx="95">
                  <c:v>100</c:v>
                </c:pt>
                <c:pt idx="96">
                  <c:v>100</c:v>
                </c:pt>
                <c:pt idx="97">
                  <c:v>100</c:v>
                </c:pt>
                <c:pt idx="98">
                  <c:v>100</c:v>
                </c:pt>
                <c:pt idx="99">
                  <c:v>100</c:v>
                </c:pt>
                <c:pt idx="100">
                  <c:v>100</c:v>
                </c:pt>
                <c:pt idx="101">
                  <c:v>100</c:v>
                </c:pt>
                <c:pt idx="102">
                  <c:v>100</c:v>
                </c:pt>
                <c:pt idx="103">
                  <c:v>100</c:v>
                </c:pt>
                <c:pt idx="104">
                  <c:v>100</c:v>
                </c:pt>
                <c:pt idx="105">
                  <c:v>100</c:v>
                </c:pt>
                <c:pt idx="106">
                  <c:v>100</c:v>
                </c:pt>
                <c:pt idx="107">
                  <c:v>100</c:v>
                </c:pt>
                <c:pt idx="108">
                  <c:v>100</c:v>
                </c:pt>
                <c:pt idx="109">
                  <c:v>100</c:v>
                </c:pt>
                <c:pt idx="110">
                  <c:v>100</c:v>
                </c:pt>
                <c:pt idx="111">
                  <c:v>100</c:v>
                </c:pt>
                <c:pt idx="112">
                  <c:v>100</c:v>
                </c:pt>
                <c:pt idx="113">
                  <c:v>100</c:v>
                </c:pt>
                <c:pt idx="114">
                  <c:v>100</c:v>
                </c:pt>
                <c:pt idx="115">
                  <c:v>100</c:v>
                </c:pt>
                <c:pt idx="116">
                  <c:v>100</c:v>
                </c:pt>
                <c:pt idx="117">
                  <c:v>100</c:v>
                </c:pt>
                <c:pt idx="118">
                  <c:v>100</c:v>
                </c:pt>
                <c:pt idx="119">
                  <c:v>100</c:v>
                </c:pt>
                <c:pt idx="120">
                  <c:v>100</c:v>
                </c:pt>
              </c:numCache>
            </c:numRef>
          </c:yVal>
          <c:smooth val="0"/>
          <c:extLst>
            <c:ext xmlns:c16="http://schemas.microsoft.com/office/drawing/2014/chart" uri="{C3380CC4-5D6E-409C-BE32-E72D297353CC}">
              <c16:uniqueId val="{00000000-E61C-204F-AD1A-BA941BCACAEC}"/>
            </c:ext>
          </c:extLst>
        </c:ser>
        <c:dLbls>
          <c:showLegendKey val="0"/>
          <c:showVal val="0"/>
          <c:showCatName val="0"/>
          <c:showSerName val="0"/>
          <c:showPercent val="0"/>
          <c:showBubbleSize val="0"/>
        </c:dLbls>
        <c:axId val="2094734554"/>
        <c:axId val="2094734552"/>
      </c:scatterChart>
      <c:valAx>
        <c:axId val="2094734554"/>
        <c:scaling>
          <c:orientation val="minMax"/>
          <c:max val="160"/>
          <c:min val="40"/>
        </c:scaling>
        <c:delete val="0"/>
        <c:axPos val="b"/>
        <c:title>
          <c:tx>
            <c:rich>
              <a:bodyPr/>
              <a:lstStyle/>
              <a:p>
                <a:pPr>
                  <a:defRPr sz="640" b="0" i="0" u="none" strike="noStrike">
                    <a:solidFill>
                      <a:srgbClr val="595959"/>
                    </a:solidFill>
                    <a:latin typeface="Arial"/>
                  </a:defRPr>
                </a:pPr>
                <a:r>
                  <a:rPr lang="en-US" sz="640" b="0" i="0" u="none" strike="noStrike">
                    <a:solidFill>
                      <a:srgbClr val="595959"/>
                    </a:solidFill>
                    <a:latin typeface="Arial"/>
                  </a:rPr>
                  <a:t>Basket on any date</a:t>
                </a:r>
              </a:p>
            </c:rich>
          </c:tx>
          <c:overlay val="0"/>
        </c:title>
        <c:numFmt formatCode="General" sourceLinked="1"/>
        <c:majorTickMark val="none"/>
        <c:minorTickMark val="none"/>
        <c:tickLblPos val="nextTo"/>
        <c:spPr>
          <a:ln w="12700" cap="flat">
            <a:solidFill>
              <a:srgbClr val="A6A6A6"/>
            </a:solidFill>
            <a:prstDash val="solid"/>
            <a:round/>
          </a:ln>
        </c:spPr>
        <c:txPr>
          <a:bodyPr/>
          <a:lstStyle/>
          <a:p>
            <a:pPr>
              <a:defRPr sz="640" b="0" i="0" u="none" strike="noStrike">
                <a:solidFill>
                  <a:srgbClr val="595959"/>
                </a:solidFill>
                <a:latin typeface="Arial"/>
              </a:defRPr>
            </a:pPr>
            <a:endParaRPr lang="en-US"/>
          </a:p>
        </c:txPr>
        <c:crossAx val="2094734552"/>
        <c:crosses val="autoZero"/>
        <c:crossBetween val="midCat"/>
        <c:majorUnit val="40"/>
      </c:valAx>
      <c:valAx>
        <c:axId val="2094734552"/>
        <c:scaling>
          <c:orientation val="minMax"/>
          <c:max val="120"/>
          <c:min val="0"/>
        </c:scaling>
        <c:delete val="1"/>
        <c:axPos val="l"/>
        <c:majorGridlines>
          <c:spPr>
            <a:ln w="6350" cap="flat">
              <a:solidFill>
                <a:srgbClr val="E3E3E3"/>
              </a:solidFill>
              <a:prstDash val="solid"/>
              <a:round/>
            </a:ln>
          </c:spPr>
        </c:majorGridlines>
        <c:numFmt formatCode="General" sourceLinked="0"/>
        <c:majorTickMark val="none"/>
        <c:minorTickMark val="none"/>
        <c:tickLblPos val="nextTo"/>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Coupon digitals</c:v>
                </c:pt>
              </c:strCache>
            </c:strRef>
          </c:tx>
          <c:spPr>
            <a:ln w="25400" cap="flat">
              <a:solidFill>
                <a:srgbClr val="2C5F82"/>
              </a:solidFill>
              <a:prstDash val="solid"/>
              <a:round/>
            </a:ln>
            <a:effectLst/>
          </c:spPr>
          <c:marker>
            <c:symbol val="none"/>
          </c:marker>
          <c:xVal>
            <c:numRef>
              <c:f>Sheet1!$A$2:$A$122</c:f>
              <c:numCache>
                <c:formatCode>General</c:formatCode>
                <c:ptCount val="12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numCache>
            </c:numRef>
          </c:xVal>
          <c:yVal>
            <c:numRef>
              <c:f>Sheet1!$B$2:$B$122</c:f>
              <c:numCache>
                <c:formatCode>General</c:formatCode>
                <c:ptCount val="1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3.1875</c:v>
                </c:pt>
                <c:pt idx="61">
                  <c:v>3.1875</c:v>
                </c:pt>
                <c:pt idx="62">
                  <c:v>3.1875</c:v>
                </c:pt>
                <c:pt idx="63">
                  <c:v>3.1875</c:v>
                </c:pt>
                <c:pt idx="64">
                  <c:v>3.1875</c:v>
                </c:pt>
                <c:pt idx="65">
                  <c:v>3.1875</c:v>
                </c:pt>
                <c:pt idx="66">
                  <c:v>3.1875</c:v>
                </c:pt>
                <c:pt idx="67">
                  <c:v>3.1875</c:v>
                </c:pt>
                <c:pt idx="68">
                  <c:v>3.1875</c:v>
                </c:pt>
                <c:pt idx="69">
                  <c:v>3.1875</c:v>
                </c:pt>
                <c:pt idx="70">
                  <c:v>3.1875</c:v>
                </c:pt>
                <c:pt idx="71">
                  <c:v>3.1875</c:v>
                </c:pt>
                <c:pt idx="72">
                  <c:v>3.1875</c:v>
                </c:pt>
                <c:pt idx="73">
                  <c:v>3.1875</c:v>
                </c:pt>
                <c:pt idx="74">
                  <c:v>3.1875</c:v>
                </c:pt>
                <c:pt idx="75">
                  <c:v>3.1875</c:v>
                </c:pt>
                <c:pt idx="76">
                  <c:v>3.1875</c:v>
                </c:pt>
                <c:pt idx="77">
                  <c:v>3.1875</c:v>
                </c:pt>
                <c:pt idx="78">
                  <c:v>3.1875</c:v>
                </c:pt>
                <c:pt idx="79">
                  <c:v>3.1875</c:v>
                </c:pt>
                <c:pt idx="80">
                  <c:v>3.1875</c:v>
                </c:pt>
                <c:pt idx="81">
                  <c:v>3.1875</c:v>
                </c:pt>
                <c:pt idx="82">
                  <c:v>3.1875</c:v>
                </c:pt>
                <c:pt idx="83">
                  <c:v>3.1875</c:v>
                </c:pt>
                <c:pt idx="84">
                  <c:v>3.1875</c:v>
                </c:pt>
                <c:pt idx="85">
                  <c:v>3.1875</c:v>
                </c:pt>
                <c:pt idx="86">
                  <c:v>3.1875</c:v>
                </c:pt>
                <c:pt idx="87">
                  <c:v>3.1875</c:v>
                </c:pt>
                <c:pt idx="88">
                  <c:v>3.1875</c:v>
                </c:pt>
                <c:pt idx="89">
                  <c:v>3.1875</c:v>
                </c:pt>
                <c:pt idx="90">
                  <c:v>3.1875</c:v>
                </c:pt>
                <c:pt idx="91">
                  <c:v>3.1875</c:v>
                </c:pt>
                <c:pt idx="92">
                  <c:v>3.1875</c:v>
                </c:pt>
                <c:pt idx="93">
                  <c:v>3.1875</c:v>
                </c:pt>
                <c:pt idx="94">
                  <c:v>3.1875</c:v>
                </c:pt>
                <c:pt idx="95">
                  <c:v>3.1875</c:v>
                </c:pt>
                <c:pt idx="96">
                  <c:v>3.1875</c:v>
                </c:pt>
                <c:pt idx="97">
                  <c:v>3.1875</c:v>
                </c:pt>
                <c:pt idx="98">
                  <c:v>3.1875</c:v>
                </c:pt>
                <c:pt idx="99">
                  <c:v>3.1875</c:v>
                </c:pt>
                <c:pt idx="100">
                  <c:v>3.1875</c:v>
                </c:pt>
                <c:pt idx="101">
                  <c:v>3.1875</c:v>
                </c:pt>
                <c:pt idx="102">
                  <c:v>3.1875</c:v>
                </c:pt>
                <c:pt idx="103">
                  <c:v>3.1875</c:v>
                </c:pt>
                <c:pt idx="104">
                  <c:v>3.1875</c:v>
                </c:pt>
                <c:pt idx="105">
                  <c:v>3.1875</c:v>
                </c:pt>
                <c:pt idx="106">
                  <c:v>3.1875</c:v>
                </c:pt>
                <c:pt idx="107">
                  <c:v>3.1875</c:v>
                </c:pt>
                <c:pt idx="108">
                  <c:v>3.1875</c:v>
                </c:pt>
                <c:pt idx="109">
                  <c:v>3.1875</c:v>
                </c:pt>
                <c:pt idx="110">
                  <c:v>3.1875</c:v>
                </c:pt>
                <c:pt idx="111">
                  <c:v>3.1875</c:v>
                </c:pt>
                <c:pt idx="112">
                  <c:v>3.1875</c:v>
                </c:pt>
                <c:pt idx="113">
                  <c:v>3.1875</c:v>
                </c:pt>
                <c:pt idx="114">
                  <c:v>3.1875</c:v>
                </c:pt>
                <c:pt idx="115">
                  <c:v>3.1875</c:v>
                </c:pt>
                <c:pt idx="116">
                  <c:v>3.1875</c:v>
                </c:pt>
                <c:pt idx="117">
                  <c:v>3.1875</c:v>
                </c:pt>
                <c:pt idx="118">
                  <c:v>3.1875</c:v>
                </c:pt>
                <c:pt idx="119">
                  <c:v>3.1875</c:v>
                </c:pt>
                <c:pt idx="120">
                  <c:v>3.1875</c:v>
                </c:pt>
              </c:numCache>
            </c:numRef>
          </c:yVal>
          <c:smooth val="0"/>
          <c:extLst>
            <c:ext xmlns:c16="http://schemas.microsoft.com/office/drawing/2014/chart" uri="{C3380CC4-5D6E-409C-BE32-E72D297353CC}">
              <c16:uniqueId val="{00000000-58DB-9844-A359-FFD791CF4C11}"/>
            </c:ext>
          </c:extLst>
        </c:ser>
        <c:dLbls>
          <c:showLegendKey val="0"/>
          <c:showVal val="0"/>
          <c:showCatName val="0"/>
          <c:showSerName val="0"/>
          <c:showPercent val="0"/>
          <c:showBubbleSize val="0"/>
        </c:dLbls>
        <c:axId val="2094734554"/>
        <c:axId val="2094734552"/>
      </c:scatterChart>
      <c:valAx>
        <c:axId val="2094734554"/>
        <c:scaling>
          <c:orientation val="minMax"/>
          <c:max val="160"/>
          <c:min val="40"/>
        </c:scaling>
        <c:delete val="0"/>
        <c:axPos val="b"/>
        <c:title>
          <c:tx>
            <c:rich>
              <a:bodyPr/>
              <a:lstStyle/>
              <a:p>
                <a:pPr>
                  <a:defRPr sz="640" b="0" i="0" u="none" strike="noStrike">
                    <a:solidFill>
                      <a:srgbClr val="595959"/>
                    </a:solidFill>
                    <a:latin typeface="Arial"/>
                  </a:defRPr>
                </a:pPr>
                <a:r>
                  <a:rPr lang="en-US" sz="640" b="0" i="0" u="none" strike="noStrike">
                    <a:solidFill>
                      <a:srgbClr val="595959"/>
                    </a:solidFill>
                    <a:latin typeface="Arial"/>
                  </a:rPr>
                  <a:t>Basket on any date</a:t>
                </a:r>
              </a:p>
            </c:rich>
          </c:tx>
          <c:overlay val="0"/>
        </c:title>
        <c:numFmt formatCode="General" sourceLinked="1"/>
        <c:majorTickMark val="none"/>
        <c:minorTickMark val="none"/>
        <c:tickLblPos val="nextTo"/>
        <c:spPr>
          <a:ln w="12700" cap="flat">
            <a:solidFill>
              <a:srgbClr val="A6A6A6"/>
            </a:solidFill>
            <a:prstDash val="solid"/>
            <a:round/>
          </a:ln>
        </c:spPr>
        <c:txPr>
          <a:bodyPr/>
          <a:lstStyle/>
          <a:p>
            <a:pPr>
              <a:defRPr sz="640" b="0" i="0" u="none" strike="noStrike">
                <a:solidFill>
                  <a:srgbClr val="595959"/>
                </a:solidFill>
                <a:latin typeface="Arial"/>
              </a:defRPr>
            </a:pPr>
            <a:endParaRPr lang="en-US"/>
          </a:p>
        </c:txPr>
        <c:crossAx val="2094734552"/>
        <c:crosses val="autoZero"/>
        <c:crossBetween val="midCat"/>
        <c:majorUnit val="40"/>
      </c:valAx>
      <c:valAx>
        <c:axId val="2094734552"/>
        <c:scaling>
          <c:orientation val="minMax"/>
          <c:max val="3.2"/>
          <c:min val="-0.5"/>
        </c:scaling>
        <c:delete val="1"/>
        <c:axPos val="l"/>
        <c:majorGridlines>
          <c:spPr>
            <a:ln w="6350" cap="flat">
              <a:solidFill>
                <a:srgbClr val="E3E3E3"/>
              </a:solidFill>
              <a:prstDash val="solid"/>
              <a:round/>
            </a:ln>
          </c:spPr>
        </c:majorGridlines>
        <c:numFmt formatCode="General" sourceLinked="0"/>
        <c:majorTickMark val="none"/>
        <c:minorTickMark val="none"/>
        <c:tickLblPos val="nextTo"/>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Autocall (Natixis)</c:v>
                </c:pt>
              </c:strCache>
            </c:strRef>
          </c:tx>
          <c:spPr>
            <a:ln w="25400" cap="flat">
              <a:solidFill>
                <a:srgbClr val="A6A6A6"/>
              </a:solidFill>
              <a:prstDash val="solid"/>
              <a:round/>
            </a:ln>
            <a:effectLst/>
          </c:spPr>
          <c:marker>
            <c:symbol val="none"/>
          </c:marker>
          <c:xVal>
            <c:numRef>
              <c:f>Sheet1!$A$2:$A$122</c:f>
              <c:numCache>
                <c:formatCode>General</c:formatCode>
                <c:ptCount val="12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numCache>
            </c:numRef>
          </c:xVal>
          <c:yVal>
            <c:numRef>
              <c:f>Sheet1!$B$2:$B$122</c:f>
              <c:numCache>
                <c:formatCode>General</c:formatCode>
                <c:ptCount val="12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numCache>
            </c:numRef>
          </c:yVal>
          <c:smooth val="0"/>
          <c:extLst>
            <c:ext xmlns:c16="http://schemas.microsoft.com/office/drawing/2014/chart" uri="{C3380CC4-5D6E-409C-BE32-E72D297353CC}">
              <c16:uniqueId val="{00000000-51F4-4540-9433-8EAE6E50F844}"/>
            </c:ext>
          </c:extLst>
        </c:ser>
        <c:dLbls>
          <c:showLegendKey val="0"/>
          <c:showVal val="0"/>
          <c:showCatName val="0"/>
          <c:showSerName val="0"/>
          <c:showPercent val="0"/>
          <c:showBubbleSize val="0"/>
        </c:dLbls>
        <c:axId val="2094734554"/>
        <c:axId val="2094734552"/>
      </c:scatterChart>
      <c:valAx>
        <c:axId val="2094734554"/>
        <c:scaling>
          <c:orientation val="minMax"/>
          <c:max val="160"/>
          <c:min val="40"/>
        </c:scaling>
        <c:delete val="0"/>
        <c:axPos val="b"/>
        <c:title>
          <c:tx>
            <c:rich>
              <a:bodyPr/>
              <a:lstStyle/>
              <a:p>
                <a:pPr>
                  <a:defRPr sz="640" b="0" i="0" u="none" strike="noStrike">
                    <a:solidFill>
                      <a:srgbClr val="595959"/>
                    </a:solidFill>
                    <a:latin typeface="Arial"/>
                  </a:defRPr>
                </a:pPr>
                <a:r>
                  <a:rPr lang="en-US" sz="640" b="0" i="0" u="none" strike="noStrike">
                    <a:solidFill>
                      <a:srgbClr val="595959"/>
                    </a:solidFill>
                    <a:latin typeface="Arial"/>
                  </a:rPr>
                  <a:t>Basket on any date</a:t>
                </a:r>
              </a:p>
            </c:rich>
          </c:tx>
          <c:overlay val="0"/>
        </c:title>
        <c:numFmt formatCode="General" sourceLinked="1"/>
        <c:majorTickMark val="none"/>
        <c:minorTickMark val="none"/>
        <c:tickLblPos val="nextTo"/>
        <c:spPr>
          <a:ln w="12700" cap="flat">
            <a:solidFill>
              <a:srgbClr val="A6A6A6"/>
            </a:solidFill>
            <a:prstDash val="solid"/>
            <a:round/>
          </a:ln>
        </c:spPr>
        <c:txPr>
          <a:bodyPr/>
          <a:lstStyle/>
          <a:p>
            <a:pPr>
              <a:defRPr sz="640" b="0" i="0" u="none" strike="noStrike">
                <a:solidFill>
                  <a:srgbClr val="595959"/>
                </a:solidFill>
                <a:latin typeface="Arial"/>
              </a:defRPr>
            </a:pPr>
            <a:endParaRPr lang="en-US"/>
          </a:p>
        </c:txPr>
        <c:crossAx val="2094734552"/>
        <c:crosses val="autoZero"/>
        <c:crossBetween val="midCat"/>
        <c:majorUnit val="40"/>
      </c:valAx>
      <c:valAx>
        <c:axId val="2094734552"/>
        <c:scaling>
          <c:orientation val="minMax"/>
          <c:max val="1.4"/>
          <c:min val="-0.3"/>
        </c:scaling>
        <c:delete val="1"/>
        <c:axPos val="l"/>
        <c:majorGridlines>
          <c:spPr>
            <a:ln w="6350" cap="flat">
              <a:solidFill>
                <a:srgbClr val="E3E3E3"/>
              </a:solidFill>
              <a:prstDash val="solid"/>
              <a:round/>
            </a:ln>
          </c:spPr>
        </c:majorGridlines>
        <c:numFmt formatCode="General" sourceLinked="0"/>
        <c:majorTickMark val="none"/>
        <c:minorTickMark val="none"/>
        <c:tickLblPos val="nextTo"/>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Short put (client)</c:v>
                </c:pt>
              </c:strCache>
            </c:strRef>
          </c:tx>
          <c:spPr>
            <a:ln w="25400" cap="flat">
              <a:solidFill>
                <a:srgbClr val="B23B3B"/>
              </a:solidFill>
              <a:prstDash val="solid"/>
              <a:round/>
            </a:ln>
            <a:effectLst/>
          </c:spPr>
          <c:marker>
            <c:symbol val="none"/>
          </c:marker>
          <c:xVal>
            <c:numRef>
              <c:f>Sheet1!$A$2:$A$122</c:f>
              <c:numCache>
                <c:formatCode>General</c:formatCode>
                <c:ptCount val="12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numCache>
            </c:numRef>
          </c:xVal>
          <c:yVal>
            <c:numRef>
              <c:f>Sheet1!$B$2:$B$122</c:f>
              <c:numCache>
                <c:formatCode>General</c:formatCode>
                <c:ptCount val="121"/>
                <c:pt idx="0">
                  <c:v>-60</c:v>
                </c:pt>
                <c:pt idx="1">
                  <c:v>-59</c:v>
                </c:pt>
                <c:pt idx="2">
                  <c:v>-58</c:v>
                </c:pt>
                <c:pt idx="3">
                  <c:v>-57</c:v>
                </c:pt>
                <c:pt idx="4">
                  <c:v>-56</c:v>
                </c:pt>
                <c:pt idx="5">
                  <c:v>-55</c:v>
                </c:pt>
                <c:pt idx="6">
                  <c:v>-54</c:v>
                </c:pt>
                <c:pt idx="7">
                  <c:v>-53</c:v>
                </c:pt>
                <c:pt idx="8">
                  <c:v>-52</c:v>
                </c:pt>
                <c:pt idx="9">
                  <c:v>-51</c:v>
                </c:pt>
                <c:pt idx="10">
                  <c:v>-50</c:v>
                </c:pt>
                <c:pt idx="11">
                  <c:v>-49</c:v>
                </c:pt>
                <c:pt idx="12">
                  <c:v>-48</c:v>
                </c:pt>
                <c:pt idx="13">
                  <c:v>-47</c:v>
                </c:pt>
                <c:pt idx="14">
                  <c:v>-46</c:v>
                </c:pt>
                <c:pt idx="15">
                  <c:v>-45</c:v>
                </c:pt>
                <c:pt idx="16">
                  <c:v>-44</c:v>
                </c:pt>
                <c:pt idx="17">
                  <c:v>-43</c:v>
                </c:pt>
                <c:pt idx="18">
                  <c:v>-42</c:v>
                </c:pt>
                <c:pt idx="19">
                  <c:v>-41</c:v>
                </c:pt>
                <c:pt idx="20">
                  <c:v>-40</c:v>
                </c:pt>
                <c:pt idx="21">
                  <c:v>-39</c:v>
                </c:pt>
                <c:pt idx="22">
                  <c:v>-38</c:v>
                </c:pt>
                <c:pt idx="23">
                  <c:v>-37</c:v>
                </c:pt>
                <c:pt idx="24">
                  <c:v>-36</c:v>
                </c:pt>
                <c:pt idx="25">
                  <c:v>-35</c:v>
                </c:pt>
                <c:pt idx="26">
                  <c:v>-34</c:v>
                </c:pt>
                <c:pt idx="27">
                  <c:v>-33</c:v>
                </c:pt>
                <c:pt idx="28">
                  <c:v>-32</c:v>
                </c:pt>
                <c:pt idx="29">
                  <c:v>-31</c:v>
                </c:pt>
                <c:pt idx="30">
                  <c:v>-30</c:v>
                </c:pt>
                <c:pt idx="31">
                  <c:v>-29</c:v>
                </c:pt>
                <c:pt idx="32">
                  <c:v>-28</c:v>
                </c:pt>
                <c:pt idx="33">
                  <c:v>-27</c:v>
                </c:pt>
                <c:pt idx="34">
                  <c:v>-26</c:v>
                </c:pt>
                <c:pt idx="35">
                  <c:v>-25</c:v>
                </c:pt>
                <c:pt idx="36">
                  <c:v>-24</c:v>
                </c:pt>
                <c:pt idx="37">
                  <c:v>-23</c:v>
                </c:pt>
                <c:pt idx="38">
                  <c:v>-22</c:v>
                </c:pt>
                <c:pt idx="39">
                  <c:v>-21</c:v>
                </c:pt>
                <c:pt idx="40">
                  <c:v>-20</c:v>
                </c:pt>
                <c:pt idx="41">
                  <c:v>-19</c:v>
                </c:pt>
                <c:pt idx="42">
                  <c:v>-18</c:v>
                </c:pt>
                <c:pt idx="43">
                  <c:v>-17</c:v>
                </c:pt>
                <c:pt idx="44">
                  <c:v>-16</c:v>
                </c:pt>
                <c:pt idx="45">
                  <c:v>-15</c:v>
                </c:pt>
                <c:pt idx="46">
                  <c:v>-14</c:v>
                </c:pt>
                <c:pt idx="47">
                  <c:v>-13</c:v>
                </c:pt>
                <c:pt idx="48">
                  <c:v>-12</c:v>
                </c:pt>
                <c:pt idx="49">
                  <c:v>-11</c:v>
                </c:pt>
                <c:pt idx="50">
                  <c:v>-10</c:v>
                </c:pt>
                <c:pt idx="51">
                  <c:v>-9</c:v>
                </c:pt>
                <c:pt idx="52">
                  <c:v>-8</c:v>
                </c:pt>
                <c:pt idx="53">
                  <c:v>-7</c:v>
                </c:pt>
                <c:pt idx="54">
                  <c:v>-6</c:v>
                </c:pt>
                <c:pt idx="55">
                  <c:v>-5</c:v>
                </c:pt>
                <c:pt idx="56">
                  <c:v>-4</c:v>
                </c:pt>
                <c:pt idx="57">
                  <c:v>-3</c:v>
                </c:pt>
                <c:pt idx="58">
                  <c:v>-2</c:v>
                </c:pt>
                <c:pt idx="59">
                  <c:v>-1</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numCache>
            </c:numRef>
          </c:yVal>
          <c:smooth val="0"/>
          <c:extLst>
            <c:ext xmlns:c16="http://schemas.microsoft.com/office/drawing/2014/chart" uri="{C3380CC4-5D6E-409C-BE32-E72D297353CC}">
              <c16:uniqueId val="{00000000-A4D3-7C42-86E6-A9F6E7DC2E02}"/>
            </c:ext>
          </c:extLst>
        </c:ser>
        <c:dLbls>
          <c:showLegendKey val="0"/>
          <c:showVal val="0"/>
          <c:showCatName val="0"/>
          <c:showSerName val="0"/>
          <c:showPercent val="0"/>
          <c:showBubbleSize val="0"/>
        </c:dLbls>
        <c:axId val="2094734554"/>
        <c:axId val="2094734552"/>
      </c:scatterChart>
      <c:valAx>
        <c:axId val="2094734554"/>
        <c:scaling>
          <c:orientation val="minMax"/>
          <c:max val="160"/>
          <c:min val="40"/>
        </c:scaling>
        <c:delete val="0"/>
        <c:axPos val="b"/>
        <c:title>
          <c:tx>
            <c:rich>
              <a:bodyPr/>
              <a:lstStyle/>
              <a:p>
                <a:pPr>
                  <a:defRPr sz="640" b="0" i="0" u="none" strike="noStrike">
                    <a:solidFill>
                      <a:srgbClr val="595959"/>
                    </a:solidFill>
                    <a:latin typeface="Arial"/>
                  </a:defRPr>
                </a:pPr>
                <a:r>
                  <a:rPr lang="en-US" sz="640" b="0" i="0" u="none" strike="noStrike">
                    <a:solidFill>
                      <a:srgbClr val="595959"/>
                    </a:solidFill>
                    <a:latin typeface="Arial"/>
                  </a:rPr>
                  <a:t>Basket at Y5</a:t>
                </a:r>
              </a:p>
            </c:rich>
          </c:tx>
          <c:overlay val="0"/>
        </c:title>
        <c:numFmt formatCode="General" sourceLinked="1"/>
        <c:majorTickMark val="none"/>
        <c:minorTickMark val="none"/>
        <c:tickLblPos val="nextTo"/>
        <c:spPr>
          <a:ln w="12700" cap="flat">
            <a:solidFill>
              <a:srgbClr val="A6A6A6"/>
            </a:solidFill>
            <a:prstDash val="solid"/>
            <a:round/>
          </a:ln>
        </c:spPr>
        <c:txPr>
          <a:bodyPr/>
          <a:lstStyle/>
          <a:p>
            <a:pPr>
              <a:defRPr sz="640" b="0" i="0" u="none" strike="noStrike">
                <a:solidFill>
                  <a:srgbClr val="595959"/>
                </a:solidFill>
                <a:latin typeface="Arial"/>
              </a:defRPr>
            </a:pPr>
            <a:endParaRPr lang="en-US"/>
          </a:p>
        </c:txPr>
        <c:crossAx val="2094734552"/>
        <c:crosses val="autoZero"/>
        <c:crossBetween val="midCat"/>
        <c:majorUnit val="40"/>
      </c:valAx>
      <c:valAx>
        <c:axId val="2094734552"/>
        <c:scaling>
          <c:orientation val="minMax"/>
          <c:max val="6"/>
          <c:min val="-66"/>
        </c:scaling>
        <c:delete val="1"/>
        <c:axPos val="l"/>
        <c:majorGridlines>
          <c:spPr>
            <a:ln w="6350" cap="flat">
              <a:solidFill>
                <a:srgbClr val="E3E3E3"/>
              </a:solidFill>
              <a:prstDash val="solid"/>
              <a:round/>
            </a:ln>
          </c:spPr>
        </c:majorGridlines>
        <c:numFmt formatCode="General" sourceLinked="0"/>
        <c:majorTickMark val="none"/>
        <c:minorTickMark val="none"/>
        <c:tickLblPos val="nextTo"/>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870" b="0" i="0" u="none" strike="noStrike">
                <a:solidFill>
                  <a:srgbClr val="262626"/>
                </a:solidFill>
                <a:latin typeface="Arial"/>
              </a:defRPr>
            </a:pPr>
            <a:r>
              <a:rPr lang="en-US" sz="870" b="0" i="0" u="none" strike="noStrike">
                <a:solidFill>
                  <a:srgbClr val="262626"/>
                </a:solidFill>
                <a:latin typeface="Arial"/>
              </a:rPr>
              <a:t>Total received at Y5 (not called earlier) vs final basket level</a:t>
            </a:r>
          </a:p>
        </c:rich>
      </c:tx>
      <c:overlay val="0"/>
    </c:title>
    <c:autoTitleDeleted val="0"/>
    <c:plotArea>
      <c:layout/>
      <c:scatterChart>
        <c:scatterStyle val="lineMarker"/>
        <c:varyColors val="0"/>
        <c:ser>
          <c:idx val="0"/>
          <c:order val="0"/>
          <c:tx>
            <c:strRef>
              <c:f>Sheet1!$B$1</c:f>
              <c:strCache>
                <c:ptCount val="1"/>
                <c:pt idx="0">
                  <c:v>Our note (12.75%)</c:v>
                </c:pt>
              </c:strCache>
            </c:strRef>
          </c:tx>
          <c:spPr>
            <a:ln w="25400" cap="flat">
              <a:solidFill>
                <a:srgbClr val="2C5F82"/>
              </a:solidFill>
              <a:prstDash val="solid"/>
              <a:round/>
            </a:ln>
            <a:effectLst/>
          </c:spPr>
          <c:marker>
            <c:symbol val="none"/>
          </c:marker>
          <c:xVal>
            <c:numRef>
              <c:f>Sheet1!$A$2:$A$142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pt idx="121">
                  <c:v>161</c:v>
                </c:pt>
                <c:pt idx="122">
                  <c:v>162</c:v>
                </c:pt>
                <c:pt idx="123">
                  <c:v>163</c:v>
                </c:pt>
                <c:pt idx="124">
                  <c:v>164</c:v>
                </c:pt>
                <c:pt idx="125">
                  <c:v>165</c:v>
                </c:pt>
                <c:pt idx="126">
                  <c:v>166</c:v>
                </c:pt>
                <c:pt idx="127">
                  <c:v>167</c:v>
                </c:pt>
                <c:pt idx="128">
                  <c:v>168</c:v>
                </c:pt>
                <c:pt idx="129">
                  <c:v>169</c:v>
                </c:pt>
                <c:pt idx="130">
                  <c:v>170</c:v>
                </c:pt>
                <c:pt idx="131">
                  <c:v>171</c:v>
                </c:pt>
                <c:pt idx="132">
                  <c:v>172</c:v>
                </c:pt>
                <c:pt idx="133">
                  <c:v>173</c:v>
                </c:pt>
                <c:pt idx="134">
                  <c:v>174</c:v>
                </c:pt>
                <c:pt idx="135">
                  <c:v>175</c:v>
                </c:pt>
                <c:pt idx="136">
                  <c:v>176</c:v>
                </c:pt>
                <c:pt idx="137">
                  <c:v>177</c:v>
                </c:pt>
                <c:pt idx="138">
                  <c:v>178</c:v>
                </c:pt>
                <c:pt idx="139">
                  <c:v>179</c:v>
                </c:pt>
                <c:pt idx="140">
                  <c:v>180</c:v>
                </c:pt>
              </c:numCache>
            </c:numRef>
          </c:xVal>
          <c:yVal>
            <c:numRef>
              <c:f>Sheet1!$B$2:$B$142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163.75</c:v>
                </c:pt>
                <c:pt idx="61">
                  <c:v>163.75</c:v>
                </c:pt>
                <c:pt idx="62">
                  <c:v>163.75</c:v>
                </c:pt>
                <c:pt idx="63">
                  <c:v>163.75</c:v>
                </c:pt>
                <c:pt idx="64">
                  <c:v>163.75</c:v>
                </c:pt>
                <c:pt idx="65">
                  <c:v>163.75</c:v>
                </c:pt>
                <c:pt idx="66">
                  <c:v>163.75</c:v>
                </c:pt>
                <c:pt idx="67">
                  <c:v>163.75</c:v>
                </c:pt>
                <c:pt idx="68">
                  <c:v>163.75</c:v>
                </c:pt>
                <c:pt idx="69">
                  <c:v>163.75</c:v>
                </c:pt>
                <c:pt idx="70">
                  <c:v>163.75</c:v>
                </c:pt>
                <c:pt idx="71">
                  <c:v>163.75</c:v>
                </c:pt>
                <c:pt idx="72">
                  <c:v>163.75</c:v>
                </c:pt>
                <c:pt idx="73">
                  <c:v>163.75</c:v>
                </c:pt>
                <c:pt idx="74">
                  <c:v>163.75</c:v>
                </c:pt>
                <c:pt idx="75">
                  <c:v>163.75</c:v>
                </c:pt>
                <c:pt idx="76">
                  <c:v>163.75</c:v>
                </c:pt>
                <c:pt idx="77">
                  <c:v>163.75</c:v>
                </c:pt>
                <c:pt idx="78">
                  <c:v>163.75</c:v>
                </c:pt>
                <c:pt idx="79">
                  <c:v>163.75</c:v>
                </c:pt>
                <c:pt idx="80">
                  <c:v>163.75</c:v>
                </c:pt>
                <c:pt idx="81">
                  <c:v>163.75</c:v>
                </c:pt>
                <c:pt idx="82">
                  <c:v>163.75</c:v>
                </c:pt>
                <c:pt idx="83">
                  <c:v>163.75</c:v>
                </c:pt>
                <c:pt idx="84">
                  <c:v>163.75</c:v>
                </c:pt>
                <c:pt idx="85">
                  <c:v>163.75</c:v>
                </c:pt>
                <c:pt idx="86">
                  <c:v>163.75</c:v>
                </c:pt>
                <c:pt idx="87">
                  <c:v>163.75</c:v>
                </c:pt>
                <c:pt idx="88">
                  <c:v>163.75</c:v>
                </c:pt>
                <c:pt idx="89">
                  <c:v>163.75</c:v>
                </c:pt>
                <c:pt idx="90">
                  <c:v>163.75</c:v>
                </c:pt>
                <c:pt idx="91">
                  <c:v>163.75</c:v>
                </c:pt>
                <c:pt idx="92">
                  <c:v>163.75</c:v>
                </c:pt>
                <c:pt idx="93">
                  <c:v>163.75</c:v>
                </c:pt>
                <c:pt idx="94">
                  <c:v>163.75</c:v>
                </c:pt>
                <c:pt idx="95">
                  <c:v>163.75</c:v>
                </c:pt>
                <c:pt idx="96">
                  <c:v>163.75</c:v>
                </c:pt>
                <c:pt idx="97">
                  <c:v>163.75</c:v>
                </c:pt>
                <c:pt idx="98">
                  <c:v>163.75</c:v>
                </c:pt>
                <c:pt idx="99">
                  <c:v>163.75</c:v>
                </c:pt>
                <c:pt idx="100">
                  <c:v>163.75</c:v>
                </c:pt>
                <c:pt idx="101">
                  <c:v>163.75</c:v>
                </c:pt>
                <c:pt idx="102">
                  <c:v>163.75</c:v>
                </c:pt>
                <c:pt idx="103">
                  <c:v>163.75</c:v>
                </c:pt>
                <c:pt idx="104">
                  <c:v>163.75</c:v>
                </c:pt>
                <c:pt idx="105">
                  <c:v>163.75</c:v>
                </c:pt>
                <c:pt idx="106">
                  <c:v>163.75</c:v>
                </c:pt>
                <c:pt idx="107">
                  <c:v>163.75</c:v>
                </c:pt>
                <c:pt idx="108">
                  <c:v>163.75</c:v>
                </c:pt>
                <c:pt idx="109">
                  <c:v>163.75</c:v>
                </c:pt>
                <c:pt idx="110">
                  <c:v>163.75</c:v>
                </c:pt>
                <c:pt idx="111">
                  <c:v>163.75</c:v>
                </c:pt>
                <c:pt idx="112">
                  <c:v>163.75</c:v>
                </c:pt>
                <c:pt idx="113">
                  <c:v>163.75</c:v>
                </c:pt>
                <c:pt idx="114">
                  <c:v>163.75</c:v>
                </c:pt>
                <c:pt idx="115">
                  <c:v>163.75</c:v>
                </c:pt>
                <c:pt idx="116">
                  <c:v>163.75</c:v>
                </c:pt>
                <c:pt idx="117">
                  <c:v>163.75</c:v>
                </c:pt>
                <c:pt idx="118">
                  <c:v>163.75</c:v>
                </c:pt>
                <c:pt idx="119">
                  <c:v>163.75</c:v>
                </c:pt>
                <c:pt idx="120">
                  <c:v>163.75</c:v>
                </c:pt>
                <c:pt idx="121">
                  <c:v>163.75</c:v>
                </c:pt>
                <c:pt idx="122">
                  <c:v>163.75</c:v>
                </c:pt>
                <c:pt idx="123">
                  <c:v>163.75</c:v>
                </c:pt>
                <c:pt idx="124">
                  <c:v>163.75</c:v>
                </c:pt>
                <c:pt idx="125">
                  <c:v>163.75</c:v>
                </c:pt>
                <c:pt idx="126">
                  <c:v>163.75</c:v>
                </c:pt>
                <c:pt idx="127">
                  <c:v>163.75</c:v>
                </c:pt>
                <c:pt idx="128">
                  <c:v>163.75</c:v>
                </c:pt>
                <c:pt idx="129">
                  <c:v>163.75</c:v>
                </c:pt>
                <c:pt idx="130">
                  <c:v>163.75</c:v>
                </c:pt>
                <c:pt idx="131">
                  <c:v>163.75</c:v>
                </c:pt>
                <c:pt idx="132">
                  <c:v>163.75</c:v>
                </c:pt>
                <c:pt idx="133">
                  <c:v>163.75</c:v>
                </c:pt>
                <c:pt idx="134">
                  <c:v>163.75</c:v>
                </c:pt>
                <c:pt idx="135">
                  <c:v>163.75</c:v>
                </c:pt>
                <c:pt idx="136">
                  <c:v>163.75</c:v>
                </c:pt>
                <c:pt idx="137">
                  <c:v>163.75</c:v>
                </c:pt>
                <c:pt idx="138">
                  <c:v>163.75</c:v>
                </c:pt>
                <c:pt idx="139">
                  <c:v>163.75</c:v>
                </c:pt>
                <c:pt idx="140">
                  <c:v>163.75</c:v>
                </c:pt>
              </c:numCache>
            </c:numRef>
          </c:yVal>
          <c:smooth val="0"/>
          <c:extLst>
            <c:ext xmlns:c16="http://schemas.microsoft.com/office/drawing/2014/chart" uri="{C3380CC4-5D6E-409C-BE32-E72D297353CC}">
              <c16:uniqueId val="{00000000-7BD6-4342-881A-B377C380E1C8}"/>
            </c:ext>
          </c:extLst>
        </c:ser>
        <c:ser>
          <c:idx val="1"/>
          <c:order val="1"/>
          <c:tx>
            <c:strRef>
              <c:f>Sheet1!$C$1</c:f>
              <c:strCache>
                <c:ptCount val="1"/>
                <c:pt idx="0">
                  <c:v>Snowball 13.6%, 65% barrier</c:v>
                </c:pt>
              </c:strCache>
            </c:strRef>
          </c:tx>
          <c:spPr>
            <a:ln w="25400" cap="flat">
              <a:solidFill>
                <a:srgbClr val="B23B3B"/>
              </a:solidFill>
              <a:prstDash val="solid"/>
              <a:round/>
            </a:ln>
            <a:effectLst/>
          </c:spPr>
          <c:marker>
            <c:symbol val="none"/>
          </c:marker>
          <c:xVal>
            <c:numRef>
              <c:f>Sheet1!$A$2:$A$142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pt idx="121">
                  <c:v>161</c:v>
                </c:pt>
                <c:pt idx="122">
                  <c:v>162</c:v>
                </c:pt>
                <c:pt idx="123">
                  <c:v>163</c:v>
                </c:pt>
                <c:pt idx="124">
                  <c:v>164</c:v>
                </c:pt>
                <c:pt idx="125">
                  <c:v>165</c:v>
                </c:pt>
                <c:pt idx="126">
                  <c:v>166</c:v>
                </c:pt>
                <c:pt idx="127">
                  <c:v>167</c:v>
                </c:pt>
                <c:pt idx="128">
                  <c:v>168</c:v>
                </c:pt>
                <c:pt idx="129">
                  <c:v>169</c:v>
                </c:pt>
                <c:pt idx="130">
                  <c:v>170</c:v>
                </c:pt>
                <c:pt idx="131">
                  <c:v>171</c:v>
                </c:pt>
                <c:pt idx="132">
                  <c:v>172</c:v>
                </c:pt>
                <c:pt idx="133">
                  <c:v>173</c:v>
                </c:pt>
                <c:pt idx="134">
                  <c:v>174</c:v>
                </c:pt>
                <c:pt idx="135">
                  <c:v>175</c:v>
                </c:pt>
                <c:pt idx="136">
                  <c:v>176</c:v>
                </c:pt>
                <c:pt idx="137">
                  <c:v>177</c:v>
                </c:pt>
                <c:pt idx="138">
                  <c:v>178</c:v>
                </c:pt>
                <c:pt idx="139">
                  <c:v>179</c:v>
                </c:pt>
                <c:pt idx="140">
                  <c:v>180</c:v>
                </c:pt>
              </c:numCache>
            </c:numRef>
          </c:xVal>
          <c:yVal>
            <c:numRef>
              <c:f>Sheet1!$C$2:$C$142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52">
                  <c:v>100</c:v>
                </c:pt>
                <c:pt idx="53">
                  <c:v>100</c:v>
                </c:pt>
                <c:pt idx="54">
                  <c:v>100</c:v>
                </c:pt>
                <c:pt idx="55">
                  <c:v>100</c:v>
                </c:pt>
                <c:pt idx="56">
                  <c:v>100</c:v>
                </c:pt>
                <c:pt idx="57">
                  <c:v>100</c:v>
                </c:pt>
                <c:pt idx="58">
                  <c:v>100</c:v>
                </c:pt>
                <c:pt idx="59">
                  <c:v>100</c:v>
                </c:pt>
                <c:pt idx="60">
                  <c:v>167.8</c:v>
                </c:pt>
                <c:pt idx="61">
                  <c:v>167.8</c:v>
                </c:pt>
                <c:pt idx="62">
                  <c:v>167.8</c:v>
                </c:pt>
                <c:pt idx="63">
                  <c:v>167.8</c:v>
                </c:pt>
                <c:pt idx="64">
                  <c:v>167.8</c:v>
                </c:pt>
                <c:pt idx="65">
                  <c:v>167.8</c:v>
                </c:pt>
                <c:pt idx="66">
                  <c:v>167.8</c:v>
                </c:pt>
                <c:pt idx="67">
                  <c:v>167.8</c:v>
                </c:pt>
                <c:pt idx="68">
                  <c:v>167.8</c:v>
                </c:pt>
                <c:pt idx="69">
                  <c:v>167.8</c:v>
                </c:pt>
                <c:pt idx="70">
                  <c:v>167.8</c:v>
                </c:pt>
                <c:pt idx="71">
                  <c:v>167.8</c:v>
                </c:pt>
                <c:pt idx="72">
                  <c:v>167.8</c:v>
                </c:pt>
                <c:pt idx="73">
                  <c:v>167.8</c:v>
                </c:pt>
                <c:pt idx="74">
                  <c:v>167.8</c:v>
                </c:pt>
                <c:pt idx="75">
                  <c:v>167.8</c:v>
                </c:pt>
                <c:pt idx="76">
                  <c:v>167.8</c:v>
                </c:pt>
                <c:pt idx="77">
                  <c:v>167.8</c:v>
                </c:pt>
                <c:pt idx="78">
                  <c:v>167.8</c:v>
                </c:pt>
                <c:pt idx="79">
                  <c:v>167.8</c:v>
                </c:pt>
                <c:pt idx="80">
                  <c:v>167.8</c:v>
                </c:pt>
                <c:pt idx="81">
                  <c:v>167.8</c:v>
                </c:pt>
                <c:pt idx="82">
                  <c:v>167.8</c:v>
                </c:pt>
                <c:pt idx="83">
                  <c:v>167.8</c:v>
                </c:pt>
                <c:pt idx="84">
                  <c:v>167.8</c:v>
                </c:pt>
                <c:pt idx="85">
                  <c:v>167.8</c:v>
                </c:pt>
                <c:pt idx="86">
                  <c:v>167.8</c:v>
                </c:pt>
                <c:pt idx="87">
                  <c:v>167.8</c:v>
                </c:pt>
                <c:pt idx="88">
                  <c:v>167.8</c:v>
                </c:pt>
                <c:pt idx="89">
                  <c:v>167.8</c:v>
                </c:pt>
                <c:pt idx="90">
                  <c:v>167.8</c:v>
                </c:pt>
                <c:pt idx="91">
                  <c:v>167.8</c:v>
                </c:pt>
                <c:pt idx="92">
                  <c:v>167.8</c:v>
                </c:pt>
                <c:pt idx="93">
                  <c:v>167.8</c:v>
                </c:pt>
                <c:pt idx="94">
                  <c:v>167.8</c:v>
                </c:pt>
                <c:pt idx="95">
                  <c:v>167.8</c:v>
                </c:pt>
                <c:pt idx="96">
                  <c:v>167.8</c:v>
                </c:pt>
                <c:pt idx="97">
                  <c:v>167.8</c:v>
                </c:pt>
                <c:pt idx="98">
                  <c:v>167.8</c:v>
                </c:pt>
                <c:pt idx="99">
                  <c:v>167.8</c:v>
                </c:pt>
                <c:pt idx="100">
                  <c:v>167.8</c:v>
                </c:pt>
                <c:pt idx="101">
                  <c:v>167.8</c:v>
                </c:pt>
                <c:pt idx="102">
                  <c:v>167.8</c:v>
                </c:pt>
                <c:pt idx="103">
                  <c:v>167.8</c:v>
                </c:pt>
                <c:pt idx="104">
                  <c:v>167.8</c:v>
                </c:pt>
                <c:pt idx="105">
                  <c:v>167.8</c:v>
                </c:pt>
                <c:pt idx="106">
                  <c:v>167.8</c:v>
                </c:pt>
                <c:pt idx="107">
                  <c:v>167.8</c:v>
                </c:pt>
                <c:pt idx="108">
                  <c:v>167.8</c:v>
                </c:pt>
                <c:pt idx="109">
                  <c:v>167.8</c:v>
                </c:pt>
                <c:pt idx="110">
                  <c:v>167.8</c:v>
                </c:pt>
                <c:pt idx="111">
                  <c:v>167.8</c:v>
                </c:pt>
                <c:pt idx="112">
                  <c:v>167.8</c:v>
                </c:pt>
                <c:pt idx="113">
                  <c:v>167.8</c:v>
                </c:pt>
                <c:pt idx="114">
                  <c:v>167.8</c:v>
                </c:pt>
                <c:pt idx="115">
                  <c:v>167.8</c:v>
                </c:pt>
                <c:pt idx="116">
                  <c:v>167.8</c:v>
                </c:pt>
                <c:pt idx="117">
                  <c:v>167.8</c:v>
                </c:pt>
                <c:pt idx="118">
                  <c:v>167.8</c:v>
                </c:pt>
                <c:pt idx="119">
                  <c:v>167.8</c:v>
                </c:pt>
                <c:pt idx="120">
                  <c:v>167.8</c:v>
                </c:pt>
                <c:pt idx="121">
                  <c:v>167.8</c:v>
                </c:pt>
                <c:pt idx="122">
                  <c:v>167.8</c:v>
                </c:pt>
                <c:pt idx="123">
                  <c:v>167.8</c:v>
                </c:pt>
                <c:pt idx="124">
                  <c:v>167.8</c:v>
                </c:pt>
                <c:pt idx="125">
                  <c:v>167.8</c:v>
                </c:pt>
                <c:pt idx="126">
                  <c:v>167.8</c:v>
                </c:pt>
                <c:pt idx="127">
                  <c:v>167.8</c:v>
                </c:pt>
                <c:pt idx="128">
                  <c:v>167.8</c:v>
                </c:pt>
                <c:pt idx="129">
                  <c:v>167.8</c:v>
                </c:pt>
                <c:pt idx="130">
                  <c:v>167.8</c:v>
                </c:pt>
                <c:pt idx="131">
                  <c:v>167.8</c:v>
                </c:pt>
                <c:pt idx="132">
                  <c:v>167.8</c:v>
                </c:pt>
                <c:pt idx="133">
                  <c:v>167.8</c:v>
                </c:pt>
                <c:pt idx="134">
                  <c:v>167.8</c:v>
                </c:pt>
                <c:pt idx="135">
                  <c:v>167.8</c:v>
                </c:pt>
                <c:pt idx="136">
                  <c:v>167.8</c:v>
                </c:pt>
                <c:pt idx="137">
                  <c:v>167.8</c:v>
                </c:pt>
                <c:pt idx="138">
                  <c:v>167.8</c:v>
                </c:pt>
                <c:pt idx="139">
                  <c:v>167.8</c:v>
                </c:pt>
                <c:pt idx="140">
                  <c:v>167.8</c:v>
                </c:pt>
              </c:numCache>
            </c:numRef>
          </c:yVal>
          <c:smooth val="0"/>
          <c:extLst>
            <c:ext xmlns:c16="http://schemas.microsoft.com/office/drawing/2014/chart" uri="{C3380CC4-5D6E-409C-BE32-E72D297353CC}">
              <c16:uniqueId val="{00000001-7BD6-4342-881A-B377C380E1C8}"/>
            </c:ext>
          </c:extLst>
        </c:ser>
        <c:ser>
          <c:idx val="2"/>
          <c:order val="2"/>
          <c:tx>
            <c:strRef>
              <c:f>Sheet1!$D$1</c:f>
              <c:strCache>
                <c:ptCount val="1"/>
                <c:pt idx="0">
                  <c:v>PPN</c:v>
                </c:pt>
              </c:strCache>
            </c:strRef>
          </c:tx>
          <c:spPr>
            <a:ln w="25400" cap="flat">
              <a:solidFill>
                <a:srgbClr val="E67E22"/>
              </a:solidFill>
              <a:prstDash val="solid"/>
              <a:round/>
            </a:ln>
            <a:effectLst/>
          </c:spPr>
          <c:marker>
            <c:symbol val="none"/>
          </c:marker>
          <c:xVal>
            <c:numRef>
              <c:f>Sheet1!$A$2:$A$142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pt idx="121">
                  <c:v>161</c:v>
                </c:pt>
                <c:pt idx="122">
                  <c:v>162</c:v>
                </c:pt>
                <c:pt idx="123">
                  <c:v>163</c:v>
                </c:pt>
                <c:pt idx="124">
                  <c:v>164</c:v>
                </c:pt>
                <c:pt idx="125">
                  <c:v>165</c:v>
                </c:pt>
                <c:pt idx="126">
                  <c:v>166</c:v>
                </c:pt>
                <c:pt idx="127">
                  <c:v>167</c:v>
                </c:pt>
                <c:pt idx="128">
                  <c:v>168</c:v>
                </c:pt>
                <c:pt idx="129">
                  <c:v>169</c:v>
                </c:pt>
                <c:pt idx="130">
                  <c:v>170</c:v>
                </c:pt>
                <c:pt idx="131">
                  <c:v>171</c:v>
                </c:pt>
                <c:pt idx="132">
                  <c:v>172</c:v>
                </c:pt>
                <c:pt idx="133">
                  <c:v>173</c:v>
                </c:pt>
                <c:pt idx="134">
                  <c:v>174</c:v>
                </c:pt>
                <c:pt idx="135">
                  <c:v>175</c:v>
                </c:pt>
                <c:pt idx="136">
                  <c:v>176</c:v>
                </c:pt>
                <c:pt idx="137">
                  <c:v>177</c:v>
                </c:pt>
                <c:pt idx="138">
                  <c:v>178</c:v>
                </c:pt>
                <c:pt idx="139">
                  <c:v>179</c:v>
                </c:pt>
                <c:pt idx="140">
                  <c:v>180</c:v>
                </c:pt>
              </c:numCache>
            </c:numRef>
          </c:xVal>
          <c:yVal>
            <c:numRef>
              <c:f>Sheet1!$D$2:$D$142</c:f>
              <c:numCache>
                <c:formatCode>General</c:formatCode>
                <c:ptCount val="141"/>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52">
                  <c:v>100</c:v>
                </c:pt>
                <c:pt idx="53">
                  <c:v>100</c:v>
                </c:pt>
                <c:pt idx="54">
                  <c:v>100</c:v>
                </c:pt>
                <c:pt idx="55">
                  <c:v>100</c:v>
                </c:pt>
                <c:pt idx="56">
                  <c:v>100</c:v>
                </c:pt>
                <c:pt idx="57">
                  <c:v>100</c:v>
                </c:pt>
                <c:pt idx="58">
                  <c:v>100</c:v>
                </c:pt>
                <c:pt idx="59">
                  <c:v>100</c:v>
                </c:pt>
                <c:pt idx="60">
                  <c:v>100</c:v>
                </c:pt>
                <c:pt idx="61">
                  <c:v>100.85299999999999</c:v>
                </c:pt>
                <c:pt idx="62">
                  <c:v>101.706</c:v>
                </c:pt>
                <c:pt idx="63">
                  <c:v>102.559</c:v>
                </c:pt>
                <c:pt idx="64">
                  <c:v>103.41200000000001</c:v>
                </c:pt>
                <c:pt idx="65">
                  <c:v>104.265</c:v>
                </c:pt>
                <c:pt idx="66">
                  <c:v>105.11799999999999</c:v>
                </c:pt>
                <c:pt idx="67">
                  <c:v>105.971</c:v>
                </c:pt>
                <c:pt idx="68">
                  <c:v>106.824</c:v>
                </c:pt>
                <c:pt idx="69">
                  <c:v>107.67699999999999</c:v>
                </c:pt>
                <c:pt idx="70">
                  <c:v>108.53</c:v>
                </c:pt>
                <c:pt idx="71">
                  <c:v>109.383</c:v>
                </c:pt>
                <c:pt idx="72">
                  <c:v>110.236</c:v>
                </c:pt>
                <c:pt idx="73">
                  <c:v>111.089</c:v>
                </c:pt>
                <c:pt idx="74">
                  <c:v>111.94200000000001</c:v>
                </c:pt>
                <c:pt idx="75">
                  <c:v>112.795</c:v>
                </c:pt>
                <c:pt idx="76">
                  <c:v>113.648</c:v>
                </c:pt>
                <c:pt idx="77">
                  <c:v>114.501</c:v>
                </c:pt>
                <c:pt idx="78">
                  <c:v>115.354</c:v>
                </c:pt>
                <c:pt idx="79">
                  <c:v>116.20699999999999</c:v>
                </c:pt>
                <c:pt idx="80">
                  <c:v>117.06</c:v>
                </c:pt>
                <c:pt idx="81">
                  <c:v>117.913</c:v>
                </c:pt>
                <c:pt idx="82">
                  <c:v>118.76599999999999</c:v>
                </c:pt>
                <c:pt idx="83">
                  <c:v>119.619</c:v>
                </c:pt>
                <c:pt idx="84">
                  <c:v>120.47200000000001</c:v>
                </c:pt>
                <c:pt idx="85">
                  <c:v>121.325</c:v>
                </c:pt>
                <c:pt idx="86">
                  <c:v>122.178</c:v>
                </c:pt>
                <c:pt idx="87">
                  <c:v>123.03100000000001</c:v>
                </c:pt>
                <c:pt idx="88">
                  <c:v>123.884</c:v>
                </c:pt>
                <c:pt idx="89">
                  <c:v>124.73699999999999</c:v>
                </c:pt>
                <c:pt idx="90">
                  <c:v>125.59</c:v>
                </c:pt>
                <c:pt idx="91">
                  <c:v>126.443</c:v>
                </c:pt>
                <c:pt idx="92">
                  <c:v>127.29599999999999</c:v>
                </c:pt>
                <c:pt idx="93">
                  <c:v>128.149</c:v>
                </c:pt>
                <c:pt idx="94">
                  <c:v>129.00200000000001</c:v>
                </c:pt>
                <c:pt idx="95">
                  <c:v>129.85499999999999</c:v>
                </c:pt>
                <c:pt idx="96">
                  <c:v>130.708</c:v>
                </c:pt>
                <c:pt idx="97">
                  <c:v>131.56100000000001</c:v>
                </c:pt>
                <c:pt idx="98">
                  <c:v>132.41399999999999</c:v>
                </c:pt>
                <c:pt idx="99">
                  <c:v>133.267</c:v>
                </c:pt>
                <c:pt idx="100">
                  <c:v>134.12</c:v>
                </c:pt>
                <c:pt idx="101">
                  <c:v>134.97300000000001</c:v>
                </c:pt>
                <c:pt idx="102">
                  <c:v>135.82599999999999</c:v>
                </c:pt>
                <c:pt idx="103">
                  <c:v>136.679</c:v>
                </c:pt>
                <c:pt idx="104">
                  <c:v>137.53199999999998</c:v>
                </c:pt>
                <c:pt idx="105">
                  <c:v>138.38499999999999</c:v>
                </c:pt>
                <c:pt idx="106">
                  <c:v>139.238</c:v>
                </c:pt>
                <c:pt idx="107">
                  <c:v>140.09100000000001</c:v>
                </c:pt>
                <c:pt idx="108">
                  <c:v>140.94400000000002</c:v>
                </c:pt>
                <c:pt idx="109">
                  <c:v>141.797</c:v>
                </c:pt>
                <c:pt idx="110">
                  <c:v>142.65</c:v>
                </c:pt>
                <c:pt idx="111">
                  <c:v>143.50299999999999</c:v>
                </c:pt>
                <c:pt idx="112">
                  <c:v>144.35599999999999</c:v>
                </c:pt>
                <c:pt idx="113">
                  <c:v>145.209</c:v>
                </c:pt>
                <c:pt idx="114">
                  <c:v>146.06200000000001</c:v>
                </c:pt>
                <c:pt idx="115">
                  <c:v>146.91499999999999</c:v>
                </c:pt>
                <c:pt idx="116">
                  <c:v>147.768</c:v>
                </c:pt>
                <c:pt idx="117">
                  <c:v>148.62100000000001</c:v>
                </c:pt>
                <c:pt idx="118">
                  <c:v>149.47399999999999</c:v>
                </c:pt>
                <c:pt idx="119">
                  <c:v>150.327</c:v>
                </c:pt>
                <c:pt idx="120">
                  <c:v>151.18</c:v>
                </c:pt>
                <c:pt idx="121">
                  <c:v>152.03300000000002</c:v>
                </c:pt>
                <c:pt idx="122">
                  <c:v>152.886</c:v>
                </c:pt>
                <c:pt idx="123">
                  <c:v>153.739</c:v>
                </c:pt>
                <c:pt idx="124">
                  <c:v>154.59199999999998</c:v>
                </c:pt>
                <c:pt idx="125">
                  <c:v>155.44499999999999</c:v>
                </c:pt>
                <c:pt idx="126">
                  <c:v>156.298</c:v>
                </c:pt>
                <c:pt idx="127">
                  <c:v>157.15100000000001</c:v>
                </c:pt>
                <c:pt idx="128">
                  <c:v>158.00399999999999</c:v>
                </c:pt>
                <c:pt idx="129">
                  <c:v>158.857</c:v>
                </c:pt>
                <c:pt idx="130">
                  <c:v>159.71</c:v>
                </c:pt>
                <c:pt idx="131">
                  <c:v>160.56299999999999</c:v>
                </c:pt>
                <c:pt idx="132">
                  <c:v>161.416</c:v>
                </c:pt>
                <c:pt idx="133">
                  <c:v>162.26900000000001</c:v>
                </c:pt>
                <c:pt idx="134">
                  <c:v>163.12200000000001</c:v>
                </c:pt>
                <c:pt idx="135">
                  <c:v>163.97499999999999</c:v>
                </c:pt>
                <c:pt idx="136">
                  <c:v>164.828</c:v>
                </c:pt>
                <c:pt idx="137">
                  <c:v>165.68099999999998</c:v>
                </c:pt>
                <c:pt idx="138">
                  <c:v>166.53399999999999</c:v>
                </c:pt>
                <c:pt idx="139">
                  <c:v>167.387</c:v>
                </c:pt>
                <c:pt idx="140">
                  <c:v>168.24</c:v>
                </c:pt>
              </c:numCache>
            </c:numRef>
          </c:yVal>
          <c:smooth val="0"/>
          <c:extLst>
            <c:ext xmlns:c16="http://schemas.microsoft.com/office/drawing/2014/chart" uri="{C3380CC4-5D6E-409C-BE32-E72D297353CC}">
              <c16:uniqueId val="{00000002-7BD6-4342-881A-B377C380E1C8}"/>
            </c:ext>
          </c:extLst>
        </c:ser>
        <c:ser>
          <c:idx val="3"/>
          <c:order val="3"/>
          <c:tx>
            <c:strRef>
              <c:f>Sheet1!$E$1</c:f>
              <c:strCache>
                <c:ptCount val="1"/>
                <c:pt idx="0">
                  <c:v>Basket</c:v>
                </c:pt>
              </c:strCache>
            </c:strRef>
          </c:tx>
          <c:spPr>
            <a:ln w="25400" cap="flat">
              <a:solidFill>
                <a:srgbClr val="A6A6A6"/>
              </a:solidFill>
              <a:prstDash val="solid"/>
              <a:round/>
            </a:ln>
            <a:effectLst/>
          </c:spPr>
          <c:marker>
            <c:symbol val="none"/>
          </c:marker>
          <c:xVal>
            <c:numRef>
              <c:f>Sheet1!$A$2:$A$142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pt idx="121">
                  <c:v>161</c:v>
                </c:pt>
                <c:pt idx="122">
                  <c:v>162</c:v>
                </c:pt>
                <c:pt idx="123">
                  <c:v>163</c:v>
                </c:pt>
                <c:pt idx="124">
                  <c:v>164</c:v>
                </c:pt>
                <c:pt idx="125">
                  <c:v>165</c:v>
                </c:pt>
                <c:pt idx="126">
                  <c:v>166</c:v>
                </c:pt>
                <c:pt idx="127">
                  <c:v>167</c:v>
                </c:pt>
                <c:pt idx="128">
                  <c:v>168</c:v>
                </c:pt>
                <c:pt idx="129">
                  <c:v>169</c:v>
                </c:pt>
                <c:pt idx="130">
                  <c:v>170</c:v>
                </c:pt>
                <c:pt idx="131">
                  <c:v>171</c:v>
                </c:pt>
                <c:pt idx="132">
                  <c:v>172</c:v>
                </c:pt>
                <c:pt idx="133">
                  <c:v>173</c:v>
                </c:pt>
                <c:pt idx="134">
                  <c:v>174</c:v>
                </c:pt>
                <c:pt idx="135">
                  <c:v>175</c:v>
                </c:pt>
                <c:pt idx="136">
                  <c:v>176</c:v>
                </c:pt>
                <c:pt idx="137">
                  <c:v>177</c:v>
                </c:pt>
                <c:pt idx="138">
                  <c:v>178</c:v>
                </c:pt>
                <c:pt idx="139">
                  <c:v>179</c:v>
                </c:pt>
                <c:pt idx="140">
                  <c:v>180</c:v>
                </c:pt>
              </c:numCache>
            </c:numRef>
          </c:xVal>
          <c:yVal>
            <c:numRef>
              <c:f>Sheet1!$E$2:$E$142</c:f>
              <c:numCache>
                <c:formatCode>General</c:formatCode>
                <c:ptCount val="141"/>
                <c:pt idx="0">
                  <c:v>40</c:v>
                </c:pt>
                <c:pt idx="1">
                  <c:v>41</c:v>
                </c:pt>
                <c:pt idx="2">
                  <c:v>42</c:v>
                </c:pt>
                <c:pt idx="3">
                  <c:v>43</c:v>
                </c:pt>
                <c:pt idx="4">
                  <c:v>44</c:v>
                </c:pt>
                <c:pt idx="5">
                  <c:v>45</c:v>
                </c:pt>
                <c:pt idx="6">
                  <c:v>46</c:v>
                </c:pt>
                <c:pt idx="7">
                  <c:v>47</c:v>
                </c:pt>
                <c:pt idx="8">
                  <c:v>48</c:v>
                </c:pt>
                <c:pt idx="9">
                  <c:v>49</c:v>
                </c:pt>
                <c:pt idx="10">
                  <c:v>50</c:v>
                </c:pt>
                <c:pt idx="11">
                  <c:v>51</c:v>
                </c:pt>
                <c:pt idx="12">
                  <c:v>52</c:v>
                </c:pt>
                <c:pt idx="13">
                  <c:v>53</c:v>
                </c:pt>
                <c:pt idx="14">
                  <c:v>54</c:v>
                </c:pt>
                <c:pt idx="15">
                  <c:v>55</c:v>
                </c:pt>
                <c:pt idx="16">
                  <c:v>56</c:v>
                </c:pt>
                <c:pt idx="17">
                  <c:v>57</c:v>
                </c:pt>
                <c:pt idx="18">
                  <c:v>58</c:v>
                </c:pt>
                <c:pt idx="19">
                  <c:v>59</c:v>
                </c:pt>
                <c:pt idx="20">
                  <c:v>60</c:v>
                </c:pt>
                <c:pt idx="21">
                  <c:v>61</c:v>
                </c:pt>
                <c:pt idx="22">
                  <c:v>62</c:v>
                </c:pt>
                <c:pt idx="23">
                  <c:v>63</c:v>
                </c:pt>
                <c:pt idx="24">
                  <c:v>64</c:v>
                </c:pt>
                <c:pt idx="25">
                  <c:v>65</c:v>
                </c:pt>
                <c:pt idx="26">
                  <c:v>66</c:v>
                </c:pt>
                <c:pt idx="27">
                  <c:v>67</c:v>
                </c:pt>
                <c:pt idx="28">
                  <c:v>68</c:v>
                </c:pt>
                <c:pt idx="29">
                  <c:v>69</c:v>
                </c:pt>
                <c:pt idx="30">
                  <c:v>70</c:v>
                </c:pt>
                <c:pt idx="31">
                  <c:v>71</c:v>
                </c:pt>
                <c:pt idx="32">
                  <c:v>72</c:v>
                </c:pt>
                <c:pt idx="33">
                  <c:v>73</c:v>
                </c:pt>
                <c:pt idx="34">
                  <c:v>74</c:v>
                </c:pt>
                <c:pt idx="35">
                  <c:v>75</c:v>
                </c:pt>
                <c:pt idx="36">
                  <c:v>76</c:v>
                </c:pt>
                <c:pt idx="37">
                  <c:v>77</c:v>
                </c:pt>
                <c:pt idx="38">
                  <c:v>78</c:v>
                </c:pt>
                <c:pt idx="39">
                  <c:v>79</c:v>
                </c:pt>
                <c:pt idx="40">
                  <c:v>80</c:v>
                </c:pt>
                <c:pt idx="41">
                  <c:v>81</c:v>
                </c:pt>
                <c:pt idx="42">
                  <c:v>82</c:v>
                </c:pt>
                <c:pt idx="43">
                  <c:v>83</c:v>
                </c:pt>
                <c:pt idx="44">
                  <c:v>84</c:v>
                </c:pt>
                <c:pt idx="45">
                  <c:v>85</c:v>
                </c:pt>
                <c:pt idx="46">
                  <c:v>86</c:v>
                </c:pt>
                <c:pt idx="47">
                  <c:v>87</c:v>
                </c:pt>
                <c:pt idx="48">
                  <c:v>88</c:v>
                </c:pt>
                <c:pt idx="49">
                  <c:v>89</c:v>
                </c:pt>
                <c:pt idx="50">
                  <c:v>90</c:v>
                </c:pt>
                <c:pt idx="51">
                  <c:v>91</c:v>
                </c:pt>
                <c:pt idx="52">
                  <c:v>92</c:v>
                </c:pt>
                <c:pt idx="53">
                  <c:v>93</c:v>
                </c:pt>
                <c:pt idx="54">
                  <c:v>94</c:v>
                </c:pt>
                <c:pt idx="55">
                  <c:v>95</c:v>
                </c:pt>
                <c:pt idx="56">
                  <c:v>96</c:v>
                </c:pt>
                <c:pt idx="57">
                  <c:v>97</c:v>
                </c:pt>
                <c:pt idx="58">
                  <c:v>98</c:v>
                </c:pt>
                <c:pt idx="59">
                  <c:v>99</c:v>
                </c:pt>
                <c:pt idx="60">
                  <c:v>100</c:v>
                </c:pt>
                <c:pt idx="61">
                  <c:v>101</c:v>
                </c:pt>
                <c:pt idx="62">
                  <c:v>102</c:v>
                </c:pt>
                <c:pt idx="63">
                  <c:v>103</c:v>
                </c:pt>
                <c:pt idx="64">
                  <c:v>104</c:v>
                </c:pt>
                <c:pt idx="65">
                  <c:v>105</c:v>
                </c:pt>
                <c:pt idx="66">
                  <c:v>106</c:v>
                </c:pt>
                <c:pt idx="67">
                  <c:v>107</c:v>
                </c:pt>
                <c:pt idx="68">
                  <c:v>108</c:v>
                </c:pt>
                <c:pt idx="69">
                  <c:v>109</c:v>
                </c:pt>
                <c:pt idx="70">
                  <c:v>110</c:v>
                </c:pt>
                <c:pt idx="71">
                  <c:v>111</c:v>
                </c:pt>
                <c:pt idx="72">
                  <c:v>112</c:v>
                </c:pt>
                <c:pt idx="73">
                  <c:v>113</c:v>
                </c:pt>
                <c:pt idx="74">
                  <c:v>114</c:v>
                </c:pt>
                <c:pt idx="75">
                  <c:v>115</c:v>
                </c:pt>
                <c:pt idx="76">
                  <c:v>116</c:v>
                </c:pt>
                <c:pt idx="77">
                  <c:v>117</c:v>
                </c:pt>
                <c:pt idx="78">
                  <c:v>118</c:v>
                </c:pt>
                <c:pt idx="79">
                  <c:v>119</c:v>
                </c:pt>
                <c:pt idx="80">
                  <c:v>120</c:v>
                </c:pt>
                <c:pt idx="81">
                  <c:v>121</c:v>
                </c:pt>
                <c:pt idx="82">
                  <c:v>122</c:v>
                </c:pt>
                <c:pt idx="83">
                  <c:v>123</c:v>
                </c:pt>
                <c:pt idx="84">
                  <c:v>124</c:v>
                </c:pt>
                <c:pt idx="85">
                  <c:v>125</c:v>
                </c:pt>
                <c:pt idx="86">
                  <c:v>126</c:v>
                </c:pt>
                <c:pt idx="87">
                  <c:v>127</c:v>
                </c:pt>
                <c:pt idx="88">
                  <c:v>128</c:v>
                </c:pt>
                <c:pt idx="89">
                  <c:v>129</c:v>
                </c:pt>
                <c:pt idx="90">
                  <c:v>130</c:v>
                </c:pt>
                <c:pt idx="91">
                  <c:v>131</c:v>
                </c:pt>
                <c:pt idx="92">
                  <c:v>132</c:v>
                </c:pt>
                <c:pt idx="93">
                  <c:v>133</c:v>
                </c:pt>
                <c:pt idx="94">
                  <c:v>134</c:v>
                </c:pt>
                <c:pt idx="95">
                  <c:v>135</c:v>
                </c:pt>
                <c:pt idx="96">
                  <c:v>136</c:v>
                </c:pt>
                <c:pt idx="97">
                  <c:v>137</c:v>
                </c:pt>
                <c:pt idx="98">
                  <c:v>138</c:v>
                </c:pt>
                <c:pt idx="99">
                  <c:v>139</c:v>
                </c:pt>
                <c:pt idx="100">
                  <c:v>140</c:v>
                </c:pt>
                <c:pt idx="101">
                  <c:v>141</c:v>
                </c:pt>
                <c:pt idx="102">
                  <c:v>142</c:v>
                </c:pt>
                <c:pt idx="103">
                  <c:v>143</c:v>
                </c:pt>
                <c:pt idx="104">
                  <c:v>144</c:v>
                </c:pt>
                <c:pt idx="105">
                  <c:v>145</c:v>
                </c:pt>
                <c:pt idx="106">
                  <c:v>146</c:v>
                </c:pt>
                <c:pt idx="107">
                  <c:v>147</c:v>
                </c:pt>
                <c:pt idx="108">
                  <c:v>148</c:v>
                </c:pt>
                <c:pt idx="109">
                  <c:v>149</c:v>
                </c:pt>
                <c:pt idx="110">
                  <c:v>150</c:v>
                </c:pt>
                <c:pt idx="111">
                  <c:v>151</c:v>
                </c:pt>
                <c:pt idx="112">
                  <c:v>152</c:v>
                </c:pt>
                <c:pt idx="113">
                  <c:v>153</c:v>
                </c:pt>
                <c:pt idx="114">
                  <c:v>154</c:v>
                </c:pt>
                <c:pt idx="115">
                  <c:v>155</c:v>
                </c:pt>
                <c:pt idx="116">
                  <c:v>156</c:v>
                </c:pt>
                <c:pt idx="117">
                  <c:v>157</c:v>
                </c:pt>
                <c:pt idx="118">
                  <c:v>158</c:v>
                </c:pt>
                <c:pt idx="119">
                  <c:v>159</c:v>
                </c:pt>
                <c:pt idx="120">
                  <c:v>160</c:v>
                </c:pt>
                <c:pt idx="121">
                  <c:v>161</c:v>
                </c:pt>
                <c:pt idx="122">
                  <c:v>162</c:v>
                </c:pt>
                <c:pt idx="123">
                  <c:v>163</c:v>
                </c:pt>
                <c:pt idx="124">
                  <c:v>164</c:v>
                </c:pt>
                <c:pt idx="125">
                  <c:v>165</c:v>
                </c:pt>
                <c:pt idx="126">
                  <c:v>166</c:v>
                </c:pt>
                <c:pt idx="127">
                  <c:v>167</c:v>
                </c:pt>
                <c:pt idx="128">
                  <c:v>168</c:v>
                </c:pt>
                <c:pt idx="129">
                  <c:v>169</c:v>
                </c:pt>
                <c:pt idx="130">
                  <c:v>170</c:v>
                </c:pt>
                <c:pt idx="131">
                  <c:v>171</c:v>
                </c:pt>
                <c:pt idx="132">
                  <c:v>172</c:v>
                </c:pt>
                <c:pt idx="133">
                  <c:v>173</c:v>
                </c:pt>
                <c:pt idx="134">
                  <c:v>174</c:v>
                </c:pt>
                <c:pt idx="135">
                  <c:v>175</c:v>
                </c:pt>
                <c:pt idx="136">
                  <c:v>176</c:v>
                </c:pt>
                <c:pt idx="137">
                  <c:v>177</c:v>
                </c:pt>
                <c:pt idx="138">
                  <c:v>178</c:v>
                </c:pt>
                <c:pt idx="139">
                  <c:v>179</c:v>
                </c:pt>
                <c:pt idx="140">
                  <c:v>180</c:v>
                </c:pt>
              </c:numCache>
            </c:numRef>
          </c:yVal>
          <c:smooth val="0"/>
          <c:extLst>
            <c:ext xmlns:c16="http://schemas.microsoft.com/office/drawing/2014/chart" uri="{C3380CC4-5D6E-409C-BE32-E72D297353CC}">
              <c16:uniqueId val="{00000003-7BD6-4342-881A-B377C380E1C8}"/>
            </c:ext>
          </c:extLst>
        </c:ser>
        <c:dLbls>
          <c:showLegendKey val="0"/>
          <c:showVal val="0"/>
          <c:showCatName val="0"/>
          <c:showSerName val="0"/>
          <c:showPercent val="0"/>
          <c:showBubbleSize val="0"/>
        </c:dLbls>
        <c:axId val="2094734554"/>
        <c:axId val="2094734552"/>
      </c:scatterChart>
      <c:valAx>
        <c:axId val="2094734554"/>
        <c:scaling>
          <c:orientation val="minMax"/>
          <c:max val="180"/>
          <c:min val="40"/>
        </c:scaling>
        <c:delete val="0"/>
        <c:axPos val="b"/>
        <c:numFmt formatCode="General" sourceLinked="1"/>
        <c:majorTickMark val="none"/>
        <c:minorTickMark val="none"/>
        <c:tickLblPos val="nextTo"/>
        <c:spPr>
          <a:ln w="12700" cap="flat">
            <a:solidFill>
              <a:srgbClr val="A6A6A6"/>
            </a:solidFill>
            <a:prstDash val="solid"/>
            <a:round/>
          </a:ln>
        </c:spPr>
        <c:txPr>
          <a:bodyPr/>
          <a:lstStyle/>
          <a:p>
            <a:pPr>
              <a:defRPr sz="830" b="0" i="0" u="none" strike="noStrike">
                <a:solidFill>
                  <a:srgbClr val="595959"/>
                </a:solidFill>
                <a:latin typeface="Arial"/>
              </a:defRPr>
            </a:pPr>
            <a:endParaRPr lang="en-US"/>
          </a:p>
        </c:txPr>
        <c:crossAx val="2094734552"/>
        <c:crosses val="autoZero"/>
        <c:crossBetween val="midCat"/>
        <c:majorUnit val="20"/>
      </c:valAx>
      <c:valAx>
        <c:axId val="2094734552"/>
        <c:scaling>
          <c:orientation val="minMax"/>
          <c:max val="190"/>
          <c:min val="30"/>
        </c:scaling>
        <c:delete val="0"/>
        <c:axPos val="l"/>
        <c:majorGridlines>
          <c:spPr>
            <a:ln w="6350" cap="flat">
              <a:solidFill>
                <a:srgbClr val="E3E3E3"/>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830" b="0" i="0" u="none" strike="noStrike">
                <a:solidFill>
                  <a:srgbClr val="595959"/>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78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H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D42E27-AB27-4C41-A7B9-B5728E1D6364}" type="datetimeFigureOut">
              <a:rPr lang="en-HK" smtClean="0"/>
              <a:t>8/10/2026</a:t>
            </a:fld>
            <a:endParaRPr lang="en-H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H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H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C1EE00-C15A-0B4C-A8B9-48F259B52223}" type="slidenum">
              <a:rPr lang="en-HK" smtClean="0"/>
              <a:t>‹#›</a:t>
            </a:fld>
            <a:endParaRPr lang="en-HK"/>
          </a:p>
        </p:txBody>
      </p:sp>
    </p:spTree>
    <p:extLst>
      <p:ext uri="{BB962C8B-B14F-4D97-AF65-F5344CB8AC3E}">
        <p14:creationId xmlns:p14="http://schemas.microsoft.com/office/powerpoint/2010/main" val="1181228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a:p>
        </p:txBody>
      </p:sp>
      <p:sp>
        <p:nvSpPr>
          <p:cNvPr id="4" name="Slide Number Placeholder 3"/>
          <p:cNvSpPr>
            <a:spLocks noGrp="1"/>
          </p:cNvSpPr>
          <p:nvPr>
            <p:ph type="sldNum" sz="quarter" idx="5"/>
          </p:nvPr>
        </p:nvSpPr>
        <p:spPr/>
        <p:txBody>
          <a:bodyPr/>
          <a:lstStyle/>
          <a:p>
            <a:fld id="{DFC1EE00-C15A-0B4C-A8B9-48F259B52223}" type="slidenum">
              <a:rPr lang="en-HK" smtClean="0"/>
              <a:t>2</a:t>
            </a:fld>
            <a:endParaRPr lang="en-HK"/>
          </a:p>
        </p:txBody>
      </p:sp>
    </p:spTree>
    <p:extLst>
      <p:ext uri="{BB962C8B-B14F-4D97-AF65-F5344CB8AC3E}">
        <p14:creationId xmlns:p14="http://schemas.microsoft.com/office/powerpoint/2010/main" val="1979851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1, the theme. AI spending is a hardware boom and Asia holds the three bottlenecks: Taiwan's foundries, Korea's high-bandwidth memory, Japan's chip-making tools. The demand is structural, but the memory cycle is maturing and the indices that hold the theme move violently: KOSPI lost about a quarter between June and August. Returns are concentrated in a few names and valuations are full.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2, the backdrop. The Fed's dot plot keeps the median at 4.125% to end-2027 with cuts only from 2028; it has just hiked and futures price more. Yields are high, but a long bond loses about 4.0% per 1% rise, so duration is a risk. Asian equity volatility is at records: VKOSPI hit 91.2 and KOSPI fell nearly 9% in one day. Both bonds and buy-and-hold carry more risk than usual.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table is the key design argument. Full protection is safe but pays under 8%. Removing all protection pays more but exposes the family to the whole drawdown in a crash. We choose the classic autocall: no barrier and no floor, so the family takes the basket's fall if the note is never called, in exchange for the highest coupon. Diversification and the memory coupon keep that outcome to about one path in five.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note as one question asked every quarter: is the basket at or above where it started? If yes, the family is paid 3.19% for that quarter plus any coupons missed before, and from Year 1 the note also ends with 100% back. If the note is never called, the payoff chart shows the two zones at Year 5: at or above 100% the family receives 163.8%; below 100% it is repaid at the basket level.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Investor risks on the left, desk hedges on the right. The capital-loss line is explicit: if the note is never called, the family bears the basket's fall. The other honest risks are capped upside and Natixis credit. The 12.75% coupon sits below the 14.1% fair level in every sensitivity we ran, so the offer is robust to market moves before the trade date.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scenarios. The 2022-style path is the key one: a 30% drawdown in the first year that would scare a direct investor, yet the note pays all 15 quarterly coupons at once when the basket recovers at Q15. The two bad paths are the honest cost: if the basket never gets back to 100%, the family is repaid the basket's level (88% and 55%).</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Mini-charts show each leg's payoff against the basket level (the autocall leg is illustrative: it shows the remaining coupon stream switching off). The short put is the key: the client sells Natixis a put on the basket at 100%, live only if the note is never called, and its premium funds the double-digit coupon.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we priced the note. A: annual rates from the case grid are turned into continuous rates and discount factors. B: we simulate each ETF one year at a time with correlated geometric Brownian motion, using the implied-volatility term structure through interval variances and the correlation matrix through its Cholesky factor. C: the basket is the weighted sum of the five ETFs; the note is called at the first year the basket reaches that year's barrier, which steps down from 102.5% to 92.5%. D: if never called, the family gets 100% back unless the basket is below 70% at Year 5. E: the fair coupon is the value of y that makes the expected discounted payoff equal 1. Result: 13.752219% with a standard error of 2.236 basis points. We pay the client a 10% coupon and collect the remaining 3.752219%.</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inputs to the simulation. Term structure: the case USD grid, with Year 4 interpolated between 3 and 5 years, converted to continuous rates and discount factors. Correlations: pairwise correlations between the five ETFs. Implied volatilities: a term structure for each ETF over five years. Interval variances: the variance used for each one-year step in the simulation.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one page. The family wants to grow capital for the next generation and own Asia's digital transformation, with a defined barrier. Our thesis: Asia holds AI's hardware bottlenecks, but the path is violent and rates stay high. So we hold a five-ETF Asian basket through a five-year autocallable note paying 12.75% a year, with a step-down call and a 70% barrier at maturity only. On our outlook the note is usually called in year one and loses capital in very few paths.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p:cSld name="1_Title Slide">
    <p:spTree>
      <p:nvGrpSpPr>
        <p:cNvPr id="1" name="Shape 37"/>
        <p:cNvGrpSpPr/>
        <p:nvPr/>
      </p:nvGrpSpPr>
      <p:grpSpPr>
        <a:xfrm>
          <a:off x="0" y="0"/>
          <a:ext cx="0" cy="0"/>
          <a:chOff x="0" y="0"/>
          <a:chExt cx="0" cy="0"/>
        </a:xfrm>
      </p:grpSpPr>
      <p:sp>
        <p:nvSpPr>
          <p:cNvPr id="3" name="Rectangle 2">
            <a:extLst>
              <a:ext uri="{FF2B5EF4-FFF2-40B4-BE49-F238E27FC236}">
                <a16:creationId xmlns:a16="http://schemas.microsoft.com/office/drawing/2014/main" id="{47B90982-70E3-7E29-BC07-522DD6DAEDE2}"/>
              </a:ext>
            </a:extLst>
          </p:cNvPr>
          <p:cNvSpPr/>
          <p:nvPr userDrawn="1"/>
        </p:nvSpPr>
        <p:spPr>
          <a:xfrm flipH="1">
            <a:off x="0" y="0"/>
            <a:ext cx="12192000" cy="5194646"/>
          </a:xfrm>
          <a:prstGeom prst="rect">
            <a:avLst/>
          </a:prstGeom>
          <a:gradFill flip="none" rotWithShape="1">
            <a:gsLst>
              <a:gs pos="0">
                <a:schemeClr val="tx1">
                  <a:alpha val="72000"/>
                </a:schemeClr>
              </a:gs>
              <a:gs pos="98000">
                <a:schemeClr val="tx1">
                  <a:alpha val="19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u="sng"/>
          </a:p>
        </p:txBody>
      </p:sp>
      <p:sp>
        <p:nvSpPr>
          <p:cNvPr id="4" name="TextBox 3">
            <a:extLst>
              <a:ext uri="{FF2B5EF4-FFF2-40B4-BE49-F238E27FC236}">
                <a16:creationId xmlns:a16="http://schemas.microsoft.com/office/drawing/2014/main" id="{84AB5593-0EF9-6D98-0813-57D1EEB9583C}"/>
              </a:ext>
            </a:extLst>
          </p:cNvPr>
          <p:cNvSpPr txBox="1"/>
          <p:nvPr userDrawn="1"/>
        </p:nvSpPr>
        <p:spPr>
          <a:xfrm>
            <a:off x="335835" y="4352079"/>
            <a:ext cx="7158269" cy="584477"/>
          </a:xfrm>
          <a:prstGeom prst="rect">
            <a:avLst/>
          </a:prstGeom>
          <a:noFill/>
        </p:spPr>
        <p:txBody>
          <a:bodyPr wrap="square" lIns="0" tIns="0" rIns="0" bIns="0" anchor="b">
            <a:noAutofit/>
          </a:bodyPr>
          <a:lstStyle/>
          <a:p>
            <a:endParaRPr lang="en-US" sz="280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AEBCBD69-B3F7-6638-61CA-B3E6EBA6ED39}"/>
              </a:ext>
            </a:extLst>
          </p:cNvPr>
          <p:cNvSpPr txBox="1"/>
          <p:nvPr userDrawn="1"/>
        </p:nvSpPr>
        <p:spPr>
          <a:xfrm>
            <a:off x="355120" y="4115055"/>
            <a:ext cx="4741457" cy="385231"/>
          </a:xfrm>
          <a:prstGeom prst="rect">
            <a:avLst/>
          </a:prstGeom>
          <a:noFill/>
        </p:spPr>
        <p:txBody>
          <a:bodyPr wrap="square" lIns="0" tIns="0" rIns="0" bIns="0" anchor="t">
            <a:noAutofit/>
          </a:bodyPr>
          <a:lstStyle/>
          <a:p>
            <a:r>
              <a:rPr lang="en-US" sz="2000" b="1" i="1">
                <a:solidFill>
                  <a:schemeClr val="bg1"/>
                </a:solidFill>
                <a:latin typeface="Calibri" panose="020F0502020204030204" pitchFamily="34" charset="0"/>
                <a:cs typeface="Calibri" panose="020F0502020204030204" pitchFamily="34" charset="0"/>
              </a:rPr>
              <a:t>presents</a:t>
            </a:r>
            <a:endParaRPr lang="en-GB" sz="2000" b="1" i="1">
              <a:solidFill>
                <a:schemeClr val="bg1"/>
              </a:solidFill>
              <a:latin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0672747E-A873-6BA2-0012-E7041DA0913B}"/>
              </a:ext>
            </a:extLst>
          </p:cNvPr>
          <p:cNvSpPr txBox="1"/>
          <p:nvPr userDrawn="1"/>
        </p:nvSpPr>
        <p:spPr>
          <a:xfrm>
            <a:off x="10824765" y="6485098"/>
            <a:ext cx="1074333" cy="276999"/>
          </a:xfrm>
          <a:prstGeom prst="rect">
            <a:avLst/>
          </a:prstGeom>
          <a:noFill/>
        </p:spPr>
        <p:txBody>
          <a:bodyPr wrap="square" rtlCol="0">
            <a:spAutoFit/>
          </a:bodyPr>
          <a:lstStyle/>
          <a:p>
            <a:pPr algn="ctr"/>
            <a:r>
              <a:rPr lang="en-HK" sz="1200" b="1">
                <a:latin typeface="Calibri" panose="020F0502020204030204" pitchFamily="34" charset="0"/>
                <a:cs typeface="Calibri" panose="020F0502020204030204" pitchFamily="34" charset="0"/>
              </a:rPr>
              <a:t>Joyce Li</a:t>
            </a:r>
          </a:p>
        </p:txBody>
      </p:sp>
      <p:sp>
        <p:nvSpPr>
          <p:cNvPr id="32" name="Oval 31">
            <a:extLst>
              <a:ext uri="{FF2B5EF4-FFF2-40B4-BE49-F238E27FC236}">
                <a16:creationId xmlns:a16="http://schemas.microsoft.com/office/drawing/2014/main" id="{3367171E-525A-66C2-6AA1-35792C0C1A2B}"/>
              </a:ext>
            </a:extLst>
          </p:cNvPr>
          <p:cNvSpPr/>
          <p:nvPr userDrawn="1"/>
        </p:nvSpPr>
        <p:spPr>
          <a:xfrm>
            <a:off x="5775989" y="5367402"/>
            <a:ext cx="1074333" cy="1069848"/>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6BA9783-52B7-1394-7350-1F5B1C919615}"/>
              </a:ext>
            </a:extLst>
          </p:cNvPr>
          <p:cNvSpPr/>
          <p:nvPr userDrawn="1"/>
        </p:nvSpPr>
        <p:spPr>
          <a:xfrm>
            <a:off x="7458076" y="5386062"/>
            <a:ext cx="1074333" cy="1069848"/>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5E181B7-BFCD-EC81-92B2-C71D7EC77DFB}"/>
              </a:ext>
            </a:extLst>
          </p:cNvPr>
          <p:cNvSpPr/>
          <p:nvPr userDrawn="1"/>
        </p:nvSpPr>
        <p:spPr>
          <a:xfrm>
            <a:off x="9142958" y="5367402"/>
            <a:ext cx="1074333" cy="1069848"/>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8ABF191-5284-C80B-3CDD-6898F538F1C8}"/>
              </a:ext>
            </a:extLst>
          </p:cNvPr>
          <p:cNvSpPr/>
          <p:nvPr userDrawn="1"/>
        </p:nvSpPr>
        <p:spPr>
          <a:xfrm>
            <a:off x="10824765" y="5386062"/>
            <a:ext cx="1074333" cy="1069848"/>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erson with long hair wearing a black suit&#10;&#10;Description automatically generated">
            <a:extLst>
              <a:ext uri="{FF2B5EF4-FFF2-40B4-BE49-F238E27FC236}">
                <a16:creationId xmlns:a16="http://schemas.microsoft.com/office/drawing/2014/main" id="{8AD1B786-9FF3-790B-6F99-5C033A3F62D3}"/>
              </a:ext>
            </a:extLst>
          </p:cNvPr>
          <p:cNvPicPr>
            <a:picLocks/>
          </p:cNvPicPr>
          <p:nvPr userDrawn="1"/>
        </p:nvPicPr>
        <p:blipFill rotWithShape="1">
          <a:blip r:embed="rId2">
            <a:extLst>
              <a:ext uri="{28A0092B-C50C-407E-A947-70E740481C1C}">
                <a14:useLocalDpi xmlns:a14="http://schemas.microsoft.com/office/drawing/2010/main" val="0"/>
              </a:ext>
            </a:extLst>
          </a:blip>
          <a:srcRect l="4357" t="8759" r="-469" b="14345"/>
          <a:stretch/>
        </p:blipFill>
        <p:spPr>
          <a:xfrm>
            <a:off x="10895731" y="5454786"/>
            <a:ext cx="932400" cy="932400"/>
          </a:xfrm>
          <a:prstGeom prst="ellipse">
            <a:avLst/>
          </a:prstGeom>
        </p:spPr>
      </p:pic>
      <p:sp>
        <p:nvSpPr>
          <p:cNvPr id="6" name="TextBox 5">
            <a:extLst>
              <a:ext uri="{FF2B5EF4-FFF2-40B4-BE49-F238E27FC236}">
                <a16:creationId xmlns:a16="http://schemas.microsoft.com/office/drawing/2014/main" id="{A0656160-D967-EBE1-676D-2D6080FF09A0}"/>
              </a:ext>
            </a:extLst>
          </p:cNvPr>
          <p:cNvSpPr txBox="1"/>
          <p:nvPr userDrawn="1"/>
        </p:nvSpPr>
        <p:spPr>
          <a:xfrm>
            <a:off x="7422097" y="6485099"/>
            <a:ext cx="1144147" cy="276999"/>
          </a:xfrm>
          <a:prstGeom prst="rect">
            <a:avLst/>
          </a:prstGeom>
          <a:noFill/>
        </p:spPr>
        <p:txBody>
          <a:bodyPr wrap="square" rtlCol="0">
            <a:spAutoFit/>
          </a:bodyPr>
          <a:lstStyle/>
          <a:p>
            <a:pPr algn="ctr"/>
            <a:r>
              <a:rPr lang="en-HK" sz="1200" b="1">
                <a:latin typeface="Calibri" panose="020F0502020204030204" pitchFamily="34" charset="0"/>
                <a:cs typeface="Calibri" panose="020F0502020204030204" pitchFamily="34" charset="0"/>
              </a:rPr>
              <a:t>Sergius Ching</a:t>
            </a:r>
          </a:p>
        </p:txBody>
      </p:sp>
      <p:sp>
        <p:nvSpPr>
          <p:cNvPr id="10" name="TextBox 9">
            <a:extLst>
              <a:ext uri="{FF2B5EF4-FFF2-40B4-BE49-F238E27FC236}">
                <a16:creationId xmlns:a16="http://schemas.microsoft.com/office/drawing/2014/main" id="{1B0F4E69-797A-24A0-70E0-12B203F1FF9E}"/>
              </a:ext>
            </a:extLst>
          </p:cNvPr>
          <p:cNvSpPr txBox="1"/>
          <p:nvPr userDrawn="1"/>
        </p:nvSpPr>
        <p:spPr>
          <a:xfrm>
            <a:off x="5465152" y="6485099"/>
            <a:ext cx="1696005" cy="276999"/>
          </a:xfrm>
          <a:prstGeom prst="rect">
            <a:avLst/>
          </a:prstGeom>
          <a:noFill/>
        </p:spPr>
        <p:txBody>
          <a:bodyPr wrap="square" rtlCol="0">
            <a:spAutoFit/>
          </a:bodyPr>
          <a:lstStyle/>
          <a:p>
            <a:pPr algn="ctr"/>
            <a:r>
              <a:rPr lang="en-HK" sz="1200" b="1">
                <a:latin typeface="Calibri" panose="020F0502020204030204" pitchFamily="34" charset="0"/>
                <a:cs typeface="Calibri" panose="020F0502020204030204" pitchFamily="34" charset="0"/>
              </a:rPr>
              <a:t>Benjamin Liu</a:t>
            </a:r>
          </a:p>
        </p:txBody>
      </p:sp>
    </p:spTree>
    <p:extLst>
      <p:ext uri="{BB962C8B-B14F-4D97-AF65-F5344CB8AC3E}">
        <p14:creationId xmlns:p14="http://schemas.microsoft.com/office/powerpoint/2010/main" val="31467093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nalysis" preserve="1" userDrawn="1">
  <p:cSld name="Analysis">
    <p:spTree>
      <p:nvGrpSpPr>
        <p:cNvPr id="1" name="Shape 20"/>
        <p:cNvGrpSpPr/>
        <p:nvPr/>
      </p:nvGrpSpPr>
      <p:grpSpPr>
        <a:xfrm>
          <a:off x="0" y="0"/>
          <a:ext cx="0" cy="0"/>
          <a:chOff x="0" y="0"/>
          <a:chExt cx="0" cy="0"/>
        </a:xfrm>
      </p:grpSpPr>
      <p:cxnSp>
        <p:nvCxnSpPr>
          <p:cNvPr id="21" name="Google Shape;21;p57"/>
          <p:cNvCxnSpPr/>
          <p:nvPr/>
        </p:nvCxnSpPr>
        <p:spPr>
          <a:xfrm>
            <a:off x="0" y="6425852"/>
            <a:ext cx="12192000" cy="0"/>
          </a:xfrm>
          <a:prstGeom prst="straightConnector1">
            <a:avLst/>
          </a:prstGeom>
          <a:noFill/>
          <a:ln w="28575" cap="flat" cmpd="sng">
            <a:solidFill>
              <a:srgbClr val="BFBFBF"/>
            </a:solidFill>
            <a:prstDash val="solid"/>
            <a:miter lim="800000"/>
            <a:headEnd type="none" w="sm" len="sm"/>
            <a:tailEnd type="none" w="sm" len="sm"/>
          </a:ln>
        </p:spPr>
      </p:cxnSp>
      <p:sp>
        <p:nvSpPr>
          <p:cNvPr id="22" name="Google Shape;22;p57"/>
          <p:cNvSpPr txBox="1"/>
          <p:nvPr/>
        </p:nvSpPr>
        <p:spPr>
          <a:xfrm>
            <a:off x="11733574" y="6460390"/>
            <a:ext cx="458426"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1400"/>
              <a:buFont typeface="Calibri"/>
              <a:buNone/>
            </a:pPr>
            <a:fld id="{00000000-1234-1234-1234-123412341234}" type="slidenum">
              <a:rPr lang="en-US" sz="1400" b="0" i="0" u="none" strike="noStrike" cap="none">
                <a:solidFill>
                  <a:srgbClr val="888888"/>
                </a:solidFill>
                <a:latin typeface="Calibri"/>
                <a:ea typeface="Calibri"/>
                <a:cs typeface="Calibri"/>
                <a:sym typeface="Calibri"/>
              </a:rPr>
              <a:t>‹#›</a:t>
            </a:fld>
            <a:endParaRPr sz="1400" b="0" i="0" u="none" strike="noStrike" cap="none">
              <a:solidFill>
                <a:srgbClr val="888888"/>
              </a:solidFill>
              <a:latin typeface="Calibri"/>
              <a:ea typeface="Calibri"/>
              <a:cs typeface="Calibri"/>
              <a:sym typeface="Calibri"/>
            </a:endParaRPr>
          </a:p>
        </p:txBody>
      </p:sp>
      <p:sp>
        <p:nvSpPr>
          <p:cNvPr id="26" name="Google Shape;26;p57"/>
          <p:cNvSpPr txBox="1">
            <a:spLocks noGrp="1"/>
          </p:cNvSpPr>
          <p:nvPr>
            <p:ph type="body" idx="1"/>
          </p:nvPr>
        </p:nvSpPr>
        <p:spPr>
          <a:xfrm>
            <a:off x="0" y="5795203"/>
            <a:ext cx="12192000" cy="328155"/>
          </a:xfrm>
          <a:prstGeom prst="rect">
            <a:avLst/>
          </a:prstGeom>
          <a:solidFill>
            <a:schemeClr val="accent1"/>
          </a:solidFill>
          <a:ln>
            <a:noFill/>
          </a:ln>
        </p:spPr>
        <p:txBody>
          <a:bodyPr spcFirstLastPara="1" wrap="square" lIns="91425" tIns="45700" rIns="91425" bIns="45700" anchor="ctr" anchorCtr="0">
            <a:noAutofit/>
          </a:bodyPr>
          <a:lstStyle>
            <a:lvl1pPr marL="457200" lvl="0" indent="-228600" algn="ctr">
              <a:lnSpc>
                <a:spcPct val="90000"/>
              </a:lnSpc>
              <a:spcBef>
                <a:spcPts val="0"/>
              </a:spcBef>
              <a:spcAft>
                <a:spcPts val="0"/>
              </a:spcAft>
              <a:buClr>
                <a:schemeClr val="lt1"/>
              </a:buClr>
              <a:buSzPts val="1600"/>
              <a:buNone/>
              <a:defRPr sz="1600">
                <a:solidFill>
                  <a:schemeClr val="lt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57"/>
          <p:cNvSpPr txBox="1"/>
          <p:nvPr/>
        </p:nvSpPr>
        <p:spPr>
          <a:xfrm>
            <a:off x="9405534" y="6477000"/>
            <a:ext cx="1774588"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0" i="0" u="none" strike="noStrike" cap="none">
                <a:solidFill>
                  <a:srgbClr val="7F7F7F"/>
                </a:solidFill>
                <a:latin typeface="Calibri"/>
                <a:ea typeface="Calibri"/>
                <a:cs typeface="Calibri"/>
                <a:sym typeface="Calibri"/>
              </a:rPr>
              <a:t>APPENDIX</a:t>
            </a:r>
            <a:endParaRPr/>
          </a:p>
        </p:txBody>
      </p:sp>
      <p:sp>
        <p:nvSpPr>
          <p:cNvPr id="32" name="Google Shape;32;p57"/>
          <p:cNvSpPr txBox="1"/>
          <p:nvPr/>
        </p:nvSpPr>
        <p:spPr>
          <a:xfrm>
            <a:off x="1036182" y="6477000"/>
            <a:ext cx="1012329"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i="0" u="none" strike="noStrike" cap="none">
                <a:solidFill>
                  <a:schemeClr val="accent1"/>
                </a:solidFill>
                <a:latin typeface="Calibri"/>
                <a:ea typeface="Calibri"/>
                <a:cs typeface="Calibri"/>
                <a:sym typeface="Calibri"/>
              </a:rPr>
              <a:t>ANALYSIS</a:t>
            </a:r>
            <a:endParaRPr/>
          </a:p>
        </p:txBody>
      </p:sp>
      <p:sp>
        <p:nvSpPr>
          <p:cNvPr id="33" name="Google Shape;33;p57"/>
          <p:cNvSpPr txBox="1"/>
          <p:nvPr/>
        </p:nvSpPr>
        <p:spPr>
          <a:xfrm>
            <a:off x="5526825" y="6489084"/>
            <a:ext cx="1138350" cy="30773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0" i="0" u="none" strike="noStrike" cap="none">
                <a:solidFill>
                  <a:srgbClr val="7F7F7F"/>
                </a:solidFill>
                <a:latin typeface="Calibri"/>
                <a:ea typeface="Calibri"/>
                <a:cs typeface="Calibri"/>
                <a:sym typeface="Calibri"/>
              </a:rPr>
              <a:t>STRATEGY</a:t>
            </a:r>
            <a:endParaRPr/>
          </a:p>
        </p:txBody>
      </p:sp>
      <p:cxnSp>
        <p:nvCxnSpPr>
          <p:cNvPr id="34" name="Google Shape;34;p57"/>
          <p:cNvCxnSpPr/>
          <p:nvPr/>
        </p:nvCxnSpPr>
        <p:spPr>
          <a:xfrm>
            <a:off x="515434" y="6425852"/>
            <a:ext cx="2053825" cy="0"/>
          </a:xfrm>
          <a:prstGeom prst="straightConnector1">
            <a:avLst/>
          </a:prstGeom>
          <a:noFill/>
          <a:ln w="28575" cap="flat" cmpd="sng">
            <a:solidFill>
              <a:schemeClr val="accent1"/>
            </a:solidFill>
            <a:prstDash val="solid"/>
            <a:miter lim="800000"/>
            <a:headEnd type="none" w="sm" len="sm"/>
            <a:tailEnd type="none" w="sm" len="sm"/>
          </a:ln>
        </p:spPr>
      </p:cxnSp>
      <p:sp>
        <p:nvSpPr>
          <p:cNvPr id="35" name="Google Shape;35;p57"/>
          <p:cNvSpPr txBox="1">
            <a:spLocks noGrp="1"/>
          </p:cNvSpPr>
          <p:nvPr>
            <p:ph type="body" idx="3"/>
          </p:nvPr>
        </p:nvSpPr>
        <p:spPr>
          <a:xfrm>
            <a:off x="228600" y="6204558"/>
            <a:ext cx="2266344" cy="13048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rgbClr val="757070"/>
              </a:buClr>
              <a:buSzPts val="900"/>
              <a:buNone/>
              <a:defRPr sz="900">
                <a:solidFill>
                  <a:srgbClr val="757070"/>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 name="Google Shape;23;p57">
            <a:extLst>
              <a:ext uri="{FF2B5EF4-FFF2-40B4-BE49-F238E27FC236}">
                <a16:creationId xmlns:a16="http://schemas.microsoft.com/office/drawing/2014/main" id="{148D9606-A4BE-344F-4D30-36168EDBFB2E}"/>
              </a:ext>
            </a:extLst>
          </p:cNvPr>
          <p:cNvSpPr/>
          <p:nvPr userDrawn="1"/>
        </p:nvSpPr>
        <p:spPr>
          <a:xfrm>
            <a:off x="0" y="762000"/>
            <a:ext cx="124179" cy="894915"/>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 name="Google Shape;24;p57">
            <a:extLst>
              <a:ext uri="{FF2B5EF4-FFF2-40B4-BE49-F238E27FC236}">
                <a16:creationId xmlns:a16="http://schemas.microsoft.com/office/drawing/2014/main" id="{B073929D-4AD2-8CB1-7048-A9666D5B6920}"/>
              </a:ext>
            </a:extLst>
          </p:cNvPr>
          <p:cNvSpPr/>
          <p:nvPr userDrawn="1"/>
        </p:nvSpPr>
        <p:spPr>
          <a:xfrm>
            <a:off x="0" y="0"/>
            <a:ext cx="124179" cy="82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0" name="Google Shape;36;p57">
            <a:extLst>
              <a:ext uri="{FF2B5EF4-FFF2-40B4-BE49-F238E27FC236}">
                <a16:creationId xmlns:a16="http://schemas.microsoft.com/office/drawing/2014/main" id="{68800D4D-8D1C-0A55-FA4D-50F94CFCEB0F}"/>
              </a:ext>
            </a:extLst>
          </p:cNvPr>
          <p:cNvSpPr/>
          <p:nvPr userDrawn="1"/>
        </p:nvSpPr>
        <p:spPr>
          <a:xfrm>
            <a:off x="-1" y="1643749"/>
            <a:ext cx="124179" cy="8280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1" name="Google Shape;27;p57">
            <a:extLst>
              <a:ext uri="{FF2B5EF4-FFF2-40B4-BE49-F238E27FC236}">
                <a16:creationId xmlns:a16="http://schemas.microsoft.com/office/drawing/2014/main" id="{5C361EC3-8E42-A98E-74EA-6F226F88CDF7}"/>
              </a:ext>
            </a:extLst>
          </p:cNvPr>
          <p:cNvSpPr txBox="1">
            <a:spLocks noGrp="1"/>
          </p:cNvSpPr>
          <p:nvPr>
            <p:ph type="body" idx="2"/>
          </p:nvPr>
        </p:nvSpPr>
        <p:spPr>
          <a:xfrm>
            <a:off x="275573" y="231721"/>
            <a:ext cx="8375650" cy="376237"/>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chemeClr val="dk1"/>
              </a:buClr>
              <a:buSzPts val="2200"/>
              <a:buNone/>
              <a:defRPr sz="2200">
                <a:latin typeface="Calibri"/>
                <a:ea typeface="Calibri"/>
                <a:cs typeface="Calibri"/>
                <a:sym typeface="Calibri"/>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 name="Google Shape;35;p57">
            <a:extLst>
              <a:ext uri="{FF2B5EF4-FFF2-40B4-BE49-F238E27FC236}">
                <a16:creationId xmlns:a16="http://schemas.microsoft.com/office/drawing/2014/main" id="{6503DD0C-DFB1-BC08-BDAE-8FDE7C17EF35}"/>
              </a:ext>
            </a:extLst>
          </p:cNvPr>
          <p:cNvSpPr txBox="1">
            <a:spLocks noGrp="1"/>
          </p:cNvSpPr>
          <p:nvPr>
            <p:ph type="body" idx="10"/>
          </p:nvPr>
        </p:nvSpPr>
        <p:spPr>
          <a:xfrm>
            <a:off x="275573" y="35174"/>
            <a:ext cx="2266344" cy="13048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rgbClr val="757070"/>
              </a:buClr>
              <a:buSzPts val="900"/>
              <a:buNone/>
              <a:defRPr sz="900">
                <a:solidFill>
                  <a:srgbClr val="757070"/>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3" name="Straight Connector 2">
            <a:extLst>
              <a:ext uri="{FF2B5EF4-FFF2-40B4-BE49-F238E27FC236}">
                <a16:creationId xmlns:a16="http://schemas.microsoft.com/office/drawing/2014/main" id="{05829F02-7E64-69C9-CE0C-2DB13B4135C5}"/>
              </a:ext>
            </a:extLst>
          </p:cNvPr>
          <p:cNvCxnSpPr/>
          <p:nvPr userDrawn="1"/>
        </p:nvCxnSpPr>
        <p:spPr>
          <a:xfrm>
            <a:off x="275573" y="621210"/>
            <a:ext cx="1000811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04777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nalysis" preserve="1" userDrawn="1">
  <p:cSld name="1_Analysis">
    <p:spTree>
      <p:nvGrpSpPr>
        <p:cNvPr id="1" name="Shape 20"/>
        <p:cNvGrpSpPr/>
        <p:nvPr/>
      </p:nvGrpSpPr>
      <p:grpSpPr>
        <a:xfrm>
          <a:off x="0" y="0"/>
          <a:ext cx="0" cy="0"/>
          <a:chOff x="0" y="0"/>
          <a:chExt cx="0" cy="0"/>
        </a:xfrm>
      </p:grpSpPr>
      <p:cxnSp>
        <p:nvCxnSpPr>
          <p:cNvPr id="21" name="Google Shape;21;p57"/>
          <p:cNvCxnSpPr/>
          <p:nvPr/>
        </p:nvCxnSpPr>
        <p:spPr>
          <a:xfrm>
            <a:off x="0" y="6425852"/>
            <a:ext cx="12192000" cy="0"/>
          </a:xfrm>
          <a:prstGeom prst="straightConnector1">
            <a:avLst/>
          </a:prstGeom>
          <a:noFill/>
          <a:ln w="28575" cap="flat" cmpd="sng">
            <a:solidFill>
              <a:srgbClr val="BFBFBF"/>
            </a:solidFill>
            <a:prstDash val="solid"/>
            <a:miter lim="800000"/>
            <a:headEnd type="none" w="sm" len="sm"/>
            <a:tailEnd type="none" w="sm" len="sm"/>
          </a:ln>
        </p:spPr>
      </p:cxnSp>
      <p:sp>
        <p:nvSpPr>
          <p:cNvPr id="22" name="Google Shape;22;p57"/>
          <p:cNvSpPr txBox="1"/>
          <p:nvPr/>
        </p:nvSpPr>
        <p:spPr>
          <a:xfrm>
            <a:off x="11733574" y="6460390"/>
            <a:ext cx="458426"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1400"/>
              <a:buFont typeface="Calibri"/>
              <a:buNone/>
            </a:pPr>
            <a:fld id="{00000000-1234-1234-1234-123412341234}" type="slidenum">
              <a:rPr lang="en-US" sz="1400" b="0" i="0" u="none" strike="noStrike" cap="none">
                <a:solidFill>
                  <a:srgbClr val="888888"/>
                </a:solidFill>
                <a:latin typeface="Calibri"/>
                <a:ea typeface="Calibri"/>
                <a:cs typeface="Calibri"/>
                <a:sym typeface="Calibri"/>
              </a:rPr>
              <a:t>‹#›</a:t>
            </a:fld>
            <a:endParaRPr sz="1400" b="0" i="0" u="none" strike="noStrike" cap="none">
              <a:solidFill>
                <a:srgbClr val="888888"/>
              </a:solidFill>
              <a:latin typeface="Calibri"/>
              <a:ea typeface="Calibri"/>
              <a:cs typeface="Calibri"/>
              <a:sym typeface="Calibri"/>
            </a:endParaRPr>
          </a:p>
        </p:txBody>
      </p:sp>
      <p:sp>
        <p:nvSpPr>
          <p:cNvPr id="26" name="Google Shape;26;p57"/>
          <p:cNvSpPr txBox="1">
            <a:spLocks noGrp="1"/>
          </p:cNvSpPr>
          <p:nvPr>
            <p:ph type="body" idx="1"/>
          </p:nvPr>
        </p:nvSpPr>
        <p:spPr>
          <a:xfrm>
            <a:off x="0" y="5795203"/>
            <a:ext cx="12192000" cy="328155"/>
          </a:xfrm>
          <a:prstGeom prst="rect">
            <a:avLst/>
          </a:prstGeom>
          <a:solidFill>
            <a:schemeClr val="accent1"/>
          </a:solidFill>
          <a:ln>
            <a:noFill/>
          </a:ln>
        </p:spPr>
        <p:txBody>
          <a:bodyPr spcFirstLastPara="1" wrap="square" lIns="91425" tIns="45700" rIns="91425" bIns="45700" anchor="ctr" anchorCtr="0">
            <a:noAutofit/>
          </a:bodyPr>
          <a:lstStyle>
            <a:lvl1pPr marL="457200" lvl="0" indent="-228600" algn="ctr">
              <a:lnSpc>
                <a:spcPct val="90000"/>
              </a:lnSpc>
              <a:spcBef>
                <a:spcPts val="0"/>
              </a:spcBef>
              <a:spcAft>
                <a:spcPts val="0"/>
              </a:spcAft>
              <a:buClr>
                <a:schemeClr val="lt1"/>
              </a:buClr>
              <a:buSzPts val="1600"/>
              <a:buNone/>
              <a:defRPr sz="1600">
                <a:solidFill>
                  <a:schemeClr val="lt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57"/>
          <p:cNvSpPr txBox="1"/>
          <p:nvPr/>
        </p:nvSpPr>
        <p:spPr>
          <a:xfrm>
            <a:off x="9405534" y="6477000"/>
            <a:ext cx="1774588"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0" i="0" u="none" strike="noStrike" cap="none">
                <a:solidFill>
                  <a:srgbClr val="7F7F7F"/>
                </a:solidFill>
                <a:latin typeface="Calibri"/>
                <a:ea typeface="Calibri"/>
                <a:cs typeface="Calibri"/>
                <a:sym typeface="Calibri"/>
              </a:rPr>
              <a:t>APPENDIX</a:t>
            </a:r>
            <a:endParaRPr/>
          </a:p>
        </p:txBody>
      </p:sp>
      <p:sp>
        <p:nvSpPr>
          <p:cNvPr id="32" name="Google Shape;32;p57"/>
          <p:cNvSpPr txBox="1"/>
          <p:nvPr/>
        </p:nvSpPr>
        <p:spPr>
          <a:xfrm>
            <a:off x="1036182" y="6477000"/>
            <a:ext cx="1012329" cy="307777"/>
          </a:xfrm>
          <a:prstGeom prst="rect">
            <a:avLst/>
          </a:prstGeom>
          <a:noFill/>
          <a:ln>
            <a:noFill/>
          </a:ln>
        </p:spPr>
        <p:txBody>
          <a:bodyPr spcFirstLastPara="1" wrap="square" lIns="91425" tIns="45700" rIns="91425" bIns="45700" anchor="t" anchorCtr="0">
            <a:spAutoFit/>
          </a:bodyPr>
          <a:lstStyle>
            <a:defPPr>
              <a:defRPr lang="en-US"/>
            </a:defPPr>
            <a:lvl1pPr marR="0" lvl="0" indent="0" algn="ctr">
              <a:spcBef>
                <a:spcPts val="0"/>
              </a:spcBef>
              <a:spcAft>
                <a:spcPts val="0"/>
              </a:spcAft>
              <a:buNone/>
              <a:defRPr sz="1400" b="0" i="0" u="none" strike="noStrike" cap="none">
                <a:solidFill>
                  <a:srgbClr val="7F7F7F"/>
                </a:solidFill>
                <a:latin typeface="Calibri"/>
                <a:ea typeface="Calibri"/>
                <a:cs typeface="Calibri"/>
              </a:defRPr>
            </a:lvl1pPr>
          </a:lstStyle>
          <a:p>
            <a:pPr lvl="0"/>
            <a:r>
              <a:rPr lang="en-US">
                <a:sym typeface="Calibri"/>
              </a:rPr>
              <a:t>ANALYSIS</a:t>
            </a:r>
            <a:endParaRPr/>
          </a:p>
        </p:txBody>
      </p:sp>
      <p:sp>
        <p:nvSpPr>
          <p:cNvPr id="33" name="Google Shape;33;p57"/>
          <p:cNvSpPr txBox="1"/>
          <p:nvPr/>
        </p:nvSpPr>
        <p:spPr>
          <a:xfrm>
            <a:off x="5526825" y="6489084"/>
            <a:ext cx="1138350" cy="307736"/>
          </a:xfrm>
          <a:prstGeom prst="rect">
            <a:avLst/>
          </a:prstGeom>
          <a:noFill/>
          <a:ln>
            <a:noFill/>
          </a:ln>
        </p:spPr>
        <p:txBody>
          <a:bodyPr spcFirstLastPara="1" wrap="square" lIns="91425" tIns="45700" rIns="91425" bIns="45700" anchor="t" anchorCtr="0">
            <a:spAutoFit/>
          </a:bodyPr>
          <a:lstStyle>
            <a:defPPr>
              <a:defRPr lang="en-US"/>
            </a:defPPr>
            <a:lvl1pPr marR="0" lvl="0" indent="0" algn="ctr">
              <a:spcBef>
                <a:spcPts val="0"/>
              </a:spcBef>
              <a:spcAft>
                <a:spcPts val="0"/>
              </a:spcAft>
              <a:buNone/>
              <a:defRPr sz="1400" b="1" i="0" u="none" strike="noStrike" cap="none">
                <a:solidFill>
                  <a:schemeClr val="accent1"/>
                </a:solidFill>
                <a:latin typeface="Calibri"/>
                <a:ea typeface="Calibri"/>
                <a:cs typeface="Calibri"/>
              </a:defRPr>
            </a:lvl1pPr>
          </a:lstStyle>
          <a:p>
            <a:pPr lvl="0"/>
            <a:r>
              <a:rPr lang="en-US">
                <a:sym typeface="Calibri"/>
              </a:rPr>
              <a:t>STRATEGY</a:t>
            </a:r>
            <a:endParaRPr/>
          </a:p>
        </p:txBody>
      </p:sp>
      <p:cxnSp>
        <p:nvCxnSpPr>
          <p:cNvPr id="34" name="Google Shape;34;p57"/>
          <p:cNvCxnSpPr/>
          <p:nvPr/>
        </p:nvCxnSpPr>
        <p:spPr>
          <a:xfrm>
            <a:off x="5021180" y="6425852"/>
            <a:ext cx="2053825" cy="0"/>
          </a:xfrm>
          <a:prstGeom prst="straightConnector1">
            <a:avLst/>
          </a:prstGeom>
          <a:noFill/>
          <a:ln w="28575" cap="flat" cmpd="sng">
            <a:solidFill>
              <a:schemeClr val="accent1"/>
            </a:solidFill>
            <a:prstDash val="solid"/>
            <a:miter lim="800000"/>
            <a:headEnd type="none" w="sm" len="sm"/>
            <a:tailEnd type="none" w="sm" len="sm"/>
          </a:ln>
        </p:spPr>
      </p:cxnSp>
      <p:sp>
        <p:nvSpPr>
          <p:cNvPr id="35" name="Google Shape;35;p57"/>
          <p:cNvSpPr txBox="1">
            <a:spLocks noGrp="1"/>
          </p:cNvSpPr>
          <p:nvPr>
            <p:ph type="body" idx="3"/>
          </p:nvPr>
        </p:nvSpPr>
        <p:spPr>
          <a:xfrm>
            <a:off x="228600" y="6204558"/>
            <a:ext cx="2266344" cy="13048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rgbClr val="757070"/>
              </a:buClr>
              <a:buSzPts val="900"/>
              <a:buNone/>
              <a:defRPr sz="900">
                <a:solidFill>
                  <a:srgbClr val="757070"/>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 name="Google Shape;23;p57">
            <a:extLst>
              <a:ext uri="{FF2B5EF4-FFF2-40B4-BE49-F238E27FC236}">
                <a16:creationId xmlns:a16="http://schemas.microsoft.com/office/drawing/2014/main" id="{148D9606-A4BE-344F-4D30-36168EDBFB2E}"/>
              </a:ext>
            </a:extLst>
          </p:cNvPr>
          <p:cNvSpPr/>
          <p:nvPr userDrawn="1"/>
        </p:nvSpPr>
        <p:spPr>
          <a:xfrm>
            <a:off x="0" y="762000"/>
            <a:ext cx="124179" cy="894915"/>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 name="Google Shape;24;p57">
            <a:extLst>
              <a:ext uri="{FF2B5EF4-FFF2-40B4-BE49-F238E27FC236}">
                <a16:creationId xmlns:a16="http://schemas.microsoft.com/office/drawing/2014/main" id="{B073929D-4AD2-8CB1-7048-A9666D5B6920}"/>
              </a:ext>
            </a:extLst>
          </p:cNvPr>
          <p:cNvSpPr/>
          <p:nvPr userDrawn="1"/>
        </p:nvSpPr>
        <p:spPr>
          <a:xfrm>
            <a:off x="0" y="0"/>
            <a:ext cx="124179" cy="82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0" name="Google Shape;36;p57">
            <a:extLst>
              <a:ext uri="{FF2B5EF4-FFF2-40B4-BE49-F238E27FC236}">
                <a16:creationId xmlns:a16="http://schemas.microsoft.com/office/drawing/2014/main" id="{68800D4D-8D1C-0A55-FA4D-50F94CFCEB0F}"/>
              </a:ext>
            </a:extLst>
          </p:cNvPr>
          <p:cNvSpPr/>
          <p:nvPr userDrawn="1"/>
        </p:nvSpPr>
        <p:spPr>
          <a:xfrm>
            <a:off x="-1" y="1643749"/>
            <a:ext cx="124179" cy="8280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1" name="Google Shape;27;p57">
            <a:extLst>
              <a:ext uri="{FF2B5EF4-FFF2-40B4-BE49-F238E27FC236}">
                <a16:creationId xmlns:a16="http://schemas.microsoft.com/office/drawing/2014/main" id="{5C361EC3-8E42-A98E-74EA-6F226F88CDF7}"/>
              </a:ext>
            </a:extLst>
          </p:cNvPr>
          <p:cNvSpPr txBox="1">
            <a:spLocks noGrp="1"/>
          </p:cNvSpPr>
          <p:nvPr>
            <p:ph type="body" idx="2"/>
          </p:nvPr>
        </p:nvSpPr>
        <p:spPr>
          <a:xfrm>
            <a:off x="275573" y="231721"/>
            <a:ext cx="8375650" cy="376237"/>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chemeClr val="dk1"/>
              </a:buClr>
              <a:buSzPts val="2200"/>
              <a:buNone/>
              <a:defRPr sz="2200">
                <a:latin typeface="Calibri"/>
                <a:ea typeface="Calibri"/>
                <a:cs typeface="Calibri"/>
                <a:sym typeface="Calibri"/>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 name="Google Shape;35;p57">
            <a:extLst>
              <a:ext uri="{FF2B5EF4-FFF2-40B4-BE49-F238E27FC236}">
                <a16:creationId xmlns:a16="http://schemas.microsoft.com/office/drawing/2014/main" id="{6503DD0C-DFB1-BC08-BDAE-8FDE7C17EF35}"/>
              </a:ext>
            </a:extLst>
          </p:cNvPr>
          <p:cNvSpPr txBox="1">
            <a:spLocks noGrp="1"/>
          </p:cNvSpPr>
          <p:nvPr>
            <p:ph type="body" idx="10"/>
          </p:nvPr>
        </p:nvSpPr>
        <p:spPr>
          <a:xfrm>
            <a:off x="275573" y="35174"/>
            <a:ext cx="2266344" cy="13048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rgbClr val="757070"/>
              </a:buClr>
              <a:buSzPts val="900"/>
              <a:buNone/>
              <a:defRPr sz="900">
                <a:solidFill>
                  <a:srgbClr val="757070"/>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2" name="Straight Connector 1">
            <a:extLst>
              <a:ext uri="{FF2B5EF4-FFF2-40B4-BE49-F238E27FC236}">
                <a16:creationId xmlns:a16="http://schemas.microsoft.com/office/drawing/2014/main" id="{8C1666FC-22AE-4AB1-798D-0A20BCB8BDF6}"/>
              </a:ext>
            </a:extLst>
          </p:cNvPr>
          <p:cNvCxnSpPr/>
          <p:nvPr userDrawn="1"/>
        </p:nvCxnSpPr>
        <p:spPr>
          <a:xfrm>
            <a:off x="275573" y="621210"/>
            <a:ext cx="1000811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7024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nalysis" preserve="1" userDrawn="1">
  <p:cSld name="2_Analysis">
    <p:spTree>
      <p:nvGrpSpPr>
        <p:cNvPr id="1" name="Shape 20"/>
        <p:cNvGrpSpPr/>
        <p:nvPr/>
      </p:nvGrpSpPr>
      <p:grpSpPr>
        <a:xfrm>
          <a:off x="0" y="0"/>
          <a:ext cx="0" cy="0"/>
          <a:chOff x="0" y="0"/>
          <a:chExt cx="0" cy="0"/>
        </a:xfrm>
      </p:grpSpPr>
      <p:cxnSp>
        <p:nvCxnSpPr>
          <p:cNvPr id="21" name="Google Shape;21;p57"/>
          <p:cNvCxnSpPr/>
          <p:nvPr/>
        </p:nvCxnSpPr>
        <p:spPr>
          <a:xfrm>
            <a:off x="0" y="6425852"/>
            <a:ext cx="12192000" cy="0"/>
          </a:xfrm>
          <a:prstGeom prst="straightConnector1">
            <a:avLst/>
          </a:prstGeom>
          <a:noFill/>
          <a:ln w="28575" cap="flat" cmpd="sng">
            <a:solidFill>
              <a:srgbClr val="BFBFBF"/>
            </a:solidFill>
            <a:prstDash val="solid"/>
            <a:miter lim="800000"/>
            <a:headEnd type="none" w="sm" len="sm"/>
            <a:tailEnd type="none" w="sm" len="sm"/>
          </a:ln>
        </p:spPr>
      </p:cxnSp>
      <p:sp>
        <p:nvSpPr>
          <p:cNvPr id="22" name="Google Shape;22;p57"/>
          <p:cNvSpPr txBox="1"/>
          <p:nvPr/>
        </p:nvSpPr>
        <p:spPr>
          <a:xfrm>
            <a:off x="11733574" y="6460390"/>
            <a:ext cx="458426"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1400"/>
              <a:buFont typeface="Calibri"/>
              <a:buNone/>
            </a:pPr>
            <a:fld id="{00000000-1234-1234-1234-123412341234}" type="slidenum">
              <a:rPr lang="en-US" sz="1400" b="0" i="0" u="none" strike="noStrike" cap="none">
                <a:solidFill>
                  <a:srgbClr val="888888"/>
                </a:solidFill>
                <a:latin typeface="Calibri"/>
                <a:ea typeface="Calibri"/>
                <a:cs typeface="Calibri"/>
                <a:sym typeface="Calibri"/>
              </a:rPr>
              <a:t>‹#›</a:t>
            </a:fld>
            <a:endParaRPr sz="1400" b="0" i="0" u="none" strike="noStrike" cap="none">
              <a:solidFill>
                <a:srgbClr val="888888"/>
              </a:solidFill>
              <a:latin typeface="Calibri"/>
              <a:ea typeface="Calibri"/>
              <a:cs typeface="Calibri"/>
              <a:sym typeface="Calibri"/>
            </a:endParaRPr>
          </a:p>
        </p:txBody>
      </p:sp>
      <p:sp>
        <p:nvSpPr>
          <p:cNvPr id="26" name="Google Shape;26;p57"/>
          <p:cNvSpPr txBox="1">
            <a:spLocks noGrp="1"/>
          </p:cNvSpPr>
          <p:nvPr>
            <p:ph type="body" idx="1"/>
          </p:nvPr>
        </p:nvSpPr>
        <p:spPr>
          <a:xfrm>
            <a:off x="0" y="5795203"/>
            <a:ext cx="12192000" cy="328155"/>
          </a:xfrm>
          <a:prstGeom prst="rect">
            <a:avLst/>
          </a:prstGeom>
          <a:solidFill>
            <a:schemeClr val="accent1"/>
          </a:solidFill>
          <a:ln>
            <a:noFill/>
          </a:ln>
        </p:spPr>
        <p:txBody>
          <a:bodyPr spcFirstLastPara="1" wrap="square" lIns="91425" tIns="45700" rIns="91425" bIns="45700" anchor="ctr" anchorCtr="0">
            <a:noAutofit/>
          </a:bodyPr>
          <a:lstStyle>
            <a:lvl1pPr marL="457200" lvl="0" indent="-228600" algn="ctr">
              <a:lnSpc>
                <a:spcPct val="90000"/>
              </a:lnSpc>
              <a:spcBef>
                <a:spcPts val="0"/>
              </a:spcBef>
              <a:spcAft>
                <a:spcPts val="0"/>
              </a:spcAft>
              <a:buClr>
                <a:schemeClr val="lt1"/>
              </a:buClr>
              <a:buSzPts val="1600"/>
              <a:buNone/>
              <a:defRPr sz="1600">
                <a:solidFill>
                  <a:schemeClr val="lt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57"/>
          <p:cNvSpPr txBox="1"/>
          <p:nvPr/>
        </p:nvSpPr>
        <p:spPr>
          <a:xfrm>
            <a:off x="9405534" y="6477000"/>
            <a:ext cx="1774588" cy="307777"/>
          </a:xfrm>
          <a:prstGeom prst="rect">
            <a:avLst/>
          </a:prstGeom>
          <a:noFill/>
          <a:ln>
            <a:noFill/>
          </a:ln>
        </p:spPr>
        <p:txBody>
          <a:bodyPr spcFirstLastPara="1" wrap="square" lIns="91425" tIns="45700" rIns="91425" bIns="45700" anchor="t" anchorCtr="0">
            <a:spAutoFit/>
          </a:bodyPr>
          <a:lstStyle>
            <a:defPPr>
              <a:defRPr lang="en-US"/>
            </a:defPPr>
            <a:lvl1pPr marR="0" lvl="0" indent="0" algn="ctr">
              <a:spcBef>
                <a:spcPts val="0"/>
              </a:spcBef>
              <a:spcAft>
                <a:spcPts val="0"/>
              </a:spcAft>
              <a:buNone/>
              <a:defRPr sz="1400" b="1" i="0" u="none" strike="noStrike" cap="none">
                <a:solidFill>
                  <a:schemeClr val="accent1"/>
                </a:solidFill>
                <a:latin typeface="Calibri"/>
                <a:ea typeface="Calibri"/>
                <a:cs typeface="Calibri"/>
              </a:defRPr>
            </a:lvl1pPr>
          </a:lstStyle>
          <a:p>
            <a:pPr lvl="0"/>
            <a:r>
              <a:rPr lang="en-US">
                <a:sym typeface="Calibri"/>
              </a:rPr>
              <a:t>APPENDIX</a:t>
            </a:r>
            <a:endParaRPr/>
          </a:p>
        </p:txBody>
      </p:sp>
      <p:sp>
        <p:nvSpPr>
          <p:cNvPr id="32" name="Google Shape;32;p57"/>
          <p:cNvSpPr txBox="1"/>
          <p:nvPr/>
        </p:nvSpPr>
        <p:spPr>
          <a:xfrm>
            <a:off x="1036182" y="6477000"/>
            <a:ext cx="1012329" cy="307777"/>
          </a:xfrm>
          <a:prstGeom prst="rect">
            <a:avLst/>
          </a:prstGeom>
          <a:noFill/>
          <a:ln>
            <a:noFill/>
          </a:ln>
        </p:spPr>
        <p:txBody>
          <a:bodyPr spcFirstLastPara="1" wrap="square" lIns="91425" tIns="45700" rIns="91425" bIns="45700" anchor="t" anchorCtr="0">
            <a:spAutoFit/>
          </a:bodyPr>
          <a:lstStyle>
            <a:defPPr>
              <a:defRPr lang="en-US"/>
            </a:defPPr>
            <a:lvl1pPr marR="0" lvl="0" indent="0" algn="ctr">
              <a:spcBef>
                <a:spcPts val="0"/>
              </a:spcBef>
              <a:spcAft>
                <a:spcPts val="0"/>
              </a:spcAft>
              <a:buNone/>
              <a:defRPr sz="1400" b="0" i="0" u="none" strike="noStrike" cap="none">
                <a:solidFill>
                  <a:srgbClr val="7F7F7F"/>
                </a:solidFill>
                <a:latin typeface="Calibri"/>
                <a:ea typeface="Calibri"/>
                <a:cs typeface="Calibri"/>
              </a:defRPr>
            </a:lvl1pPr>
          </a:lstStyle>
          <a:p>
            <a:pPr lvl="0"/>
            <a:r>
              <a:rPr lang="en-US">
                <a:sym typeface="Calibri"/>
              </a:rPr>
              <a:t>ANALYSIS</a:t>
            </a:r>
            <a:endParaRPr/>
          </a:p>
        </p:txBody>
      </p:sp>
      <p:sp>
        <p:nvSpPr>
          <p:cNvPr id="33" name="Google Shape;33;p57"/>
          <p:cNvSpPr txBox="1"/>
          <p:nvPr/>
        </p:nvSpPr>
        <p:spPr>
          <a:xfrm>
            <a:off x="5526825" y="6489084"/>
            <a:ext cx="1138350" cy="30773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0" i="0" u="none" strike="noStrike" cap="none">
                <a:solidFill>
                  <a:srgbClr val="7F7F7F"/>
                </a:solidFill>
                <a:latin typeface="Calibri"/>
                <a:ea typeface="Calibri"/>
                <a:cs typeface="Calibri"/>
                <a:sym typeface="Calibri"/>
              </a:rPr>
              <a:t>STRATEGY</a:t>
            </a:r>
            <a:endParaRPr/>
          </a:p>
        </p:txBody>
      </p:sp>
      <p:cxnSp>
        <p:nvCxnSpPr>
          <p:cNvPr id="34" name="Google Shape;34;p57"/>
          <p:cNvCxnSpPr/>
          <p:nvPr/>
        </p:nvCxnSpPr>
        <p:spPr>
          <a:xfrm>
            <a:off x="9248630" y="6425852"/>
            <a:ext cx="2053825" cy="0"/>
          </a:xfrm>
          <a:prstGeom prst="straightConnector1">
            <a:avLst/>
          </a:prstGeom>
          <a:noFill/>
          <a:ln w="28575" cap="flat" cmpd="sng">
            <a:solidFill>
              <a:schemeClr val="accent1"/>
            </a:solidFill>
            <a:prstDash val="solid"/>
            <a:miter lim="800000"/>
            <a:headEnd type="none" w="sm" len="sm"/>
            <a:tailEnd type="none" w="sm" len="sm"/>
          </a:ln>
        </p:spPr>
      </p:cxnSp>
      <p:sp>
        <p:nvSpPr>
          <p:cNvPr id="35" name="Google Shape;35;p57"/>
          <p:cNvSpPr txBox="1">
            <a:spLocks noGrp="1"/>
          </p:cNvSpPr>
          <p:nvPr>
            <p:ph type="body" idx="3"/>
          </p:nvPr>
        </p:nvSpPr>
        <p:spPr>
          <a:xfrm>
            <a:off x="228600" y="6204558"/>
            <a:ext cx="2266344" cy="13048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rgbClr val="757070"/>
              </a:buClr>
              <a:buSzPts val="900"/>
              <a:buNone/>
              <a:defRPr sz="900">
                <a:solidFill>
                  <a:srgbClr val="757070"/>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 name="Google Shape;23;p57">
            <a:extLst>
              <a:ext uri="{FF2B5EF4-FFF2-40B4-BE49-F238E27FC236}">
                <a16:creationId xmlns:a16="http://schemas.microsoft.com/office/drawing/2014/main" id="{148D9606-A4BE-344F-4D30-36168EDBFB2E}"/>
              </a:ext>
            </a:extLst>
          </p:cNvPr>
          <p:cNvSpPr/>
          <p:nvPr userDrawn="1"/>
        </p:nvSpPr>
        <p:spPr>
          <a:xfrm>
            <a:off x="0" y="762000"/>
            <a:ext cx="124179" cy="894915"/>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9" name="Google Shape;24;p57">
            <a:extLst>
              <a:ext uri="{FF2B5EF4-FFF2-40B4-BE49-F238E27FC236}">
                <a16:creationId xmlns:a16="http://schemas.microsoft.com/office/drawing/2014/main" id="{B073929D-4AD2-8CB1-7048-A9666D5B6920}"/>
              </a:ext>
            </a:extLst>
          </p:cNvPr>
          <p:cNvSpPr/>
          <p:nvPr userDrawn="1"/>
        </p:nvSpPr>
        <p:spPr>
          <a:xfrm>
            <a:off x="0" y="0"/>
            <a:ext cx="124179" cy="82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0" name="Google Shape;36;p57">
            <a:extLst>
              <a:ext uri="{FF2B5EF4-FFF2-40B4-BE49-F238E27FC236}">
                <a16:creationId xmlns:a16="http://schemas.microsoft.com/office/drawing/2014/main" id="{68800D4D-8D1C-0A55-FA4D-50F94CFCEB0F}"/>
              </a:ext>
            </a:extLst>
          </p:cNvPr>
          <p:cNvSpPr/>
          <p:nvPr userDrawn="1"/>
        </p:nvSpPr>
        <p:spPr>
          <a:xfrm>
            <a:off x="-1" y="1643749"/>
            <a:ext cx="124179" cy="8280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1" name="Google Shape;27;p57">
            <a:extLst>
              <a:ext uri="{FF2B5EF4-FFF2-40B4-BE49-F238E27FC236}">
                <a16:creationId xmlns:a16="http://schemas.microsoft.com/office/drawing/2014/main" id="{5C361EC3-8E42-A98E-74EA-6F226F88CDF7}"/>
              </a:ext>
            </a:extLst>
          </p:cNvPr>
          <p:cNvSpPr txBox="1">
            <a:spLocks noGrp="1"/>
          </p:cNvSpPr>
          <p:nvPr>
            <p:ph type="body" idx="2"/>
          </p:nvPr>
        </p:nvSpPr>
        <p:spPr>
          <a:xfrm>
            <a:off x="275573" y="231721"/>
            <a:ext cx="8375650" cy="376237"/>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chemeClr val="dk1"/>
              </a:buClr>
              <a:buSzPts val="2200"/>
              <a:buNone/>
              <a:defRPr sz="2200">
                <a:latin typeface="Calibri"/>
                <a:ea typeface="Calibri"/>
                <a:cs typeface="Calibri"/>
                <a:sym typeface="Calibri"/>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 name="Google Shape;35;p57">
            <a:extLst>
              <a:ext uri="{FF2B5EF4-FFF2-40B4-BE49-F238E27FC236}">
                <a16:creationId xmlns:a16="http://schemas.microsoft.com/office/drawing/2014/main" id="{6503DD0C-DFB1-BC08-BDAE-8FDE7C17EF35}"/>
              </a:ext>
            </a:extLst>
          </p:cNvPr>
          <p:cNvSpPr txBox="1">
            <a:spLocks noGrp="1"/>
          </p:cNvSpPr>
          <p:nvPr>
            <p:ph type="body" idx="10"/>
          </p:nvPr>
        </p:nvSpPr>
        <p:spPr>
          <a:xfrm>
            <a:off x="275573" y="35174"/>
            <a:ext cx="2266344" cy="13048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rgbClr val="757070"/>
              </a:buClr>
              <a:buSzPts val="900"/>
              <a:buNone/>
              <a:defRPr sz="900">
                <a:solidFill>
                  <a:srgbClr val="757070"/>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2" name="Straight Connector 1">
            <a:extLst>
              <a:ext uri="{FF2B5EF4-FFF2-40B4-BE49-F238E27FC236}">
                <a16:creationId xmlns:a16="http://schemas.microsoft.com/office/drawing/2014/main" id="{267B6CC3-4029-A626-8C39-273AD00EB3BB}"/>
              </a:ext>
            </a:extLst>
          </p:cNvPr>
          <p:cNvCxnSpPr/>
          <p:nvPr userDrawn="1"/>
        </p:nvCxnSpPr>
        <p:spPr>
          <a:xfrm>
            <a:off x="275573" y="621210"/>
            <a:ext cx="1000811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37839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5D6A-D4E3-A3B4-CB9D-EFB509BF0F2B}"/>
              </a:ext>
            </a:extLst>
          </p:cNvPr>
          <p:cNvSpPr>
            <a:spLocks noGrp="1"/>
          </p:cNvSpPr>
          <p:nvPr>
            <p:ph type="title"/>
          </p:nvPr>
        </p:nvSpPr>
        <p:spPr/>
        <p:txBody>
          <a:bodyPr/>
          <a:lstStyle/>
          <a:p>
            <a:r>
              <a:rPr lang="en-GB"/>
              <a:t>Click to edit Master title style</a:t>
            </a:r>
            <a:endParaRPr lang="en-HK"/>
          </a:p>
        </p:txBody>
      </p:sp>
      <p:sp>
        <p:nvSpPr>
          <p:cNvPr id="3" name="Content Placeholder 2">
            <a:extLst>
              <a:ext uri="{FF2B5EF4-FFF2-40B4-BE49-F238E27FC236}">
                <a16:creationId xmlns:a16="http://schemas.microsoft.com/office/drawing/2014/main" id="{E6EAE0F4-13BE-548B-83A7-400DD4C66B2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K"/>
          </a:p>
        </p:txBody>
      </p:sp>
      <p:sp>
        <p:nvSpPr>
          <p:cNvPr id="4" name="Date Placeholder 3">
            <a:extLst>
              <a:ext uri="{FF2B5EF4-FFF2-40B4-BE49-F238E27FC236}">
                <a16:creationId xmlns:a16="http://schemas.microsoft.com/office/drawing/2014/main" id="{D3624EF0-DF05-99EF-952B-CE8072D0257F}"/>
              </a:ext>
            </a:extLst>
          </p:cNvPr>
          <p:cNvSpPr>
            <a:spLocks noGrp="1"/>
          </p:cNvSpPr>
          <p:nvPr>
            <p:ph type="dt" sz="half" idx="10"/>
          </p:nvPr>
        </p:nvSpPr>
        <p:spPr/>
        <p:txBody>
          <a:bodyPr/>
          <a:lstStyle/>
          <a:p>
            <a:fld id="{EDC2A8DC-87C1-E447-8B55-80DD0650AE7E}" type="datetimeFigureOut">
              <a:rPr lang="en-HK" smtClean="0"/>
              <a:t>8/10/2026</a:t>
            </a:fld>
            <a:endParaRPr lang="en-HK"/>
          </a:p>
        </p:txBody>
      </p:sp>
      <p:sp>
        <p:nvSpPr>
          <p:cNvPr id="5" name="Footer Placeholder 4">
            <a:extLst>
              <a:ext uri="{FF2B5EF4-FFF2-40B4-BE49-F238E27FC236}">
                <a16:creationId xmlns:a16="http://schemas.microsoft.com/office/drawing/2014/main" id="{A186EAEB-5D6B-D189-C53D-2CE3A0EE541A}"/>
              </a:ext>
            </a:extLst>
          </p:cNvPr>
          <p:cNvSpPr>
            <a:spLocks noGrp="1"/>
          </p:cNvSpPr>
          <p:nvPr>
            <p:ph type="ftr" sz="quarter" idx="11"/>
          </p:nvPr>
        </p:nvSpPr>
        <p:spPr/>
        <p:txBody>
          <a:bodyPr/>
          <a:lstStyle/>
          <a:p>
            <a:endParaRPr lang="en-HK"/>
          </a:p>
        </p:txBody>
      </p:sp>
      <p:sp>
        <p:nvSpPr>
          <p:cNvPr id="6" name="Slide Number Placeholder 5">
            <a:extLst>
              <a:ext uri="{FF2B5EF4-FFF2-40B4-BE49-F238E27FC236}">
                <a16:creationId xmlns:a16="http://schemas.microsoft.com/office/drawing/2014/main" id="{3069A6E0-4A9E-13E1-3366-8320EE3E009B}"/>
              </a:ext>
            </a:extLst>
          </p:cNvPr>
          <p:cNvSpPr>
            <a:spLocks noGrp="1"/>
          </p:cNvSpPr>
          <p:nvPr>
            <p:ph type="sldNum" sz="quarter" idx="12"/>
          </p:nvPr>
        </p:nvSpPr>
        <p:spPr/>
        <p:txBody>
          <a:bodyPr/>
          <a:lstStyle/>
          <a:p>
            <a:fld id="{20780C6E-6CF4-774E-991E-80A3BC0F0591}" type="slidenum">
              <a:rPr lang="en-HK" smtClean="0"/>
              <a:t>‹#›</a:t>
            </a:fld>
            <a:endParaRPr lang="en-HK"/>
          </a:p>
        </p:txBody>
      </p:sp>
    </p:spTree>
    <p:extLst>
      <p:ext uri="{BB962C8B-B14F-4D97-AF65-F5344CB8AC3E}">
        <p14:creationId xmlns:p14="http://schemas.microsoft.com/office/powerpoint/2010/main" val="1839561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FE73B-2BA4-A8C2-43AB-875216ED999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HK"/>
          </a:p>
        </p:txBody>
      </p:sp>
      <p:sp>
        <p:nvSpPr>
          <p:cNvPr id="3" name="Text Placeholder 2">
            <a:extLst>
              <a:ext uri="{FF2B5EF4-FFF2-40B4-BE49-F238E27FC236}">
                <a16:creationId xmlns:a16="http://schemas.microsoft.com/office/drawing/2014/main" id="{A8333B54-0686-C98F-E219-F5818C5CEC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BFF20A6-A7D2-0ACD-20EC-570BE1A22481}"/>
              </a:ext>
            </a:extLst>
          </p:cNvPr>
          <p:cNvSpPr>
            <a:spLocks noGrp="1"/>
          </p:cNvSpPr>
          <p:nvPr>
            <p:ph type="dt" sz="half" idx="10"/>
          </p:nvPr>
        </p:nvSpPr>
        <p:spPr/>
        <p:txBody>
          <a:bodyPr/>
          <a:lstStyle/>
          <a:p>
            <a:fld id="{EDC2A8DC-87C1-E447-8B55-80DD0650AE7E}" type="datetimeFigureOut">
              <a:rPr lang="en-HK" smtClean="0"/>
              <a:t>8/10/2026</a:t>
            </a:fld>
            <a:endParaRPr lang="en-HK"/>
          </a:p>
        </p:txBody>
      </p:sp>
      <p:sp>
        <p:nvSpPr>
          <p:cNvPr id="5" name="Footer Placeholder 4">
            <a:extLst>
              <a:ext uri="{FF2B5EF4-FFF2-40B4-BE49-F238E27FC236}">
                <a16:creationId xmlns:a16="http://schemas.microsoft.com/office/drawing/2014/main" id="{B3035BD4-BCAA-47B5-76FC-3807ED21E0BA}"/>
              </a:ext>
            </a:extLst>
          </p:cNvPr>
          <p:cNvSpPr>
            <a:spLocks noGrp="1"/>
          </p:cNvSpPr>
          <p:nvPr>
            <p:ph type="ftr" sz="quarter" idx="11"/>
          </p:nvPr>
        </p:nvSpPr>
        <p:spPr/>
        <p:txBody>
          <a:bodyPr/>
          <a:lstStyle/>
          <a:p>
            <a:endParaRPr lang="en-HK"/>
          </a:p>
        </p:txBody>
      </p:sp>
      <p:sp>
        <p:nvSpPr>
          <p:cNvPr id="6" name="Slide Number Placeholder 5">
            <a:extLst>
              <a:ext uri="{FF2B5EF4-FFF2-40B4-BE49-F238E27FC236}">
                <a16:creationId xmlns:a16="http://schemas.microsoft.com/office/drawing/2014/main" id="{2362137D-C53B-B07C-13CB-5A0624474D7D}"/>
              </a:ext>
            </a:extLst>
          </p:cNvPr>
          <p:cNvSpPr>
            <a:spLocks noGrp="1"/>
          </p:cNvSpPr>
          <p:nvPr>
            <p:ph type="sldNum" sz="quarter" idx="12"/>
          </p:nvPr>
        </p:nvSpPr>
        <p:spPr/>
        <p:txBody>
          <a:bodyPr/>
          <a:lstStyle/>
          <a:p>
            <a:fld id="{20780C6E-6CF4-774E-991E-80A3BC0F0591}" type="slidenum">
              <a:rPr lang="en-HK" smtClean="0"/>
              <a:t>‹#›</a:t>
            </a:fld>
            <a:endParaRPr lang="en-HK"/>
          </a:p>
        </p:txBody>
      </p:sp>
    </p:spTree>
    <p:extLst>
      <p:ext uri="{BB962C8B-B14F-4D97-AF65-F5344CB8AC3E}">
        <p14:creationId xmlns:p14="http://schemas.microsoft.com/office/powerpoint/2010/main" val="809611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FCE35-48D3-6086-EDE4-B8C5EB914CEA}"/>
              </a:ext>
            </a:extLst>
          </p:cNvPr>
          <p:cNvSpPr>
            <a:spLocks noGrp="1"/>
          </p:cNvSpPr>
          <p:nvPr>
            <p:ph type="title"/>
          </p:nvPr>
        </p:nvSpPr>
        <p:spPr/>
        <p:txBody>
          <a:bodyPr/>
          <a:lstStyle/>
          <a:p>
            <a:r>
              <a:rPr lang="en-GB"/>
              <a:t>Click to edit Master title style</a:t>
            </a:r>
            <a:endParaRPr lang="en-HK"/>
          </a:p>
        </p:txBody>
      </p:sp>
      <p:sp>
        <p:nvSpPr>
          <p:cNvPr id="3" name="Content Placeholder 2">
            <a:extLst>
              <a:ext uri="{FF2B5EF4-FFF2-40B4-BE49-F238E27FC236}">
                <a16:creationId xmlns:a16="http://schemas.microsoft.com/office/drawing/2014/main" id="{FF7A8E9A-C7CB-5069-8AE1-193095D35B0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K"/>
          </a:p>
        </p:txBody>
      </p:sp>
      <p:sp>
        <p:nvSpPr>
          <p:cNvPr id="4" name="Content Placeholder 3">
            <a:extLst>
              <a:ext uri="{FF2B5EF4-FFF2-40B4-BE49-F238E27FC236}">
                <a16:creationId xmlns:a16="http://schemas.microsoft.com/office/drawing/2014/main" id="{C57D0E85-159E-BD1B-8589-63F6515C265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K"/>
          </a:p>
        </p:txBody>
      </p:sp>
      <p:sp>
        <p:nvSpPr>
          <p:cNvPr id="5" name="Date Placeholder 4">
            <a:extLst>
              <a:ext uri="{FF2B5EF4-FFF2-40B4-BE49-F238E27FC236}">
                <a16:creationId xmlns:a16="http://schemas.microsoft.com/office/drawing/2014/main" id="{3649E401-5B69-F7B7-2AD8-2B9F63D43C61}"/>
              </a:ext>
            </a:extLst>
          </p:cNvPr>
          <p:cNvSpPr>
            <a:spLocks noGrp="1"/>
          </p:cNvSpPr>
          <p:nvPr>
            <p:ph type="dt" sz="half" idx="10"/>
          </p:nvPr>
        </p:nvSpPr>
        <p:spPr/>
        <p:txBody>
          <a:bodyPr/>
          <a:lstStyle/>
          <a:p>
            <a:fld id="{EDC2A8DC-87C1-E447-8B55-80DD0650AE7E}" type="datetimeFigureOut">
              <a:rPr lang="en-HK" smtClean="0"/>
              <a:t>8/10/2026</a:t>
            </a:fld>
            <a:endParaRPr lang="en-HK"/>
          </a:p>
        </p:txBody>
      </p:sp>
      <p:sp>
        <p:nvSpPr>
          <p:cNvPr id="6" name="Footer Placeholder 5">
            <a:extLst>
              <a:ext uri="{FF2B5EF4-FFF2-40B4-BE49-F238E27FC236}">
                <a16:creationId xmlns:a16="http://schemas.microsoft.com/office/drawing/2014/main" id="{A00F3FF0-2F1D-4A1F-FEEC-6A883139EEAA}"/>
              </a:ext>
            </a:extLst>
          </p:cNvPr>
          <p:cNvSpPr>
            <a:spLocks noGrp="1"/>
          </p:cNvSpPr>
          <p:nvPr>
            <p:ph type="ftr" sz="quarter" idx="11"/>
          </p:nvPr>
        </p:nvSpPr>
        <p:spPr/>
        <p:txBody>
          <a:bodyPr/>
          <a:lstStyle/>
          <a:p>
            <a:endParaRPr lang="en-HK"/>
          </a:p>
        </p:txBody>
      </p:sp>
      <p:sp>
        <p:nvSpPr>
          <p:cNvPr id="7" name="Slide Number Placeholder 6">
            <a:extLst>
              <a:ext uri="{FF2B5EF4-FFF2-40B4-BE49-F238E27FC236}">
                <a16:creationId xmlns:a16="http://schemas.microsoft.com/office/drawing/2014/main" id="{F7B61785-34EF-96C9-FDE2-4EC182599F13}"/>
              </a:ext>
            </a:extLst>
          </p:cNvPr>
          <p:cNvSpPr>
            <a:spLocks noGrp="1"/>
          </p:cNvSpPr>
          <p:nvPr>
            <p:ph type="sldNum" sz="quarter" idx="12"/>
          </p:nvPr>
        </p:nvSpPr>
        <p:spPr/>
        <p:txBody>
          <a:bodyPr/>
          <a:lstStyle/>
          <a:p>
            <a:fld id="{20780C6E-6CF4-774E-991E-80A3BC0F0591}" type="slidenum">
              <a:rPr lang="en-HK" smtClean="0"/>
              <a:t>‹#›</a:t>
            </a:fld>
            <a:endParaRPr lang="en-HK"/>
          </a:p>
        </p:txBody>
      </p:sp>
    </p:spTree>
    <p:extLst>
      <p:ext uri="{BB962C8B-B14F-4D97-AF65-F5344CB8AC3E}">
        <p14:creationId xmlns:p14="http://schemas.microsoft.com/office/powerpoint/2010/main" val="2911254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DF257-F9C2-AAB4-D018-0EE0D62F4095}"/>
              </a:ext>
            </a:extLst>
          </p:cNvPr>
          <p:cNvSpPr>
            <a:spLocks noGrp="1"/>
          </p:cNvSpPr>
          <p:nvPr>
            <p:ph type="title"/>
          </p:nvPr>
        </p:nvSpPr>
        <p:spPr>
          <a:xfrm>
            <a:off x="839788" y="365125"/>
            <a:ext cx="10515600" cy="1325563"/>
          </a:xfrm>
        </p:spPr>
        <p:txBody>
          <a:bodyPr/>
          <a:lstStyle/>
          <a:p>
            <a:r>
              <a:rPr lang="en-GB"/>
              <a:t>Click to edit Master title style</a:t>
            </a:r>
            <a:endParaRPr lang="en-HK"/>
          </a:p>
        </p:txBody>
      </p:sp>
      <p:sp>
        <p:nvSpPr>
          <p:cNvPr id="3" name="Text Placeholder 2">
            <a:extLst>
              <a:ext uri="{FF2B5EF4-FFF2-40B4-BE49-F238E27FC236}">
                <a16:creationId xmlns:a16="http://schemas.microsoft.com/office/drawing/2014/main" id="{370422C6-4A01-3D71-4A44-0DF6BE7B82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B1AB773-2F67-6764-D9BD-7BBE009633A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K"/>
          </a:p>
        </p:txBody>
      </p:sp>
      <p:sp>
        <p:nvSpPr>
          <p:cNvPr id="5" name="Text Placeholder 4">
            <a:extLst>
              <a:ext uri="{FF2B5EF4-FFF2-40B4-BE49-F238E27FC236}">
                <a16:creationId xmlns:a16="http://schemas.microsoft.com/office/drawing/2014/main" id="{108D220C-AFEA-502D-6B2E-2CF332124A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AFD5B8A-A934-EF49-AF71-3E86C60F334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K"/>
          </a:p>
        </p:txBody>
      </p:sp>
      <p:sp>
        <p:nvSpPr>
          <p:cNvPr id="7" name="Date Placeholder 6">
            <a:extLst>
              <a:ext uri="{FF2B5EF4-FFF2-40B4-BE49-F238E27FC236}">
                <a16:creationId xmlns:a16="http://schemas.microsoft.com/office/drawing/2014/main" id="{B2A65822-C3DF-832A-D5CA-718C7B2023BE}"/>
              </a:ext>
            </a:extLst>
          </p:cNvPr>
          <p:cNvSpPr>
            <a:spLocks noGrp="1"/>
          </p:cNvSpPr>
          <p:nvPr>
            <p:ph type="dt" sz="half" idx="10"/>
          </p:nvPr>
        </p:nvSpPr>
        <p:spPr/>
        <p:txBody>
          <a:bodyPr/>
          <a:lstStyle/>
          <a:p>
            <a:fld id="{EDC2A8DC-87C1-E447-8B55-80DD0650AE7E}" type="datetimeFigureOut">
              <a:rPr lang="en-HK" smtClean="0"/>
              <a:t>8/10/2026</a:t>
            </a:fld>
            <a:endParaRPr lang="en-HK"/>
          </a:p>
        </p:txBody>
      </p:sp>
      <p:sp>
        <p:nvSpPr>
          <p:cNvPr id="8" name="Footer Placeholder 7">
            <a:extLst>
              <a:ext uri="{FF2B5EF4-FFF2-40B4-BE49-F238E27FC236}">
                <a16:creationId xmlns:a16="http://schemas.microsoft.com/office/drawing/2014/main" id="{7513DFFE-4692-A496-E282-9AA195D38214}"/>
              </a:ext>
            </a:extLst>
          </p:cNvPr>
          <p:cNvSpPr>
            <a:spLocks noGrp="1"/>
          </p:cNvSpPr>
          <p:nvPr>
            <p:ph type="ftr" sz="quarter" idx="11"/>
          </p:nvPr>
        </p:nvSpPr>
        <p:spPr/>
        <p:txBody>
          <a:bodyPr/>
          <a:lstStyle/>
          <a:p>
            <a:endParaRPr lang="en-HK"/>
          </a:p>
        </p:txBody>
      </p:sp>
      <p:sp>
        <p:nvSpPr>
          <p:cNvPr id="9" name="Slide Number Placeholder 8">
            <a:extLst>
              <a:ext uri="{FF2B5EF4-FFF2-40B4-BE49-F238E27FC236}">
                <a16:creationId xmlns:a16="http://schemas.microsoft.com/office/drawing/2014/main" id="{FB6CD035-2FF9-4EC9-F778-9F6DC1655B0A}"/>
              </a:ext>
            </a:extLst>
          </p:cNvPr>
          <p:cNvSpPr>
            <a:spLocks noGrp="1"/>
          </p:cNvSpPr>
          <p:nvPr>
            <p:ph type="sldNum" sz="quarter" idx="12"/>
          </p:nvPr>
        </p:nvSpPr>
        <p:spPr/>
        <p:txBody>
          <a:bodyPr/>
          <a:lstStyle/>
          <a:p>
            <a:fld id="{20780C6E-6CF4-774E-991E-80A3BC0F0591}" type="slidenum">
              <a:rPr lang="en-HK" smtClean="0"/>
              <a:t>‹#›</a:t>
            </a:fld>
            <a:endParaRPr lang="en-HK"/>
          </a:p>
        </p:txBody>
      </p:sp>
    </p:spTree>
    <p:extLst>
      <p:ext uri="{BB962C8B-B14F-4D97-AF65-F5344CB8AC3E}">
        <p14:creationId xmlns:p14="http://schemas.microsoft.com/office/powerpoint/2010/main" val="4215584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13206-5920-A384-E5EC-2D80C33ADBB1}"/>
              </a:ext>
            </a:extLst>
          </p:cNvPr>
          <p:cNvSpPr>
            <a:spLocks noGrp="1"/>
          </p:cNvSpPr>
          <p:nvPr>
            <p:ph type="title"/>
          </p:nvPr>
        </p:nvSpPr>
        <p:spPr/>
        <p:txBody>
          <a:bodyPr/>
          <a:lstStyle/>
          <a:p>
            <a:r>
              <a:rPr lang="en-GB"/>
              <a:t>Click to edit Master title style</a:t>
            </a:r>
            <a:endParaRPr lang="en-HK"/>
          </a:p>
        </p:txBody>
      </p:sp>
      <p:sp>
        <p:nvSpPr>
          <p:cNvPr id="3" name="Date Placeholder 2">
            <a:extLst>
              <a:ext uri="{FF2B5EF4-FFF2-40B4-BE49-F238E27FC236}">
                <a16:creationId xmlns:a16="http://schemas.microsoft.com/office/drawing/2014/main" id="{88091192-A23D-0DC4-2382-DC6891304416}"/>
              </a:ext>
            </a:extLst>
          </p:cNvPr>
          <p:cNvSpPr>
            <a:spLocks noGrp="1"/>
          </p:cNvSpPr>
          <p:nvPr>
            <p:ph type="dt" sz="half" idx="10"/>
          </p:nvPr>
        </p:nvSpPr>
        <p:spPr/>
        <p:txBody>
          <a:bodyPr/>
          <a:lstStyle/>
          <a:p>
            <a:fld id="{EDC2A8DC-87C1-E447-8B55-80DD0650AE7E}" type="datetimeFigureOut">
              <a:rPr lang="en-HK" smtClean="0"/>
              <a:t>8/10/2026</a:t>
            </a:fld>
            <a:endParaRPr lang="en-HK"/>
          </a:p>
        </p:txBody>
      </p:sp>
      <p:sp>
        <p:nvSpPr>
          <p:cNvPr id="4" name="Footer Placeholder 3">
            <a:extLst>
              <a:ext uri="{FF2B5EF4-FFF2-40B4-BE49-F238E27FC236}">
                <a16:creationId xmlns:a16="http://schemas.microsoft.com/office/drawing/2014/main" id="{99023E14-FF12-5ED1-4824-F766A408AAE7}"/>
              </a:ext>
            </a:extLst>
          </p:cNvPr>
          <p:cNvSpPr>
            <a:spLocks noGrp="1"/>
          </p:cNvSpPr>
          <p:nvPr>
            <p:ph type="ftr" sz="quarter" idx="11"/>
          </p:nvPr>
        </p:nvSpPr>
        <p:spPr/>
        <p:txBody>
          <a:bodyPr/>
          <a:lstStyle/>
          <a:p>
            <a:endParaRPr lang="en-HK"/>
          </a:p>
        </p:txBody>
      </p:sp>
      <p:sp>
        <p:nvSpPr>
          <p:cNvPr id="5" name="Slide Number Placeholder 4">
            <a:extLst>
              <a:ext uri="{FF2B5EF4-FFF2-40B4-BE49-F238E27FC236}">
                <a16:creationId xmlns:a16="http://schemas.microsoft.com/office/drawing/2014/main" id="{A7D76BBA-DDA9-0E90-EAC5-C681B201C9DD}"/>
              </a:ext>
            </a:extLst>
          </p:cNvPr>
          <p:cNvSpPr>
            <a:spLocks noGrp="1"/>
          </p:cNvSpPr>
          <p:nvPr>
            <p:ph type="sldNum" sz="quarter" idx="12"/>
          </p:nvPr>
        </p:nvSpPr>
        <p:spPr/>
        <p:txBody>
          <a:bodyPr/>
          <a:lstStyle/>
          <a:p>
            <a:fld id="{20780C6E-6CF4-774E-991E-80A3BC0F0591}" type="slidenum">
              <a:rPr lang="en-HK" smtClean="0"/>
              <a:t>‹#›</a:t>
            </a:fld>
            <a:endParaRPr lang="en-HK"/>
          </a:p>
        </p:txBody>
      </p:sp>
    </p:spTree>
    <p:extLst>
      <p:ext uri="{BB962C8B-B14F-4D97-AF65-F5344CB8AC3E}">
        <p14:creationId xmlns:p14="http://schemas.microsoft.com/office/powerpoint/2010/main" val="3609707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CE5E9D-EA08-CC53-0A50-8CBB582E2582}"/>
              </a:ext>
            </a:extLst>
          </p:cNvPr>
          <p:cNvSpPr>
            <a:spLocks noGrp="1"/>
          </p:cNvSpPr>
          <p:nvPr>
            <p:ph type="dt" sz="half" idx="10"/>
          </p:nvPr>
        </p:nvSpPr>
        <p:spPr/>
        <p:txBody>
          <a:bodyPr/>
          <a:lstStyle/>
          <a:p>
            <a:fld id="{EDC2A8DC-87C1-E447-8B55-80DD0650AE7E}" type="datetimeFigureOut">
              <a:rPr lang="en-HK" smtClean="0"/>
              <a:t>8/10/2026</a:t>
            </a:fld>
            <a:endParaRPr lang="en-HK"/>
          </a:p>
        </p:txBody>
      </p:sp>
      <p:sp>
        <p:nvSpPr>
          <p:cNvPr id="3" name="Footer Placeholder 2">
            <a:extLst>
              <a:ext uri="{FF2B5EF4-FFF2-40B4-BE49-F238E27FC236}">
                <a16:creationId xmlns:a16="http://schemas.microsoft.com/office/drawing/2014/main" id="{543F56D0-6672-40F7-1605-FB72F319E92D}"/>
              </a:ext>
            </a:extLst>
          </p:cNvPr>
          <p:cNvSpPr>
            <a:spLocks noGrp="1"/>
          </p:cNvSpPr>
          <p:nvPr>
            <p:ph type="ftr" sz="quarter" idx="11"/>
          </p:nvPr>
        </p:nvSpPr>
        <p:spPr/>
        <p:txBody>
          <a:bodyPr/>
          <a:lstStyle/>
          <a:p>
            <a:endParaRPr lang="en-HK"/>
          </a:p>
        </p:txBody>
      </p:sp>
      <p:sp>
        <p:nvSpPr>
          <p:cNvPr id="4" name="Slide Number Placeholder 3">
            <a:extLst>
              <a:ext uri="{FF2B5EF4-FFF2-40B4-BE49-F238E27FC236}">
                <a16:creationId xmlns:a16="http://schemas.microsoft.com/office/drawing/2014/main" id="{82E757FD-346C-7F6E-796C-AFA53D530A6D}"/>
              </a:ext>
            </a:extLst>
          </p:cNvPr>
          <p:cNvSpPr>
            <a:spLocks noGrp="1"/>
          </p:cNvSpPr>
          <p:nvPr>
            <p:ph type="sldNum" sz="quarter" idx="12"/>
          </p:nvPr>
        </p:nvSpPr>
        <p:spPr/>
        <p:txBody>
          <a:bodyPr/>
          <a:lstStyle/>
          <a:p>
            <a:fld id="{20780C6E-6CF4-774E-991E-80A3BC0F0591}" type="slidenum">
              <a:rPr lang="en-HK" smtClean="0"/>
              <a:t>‹#›</a:t>
            </a:fld>
            <a:endParaRPr lang="en-HK"/>
          </a:p>
        </p:txBody>
      </p:sp>
    </p:spTree>
    <p:extLst>
      <p:ext uri="{BB962C8B-B14F-4D97-AF65-F5344CB8AC3E}">
        <p14:creationId xmlns:p14="http://schemas.microsoft.com/office/powerpoint/2010/main" val="3689670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554BD-A1A7-DA35-471B-9BF434648B8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HK"/>
          </a:p>
        </p:txBody>
      </p:sp>
      <p:sp>
        <p:nvSpPr>
          <p:cNvPr id="3" name="Content Placeholder 2">
            <a:extLst>
              <a:ext uri="{FF2B5EF4-FFF2-40B4-BE49-F238E27FC236}">
                <a16:creationId xmlns:a16="http://schemas.microsoft.com/office/drawing/2014/main" id="{98AC0FD3-9C39-EC99-C5EE-76A112D2CE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K"/>
          </a:p>
        </p:txBody>
      </p:sp>
      <p:sp>
        <p:nvSpPr>
          <p:cNvPr id="4" name="Text Placeholder 3">
            <a:extLst>
              <a:ext uri="{FF2B5EF4-FFF2-40B4-BE49-F238E27FC236}">
                <a16:creationId xmlns:a16="http://schemas.microsoft.com/office/drawing/2014/main" id="{11E4D054-319B-7113-CA18-5982542CA5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716623E-9A83-6703-5246-9C7C97A7AA20}"/>
              </a:ext>
            </a:extLst>
          </p:cNvPr>
          <p:cNvSpPr>
            <a:spLocks noGrp="1"/>
          </p:cNvSpPr>
          <p:nvPr>
            <p:ph type="dt" sz="half" idx="10"/>
          </p:nvPr>
        </p:nvSpPr>
        <p:spPr/>
        <p:txBody>
          <a:bodyPr/>
          <a:lstStyle/>
          <a:p>
            <a:fld id="{EDC2A8DC-87C1-E447-8B55-80DD0650AE7E}" type="datetimeFigureOut">
              <a:rPr lang="en-HK" smtClean="0"/>
              <a:t>8/10/2026</a:t>
            </a:fld>
            <a:endParaRPr lang="en-HK"/>
          </a:p>
        </p:txBody>
      </p:sp>
      <p:sp>
        <p:nvSpPr>
          <p:cNvPr id="6" name="Footer Placeholder 5">
            <a:extLst>
              <a:ext uri="{FF2B5EF4-FFF2-40B4-BE49-F238E27FC236}">
                <a16:creationId xmlns:a16="http://schemas.microsoft.com/office/drawing/2014/main" id="{1841F406-0870-2F58-9FED-CF7245A7C51F}"/>
              </a:ext>
            </a:extLst>
          </p:cNvPr>
          <p:cNvSpPr>
            <a:spLocks noGrp="1"/>
          </p:cNvSpPr>
          <p:nvPr>
            <p:ph type="ftr" sz="quarter" idx="11"/>
          </p:nvPr>
        </p:nvSpPr>
        <p:spPr/>
        <p:txBody>
          <a:bodyPr/>
          <a:lstStyle/>
          <a:p>
            <a:endParaRPr lang="en-HK"/>
          </a:p>
        </p:txBody>
      </p:sp>
      <p:sp>
        <p:nvSpPr>
          <p:cNvPr id="7" name="Slide Number Placeholder 6">
            <a:extLst>
              <a:ext uri="{FF2B5EF4-FFF2-40B4-BE49-F238E27FC236}">
                <a16:creationId xmlns:a16="http://schemas.microsoft.com/office/drawing/2014/main" id="{8A82439B-C465-C067-F724-8F585C643955}"/>
              </a:ext>
            </a:extLst>
          </p:cNvPr>
          <p:cNvSpPr>
            <a:spLocks noGrp="1"/>
          </p:cNvSpPr>
          <p:nvPr>
            <p:ph type="sldNum" sz="quarter" idx="12"/>
          </p:nvPr>
        </p:nvSpPr>
        <p:spPr/>
        <p:txBody>
          <a:bodyPr/>
          <a:lstStyle/>
          <a:p>
            <a:fld id="{20780C6E-6CF4-774E-991E-80A3BC0F0591}" type="slidenum">
              <a:rPr lang="en-HK" smtClean="0"/>
              <a:t>‹#›</a:t>
            </a:fld>
            <a:endParaRPr lang="en-HK"/>
          </a:p>
        </p:txBody>
      </p:sp>
    </p:spTree>
    <p:extLst>
      <p:ext uri="{BB962C8B-B14F-4D97-AF65-F5344CB8AC3E}">
        <p14:creationId xmlns:p14="http://schemas.microsoft.com/office/powerpoint/2010/main" val="2426815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E4D16-B140-C7B2-9B0B-764055AAB2F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HK"/>
          </a:p>
        </p:txBody>
      </p:sp>
      <p:sp>
        <p:nvSpPr>
          <p:cNvPr id="3" name="Picture Placeholder 2">
            <a:extLst>
              <a:ext uri="{FF2B5EF4-FFF2-40B4-BE49-F238E27FC236}">
                <a16:creationId xmlns:a16="http://schemas.microsoft.com/office/drawing/2014/main" id="{04A14C04-607D-D604-3E07-7C16634014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HK"/>
          </a:p>
        </p:txBody>
      </p:sp>
      <p:sp>
        <p:nvSpPr>
          <p:cNvPr id="4" name="Text Placeholder 3">
            <a:extLst>
              <a:ext uri="{FF2B5EF4-FFF2-40B4-BE49-F238E27FC236}">
                <a16:creationId xmlns:a16="http://schemas.microsoft.com/office/drawing/2014/main" id="{A1D00013-4A49-D98C-6227-FBBB62A0F0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62D74C2-DAA3-9B38-318B-B8CF06E488AB}"/>
              </a:ext>
            </a:extLst>
          </p:cNvPr>
          <p:cNvSpPr>
            <a:spLocks noGrp="1"/>
          </p:cNvSpPr>
          <p:nvPr>
            <p:ph type="dt" sz="half" idx="10"/>
          </p:nvPr>
        </p:nvSpPr>
        <p:spPr/>
        <p:txBody>
          <a:bodyPr/>
          <a:lstStyle/>
          <a:p>
            <a:fld id="{EDC2A8DC-87C1-E447-8B55-80DD0650AE7E}" type="datetimeFigureOut">
              <a:rPr lang="en-HK" smtClean="0"/>
              <a:t>8/10/2026</a:t>
            </a:fld>
            <a:endParaRPr lang="en-HK"/>
          </a:p>
        </p:txBody>
      </p:sp>
      <p:sp>
        <p:nvSpPr>
          <p:cNvPr id="6" name="Footer Placeholder 5">
            <a:extLst>
              <a:ext uri="{FF2B5EF4-FFF2-40B4-BE49-F238E27FC236}">
                <a16:creationId xmlns:a16="http://schemas.microsoft.com/office/drawing/2014/main" id="{0718CE1C-98CA-3277-FF2A-C5670F29CA59}"/>
              </a:ext>
            </a:extLst>
          </p:cNvPr>
          <p:cNvSpPr>
            <a:spLocks noGrp="1"/>
          </p:cNvSpPr>
          <p:nvPr>
            <p:ph type="ftr" sz="quarter" idx="11"/>
          </p:nvPr>
        </p:nvSpPr>
        <p:spPr/>
        <p:txBody>
          <a:bodyPr/>
          <a:lstStyle/>
          <a:p>
            <a:endParaRPr lang="en-HK"/>
          </a:p>
        </p:txBody>
      </p:sp>
      <p:sp>
        <p:nvSpPr>
          <p:cNvPr id="7" name="Slide Number Placeholder 6">
            <a:extLst>
              <a:ext uri="{FF2B5EF4-FFF2-40B4-BE49-F238E27FC236}">
                <a16:creationId xmlns:a16="http://schemas.microsoft.com/office/drawing/2014/main" id="{D1773AA1-290D-1E98-F688-1A4983DD9DB7}"/>
              </a:ext>
            </a:extLst>
          </p:cNvPr>
          <p:cNvSpPr>
            <a:spLocks noGrp="1"/>
          </p:cNvSpPr>
          <p:nvPr>
            <p:ph type="sldNum" sz="quarter" idx="12"/>
          </p:nvPr>
        </p:nvSpPr>
        <p:spPr/>
        <p:txBody>
          <a:bodyPr/>
          <a:lstStyle/>
          <a:p>
            <a:fld id="{20780C6E-6CF4-774E-991E-80A3BC0F0591}" type="slidenum">
              <a:rPr lang="en-HK" smtClean="0"/>
              <a:t>‹#›</a:t>
            </a:fld>
            <a:endParaRPr lang="en-HK"/>
          </a:p>
        </p:txBody>
      </p:sp>
    </p:spTree>
    <p:extLst>
      <p:ext uri="{BB962C8B-B14F-4D97-AF65-F5344CB8AC3E}">
        <p14:creationId xmlns:p14="http://schemas.microsoft.com/office/powerpoint/2010/main" val="2487543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524B3-2C5B-746F-3A7B-6EAE1E8EFE7B}"/>
              </a:ext>
            </a:extLst>
          </p:cNvPr>
          <p:cNvSpPr>
            <a:spLocks noGrp="1"/>
          </p:cNvSpPr>
          <p:nvPr>
            <p:ph type="title"/>
          </p:nvPr>
        </p:nvSpPr>
        <p:spPr/>
        <p:txBody>
          <a:bodyPr/>
          <a:lstStyle/>
          <a:p>
            <a:r>
              <a:rPr lang="en-GB"/>
              <a:t>Click to edit Master title style</a:t>
            </a:r>
            <a:endParaRPr lang="en-HK"/>
          </a:p>
        </p:txBody>
      </p:sp>
      <p:sp>
        <p:nvSpPr>
          <p:cNvPr id="3" name="Vertical Text Placeholder 2">
            <a:extLst>
              <a:ext uri="{FF2B5EF4-FFF2-40B4-BE49-F238E27FC236}">
                <a16:creationId xmlns:a16="http://schemas.microsoft.com/office/drawing/2014/main" id="{CE1CF5FD-E044-F800-1AB9-1E7738029B8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K"/>
          </a:p>
        </p:txBody>
      </p:sp>
      <p:sp>
        <p:nvSpPr>
          <p:cNvPr id="4" name="Date Placeholder 3">
            <a:extLst>
              <a:ext uri="{FF2B5EF4-FFF2-40B4-BE49-F238E27FC236}">
                <a16:creationId xmlns:a16="http://schemas.microsoft.com/office/drawing/2014/main" id="{6CB77C61-9A45-9DE5-AE80-7C2F9FCC26D5}"/>
              </a:ext>
            </a:extLst>
          </p:cNvPr>
          <p:cNvSpPr>
            <a:spLocks noGrp="1"/>
          </p:cNvSpPr>
          <p:nvPr>
            <p:ph type="dt" sz="half" idx="10"/>
          </p:nvPr>
        </p:nvSpPr>
        <p:spPr/>
        <p:txBody>
          <a:bodyPr/>
          <a:lstStyle/>
          <a:p>
            <a:fld id="{EDC2A8DC-87C1-E447-8B55-80DD0650AE7E}" type="datetimeFigureOut">
              <a:rPr lang="en-HK" smtClean="0"/>
              <a:t>8/10/2026</a:t>
            </a:fld>
            <a:endParaRPr lang="en-HK"/>
          </a:p>
        </p:txBody>
      </p:sp>
      <p:sp>
        <p:nvSpPr>
          <p:cNvPr id="5" name="Footer Placeholder 4">
            <a:extLst>
              <a:ext uri="{FF2B5EF4-FFF2-40B4-BE49-F238E27FC236}">
                <a16:creationId xmlns:a16="http://schemas.microsoft.com/office/drawing/2014/main" id="{8608BAE1-A34D-F68B-134A-B970CABB4253}"/>
              </a:ext>
            </a:extLst>
          </p:cNvPr>
          <p:cNvSpPr>
            <a:spLocks noGrp="1"/>
          </p:cNvSpPr>
          <p:nvPr>
            <p:ph type="ftr" sz="quarter" idx="11"/>
          </p:nvPr>
        </p:nvSpPr>
        <p:spPr/>
        <p:txBody>
          <a:bodyPr/>
          <a:lstStyle/>
          <a:p>
            <a:endParaRPr lang="en-HK"/>
          </a:p>
        </p:txBody>
      </p:sp>
      <p:sp>
        <p:nvSpPr>
          <p:cNvPr id="6" name="Slide Number Placeholder 5">
            <a:extLst>
              <a:ext uri="{FF2B5EF4-FFF2-40B4-BE49-F238E27FC236}">
                <a16:creationId xmlns:a16="http://schemas.microsoft.com/office/drawing/2014/main" id="{ED469BCB-313C-56DD-2FE3-95984D821DBF}"/>
              </a:ext>
            </a:extLst>
          </p:cNvPr>
          <p:cNvSpPr>
            <a:spLocks noGrp="1"/>
          </p:cNvSpPr>
          <p:nvPr>
            <p:ph type="sldNum" sz="quarter" idx="12"/>
          </p:nvPr>
        </p:nvSpPr>
        <p:spPr/>
        <p:txBody>
          <a:bodyPr/>
          <a:lstStyle/>
          <a:p>
            <a:fld id="{20780C6E-6CF4-774E-991E-80A3BC0F0591}" type="slidenum">
              <a:rPr lang="en-HK" smtClean="0"/>
              <a:t>‹#›</a:t>
            </a:fld>
            <a:endParaRPr lang="en-HK"/>
          </a:p>
        </p:txBody>
      </p:sp>
    </p:spTree>
    <p:extLst>
      <p:ext uri="{BB962C8B-B14F-4D97-AF65-F5344CB8AC3E}">
        <p14:creationId xmlns:p14="http://schemas.microsoft.com/office/powerpoint/2010/main" val="32108360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D0B1DB-BA79-363E-4FB5-A5B4388C843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HK"/>
          </a:p>
        </p:txBody>
      </p:sp>
      <p:sp>
        <p:nvSpPr>
          <p:cNvPr id="3" name="Vertical Text Placeholder 2">
            <a:extLst>
              <a:ext uri="{FF2B5EF4-FFF2-40B4-BE49-F238E27FC236}">
                <a16:creationId xmlns:a16="http://schemas.microsoft.com/office/drawing/2014/main" id="{9B506E93-328B-B168-68E4-FD3D09F29B1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K"/>
          </a:p>
        </p:txBody>
      </p:sp>
      <p:sp>
        <p:nvSpPr>
          <p:cNvPr id="4" name="Date Placeholder 3">
            <a:extLst>
              <a:ext uri="{FF2B5EF4-FFF2-40B4-BE49-F238E27FC236}">
                <a16:creationId xmlns:a16="http://schemas.microsoft.com/office/drawing/2014/main" id="{B097B4D5-0631-ACD8-5715-2514D57397E1}"/>
              </a:ext>
            </a:extLst>
          </p:cNvPr>
          <p:cNvSpPr>
            <a:spLocks noGrp="1"/>
          </p:cNvSpPr>
          <p:nvPr>
            <p:ph type="dt" sz="half" idx="10"/>
          </p:nvPr>
        </p:nvSpPr>
        <p:spPr/>
        <p:txBody>
          <a:bodyPr/>
          <a:lstStyle/>
          <a:p>
            <a:fld id="{EDC2A8DC-87C1-E447-8B55-80DD0650AE7E}" type="datetimeFigureOut">
              <a:rPr lang="en-HK" smtClean="0"/>
              <a:t>8/10/2026</a:t>
            </a:fld>
            <a:endParaRPr lang="en-HK"/>
          </a:p>
        </p:txBody>
      </p:sp>
      <p:sp>
        <p:nvSpPr>
          <p:cNvPr id="5" name="Footer Placeholder 4">
            <a:extLst>
              <a:ext uri="{FF2B5EF4-FFF2-40B4-BE49-F238E27FC236}">
                <a16:creationId xmlns:a16="http://schemas.microsoft.com/office/drawing/2014/main" id="{6FB4F332-EC5C-601C-DB1D-458F85CAE100}"/>
              </a:ext>
            </a:extLst>
          </p:cNvPr>
          <p:cNvSpPr>
            <a:spLocks noGrp="1"/>
          </p:cNvSpPr>
          <p:nvPr>
            <p:ph type="ftr" sz="quarter" idx="11"/>
          </p:nvPr>
        </p:nvSpPr>
        <p:spPr/>
        <p:txBody>
          <a:bodyPr/>
          <a:lstStyle/>
          <a:p>
            <a:endParaRPr lang="en-HK"/>
          </a:p>
        </p:txBody>
      </p:sp>
      <p:sp>
        <p:nvSpPr>
          <p:cNvPr id="6" name="Slide Number Placeholder 5">
            <a:extLst>
              <a:ext uri="{FF2B5EF4-FFF2-40B4-BE49-F238E27FC236}">
                <a16:creationId xmlns:a16="http://schemas.microsoft.com/office/drawing/2014/main" id="{C1E6A564-5D69-2A5A-D84B-88AD8BE817F8}"/>
              </a:ext>
            </a:extLst>
          </p:cNvPr>
          <p:cNvSpPr>
            <a:spLocks noGrp="1"/>
          </p:cNvSpPr>
          <p:nvPr>
            <p:ph type="sldNum" sz="quarter" idx="12"/>
          </p:nvPr>
        </p:nvSpPr>
        <p:spPr/>
        <p:txBody>
          <a:bodyPr/>
          <a:lstStyle/>
          <a:p>
            <a:fld id="{20780C6E-6CF4-774E-991E-80A3BC0F0591}" type="slidenum">
              <a:rPr lang="en-HK" smtClean="0"/>
              <a:t>‹#›</a:t>
            </a:fld>
            <a:endParaRPr lang="en-HK"/>
          </a:p>
        </p:txBody>
      </p:sp>
    </p:spTree>
    <p:extLst>
      <p:ext uri="{BB962C8B-B14F-4D97-AF65-F5344CB8AC3E}">
        <p14:creationId xmlns:p14="http://schemas.microsoft.com/office/powerpoint/2010/main" val="3931989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18264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75837E-A609-9CA9-32AB-717F975F90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HK"/>
          </a:p>
        </p:txBody>
      </p:sp>
      <p:sp>
        <p:nvSpPr>
          <p:cNvPr id="3" name="Text Placeholder 2">
            <a:extLst>
              <a:ext uri="{FF2B5EF4-FFF2-40B4-BE49-F238E27FC236}">
                <a16:creationId xmlns:a16="http://schemas.microsoft.com/office/drawing/2014/main" id="{2C2A7E03-57A8-21B1-F85B-F0F13725F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K"/>
          </a:p>
        </p:txBody>
      </p:sp>
      <p:sp>
        <p:nvSpPr>
          <p:cNvPr id="4" name="Date Placeholder 3">
            <a:extLst>
              <a:ext uri="{FF2B5EF4-FFF2-40B4-BE49-F238E27FC236}">
                <a16:creationId xmlns:a16="http://schemas.microsoft.com/office/drawing/2014/main" id="{D2A8D51B-04AF-86F7-BDC5-23810144E8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C2A8DC-87C1-E447-8B55-80DD0650AE7E}" type="datetimeFigureOut">
              <a:rPr lang="en-HK" smtClean="0"/>
              <a:t>8/10/2026</a:t>
            </a:fld>
            <a:endParaRPr lang="en-HK"/>
          </a:p>
        </p:txBody>
      </p:sp>
      <p:sp>
        <p:nvSpPr>
          <p:cNvPr id="5" name="Footer Placeholder 4">
            <a:extLst>
              <a:ext uri="{FF2B5EF4-FFF2-40B4-BE49-F238E27FC236}">
                <a16:creationId xmlns:a16="http://schemas.microsoft.com/office/drawing/2014/main" id="{8544F258-CC23-3342-3F3E-7B806D3E37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HK"/>
          </a:p>
        </p:txBody>
      </p:sp>
      <p:sp>
        <p:nvSpPr>
          <p:cNvPr id="6" name="Slide Number Placeholder 5">
            <a:extLst>
              <a:ext uri="{FF2B5EF4-FFF2-40B4-BE49-F238E27FC236}">
                <a16:creationId xmlns:a16="http://schemas.microsoft.com/office/drawing/2014/main" id="{13FF6F43-F231-E2CB-BD33-F9F283F5CE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780C6E-6CF4-774E-991E-80A3BC0F0591}" type="slidenum">
              <a:rPr lang="en-HK" smtClean="0"/>
              <a:t>‹#›</a:t>
            </a:fld>
            <a:endParaRPr lang="en-HK"/>
          </a:p>
        </p:txBody>
      </p:sp>
    </p:spTree>
    <p:extLst>
      <p:ext uri="{BB962C8B-B14F-4D97-AF65-F5344CB8AC3E}">
        <p14:creationId xmlns:p14="http://schemas.microsoft.com/office/powerpoint/2010/main" val="280169946"/>
      </p:ext>
    </p:extLst>
  </p:cSld>
  <p:clrMap bg1="lt1" tx1="dk1" bg2="lt2" tx2="dk2" accent1="accent1" accent2="accent2" accent3="accent3" accent4="accent4" accent5="accent5" accent6="accent6" hlink="hlink" folHlink="folHlink"/>
  <p:sldLayoutIdLst>
    <p:sldLayoutId id="2147483663" r:id="rId1"/>
    <p:sldLayoutId id="2147483660" r:id="rId2"/>
    <p:sldLayoutId id="2147483661" r:id="rId3"/>
    <p:sldLayoutId id="2147483662"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jpg"/><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hart" Target="../charts/chart5.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chart" Target="../charts/char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chart" Target="../charts/chart9.xml"/><Relationship Id="rId6" Type="http://schemas.openxmlformats.org/officeDocument/2006/relationships/chart" Target="../charts/char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chart" Target="../charts/char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Natixis Suspends Trader in New York Amid Internal Probe - Bloomberg">
            <a:extLst>
              <a:ext uri="{FF2B5EF4-FFF2-40B4-BE49-F238E27FC236}">
                <a16:creationId xmlns:a16="http://schemas.microsoft.com/office/drawing/2014/main" id="{F34B4768-600A-EBE0-7255-CFB8AB87FB32}"/>
              </a:ext>
            </a:extLst>
          </p:cNvPr>
          <p:cNvPicPr>
            <a:picLocks noChangeAspect="1"/>
          </p:cNvPicPr>
          <p:nvPr/>
        </p:nvPicPr>
        <p:blipFill>
          <a:blip r:embed="rId2"/>
          <a:srcRect t="7156" b="29430"/>
          <a:stretch>
            <a:fillRect/>
          </a:stretch>
        </p:blipFill>
        <p:spPr>
          <a:xfrm>
            <a:off x="0" y="0"/>
            <a:ext cx="12192000" cy="5212080"/>
          </a:xfrm>
          <a:prstGeom prst="rect">
            <a:avLst/>
          </a:prstGeom>
        </p:spPr>
      </p:pic>
      <p:pic>
        <p:nvPicPr>
          <p:cNvPr id="2" name="Picture 1" descr="A person in a suit and tie&#10;&#10;AI-generated content may be incorrect.">
            <a:extLst>
              <a:ext uri="{FF2B5EF4-FFF2-40B4-BE49-F238E27FC236}">
                <a16:creationId xmlns:a16="http://schemas.microsoft.com/office/drawing/2014/main" id="{CEC392F0-7677-A3C8-1B08-64E408BC868F}"/>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849504" y="5452772"/>
            <a:ext cx="924444" cy="919000"/>
          </a:xfrm>
          <a:prstGeom prst="ellipse">
            <a:avLst/>
          </a:prstGeom>
        </p:spPr>
      </p:pic>
    </p:spTree>
    <p:extLst>
      <p:ext uri="{BB962C8B-B14F-4D97-AF65-F5344CB8AC3E}">
        <p14:creationId xmlns:p14="http://schemas.microsoft.com/office/powerpoint/2010/main" val="3796826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8B6F735-32BD-7EE9-ABE9-505FA97DD7C7}"/>
              </a:ext>
            </a:extLst>
          </p:cNvPr>
          <p:cNvSpPr/>
          <p:nvPr/>
        </p:nvSpPr>
        <p:spPr>
          <a:xfrm>
            <a:off x="490330" y="772280"/>
            <a:ext cx="3723861" cy="46382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3" name="Text Placeholder 2">
            <a:extLst>
              <a:ext uri="{FF2B5EF4-FFF2-40B4-BE49-F238E27FC236}">
                <a16:creationId xmlns:a16="http://schemas.microsoft.com/office/drawing/2014/main" id="{BF556F8F-3A33-927B-8BB4-7813B70AFC37}"/>
              </a:ext>
            </a:extLst>
          </p:cNvPr>
          <p:cNvSpPr>
            <a:spLocks noGrp="1"/>
          </p:cNvSpPr>
          <p:nvPr>
            <p:ph type="body" idx="3"/>
          </p:nvPr>
        </p:nvSpPr>
        <p:spPr/>
        <p:txBody>
          <a:bodyPr/>
          <a:lstStyle/>
          <a:p>
            <a:endParaRPr lang="en-HK"/>
          </a:p>
        </p:txBody>
      </p:sp>
      <p:sp>
        <p:nvSpPr>
          <p:cNvPr id="4" name="Text Placeholder 3">
            <a:extLst>
              <a:ext uri="{FF2B5EF4-FFF2-40B4-BE49-F238E27FC236}">
                <a16:creationId xmlns:a16="http://schemas.microsoft.com/office/drawing/2014/main" id="{048F7A29-21D3-D210-51D0-0A69C0377D41}"/>
              </a:ext>
            </a:extLst>
          </p:cNvPr>
          <p:cNvSpPr>
            <a:spLocks noGrp="1"/>
          </p:cNvSpPr>
          <p:nvPr>
            <p:ph type="body" idx="2"/>
          </p:nvPr>
        </p:nvSpPr>
        <p:spPr>
          <a:xfrm>
            <a:off x="275573" y="196782"/>
            <a:ext cx="8375650" cy="376237"/>
          </a:xfrm>
        </p:spPr>
        <p:txBody>
          <a:bodyPr/>
          <a:lstStyle/>
          <a:p>
            <a:r>
              <a:rPr lang="en-HK" sz="2000" dirty="0">
                <a:latin typeface="Arial" panose="020B0604020202020204" pitchFamily="34" charset="0"/>
                <a:cs typeface="Arial" panose="020B0604020202020204" pitchFamily="34" charset="0"/>
              </a:rPr>
              <a:t>Our client: NKE Private Wealth</a:t>
            </a:r>
          </a:p>
        </p:txBody>
      </p:sp>
      <p:sp>
        <p:nvSpPr>
          <p:cNvPr id="5" name="Text Placeholder 4">
            <a:extLst>
              <a:ext uri="{FF2B5EF4-FFF2-40B4-BE49-F238E27FC236}">
                <a16:creationId xmlns:a16="http://schemas.microsoft.com/office/drawing/2014/main" id="{4EBD444D-E7FC-3B06-0F38-9F5111B15FB6}"/>
              </a:ext>
            </a:extLst>
          </p:cNvPr>
          <p:cNvSpPr>
            <a:spLocks noGrp="1"/>
          </p:cNvSpPr>
          <p:nvPr>
            <p:ph type="body" idx="10"/>
          </p:nvPr>
        </p:nvSpPr>
        <p:spPr/>
        <p:txBody>
          <a:bodyPr/>
          <a:lstStyle/>
          <a:p>
            <a:endParaRPr lang="en-HK"/>
          </a:p>
        </p:txBody>
      </p:sp>
      <p:sp>
        <p:nvSpPr>
          <p:cNvPr id="12" name="TextBox 11">
            <a:extLst>
              <a:ext uri="{FF2B5EF4-FFF2-40B4-BE49-F238E27FC236}">
                <a16:creationId xmlns:a16="http://schemas.microsoft.com/office/drawing/2014/main" id="{3D5110B3-7F40-B366-63B5-1268A0D0FCC5}"/>
              </a:ext>
            </a:extLst>
          </p:cNvPr>
          <p:cNvSpPr txBox="1"/>
          <p:nvPr/>
        </p:nvSpPr>
        <p:spPr>
          <a:xfrm>
            <a:off x="1554605" y="811172"/>
            <a:ext cx="1595309" cy="369332"/>
          </a:xfrm>
          <a:prstGeom prst="rect">
            <a:avLst/>
          </a:prstGeom>
          <a:noFill/>
        </p:spPr>
        <p:txBody>
          <a:bodyPr wrap="none" rtlCol="0">
            <a:spAutoFit/>
          </a:bodyPr>
          <a:lstStyle/>
          <a:p>
            <a:r>
              <a:rPr lang="en-HK" b="1" i="1" dirty="0">
                <a:solidFill>
                  <a:schemeClr val="bg1"/>
                </a:solidFill>
                <a:latin typeface="Arial" panose="020B0604020202020204" pitchFamily="34" charset="0"/>
                <a:cs typeface="Arial" panose="020B0604020202020204" pitchFamily="34" charset="0"/>
              </a:rPr>
              <a:t>Client profile</a:t>
            </a:r>
          </a:p>
        </p:txBody>
      </p:sp>
      <p:sp>
        <p:nvSpPr>
          <p:cNvPr id="20" name="Rectangle 19">
            <a:extLst>
              <a:ext uri="{FF2B5EF4-FFF2-40B4-BE49-F238E27FC236}">
                <a16:creationId xmlns:a16="http://schemas.microsoft.com/office/drawing/2014/main" id="{6FCF53EB-2F2E-0999-4F1E-95DD94CF80EC}"/>
              </a:ext>
            </a:extLst>
          </p:cNvPr>
          <p:cNvSpPr/>
          <p:nvPr/>
        </p:nvSpPr>
        <p:spPr>
          <a:xfrm>
            <a:off x="4366591" y="772280"/>
            <a:ext cx="3723861" cy="46382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1" name="TextBox 20">
            <a:extLst>
              <a:ext uri="{FF2B5EF4-FFF2-40B4-BE49-F238E27FC236}">
                <a16:creationId xmlns:a16="http://schemas.microsoft.com/office/drawing/2014/main" id="{0BE25690-6396-CC72-7034-C68774A8356B}"/>
              </a:ext>
            </a:extLst>
          </p:cNvPr>
          <p:cNvSpPr txBox="1"/>
          <p:nvPr/>
        </p:nvSpPr>
        <p:spPr>
          <a:xfrm>
            <a:off x="5815587" y="810307"/>
            <a:ext cx="825867" cy="369332"/>
          </a:xfrm>
          <a:prstGeom prst="rect">
            <a:avLst/>
          </a:prstGeom>
          <a:noFill/>
        </p:spPr>
        <p:txBody>
          <a:bodyPr wrap="none" rtlCol="0">
            <a:spAutoFit/>
          </a:bodyPr>
          <a:lstStyle/>
          <a:p>
            <a:r>
              <a:rPr lang="en-HK" b="1" i="1">
                <a:solidFill>
                  <a:schemeClr val="bg1"/>
                </a:solidFill>
                <a:latin typeface="Arial" panose="020B0604020202020204" pitchFamily="34" charset="0"/>
                <a:cs typeface="Arial" panose="020B0604020202020204" pitchFamily="34" charset="0"/>
              </a:rPr>
              <a:t>Goals</a:t>
            </a:r>
          </a:p>
        </p:txBody>
      </p:sp>
      <p:sp>
        <p:nvSpPr>
          <p:cNvPr id="22" name="Rectangle 21">
            <a:extLst>
              <a:ext uri="{FF2B5EF4-FFF2-40B4-BE49-F238E27FC236}">
                <a16:creationId xmlns:a16="http://schemas.microsoft.com/office/drawing/2014/main" id="{3DF67906-9302-5772-8716-0FD48D607F60}"/>
              </a:ext>
            </a:extLst>
          </p:cNvPr>
          <p:cNvSpPr/>
          <p:nvPr/>
        </p:nvSpPr>
        <p:spPr>
          <a:xfrm>
            <a:off x="8242852" y="772280"/>
            <a:ext cx="3723861" cy="54322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3" name="TextBox 22">
            <a:extLst>
              <a:ext uri="{FF2B5EF4-FFF2-40B4-BE49-F238E27FC236}">
                <a16:creationId xmlns:a16="http://schemas.microsoft.com/office/drawing/2014/main" id="{AB58F4C7-EE57-616C-3AA7-EF711EE46B2A}"/>
              </a:ext>
            </a:extLst>
          </p:cNvPr>
          <p:cNvSpPr txBox="1"/>
          <p:nvPr/>
        </p:nvSpPr>
        <p:spPr>
          <a:xfrm>
            <a:off x="8498823" y="1008639"/>
            <a:ext cx="1967205" cy="369332"/>
          </a:xfrm>
          <a:prstGeom prst="rect">
            <a:avLst/>
          </a:prstGeom>
          <a:noFill/>
        </p:spPr>
        <p:txBody>
          <a:bodyPr wrap="none" rtlCol="0">
            <a:spAutoFit/>
          </a:bodyPr>
          <a:lstStyle/>
          <a:p>
            <a:r>
              <a:rPr lang="en-HK" b="1" i="1">
                <a:solidFill>
                  <a:schemeClr val="accent1"/>
                </a:solidFill>
                <a:latin typeface="Arial" panose="020B0604020202020204" pitchFamily="34" charset="0"/>
                <a:cs typeface="Arial" panose="020B0604020202020204" pitchFamily="34" charset="0"/>
              </a:rPr>
              <a:t>Risk tolerance:  </a:t>
            </a:r>
          </a:p>
        </p:txBody>
      </p:sp>
      <p:sp>
        <p:nvSpPr>
          <p:cNvPr id="24" name="TextBox 23">
            <a:extLst>
              <a:ext uri="{FF2B5EF4-FFF2-40B4-BE49-F238E27FC236}">
                <a16:creationId xmlns:a16="http://schemas.microsoft.com/office/drawing/2014/main" id="{30F145E0-F845-BEE5-FF6E-F4FF16FC55A1}"/>
              </a:ext>
            </a:extLst>
          </p:cNvPr>
          <p:cNvSpPr txBox="1"/>
          <p:nvPr/>
        </p:nvSpPr>
        <p:spPr>
          <a:xfrm>
            <a:off x="10307002" y="966746"/>
            <a:ext cx="1324402" cy="400110"/>
          </a:xfrm>
          <a:prstGeom prst="rect">
            <a:avLst/>
          </a:prstGeom>
          <a:noFill/>
        </p:spPr>
        <p:txBody>
          <a:bodyPr wrap="none" rtlCol="0">
            <a:spAutoFit/>
          </a:bodyPr>
          <a:lstStyle/>
          <a:p>
            <a:r>
              <a:rPr lang="en-HK" sz="2000" b="1" i="1">
                <a:latin typeface="Arial" panose="020B0604020202020204" pitchFamily="34" charset="0"/>
                <a:cs typeface="Arial" panose="020B0604020202020204" pitchFamily="34" charset="0"/>
              </a:rPr>
              <a:t>Moderate</a:t>
            </a:r>
            <a:endParaRPr lang="en-HK" b="1" i="1">
              <a:latin typeface="Arial" panose="020B0604020202020204" pitchFamily="34" charset="0"/>
              <a:cs typeface="Arial" panose="020B0604020202020204" pitchFamily="34" charset="0"/>
            </a:endParaRPr>
          </a:p>
        </p:txBody>
      </p:sp>
      <p:sp>
        <p:nvSpPr>
          <p:cNvPr id="26" name="Text 8">
            <a:extLst>
              <a:ext uri="{FF2B5EF4-FFF2-40B4-BE49-F238E27FC236}">
                <a16:creationId xmlns:a16="http://schemas.microsoft.com/office/drawing/2014/main" id="{CEB0CB9D-8DE9-A8D1-B798-446EF271CC22}"/>
              </a:ext>
            </a:extLst>
          </p:cNvPr>
          <p:cNvSpPr/>
          <p:nvPr/>
        </p:nvSpPr>
        <p:spPr>
          <a:xfrm>
            <a:off x="488688" y="2256235"/>
            <a:ext cx="3591337" cy="253232"/>
          </a:xfrm>
          <a:prstGeom prst="rect">
            <a:avLst/>
          </a:prstGeom>
          <a:noFill/>
          <a:ln/>
        </p:spPr>
        <p:txBody>
          <a:bodyPr wrap="square" rtlCol="0" anchor="ctr"/>
          <a:lstStyle/>
          <a:p>
            <a:pPr marL="0" indent="0" algn="ctr">
              <a:buNone/>
            </a:pPr>
            <a:r>
              <a:rPr lang="en-US" sz="1400" b="1" i="1">
                <a:solidFill>
                  <a:schemeClr val="accent1"/>
                </a:solidFill>
                <a:latin typeface="Arial" panose="020B0604020202020204" pitchFamily="34" charset="0"/>
                <a:ea typeface="Calibri" pitchFamily="34" charset="-122"/>
                <a:cs typeface="Arial" panose="020B0604020202020204" pitchFamily="34" charset="0"/>
              </a:rPr>
              <a:t>Provider: NKE Private Wealth</a:t>
            </a:r>
            <a:endParaRPr lang="en-US" sz="1400" i="1">
              <a:solidFill>
                <a:schemeClr val="accent1"/>
              </a:solidFill>
              <a:latin typeface="Arial" panose="020B0604020202020204" pitchFamily="34" charset="0"/>
              <a:cs typeface="Arial" panose="020B0604020202020204" pitchFamily="34" charset="0"/>
            </a:endParaRPr>
          </a:p>
        </p:txBody>
      </p:sp>
      <p:sp>
        <p:nvSpPr>
          <p:cNvPr id="27" name="Text 9">
            <a:extLst>
              <a:ext uri="{FF2B5EF4-FFF2-40B4-BE49-F238E27FC236}">
                <a16:creationId xmlns:a16="http://schemas.microsoft.com/office/drawing/2014/main" id="{AB5DEDE2-1F9F-1B21-E8EC-996A53988B25}"/>
              </a:ext>
            </a:extLst>
          </p:cNvPr>
          <p:cNvSpPr/>
          <p:nvPr/>
        </p:nvSpPr>
        <p:spPr>
          <a:xfrm>
            <a:off x="422427" y="2496640"/>
            <a:ext cx="3723858" cy="1417320"/>
          </a:xfrm>
          <a:prstGeom prst="rect">
            <a:avLst/>
          </a:prstGeom>
          <a:noFill/>
          <a:ln/>
        </p:spPr>
        <p:txBody>
          <a:bodyPr wrap="square" rtlCol="0" anchor="t"/>
          <a:lstStyle/>
          <a:p>
            <a:pPr marL="0" indent="0" algn="ctr">
              <a:spcAft>
                <a:spcPts val="400"/>
              </a:spcAft>
              <a:buNone/>
            </a:pPr>
            <a:r>
              <a:rPr lang="en-US" sz="1100">
                <a:solidFill>
                  <a:srgbClr val="5A5A5A"/>
                </a:solidFill>
                <a:latin typeface="Arial" panose="020B0604020202020204" pitchFamily="34" charset="0"/>
                <a:ea typeface="Calibri" pitchFamily="34" charset="-122"/>
                <a:cs typeface="Arial" panose="020B0604020202020204" pitchFamily="34" charset="0"/>
              </a:rPr>
              <a:t>Prestigious single-family office for the Chak family</a:t>
            </a:r>
            <a:endParaRPr lang="en-US" sz="1100">
              <a:latin typeface="Arial" panose="020B0604020202020204" pitchFamily="34" charset="0"/>
              <a:cs typeface="Arial" panose="020B0604020202020204" pitchFamily="34" charset="0"/>
            </a:endParaRPr>
          </a:p>
          <a:p>
            <a:pPr marL="0" indent="0" algn="ctr">
              <a:spcAft>
                <a:spcPts val="400"/>
              </a:spcAft>
              <a:buNone/>
            </a:pPr>
            <a:r>
              <a:rPr lang="en-US" sz="1100">
                <a:solidFill>
                  <a:srgbClr val="5A5A5A"/>
                </a:solidFill>
                <a:latin typeface="Arial" panose="020B0604020202020204" pitchFamily="34" charset="0"/>
                <a:ea typeface="Calibri" pitchFamily="34" charset="-122"/>
                <a:cs typeface="Arial" panose="020B0604020202020204" pitchFamily="34" charset="0"/>
              </a:rPr>
              <a:t>Third-generation business dynasty</a:t>
            </a:r>
            <a:endParaRPr lang="en-US" sz="1100">
              <a:latin typeface="Arial" panose="020B0604020202020204" pitchFamily="34" charset="0"/>
              <a:cs typeface="Arial" panose="020B0604020202020204" pitchFamily="34" charset="0"/>
            </a:endParaRPr>
          </a:p>
          <a:p>
            <a:pPr marL="0" indent="0" algn="ctr">
              <a:spcAft>
                <a:spcPts val="400"/>
              </a:spcAft>
              <a:buNone/>
            </a:pPr>
            <a:r>
              <a:rPr lang="en-US" sz="1100">
                <a:solidFill>
                  <a:srgbClr val="5A5A5A"/>
                </a:solidFill>
                <a:latin typeface="Arial" panose="020B0604020202020204" pitchFamily="34" charset="0"/>
                <a:ea typeface="Calibri" pitchFamily="34" charset="-122"/>
                <a:cs typeface="Arial" panose="020B0604020202020204" pitchFamily="34" charset="0"/>
              </a:rPr>
              <a:t>Ops across Japan and Greater China</a:t>
            </a:r>
            <a:endParaRPr lang="en-US" sz="1100">
              <a:latin typeface="Arial" panose="020B0604020202020204" pitchFamily="34" charset="0"/>
              <a:cs typeface="Arial" panose="020B0604020202020204" pitchFamily="34" charset="0"/>
            </a:endParaRPr>
          </a:p>
          <a:p>
            <a:pPr marL="0" indent="0" algn="ctr">
              <a:spcAft>
                <a:spcPts val="400"/>
              </a:spcAft>
              <a:buNone/>
            </a:pPr>
            <a:r>
              <a:rPr lang="en-US" sz="1100">
                <a:solidFill>
                  <a:srgbClr val="5A5A5A"/>
                </a:solidFill>
                <a:latin typeface="Arial" panose="020B0604020202020204" pitchFamily="34" charset="0"/>
                <a:ea typeface="Calibri" pitchFamily="34" charset="-122"/>
                <a:cs typeface="Arial" panose="020B0604020202020204" pitchFamily="34" charset="0"/>
              </a:rPr>
              <a:t>Sectors: tech infrastructure, renewables, real estate</a:t>
            </a:r>
            <a:endParaRPr lang="en-US" sz="1100">
              <a:latin typeface="Arial" panose="020B0604020202020204" pitchFamily="34" charset="0"/>
              <a:cs typeface="Arial" panose="020B0604020202020204" pitchFamily="34" charset="0"/>
            </a:endParaRPr>
          </a:p>
          <a:p>
            <a:pPr marL="0" indent="0" algn="ctr">
              <a:spcAft>
                <a:spcPts val="400"/>
              </a:spcAft>
              <a:buNone/>
            </a:pPr>
            <a:r>
              <a:rPr lang="en-US" sz="1100">
                <a:solidFill>
                  <a:srgbClr val="5A5A5A"/>
                </a:solidFill>
                <a:latin typeface="Arial" panose="020B0604020202020204" pitchFamily="34" charset="0"/>
                <a:ea typeface="Calibri" pitchFamily="34" charset="-122"/>
                <a:cs typeface="Arial" panose="020B0604020202020204" pitchFamily="34" charset="0"/>
              </a:rPr>
              <a:t>Family net worth &gt; USD 2Bn</a:t>
            </a:r>
            <a:endParaRPr lang="en-US" sz="1100">
              <a:latin typeface="Arial" panose="020B0604020202020204" pitchFamily="34" charset="0"/>
              <a:cs typeface="Arial" panose="020B0604020202020204" pitchFamily="34" charset="0"/>
            </a:endParaRPr>
          </a:p>
        </p:txBody>
      </p:sp>
      <p:sp>
        <p:nvSpPr>
          <p:cNvPr id="28" name="Text 10">
            <a:extLst>
              <a:ext uri="{FF2B5EF4-FFF2-40B4-BE49-F238E27FC236}">
                <a16:creationId xmlns:a16="http://schemas.microsoft.com/office/drawing/2014/main" id="{9BD84D1F-11C8-6539-8CED-2DE82DB11668}"/>
              </a:ext>
            </a:extLst>
          </p:cNvPr>
          <p:cNvSpPr/>
          <p:nvPr/>
        </p:nvSpPr>
        <p:spPr>
          <a:xfrm>
            <a:off x="488688" y="3763403"/>
            <a:ext cx="3591337" cy="243205"/>
          </a:xfrm>
          <a:prstGeom prst="rect">
            <a:avLst/>
          </a:prstGeom>
          <a:noFill/>
          <a:ln/>
        </p:spPr>
        <p:txBody>
          <a:bodyPr wrap="square" rtlCol="0" anchor="ctr"/>
          <a:lstStyle/>
          <a:p>
            <a:pPr marL="0" indent="0" algn="ctr">
              <a:buNone/>
            </a:pPr>
            <a:r>
              <a:rPr lang="en-US" sz="1400" b="1" i="1">
                <a:solidFill>
                  <a:schemeClr val="accent1"/>
                </a:solidFill>
                <a:latin typeface="Arial" panose="020B0604020202020204" pitchFamily="34" charset="0"/>
                <a:ea typeface="Calibri" pitchFamily="34" charset="-122"/>
                <a:cs typeface="Arial" panose="020B0604020202020204" pitchFamily="34" charset="0"/>
              </a:rPr>
              <a:t>Client: The Chak Family</a:t>
            </a:r>
            <a:endParaRPr lang="en-US" sz="1400" i="1">
              <a:solidFill>
                <a:schemeClr val="accent1"/>
              </a:solidFill>
              <a:latin typeface="Arial" panose="020B0604020202020204" pitchFamily="34" charset="0"/>
              <a:cs typeface="Arial" panose="020B0604020202020204" pitchFamily="34" charset="0"/>
            </a:endParaRPr>
          </a:p>
        </p:txBody>
      </p:sp>
      <p:sp>
        <p:nvSpPr>
          <p:cNvPr id="29" name="Text 11">
            <a:extLst>
              <a:ext uri="{FF2B5EF4-FFF2-40B4-BE49-F238E27FC236}">
                <a16:creationId xmlns:a16="http://schemas.microsoft.com/office/drawing/2014/main" id="{B9017A84-8ED6-D71C-81BA-D3B44BFE7A6B}"/>
              </a:ext>
            </a:extLst>
          </p:cNvPr>
          <p:cNvSpPr/>
          <p:nvPr/>
        </p:nvSpPr>
        <p:spPr>
          <a:xfrm>
            <a:off x="488687" y="3971127"/>
            <a:ext cx="3591338" cy="640080"/>
          </a:xfrm>
          <a:prstGeom prst="rect">
            <a:avLst/>
          </a:prstGeom>
          <a:noFill/>
          <a:ln/>
        </p:spPr>
        <p:txBody>
          <a:bodyPr wrap="square" rtlCol="0" anchor="ctr"/>
          <a:lstStyle/>
          <a:p>
            <a:pPr marL="0" indent="0" algn="ctr">
              <a:buNone/>
            </a:pPr>
            <a:r>
              <a:rPr lang="en-US" sz="1100" dirty="0">
                <a:solidFill>
                  <a:srgbClr val="5A5A5A"/>
                </a:solidFill>
                <a:latin typeface="Arial" panose="020B0604020202020204" pitchFamily="34" charset="0"/>
                <a:ea typeface="Calibri" pitchFamily="34" charset="-122"/>
                <a:cs typeface="Arial" panose="020B0604020202020204" pitchFamily="34" charset="0"/>
              </a:rPr>
              <a:t>Patriarch has handed operations to G3 and is now focused on strategic asset allocation and legacy planning in a volatile market.</a:t>
            </a:r>
            <a:endParaRPr lang="en-US" sz="1100" dirty="0">
              <a:latin typeface="Arial" panose="020B0604020202020204" pitchFamily="34" charset="0"/>
              <a:cs typeface="Arial" panose="020B0604020202020204" pitchFamily="34" charset="0"/>
            </a:endParaRPr>
          </a:p>
        </p:txBody>
      </p:sp>
      <p:sp>
        <p:nvSpPr>
          <p:cNvPr id="30" name="Text 13">
            <a:extLst>
              <a:ext uri="{FF2B5EF4-FFF2-40B4-BE49-F238E27FC236}">
                <a16:creationId xmlns:a16="http://schemas.microsoft.com/office/drawing/2014/main" id="{BD3F8E16-2605-2E7C-B6CF-BE72ECA99D45}"/>
              </a:ext>
            </a:extLst>
          </p:cNvPr>
          <p:cNvSpPr/>
          <p:nvPr/>
        </p:nvSpPr>
        <p:spPr>
          <a:xfrm>
            <a:off x="743920" y="4861058"/>
            <a:ext cx="3063240" cy="256032"/>
          </a:xfrm>
          <a:prstGeom prst="rect">
            <a:avLst/>
          </a:prstGeom>
          <a:noFill/>
          <a:ln/>
        </p:spPr>
        <p:txBody>
          <a:bodyPr wrap="square" rtlCol="0" anchor="ctr"/>
          <a:lstStyle/>
          <a:p>
            <a:pPr marL="0" indent="0" algn="ctr">
              <a:buNone/>
            </a:pPr>
            <a:r>
              <a:rPr lang="en-US" sz="1400" b="1" i="1">
                <a:solidFill>
                  <a:srgbClr val="2D2D2D"/>
                </a:solidFill>
                <a:latin typeface="Arial" panose="020B0604020202020204" pitchFamily="34" charset="0"/>
                <a:ea typeface="Calibri" pitchFamily="34" charset="-122"/>
                <a:cs typeface="Arial" panose="020B0604020202020204" pitchFamily="34" charset="0"/>
              </a:rPr>
              <a:t>Client Mandate</a:t>
            </a:r>
            <a:endParaRPr lang="en-US" sz="1400" i="1">
              <a:latin typeface="Arial" panose="020B0604020202020204" pitchFamily="34" charset="0"/>
              <a:cs typeface="Arial" panose="020B0604020202020204" pitchFamily="34" charset="0"/>
            </a:endParaRPr>
          </a:p>
        </p:txBody>
      </p:sp>
      <p:sp>
        <p:nvSpPr>
          <p:cNvPr id="31" name="Text 14">
            <a:extLst>
              <a:ext uri="{FF2B5EF4-FFF2-40B4-BE49-F238E27FC236}">
                <a16:creationId xmlns:a16="http://schemas.microsoft.com/office/drawing/2014/main" id="{D7B7359C-2EC3-18D6-D022-7CDF760E387C}"/>
              </a:ext>
            </a:extLst>
          </p:cNvPr>
          <p:cNvSpPr/>
          <p:nvPr/>
        </p:nvSpPr>
        <p:spPr>
          <a:xfrm>
            <a:off x="453747" y="5017322"/>
            <a:ext cx="3670602" cy="749808"/>
          </a:xfrm>
          <a:prstGeom prst="rect">
            <a:avLst/>
          </a:prstGeom>
          <a:noFill/>
          <a:ln/>
        </p:spPr>
        <p:txBody>
          <a:bodyPr wrap="square" rtlCol="0" anchor="ctr"/>
          <a:lstStyle/>
          <a:p>
            <a:pPr marL="0" indent="0" algn="ctr">
              <a:buNone/>
            </a:pPr>
            <a:r>
              <a:rPr lang="en-US" sz="1200">
                <a:solidFill>
                  <a:srgbClr val="2D2D2D"/>
                </a:solidFill>
                <a:latin typeface="Arial" panose="020B0604020202020204" pitchFamily="34" charset="0"/>
                <a:ea typeface="Calibri" pitchFamily="34" charset="-122"/>
                <a:cs typeface="Arial" panose="020B0604020202020204" pitchFamily="34" charset="0"/>
              </a:rPr>
              <a:t>Allocate USD 100 Mn in a product that compounds capital for future generations and captures Asia’s digital transformation</a:t>
            </a:r>
            <a:endParaRPr lang="en-US" sz="1200">
              <a:latin typeface="Arial" panose="020B0604020202020204" pitchFamily="34" charset="0"/>
              <a:cs typeface="Arial" panose="020B0604020202020204" pitchFamily="34" charset="0"/>
            </a:endParaRPr>
          </a:p>
        </p:txBody>
      </p:sp>
      <p:sp>
        <p:nvSpPr>
          <p:cNvPr id="33" name="Text 25">
            <a:extLst>
              <a:ext uri="{FF2B5EF4-FFF2-40B4-BE49-F238E27FC236}">
                <a16:creationId xmlns:a16="http://schemas.microsoft.com/office/drawing/2014/main" id="{EECEAECC-F7CB-BDBD-92C6-E310C1D415C7}"/>
              </a:ext>
            </a:extLst>
          </p:cNvPr>
          <p:cNvSpPr/>
          <p:nvPr/>
        </p:nvSpPr>
        <p:spPr>
          <a:xfrm>
            <a:off x="5082436" y="3008485"/>
            <a:ext cx="3114132" cy="502920"/>
          </a:xfrm>
          <a:prstGeom prst="rect">
            <a:avLst/>
          </a:prstGeom>
          <a:noFill/>
          <a:ln/>
        </p:spPr>
        <p:txBody>
          <a:bodyPr wrap="square" rtlCol="0" anchor="ctr"/>
          <a:lstStyle/>
          <a:p>
            <a:pPr marL="0" indent="0">
              <a:buNone/>
            </a:pPr>
            <a:r>
              <a:rPr lang="en-US" sz="1400" b="1" i="1">
                <a:solidFill>
                  <a:srgbClr val="2D2D2D"/>
                </a:solidFill>
                <a:latin typeface="Arial" panose="020B0604020202020204" pitchFamily="34" charset="0"/>
                <a:ea typeface="Calibri" pitchFamily="34" charset="-122"/>
                <a:cs typeface="Arial" panose="020B0604020202020204" pitchFamily="34" charset="0"/>
              </a:rPr>
              <a:t>Digital transformation in Asia</a:t>
            </a:r>
            <a:endParaRPr lang="en-US" sz="1400" i="1">
              <a:latin typeface="Arial" panose="020B0604020202020204" pitchFamily="34" charset="0"/>
              <a:cs typeface="Arial" panose="020B0604020202020204" pitchFamily="34" charset="0"/>
            </a:endParaRPr>
          </a:p>
        </p:txBody>
      </p:sp>
      <p:sp>
        <p:nvSpPr>
          <p:cNvPr id="34" name="Text 30">
            <a:extLst>
              <a:ext uri="{FF2B5EF4-FFF2-40B4-BE49-F238E27FC236}">
                <a16:creationId xmlns:a16="http://schemas.microsoft.com/office/drawing/2014/main" id="{C1E36968-9F6A-807D-EFDA-89272F687DE2}"/>
              </a:ext>
            </a:extLst>
          </p:cNvPr>
          <p:cNvSpPr/>
          <p:nvPr/>
        </p:nvSpPr>
        <p:spPr>
          <a:xfrm>
            <a:off x="5082436" y="4412376"/>
            <a:ext cx="3502459" cy="502920"/>
          </a:xfrm>
          <a:prstGeom prst="rect">
            <a:avLst/>
          </a:prstGeom>
          <a:noFill/>
          <a:ln/>
        </p:spPr>
        <p:txBody>
          <a:bodyPr wrap="square" rtlCol="0" anchor="ctr"/>
          <a:lstStyle/>
          <a:p>
            <a:pPr marL="0" indent="0">
              <a:buNone/>
            </a:pPr>
            <a:r>
              <a:rPr lang="en-US" sz="1400" b="1" i="1">
                <a:solidFill>
                  <a:srgbClr val="2D2D2D"/>
                </a:solidFill>
                <a:latin typeface="Arial" panose="020B0604020202020204" pitchFamily="34" charset="0"/>
                <a:ea typeface="Calibri" pitchFamily="34" charset="-122"/>
                <a:cs typeface="Arial" panose="020B0604020202020204" pitchFamily="34" charset="0"/>
              </a:rPr>
              <a:t>Bridge old Asia and new tech</a:t>
            </a:r>
            <a:endParaRPr lang="en-US" sz="1400" i="1">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1CD7BE8-C822-2D5C-585B-6F6C2E71B5BA}"/>
              </a:ext>
            </a:extLst>
          </p:cNvPr>
          <p:cNvSpPr/>
          <p:nvPr/>
        </p:nvSpPr>
        <p:spPr>
          <a:xfrm>
            <a:off x="422368" y="4701105"/>
            <a:ext cx="3733361" cy="1139455"/>
          </a:xfrm>
          <a:prstGeom prst="rect">
            <a:avLst/>
          </a:prstGeom>
          <a:noFill/>
          <a:ln>
            <a:solidFill>
              <a:schemeClr val="tx2">
                <a:lumMod val="25000"/>
                <a:lumOff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pic>
        <p:nvPicPr>
          <p:cNvPr id="37" name="Picture 36">
            <a:extLst>
              <a:ext uri="{FF2B5EF4-FFF2-40B4-BE49-F238E27FC236}">
                <a16:creationId xmlns:a16="http://schemas.microsoft.com/office/drawing/2014/main" id="{E41D75C6-84AC-1A4A-5870-693B928B5EE5}"/>
              </a:ext>
            </a:extLst>
          </p:cNvPr>
          <p:cNvPicPr>
            <a:picLocks noChangeAspect="1"/>
          </p:cNvPicPr>
          <p:nvPr/>
        </p:nvPicPr>
        <p:blipFill>
          <a:blip r:embed="rId3"/>
          <a:stretch>
            <a:fillRect/>
          </a:stretch>
        </p:blipFill>
        <p:spPr>
          <a:xfrm>
            <a:off x="1984765" y="1412978"/>
            <a:ext cx="734987" cy="734987"/>
          </a:xfrm>
          <a:prstGeom prst="rect">
            <a:avLst/>
          </a:prstGeom>
        </p:spPr>
      </p:pic>
      <p:pic>
        <p:nvPicPr>
          <p:cNvPr id="38" name="Picture 37">
            <a:extLst>
              <a:ext uri="{FF2B5EF4-FFF2-40B4-BE49-F238E27FC236}">
                <a16:creationId xmlns:a16="http://schemas.microsoft.com/office/drawing/2014/main" id="{991E1F40-1129-2B25-3EAF-5A0791491E3A}"/>
              </a:ext>
            </a:extLst>
          </p:cNvPr>
          <p:cNvPicPr>
            <a:picLocks noChangeAspect="1"/>
          </p:cNvPicPr>
          <p:nvPr/>
        </p:nvPicPr>
        <p:blipFill>
          <a:blip r:embed="rId4">
            <a:lum bright="70000" contrast="-70000"/>
            <a:alphaModFix amt="35000"/>
          </a:blip>
          <a:stretch>
            <a:fillRect/>
          </a:stretch>
        </p:blipFill>
        <p:spPr>
          <a:xfrm>
            <a:off x="4214191" y="1691880"/>
            <a:ext cx="836698" cy="836698"/>
          </a:xfrm>
          <a:prstGeom prst="rect">
            <a:avLst/>
          </a:prstGeom>
        </p:spPr>
      </p:pic>
      <p:pic>
        <p:nvPicPr>
          <p:cNvPr id="40" name="Picture 39">
            <a:extLst>
              <a:ext uri="{FF2B5EF4-FFF2-40B4-BE49-F238E27FC236}">
                <a16:creationId xmlns:a16="http://schemas.microsoft.com/office/drawing/2014/main" id="{EDC37720-3FE5-C74B-4DB2-C211EE2413F2}"/>
              </a:ext>
            </a:extLst>
          </p:cNvPr>
          <p:cNvPicPr>
            <a:picLocks noChangeAspect="1"/>
          </p:cNvPicPr>
          <p:nvPr/>
        </p:nvPicPr>
        <p:blipFill>
          <a:blip r:embed="rId5">
            <a:lum bright="70000" contrast="-70000"/>
            <a:alphaModFix amt="35000"/>
          </a:blip>
          <a:stretch>
            <a:fillRect/>
          </a:stretch>
        </p:blipFill>
        <p:spPr>
          <a:xfrm>
            <a:off x="4291153" y="3165089"/>
            <a:ext cx="725023" cy="725023"/>
          </a:xfrm>
          <a:prstGeom prst="rect">
            <a:avLst/>
          </a:prstGeom>
        </p:spPr>
      </p:pic>
      <p:pic>
        <p:nvPicPr>
          <p:cNvPr id="41" name="Picture 40">
            <a:extLst>
              <a:ext uri="{FF2B5EF4-FFF2-40B4-BE49-F238E27FC236}">
                <a16:creationId xmlns:a16="http://schemas.microsoft.com/office/drawing/2014/main" id="{343DFF5C-30B8-72FC-0F1C-BA41F93CC0E6}"/>
              </a:ext>
            </a:extLst>
          </p:cNvPr>
          <p:cNvPicPr>
            <a:picLocks noChangeAspect="1"/>
          </p:cNvPicPr>
          <p:nvPr/>
        </p:nvPicPr>
        <p:blipFill>
          <a:blip r:embed="rId6">
            <a:lum bright="70000" contrast="-70000"/>
            <a:alphaModFix amt="35000"/>
          </a:blip>
          <a:stretch>
            <a:fillRect/>
          </a:stretch>
        </p:blipFill>
        <p:spPr>
          <a:xfrm>
            <a:off x="4351643" y="4576914"/>
            <a:ext cx="730793" cy="730793"/>
          </a:xfrm>
          <a:prstGeom prst="rect">
            <a:avLst/>
          </a:prstGeom>
        </p:spPr>
      </p:pic>
      <p:sp>
        <p:nvSpPr>
          <p:cNvPr id="42" name="Rectangle 41">
            <a:extLst>
              <a:ext uri="{FF2B5EF4-FFF2-40B4-BE49-F238E27FC236}">
                <a16:creationId xmlns:a16="http://schemas.microsoft.com/office/drawing/2014/main" id="{90979475-38E8-FAF1-9700-D5C233842376}"/>
              </a:ext>
            </a:extLst>
          </p:cNvPr>
          <p:cNvSpPr/>
          <p:nvPr/>
        </p:nvSpPr>
        <p:spPr>
          <a:xfrm>
            <a:off x="4539962" y="1536954"/>
            <a:ext cx="470000" cy="707886"/>
          </a:xfrm>
          <a:prstGeom prst="rect">
            <a:avLst/>
          </a:prstGeom>
          <a:noFill/>
        </p:spPr>
        <p:txBody>
          <a:bodyPr wrap="none" lIns="91440" tIns="45720" rIns="91440" bIns="45720">
            <a:spAutoFit/>
          </a:bodyPr>
          <a:lstStyle/>
          <a:p>
            <a:pPr algn="ctr"/>
            <a:r>
              <a:rPr lang="en-GB" sz="4000" b="1" i="1" cap="none" spc="0">
                <a:ln w="0"/>
                <a:solidFill>
                  <a:schemeClr val="tx1"/>
                </a:solidFill>
                <a:effectLst>
                  <a:outerShdw blurRad="38100" dist="19050" dir="2700000" algn="tl" rotWithShape="0">
                    <a:schemeClr val="dk1">
                      <a:alpha val="40000"/>
                    </a:schemeClr>
                  </a:outerShdw>
                </a:effectLst>
              </a:rPr>
              <a:t>1</a:t>
            </a:r>
          </a:p>
        </p:txBody>
      </p:sp>
      <p:sp>
        <p:nvSpPr>
          <p:cNvPr id="43" name="Rectangle 42">
            <a:extLst>
              <a:ext uri="{FF2B5EF4-FFF2-40B4-BE49-F238E27FC236}">
                <a16:creationId xmlns:a16="http://schemas.microsoft.com/office/drawing/2014/main" id="{04CCCD1D-73EA-EBAD-5641-EFF79F9B80F7}"/>
              </a:ext>
            </a:extLst>
          </p:cNvPr>
          <p:cNvSpPr/>
          <p:nvPr/>
        </p:nvSpPr>
        <p:spPr>
          <a:xfrm>
            <a:off x="4580889" y="2954854"/>
            <a:ext cx="470000" cy="707886"/>
          </a:xfrm>
          <a:prstGeom prst="rect">
            <a:avLst/>
          </a:prstGeom>
          <a:noFill/>
        </p:spPr>
        <p:txBody>
          <a:bodyPr wrap="none" lIns="91440" tIns="45720" rIns="91440" bIns="45720">
            <a:spAutoFit/>
          </a:bodyPr>
          <a:lstStyle/>
          <a:p>
            <a:pPr algn="ctr"/>
            <a:r>
              <a:rPr lang="en-GB" sz="4000" b="1" i="1">
                <a:ln w="0"/>
                <a:effectLst>
                  <a:outerShdw blurRad="38100" dist="19050" dir="2700000" algn="tl" rotWithShape="0">
                    <a:schemeClr val="dk1">
                      <a:alpha val="40000"/>
                    </a:schemeClr>
                  </a:outerShdw>
                </a:effectLst>
              </a:rPr>
              <a:t>2</a:t>
            </a:r>
            <a:endParaRPr lang="en-GB" sz="4000" b="1" i="1" cap="none" spc="0">
              <a:ln w="0"/>
              <a:solidFill>
                <a:schemeClr val="tx1"/>
              </a:solidFill>
              <a:effectLst>
                <a:outerShdw blurRad="38100" dist="19050" dir="2700000" algn="tl" rotWithShape="0">
                  <a:schemeClr val="dk1">
                    <a:alpha val="40000"/>
                  </a:schemeClr>
                </a:outerShdw>
              </a:effectLst>
            </a:endParaRPr>
          </a:p>
        </p:txBody>
      </p:sp>
      <p:sp>
        <p:nvSpPr>
          <p:cNvPr id="44" name="Rectangle 43">
            <a:extLst>
              <a:ext uri="{FF2B5EF4-FFF2-40B4-BE49-F238E27FC236}">
                <a16:creationId xmlns:a16="http://schemas.microsoft.com/office/drawing/2014/main" id="{6D4D69EC-838A-8D74-D37E-D7626AECB0E0}"/>
              </a:ext>
            </a:extLst>
          </p:cNvPr>
          <p:cNvSpPr/>
          <p:nvPr/>
        </p:nvSpPr>
        <p:spPr>
          <a:xfrm>
            <a:off x="4540204" y="4367748"/>
            <a:ext cx="470000" cy="707886"/>
          </a:xfrm>
          <a:prstGeom prst="rect">
            <a:avLst/>
          </a:prstGeom>
          <a:noFill/>
        </p:spPr>
        <p:txBody>
          <a:bodyPr wrap="none" lIns="91440" tIns="45720" rIns="91440" bIns="45720">
            <a:spAutoFit/>
          </a:bodyPr>
          <a:lstStyle/>
          <a:p>
            <a:pPr algn="ctr"/>
            <a:r>
              <a:rPr lang="en-GB" sz="4000" b="1" i="1" cap="none" spc="0">
                <a:ln w="0"/>
                <a:solidFill>
                  <a:schemeClr val="tx1"/>
                </a:solidFill>
                <a:effectLst>
                  <a:outerShdw blurRad="38100" dist="19050" dir="2700000" algn="tl" rotWithShape="0">
                    <a:schemeClr val="dk1">
                      <a:alpha val="40000"/>
                    </a:schemeClr>
                  </a:outerShdw>
                </a:effectLst>
              </a:rPr>
              <a:t>3</a:t>
            </a:r>
          </a:p>
        </p:txBody>
      </p:sp>
      <p:sp>
        <p:nvSpPr>
          <p:cNvPr id="45" name="Text 21">
            <a:extLst>
              <a:ext uri="{FF2B5EF4-FFF2-40B4-BE49-F238E27FC236}">
                <a16:creationId xmlns:a16="http://schemas.microsoft.com/office/drawing/2014/main" id="{9FBF0217-932C-85AC-F273-32A95B159A92}"/>
              </a:ext>
            </a:extLst>
          </p:cNvPr>
          <p:cNvSpPr/>
          <p:nvPr/>
        </p:nvSpPr>
        <p:spPr>
          <a:xfrm>
            <a:off x="4991289" y="1935354"/>
            <a:ext cx="3068893" cy="804672"/>
          </a:xfrm>
          <a:prstGeom prst="rect">
            <a:avLst/>
          </a:prstGeom>
          <a:noFill/>
          <a:ln/>
        </p:spPr>
        <p:txBody>
          <a:bodyPr wrap="square" rtlCol="0" anchor="ctr"/>
          <a:lstStyle/>
          <a:p>
            <a:pPr marL="0" indent="0">
              <a:buNone/>
            </a:pPr>
            <a:r>
              <a:rPr lang="en-US" sz="1200">
                <a:solidFill>
                  <a:srgbClr val="5A5A5A"/>
                </a:solidFill>
                <a:latin typeface="Arial" panose="020B0604020202020204" pitchFamily="34" charset="0"/>
                <a:ea typeface="Calibri" pitchFamily="34" charset="-122"/>
                <a:cs typeface="Arial" panose="020B0604020202020204" pitchFamily="34" charset="0"/>
              </a:rPr>
              <a:t>Grow the USD 100mn ticket while keeping a defined capital barrier so the legacy sleeve is not an open-ended equity drawdown.</a:t>
            </a:r>
            <a:endParaRPr lang="en-US" sz="1200">
              <a:latin typeface="Arial" panose="020B0604020202020204" pitchFamily="34" charset="0"/>
              <a:cs typeface="Arial" panose="020B0604020202020204" pitchFamily="34" charset="0"/>
            </a:endParaRPr>
          </a:p>
        </p:txBody>
      </p:sp>
      <p:sp>
        <p:nvSpPr>
          <p:cNvPr id="46" name="Text 26">
            <a:extLst>
              <a:ext uri="{FF2B5EF4-FFF2-40B4-BE49-F238E27FC236}">
                <a16:creationId xmlns:a16="http://schemas.microsoft.com/office/drawing/2014/main" id="{345BC0CE-5492-01B2-CAD6-408C33D19050}"/>
              </a:ext>
            </a:extLst>
          </p:cNvPr>
          <p:cNvSpPr/>
          <p:nvPr/>
        </p:nvSpPr>
        <p:spPr>
          <a:xfrm>
            <a:off x="5096432" y="3383653"/>
            <a:ext cx="2994020" cy="804672"/>
          </a:xfrm>
          <a:prstGeom prst="rect">
            <a:avLst/>
          </a:prstGeom>
          <a:noFill/>
          <a:ln/>
        </p:spPr>
        <p:txBody>
          <a:bodyPr wrap="square" rtlCol="0" anchor="ctr"/>
          <a:lstStyle/>
          <a:p>
            <a:pPr marL="0" indent="0">
              <a:buNone/>
            </a:pPr>
            <a:r>
              <a:rPr lang="en-US" sz="1200">
                <a:solidFill>
                  <a:srgbClr val="5A5A5A"/>
                </a:solidFill>
                <a:latin typeface="Arial" panose="020B0604020202020204" pitchFamily="34" charset="0"/>
                <a:ea typeface="Calibri" pitchFamily="34" charset="-122"/>
                <a:cs typeface="Arial" panose="020B0604020202020204" pitchFamily="34" charset="0"/>
              </a:rPr>
              <a:t>Meaningful exposure to the compute –power–platform stack that sits next to the family’s own tech-infrastructure and renewable plants.</a:t>
            </a:r>
            <a:endParaRPr lang="en-US" sz="1200">
              <a:latin typeface="Arial" panose="020B0604020202020204" pitchFamily="34" charset="0"/>
              <a:cs typeface="Arial" panose="020B0604020202020204" pitchFamily="34" charset="0"/>
            </a:endParaRPr>
          </a:p>
        </p:txBody>
      </p:sp>
      <p:sp>
        <p:nvSpPr>
          <p:cNvPr id="47" name="Text 31">
            <a:extLst>
              <a:ext uri="{FF2B5EF4-FFF2-40B4-BE49-F238E27FC236}">
                <a16:creationId xmlns:a16="http://schemas.microsoft.com/office/drawing/2014/main" id="{74E1CDF2-DE0C-1F59-47C1-3F76AEA02641}"/>
              </a:ext>
            </a:extLst>
          </p:cNvPr>
          <p:cNvSpPr/>
          <p:nvPr/>
        </p:nvSpPr>
        <p:spPr>
          <a:xfrm>
            <a:off x="5086129" y="4680008"/>
            <a:ext cx="3008016" cy="804672"/>
          </a:xfrm>
          <a:prstGeom prst="rect">
            <a:avLst/>
          </a:prstGeom>
          <a:noFill/>
          <a:ln/>
        </p:spPr>
        <p:txBody>
          <a:bodyPr wrap="square" rtlCol="0" anchor="ctr"/>
          <a:lstStyle/>
          <a:p>
            <a:pPr marL="0" indent="0">
              <a:buNone/>
            </a:pPr>
            <a:r>
              <a:rPr lang="en-US" sz="1200">
                <a:solidFill>
                  <a:srgbClr val="5A5A5A"/>
                </a:solidFill>
                <a:latin typeface="Arial" panose="020B0604020202020204" pitchFamily="34" charset="0"/>
                <a:ea typeface="Calibri" pitchFamily="34" charset="-122"/>
                <a:cs typeface="Arial" panose="020B0604020202020204" pitchFamily="34" charset="0"/>
              </a:rPr>
              <a:t>Prefer underlyings that connect Japan and Greater China real-economy franchises with emerging technology</a:t>
            </a:r>
            <a:endParaRPr lang="en-US" sz="1200">
              <a:latin typeface="Arial" panose="020B0604020202020204" pitchFamily="34" charset="0"/>
              <a:cs typeface="Arial" panose="020B0604020202020204" pitchFamily="34" charset="0"/>
            </a:endParaRPr>
          </a:p>
        </p:txBody>
      </p:sp>
      <p:sp>
        <p:nvSpPr>
          <p:cNvPr id="48" name="Text 20">
            <a:extLst>
              <a:ext uri="{FF2B5EF4-FFF2-40B4-BE49-F238E27FC236}">
                <a16:creationId xmlns:a16="http://schemas.microsoft.com/office/drawing/2014/main" id="{ADD6CD1C-B7EF-7BF3-8B93-281E58A92B91}"/>
              </a:ext>
            </a:extLst>
          </p:cNvPr>
          <p:cNvSpPr/>
          <p:nvPr/>
        </p:nvSpPr>
        <p:spPr>
          <a:xfrm>
            <a:off x="4978383" y="1548486"/>
            <a:ext cx="3520440" cy="502920"/>
          </a:xfrm>
          <a:prstGeom prst="rect">
            <a:avLst/>
          </a:prstGeom>
          <a:noFill/>
          <a:ln/>
        </p:spPr>
        <p:txBody>
          <a:bodyPr wrap="square" rtlCol="0" anchor="ctr"/>
          <a:lstStyle/>
          <a:p>
            <a:pPr marL="0" indent="0">
              <a:buNone/>
            </a:pPr>
            <a:r>
              <a:rPr lang="en-US" sz="1400" b="1" i="1">
                <a:solidFill>
                  <a:srgbClr val="2D2D2D"/>
                </a:solidFill>
                <a:latin typeface="Arial" panose="020B0604020202020204" pitchFamily="34" charset="0"/>
                <a:ea typeface="Calibri" pitchFamily="34" charset="-122"/>
                <a:cs typeface="Arial" panose="020B0604020202020204" pitchFamily="34" charset="0"/>
              </a:rPr>
              <a:t>Capital for the next generations</a:t>
            </a:r>
            <a:endParaRPr lang="en-US" sz="1400" i="1">
              <a:latin typeface="Arial" panose="020B0604020202020204" pitchFamily="34" charset="0"/>
              <a:cs typeface="Arial" panose="020B0604020202020204" pitchFamily="34" charset="0"/>
            </a:endParaRPr>
          </a:p>
        </p:txBody>
      </p:sp>
      <p:sp>
        <p:nvSpPr>
          <p:cNvPr id="49" name="Text 25">
            <a:extLst>
              <a:ext uri="{FF2B5EF4-FFF2-40B4-BE49-F238E27FC236}">
                <a16:creationId xmlns:a16="http://schemas.microsoft.com/office/drawing/2014/main" id="{91351937-BF4B-F78A-DFF7-21880A5FB8A6}"/>
              </a:ext>
            </a:extLst>
          </p:cNvPr>
          <p:cNvSpPr/>
          <p:nvPr/>
        </p:nvSpPr>
        <p:spPr>
          <a:xfrm>
            <a:off x="8517272" y="1542293"/>
            <a:ext cx="3114132" cy="502920"/>
          </a:xfrm>
          <a:prstGeom prst="rect">
            <a:avLst/>
          </a:prstGeom>
          <a:noFill/>
          <a:ln/>
        </p:spPr>
        <p:txBody>
          <a:bodyPr wrap="square" rtlCol="0" anchor="ctr"/>
          <a:lstStyle/>
          <a:p>
            <a:pPr marL="0" indent="0">
              <a:buNone/>
            </a:pPr>
            <a:r>
              <a:rPr lang="en-US" sz="1400" b="1" i="1">
                <a:latin typeface="Arial" panose="020B0604020202020204" pitchFamily="34" charset="0"/>
                <a:cs typeface="Arial" panose="020B0604020202020204" pitchFamily="34" charset="0"/>
              </a:rPr>
              <a:t>Assumption</a:t>
            </a:r>
          </a:p>
        </p:txBody>
      </p:sp>
      <p:sp>
        <p:nvSpPr>
          <p:cNvPr id="50" name="Text 38">
            <a:extLst>
              <a:ext uri="{FF2B5EF4-FFF2-40B4-BE49-F238E27FC236}">
                <a16:creationId xmlns:a16="http://schemas.microsoft.com/office/drawing/2014/main" id="{2CB2BFC5-4315-79EE-0D0F-977D2047E80C}"/>
              </a:ext>
            </a:extLst>
          </p:cNvPr>
          <p:cNvSpPr/>
          <p:nvPr/>
        </p:nvSpPr>
        <p:spPr>
          <a:xfrm>
            <a:off x="9013322" y="1880835"/>
            <a:ext cx="2652163" cy="1234440"/>
          </a:xfrm>
          <a:prstGeom prst="rect">
            <a:avLst/>
          </a:prstGeom>
          <a:noFill/>
          <a:ln/>
        </p:spPr>
        <p:txBody>
          <a:bodyPr wrap="square" rtlCol="0" anchor="ctr"/>
          <a:lstStyle/>
          <a:p>
            <a:pPr marL="0" indent="0">
              <a:buNone/>
            </a:pPr>
            <a:r>
              <a:rPr lang="en-US" sz="1200">
                <a:solidFill>
                  <a:srgbClr val="5A5A5A"/>
                </a:solidFill>
                <a:latin typeface="Arial" panose="020B0604020202020204" pitchFamily="34" charset="0"/>
                <a:ea typeface="Calibri" pitchFamily="34" charset="-122"/>
                <a:cs typeface="Arial" panose="020B0604020202020204" pitchFamily="34" charset="0"/>
              </a:rPr>
              <a:t>Family is open to structured notes / OTC, provided barriers and issuer credit are explicit.</a:t>
            </a:r>
            <a:endParaRPr lang="en-US" sz="1200">
              <a:latin typeface="Arial" panose="020B0604020202020204" pitchFamily="34" charset="0"/>
              <a:cs typeface="Arial" panose="020B0604020202020204" pitchFamily="34" charset="0"/>
            </a:endParaRPr>
          </a:p>
        </p:txBody>
      </p:sp>
      <p:sp>
        <p:nvSpPr>
          <p:cNvPr id="51" name="Text 41">
            <a:extLst>
              <a:ext uri="{FF2B5EF4-FFF2-40B4-BE49-F238E27FC236}">
                <a16:creationId xmlns:a16="http://schemas.microsoft.com/office/drawing/2014/main" id="{C09F26BF-5DD3-8B50-2A9F-AD8AA80A6832}"/>
              </a:ext>
            </a:extLst>
          </p:cNvPr>
          <p:cNvSpPr/>
          <p:nvPr/>
        </p:nvSpPr>
        <p:spPr>
          <a:xfrm>
            <a:off x="9072288" y="3074817"/>
            <a:ext cx="2593197" cy="1234440"/>
          </a:xfrm>
          <a:prstGeom prst="rect">
            <a:avLst/>
          </a:prstGeom>
          <a:noFill/>
          <a:ln/>
        </p:spPr>
        <p:txBody>
          <a:bodyPr wrap="square" rtlCol="0" anchor="ctr"/>
          <a:lstStyle/>
          <a:p>
            <a:pPr marL="0" indent="0">
              <a:buNone/>
            </a:pPr>
            <a:r>
              <a:rPr lang="en-US" sz="1200">
                <a:solidFill>
                  <a:srgbClr val="5A5A5A"/>
                </a:solidFill>
                <a:latin typeface="Arial" panose="020B0604020202020204" pitchFamily="34" charset="0"/>
                <a:ea typeface="Calibri" pitchFamily="34" charset="-122"/>
                <a:cs typeface="Arial" panose="020B0604020202020204" pitchFamily="34" charset="0"/>
              </a:rPr>
              <a:t>Horizon of 5 years. Trade date 17 Sep 2026. Secondary liquidity is accepted as limited (issuer bid, not an exchange).</a:t>
            </a:r>
            <a:endParaRPr lang="en-US" sz="1200">
              <a:latin typeface="Arial" panose="020B0604020202020204" pitchFamily="34" charset="0"/>
              <a:cs typeface="Arial" panose="020B0604020202020204" pitchFamily="34" charset="0"/>
            </a:endParaRPr>
          </a:p>
        </p:txBody>
      </p:sp>
      <p:sp>
        <p:nvSpPr>
          <p:cNvPr id="52" name="Text 44">
            <a:extLst>
              <a:ext uri="{FF2B5EF4-FFF2-40B4-BE49-F238E27FC236}">
                <a16:creationId xmlns:a16="http://schemas.microsoft.com/office/drawing/2014/main" id="{91C63668-0C33-C8A6-5764-D5C5885CC1CC}"/>
              </a:ext>
            </a:extLst>
          </p:cNvPr>
          <p:cNvSpPr/>
          <p:nvPr/>
        </p:nvSpPr>
        <p:spPr>
          <a:xfrm>
            <a:off x="9072288" y="4434587"/>
            <a:ext cx="2502818" cy="1234440"/>
          </a:xfrm>
          <a:prstGeom prst="rect">
            <a:avLst/>
          </a:prstGeom>
          <a:noFill/>
          <a:ln/>
        </p:spPr>
        <p:txBody>
          <a:bodyPr wrap="square" rtlCol="0" anchor="ctr"/>
          <a:lstStyle/>
          <a:p>
            <a:pPr marL="0" indent="0">
              <a:buNone/>
            </a:pPr>
            <a:r>
              <a:rPr lang="en-US" sz="1200">
                <a:solidFill>
                  <a:srgbClr val="5A5A5A"/>
                </a:solidFill>
                <a:latin typeface="Arial" panose="020B0604020202020204" pitchFamily="34" charset="0"/>
                <a:ea typeface="Calibri" pitchFamily="34" charset="-122"/>
                <a:cs typeface="Arial" panose="020B0604020202020204" pitchFamily="34" charset="0"/>
              </a:rPr>
              <a:t>NKE / Natixis can design, price and book a bespoke note. Underlyings must be Bloomberg-searchable large caps; no OFAC names.</a:t>
            </a:r>
            <a:endParaRPr lang="en-US" sz="1200">
              <a:latin typeface="Arial" panose="020B0604020202020204" pitchFamily="34" charset="0"/>
              <a:cs typeface="Arial" panose="020B0604020202020204" pitchFamily="34" charset="0"/>
            </a:endParaRPr>
          </a:p>
        </p:txBody>
      </p:sp>
      <p:sp>
        <p:nvSpPr>
          <p:cNvPr id="53" name="Rectangle 52">
            <a:extLst>
              <a:ext uri="{FF2B5EF4-FFF2-40B4-BE49-F238E27FC236}">
                <a16:creationId xmlns:a16="http://schemas.microsoft.com/office/drawing/2014/main" id="{5F0F94D5-469C-7288-405B-DD6AB6A58782}"/>
              </a:ext>
            </a:extLst>
          </p:cNvPr>
          <p:cNvSpPr/>
          <p:nvPr/>
        </p:nvSpPr>
        <p:spPr>
          <a:xfrm>
            <a:off x="8473523" y="2138331"/>
            <a:ext cx="470000" cy="707886"/>
          </a:xfrm>
          <a:prstGeom prst="rect">
            <a:avLst/>
          </a:prstGeom>
          <a:noFill/>
        </p:spPr>
        <p:txBody>
          <a:bodyPr wrap="none" lIns="91440" tIns="45720" rIns="91440" bIns="45720">
            <a:spAutoFit/>
          </a:bodyPr>
          <a:lstStyle/>
          <a:p>
            <a:pPr algn="ctr"/>
            <a:r>
              <a:rPr lang="en-GB" sz="4000" b="1" i="1" cap="none" spc="0">
                <a:ln w="0"/>
                <a:solidFill>
                  <a:schemeClr val="tx1"/>
                </a:solidFill>
                <a:effectLst>
                  <a:outerShdw blurRad="38100" dist="19050" dir="2700000" algn="tl" rotWithShape="0">
                    <a:schemeClr val="dk1">
                      <a:alpha val="40000"/>
                    </a:schemeClr>
                  </a:outerShdw>
                </a:effectLst>
              </a:rPr>
              <a:t>1</a:t>
            </a:r>
          </a:p>
        </p:txBody>
      </p:sp>
      <p:sp>
        <p:nvSpPr>
          <p:cNvPr id="54" name="Rectangle 53">
            <a:extLst>
              <a:ext uri="{FF2B5EF4-FFF2-40B4-BE49-F238E27FC236}">
                <a16:creationId xmlns:a16="http://schemas.microsoft.com/office/drawing/2014/main" id="{B27ECB19-AA9C-EF83-A207-7F1336CD11D4}"/>
              </a:ext>
            </a:extLst>
          </p:cNvPr>
          <p:cNvSpPr/>
          <p:nvPr/>
        </p:nvSpPr>
        <p:spPr>
          <a:xfrm>
            <a:off x="8513378" y="3271573"/>
            <a:ext cx="470000" cy="707886"/>
          </a:xfrm>
          <a:prstGeom prst="rect">
            <a:avLst/>
          </a:prstGeom>
          <a:noFill/>
        </p:spPr>
        <p:txBody>
          <a:bodyPr wrap="none" lIns="91440" tIns="45720" rIns="91440" bIns="45720">
            <a:spAutoFit/>
          </a:bodyPr>
          <a:lstStyle/>
          <a:p>
            <a:pPr algn="ctr"/>
            <a:r>
              <a:rPr lang="en-GB" sz="4000" b="1" i="1">
                <a:ln w="0"/>
                <a:effectLst>
                  <a:outerShdw blurRad="38100" dist="19050" dir="2700000" algn="tl" rotWithShape="0">
                    <a:schemeClr val="dk1">
                      <a:alpha val="40000"/>
                    </a:schemeClr>
                  </a:outerShdw>
                </a:effectLst>
              </a:rPr>
              <a:t>2</a:t>
            </a:r>
            <a:endParaRPr lang="en-GB" sz="4000" b="1" i="1" cap="none" spc="0">
              <a:ln w="0"/>
              <a:solidFill>
                <a:schemeClr val="tx1"/>
              </a:solidFill>
              <a:effectLst>
                <a:outerShdw blurRad="38100" dist="19050" dir="2700000" algn="tl" rotWithShape="0">
                  <a:schemeClr val="dk1">
                    <a:alpha val="40000"/>
                  </a:schemeClr>
                </a:outerShdw>
              </a:effectLst>
            </a:endParaRPr>
          </a:p>
        </p:txBody>
      </p:sp>
      <p:sp>
        <p:nvSpPr>
          <p:cNvPr id="55" name="Rectangle 54">
            <a:extLst>
              <a:ext uri="{FF2B5EF4-FFF2-40B4-BE49-F238E27FC236}">
                <a16:creationId xmlns:a16="http://schemas.microsoft.com/office/drawing/2014/main" id="{63CC813D-6FDC-1463-C13F-5FB18CAB2B96}"/>
              </a:ext>
            </a:extLst>
          </p:cNvPr>
          <p:cNvSpPr/>
          <p:nvPr/>
        </p:nvSpPr>
        <p:spPr>
          <a:xfrm>
            <a:off x="8540267" y="4493405"/>
            <a:ext cx="470000" cy="707886"/>
          </a:xfrm>
          <a:prstGeom prst="rect">
            <a:avLst/>
          </a:prstGeom>
          <a:noFill/>
        </p:spPr>
        <p:txBody>
          <a:bodyPr wrap="none" lIns="91440" tIns="45720" rIns="91440" bIns="45720">
            <a:spAutoFit/>
          </a:bodyPr>
          <a:lstStyle/>
          <a:p>
            <a:pPr algn="ctr"/>
            <a:r>
              <a:rPr lang="en-GB" sz="4000" b="1" i="1" cap="none" spc="0">
                <a:ln w="0"/>
                <a:solidFill>
                  <a:schemeClr val="tx1"/>
                </a:solidFill>
                <a:effectLst>
                  <a:outerShdw blurRad="38100" dist="19050" dir="2700000" algn="tl" rotWithShape="0">
                    <a:schemeClr val="dk1">
                      <a:alpha val="40000"/>
                    </a:schemeClr>
                  </a:outerShdw>
                </a:effectLst>
              </a:rPr>
              <a:t>3</a:t>
            </a:r>
          </a:p>
        </p:txBody>
      </p:sp>
      <p:sp>
        <p:nvSpPr>
          <p:cNvPr id="56" name="Text Placeholder 1">
            <a:extLst>
              <a:ext uri="{FF2B5EF4-FFF2-40B4-BE49-F238E27FC236}">
                <a16:creationId xmlns:a16="http://schemas.microsoft.com/office/drawing/2014/main" id="{75FBE136-6D2D-7ECF-C40D-1611287400AC}"/>
              </a:ext>
            </a:extLst>
          </p:cNvPr>
          <p:cNvSpPr>
            <a:spLocks noGrp="1"/>
          </p:cNvSpPr>
          <p:nvPr>
            <p:ph type="body" idx="1"/>
          </p:nvPr>
        </p:nvSpPr>
        <p:spPr>
          <a:xfrm>
            <a:off x="0" y="5933472"/>
            <a:ext cx="12192000" cy="408340"/>
          </a:xfrm>
        </p:spPr>
        <p:txBody>
          <a:bodyPr/>
          <a:lstStyle/>
          <a:p>
            <a:r>
              <a:rPr lang="en-GB" sz="1400"/>
              <a:t>The family owns Asian infrastructure, renewables and property. We should give them AI hardware layer and exclude what they originally own </a:t>
            </a:r>
          </a:p>
        </p:txBody>
      </p:sp>
    </p:spTree>
    <p:extLst>
      <p:ext uri="{BB962C8B-B14F-4D97-AF65-F5344CB8AC3E}">
        <p14:creationId xmlns:p14="http://schemas.microsoft.com/office/powerpoint/2010/main" val="2734511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68">
            <a:extLst>
              <a:ext uri="{FF2B5EF4-FFF2-40B4-BE49-F238E27FC236}">
                <a16:creationId xmlns:a16="http://schemas.microsoft.com/office/drawing/2014/main" id="{9D9660B6-7AC2-2BB0-DA4F-14A69B30AC5B}"/>
              </a:ext>
            </a:extLst>
          </p:cNvPr>
          <p:cNvSpPr/>
          <p:nvPr/>
        </p:nvSpPr>
        <p:spPr>
          <a:xfrm>
            <a:off x="4344176" y="4816843"/>
            <a:ext cx="3621539" cy="91440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40" name="Rectangle 39">
            <a:extLst>
              <a:ext uri="{FF2B5EF4-FFF2-40B4-BE49-F238E27FC236}">
                <a16:creationId xmlns:a16="http://schemas.microsoft.com/office/drawing/2014/main" id="{CE19A167-BF44-FB72-61FB-1EB751490B3C}"/>
              </a:ext>
            </a:extLst>
          </p:cNvPr>
          <p:cNvSpPr/>
          <p:nvPr/>
        </p:nvSpPr>
        <p:spPr>
          <a:xfrm>
            <a:off x="8331180" y="776183"/>
            <a:ext cx="3620163" cy="403844"/>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39" name="Rectangle 38">
            <a:extLst>
              <a:ext uri="{FF2B5EF4-FFF2-40B4-BE49-F238E27FC236}">
                <a16:creationId xmlns:a16="http://schemas.microsoft.com/office/drawing/2014/main" id="{EC4B6BD7-10E2-E24E-539C-0BE6F81ED777}"/>
              </a:ext>
            </a:extLst>
          </p:cNvPr>
          <p:cNvSpPr/>
          <p:nvPr/>
        </p:nvSpPr>
        <p:spPr>
          <a:xfrm>
            <a:off x="4461497" y="781681"/>
            <a:ext cx="3386899" cy="403844"/>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38" name="Rectangle 37">
            <a:extLst>
              <a:ext uri="{FF2B5EF4-FFF2-40B4-BE49-F238E27FC236}">
                <a16:creationId xmlns:a16="http://schemas.microsoft.com/office/drawing/2014/main" id="{637C63BC-73E0-C745-9AFC-CA860D1D0397}"/>
              </a:ext>
            </a:extLst>
          </p:cNvPr>
          <p:cNvSpPr/>
          <p:nvPr/>
        </p:nvSpPr>
        <p:spPr>
          <a:xfrm>
            <a:off x="499172" y="816211"/>
            <a:ext cx="3386899" cy="403844"/>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 name="Text Placeholder 1">
            <a:extLst>
              <a:ext uri="{FF2B5EF4-FFF2-40B4-BE49-F238E27FC236}">
                <a16:creationId xmlns:a16="http://schemas.microsoft.com/office/drawing/2014/main" id="{3895D719-E801-5B60-3CDD-8C93EF94363D}"/>
              </a:ext>
            </a:extLst>
          </p:cNvPr>
          <p:cNvSpPr>
            <a:spLocks noGrp="1"/>
          </p:cNvSpPr>
          <p:nvPr>
            <p:ph type="body" idx="1"/>
          </p:nvPr>
        </p:nvSpPr>
        <p:spPr>
          <a:xfrm>
            <a:off x="0" y="5889124"/>
            <a:ext cx="12192000" cy="376237"/>
          </a:xfrm>
        </p:spPr>
        <p:txBody>
          <a:bodyPr/>
          <a:lstStyle/>
          <a:p>
            <a:r>
              <a:rPr lang="en-US">
                <a:solidFill>
                  <a:srgbClr val="FFFFFF"/>
                </a:solidFill>
                <a:latin typeface="Arial" panose="020B0604020202020204" pitchFamily="34" charset="0"/>
                <a:ea typeface="Cambria" pitchFamily="34" charset="-122"/>
                <a:cs typeface="Arial" panose="020B0604020202020204" pitchFamily="34" charset="0"/>
              </a:rPr>
              <a:t>The client should own Asia's AI hardware, with protection for the legacy and income while we wait</a:t>
            </a:r>
            <a:endParaRPr lang="en-GB">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CC74CC4E-B512-563B-7417-EDDE45AD6FE9}"/>
              </a:ext>
            </a:extLst>
          </p:cNvPr>
          <p:cNvSpPr>
            <a:spLocks noGrp="1"/>
          </p:cNvSpPr>
          <p:nvPr>
            <p:ph type="body" idx="3"/>
          </p:nvPr>
        </p:nvSpPr>
        <p:spPr/>
        <p:txBody>
          <a:bodyPr/>
          <a:lstStyle/>
          <a:p>
            <a:endParaRPr lang="en-GB"/>
          </a:p>
        </p:txBody>
      </p:sp>
      <p:sp>
        <p:nvSpPr>
          <p:cNvPr id="4" name="Text Placeholder 3">
            <a:extLst>
              <a:ext uri="{FF2B5EF4-FFF2-40B4-BE49-F238E27FC236}">
                <a16:creationId xmlns:a16="http://schemas.microsoft.com/office/drawing/2014/main" id="{28743B2E-BC8E-5E67-1FD5-69405FB811D9}"/>
              </a:ext>
            </a:extLst>
          </p:cNvPr>
          <p:cNvSpPr>
            <a:spLocks noGrp="1"/>
          </p:cNvSpPr>
          <p:nvPr>
            <p:ph type="body" idx="2"/>
          </p:nvPr>
        </p:nvSpPr>
        <p:spPr>
          <a:xfrm>
            <a:off x="275572" y="206669"/>
            <a:ext cx="9116619" cy="376237"/>
          </a:xfrm>
        </p:spPr>
        <p:txBody>
          <a:bodyPr/>
          <a:lstStyle/>
          <a:p>
            <a:r>
              <a:rPr lang="en-GB" sz="2000">
                <a:latin typeface="Arial" panose="020B0604020202020204" pitchFamily="34" charset="0"/>
                <a:cs typeface="Arial" panose="020B0604020202020204" pitchFamily="34" charset="0"/>
              </a:rPr>
              <a:t>Our client should consider macro, geopolitical, and AI market factors </a:t>
            </a:r>
          </a:p>
        </p:txBody>
      </p:sp>
      <p:sp>
        <p:nvSpPr>
          <p:cNvPr id="5" name="Text Placeholder 4">
            <a:extLst>
              <a:ext uri="{FF2B5EF4-FFF2-40B4-BE49-F238E27FC236}">
                <a16:creationId xmlns:a16="http://schemas.microsoft.com/office/drawing/2014/main" id="{DA4D3732-4EE8-C05B-626A-14328AE3F3F1}"/>
              </a:ext>
            </a:extLst>
          </p:cNvPr>
          <p:cNvSpPr>
            <a:spLocks noGrp="1"/>
          </p:cNvSpPr>
          <p:nvPr>
            <p:ph type="body" idx="10"/>
          </p:nvPr>
        </p:nvSpPr>
        <p:spPr/>
        <p:txBody>
          <a:bodyPr/>
          <a:lstStyle/>
          <a:p>
            <a:endParaRPr lang="en-GB"/>
          </a:p>
        </p:txBody>
      </p:sp>
      <p:cxnSp>
        <p:nvCxnSpPr>
          <p:cNvPr id="7" name="Straight Connector 6">
            <a:extLst>
              <a:ext uri="{FF2B5EF4-FFF2-40B4-BE49-F238E27FC236}">
                <a16:creationId xmlns:a16="http://schemas.microsoft.com/office/drawing/2014/main" id="{476702D2-2259-80CE-6EA2-DE0D286ED468}"/>
              </a:ext>
            </a:extLst>
          </p:cNvPr>
          <p:cNvCxnSpPr>
            <a:cxnSpLocks/>
          </p:cNvCxnSpPr>
          <p:nvPr/>
        </p:nvCxnSpPr>
        <p:spPr>
          <a:xfrm>
            <a:off x="4128472" y="853690"/>
            <a:ext cx="0" cy="4877553"/>
          </a:xfrm>
          <a:prstGeom prst="line">
            <a:avLst/>
          </a:prstGeom>
          <a:ln w="9525"/>
        </p:spPr>
        <p:style>
          <a:lnRef idx="2">
            <a:schemeClr val="accent1"/>
          </a:lnRef>
          <a:fillRef idx="0">
            <a:schemeClr val="accent1"/>
          </a:fillRef>
          <a:effectRef idx="1">
            <a:schemeClr val="accent1"/>
          </a:effectRef>
          <a:fontRef idx="minor">
            <a:schemeClr val="tx1"/>
          </a:fontRef>
        </p:style>
      </p:cxnSp>
      <p:sp>
        <p:nvSpPr>
          <p:cNvPr id="11" name="Text 8">
            <a:extLst>
              <a:ext uri="{FF2B5EF4-FFF2-40B4-BE49-F238E27FC236}">
                <a16:creationId xmlns:a16="http://schemas.microsoft.com/office/drawing/2014/main" id="{A39818FD-E4BD-E4A1-E057-48DC7C907969}"/>
              </a:ext>
            </a:extLst>
          </p:cNvPr>
          <p:cNvSpPr/>
          <p:nvPr/>
        </p:nvSpPr>
        <p:spPr>
          <a:xfrm>
            <a:off x="8308994" y="821197"/>
            <a:ext cx="3693362" cy="313816"/>
          </a:xfrm>
          <a:prstGeom prst="rect">
            <a:avLst/>
          </a:prstGeom>
          <a:noFill/>
          <a:ln/>
        </p:spPr>
        <p:txBody>
          <a:bodyPr wrap="square" rtlCol="0" anchor="ctr"/>
          <a:lstStyle/>
          <a:p>
            <a:pPr marL="0" indent="0" algn="ctr">
              <a:buNone/>
            </a:pPr>
            <a:r>
              <a:rPr lang="en-US" sz="1600" b="1" i="1" dirty="0">
                <a:solidFill>
                  <a:schemeClr val="accent1"/>
                </a:solidFill>
                <a:latin typeface="Arial" panose="020B0604020202020204" pitchFamily="34" charset="0"/>
                <a:ea typeface="Calibri" pitchFamily="34" charset="-122"/>
                <a:cs typeface="Arial" panose="020B0604020202020204" pitchFamily="34" charset="0"/>
              </a:rPr>
              <a:t>Why hardware products ? </a:t>
            </a:r>
            <a:endParaRPr lang="en-US" sz="1600" i="1" dirty="0">
              <a:solidFill>
                <a:schemeClr val="accent1"/>
              </a:solidFill>
              <a:latin typeface="Arial" panose="020B0604020202020204" pitchFamily="34" charset="0"/>
              <a:cs typeface="Arial" panose="020B0604020202020204" pitchFamily="34" charset="0"/>
            </a:endParaRPr>
          </a:p>
        </p:txBody>
      </p:sp>
      <p:sp>
        <p:nvSpPr>
          <p:cNvPr id="12" name="Text 8">
            <a:extLst>
              <a:ext uri="{FF2B5EF4-FFF2-40B4-BE49-F238E27FC236}">
                <a16:creationId xmlns:a16="http://schemas.microsoft.com/office/drawing/2014/main" id="{54C5BD25-3117-95C3-0D2B-6400F43B02D4}"/>
              </a:ext>
            </a:extLst>
          </p:cNvPr>
          <p:cNvSpPr/>
          <p:nvPr/>
        </p:nvSpPr>
        <p:spPr>
          <a:xfrm>
            <a:off x="361360" y="1354136"/>
            <a:ext cx="3567507" cy="2575107"/>
          </a:xfrm>
          <a:prstGeom prst="rect">
            <a:avLst/>
          </a:prstGeom>
          <a:noFill/>
          <a:ln/>
        </p:spPr>
        <p:txBody>
          <a:bodyPr wrap="square" rtlCol="0" anchor="ctr"/>
          <a:lstStyle/>
          <a:p>
            <a:pPr marL="342900" indent="-342900">
              <a:spcAft>
                <a:spcPts val="500"/>
              </a:spcAft>
              <a:buSzPct val="100000"/>
              <a:buChar char="•"/>
            </a:pPr>
            <a:r>
              <a:rPr lang="en-US" sz="1400" dirty="0">
                <a:solidFill>
                  <a:schemeClr val="bg2">
                    <a:lumMod val="50000"/>
                  </a:schemeClr>
                </a:solidFill>
                <a:latin typeface="Arial" panose="020B0604020202020204" pitchFamily="34" charset="0"/>
                <a:ea typeface="Calibri" pitchFamily="34" charset="-122"/>
                <a:cs typeface="Arial" panose="020B0604020202020204" pitchFamily="34" charset="0"/>
              </a:rPr>
              <a:t>US midterms (Nov 2026) and the 2028 race keep trade policy uncertain</a:t>
            </a:r>
            <a:endParaRPr lang="en-US" sz="1400" dirty="0">
              <a:solidFill>
                <a:schemeClr val="bg2">
                  <a:lumMod val="50000"/>
                </a:schemeClr>
              </a:solidFill>
              <a:latin typeface="Arial" panose="020B0604020202020204" pitchFamily="34" charset="0"/>
              <a:cs typeface="Arial" panose="020B0604020202020204" pitchFamily="34" charset="0"/>
            </a:endParaRPr>
          </a:p>
          <a:p>
            <a:pPr marL="342900" indent="-342900">
              <a:spcAft>
                <a:spcPts val="500"/>
              </a:spcAft>
              <a:buSzPct val="100000"/>
              <a:buChar char="•"/>
            </a:pPr>
            <a:r>
              <a:rPr lang="en-US" sz="1400" dirty="0">
                <a:solidFill>
                  <a:schemeClr val="bg2">
                    <a:lumMod val="50000"/>
                  </a:schemeClr>
                </a:solidFill>
                <a:latin typeface="Arial" panose="020B0604020202020204" pitchFamily="34" charset="0"/>
                <a:ea typeface="Calibri" pitchFamily="34" charset="-122"/>
                <a:cs typeface="Arial" panose="020B0604020202020204" pitchFamily="34" charset="0"/>
              </a:rPr>
              <a:t>US–China tech restrictions and tariffs hit cross-border families</a:t>
            </a:r>
            <a:endParaRPr lang="en-US" sz="1400" dirty="0">
              <a:solidFill>
                <a:schemeClr val="bg2">
                  <a:lumMod val="50000"/>
                </a:schemeClr>
              </a:solidFill>
              <a:latin typeface="Arial" panose="020B0604020202020204" pitchFamily="34" charset="0"/>
              <a:cs typeface="Arial" panose="020B0604020202020204" pitchFamily="34" charset="0"/>
            </a:endParaRPr>
          </a:p>
          <a:p>
            <a:pPr marL="342900" indent="-342900">
              <a:spcAft>
                <a:spcPts val="500"/>
              </a:spcAft>
              <a:buSzPct val="100000"/>
              <a:buChar char="•"/>
            </a:pPr>
            <a:r>
              <a:rPr lang="en-US" sz="1400" dirty="0">
                <a:solidFill>
                  <a:schemeClr val="bg2">
                    <a:lumMod val="50000"/>
                  </a:schemeClr>
                </a:solidFill>
                <a:latin typeface="Arial" panose="020B0604020202020204" pitchFamily="34" charset="0"/>
                <a:ea typeface="Calibri" pitchFamily="34" charset="-122"/>
                <a:cs typeface="Arial" panose="020B0604020202020204" pitchFamily="34" charset="0"/>
              </a:rPr>
              <a:t>Capital rotates to supply-chain security and reshoring</a:t>
            </a:r>
            <a:endParaRPr lang="en-US" sz="1400" dirty="0">
              <a:solidFill>
                <a:schemeClr val="bg2">
                  <a:lumMod val="50000"/>
                </a:schemeClr>
              </a:solidFill>
              <a:latin typeface="Arial" panose="020B0604020202020204" pitchFamily="34" charset="0"/>
              <a:cs typeface="Arial" panose="020B0604020202020204" pitchFamily="34" charset="0"/>
            </a:endParaRPr>
          </a:p>
          <a:p>
            <a:pPr algn="ctr"/>
            <a:endParaRPr lang="en-US" sz="1400" b="1"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E79F6844-090A-76D7-688D-2E4954D3E58C}"/>
              </a:ext>
            </a:extLst>
          </p:cNvPr>
          <p:cNvSpPr/>
          <p:nvPr/>
        </p:nvSpPr>
        <p:spPr>
          <a:xfrm>
            <a:off x="8334759" y="1277803"/>
            <a:ext cx="3636610" cy="16020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6" name="Rectangle 15">
            <a:extLst>
              <a:ext uri="{FF2B5EF4-FFF2-40B4-BE49-F238E27FC236}">
                <a16:creationId xmlns:a16="http://schemas.microsoft.com/office/drawing/2014/main" id="{82E742F7-D887-0015-FBB9-5FA53548771D}"/>
              </a:ext>
            </a:extLst>
          </p:cNvPr>
          <p:cNvSpPr/>
          <p:nvPr/>
        </p:nvSpPr>
        <p:spPr>
          <a:xfrm>
            <a:off x="8334758" y="2984111"/>
            <a:ext cx="3667598" cy="274713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7" name="Text 8">
            <a:extLst>
              <a:ext uri="{FF2B5EF4-FFF2-40B4-BE49-F238E27FC236}">
                <a16:creationId xmlns:a16="http://schemas.microsoft.com/office/drawing/2014/main" id="{6F27062D-0FD7-0491-A847-D84DF26EAF51}"/>
              </a:ext>
            </a:extLst>
          </p:cNvPr>
          <p:cNvSpPr/>
          <p:nvPr/>
        </p:nvSpPr>
        <p:spPr>
          <a:xfrm>
            <a:off x="8831909" y="3222358"/>
            <a:ext cx="3591337" cy="253232"/>
          </a:xfrm>
          <a:prstGeom prst="rect">
            <a:avLst/>
          </a:prstGeom>
          <a:noFill/>
          <a:ln/>
        </p:spPr>
        <p:txBody>
          <a:bodyPr wrap="square" rtlCol="0" anchor="ctr"/>
          <a:lstStyle/>
          <a:p>
            <a:pPr marL="0" indent="0">
              <a:buNone/>
            </a:pPr>
            <a:r>
              <a:rPr lang="en-US" sz="1600" b="1" i="1">
                <a:solidFill>
                  <a:srgbClr val="3A7899"/>
                </a:solidFill>
                <a:latin typeface="Arial" panose="020B0604020202020204" pitchFamily="34" charset="0"/>
                <a:ea typeface="Calibri" pitchFamily="34" charset="-122"/>
                <a:cs typeface="Arial" panose="020B0604020202020204" pitchFamily="34" charset="0"/>
              </a:rPr>
              <a:t>Hardware</a:t>
            </a:r>
            <a:endParaRPr lang="en-US" sz="1600" i="1">
              <a:solidFill>
                <a:srgbClr val="3A7899"/>
              </a:solidFill>
              <a:latin typeface="Arial" panose="020B0604020202020204" pitchFamily="34" charset="0"/>
              <a:cs typeface="Arial" panose="020B0604020202020204" pitchFamily="34" charset="0"/>
            </a:endParaRPr>
          </a:p>
        </p:txBody>
      </p:sp>
      <p:sp>
        <p:nvSpPr>
          <p:cNvPr id="18" name="Text 8">
            <a:extLst>
              <a:ext uri="{FF2B5EF4-FFF2-40B4-BE49-F238E27FC236}">
                <a16:creationId xmlns:a16="http://schemas.microsoft.com/office/drawing/2014/main" id="{8ECBD5C7-BFAD-A5E9-DD74-A490E6C18655}"/>
              </a:ext>
            </a:extLst>
          </p:cNvPr>
          <p:cNvSpPr/>
          <p:nvPr/>
        </p:nvSpPr>
        <p:spPr>
          <a:xfrm>
            <a:off x="8849522" y="1433826"/>
            <a:ext cx="3591337" cy="253232"/>
          </a:xfrm>
          <a:prstGeom prst="rect">
            <a:avLst/>
          </a:prstGeom>
          <a:noFill/>
          <a:ln/>
        </p:spPr>
        <p:txBody>
          <a:bodyPr wrap="square" rtlCol="0" anchor="ctr"/>
          <a:lstStyle/>
          <a:p>
            <a:pPr marL="0" indent="0">
              <a:buNone/>
            </a:pPr>
            <a:r>
              <a:rPr lang="en-US" sz="1600" b="1" i="1">
                <a:solidFill>
                  <a:schemeClr val="bg2">
                    <a:lumMod val="50000"/>
                  </a:schemeClr>
                </a:solidFill>
                <a:latin typeface="Arial" panose="020B0604020202020204" pitchFamily="34" charset="0"/>
                <a:ea typeface="Calibri" pitchFamily="34" charset="-122"/>
                <a:cs typeface="Arial" panose="020B0604020202020204" pitchFamily="34" charset="0"/>
              </a:rPr>
              <a:t>Software</a:t>
            </a:r>
            <a:endParaRPr lang="en-US" sz="1600" i="1">
              <a:solidFill>
                <a:schemeClr val="bg2">
                  <a:lumMod val="50000"/>
                </a:schemeClr>
              </a:solidFill>
              <a:latin typeface="Arial" panose="020B0604020202020204" pitchFamily="34" charset="0"/>
              <a:cs typeface="Arial" panose="020B0604020202020204" pitchFamily="34" charset="0"/>
            </a:endParaRPr>
          </a:p>
        </p:txBody>
      </p:sp>
      <p:sp>
        <p:nvSpPr>
          <p:cNvPr id="20" name="Text 8">
            <a:extLst>
              <a:ext uri="{FF2B5EF4-FFF2-40B4-BE49-F238E27FC236}">
                <a16:creationId xmlns:a16="http://schemas.microsoft.com/office/drawing/2014/main" id="{38168BB9-E13F-C573-5C58-A0B69420D395}"/>
              </a:ext>
            </a:extLst>
          </p:cNvPr>
          <p:cNvSpPr/>
          <p:nvPr/>
        </p:nvSpPr>
        <p:spPr>
          <a:xfrm>
            <a:off x="494732" y="3353338"/>
            <a:ext cx="3591337" cy="567015"/>
          </a:xfrm>
          <a:prstGeom prst="rect">
            <a:avLst/>
          </a:prstGeom>
          <a:noFill/>
          <a:ln/>
        </p:spPr>
        <p:txBody>
          <a:bodyPr wrap="square" rtlCol="0" anchor="ctr"/>
          <a:lstStyle/>
          <a:p>
            <a:r>
              <a:rPr lang="en-HK" sz="1600" b="1" i="1">
                <a:solidFill>
                  <a:srgbClr val="3A7899"/>
                </a:solidFill>
                <a:latin typeface="Arial" panose="020B0604020202020204" pitchFamily="34" charset="0"/>
                <a:cs typeface="Arial" panose="020B0604020202020204" pitchFamily="34" charset="0"/>
              </a:rPr>
              <a:t>Middle East, oil, inflation</a:t>
            </a:r>
          </a:p>
        </p:txBody>
      </p:sp>
      <p:sp>
        <p:nvSpPr>
          <p:cNvPr id="24" name="TextBox 23">
            <a:extLst>
              <a:ext uri="{FF2B5EF4-FFF2-40B4-BE49-F238E27FC236}">
                <a16:creationId xmlns:a16="http://schemas.microsoft.com/office/drawing/2014/main" id="{D7929D71-01CB-E33F-474F-0D93AAEF7692}"/>
              </a:ext>
            </a:extLst>
          </p:cNvPr>
          <p:cNvSpPr txBox="1"/>
          <p:nvPr/>
        </p:nvSpPr>
        <p:spPr>
          <a:xfrm>
            <a:off x="373906" y="3778768"/>
            <a:ext cx="3524711" cy="1513235"/>
          </a:xfrm>
          <a:prstGeom prst="rect">
            <a:avLst/>
          </a:prstGeom>
          <a:noFill/>
        </p:spPr>
        <p:txBody>
          <a:bodyPr wrap="square">
            <a:spAutoFit/>
          </a:bodyPr>
          <a:lstStyle/>
          <a:p>
            <a:pPr marL="342900" indent="-342900">
              <a:spcAft>
                <a:spcPts val="500"/>
              </a:spcAft>
              <a:buSzPct val="100000"/>
              <a:buChar char="•"/>
            </a:pPr>
            <a:r>
              <a:rPr lang="en-US" sz="1400">
                <a:solidFill>
                  <a:schemeClr val="bg2">
                    <a:lumMod val="50000"/>
                  </a:schemeClr>
                </a:solidFill>
                <a:latin typeface="Arial" panose="020B0604020202020204" pitchFamily="34" charset="0"/>
                <a:ea typeface="Calibri" pitchFamily="34" charset="-122"/>
                <a:cs typeface="Arial" panose="020B0604020202020204" pitchFamily="34" charset="0"/>
              </a:rPr>
              <a:t>US , Iran conflict and Strait of Hormuz risk drive oil volatility</a:t>
            </a:r>
            <a:endParaRPr lang="en-US" sz="1400">
              <a:solidFill>
                <a:schemeClr val="bg2">
                  <a:lumMod val="50000"/>
                </a:schemeClr>
              </a:solidFill>
              <a:latin typeface="Arial" panose="020B0604020202020204" pitchFamily="34" charset="0"/>
              <a:cs typeface="Arial" panose="020B0604020202020204" pitchFamily="34" charset="0"/>
            </a:endParaRPr>
          </a:p>
          <a:p>
            <a:pPr marL="342900" indent="-342900">
              <a:spcAft>
                <a:spcPts val="500"/>
              </a:spcAft>
              <a:buSzPct val="100000"/>
              <a:buChar char="•"/>
            </a:pPr>
            <a:r>
              <a:rPr lang="en-US" sz="1400">
                <a:solidFill>
                  <a:schemeClr val="bg2">
                    <a:lumMod val="50000"/>
                  </a:schemeClr>
                </a:solidFill>
                <a:latin typeface="Arial" panose="020B0604020202020204" pitchFamily="34" charset="0"/>
                <a:ea typeface="Calibri" pitchFamily="34" charset="-122"/>
                <a:cs typeface="Arial" panose="020B0604020202020204" pitchFamily="34" charset="0"/>
              </a:rPr>
              <a:t>Sticky core inflation keeps long-end yields high</a:t>
            </a:r>
            <a:endParaRPr lang="en-US" sz="1400">
              <a:solidFill>
                <a:schemeClr val="bg2">
                  <a:lumMod val="50000"/>
                </a:schemeClr>
              </a:solidFill>
              <a:latin typeface="Arial" panose="020B0604020202020204" pitchFamily="34" charset="0"/>
              <a:cs typeface="Arial" panose="020B0604020202020204" pitchFamily="34" charset="0"/>
            </a:endParaRPr>
          </a:p>
          <a:p>
            <a:pPr marL="342900" indent="-342900">
              <a:spcAft>
                <a:spcPts val="500"/>
              </a:spcAft>
              <a:buSzPct val="100000"/>
              <a:buChar char="•"/>
            </a:pPr>
            <a:r>
              <a:rPr lang="en-US" sz="1400">
                <a:solidFill>
                  <a:schemeClr val="bg2">
                    <a:lumMod val="50000"/>
                  </a:schemeClr>
                </a:solidFill>
                <a:latin typeface="Arial" panose="020B0604020202020204" pitchFamily="34" charset="0"/>
                <a:ea typeface="Calibri" pitchFamily="34" charset="-122"/>
                <a:cs typeface="Arial" panose="020B0604020202020204" pitchFamily="34" charset="0"/>
              </a:rPr>
              <a:t>Rewards real pricing power; </a:t>
            </a:r>
            <a:r>
              <a:rPr lang="en-US" sz="1400" err="1">
                <a:solidFill>
                  <a:schemeClr val="bg2">
                    <a:lumMod val="50000"/>
                  </a:schemeClr>
                </a:solidFill>
                <a:latin typeface="Arial" panose="020B0604020202020204" pitchFamily="34" charset="0"/>
                <a:ea typeface="Calibri" pitchFamily="34" charset="-122"/>
                <a:cs typeface="Arial" panose="020B0604020202020204" pitchFamily="34" charset="0"/>
              </a:rPr>
              <a:t>penalises</a:t>
            </a:r>
            <a:r>
              <a:rPr lang="en-US" sz="1400">
                <a:solidFill>
                  <a:schemeClr val="bg2">
                    <a:lumMod val="50000"/>
                  </a:schemeClr>
                </a:solidFill>
                <a:latin typeface="Arial" panose="020B0604020202020204" pitchFamily="34" charset="0"/>
                <a:ea typeface="Calibri" pitchFamily="34" charset="-122"/>
                <a:cs typeface="Arial" panose="020B0604020202020204" pitchFamily="34" charset="0"/>
              </a:rPr>
              <a:t> cash-burning growth</a:t>
            </a:r>
            <a:endParaRPr lang="en-US" sz="1400">
              <a:solidFill>
                <a:schemeClr val="bg2">
                  <a:lumMod val="50000"/>
                </a:schemeClr>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0A589B87-3ED2-9887-294B-F4F5456C091E}"/>
              </a:ext>
            </a:extLst>
          </p:cNvPr>
          <p:cNvSpPr txBox="1"/>
          <p:nvPr/>
        </p:nvSpPr>
        <p:spPr>
          <a:xfrm>
            <a:off x="495925" y="1423438"/>
            <a:ext cx="3054425" cy="338554"/>
          </a:xfrm>
          <a:prstGeom prst="rect">
            <a:avLst/>
          </a:prstGeom>
          <a:noFill/>
        </p:spPr>
        <p:txBody>
          <a:bodyPr wrap="square">
            <a:spAutoFit/>
          </a:bodyPr>
          <a:lstStyle/>
          <a:p>
            <a:r>
              <a:rPr lang="en-HK" sz="1600" b="1" i="1">
                <a:solidFill>
                  <a:srgbClr val="3A7899"/>
                </a:solidFill>
                <a:latin typeface="Arial"/>
                <a:cs typeface="Arial"/>
              </a:rPr>
              <a:t>US elections</a:t>
            </a:r>
            <a:endParaRPr lang="en-HK">
              <a:solidFill>
                <a:srgbClr val="3A7899"/>
              </a:solidFill>
              <a:latin typeface="Arial"/>
              <a:cs typeface="Arial"/>
            </a:endParaRPr>
          </a:p>
        </p:txBody>
      </p:sp>
      <p:sp>
        <p:nvSpPr>
          <p:cNvPr id="32" name="TextBox 31">
            <a:extLst>
              <a:ext uri="{FF2B5EF4-FFF2-40B4-BE49-F238E27FC236}">
                <a16:creationId xmlns:a16="http://schemas.microsoft.com/office/drawing/2014/main" id="{CB3D2E0B-7CC4-EDF0-E58A-F0CBE72A6C54}"/>
              </a:ext>
            </a:extLst>
          </p:cNvPr>
          <p:cNvSpPr txBox="1"/>
          <p:nvPr/>
        </p:nvSpPr>
        <p:spPr>
          <a:xfrm>
            <a:off x="1218260" y="853690"/>
            <a:ext cx="1948721" cy="338554"/>
          </a:xfrm>
          <a:prstGeom prst="rect">
            <a:avLst/>
          </a:prstGeom>
          <a:solidFill>
            <a:schemeClr val="bg1"/>
          </a:solidFill>
        </p:spPr>
        <p:txBody>
          <a:bodyPr wrap="square" rtlCol="0">
            <a:spAutoFit/>
          </a:bodyPr>
          <a:lstStyle/>
          <a:p>
            <a:pPr algn="ctr"/>
            <a:r>
              <a:rPr lang="en-HK" sz="1600" b="1" i="1" dirty="0">
                <a:solidFill>
                  <a:schemeClr val="accent1"/>
                </a:solidFill>
              </a:rPr>
              <a:t>Geopolitics</a:t>
            </a:r>
          </a:p>
        </p:txBody>
      </p:sp>
      <p:sp>
        <p:nvSpPr>
          <p:cNvPr id="34" name="TextBox 33">
            <a:extLst>
              <a:ext uri="{FF2B5EF4-FFF2-40B4-BE49-F238E27FC236}">
                <a16:creationId xmlns:a16="http://schemas.microsoft.com/office/drawing/2014/main" id="{4F7F3611-171D-BCAB-3FC9-1AEEA424E83E}"/>
              </a:ext>
            </a:extLst>
          </p:cNvPr>
          <p:cNvSpPr txBox="1"/>
          <p:nvPr/>
        </p:nvSpPr>
        <p:spPr>
          <a:xfrm>
            <a:off x="5233821" y="816876"/>
            <a:ext cx="1948721" cy="338554"/>
          </a:xfrm>
          <a:prstGeom prst="rect">
            <a:avLst/>
          </a:prstGeom>
          <a:solidFill>
            <a:schemeClr val="bg1"/>
          </a:solidFill>
        </p:spPr>
        <p:txBody>
          <a:bodyPr wrap="square" rtlCol="0">
            <a:spAutoFit/>
          </a:bodyPr>
          <a:lstStyle/>
          <a:p>
            <a:pPr algn="ctr"/>
            <a:r>
              <a:rPr lang="en-HK" sz="1600" b="1" i="1">
                <a:solidFill>
                  <a:schemeClr val="accent1"/>
                </a:solidFill>
              </a:rPr>
              <a:t>AI pivots</a:t>
            </a:r>
          </a:p>
        </p:txBody>
      </p:sp>
      <p:sp>
        <p:nvSpPr>
          <p:cNvPr id="48" name="TextBox 47">
            <a:extLst>
              <a:ext uri="{FF2B5EF4-FFF2-40B4-BE49-F238E27FC236}">
                <a16:creationId xmlns:a16="http://schemas.microsoft.com/office/drawing/2014/main" id="{B8A3844A-962E-95DD-BDB1-E1EF0C506994}"/>
              </a:ext>
            </a:extLst>
          </p:cNvPr>
          <p:cNvSpPr txBox="1"/>
          <p:nvPr/>
        </p:nvSpPr>
        <p:spPr>
          <a:xfrm>
            <a:off x="8380828" y="1797343"/>
            <a:ext cx="3590542" cy="307777"/>
          </a:xfrm>
          <a:prstGeom prst="rect">
            <a:avLst/>
          </a:prstGeom>
          <a:noFill/>
        </p:spPr>
        <p:txBody>
          <a:bodyPr wrap="square">
            <a:spAutoFit/>
          </a:bodyPr>
          <a:lstStyle>
            <a:defPPr>
              <a:defRPr lang="en-US"/>
            </a:defPPr>
            <a:lvl1pPr>
              <a:defRPr sz="1400">
                <a:solidFill>
                  <a:schemeClr val="bg1">
                    <a:lumMod val="65000"/>
                  </a:schemeClr>
                </a:solidFill>
                <a:latin typeface="Arial" panose="020B0604020202020204" pitchFamily="34" charset="0"/>
                <a:ea typeface="Calibri" pitchFamily="34" charset="-122"/>
                <a:cs typeface="Arial" panose="020B0604020202020204" pitchFamily="34" charset="0"/>
              </a:defRPr>
            </a:lvl1pPr>
          </a:lstStyle>
          <a:p>
            <a:pPr marL="285750" indent="-285750">
              <a:buFont typeface="Arial" panose="020B0604020202020204" pitchFamily="34" charset="0"/>
              <a:buChar char="•"/>
            </a:pPr>
            <a:r>
              <a:rPr lang="en-HK" dirty="0"/>
              <a:t>Cycle faced a valuation rationalization</a:t>
            </a:r>
          </a:p>
        </p:txBody>
      </p:sp>
      <p:sp>
        <p:nvSpPr>
          <p:cNvPr id="50" name="TextBox 49">
            <a:extLst>
              <a:ext uri="{FF2B5EF4-FFF2-40B4-BE49-F238E27FC236}">
                <a16:creationId xmlns:a16="http://schemas.microsoft.com/office/drawing/2014/main" id="{6A68B236-C014-5DF8-050E-E3B982964221}"/>
              </a:ext>
            </a:extLst>
          </p:cNvPr>
          <p:cNvSpPr txBox="1"/>
          <p:nvPr/>
        </p:nvSpPr>
        <p:spPr>
          <a:xfrm>
            <a:off x="8380828" y="2129252"/>
            <a:ext cx="3668578" cy="523220"/>
          </a:xfrm>
          <a:prstGeom prst="rect">
            <a:avLst/>
          </a:prstGeom>
          <a:noFill/>
        </p:spPr>
        <p:txBody>
          <a:bodyPr wrap="square">
            <a:spAutoFit/>
          </a:bodyPr>
          <a:lstStyle>
            <a:defPPr>
              <a:defRPr lang="en-US"/>
            </a:defPPr>
            <a:lvl1pPr marL="285750" indent="-285750">
              <a:buFont typeface="Arial" panose="020B0604020202020204" pitchFamily="34" charset="0"/>
              <a:buChar char="•"/>
              <a:defRPr sz="1400">
                <a:solidFill>
                  <a:schemeClr val="bg1">
                    <a:lumMod val="65000"/>
                  </a:schemeClr>
                </a:solidFill>
                <a:latin typeface="Arial" panose="020B0604020202020204" pitchFamily="34" charset="0"/>
                <a:ea typeface="Calibri" pitchFamily="34" charset="-122"/>
                <a:cs typeface="Arial" panose="020B0604020202020204" pitchFamily="34" charset="0"/>
              </a:defRPr>
            </a:lvl1pPr>
          </a:lstStyle>
          <a:p>
            <a:r>
              <a:rPr lang="en-US"/>
              <a:t>High-multiple AI software de-rates on higher discount rates</a:t>
            </a:r>
          </a:p>
        </p:txBody>
      </p:sp>
      <p:sp>
        <p:nvSpPr>
          <p:cNvPr id="52" name="TextBox 51">
            <a:extLst>
              <a:ext uri="{FF2B5EF4-FFF2-40B4-BE49-F238E27FC236}">
                <a16:creationId xmlns:a16="http://schemas.microsoft.com/office/drawing/2014/main" id="{DDB8B073-7DB6-B458-2F26-26AB366E1135}"/>
              </a:ext>
            </a:extLst>
          </p:cNvPr>
          <p:cNvSpPr txBox="1"/>
          <p:nvPr/>
        </p:nvSpPr>
        <p:spPr>
          <a:xfrm>
            <a:off x="8467176" y="3459173"/>
            <a:ext cx="3417847" cy="2031325"/>
          </a:xfrm>
          <a:prstGeom prst="rect">
            <a:avLst/>
          </a:prstGeom>
          <a:noFill/>
        </p:spPr>
        <p:txBody>
          <a:bodyPr wrap="square">
            <a:spAutoFit/>
          </a:bodyPr>
          <a:lstStyle/>
          <a:p>
            <a:endParaRPr lang="en-HK" sz="1400" dirty="0">
              <a:solidFill>
                <a:srgbClr val="3A7899"/>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HK" sz="1400" dirty="0">
                <a:solidFill>
                  <a:srgbClr val="3A7899"/>
                </a:solidFill>
                <a:latin typeface="Arial" panose="020B0604020202020204" pitchFamily="34" charset="0"/>
                <a:cs typeface="Arial" panose="020B0604020202020204" pitchFamily="34" charset="0"/>
              </a:rPr>
              <a:t>AI performance is no longer driven by coding apps, but by hardware, localized grid/power infrastructure etc. </a:t>
            </a:r>
          </a:p>
          <a:p>
            <a:pPr marL="285750" indent="-285750">
              <a:buFont typeface="Arial" panose="020B0604020202020204" pitchFamily="34" charset="0"/>
              <a:buChar char="•"/>
            </a:pPr>
            <a:endParaRPr lang="en-HK" sz="1400" dirty="0">
              <a:solidFill>
                <a:srgbClr val="3A7899"/>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solidFill>
                  <a:srgbClr val="3A7899"/>
                </a:solidFill>
                <a:latin typeface="Arial" panose="020B0604020202020204" pitchFamily="34" charset="0"/>
                <a:cs typeface="Arial" panose="020B0604020202020204" pitchFamily="34" charset="0"/>
              </a:rPr>
              <a:t>Capex shifts decisively to chips, HBM memory, equipment, servers</a:t>
            </a:r>
          </a:p>
          <a:p>
            <a:pPr marL="285750" indent="-285750">
              <a:buFont typeface="Arial" panose="020B0604020202020204" pitchFamily="34" charset="0"/>
              <a:buChar char="•"/>
            </a:pPr>
            <a:endParaRPr lang="en-HK" sz="1400" dirty="0">
              <a:solidFill>
                <a:srgbClr val="3A7899"/>
              </a:solidFill>
              <a:latin typeface="Arial" panose="020B0604020202020204" pitchFamily="34" charset="0"/>
              <a:cs typeface="Arial" panose="020B0604020202020204" pitchFamily="34" charset="0"/>
            </a:endParaRPr>
          </a:p>
        </p:txBody>
      </p:sp>
      <p:pic>
        <p:nvPicPr>
          <p:cNvPr id="53" name="Picture 52">
            <a:extLst>
              <a:ext uri="{FF2B5EF4-FFF2-40B4-BE49-F238E27FC236}">
                <a16:creationId xmlns:a16="http://schemas.microsoft.com/office/drawing/2014/main" id="{A05BD46B-9588-310D-325D-D7101715CF14}"/>
              </a:ext>
            </a:extLst>
          </p:cNvPr>
          <p:cNvPicPr>
            <a:picLocks noChangeAspect="1"/>
          </p:cNvPicPr>
          <p:nvPr/>
        </p:nvPicPr>
        <p:blipFill>
          <a:blip r:embed="rId2">
            <a:duotone>
              <a:schemeClr val="accent1">
                <a:shade val="45000"/>
                <a:satMod val="135000"/>
              </a:schemeClr>
              <a:prstClr val="white"/>
            </a:duotone>
          </a:blip>
          <a:stretch>
            <a:fillRect/>
          </a:stretch>
        </p:blipFill>
        <p:spPr>
          <a:xfrm>
            <a:off x="8505720" y="3185879"/>
            <a:ext cx="326189" cy="326189"/>
          </a:xfrm>
          <a:prstGeom prst="rect">
            <a:avLst/>
          </a:prstGeom>
        </p:spPr>
      </p:pic>
      <p:pic>
        <p:nvPicPr>
          <p:cNvPr id="54" name="Picture 53">
            <a:extLst>
              <a:ext uri="{FF2B5EF4-FFF2-40B4-BE49-F238E27FC236}">
                <a16:creationId xmlns:a16="http://schemas.microsoft.com/office/drawing/2014/main" id="{5978B67F-8499-1814-46FC-DC6205866998}"/>
              </a:ext>
            </a:extLst>
          </p:cNvPr>
          <p:cNvPicPr>
            <a:picLocks noChangeAspect="1"/>
          </p:cNvPicPr>
          <p:nvPr/>
        </p:nvPicPr>
        <p:blipFill>
          <a:blip r:embed="rId3">
            <a:duotone>
              <a:schemeClr val="bg2">
                <a:shade val="45000"/>
                <a:satMod val="135000"/>
              </a:schemeClr>
              <a:prstClr val="white"/>
            </a:duotone>
          </a:blip>
          <a:stretch>
            <a:fillRect/>
          </a:stretch>
        </p:blipFill>
        <p:spPr>
          <a:xfrm>
            <a:off x="8467176" y="1379214"/>
            <a:ext cx="382346" cy="382346"/>
          </a:xfrm>
          <a:prstGeom prst="rect">
            <a:avLst/>
          </a:prstGeom>
        </p:spPr>
      </p:pic>
      <p:sp>
        <p:nvSpPr>
          <p:cNvPr id="57" name="TextBox 56">
            <a:extLst>
              <a:ext uri="{FF2B5EF4-FFF2-40B4-BE49-F238E27FC236}">
                <a16:creationId xmlns:a16="http://schemas.microsoft.com/office/drawing/2014/main" id="{A9FBB36E-31E8-89ED-8B76-74322D568E0B}"/>
              </a:ext>
            </a:extLst>
          </p:cNvPr>
          <p:cNvSpPr txBox="1"/>
          <p:nvPr/>
        </p:nvSpPr>
        <p:spPr>
          <a:xfrm>
            <a:off x="3044687" y="6951098"/>
            <a:ext cx="6102626" cy="4801314"/>
          </a:xfrm>
          <a:prstGeom prst="rect">
            <a:avLst/>
          </a:prstGeom>
          <a:noFill/>
        </p:spPr>
        <p:txBody>
          <a:bodyPr wrap="square">
            <a:spAutoFit/>
          </a:bodyPr>
          <a:lstStyle/>
          <a:p>
            <a:pPr indent="0" algn="l">
              <a:buNone/>
            </a:pPr>
            <a:r>
              <a:rPr lang="en-HK" b="1" i="0">
                <a:solidFill>
                  <a:schemeClr val="tx1"/>
                </a:solidFill>
                <a:effectLst/>
              </a:rPr>
              <a:t>1. The market is huge — and most of the money is not in models.</a:t>
            </a:r>
            <a:br>
              <a:rPr lang="en-HK" b="0" i="0">
                <a:solidFill>
                  <a:schemeClr val="tx1"/>
                </a:solidFill>
                <a:effectLst/>
              </a:rPr>
            </a:br>
            <a:r>
              <a:rPr lang="en-HK" b="0" i="0">
                <a:solidFill>
                  <a:schemeClr val="tx1"/>
                </a:solidFill>
                <a:effectLst/>
              </a:rPr>
              <a:t>Worldwide AI spend is about </a:t>
            </a:r>
            <a:r>
              <a:rPr lang="en-HK" b="1" i="0">
                <a:solidFill>
                  <a:schemeClr val="tx1"/>
                </a:solidFill>
                <a:effectLst/>
              </a:rPr>
              <a:t>USD 2.7tn in 2026</a:t>
            </a:r>
            <a:r>
              <a:rPr lang="en-HK" b="0" i="0">
                <a:solidFill>
                  <a:schemeClr val="tx1"/>
                </a:solidFill>
                <a:effectLst/>
              </a:rPr>
              <a:t>. Infrastructure takes roughly </a:t>
            </a:r>
            <a:r>
              <a:rPr lang="en-HK" b="1" i="0">
                <a:solidFill>
                  <a:schemeClr val="tx1"/>
                </a:solidFill>
                <a:effectLst/>
              </a:rPr>
              <a:t>half</a:t>
            </a:r>
            <a:r>
              <a:rPr lang="en-HK" b="0" i="0">
                <a:solidFill>
                  <a:schemeClr val="tx1"/>
                </a:solidFill>
                <a:effectLst/>
              </a:rPr>
              <a:t>. Services and software follow. Models and agents are still small.</a:t>
            </a:r>
          </a:p>
          <a:p>
            <a:pPr indent="0" algn="l">
              <a:buNone/>
            </a:pPr>
            <a:r>
              <a:rPr lang="en-HK" b="1" i="0">
                <a:solidFill>
                  <a:schemeClr val="tx1"/>
                </a:solidFill>
                <a:effectLst/>
              </a:rPr>
              <a:t>2. The bottleneck is no longer “can we train a model?”</a:t>
            </a:r>
            <a:br>
              <a:rPr lang="en-HK" b="0" i="0">
                <a:solidFill>
                  <a:schemeClr val="tx1"/>
                </a:solidFill>
                <a:effectLst/>
              </a:rPr>
            </a:br>
            <a:r>
              <a:rPr lang="en-HK" b="0" i="0">
                <a:solidFill>
                  <a:schemeClr val="tx1"/>
                </a:solidFill>
                <a:effectLst/>
              </a:rPr>
              <a:t>It is </a:t>
            </a:r>
            <a:r>
              <a:rPr lang="en-HK" b="1" i="0">
                <a:solidFill>
                  <a:schemeClr val="tx1"/>
                </a:solidFill>
                <a:effectLst/>
              </a:rPr>
              <a:t>power, grid connections, sites, cooling, networks and packaging</a:t>
            </a:r>
            <a:r>
              <a:rPr lang="en-HK" b="0" i="0">
                <a:solidFill>
                  <a:schemeClr val="tx1"/>
                </a:solidFill>
                <a:effectLst/>
              </a:rPr>
              <a:t>. Chips still matter; you cannot plug them in fast enough. Inference (using AI every day) is overtaking training as the demand that has to be built for.</a:t>
            </a:r>
          </a:p>
          <a:p>
            <a:pPr indent="0" algn="l">
              <a:buNone/>
            </a:pPr>
            <a:r>
              <a:rPr lang="en-HK" b="1" i="0">
                <a:solidFill>
                  <a:schemeClr val="tx1"/>
                </a:solidFill>
                <a:effectLst/>
              </a:rPr>
              <a:t>3. Cash has moved faster than proven profit.</a:t>
            </a:r>
            <a:br>
              <a:rPr lang="en-HK" b="0" i="0">
                <a:solidFill>
                  <a:schemeClr val="tx1"/>
                </a:solidFill>
                <a:effectLst/>
              </a:rPr>
            </a:br>
            <a:r>
              <a:rPr lang="en-HK" b="0" i="0" err="1">
                <a:solidFill>
                  <a:schemeClr val="tx1"/>
                </a:solidFill>
                <a:effectLst/>
              </a:rPr>
              <a:t>Hyperscalers</a:t>
            </a:r>
            <a:r>
              <a:rPr lang="en-HK" b="0" i="0">
                <a:solidFill>
                  <a:schemeClr val="tx1"/>
                </a:solidFill>
                <a:effectLst/>
              </a:rPr>
              <a:t> are building </a:t>
            </a:r>
            <a:r>
              <a:rPr lang="en-HK" b="1" i="0">
                <a:solidFill>
                  <a:schemeClr val="tx1"/>
                </a:solidFill>
                <a:effectLst/>
              </a:rPr>
              <a:t>ahead of demand</a:t>
            </a:r>
            <a:r>
              <a:rPr lang="en-HK" b="0" i="0">
                <a:solidFill>
                  <a:schemeClr val="tx1"/>
                </a:solidFill>
                <a:effectLst/>
              </a:rPr>
              <a:t>. Adoption is wide; many projects are still pilots. The cycle only pays off if AI creates </a:t>
            </a:r>
            <a:r>
              <a:rPr lang="en-HK" b="1" i="0">
                <a:solidFill>
                  <a:schemeClr val="tx1"/>
                </a:solidFill>
                <a:effectLst/>
              </a:rPr>
              <a:t>new real-economy revenue</a:t>
            </a:r>
            <a:r>
              <a:rPr lang="en-HK" b="0" i="0">
                <a:solidFill>
                  <a:schemeClr val="tx1"/>
                </a:solidFill>
                <a:effectLst/>
              </a:rPr>
              <a:t> (factories, grids, science) — which is why a family that already owns plants and infrastructure in Asia sits closer to the scarce part of the market than a software multiple does.</a:t>
            </a:r>
            <a:endParaRPr lang="en-HK" b="0" i="0">
              <a:solidFill>
                <a:srgbClr val="000000"/>
              </a:solidFill>
              <a:effectLst/>
            </a:endParaRPr>
          </a:p>
        </p:txBody>
      </p:sp>
      <p:sp>
        <p:nvSpPr>
          <p:cNvPr id="59" name="TextBox 58">
            <a:extLst>
              <a:ext uri="{FF2B5EF4-FFF2-40B4-BE49-F238E27FC236}">
                <a16:creationId xmlns:a16="http://schemas.microsoft.com/office/drawing/2014/main" id="{CA5B236E-49BB-B690-E753-0ED61DC1524F}"/>
              </a:ext>
            </a:extLst>
          </p:cNvPr>
          <p:cNvSpPr txBox="1"/>
          <p:nvPr/>
        </p:nvSpPr>
        <p:spPr>
          <a:xfrm>
            <a:off x="4375704" y="1987105"/>
            <a:ext cx="3622005" cy="769441"/>
          </a:xfrm>
          <a:prstGeom prst="rect">
            <a:avLst/>
          </a:prstGeom>
          <a:noFill/>
        </p:spPr>
        <p:txBody>
          <a:bodyPr wrap="square">
            <a:spAutoFit/>
          </a:bodyPr>
          <a:lstStyle/>
          <a:p>
            <a:pPr indent="0" algn="l">
              <a:buNone/>
            </a:pPr>
            <a:r>
              <a:rPr lang="en-HK" sz="1600" b="1" i="1">
                <a:solidFill>
                  <a:srgbClr val="3A7899"/>
                </a:solidFill>
              </a:rPr>
              <a:t>M</a:t>
            </a:r>
            <a:r>
              <a:rPr lang="en-HK" sz="1600" b="1" i="1">
                <a:solidFill>
                  <a:srgbClr val="3A7899"/>
                </a:solidFill>
                <a:effectLst/>
              </a:rPr>
              <a:t>ost of the money is not in models</a:t>
            </a:r>
            <a:br>
              <a:rPr lang="en-HK" sz="1600" b="0" i="0">
                <a:solidFill>
                  <a:schemeClr val="tx1"/>
                </a:solidFill>
                <a:effectLst/>
              </a:rPr>
            </a:br>
            <a:r>
              <a:rPr lang="en-HK" sz="1400" i="0">
                <a:solidFill>
                  <a:schemeClr val="bg2">
                    <a:lumMod val="50000"/>
                  </a:schemeClr>
                </a:solidFill>
                <a:effectLst/>
              </a:rPr>
              <a:t>Worldwide AI spend is about USD 2.7tn in 2026. Infrastructure takes roughly half. </a:t>
            </a:r>
            <a:endParaRPr lang="en-HK" sz="1600" i="0">
              <a:solidFill>
                <a:schemeClr val="bg2">
                  <a:lumMod val="50000"/>
                </a:schemeClr>
              </a:solidFill>
              <a:effectLst/>
            </a:endParaRPr>
          </a:p>
        </p:txBody>
      </p:sp>
      <p:sp>
        <p:nvSpPr>
          <p:cNvPr id="61" name="TextBox 60">
            <a:extLst>
              <a:ext uri="{FF2B5EF4-FFF2-40B4-BE49-F238E27FC236}">
                <a16:creationId xmlns:a16="http://schemas.microsoft.com/office/drawing/2014/main" id="{7BE218F4-A8F3-75D8-F19E-C5AAB5DD28A4}"/>
              </a:ext>
            </a:extLst>
          </p:cNvPr>
          <p:cNvSpPr txBox="1"/>
          <p:nvPr/>
        </p:nvSpPr>
        <p:spPr>
          <a:xfrm>
            <a:off x="4375704" y="3459173"/>
            <a:ext cx="3621559" cy="984885"/>
          </a:xfrm>
          <a:prstGeom prst="rect">
            <a:avLst/>
          </a:prstGeom>
          <a:noFill/>
        </p:spPr>
        <p:txBody>
          <a:bodyPr wrap="square">
            <a:spAutoFit/>
          </a:bodyPr>
          <a:lstStyle/>
          <a:p>
            <a:r>
              <a:rPr lang="en-HK" sz="1600" b="1" i="1">
                <a:solidFill>
                  <a:srgbClr val="3A7899"/>
                </a:solidFill>
              </a:rPr>
              <a:t>Building ahead of demand</a:t>
            </a:r>
          </a:p>
          <a:p>
            <a:r>
              <a:rPr lang="en-HK" sz="1400">
                <a:solidFill>
                  <a:schemeClr val="bg2">
                    <a:lumMod val="50000"/>
                  </a:schemeClr>
                </a:solidFill>
              </a:rPr>
              <a:t>Many projects are still pilots. The cycle only pays off if AI creates new real-economy revenue (factories, grids, science)</a:t>
            </a:r>
          </a:p>
        </p:txBody>
      </p:sp>
      <p:sp>
        <p:nvSpPr>
          <p:cNvPr id="65" name="TextBox 64">
            <a:extLst>
              <a:ext uri="{FF2B5EF4-FFF2-40B4-BE49-F238E27FC236}">
                <a16:creationId xmlns:a16="http://schemas.microsoft.com/office/drawing/2014/main" id="{122858C4-A751-47C9-34AA-77DC888B7079}"/>
              </a:ext>
            </a:extLst>
          </p:cNvPr>
          <p:cNvSpPr txBox="1"/>
          <p:nvPr/>
        </p:nvSpPr>
        <p:spPr>
          <a:xfrm>
            <a:off x="4392350" y="4895711"/>
            <a:ext cx="3621558" cy="738664"/>
          </a:xfrm>
          <a:prstGeom prst="rect">
            <a:avLst/>
          </a:prstGeom>
          <a:noFill/>
        </p:spPr>
        <p:txBody>
          <a:bodyPr wrap="square">
            <a:spAutoFit/>
          </a:bodyPr>
          <a:lstStyle/>
          <a:p>
            <a:pPr indent="0" algn="l">
              <a:buNone/>
            </a:pPr>
            <a:r>
              <a:rPr lang="en-HK" sz="1400" i="1">
                <a:solidFill>
                  <a:schemeClr val="accent1">
                    <a:lumMod val="75000"/>
                  </a:schemeClr>
                </a:solidFill>
              </a:rPr>
              <a:t>C</a:t>
            </a:r>
            <a:r>
              <a:rPr lang="en-HK" sz="1400" i="1">
                <a:solidFill>
                  <a:schemeClr val="accent1">
                    <a:lumMod val="75000"/>
                  </a:schemeClr>
                </a:solidFill>
                <a:effectLst/>
              </a:rPr>
              <a:t>lient already owns plants and infrastructure in Asia </a:t>
            </a:r>
            <a:r>
              <a:rPr lang="en-HK" sz="1400" i="1">
                <a:solidFill>
                  <a:schemeClr val="accent1">
                    <a:lumMod val="75000"/>
                  </a:schemeClr>
                </a:solidFill>
              </a:rPr>
              <a:t>s</a:t>
            </a:r>
            <a:r>
              <a:rPr lang="en-HK" sz="1400" i="1">
                <a:solidFill>
                  <a:schemeClr val="accent1">
                    <a:lumMod val="75000"/>
                  </a:schemeClr>
                </a:solidFill>
                <a:effectLst/>
              </a:rPr>
              <a:t>its closer to the scarce part of the market</a:t>
            </a:r>
          </a:p>
        </p:txBody>
      </p:sp>
      <p:pic>
        <p:nvPicPr>
          <p:cNvPr id="66" name="Picture 65">
            <a:extLst>
              <a:ext uri="{FF2B5EF4-FFF2-40B4-BE49-F238E27FC236}">
                <a16:creationId xmlns:a16="http://schemas.microsoft.com/office/drawing/2014/main" id="{37122748-2E0F-760D-350C-4B39F07AC01A}"/>
              </a:ext>
            </a:extLst>
          </p:cNvPr>
          <p:cNvPicPr>
            <a:picLocks noChangeAspect="1"/>
          </p:cNvPicPr>
          <p:nvPr/>
        </p:nvPicPr>
        <p:blipFill>
          <a:blip r:embed="rId4">
            <a:duotone>
              <a:schemeClr val="accent1">
                <a:shade val="45000"/>
                <a:satMod val="135000"/>
              </a:schemeClr>
              <a:prstClr val="white"/>
            </a:duotone>
          </a:blip>
          <a:stretch>
            <a:fillRect/>
          </a:stretch>
        </p:blipFill>
        <p:spPr>
          <a:xfrm>
            <a:off x="5811208" y="1404924"/>
            <a:ext cx="569584" cy="569584"/>
          </a:xfrm>
          <a:prstGeom prst="rect">
            <a:avLst/>
          </a:prstGeom>
        </p:spPr>
      </p:pic>
      <p:pic>
        <p:nvPicPr>
          <p:cNvPr id="68" name="Picture 67">
            <a:extLst>
              <a:ext uri="{FF2B5EF4-FFF2-40B4-BE49-F238E27FC236}">
                <a16:creationId xmlns:a16="http://schemas.microsoft.com/office/drawing/2014/main" id="{2B0523D1-16C1-B2A4-30CE-17BFDEB015C9}"/>
              </a:ext>
            </a:extLst>
          </p:cNvPr>
          <p:cNvPicPr>
            <a:picLocks noChangeAspect="1"/>
          </p:cNvPicPr>
          <p:nvPr/>
        </p:nvPicPr>
        <p:blipFill>
          <a:blip r:embed="rId5">
            <a:duotone>
              <a:schemeClr val="accent1">
                <a:shade val="45000"/>
                <a:satMod val="135000"/>
              </a:schemeClr>
              <a:prstClr val="white"/>
            </a:duotone>
          </a:blip>
          <a:stretch>
            <a:fillRect/>
          </a:stretch>
        </p:blipFill>
        <p:spPr>
          <a:xfrm>
            <a:off x="5777734" y="2817454"/>
            <a:ext cx="633191" cy="633191"/>
          </a:xfrm>
          <a:prstGeom prst="rect">
            <a:avLst/>
          </a:prstGeom>
        </p:spPr>
      </p:pic>
      <p:cxnSp>
        <p:nvCxnSpPr>
          <p:cNvPr id="71" name="Straight Connector 70">
            <a:extLst>
              <a:ext uri="{FF2B5EF4-FFF2-40B4-BE49-F238E27FC236}">
                <a16:creationId xmlns:a16="http://schemas.microsoft.com/office/drawing/2014/main" id="{BA159E3A-E5BF-B0FA-4855-826B2DF84209}"/>
              </a:ext>
            </a:extLst>
          </p:cNvPr>
          <p:cNvCxnSpPr>
            <a:cxnSpLocks/>
          </p:cNvCxnSpPr>
          <p:nvPr/>
        </p:nvCxnSpPr>
        <p:spPr>
          <a:xfrm>
            <a:off x="8147305" y="816211"/>
            <a:ext cx="0" cy="4915032"/>
          </a:xfrm>
          <a:prstGeom prst="line">
            <a:avLst/>
          </a:prstGeom>
          <a:ln w="9525"/>
        </p:spPr>
        <p:style>
          <a:lnRef idx="2">
            <a:schemeClr val="accent1"/>
          </a:lnRef>
          <a:fillRef idx="0">
            <a:schemeClr val="accent1"/>
          </a:fillRef>
          <a:effectRef idx="1">
            <a:schemeClr val="accent1"/>
          </a:effectRef>
          <a:fontRef idx="minor">
            <a:schemeClr val="tx1"/>
          </a:fontRef>
        </p:style>
      </p:cxnSp>
      <p:pic>
        <p:nvPicPr>
          <p:cNvPr id="73" name="Graphic 72" descr="Caret Left outline">
            <a:extLst>
              <a:ext uri="{FF2B5EF4-FFF2-40B4-BE49-F238E27FC236}">
                <a16:creationId xmlns:a16="http://schemas.microsoft.com/office/drawing/2014/main" id="{17A73E7B-DC38-5E24-2799-0DEB1E3554C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6200000">
            <a:off x="5895118" y="4272228"/>
            <a:ext cx="519654" cy="801219"/>
          </a:xfrm>
          <a:prstGeom prst="rect">
            <a:avLst/>
          </a:prstGeom>
        </p:spPr>
      </p:pic>
    </p:spTree>
    <p:extLst>
      <p:ext uri="{BB962C8B-B14F-4D97-AF65-F5344CB8AC3E}">
        <p14:creationId xmlns:p14="http://schemas.microsoft.com/office/powerpoint/2010/main" val="161816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65760" y="141748"/>
            <a:ext cx="11274552" cy="548640"/>
          </a:xfrm>
          <a:prstGeom prst="rect">
            <a:avLst/>
          </a:prstGeom>
          <a:noFill/>
          <a:ln/>
        </p:spPr>
        <p:txBody>
          <a:bodyPr wrap="square" lIns="0" tIns="0" rIns="0" bIns="0" rtlCol="0" anchor="ctr"/>
          <a:lstStyle/>
          <a:p>
            <a:pPr marL="0" indent="0">
              <a:buNone/>
            </a:pPr>
            <a:r>
              <a:rPr lang="en-US" sz="2200">
                <a:solidFill>
                  <a:srgbClr val="262626"/>
                </a:solidFill>
                <a:latin typeface="Arial"/>
                <a:ea typeface="Arial" pitchFamily="34" charset="-122"/>
                <a:cs typeface="Arial"/>
              </a:rPr>
              <a:t>Investment thesis 1: Asia controls AI's hardware bottlenecks</a:t>
            </a:r>
            <a:endParaRPr lang="en-US" sz="2200">
              <a:latin typeface="Arial"/>
              <a:cs typeface="Arial"/>
            </a:endParaRPr>
          </a:p>
        </p:txBody>
      </p:sp>
      <p:sp>
        <p:nvSpPr>
          <p:cNvPr id="10" name="Shape 8"/>
          <p:cNvSpPr/>
          <p:nvPr/>
        </p:nvSpPr>
        <p:spPr>
          <a:xfrm>
            <a:off x="457200" y="997232"/>
            <a:ext cx="5486400" cy="384048"/>
          </a:xfrm>
          <a:prstGeom prst="rect">
            <a:avLst/>
          </a:prstGeom>
          <a:solidFill>
            <a:srgbClr val="2C5F82"/>
          </a:solidFill>
          <a:ln w="12700">
            <a:solidFill>
              <a:srgbClr val="2C5F82"/>
            </a:solidFill>
            <a:prstDash val="solid"/>
          </a:ln>
        </p:spPr>
        <p:txBody>
          <a:bodyPr/>
          <a:lstStyle/>
          <a:p>
            <a:endParaRPr lang="en-US"/>
          </a:p>
        </p:txBody>
      </p:sp>
      <p:sp>
        <p:nvSpPr>
          <p:cNvPr id="11" name="Text 9"/>
          <p:cNvSpPr txBox="1"/>
          <p:nvPr/>
        </p:nvSpPr>
        <p:spPr>
          <a:xfrm>
            <a:off x="594360" y="997232"/>
            <a:ext cx="5212080" cy="384048"/>
          </a:xfrm>
          <a:prstGeom prst="rect">
            <a:avLst/>
          </a:prstGeom>
          <a:noFill/>
          <a:ln/>
        </p:spPr>
        <p:txBody>
          <a:bodyPr wrap="square" lIns="0" tIns="0" rIns="0" bIns="0" rtlCol="0" anchor="ctr"/>
          <a:lstStyle/>
          <a:p>
            <a:pPr marL="0" indent="0">
              <a:buNone/>
            </a:pPr>
            <a:r>
              <a:rPr lang="en-US" sz="1250" b="1">
                <a:solidFill>
                  <a:srgbClr val="8DB3D1"/>
                </a:solidFill>
                <a:latin typeface="Arial"/>
                <a:ea typeface="Arial" pitchFamily="34" charset="-122"/>
                <a:cs typeface="Arial"/>
              </a:rPr>
              <a:t>1a  </a:t>
            </a:r>
            <a:r>
              <a:rPr lang="en-US" sz="1250" b="1">
                <a:solidFill>
                  <a:srgbClr val="FFFFFF"/>
                </a:solidFill>
                <a:latin typeface="Arial"/>
                <a:ea typeface="Arial" pitchFamily="34" charset="-122"/>
                <a:cs typeface="Arial"/>
              </a:rPr>
              <a:t>Demand is structural, and it runs through Asia</a:t>
            </a:r>
            <a:endParaRPr lang="en-US" sz="1250">
              <a:latin typeface="Arial"/>
              <a:cs typeface="Arial"/>
            </a:endParaRPr>
          </a:p>
        </p:txBody>
      </p:sp>
      <p:graphicFrame>
        <p:nvGraphicFramePr>
          <p:cNvPr id="12" name="Chart 0"/>
          <p:cNvGraphicFramePr/>
          <p:nvPr>
            <p:extLst>
              <p:ext uri="{D42A27DB-BD31-4B8C-83A1-F6EECF244321}">
                <p14:modId xmlns:p14="http://schemas.microsoft.com/office/powerpoint/2010/main" val="2021310585"/>
              </p:ext>
            </p:extLst>
          </p:nvPr>
        </p:nvGraphicFramePr>
        <p:xfrm>
          <a:off x="457200" y="1481864"/>
          <a:ext cx="2560320" cy="187452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10"/>
          <p:cNvSpPr txBox="1"/>
          <p:nvPr/>
        </p:nvSpPr>
        <p:spPr>
          <a:xfrm>
            <a:off x="3154680" y="1527584"/>
            <a:ext cx="2788920" cy="1828800"/>
          </a:xfrm>
          <a:prstGeom prst="rect">
            <a:avLst/>
          </a:prstGeom>
          <a:noFill/>
          <a:ln/>
        </p:spPr>
        <p:txBody>
          <a:bodyPr wrap="square" lIns="0" tIns="0" rIns="0" bIns="0" rtlCol="0" anchor="t"/>
          <a:lstStyle/>
          <a:p>
            <a:pPr marL="0" indent="0">
              <a:spcAft>
                <a:spcPts val="200"/>
              </a:spcAft>
              <a:buNone/>
            </a:pPr>
            <a:r>
              <a:rPr lang="en-US" sz="950" b="1">
                <a:solidFill>
                  <a:srgbClr val="2C5F82"/>
                </a:solidFill>
                <a:latin typeface="Arial"/>
                <a:ea typeface="Arial" pitchFamily="34" charset="-122"/>
                <a:cs typeface="Arial"/>
              </a:rPr>
              <a:t>Demand is structural</a:t>
            </a:r>
            <a:endParaRPr lang="en-US" sz="950">
              <a:latin typeface="Arial"/>
              <a:cs typeface="Arial"/>
            </a:endParaRPr>
          </a:p>
          <a:p>
            <a:pPr marL="0" indent="0">
              <a:spcAft>
                <a:spcPts val="200"/>
              </a:spcAft>
              <a:buNone/>
            </a:pPr>
            <a:r>
              <a:rPr lang="en-US" sz="950">
                <a:solidFill>
                  <a:srgbClr val="262626"/>
                </a:solidFill>
                <a:latin typeface="Arial"/>
                <a:ea typeface="Arial" pitchFamily="34" charset="-122"/>
                <a:cs typeface="Arial"/>
              </a:rPr>
              <a:t>Hyperscaler capex ~US$725bn in 2026 (+77%); the chip market nearly doubles to ~US$1.5trn.</a:t>
            </a:r>
            <a:endParaRPr lang="en-US" sz="950">
              <a:latin typeface="Arial"/>
              <a:cs typeface="Arial"/>
            </a:endParaRPr>
          </a:p>
          <a:p>
            <a:pPr marL="0" indent="0">
              <a:spcAft>
                <a:spcPts val="200"/>
              </a:spcAft>
              <a:buNone/>
            </a:pPr>
            <a:r>
              <a:rPr lang="en-US" sz="950" b="1">
                <a:solidFill>
                  <a:srgbClr val="2C5F82"/>
                </a:solidFill>
                <a:latin typeface="Arial"/>
                <a:ea typeface="Arial" pitchFamily="34" charset="-122"/>
                <a:cs typeface="Arial"/>
              </a:rPr>
              <a:t>The moat runs through Asia</a:t>
            </a:r>
            <a:endParaRPr lang="en-US" sz="950">
              <a:latin typeface="Arial"/>
              <a:cs typeface="Arial"/>
            </a:endParaRPr>
          </a:p>
          <a:p>
            <a:pPr marL="0" indent="0">
              <a:spcAft>
                <a:spcPts val="200"/>
              </a:spcAft>
              <a:buNone/>
            </a:pPr>
            <a:r>
              <a:rPr lang="en-US" sz="950">
                <a:solidFill>
                  <a:srgbClr val="262626"/>
                </a:solidFill>
                <a:latin typeface="Arial"/>
                <a:ea typeface="Arial" pitchFamily="34" charset="-122"/>
                <a:cs typeface="Arial"/>
              </a:rPr>
              <a:t>8 of the world's 10 largest companies depend on TSMC (J.P. Morgan).</a:t>
            </a:r>
            <a:endParaRPr lang="en-US" sz="950">
              <a:latin typeface="Arial"/>
              <a:cs typeface="Arial"/>
            </a:endParaRPr>
          </a:p>
          <a:p>
            <a:pPr marL="0" indent="0">
              <a:spcAft>
                <a:spcPts val="200"/>
              </a:spcAft>
              <a:buNone/>
            </a:pPr>
            <a:r>
              <a:rPr lang="en-US" sz="950" b="1">
                <a:solidFill>
                  <a:srgbClr val="B23B3B"/>
                </a:solidFill>
                <a:latin typeface="Arial"/>
                <a:ea typeface="Arial" pitchFamily="34" charset="-122"/>
                <a:cs typeface="Arial"/>
              </a:rPr>
              <a:t>…but the cycle is maturing</a:t>
            </a:r>
            <a:endParaRPr lang="en-US" sz="950">
              <a:latin typeface="Arial"/>
              <a:cs typeface="Arial"/>
            </a:endParaRPr>
          </a:p>
          <a:p>
            <a:pPr marL="0" indent="0">
              <a:spcAft>
                <a:spcPts val="200"/>
              </a:spcAft>
              <a:buNone/>
            </a:pPr>
            <a:r>
              <a:rPr lang="en-US" sz="950">
                <a:solidFill>
                  <a:srgbClr val="262626"/>
                </a:solidFill>
                <a:latin typeface="Arial"/>
                <a:ea typeface="Arial" pitchFamily="34" charset="-122"/>
                <a:cs typeface="Arial"/>
              </a:rPr>
              <a:t>DRAM price gains slowing: +48% in Q2, ~+13% expected in Q4 2026.</a:t>
            </a:r>
            <a:endParaRPr lang="en-US" sz="950">
              <a:latin typeface="Arial"/>
              <a:cs typeface="Arial"/>
            </a:endParaRPr>
          </a:p>
        </p:txBody>
      </p:sp>
      <p:sp>
        <p:nvSpPr>
          <p:cNvPr id="14" name="Shape 11"/>
          <p:cNvSpPr/>
          <p:nvPr/>
        </p:nvSpPr>
        <p:spPr>
          <a:xfrm>
            <a:off x="457200" y="3466112"/>
            <a:ext cx="5486400" cy="548640"/>
          </a:xfrm>
          <a:prstGeom prst="rect">
            <a:avLst/>
          </a:prstGeom>
          <a:solidFill>
            <a:srgbClr val="F2F2F2"/>
          </a:solidFill>
          <a:ln w="12700">
            <a:solidFill>
              <a:srgbClr val="F2F2F2"/>
            </a:solidFill>
            <a:prstDash val="solid"/>
          </a:ln>
        </p:spPr>
        <p:txBody>
          <a:bodyPr/>
          <a:lstStyle/>
          <a:p>
            <a:endParaRPr lang="en-US"/>
          </a:p>
        </p:txBody>
      </p:sp>
      <p:sp>
        <p:nvSpPr>
          <p:cNvPr id="15" name="Shape 12"/>
          <p:cNvSpPr/>
          <p:nvPr/>
        </p:nvSpPr>
        <p:spPr>
          <a:xfrm>
            <a:off x="457200" y="3466112"/>
            <a:ext cx="64008" cy="548640"/>
          </a:xfrm>
          <a:prstGeom prst="rect">
            <a:avLst/>
          </a:prstGeom>
          <a:solidFill>
            <a:srgbClr val="2C5F82"/>
          </a:solidFill>
          <a:ln w="12700">
            <a:solidFill>
              <a:srgbClr val="2C5F82"/>
            </a:solidFill>
            <a:prstDash val="solid"/>
          </a:ln>
        </p:spPr>
        <p:txBody>
          <a:bodyPr/>
          <a:lstStyle/>
          <a:p>
            <a:endParaRPr lang="en-US"/>
          </a:p>
        </p:txBody>
      </p:sp>
      <p:sp>
        <p:nvSpPr>
          <p:cNvPr id="16" name="Text 13"/>
          <p:cNvSpPr txBox="1"/>
          <p:nvPr/>
        </p:nvSpPr>
        <p:spPr>
          <a:xfrm>
            <a:off x="566928" y="3466112"/>
            <a:ext cx="1051560" cy="548640"/>
          </a:xfrm>
          <a:prstGeom prst="rect">
            <a:avLst/>
          </a:prstGeom>
          <a:noFill/>
          <a:ln/>
        </p:spPr>
        <p:txBody>
          <a:bodyPr wrap="square" lIns="0" tIns="0" rIns="0" bIns="0" rtlCol="0" anchor="ctr"/>
          <a:lstStyle/>
          <a:p>
            <a:pPr marL="0" indent="0" algn="ctr">
              <a:buNone/>
            </a:pPr>
            <a:r>
              <a:rPr lang="en-US" sz="1700" b="1">
                <a:solidFill>
                  <a:srgbClr val="2C5F82"/>
                </a:solidFill>
                <a:latin typeface="Arial"/>
                <a:ea typeface="Arial" pitchFamily="34" charset="-122"/>
                <a:cs typeface="Arial"/>
              </a:rPr>
              <a:t>~70%</a:t>
            </a:r>
            <a:endParaRPr lang="en-US" sz="1700">
              <a:latin typeface="Arial"/>
              <a:cs typeface="Arial"/>
            </a:endParaRPr>
          </a:p>
        </p:txBody>
      </p:sp>
      <p:sp>
        <p:nvSpPr>
          <p:cNvPr id="17" name="Text 14"/>
          <p:cNvSpPr txBox="1"/>
          <p:nvPr/>
        </p:nvSpPr>
        <p:spPr>
          <a:xfrm>
            <a:off x="1691640" y="3466112"/>
            <a:ext cx="4160520" cy="548640"/>
          </a:xfrm>
          <a:prstGeom prst="rect">
            <a:avLst/>
          </a:prstGeom>
          <a:noFill/>
          <a:ln/>
        </p:spPr>
        <p:txBody>
          <a:bodyPr wrap="square" lIns="0" tIns="0" rIns="0" bIns="0" rtlCol="0" anchor="ctr"/>
          <a:lstStyle/>
          <a:p>
            <a:pPr marL="0" indent="0">
              <a:spcAft>
                <a:spcPts val="100"/>
              </a:spcAft>
              <a:buNone/>
            </a:pPr>
            <a:r>
              <a:rPr lang="en-US" sz="900" b="1">
                <a:solidFill>
                  <a:srgbClr val="262626"/>
                </a:solidFill>
                <a:latin typeface="Arial"/>
                <a:ea typeface="Arial" pitchFamily="34" charset="-122"/>
                <a:cs typeface="Arial"/>
              </a:rPr>
              <a:t>Taiwan makes the chips: </a:t>
            </a:r>
            <a:r>
              <a:rPr lang="en-US" sz="900">
                <a:solidFill>
                  <a:srgbClr val="595959"/>
                </a:solidFill>
                <a:latin typeface="Arial"/>
                <a:ea typeface="Arial" pitchFamily="34" charset="-122"/>
                <a:cs typeface="Arial"/>
              </a:rPr>
              <a:t>TSMC's share of global foundry revenue; TSMC is &gt;40% of TAIEX.</a:t>
            </a:r>
            <a:endParaRPr lang="en-US" sz="900">
              <a:latin typeface="Arial"/>
              <a:cs typeface="Arial"/>
            </a:endParaRPr>
          </a:p>
          <a:p>
            <a:pPr marL="0" indent="0">
              <a:spcAft>
                <a:spcPts val="100"/>
              </a:spcAft>
              <a:buNone/>
            </a:pPr>
            <a:r>
              <a:rPr lang="en-US" sz="900" b="1">
                <a:solidFill>
                  <a:srgbClr val="2C5F82"/>
                </a:solidFill>
                <a:latin typeface="Arial"/>
                <a:ea typeface="Arial" pitchFamily="34" charset="-122"/>
                <a:cs typeface="Arial"/>
              </a:rPr>
              <a:t>→ Taiwan is the single largest AI chokepoint</a:t>
            </a:r>
            <a:endParaRPr lang="en-US" sz="900">
              <a:latin typeface="Arial"/>
              <a:cs typeface="Arial"/>
            </a:endParaRPr>
          </a:p>
        </p:txBody>
      </p:sp>
      <p:sp>
        <p:nvSpPr>
          <p:cNvPr id="18" name="Shape 15"/>
          <p:cNvSpPr/>
          <p:nvPr/>
        </p:nvSpPr>
        <p:spPr>
          <a:xfrm>
            <a:off x="457200" y="4069616"/>
            <a:ext cx="5486400" cy="548640"/>
          </a:xfrm>
          <a:prstGeom prst="rect">
            <a:avLst/>
          </a:prstGeom>
          <a:solidFill>
            <a:srgbClr val="FFFFFF"/>
          </a:solidFill>
          <a:ln w="12700">
            <a:solidFill>
              <a:srgbClr val="F2F2F2"/>
            </a:solidFill>
            <a:prstDash val="solid"/>
          </a:ln>
        </p:spPr>
        <p:txBody>
          <a:bodyPr/>
          <a:lstStyle/>
          <a:p>
            <a:endParaRPr lang="en-US"/>
          </a:p>
        </p:txBody>
      </p:sp>
      <p:sp>
        <p:nvSpPr>
          <p:cNvPr id="19" name="Shape 16"/>
          <p:cNvSpPr/>
          <p:nvPr/>
        </p:nvSpPr>
        <p:spPr>
          <a:xfrm>
            <a:off x="457200" y="4069616"/>
            <a:ext cx="64008" cy="548640"/>
          </a:xfrm>
          <a:prstGeom prst="rect">
            <a:avLst/>
          </a:prstGeom>
          <a:solidFill>
            <a:srgbClr val="2C5F82"/>
          </a:solidFill>
          <a:ln w="12700">
            <a:solidFill>
              <a:srgbClr val="2C5F82"/>
            </a:solidFill>
            <a:prstDash val="solid"/>
          </a:ln>
        </p:spPr>
        <p:txBody>
          <a:bodyPr/>
          <a:lstStyle/>
          <a:p>
            <a:endParaRPr lang="en-US"/>
          </a:p>
        </p:txBody>
      </p:sp>
      <p:sp>
        <p:nvSpPr>
          <p:cNvPr id="20" name="Text 17"/>
          <p:cNvSpPr txBox="1"/>
          <p:nvPr/>
        </p:nvSpPr>
        <p:spPr>
          <a:xfrm>
            <a:off x="566928" y="4069616"/>
            <a:ext cx="1051560" cy="548640"/>
          </a:xfrm>
          <a:prstGeom prst="rect">
            <a:avLst/>
          </a:prstGeom>
          <a:noFill/>
          <a:ln/>
        </p:spPr>
        <p:txBody>
          <a:bodyPr wrap="square" lIns="0" tIns="0" rIns="0" bIns="0" rtlCol="0" anchor="ctr"/>
          <a:lstStyle/>
          <a:p>
            <a:pPr marL="0" indent="0" algn="ctr">
              <a:buNone/>
            </a:pPr>
            <a:r>
              <a:rPr lang="en-US" sz="1700" b="1">
                <a:solidFill>
                  <a:srgbClr val="2C5F82"/>
                </a:solidFill>
                <a:latin typeface="Arial"/>
                <a:ea typeface="Arial" pitchFamily="34" charset="-122"/>
                <a:cs typeface="Arial"/>
              </a:rPr>
              <a:t>83%</a:t>
            </a:r>
            <a:endParaRPr lang="en-US" sz="1700">
              <a:latin typeface="Arial"/>
              <a:cs typeface="Arial"/>
            </a:endParaRPr>
          </a:p>
        </p:txBody>
      </p:sp>
      <p:sp>
        <p:nvSpPr>
          <p:cNvPr id="21" name="Text 18"/>
          <p:cNvSpPr txBox="1"/>
          <p:nvPr/>
        </p:nvSpPr>
        <p:spPr>
          <a:xfrm>
            <a:off x="1691640" y="4069616"/>
            <a:ext cx="4160520" cy="548640"/>
          </a:xfrm>
          <a:prstGeom prst="rect">
            <a:avLst/>
          </a:prstGeom>
          <a:noFill/>
          <a:ln/>
        </p:spPr>
        <p:txBody>
          <a:bodyPr wrap="square" lIns="0" tIns="0" rIns="0" bIns="0" rtlCol="0" anchor="ctr"/>
          <a:lstStyle/>
          <a:p>
            <a:pPr marL="0" indent="0">
              <a:spcAft>
                <a:spcPts val="100"/>
              </a:spcAft>
              <a:buNone/>
            </a:pPr>
            <a:r>
              <a:rPr lang="en-US" sz="900" b="1">
                <a:solidFill>
                  <a:srgbClr val="262626"/>
                </a:solidFill>
                <a:latin typeface="Arial"/>
                <a:ea typeface="Arial" pitchFamily="34" charset="-122"/>
                <a:cs typeface="Arial"/>
              </a:rPr>
              <a:t>Korea makes the memory: </a:t>
            </a:r>
            <a:r>
              <a:rPr lang="en-US" sz="900">
                <a:solidFill>
                  <a:srgbClr val="595959"/>
                </a:solidFill>
                <a:latin typeface="Arial"/>
                <a:ea typeface="Arial" pitchFamily="34" charset="-122"/>
                <a:cs typeface="Arial"/>
              </a:rPr>
              <a:t>SK hynix + Samsung share of HBM, the memory every AI accelerator needs.</a:t>
            </a:r>
            <a:endParaRPr lang="en-US" sz="900">
              <a:latin typeface="Arial"/>
              <a:cs typeface="Arial"/>
            </a:endParaRPr>
          </a:p>
          <a:p>
            <a:pPr marL="0" indent="0">
              <a:spcAft>
                <a:spcPts val="100"/>
              </a:spcAft>
              <a:buNone/>
            </a:pPr>
            <a:r>
              <a:rPr lang="en-US" sz="900" b="1">
                <a:solidFill>
                  <a:srgbClr val="2C5F82"/>
                </a:solidFill>
                <a:latin typeface="Arial"/>
                <a:ea typeface="Arial" pitchFamily="34" charset="-122"/>
                <a:cs typeface="Arial"/>
              </a:rPr>
              <a:t>→ No AI accelerator ships without Korean memory</a:t>
            </a:r>
            <a:endParaRPr lang="en-US" sz="900">
              <a:latin typeface="Arial"/>
              <a:cs typeface="Arial"/>
            </a:endParaRPr>
          </a:p>
        </p:txBody>
      </p:sp>
      <p:sp>
        <p:nvSpPr>
          <p:cNvPr id="22" name="Shape 19"/>
          <p:cNvSpPr/>
          <p:nvPr/>
        </p:nvSpPr>
        <p:spPr>
          <a:xfrm>
            <a:off x="457200" y="4673120"/>
            <a:ext cx="5486400" cy="548640"/>
          </a:xfrm>
          <a:prstGeom prst="rect">
            <a:avLst/>
          </a:prstGeom>
          <a:solidFill>
            <a:srgbClr val="F2F2F2"/>
          </a:solidFill>
          <a:ln w="12700">
            <a:solidFill>
              <a:srgbClr val="F2F2F2"/>
            </a:solidFill>
            <a:prstDash val="solid"/>
          </a:ln>
        </p:spPr>
        <p:txBody>
          <a:bodyPr/>
          <a:lstStyle/>
          <a:p>
            <a:endParaRPr lang="en-US"/>
          </a:p>
        </p:txBody>
      </p:sp>
      <p:sp>
        <p:nvSpPr>
          <p:cNvPr id="23" name="Shape 20"/>
          <p:cNvSpPr/>
          <p:nvPr/>
        </p:nvSpPr>
        <p:spPr>
          <a:xfrm>
            <a:off x="457200" y="4673120"/>
            <a:ext cx="64008" cy="548640"/>
          </a:xfrm>
          <a:prstGeom prst="rect">
            <a:avLst/>
          </a:prstGeom>
          <a:solidFill>
            <a:srgbClr val="2C5F82"/>
          </a:solidFill>
          <a:ln w="12700">
            <a:solidFill>
              <a:srgbClr val="2C5F82"/>
            </a:solidFill>
            <a:prstDash val="solid"/>
          </a:ln>
        </p:spPr>
        <p:txBody>
          <a:bodyPr/>
          <a:lstStyle/>
          <a:p>
            <a:endParaRPr lang="en-US"/>
          </a:p>
        </p:txBody>
      </p:sp>
      <p:sp>
        <p:nvSpPr>
          <p:cNvPr id="24" name="Text 21"/>
          <p:cNvSpPr txBox="1"/>
          <p:nvPr/>
        </p:nvSpPr>
        <p:spPr>
          <a:xfrm>
            <a:off x="566928" y="4673120"/>
            <a:ext cx="1051560" cy="548640"/>
          </a:xfrm>
          <a:prstGeom prst="rect">
            <a:avLst/>
          </a:prstGeom>
          <a:noFill/>
          <a:ln/>
        </p:spPr>
        <p:txBody>
          <a:bodyPr wrap="square" lIns="0" tIns="0" rIns="0" bIns="0" rtlCol="0" anchor="ctr"/>
          <a:lstStyle/>
          <a:p>
            <a:pPr marL="0" indent="0" algn="ctr">
              <a:buNone/>
            </a:pPr>
            <a:r>
              <a:rPr lang="en-US" sz="1700" b="1">
                <a:solidFill>
                  <a:srgbClr val="2C5F82"/>
                </a:solidFill>
                <a:latin typeface="Arial"/>
                <a:ea typeface="Arial" pitchFamily="34" charset="-122"/>
                <a:cs typeface="Arial"/>
              </a:rPr>
              <a:t>~55%</a:t>
            </a:r>
            <a:endParaRPr lang="en-US" sz="1700">
              <a:latin typeface="Arial"/>
              <a:cs typeface="Arial"/>
            </a:endParaRPr>
          </a:p>
        </p:txBody>
      </p:sp>
      <p:sp>
        <p:nvSpPr>
          <p:cNvPr id="25" name="Text 22"/>
          <p:cNvSpPr txBox="1"/>
          <p:nvPr/>
        </p:nvSpPr>
        <p:spPr>
          <a:xfrm>
            <a:off x="1691640" y="4673120"/>
            <a:ext cx="4160520" cy="548640"/>
          </a:xfrm>
          <a:prstGeom prst="rect">
            <a:avLst/>
          </a:prstGeom>
          <a:noFill/>
          <a:ln/>
        </p:spPr>
        <p:txBody>
          <a:bodyPr wrap="square" lIns="0" tIns="0" rIns="0" bIns="0" rtlCol="0" anchor="ctr"/>
          <a:lstStyle/>
          <a:p>
            <a:pPr marL="0" indent="0">
              <a:spcAft>
                <a:spcPts val="100"/>
              </a:spcAft>
              <a:buNone/>
            </a:pPr>
            <a:r>
              <a:rPr lang="en-US" sz="900" b="1">
                <a:solidFill>
                  <a:srgbClr val="262626"/>
                </a:solidFill>
                <a:latin typeface="Arial"/>
                <a:ea typeface="Arial" pitchFamily="34" charset="-122"/>
                <a:cs typeface="Arial"/>
              </a:rPr>
              <a:t>Japan makes the tools: </a:t>
            </a:r>
            <a:r>
              <a:rPr lang="en-US" sz="900">
                <a:solidFill>
                  <a:srgbClr val="595959"/>
                </a:solidFill>
                <a:latin typeface="Arial"/>
                <a:ea typeface="Arial" pitchFamily="34" charset="-122"/>
                <a:cs typeface="Arial"/>
              </a:rPr>
              <a:t>Advantest's share of chip test equipment; with Tokyo Electron ≈ 20% of the Nikkei.</a:t>
            </a:r>
            <a:endParaRPr lang="en-US" sz="900">
              <a:latin typeface="Arial"/>
              <a:cs typeface="Arial"/>
            </a:endParaRPr>
          </a:p>
          <a:p>
            <a:pPr marL="0" indent="0">
              <a:spcAft>
                <a:spcPts val="100"/>
              </a:spcAft>
              <a:buNone/>
            </a:pPr>
            <a:r>
              <a:rPr lang="en-US" sz="900" b="1">
                <a:solidFill>
                  <a:srgbClr val="2C5F82"/>
                </a:solidFill>
                <a:latin typeface="Arial"/>
                <a:ea typeface="Arial" pitchFamily="34" charset="-122"/>
                <a:cs typeface="Arial"/>
              </a:rPr>
              <a:t>→ Every new fab needs Japanese tools</a:t>
            </a:r>
            <a:endParaRPr lang="en-US" sz="900">
              <a:latin typeface="Arial"/>
              <a:cs typeface="Arial"/>
            </a:endParaRPr>
          </a:p>
        </p:txBody>
      </p:sp>
      <p:sp>
        <p:nvSpPr>
          <p:cNvPr id="26" name="Shape 23"/>
          <p:cNvSpPr/>
          <p:nvPr/>
        </p:nvSpPr>
        <p:spPr>
          <a:xfrm>
            <a:off x="6245352" y="997232"/>
            <a:ext cx="5486400" cy="384048"/>
          </a:xfrm>
          <a:prstGeom prst="rect">
            <a:avLst/>
          </a:prstGeom>
          <a:solidFill>
            <a:srgbClr val="2C5F82"/>
          </a:solidFill>
          <a:ln w="12700">
            <a:solidFill>
              <a:srgbClr val="2C5F82"/>
            </a:solidFill>
            <a:prstDash val="solid"/>
          </a:ln>
        </p:spPr>
        <p:txBody>
          <a:bodyPr/>
          <a:lstStyle/>
          <a:p>
            <a:endParaRPr lang="en-US"/>
          </a:p>
        </p:txBody>
      </p:sp>
      <p:sp>
        <p:nvSpPr>
          <p:cNvPr id="27" name="Text 24"/>
          <p:cNvSpPr txBox="1"/>
          <p:nvPr/>
        </p:nvSpPr>
        <p:spPr>
          <a:xfrm>
            <a:off x="6382512" y="997232"/>
            <a:ext cx="5212080" cy="384048"/>
          </a:xfrm>
          <a:prstGeom prst="rect">
            <a:avLst/>
          </a:prstGeom>
          <a:noFill/>
          <a:ln/>
        </p:spPr>
        <p:txBody>
          <a:bodyPr wrap="square" lIns="0" tIns="0" rIns="0" bIns="0" rtlCol="0" anchor="ctr"/>
          <a:lstStyle/>
          <a:p>
            <a:pPr marL="0" indent="0">
              <a:buNone/>
            </a:pPr>
            <a:r>
              <a:rPr lang="en-US" sz="1250" b="1">
                <a:solidFill>
                  <a:srgbClr val="8DB3D1"/>
                </a:solidFill>
                <a:latin typeface="Arial"/>
                <a:ea typeface="Arial" pitchFamily="34" charset="-122"/>
                <a:cs typeface="Arial"/>
              </a:rPr>
              <a:t>1b  </a:t>
            </a:r>
            <a:r>
              <a:rPr lang="en-US" sz="1250" b="1">
                <a:solidFill>
                  <a:srgbClr val="FFFFFF"/>
                </a:solidFill>
                <a:latin typeface="Arial"/>
                <a:ea typeface="Arial" pitchFamily="34" charset="-122"/>
                <a:cs typeface="Arial"/>
              </a:rPr>
              <a:t>A strong theme on a violent path</a:t>
            </a:r>
            <a:endParaRPr lang="en-US" sz="1250">
              <a:latin typeface="Arial"/>
              <a:cs typeface="Arial"/>
            </a:endParaRPr>
          </a:p>
        </p:txBody>
      </p:sp>
      <p:graphicFrame>
        <p:nvGraphicFramePr>
          <p:cNvPr id="28" name="Chart 1"/>
          <p:cNvGraphicFramePr/>
          <p:nvPr>
            <p:extLst>
              <p:ext uri="{D42A27DB-BD31-4B8C-83A1-F6EECF244321}">
                <p14:modId xmlns:p14="http://schemas.microsoft.com/office/powerpoint/2010/main" val="3441210906"/>
              </p:ext>
            </p:extLst>
          </p:nvPr>
        </p:nvGraphicFramePr>
        <p:xfrm>
          <a:off x="6245352" y="1481864"/>
          <a:ext cx="3291840" cy="1874520"/>
        </p:xfrm>
        <a:graphic>
          <a:graphicData uri="http://schemas.openxmlformats.org/drawingml/2006/chart">
            <c:chart xmlns:c="http://schemas.openxmlformats.org/drawingml/2006/chart" xmlns:r="http://schemas.openxmlformats.org/officeDocument/2006/relationships" r:id="rId4"/>
          </a:graphicData>
        </a:graphic>
      </p:graphicFrame>
      <p:sp>
        <p:nvSpPr>
          <p:cNvPr id="29" name="Text 25"/>
          <p:cNvSpPr txBox="1"/>
          <p:nvPr/>
        </p:nvSpPr>
        <p:spPr>
          <a:xfrm>
            <a:off x="9674352" y="1527584"/>
            <a:ext cx="2057400" cy="1828800"/>
          </a:xfrm>
          <a:prstGeom prst="rect">
            <a:avLst/>
          </a:prstGeom>
          <a:noFill/>
          <a:ln/>
        </p:spPr>
        <p:txBody>
          <a:bodyPr wrap="square" lIns="0" tIns="0" rIns="0" bIns="0" rtlCol="0" anchor="t"/>
          <a:lstStyle/>
          <a:p>
            <a:pPr marL="0" indent="0">
              <a:spcAft>
                <a:spcPts val="200"/>
              </a:spcAft>
              <a:buNone/>
            </a:pPr>
            <a:r>
              <a:rPr lang="en-US" sz="950" b="1">
                <a:solidFill>
                  <a:srgbClr val="2C5F82"/>
                </a:solidFill>
                <a:latin typeface="Arial"/>
                <a:ea typeface="Arial" pitchFamily="34" charset="-122"/>
                <a:cs typeface="Arial"/>
              </a:rPr>
              <a:t>Growth is structural…</a:t>
            </a:r>
            <a:endParaRPr lang="en-US" sz="950">
              <a:latin typeface="Arial"/>
              <a:cs typeface="Arial"/>
            </a:endParaRPr>
          </a:p>
          <a:p>
            <a:pPr marL="0" indent="0">
              <a:spcAft>
                <a:spcPts val="200"/>
              </a:spcAft>
              <a:buNone/>
            </a:pPr>
            <a:r>
              <a:rPr lang="en-US" sz="950">
                <a:solidFill>
                  <a:srgbClr val="262626"/>
                </a:solidFill>
                <a:latin typeface="Arial"/>
                <a:ea typeface="Arial" pitchFamily="34" charset="-122"/>
                <a:cs typeface="Arial"/>
              </a:rPr>
              <a:t>TAIEX and KOSPI are 2–3× their end-2022 levels on AI demand.</a:t>
            </a:r>
            <a:endParaRPr lang="en-US" sz="950">
              <a:latin typeface="Arial"/>
              <a:cs typeface="Arial"/>
            </a:endParaRPr>
          </a:p>
          <a:p>
            <a:pPr marL="0" indent="0">
              <a:spcAft>
                <a:spcPts val="200"/>
              </a:spcAft>
              <a:buNone/>
            </a:pPr>
            <a:r>
              <a:rPr lang="en-US" sz="950" b="1">
                <a:solidFill>
                  <a:srgbClr val="B23B3B"/>
                </a:solidFill>
                <a:latin typeface="Arial"/>
                <a:ea typeface="Arial" pitchFamily="34" charset="-122"/>
                <a:cs typeface="Arial"/>
              </a:rPr>
              <a:t>…but the path is violent</a:t>
            </a:r>
            <a:endParaRPr lang="en-US" sz="950">
              <a:latin typeface="Arial"/>
              <a:cs typeface="Arial"/>
            </a:endParaRPr>
          </a:p>
          <a:p>
            <a:pPr marL="0" indent="0">
              <a:spcAft>
                <a:spcPts val="200"/>
              </a:spcAft>
              <a:buNone/>
            </a:pPr>
            <a:r>
              <a:rPr lang="en-US" sz="950">
                <a:solidFill>
                  <a:srgbClr val="262626"/>
                </a:solidFill>
                <a:latin typeface="Arial"/>
                <a:ea typeface="Arial" pitchFamily="34" charset="-122"/>
                <a:cs typeface="Arial"/>
              </a:rPr>
              <a:t>Down 10–25% in 2022; records in June 2026, then sharp falls within weeks.</a:t>
            </a:r>
            <a:endParaRPr lang="en-US" sz="950">
              <a:latin typeface="Arial"/>
              <a:cs typeface="Arial"/>
            </a:endParaRPr>
          </a:p>
        </p:txBody>
      </p:sp>
      <p:sp>
        <p:nvSpPr>
          <p:cNvPr id="30" name="Shape 26"/>
          <p:cNvSpPr/>
          <p:nvPr/>
        </p:nvSpPr>
        <p:spPr>
          <a:xfrm>
            <a:off x="6245352" y="3466112"/>
            <a:ext cx="5486400" cy="548640"/>
          </a:xfrm>
          <a:prstGeom prst="rect">
            <a:avLst/>
          </a:prstGeom>
          <a:solidFill>
            <a:srgbClr val="F2F2F2"/>
          </a:solidFill>
          <a:ln w="12700">
            <a:solidFill>
              <a:srgbClr val="F2F2F2"/>
            </a:solidFill>
            <a:prstDash val="solid"/>
          </a:ln>
        </p:spPr>
        <p:txBody>
          <a:bodyPr/>
          <a:lstStyle/>
          <a:p>
            <a:endParaRPr lang="en-US"/>
          </a:p>
        </p:txBody>
      </p:sp>
      <p:sp>
        <p:nvSpPr>
          <p:cNvPr id="31" name="Shape 27"/>
          <p:cNvSpPr/>
          <p:nvPr/>
        </p:nvSpPr>
        <p:spPr>
          <a:xfrm>
            <a:off x="6245352" y="3466112"/>
            <a:ext cx="64008" cy="548640"/>
          </a:xfrm>
          <a:prstGeom prst="rect">
            <a:avLst/>
          </a:prstGeom>
          <a:solidFill>
            <a:srgbClr val="B23B3B"/>
          </a:solidFill>
          <a:ln w="12700">
            <a:solidFill>
              <a:srgbClr val="B23B3B"/>
            </a:solidFill>
            <a:prstDash val="solid"/>
          </a:ln>
        </p:spPr>
        <p:txBody>
          <a:bodyPr/>
          <a:lstStyle/>
          <a:p>
            <a:endParaRPr lang="en-US"/>
          </a:p>
        </p:txBody>
      </p:sp>
      <p:sp>
        <p:nvSpPr>
          <p:cNvPr id="32" name="Text 28"/>
          <p:cNvSpPr txBox="1"/>
          <p:nvPr/>
        </p:nvSpPr>
        <p:spPr>
          <a:xfrm>
            <a:off x="6355080" y="3466112"/>
            <a:ext cx="1051560" cy="548640"/>
          </a:xfrm>
          <a:prstGeom prst="rect">
            <a:avLst/>
          </a:prstGeom>
          <a:noFill/>
          <a:ln/>
        </p:spPr>
        <p:txBody>
          <a:bodyPr wrap="square" lIns="0" tIns="0" rIns="0" bIns="0" rtlCol="0" anchor="ctr"/>
          <a:lstStyle/>
          <a:p>
            <a:pPr marL="0" indent="0" algn="ctr">
              <a:buNone/>
            </a:pPr>
            <a:r>
              <a:rPr lang="en-US" sz="1700" b="1">
                <a:solidFill>
                  <a:srgbClr val="B23B3B"/>
                </a:solidFill>
                <a:latin typeface="Arial"/>
                <a:ea typeface="Arial" pitchFamily="34" charset="-122"/>
                <a:cs typeface="Arial"/>
              </a:rPr>
              <a:t>−25%</a:t>
            </a:r>
            <a:endParaRPr lang="en-US" sz="1700">
              <a:latin typeface="Arial"/>
              <a:cs typeface="Arial"/>
            </a:endParaRPr>
          </a:p>
        </p:txBody>
      </p:sp>
      <p:sp>
        <p:nvSpPr>
          <p:cNvPr id="33" name="Text 29"/>
          <p:cNvSpPr txBox="1"/>
          <p:nvPr/>
        </p:nvSpPr>
        <p:spPr>
          <a:xfrm>
            <a:off x="7479792" y="3466112"/>
            <a:ext cx="4160520" cy="548640"/>
          </a:xfrm>
          <a:prstGeom prst="rect">
            <a:avLst/>
          </a:prstGeom>
          <a:noFill/>
          <a:ln/>
        </p:spPr>
        <p:txBody>
          <a:bodyPr wrap="square" lIns="0" tIns="0" rIns="0" bIns="0" rtlCol="0" anchor="ctr"/>
          <a:lstStyle/>
          <a:p>
            <a:pPr marL="0" indent="0">
              <a:spcAft>
                <a:spcPts val="100"/>
              </a:spcAft>
              <a:buNone/>
            </a:pPr>
            <a:r>
              <a:rPr lang="en-US" sz="900" b="1">
                <a:solidFill>
                  <a:srgbClr val="262626"/>
                </a:solidFill>
                <a:latin typeface="Arial"/>
                <a:ea typeface="Arial" pitchFamily="34" charset="-122"/>
                <a:cs typeface="Arial"/>
              </a:rPr>
              <a:t>Round trips happen fast: </a:t>
            </a:r>
            <a:r>
              <a:rPr lang="en-US" sz="900">
                <a:solidFill>
                  <a:srgbClr val="595959"/>
                </a:solidFill>
                <a:latin typeface="Arial"/>
                <a:ea typeface="Arial" pitchFamily="34" charset="-122"/>
                <a:cs typeface="Arial"/>
              </a:rPr>
              <a:t>KOSPI went from 9,000+ in June to 6,789 on 28 Aug 2026, in about ten weeks.</a:t>
            </a:r>
            <a:endParaRPr lang="en-US" sz="900">
              <a:latin typeface="Arial"/>
              <a:cs typeface="Arial"/>
            </a:endParaRPr>
          </a:p>
          <a:p>
            <a:pPr marL="0" indent="0">
              <a:spcAft>
                <a:spcPts val="100"/>
              </a:spcAft>
              <a:buNone/>
            </a:pPr>
            <a:r>
              <a:rPr lang="en-US" sz="900" b="1">
                <a:solidFill>
                  <a:srgbClr val="2C5F82"/>
                </a:solidFill>
                <a:latin typeface="Arial"/>
                <a:ea typeface="Arial" pitchFamily="34" charset="-122"/>
                <a:cs typeface="Arial"/>
              </a:rPr>
              <a:t>→ Entry timing is hard; drawdowns are deep and quick</a:t>
            </a:r>
            <a:endParaRPr lang="en-US" sz="900">
              <a:latin typeface="Arial"/>
              <a:cs typeface="Arial"/>
            </a:endParaRPr>
          </a:p>
        </p:txBody>
      </p:sp>
      <p:sp>
        <p:nvSpPr>
          <p:cNvPr id="34" name="Shape 30"/>
          <p:cNvSpPr/>
          <p:nvPr/>
        </p:nvSpPr>
        <p:spPr>
          <a:xfrm>
            <a:off x="6245352" y="4069616"/>
            <a:ext cx="5486400" cy="548640"/>
          </a:xfrm>
          <a:prstGeom prst="rect">
            <a:avLst/>
          </a:prstGeom>
          <a:solidFill>
            <a:srgbClr val="FFFFFF"/>
          </a:solidFill>
          <a:ln w="12700">
            <a:solidFill>
              <a:srgbClr val="F2F2F2"/>
            </a:solidFill>
            <a:prstDash val="solid"/>
          </a:ln>
        </p:spPr>
        <p:txBody>
          <a:bodyPr/>
          <a:lstStyle/>
          <a:p>
            <a:endParaRPr lang="en-US"/>
          </a:p>
        </p:txBody>
      </p:sp>
      <p:sp>
        <p:nvSpPr>
          <p:cNvPr id="35" name="Shape 31"/>
          <p:cNvSpPr/>
          <p:nvPr/>
        </p:nvSpPr>
        <p:spPr>
          <a:xfrm>
            <a:off x="6245352" y="4069616"/>
            <a:ext cx="64008" cy="548640"/>
          </a:xfrm>
          <a:prstGeom prst="rect">
            <a:avLst/>
          </a:prstGeom>
          <a:solidFill>
            <a:srgbClr val="B23B3B"/>
          </a:solidFill>
          <a:ln w="12700">
            <a:solidFill>
              <a:srgbClr val="B23B3B"/>
            </a:solidFill>
            <a:prstDash val="solid"/>
          </a:ln>
        </p:spPr>
        <p:txBody>
          <a:bodyPr/>
          <a:lstStyle/>
          <a:p>
            <a:endParaRPr lang="en-US"/>
          </a:p>
        </p:txBody>
      </p:sp>
      <p:sp>
        <p:nvSpPr>
          <p:cNvPr id="36" name="Text 32"/>
          <p:cNvSpPr txBox="1"/>
          <p:nvPr/>
        </p:nvSpPr>
        <p:spPr>
          <a:xfrm>
            <a:off x="6355080" y="4069616"/>
            <a:ext cx="1051560" cy="548640"/>
          </a:xfrm>
          <a:prstGeom prst="rect">
            <a:avLst/>
          </a:prstGeom>
          <a:noFill/>
          <a:ln/>
        </p:spPr>
        <p:txBody>
          <a:bodyPr wrap="square" lIns="0" tIns="0" rIns="0" bIns="0" rtlCol="0" anchor="ctr"/>
          <a:lstStyle/>
          <a:p>
            <a:pPr marL="0" indent="0" algn="ctr">
              <a:buNone/>
            </a:pPr>
            <a:r>
              <a:rPr lang="en-US" sz="1700" b="1">
                <a:solidFill>
                  <a:srgbClr val="B23B3B"/>
                </a:solidFill>
                <a:latin typeface="Arial"/>
                <a:ea typeface="Arial" pitchFamily="34" charset="-122"/>
                <a:cs typeface="Arial"/>
              </a:rPr>
              <a:t>&gt;40%</a:t>
            </a:r>
            <a:endParaRPr lang="en-US" sz="1700">
              <a:latin typeface="Arial"/>
              <a:cs typeface="Arial"/>
            </a:endParaRPr>
          </a:p>
        </p:txBody>
      </p:sp>
      <p:sp>
        <p:nvSpPr>
          <p:cNvPr id="37" name="Text 33"/>
          <p:cNvSpPr txBox="1"/>
          <p:nvPr/>
        </p:nvSpPr>
        <p:spPr>
          <a:xfrm>
            <a:off x="7479792" y="4069616"/>
            <a:ext cx="4160520" cy="548640"/>
          </a:xfrm>
          <a:prstGeom prst="rect">
            <a:avLst/>
          </a:prstGeom>
          <a:noFill/>
          <a:ln/>
        </p:spPr>
        <p:txBody>
          <a:bodyPr wrap="square" lIns="0" tIns="0" rIns="0" bIns="0" rtlCol="0" anchor="ctr"/>
          <a:lstStyle/>
          <a:p>
            <a:pPr marL="0" indent="0">
              <a:spcAft>
                <a:spcPts val="100"/>
              </a:spcAft>
              <a:buNone/>
            </a:pPr>
            <a:r>
              <a:rPr lang="en-US" sz="900" b="1">
                <a:solidFill>
                  <a:srgbClr val="262626"/>
                </a:solidFill>
                <a:latin typeface="Arial"/>
                <a:ea typeface="Arial" pitchFamily="34" charset="-122"/>
                <a:cs typeface="Arial"/>
              </a:rPr>
              <a:t>Returns hinge on a few names: </a:t>
            </a:r>
            <a:r>
              <a:rPr lang="en-US" sz="900">
                <a:solidFill>
                  <a:srgbClr val="595959"/>
                </a:solidFill>
                <a:latin typeface="Arial"/>
                <a:ea typeface="Arial" pitchFamily="34" charset="-122"/>
                <a:cs typeface="Arial"/>
              </a:rPr>
              <a:t>TSMC &gt;40% of TAIEX; Samsung + SK hynix ~48% of KOSPI; ~92% of advanced chips from Taiwan.</a:t>
            </a:r>
            <a:endParaRPr lang="en-US" sz="900">
              <a:latin typeface="Arial"/>
              <a:cs typeface="Arial"/>
            </a:endParaRPr>
          </a:p>
          <a:p>
            <a:pPr marL="0" indent="0">
              <a:spcAft>
                <a:spcPts val="100"/>
              </a:spcAft>
              <a:buNone/>
            </a:pPr>
            <a:r>
              <a:rPr lang="en-US" sz="900" b="1">
                <a:solidFill>
                  <a:srgbClr val="2C5F82"/>
                </a:solidFill>
                <a:latin typeface="Arial"/>
                <a:ea typeface="Arial" pitchFamily="34" charset="-122"/>
                <a:cs typeface="Arial"/>
              </a:rPr>
              <a:t>→ Single-name risk is high</a:t>
            </a:r>
            <a:endParaRPr lang="en-US" sz="900">
              <a:latin typeface="Arial"/>
              <a:cs typeface="Arial"/>
            </a:endParaRPr>
          </a:p>
        </p:txBody>
      </p:sp>
      <p:sp>
        <p:nvSpPr>
          <p:cNvPr id="38" name="Shape 34"/>
          <p:cNvSpPr/>
          <p:nvPr/>
        </p:nvSpPr>
        <p:spPr>
          <a:xfrm>
            <a:off x="6245352" y="4673120"/>
            <a:ext cx="5486400" cy="548640"/>
          </a:xfrm>
          <a:prstGeom prst="rect">
            <a:avLst/>
          </a:prstGeom>
          <a:solidFill>
            <a:srgbClr val="F2F2F2"/>
          </a:solidFill>
          <a:ln w="12700">
            <a:solidFill>
              <a:srgbClr val="F2F2F2"/>
            </a:solidFill>
            <a:prstDash val="solid"/>
          </a:ln>
        </p:spPr>
        <p:txBody>
          <a:bodyPr/>
          <a:lstStyle/>
          <a:p>
            <a:endParaRPr lang="en-US"/>
          </a:p>
        </p:txBody>
      </p:sp>
      <p:sp>
        <p:nvSpPr>
          <p:cNvPr id="39" name="Shape 35"/>
          <p:cNvSpPr/>
          <p:nvPr/>
        </p:nvSpPr>
        <p:spPr>
          <a:xfrm>
            <a:off x="6245352" y="4673120"/>
            <a:ext cx="64008" cy="548640"/>
          </a:xfrm>
          <a:prstGeom prst="rect">
            <a:avLst/>
          </a:prstGeom>
          <a:solidFill>
            <a:srgbClr val="B23B3B"/>
          </a:solidFill>
          <a:ln w="12700">
            <a:solidFill>
              <a:srgbClr val="B23B3B"/>
            </a:solidFill>
            <a:prstDash val="solid"/>
          </a:ln>
        </p:spPr>
        <p:txBody>
          <a:bodyPr/>
          <a:lstStyle/>
          <a:p>
            <a:endParaRPr lang="en-US"/>
          </a:p>
        </p:txBody>
      </p:sp>
      <p:sp>
        <p:nvSpPr>
          <p:cNvPr id="40" name="Text 36"/>
          <p:cNvSpPr txBox="1"/>
          <p:nvPr/>
        </p:nvSpPr>
        <p:spPr>
          <a:xfrm>
            <a:off x="6355080" y="4673120"/>
            <a:ext cx="1051560" cy="548640"/>
          </a:xfrm>
          <a:prstGeom prst="rect">
            <a:avLst/>
          </a:prstGeom>
          <a:noFill/>
          <a:ln/>
        </p:spPr>
        <p:txBody>
          <a:bodyPr wrap="square" lIns="0" tIns="0" rIns="0" bIns="0" rtlCol="0" anchor="ctr"/>
          <a:lstStyle/>
          <a:p>
            <a:pPr marL="0" indent="0" algn="ctr">
              <a:buNone/>
            </a:pPr>
            <a:r>
              <a:rPr lang="en-US" sz="1700" b="1">
                <a:solidFill>
                  <a:srgbClr val="B23B3B"/>
                </a:solidFill>
                <a:latin typeface="Arial"/>
                <a:ea typeface="Arial" pitchFamily="34" charset="-122"/>
                <a:cs typeface="Arial"/>
              </a:rPr>
              <a:t>38.6×</a:t>
            </a:r>
            <a:endParaRPr lang="en-US" sz="1700">
              <a:latin typeface="Arial"/>
              <a:cs typeface="Arial"/>
            </a:endParaRPr>
          </a:p>
        </p:txBody>
      </p:sp>
      <p:sp>
        <p:nvSpPr>
          <p:cNvPr id="41" name="Text 37"/>
          <p:cNvSpPr txBox="1"/>
          <p:nvPr/>
        </p:nvSpPr>
        <p:spPr>
          <a:xfrm>
            <a:off x="7479792" y="4673120"/>
            <a:ext cx="4160520" cy="548640"/>
          </a:xfrm>
          <a:prstGeom prst="rect">
            <a:avLst/>
          </a:prstGeom>
          <a:noFill/>
          <a:ln/>
        </p:spPr>
        <p:txBody>
          <a:bodyPr wrap="square" lIns="0" tIns="0" rIns="0" bIns="0" rtlCol="0" anchor="ctr"/>
          <a:lstStyle/>
          <a:p>
            <a:pPr marL="0" indent="0">
              <a:spcAft>
                <a:spcPts val="100"/>
              </a:spcAft>
              <a:buNone/>
            </a:pPr>
            <a:r>
              <a:rPr lang="en-US" sz="900" b="1">
                <a:solidFill>
                  <a:srgbClr val="262626"/>
                </a:solidFill>
                <a:latin typeface="Arial"/>
                <a:ea typeface="Arial" pitchFamily="34" charset="-122"/>
                <a:cs typeface="Arial"/>
              </a:rPr>
              <a:t>Valuations price in a lot: </a:t>
            </a:r>
            <a:r>
              <a:rPr lang="en-US" sz="900">
                <a:solidFill>
                  <a:srgbClr val="595959"/>
                </a:solidFill>
                <a:latin typeface="Arial"/>
                <a:ea typeface="Arial" pitchFamily="34" charset="-122"/>
                <a:cs typeface="Arial"/>
              </a:rPr>
              <a:t>Nikkei CAPE 38.6×; Taiwan among the most expensive markets; DRAM gains slowing.</a:t>
            </a:r>
            <a:endParaRPr lang="en-US" sz="900">
              <a:latin typeface="Arial"/>
              <a:cs typeface="Arial"/>
            </a:endParaRPr>
          </a:p>
          <a:p>
            <a:pPr marL="0" indent="0">
              <a:spcAft>
                <a:spcPts val="100"/>
              </a:spcAft>
              <a:buNone/>
            </a:pPr>
            <a:r>
              <a:rPr lang="en-US" sz="900" b="1">
                <a:solidFill>
                  <a:srgbClr val="2C5F82"/>
                </a:solidFill>
                <a:latin typeface="Arial"/>
                <a:ea typeface="Arial" pitchFamily="34" charset="-122"/>
                <a:cs typeface="Arial"/>
              </a:rPr>
              <a:t>→ Upside from here is less certain than the theme</a:t>
            </a:r>
            <a:endParaRPr lang="en-US" sz="900">
              <a:latin typeface="Arial"/>
              <a:cs typeface="Arial"/>
            </a:endParaRPr>
          </a:p>
        </p:txBody>
      </p:sp>
      <p:sp>
        <p:nvSpPr>
          <p:cNvPr id="43" name="Text 39"/>
          <p:cNvSpPr txBox="1"/>
          <p:nvPr/>
        </p:nvSpPr>
        <p:spPr>
          <a:xfrm>
            <a:off x="594360" y="5276624"/>
            <a:ext cx="11000232" cy="420624"/>
          </a:xfrm>
          <a:prstGeom prst="rect">
            <a:avLst/>
          </a:prstGeom>
          <a:noFill/>
          <a:ln/>
        </p:spPr>
        <p:txBody>
          <a:bodyPr wrap="square" lIns="0" tIns="0" rIns="0" bIns="0" rtlCol="0" anchor="ctr"/>
          <a:lstStyle/>
          <a:p>
            <a:pPr marL="0" indent="0" algn="ctr">
              <a:buNone/>
            </a:pPr>
            <a:endParaRPr lang="en-US" sz="1150" dirty="0"/>
          </a:p>
        </p:txBody>
      </p:sp>
      <p:sp>
        <p:nvSpPr>
          <p:cNvPr id="45" name="Text Placeholder 44">
            <a:extLst>
              <a:ext uri="{FF2B5EF4-FFF2-40B4-BE49-F238E27FC236}">
                <a16:creationId xmlns:a16="http://schemas.microsoft.com/office/drawing/2014/main" id="{32BF0D72-69AD-30B8-B73D-E876A6F3AB3A}"/>
              </a:ext>
            </a:extLst>
          </p:cNvPr>
          <p:cNvSpPr>
            <a:spLocks noGrp="1"/>
          </p:cNvSpPr>
          <p:nvPr>
            <p:ph type="body" idx="1"/>
          </p:nvPr>
        </p:nvSpPr>
        <p:spPr>
          <a:xfrm>
            <a:off x="0" y="5839012"/>
            <a:ext cx="12192000" cy="328155"/>
          </a:xfrm>
        </p:spPr>
        <p:txBody>
          <a:bodyPr/>
          <a:lstStyle/>
          <a:p>
            <a:r>
              <a:rPr lang="en-US" sz="1400" b="1">
                <a:solidFill>
                  <a:srgbClr val="FFFFFF"/>
                </a:solidFill>
                <a:latin typeface="Arial"/>
                <a:ea typeface="Arial" pitchFamily="34" charset="-122"/>
                <a:cs typeface="Arial"/>
              </a:rPr>
              <a:t>Whichever AI company wins, it needs Asia's chips, memory and tools, but the path to owning them is violent.</a:t>
            </a:r>
            <a:endParaRPr lang="en-US" sz="14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138207"/>
            <a:ext cx="11274552" cy="548640"/>
          </a:xfrm>
          <a:prstGeom prst="rect">
            <a:avLst/>
          </a:prstGeom>
          <a:noFill/>
          <a:ln/>
        </p:spPr>
        <p:txBody>
          <a:bodyPr wrap="square" lIns="0" tIns="0" rIns="0" bIns="0" rtlCol="0" anchor="ctr"/>
          <a:lstStyle/>
          <a:p>
            <a:pPr marL="0" indent="0">
              <a:buNone/>
            </a:pPr>
            <a:r>
              <a:rPr lang="en-US" sz="2200" dirty="0">
                <a:solidFill>
                  <a:srgbClr val="262626"/>
                </a:solidFill>
                <a:latin typeface="Arial" pitchFamily="34" charset="0"/>
                <a:ea typeface="Arial" pitchFamily="34" charset="-122"/>
                <a:cs typeface="Arial" pitchFamily="34" charset="-120"/>
              </a:rPr>
              <a:t>Investment thesis 2: Rates stay high and volatility is at records</a:t>
            </a:r>
            <a:endParaRPr lang="en-US" sz="2200" dirty="0"/>
          </a:p>
        </p:txBody>
      </p:sp>
      <p:sp>
        <p:nvSpPr>
          <p:cNvPr id="9" name="Text 7"/>
          <p:cNvSpPr txBox="1"/>
          <p:nvPr/>
        </p:nvSpPr>
        <p:spPr>
          <a:xfrm>
            <a:off x="457200" y="950976"/>
            <a:ext cx="11274552" cy="274320"/>
          </a:xfrm>
          <a:prstGeom prst="rect">
            <a:avLst/>
          </a:prstGeom>
          <a:noFill/>
          <a:ln/>
        </p:spPr>
        <p:txBody>
          <a:bodyPr wrap="square" lIns="0" tIns="0" rIns="0" bIns="0" rtlCol="0" anchor="t"/>
          <a:lstStyle/>
          <a:p>
            <a:pPr marL="0" indent="0">
              <a:buNone/>
            </a:pPr>
            <a:r>
              <a:rPr lang="en-US" sz="1050" i="1" dirty="0">
                <a:solidFill>
                  <a:srgbClr val="595959"/>
                </a:solidFill>
                <a:latin typeface="Arial" pitchFamily="34" charset="0"/>
                <a:ea typeface="Arial" pitchFamily="34" charset="-122"/>
                <a:cs typeface="Arial" pitchFamily="34" charset="-120"/>
              </a:rPr>
              <a:t>The backdrop for the next five years: the Fed holds rates high, bonds carry rate risk, and Asian equities swing harder than ever</a:t>
            </a:r>
            <a:endParaRPr lang="en-US" sz="1050" dirty="0"/>
          </a:p>
        </p:txBody>
      </p:sp>
      <p:sp>
        <p:nvSpPr>
          <p:cNvPr id="10" name="Shape 8"/>
          <p:cNvSpPr/>
          <p:nvPr/>
        </p:nvSpPr>
        <p:spPr>
          <a:xfrm>
            <a:off x="457200" y="1298448"/>
            <a:ext cx="5486400" cy="384048"/>
          </a:xfrm>
          <a:prstGeom prst="rect">
            <a:avLst/>
          </a:prstGeom>
          <a:solidFill>
            <a:srgbClr val="2C5F82"/>
          </a:solidFill>
          <a:ln w="12700">
            <a:solidFill>
              <a:srgbClr val="2C5F82"/>
            </a:solidFill>
            <a:prstDash val="solid"/>
          </a:ln>
        </p:spPr>
        <p:txBody>
          <a:bodyPr/>
          <a:lstStyle/>
          <a:p>
            <a:endParaRPr lang="en-US"/>
          </a:p>
        </p:txBody>
      </p:sp>
      <p:sp>
        <p:nvSpPr>
          <p:cNvPr id="11" name="Text 9"/>
          <p:cNvSpPr txBox="1"/>
          <p:nvPr/>
        </p:nvSpPr>
        <p:spPr>
          <a:xfrm>
            <a:off x="594360" y="1298448"/>
            <a:ext cx="5212080" cy="384048"/>
          </a:xfrm>
          <a:prstGeom prst="rect">
            <a:avLst/>
          </a:prstGeom>
          <a:noFill/>
          <a:ln/>
        </p:spPr>
        <p:txBody>
          <a:bodyPr wrap="square" lIns="0" tIns="0" rIns="0" bIns="0" rtlCol="0" anchor="ctr"/>
          <a:lstStyle/>
          <a:p>
            <a:pPr marL="0" indent="0">
              <a:buNone/>
            </a:pPr>
            <a:r>
              <a:rPr lang="en-US" sz="1250" b="1" dirty="0">
                <a:solidFill>
                  <a:srgbClr val="8DB3D1"/>
                </a:solidFill>
                <a:latin typeface="Arial" pitchFamily="34" charset="0"/>
                <a:ea typeface="Arial" pitchFamily="34" charset="-122"/>
                <a:cs typeface="Arial" pitchFamily="34" charset="-120"/>
              </a:rPr>
              <a:t>2a  </a:t>
            </a:r>
            <a:r>
              <a:rPr lang="en-US" sz="1250" b="1" dirty="0">
                <a:solidFill>
                  <a:srgbClr val="FFFFFF"/>
                </a:solidFill>
                <a:latin typeface="Arial" pitchFamily="34" charset="0"/>
                <a:ea typeface="Arial" pitchFamily="34" charset="-122"/>
                <a:cs typeface="Arial" pitchFamily="34" charset="-120"/>
              </a:rPr>
              <a:t>The Fed holds rates high for longer</a:t>
            </a:r>
            <a:endParaRPr lang="en-US" sz="1250" dirty="0"/>
          </a:p>
        </p:txBody>
      </p:sp>
      <p:pic>
        <p:nvPicPr>
          <p:cNvPr id="12" name="Image 0" descr="/home/user/natixis-case-comp/deck/fomc_dot_plot_compact.png"/>
          <p:cNvPicPr>
            <a:picLocks noChangeAspect="1"/>
          </p:cNvPicPr>
          <p:nvPr/>
        </p:nvPicPr>
        <p:blipFill>
          <a:blip r:embed="rId3"/>
          <a:stretch>
            <a:fillRect/>
          </a:stretch>
        </p:blipFill>
        <p:spPr>
          <a:xfrm>
            <a:off x="662940" y="1755648"/>
            <a:ext cx="5074920" cy="1794789"/>
          </a:xfrm>
          <a:prstGeom prst="rect">
            <a:avLst/>
          </a:prstGeom>
        </p:spPr>
      </p:pic>
      <p:sp>
        <p:nvSpPr>
          <p:cNvPr id="13" name="Text 10"/>
          <p:cNvSpPr txBox="1"/>
          <p:nvPr/>
        </p:nvSpPr>
        <p:spPr>
          <a:xfrm>
            <a:off x="457200" y="3568725"/>
            <a:ext cx="5486400" cy="164592"/>
          </a:xfrm>
          <a:prstGeom prst="rect">
            <a:avLst/>
          </a:prstGeom>
          <a:noFill/>
          <a:ln/>
        </p:spPr>
        <p:txBody>
          <a:bodyPr wrap="square" lIns="0" tIns="0" rIns="0" bIns="0" rtlCol="0" anchor="t"/>
          <a:lstStyle/>
          <a:p>
            <a:pPr marL="0" indent="0">
              <a:buNone/>
            </a:pPr>
            <a:r>
              <a:rPr lang="en-US" sz="750" i="1" dirty="0">
                <a:solidFill>
                  <a:srgbClr val="595959"/>
                </a:solidFill>
                <a:latin typeface="Arial" pitchFamily="34" charset="0"/>
                <a:ea typeface="Arial" pitchFamily="34" charset="-122"/>
                <a:cs typeface="Arial" pitchFamily="34" charset="-120"/>
              </a:rPr>
              <a:t>FOMC dot plot, 16 Sep 2026 (shaded: today's 3.75–4.00%). Dots read from the Fed's chart.</a:t>
            </a:r>
            <a:endParaRPr lang="en-US" sz="750" dirty="0"/>
          </a:p>
        </p:txBody>
      </p:sp>
      <p:sp>
        <p:nvSpPr>
          <p:cNvPr id="14" name="Shape 11"/>
          <p:cNvSpPr/>
          <p:nvPr/>
        </p:nvSpPr>
        <p:spPr>
          <a:xfrm>
            <a:off x="457200" y="3767328"/>
            <a:ext cx="5486400" cy="548640"/>
          </a:xfrm>
          <a:prstGeom prst="rect">
            <a:avLst/>
          </a:prstGeom>
          <a:solidFill>
            <a:srgbClr val="F2F2F2"/>
          </a:solidFill>
          <a:ln w="12700">
            <a:solidFill>
              <a:srgbClr val="F2F2F2"/>
            </a:solidFill>
            <a:prstDash val="solid"/>
          </a:ln>
        </p:spPr>
        <p:txBody>
          <a:bodyPr/>
          <a:lstStyle/>
          <a:p>
            <a:endParaRPr lang="en-US"/>
          </a:p>
        </p:txBody>
      </p:sp>
      <p:sp>
        <p:nvSpPr>
          <p:cNvPr id="15" name="Shape 12"/>
          <p:cNvSpPr/>
          <p:nvPr/>
        </p:nvSpPr>
        <p:spPr>
          <a:xfrm>
            <a:off x="457200" y="3767328"/>
            <a:ext cx="64008" cy="548640"/>
          </a:xfrm>
          <a:prstGeom prst="rect">
            <a:avLst/>
          </a:prstGeom>
          <a:solidFill>
            <a:srgbClr val="2C5F82"/>
          </a:solidFill>
          <a:ln w="12700">
            <a:solidFill>
              <a:srgbClr val="2C5F82"/>
            </a:solidFill>
            <a:prstDash val="solid"/>
          </a:ln>
        </p:spPr>
        <p:txBody>
          <a:bodyPr/>
          <a:lstStyle/>
          <a:p>
            <a:endParaRPr lang="en-US"/>
          </a:p>
        </p:txBody>
      </p:sp>
      <p:sp>
        <p:nvSpPr>
          <p:cNvPr id="16" name="Text 13"/>
          <p:cNvSpPr txBox="1"/>
          <p:nvPr/>
        </p:nvSpPr>
        <p:spPr>
          <a:xfrm>
            <a:off x="566928" y="3767328"/>
            <a:ext cx="1051560" cy="548640"/>
          </a:xfrm>
          <a:prstGeom prst="rect">
            <a:avLst/>
          </a:prstGeom>
          <a:noFill/>
          <a:ln/>
        </p:spPr>
        <p:txBody>
          <a:bodyPr wrap="square" lIns="0" tIns="0" rIns="0" bIns="0" rtlCol="0" anchor="ctr"/>
          <a:lstStyle/>
          <a:p>
            <a:pPr marL="0" indent="0" algn="ctr">
              <a:buNone/>
            </a:pPr>
            <a:r>
              <a:rPr lang="en-US" sz="1700" b="1" dirty="0">
                <a:solidFill>
                  <a:srgbClr val="2C5F82"/>
                </a:solidFill>
                <a:latin typeface="Arial" pitchFamily="34" charset="0"/>
                <a:ea typeface="Arial" pitchFamily="34" charset="-122"/>
                <a:cs typeface="Arial" pitchFamily="34" charset="-120"/>
              </a:rPr>
              <a:t>4.125%</a:t>
            </a:r>
            <a:endParaRPr lang="en-US" sz="1700" dirty="0"/>
          </a:p>
        </p:txBody>
      </p:sp>
      <p:sp>
        <p:nvSpPr>
          <p:cNvPr id="17" name="Text 14"/>
          <p:cNvSpPr txBox="1"/>
          <p:nvPr/>
        </p:nvSpPr>
        <p:spPr>
          <a:xfrm>
            <a:off x="1691640" y="3767328"/>
            <a:ext cx="4160520" cy="548640"/>
          </a:xfrm>
          <a:prstGeom prst="rect">
            <a:avLst/>
          </a:prstGeom>
          <a:noFill/>
          <a:ln/>
        </p:spPr>
        <p:txBody>
          <a:bodyPr wrap="square" lIns="0" tIns="0" rIns="0" bIns="0" rtlCol="0" anchor="ctr"/>
          <a:lstStyle/>
          <a:p>
            <a:pPr marL="0" indent="0">
              <a:spcAft>
                <a:spcPts val="100"/>
              </a:spcAft>
              <a:buNone/>
            </a:pPr>
            <a:r>
              <a:rPr lang="en-US" sz="900" b="1" dirty="0">
                <a:solidFill>
                  <a:srgbClr val="262626"/>
                </a:solidFill>
                <a:latin typeface="Arial" pitchFamily="34" charset="0"/>
                <a:ea typeface="Arial" pitchFamily="34" charset="-122"/>
                <a:cs typeface="Arial" pitchFamily="34" charset="-120"/>
              </a:rPr>
              <a:t>FOMC median to end-2027, cuts deferred to 2028: </a:t>
            </a:r>
            <a:r>
              <a:rPr lang="en-US" sz="900" dirty="0">
                <a:solidFill>
                  <a:srgbClr val="595959"/>
                </a:solidFill>
                <a:latin typeface="Arial" pitchFamily="34" charset="0"/>
                <a:ea typeface="Arial" pitchFamily="34" charset="-122"/>
                <a:cs typeface="Arial" pitchFamily="34" charset="-120"/>
              </a:rPr>
              <a:t>12 of 18 dots at 4.125% for 2026; 4.375% seen by 4 for 2026 and 8 for 2027.</a:t>
            </a:r>
            <a:endParaRPr lang="en-US" sz="900" dirty="0"/>
          </a:p>
          <a:p>
            <a:pPr marL="0" indent="0">
              <a:spcAft>
                <a:spcPts val="100"/>
              </a:spcAft>
              <a:buNone/>
            </a:pPr>
            <a:r>
              <a:rPr lang="en-US" sz="900" b="1" dirty="0">
                <a:solidFill>
                  <a:srgbClr val="2C5F82"/>
                </a:solidFill>
                <a:latin typeface="Arial" pitchFamily="34" charset="0"/>
                <a:ea typeface="Arial" pitchFamily="34" charset="-122"/>
                <a:cs typeface="Arial" pitchFamily="34" charset="-120"/>
              </a:rPr>
              <a:t>→ Rate risk is structural, not a one-off</a:t>
            </a:r>
            <a:endParaRPr lang="en-US" sz="900" dirty="0"/>
          </a:p>
        </p:txBody>
      </p:sp>
      <p:sp>
        <p:nvSpPr>
          <p:cNvPr id="18" name="Shape 15"/>
          <p:cNvSpPr/>
          <p:nvPr/>
        </p:nvSpPr>
        <p:spPr>
          <a:xfrm>
            <a:off x="457200" y="4370832"/>
            <a:ext cx="5486400" cy="548640"/>
          </a:xfrm>
          <a:prstGeom prst="rect">
            <a:avLst/>
          </a:prstGeom>
          <a:solidFill>
            <a:srgbClr val="FFFFFF"/>
          </a:solidFill>
          <a:ln w="12700">
            <a:solidFill>
              <a:srgbClr val="F2F2F2"/>
            </a:solidFill>
            <a:prstDash val="solid"/>
          </a:ln>
        </p:spPr>
        <p:txBody>
          <a:bodyPr/>
          <a:lstStyle/>
          <a:p>
            <a:endParaRPr lang="en-US"/>
          </a:p>
        </p:txBody>
      </p:sp>
      <p:sp>
        <p:nvSpPr>
          <p:cNvPr id="19" name="Shape 16"/>
          <p:cNvSpPr/>
          <p:nvPr/>
        </p:nvSpPr>
        <p:spPr>
          <a:xfrm>
            <a:off x="457200" y="4370832"/>
            <a:ext cx="64008" cy="548640"/>
          </a:xfrm>
          <a:prstGeom prst="rect">
            <a:avLst/>
          </a:prstGeom>
          <a:solidFill>
            <a:srgbClr val="2C5F82"/>
          </a:solidFill>
          <a:ln w="12700">
            <a:solidFill>
              <a:srgbClr val="2C5F82"/>
            </a:solidFill>
            <a:prstDash val="solid"/>
          </a:ln>
        </p:spPr>
        <p:txBody>
          <a:bodyPr/>
          <a:lstStyle/>
          <a:p>
            <a:endParaRPr lang="en-US"/>
          </a:p>
        </p:txBody>
      </p:sp>
      <p:sp>
        <p:nvSpPr>
          <p:cNvPr id="20" name="Text 17"/>
          <p:cNvSpPr txBox="1"/>
          <p:nvPr/>
        </p:nvSpPr>
        <p:spPr>
          <a:xfrm>
            <a:off x="566928" y="4370832"/>
            <a:ext cx="1051560" cy="548640"/>
          </a:xfrm>
          <a:prstGeom prst="rect">
            <a:avLst/>
          </a:prstGeom>
          <a:noFill/>
          <a:ln/>
        </p:spPr>
        <p:txBody>
          <a:bodyPr wrap="square" lIns="0" tIns="0" rIns="0" bIns="0" rtlCol="0" anchor="ctr"/>
          <a:lstStyle/>
          <a:p>
            <a:pPr marL="0" indent="0" algn="ctr">
              <a:buNone/>
            </a:pPr>
            <a:r>
              <a:rPr lang="en-US" sz="1700" b="1" dirty="0">
                <a:solidFill>
                  <a:srgbClr val="2C5F82"/>
                </a:solidFill>
                <a:latin typeface="Arial" pitchFamily="34" charset="0"/>
                <a:ea typeface="Arial" pitchFamily="34" charset="-122"/>
                <a:cs typeface="Arial" pitchFamily="34" charset="-120"/>
              </a:rPr>
              <a:t>+0.25%</a:t>
            </a:r>
            <a:endParaRPr lang="en-US" sz="1700" dirty="0"/>
          </a:p>
        </p:txBody>
      </p:sp>
      <p:sp>
        <p:nvSpPr>
          <p:cNvPr id="21" name="Text 18"/>
          <p:cNvSpPr txBox="1"/>
          <p:nvPr/>
        </p:nvSpPr>
        <p:spPr>
          <a:xfrm>
            <a:off x="1691640" y="4370832"/>
            <a:ext cx="4160520" cy="548640"/>
          </a:xfrm>
          <a:prstGeom prst="rect">
            <a:avLst/>
          </a:prstGeom>
          <a:noFill/>
          <a:ln/>
        </p:spPr>
        <p:txBody>
          <a:bodyPr wrap="square" lIns="0" tIns="0" rIns="0" bIns="0" rtlCol="0" anchor="ctr"/>
          <a:lstStyle/>
          <a:p>
            <a:pPr marL="0" indent="0">
              <a:spcAft>
                <a:spcPts val="100"/>
              </a:spcAft>
              <a:buNone/>
            </a:pPr>
            <a:r>
              <a:rPr lang="en-US" sz="900" b="1" dirty="0">
                <a:solidFill>
                  <a:srgbClr val="262626"/>
                </a:solidFill>
                <a:latin typeface="Arial" pitchFamily="34" charset="0"/>
                <a:ea typeface="Arial" pitchFamily="34" charset="-122"/>
                <a:cs typeface="Arial" pitchFamily="34" charset="-120"/>
              </a:rPr>
              <a:t>The Fed is hiking again: </a:t>
            </a:r>
            <a:r>
              <a:rPr lang="en-US" sz="900" dirty="0">
                <a:solidFill>
                  <a:srgbClr val="595959"/>
                </a:solidFill>
                <a:latin typeface="Arial" pitchFamily="34" charset="0"/>
                <a:ea typeface="Arial" pitchFamily="34" charset="-122"/>
                <a:cs typeface="Arial" pitchFamily="34" charset="-120"/>
              </a:rPr>
              <a:t>16 Sep 2026: to 3.75–4.00%, the first hike since 2023.</a:t>
            </a:r>
            <a:endParaRPr lang="en-US" sz="900" dirty="0"/>
          </a:p>
          <a:p>
            <a:pPr marL="0" indent="0">
              <a:spcAft>
                <a:spcPts val="100"/>
              </a:spcAft>
              <a:buNone/>
            </a:pPr>
            <a:r>
              <a:rPr lang="en-US" sz="900" b="1" dirty="0">
                <a:solidFill>
                  <a:srgbClr val="2C5F82"/>
                </a:solidFill>
                <a:latin typeface="Arial" pitchFamily="34" charset="0"/>
                <a:ea typeface="Arial" pitchFamily="34" charset="-122"/>
                <a:cs typeface="Arial" pitchFamily="34" charset="-120"/>
              </a:rPr>
              <a:t>→ The easing cycle is over for now</a:t>
            </a:r>
            <a:endParaRPr lang="en-US" sz="900" dirty="0"/>
          </a:p>
        </p:txBody>
      </p:sp>
      <p:sp>
        <p:nvSpPr>
          <p:cNvPr id="22" name="Shape 19"/>
          <p:cNvSpPr/>
          <p:nvPr/>
        </p:nvSpPr>
        <p:spPr>
          <a:xfrm>
            <a:off x="457200" y="4974336"/>
            <a:ext cx="5486400" cy="548640"/>
          </a:xfrm>
          <a:prstGeom prst="rect">
            <a:avLst/>
          </a:prstGeom>
          <a:solidFill>
            <a:srgbClr val="F2F2F2"/>
          </a:solidFill>
          <a:ln w="12700">
            <a:solidFill>
              <a:srgbClr val="F2F2F2"/>
            </a:solidFill>
            <a:prstDash val="solid"/>
          </a:ln>
        </p:spPr>
        <p:txBody>
          <a:bodyPr/>
          <a:lstStyle/>
          <a:p>
            <a:endParaRPr lang="en-US"/>
          </a:p>
        </p:txBody>
      </p:sp>
      <p:sp>
        <p:nvSpPr>
          <p:cNvPr id="23" name="Shape 20"/>
          <p:cNvSpPr/>
          <p:nvPr/>
        </p:nvSpPr>
        <p:spPr>
          <a:xfrm>
            <a:off x="457200" y="4974336"/>
            <a:ext cx="64008" cy="548640"/>
          </a:xfrm>
          <a:prstGeom prst="rect">
            <a:avLst/>
          </a:prstGeom>
          <a:solidFill>
            <a:srgbClr val="2C5F82"/>
          </a:solidFill>
          <a:ln w="12700">
            <a:solidFill>
              <a:srgbClr val="2C5F82"/>
            </a:solidFill>
            <a:prstDash val="solid"/>
          </a:ln>
        </p:spPr>
        <p:txBody>
          <a:bodyPr/>
          <a:lstStyle/>
          <a:p>
            <a:endParaRPr lang="en-US"/>
          </a:p>
        </p:txBody>
      </p:sp>
      <p:sp>
        <p:nvSpPr>
          <p:cNvPr id="24" name="Text 21"/>
          <p:cNvSpPr txBox="1"/>
          <p:nvPr/>
        </p:nvSpPr>
        <p:spPr>
          <a:xfrm>
            <a:off x="566928" y="4974336"/>
            <a:ext cx="1051560" cy="548640"/>
          </a:xfrm>
          <a:prstGeom prst="rect">
            <a:avLst/>
          </a:prstGeom>
          <a:noFill/>
          <a:ln/>
        </p:spPr>
        <p:txBody>
          <a:bodyPr wrap="square" lIns="0" tIns="0" rIns="0" bIns="0" rtlCol="0" anchor="ctr"/>
          <a:lstStyle/>
          <a:p>
            <a:pPr marL="0" indent="0" algn="ctr">
              <a:buNone/>
            </a:pPr>
            <a:r>
              <a:rPr lang="en-US" sz="1700" b="1" dirty="0">
                <a:solidFill>
                  <a:srgbClr val="2C5F82"/>
                </a:solidFill>
                <a:latin typeface="Arial" pitchFamily="34" charset="0"/>
                <a:ea typeface="Arial" pitchFamily="34" charset="-122"/>
                <a:cs typeface="Arial" pitchFamily="34" charset="-120"/>
              </a:rPr>
              <a:t>~87%</a:t>
            </a:r>
            <a:endParaRPr lang="en-US" sz="1700" dirty="0"/>
          </a:p>
        </p:txBody>
      </p:sp>
      <p:sp>
        <p:nvSpPr>
          <p:cNvPr id="25" name="Text 22"/>
          <p:cNvSpPr txBox="1"/>
          <p:nvPr/>
        </p:nvSpPr>
        <p:spPr>
          <a:xfrm>
            <a:off x="1691640" y="4974336"/>
            <a:ext cx="4160520" cy="548640"/>
          </a:xfrm>
          <a:prstGeom prst="rect">
            <a:avLst/>
          </a:prstGeom>
          <a:noFill/>
          <a:ln/>
        </p:spPr>
        <p:txBody>
          <a:bodyPr wrap="square" lIns="0" tIns="0" rIns="0" bIns="0" rtlCol="0" anchor="ctr"/>
          <a:lstStyle/>
          <a:p>
            <a:pPr marL="0" indent="0">
              <a:spcAft>
                <a:spcPts val="100"/>
              </a:spcAft>
              <a:buNone/>
            </a:pPr>
            <a:r>
              <a:rPr lang="en-US" sz="900" b="1" dirty="0">
                <a:solidFill>
                  <a:srgbClr val="262626"/>
                </a:solidFill>
                <a:latin typeface="Arial" pitchFamily="34" charset="0"/>
                <a:ea typeface="Arial" pitchFamily="34" charset="-122"/>
                <a:cs typeface="Arial" pitchFamily="34" charset="-120"/>
              </a:rPr>
              <a:t>Markets price more: </a:t>
            </a:r>
            <a:r>
              <a:rPr lang="en-US" sz="900" dirty="0">
                <a:solidFill>
                  <a:srgbClr val="595959"/>
                </a:solidFill>
                <a:latin typeface="Arial" pitchFamily="34" charset="0"/>
                <a:ea typeface="Arial" pitchFamily="34" charset="-122"/>
                <a:cs typeface="Arial" pitchFamily="34" charset="-120"/>
              </a:rPr>
              <a:t>probability of at least one further hike priced by fed funds futures.</a:t>
            </a:r>
            <a:endParaRPr lang="en-US" sz="900" dirty="0"/>
          </a:p>
          <a:p>
            <a:pPr marL="0" indent="0">
              <a:spcAft>
                <a:spcPts val="100"/>
              </a:spcAft>
              <a:buNone/>
            </a:pPr>
            <a:r>
              <a:rPr lang="en-US" sz="900" b="1" dirty="0">
                <a:solidFill>
                  <a:srgbClr val="2C5F82"/>
                </a:solidFill>
                <a:latin typeface="Arial" pitchFamily="34" charset="0"/>
                <a:ea typeface="Arial" pitchFamily="34" charset="-122"/>
                <a:cs typeface="Arial" pitchFamily="34" charset="-120"/>
              </a:rPr>
              <a:t>→ Risk to rates is still to the upside</a:t>
            </a:r>
            <a:endParaRPr lang="en-US" sz="900" dirty="0"/>
          </a:p>
        </p:txBody>
      </p:sp>
      <p:sp>
        <p:nvSpPr>
          <p:cNvPr id="26" name="Shape 23"/>
          <p:cNvSpPr/>
          <p:nvPr/>
        </p:nvSpPr>
        <p:spPr>
          <a:xfrm>
            <a:off x="6245352" y="1298448"/>
            <a:ext cx="5486400" cy="384048"/>
          </a:xfrm>
          <a:prstGeom prst="rect">
            <a:avLst/>
          </a:prstGeom>
          <a:solidFill>
            <a:srgbClr val="2C5F82"/>
          </a:solidFill>
          <a:ln w="12700">
            <a:solidFill>
              <a:srgbClr val="2C5F82"/>
            </a:solidFill>
            <a:prstDash val="solid"/>
          </a:ln>
        </p:spPr>
        <p:txBody>
          <a:bodyPr/>
          <a:lstStyle/>
          <a:p>
            <a:endParaRPr lang="en-US"/>
          </a:p>
        </p:txBody>
      </p:sp>
      <p:sp>
        <p:nvSpPr>
          <p:cNvPr id="27" name="Text 24"/>
          <p:cNvSpPr txBox="1"/>
          <p:nvPr/>
        </p:nvSpPr>
        <p:spPr>
          <a:xfrm>
            <a:off x="6382512" y="1298448"/>
            <a:ext cx="5212080" cy="384048"/>
          </a:xfrm>
          <a:prstGeom prst="rect">
            <a:avLst/>
          </a:prstGeom>
          <a:noFill/>
          <a:ln/>
        </p:spPr>
        <p:txBody>
          <a:bodyPr wrap="square" lIns="0" tIns="0" rIns="0" bIns="0" rtlCol="0" anchor="ctr"/>
          <a:lstStyle/>
          <a:p>
            <a:pPr marL="0" indent="0">
              <a:buNone/>
            </a:pPr>
            <a:r>
              <a:rPr lang="en-US" sz="1250" b="1" dirty="0">
                <a:solidFill>
                  <a:srgbClr val="8DB3D1"/>
                </a:solidFill>
                <a:latin typeface="Arial" pitchFamily="34" charset="0"/>
                <a:ea typeface="Arial" pitchFamily="34" charset="-122"/>
                <a:cs typeface="Arial" pitchFamily="34" charset="-120"/>
              </a:rPr>
              <a:t>2b  </a:t>
            </a:r>
            <a:r>
              <a:rPr lang="en-US" sz="1250" b="1" dirty="0">
                <a:solidFill>
                  <a:srgbClr val="FFFFFF"/>
                </a:solidFill>
                <a:latin typeface="Arial" pitchFamily="34" charset="0"/>
                <a:ea typeface="Arial" pitchFamily="34" charset="-122"/>
                <a:cs typeface="Arial" pitchFamily="34" charset="-120"/>
              </a:rPr>
              <a:t>Bonds carry rate risk, equities swing hard</a:t>
            </a:r>
            <a:endParaRPr lang="en-US" sz="1250" dirty="0"/>
          </a:p>
        </p:txBody>
      </p:sp>
      <p:graphicFrame>
        <p:nvGraphicFramePr>
          <p:cNvPr id="28" name="Chart 0"/>
          <p:cNvGraphicFramePr/>
          <p:nvPr/>
        </p:nvGraphicFramePr>
        <p:xfrm>
          <a:off x="6245352" y="1783080"/>
          <a:ext cx="3017520" cy="1874520"/>
        </p:xfrm>
        <a:graphic>
          <a:graphicData uri="http://schemas.openxmlformats.org/drawingml/2006/chart">
            <c:chart xmlns:c="http://schemas.openxmlformats.org/drawingml/2006/chart" xmlns:r="http://schemas.openxmlformats.org/officeDocument/2006/relationships" r:id="rId4"/>
          </a:graphicData>
        </a:graphic>
      </p:graphicFrame>
      <p:sp>
        <p:nvSpPr>
          <p:cNvPr id="29" name="Text 25"/>
          <p:cNvSpPr txBox="1"/>
          <p:nvPr/>
        </p:nvSpPr>
        <p:spPr>
          <a:xfrm>
            <a:off x="9400032" y="1828800"/>
            <a:ext cx="2331720" cy="1828800"/>
          </a:xfrm>
          <a:prstGeom prst="rect">
            <a:avLst/>
          </a:prstGeom>
          <a:noFill/>
          <a:ln/>
        </p:spPr>
        <p:txBody>
          <a:bodyPr wrap="square" lIns="0" tIns="0" rIns="0" bIns="0" rtlCol="0" anchor="t"/>
          <a:lstStyle/>
          <a:p>
            <a:pPr marL="0" indent="0">
              <a:spcAft>
                <a:spcPts val="200"/>
              </a:spcAft>
              <a:buNone/>
            </a:pPr>
            <a:r>
              <a:rPr lang="en-US" sz="950" b="1" dirty="0">
                <a:solidFill>
                  <a:srgbClr val="2C5F82"/>
                </a:solidFill>
                <a:latin typeface="Arial" pitchFamily="34" charset="0"/>
                <a:ea typeface="Arial" pitchFamily="34" charset="-122"/>
                <a:cs typeface="Arial" pitchFamily="34" charset="-120"/>
              </a:rPr>
              <a:t>Yields are high…</a:t>
            </a:r>
            <a:endParaRPr lang="en-US" sz="950" dirty="0"/>
          </a:p>
          <a:p>
            <a:pPr marL="0" indent="0">
              <a:spcAft>
                <a:spcPts val="200"/>
              </a:spcAft>
              <a:buNone/>
            </a:pPr>
            <a:r>
              <a:rPr lang="en-US" sz="950" dirty="0">
                <a:solidFill>
                  <a:srgbClr val="262626"/>
                </a:solidFill>
                <a:latin typeface="Arial" pitchFamily="34" charset="0"/>
                <a:ea typeface="Arial" pitchFamily="34" charset="-122"/>
                <a:cs typeface="Arial" pitchFamily="34" charset="-120"/>
              </a:rPr>
              <a:t>5Y USD at 5.69%: high income on offer.</a:t>
            </a:r>
            <a:endParaRPr lang="en-US" sz="950" dirty="0"/>
          </a:p>
          <a:p>
            <a:pPr marL="0" indent="0">
              <a:spcAft>
                <a:spcPts val="200"/>
              </a:spcAft>
              <a:buNone/>
            </a:pPr>
            <a:r>
              <a:rPr lang="en-US" sz="950" b="1" dirty="0">
                <a:solidFill>
                  <a:srgbClr val="B23B3B"/>
                </a:solidFill>
                <a:latin typeface="Arial" pitchFamily="34" charset="0"/>
                <a:ea typeface="Arial" pitchFamily="34" charset="-122"/>
                <a:cs typeface="Arial" pitchFamily="34" charset="-120"/>
              </a:rPr>
              <a:t>…but prices are exposed</a:t>
            </a:r>
            <a:endParaRPr lang="en-US" sz="950" dirty="0"/>
          </a:p>
          <a:p>
            <a:pPr marL="0" indent="0">
              <a:spcAft>
                <a:spcPts val="200"/>
              </a:spcAft>
              <a:buNone/>
            </a:pPr>
            <a:r>
              <a:rPr lang="en-US" sz="950" dirty="0">
                <a:solidFill>
                  <a:srgbClr val="262626"/>
                </a:solidFill>
                <a:latin typeface="Arial" pitchFamily="34" charset="0"/>
                <a:ea typeface="Arial" pitchFamily="34" charset="-122"/>
                <a:cs typeface="Arial" pitchFamily="34" charset="-120"/>
              </a:rPr>
              <a:t>With hikes back on the table, a fixed rate locked in today loses value if rates rise further.</a:t>
            </a:r>
            <a:endParaRPr lang="en-US" sz="950" dirty="0"/>
          </a:p>
        </p:txBody>
      </p:sp>
      <p:sp>
        <p:nvSpPr>
          <p:cNvPr id="30" name="Shape 26"/>
          <p:cNvSpPr/>
          <p:nvPr/>
        </p:nvSpPr>
        <p:spPr>
          <a:xfrm>
            <a:off x="6245352" y="3767328"/>
            <a:ext cx="5486400" cy="548640"/>
          </a:xfrm>
          <a:prstGeom prst="rect">
            <a:avLst/>
          </a:prstGeom>
          <a:solidFill>
            <a:srgbClr val="F2F2F2"/>
          </a:solidFill>
          <a:ln w="12700">
            <a:solidFill>
              <a:srgbClr val="F2F2F2"/>
            </a:solidFill>
            <a:prstDash val="solid"/>
          </a:ln>
        </p:spPr>
        <p:txBody>
          <a:bodyPr/>
          <a:lstStyle/>
          <a:p>
            <a:endParaRPr lang="en-US"/>
          </a:p>
        </p:txBody>
      </p:sp>
      <p:sp>
        <p:nvSpPr>
          <p:cNvPr id="31" name="Shape 27"/>
          <p:cNvSpPr/>
          <p:nvPr/>
        </p:nvSpPr>
        <p:spPr>
          <a:xfrm>
            <a:off x="6245352" y="3767328"/>
            <a:ext cx="64008" cy="548640"/>
          </a:xfrm>
          <a:prstGeom prst="rect">
            <a:avLst/>
          </a:prstGeom>
          <a:solidFill>
            <a:srgbClr val="2C5F82"/>
          </a:solidFill>
          <a:ln w="12700">
            <a:solidFill>
              <a:srgbClr val="2C5F82"/>
            </a:solidFill>
            <a:prstDash val="solid"/>
          </a:ln>
        </p:spPr>
        <p:txBody>
          <a:bodyPr/>
          <a:lstStyle/>
          <a:p>
            <a:endParaRPr lang="en-US"/>
          </a:p>
        </p:txBody>
      </p:sp>
      <p:sp>
        <p:nvSpPr>
          <p:cNvPr id="32" name="Text 28"/>
          <p:cNvSpPr txBox="1"/>
          <p:nvPr/>
        </p:nvSpPr>
        <p:spPr>
          <a:xfrm>
            <a:off x="6355080" y="3767328"/>
            <a:ext cx="1051560" cy="548640"/>
          </a:xfrm>
          <a:prstGeom prst="rect">
            <a:avLst/>
          </a:prstGeom>
          <a:noFill/>
          <a:ln/>
        </p:spPr>
        <p:txBody>
          <a:bodyPr wrap="square" lIns="0" tIns="0" rIns="0" bIns="0" rtlCol="0" anchor="ctr"/>
          <a:lstStyle/>
          <a:p>
            <a:pPr marL="0" indent="0" algn="ctr">
              <a:buNone/>
            </a:pPr>
            <a:r>
              <a:rPr lang="en-US" sz="1700" b="1" dirty="0">
                <a:solidFill>
                  <a:srgbClr val="2C5F82"/>
                </a:solidFill>
                <a:latin typeface="Arial" pitchFamily="34" charset="0"/>
                <a:ea typeface="Arial" pitchFamily="34" charset="-122"/>
                <a:cs typeface="Arial" pitchFamily="34" charset="-120"/>
              </a:rPr>
              <a:t>−4.0%</a:t>
            </a:r>
            <a:endParaRPr lang="en-US" sz="1700" dirty="0"/>
          </a:p>
        </p:txBody>
      </p:sp>
      <p:sp>
        <p:nvSpPr>
          <p:cNvPr id="33" name="Text 29"/>
          <p:cNvSpPr txBox="1"/>
          <p:nvPr/>
        </p:nvSpPr>
        <p:spPr>
          <a:xfrm>
            <a:off x="7479792" y="3767328"/>
            <a:ext cx="4160520" cy="548640"/>
          </a:xfrm>
          <a:prstGeom prst="rect">
            <a:avLst/>
          </a:prstGeom>
          <a:noFill/>
          <a:ln/>
        </p:spPr>
        <p:txBody>
          <a:bodyPr wrap="square" lIns="0" tIns="0" rIns="0" bIns="0" rtlCol="0" anchor="ctr"/>
          <a:lstStyle/>
          <a:p>
            <a:pPr marL="0" indent="0">
              <a:spcAft>
                <a:spcPts val="100"/>
              </a:spcAft>
              <a:buNone/>
            </a:pPr>
            <a:r>
              <a:rPr lang="en-US" sz="900" b="1" dirty="0">
                <a:solidFill>
                  <a:srgbClr val="262626"/>
                </a:solidFill>
                <a:latin typeface="Arial" pitchFamily="34" charset="0"/>
                <a:ea typeface="Arial" pitchFamily="34" charset="-122"/>
                <a:cs typeface="Arial" pitchFamily="34" charset="-120"/>
              </a:rPr>
              <a:t>Long bonds carry rate risk: </a:t>
            </a:r>
            <a:r>
              <a:rPr lang="en-US" sz="900" dirty="0">
                <a:solidFill>
                  <a:srgbClr val="595959"/>
                </a:solidFill>
                <a:latin typeface="Arial" pitchFamily="34" charset="0"/>
                <a:ea typeface="Arial" pitchFamily="34" charset="-122"/>
                <a:cs typeface="Arial" pitchFamily="34" charset="-120"/>
              </a:rPr>
              <a:t>a 5-year bond loses ~4.0% per 1% rise in rates.</a:t>
            </a:r>
            <a:endParaRPr lang="en-US" sz="900" dirty="0"/>
          </a:p>
          <a:p>
            <a:pPr marL="0" indent="0">
              <a:spcAft>
                <a:spcPts val="100"/>
              </a:spcAft>
              <a:buNone/>
            </a:pPr>
            <a:r>
              <a:rPr lang="en-US" sz="900" b="1" dirty="0">
                <a:solidFill>
                  <a:srgbClr val="2C5F82"/>
                </a:solidFill>
                <a:latin typeface="Arial" pitchFamily="34" charset="0"/>
                <a:ea typeface="Arial" pitchFamily="34" charset="-122"/>
                <a:cs typeface="Arial" pitchFamily="34" charset="-120"/>
              </a:rPr>
              <a:t>→ Duration is a risk, not a hedge, in this cycle</a:t>
            </a:r>
            <a:endParaRPr lang="en-US" sz="900" dirty="0"/>
          </a:p>
        </p:txBody>
      </p:sp>
      <p:sp>
        <p:nvSpPr>
          <p:cNvPr id="34" name="Shape 30"/>
          <p:cNvSpPr/>
          <p:nvPr/>
        </p:nvSpPr>
        <p:spPr>
          <a:xfrm>
            <a:off x="6245352" y="4370832"/>
            <a:ext cx="5486400" cy="548640"/>
          </a:xfrm>
          <a:prstGeom prst="rect">
            <a:avLst/>
          </a:prstGeom>
          <a:solidFill>
            <a:srgbClr val="FFFFFF"/>
          </a:solidFill>
          <a:ln w="12700">
            <a:solidFill>
              <a:srgbClr val="F2F2F2"/>
            </a:solidFill>
            <a:prstDash val="solid"/>
          </a:ln>
        </p:spPr>
        <p:txBody>
          <a:bodyPr/>
          <a:lstStyle/>
          <a:p>
            <a:endParaRPr lang="en-US"/>
          </a:p>
        </p:txBody>
      </p:sp>
      <p:sp>
        <p:nvSpPr>
          <p:cNvPr id="35" name="Shape 31"/>
          <p:cNvSpPr/>
          <p:nvPr/>
        </p:nvSpPr>
        <p:spPr>
          <a:xfrm>
            <a:off x="6245352" y="4370832"/>
            <a:ext cx="64008" cy="548640"/>
          </a:xfrm>
          <a:prstGeom prst="rect">
            <a:avLst/>
          </a:prstGeom>
          <a:solidFill>
            <a:srgbClr val="B23B3B"/>
          </a:solidFill>
          <a:ln w="12700">
            <a:solidFill>
              <a:srgbClr val="B23B3B"/>
            </a:solidFill>
            <a:prstDash val="solid"/>
          </a:ln>
        </p:spPr>
        <p:txBody>
          <a:bodyPr/>
          <a:lstStyle/>
          <a:p>
            <a:endParaRPr lang="en-US"/>
          </a:p>
        </p:txBody>
      </p:sp>
      <p:sp>
        <p:nvSpPr>
          <p:cNvPr id="36" name="Text 32"/>
          <p:cNvSpPr txBox="1"/>
          <p:nvPr/>
        </p:nvSpPr>
        <p:spPr>
          <a:xfrm>
            <a:off x="6355080" y="4370832"/>
            <a:ext cx="1051560" cy="548640"/>
          </a:xfrm>
          <a:prstGeom prst="rect">
            <a:avLst/>
          </a:prstGeom>
          <a:noFill/>
          <a:ln/>
        </p:spPr>
        <p:txBody>
          <a:bodyPr wrap="square" lIns="0" tIns="0" rIns="0" bIns="0" rtlCol="0" anchor="ctr"/>
          <a:lstStyle/>
          <a:p>
            <a:pPr marL="0" indent="0" algn="ctr">
              <a:buNone/>
            </a:pPr>
            <a:r>
              <a:rPr lang="en-US" sz="1700" b="1" dirty="0">
                <a:solidFill>
                  <a:srgbClr val="B23B3B"/>
                </a:solidFill>
                <a:latin typeface="Arial" pitchFamily="34" charset="0"/>
                <a:ea typeface="Arial" pitchFamily="34" charset="-122"/>
                <a:cs typeface="Arial" pitchFamily="34" charset="-120"/>
              </a:rPr>
              <a:t>91.2</a:t>
            </a:r>
            <a:endParaRPr lang="en-US" sz="1700" dirty="0"/>
          </a:p>
        </p:txBody>
      </p:sp>
      <p:sp>
        <p:nvSpPr>
          <p:cNvPr id="37" name="Text 33"/>
          <p:cNvSpPr txBox="1"/>
          <p:nvPr/>
        </p:nvSpPr>
        <p:spPr>
          <a:xfrm>
            <a:off x="7479792" y="4370832"/>
            <a:ext cx="4160520" cy="548640"/>
          </a:xfrm>
          <a:prstGeom prst="rect">
            <a:avLst/>
          </a:prstGeom>
          <a:noFill/>
          <a:ln/>
        </p:spPr>
        <p:txBody>
          <a:bodyPr wrap="square" lIns="0" tIns="0" rIns="0" bIns="0" rtlCol="0" anchor="ctr"/>
          <a:lstStyle/>
          <a:p>
            <a:pPr marL="0" indent="0">
              <a:spcAft>
                <a:spcPts val="100"/>
              </a:spcAft>
              <a:buNone/>
            </a:pPr>
            <a:r>
              <a:rPr lang="en-US" sz="900" b="1" dirty="0">
                <a:solidFill>
                  <a:srgbClr val="262626"/>
                </a:solidFill>
                <a:latin typeface="Arial" pitchFamily="34" charset="0"/>
                <a:ea typeface="Arial" pitchFamily="34" charset="-122"/>
                <a:cs typeface="Arial" pitchFamily="34" charset="-120"/>
              </a:rPr>
              <a:t>Volatility is at records: </a:t>
            </a:r>
            <a:r>
              <a:rPr lang="en-US" sz="900" dirty="0">
                <a:solidFill>
                  <a:srgbClr val="595959"/>
                </a:solidFill>
                <a:latin typeface="Arial" pitchFamily="34" charset="0"/>
                <a:ea typeface="Arial" pitchFamily="34" charset="-122"/>
                <a:cs typeface="Arial" pitchFamily="34" charset="-120"/>
              </a:rPr>
              <a:t>VKOSPI closed at an all-time high of 91.2 (9 Jun 2026), above the 2008 peak.</a:t>
            </a:r>
            <a:endParaRPr lang="en-US" sz="900" dirty="0"/>
          </a:p>
          <a:p>
            <a:pPr marL="0" indent="0">
              <a:spcAft>
                <a:spcPts val="100"/>
              </a:spcAft>
              <a:buNone/>
            </a:pPr>
            <a:r>
              <a:rPr lang="en-US" sz="900" b="1" dirty="0">
                <a:solidFill>
                  <a:srgbClr val="2C5F82"/>
                </a:solidFill>
                <a:latin typeface="Arial" pitchFamily="34" charset="0"/>
                <a:ea typeface="Arial" pitchFamily="34" charset="-122"/>
                <a:cs typeface="Arial" pitchFamily="34" charset="-120"/>
              </a:rPr>
              <a:t>→ Option-implied risk in Asian equities is extreme</a:t>
            </a:r>
            <a:endParaRPr lang="en-US" sz="900" dirty="0"/>
          </a:p>
        </p:txBody>
      </p:sp>
      <p:sp>
        <p:nvSpPr>
          <p:cNvPr id="38" name="Shape 34"/>
          <p:cNvSpPr/>
          <p:nvPr/>
        </p:nvSpPr>
        <p:spPr>
          <a:xfrm>
            <a:off x="6245352" y="4974336"/>
            <a:ext cx="5486400" cy="548640"/>
          </a:xfrm>
          <a:prstGeom prst="rect">
            <a:avLst/>
          </a:prstGeom>
          <a:solidFill>
            <a:srgbClr val="F2F2F2"/>
          </a:solidFill>
          <a:ln w="12700">
            <a:solidFill>
              <a:srgbClr val="F2F2F2"/>
            </a:solidFill>
            <a:prstDash val="solid"/>
          </a:ln>
        </p:spPr>
        <p:txBody>
          <a:bodyPr/>
          <a:lstStyle/>
          <a:p>
            <a:endParaRPr lang="en-US"/>
          </a:p>
        </p:txBody>
      </p:sp>
      <p:sp>
        <p:nvSpPr>
          <p:cNvPr id="39" name="Shape 35"/>
          <p:cNvSpPr/>
          <p:nvPr/>
        </p:nvSpPr>
        <p:spPr>
          <a:xfrm>
            <a:off x="6245352" y="4974336"/>
            <a:ext cx="64008" cy="548640"/>
          </a:xfrm>
          <a:prstGeom prst="rect">
            <a:avLst/>
          </a:prstGeom>
          <a:solidFill>
            <a:srgbClr val="B23B3B"/>
          </a:solidFill>
          <a:ln w="12700">
            <a:solidFill>
              <a:srgbClr val="B23B3B"/>
            </a:solidFill>
            <a:prstDash val="solid"/>
          </a:ln>
        </p:spPr>
        <p:txBody>
          <a:bodyPr/>
          <a:lstStyle/>
          <a:p>
            <a:endParaRPr lang="en-US"/>
          </a:p>
        </p:txBody>
      </p:sp>
      <p:sp>
        <p:nvSpPr>
          <p:cNvPr id="40" name="Text 36"/>
          <p:cNvSpPr txBox="1"/>
          <p:nvPr/>
        </p:nvSpPr>
        <p:spPr>
          <a:xfrm>
            <a:off x="6355080" y="4974336"/>
            <a:ext cx="1051560" cy="548640"/>
          </a:xfrm>
          <a:prstGeom prst="rect">
            <a:avLst/>
          </a:prstGeom>
          <a:noFill/>
          <a:ln/>
        </p:spPr>
        <p:txBody>
          <a:bodyPr wrap="square" lIns="0" tIns="0" rIns="0" bIns="0" rtlCol="0" anchor="ctr"/>
          <a:lstStyle/>
          <a:p>
            <a:pPr marL="0" indent="0" algn="ctr">
              <a:buNone/>
            </a:pPr>
            <a:r>
              <a:rPr lang="en-US" sz="1700" b="1" dirty="0">
                <a:solidFill>
                  <a:srgbClr val="B23B3B"/>
                </a:solidFill>
                <a:latin typeface="Arial" pitchFamily="34" charset="0"/>
                <a:ea typeface="Arial" pitchFamily="34" charset="-122"/>
                <a:cs typeface="Arial" pitchFamily="34" charset="-120"/>
              </a:rPr>
              <a:t>−8.95%</a:t>
            </a:r>
            <a:endParaRPr lang="en-US" sz="1700" dirty="0"/>
          </a:p>
        </p:txBody>
      </p:sp>
      <p:sp>
        <p:nvSpPr>
          <p:cNvPr id="41" name="Text 37"/>
          <p:cNvSpPr txBox="1"/>
          <p:nvPr/>
        </p:nvSpPr>
        <p:spPr>
          <a:xfrm>
            <a:off x="7479792" y="4974336"/>
            <a:ext cx="4160520" cy="548640"/>
          </a:xfrm>
          <a:prstGeom prst="rect">
            <a:avLst/>
          </a:prstGeom>
          <a:noFill/>
          <a:ln/>
        </p:spPr>
        <p:txBody>
          <a:bodyPr wrap="square" lIns="0" tIns="0" rIns="0" bIns="0" rtlCol="0" anchor="ctr"/>
          <a:lstStyle/>
          <a:p>
            <a:pPr marL="0" indent="0">
              <a:spcAft>
                <a:spcPts val="100"/>
              </a:spcAft>
              <a:buNone/>
            </a:pPr>
            <a:r>
              <a:rPr lang="en-US" sz="900" b="1" dirty="0">
                <a:solidFill>
                  <a:srgbClr val="262626"/>
                </a:solidFill>
                <a:latin typeface="Arial" pitchFamily="34" charset="0"/>
                <a:ea typeface="Arial" pitchFamily="34" charset="-122"/>
                <a:cs typeface="Arial" pitchFamily="34" charset="-120"/>
              </a:rPr>
              <a:t>Single days move markets: </a:t>
            </a:r>
            <a:r>
              <a:rPr lang="en-US" sz="900" dirty="0">
                <a:solidFill>
                  <a:srgbClr val="595959"/>
                </a:solidFill>
                <a:latin typeface="Arial" pitchFamily="34" charset="0"/>
                <a:ea typeface="Arial" pitchFamily="34" charset="-122"/>
                <a:cs typeface="Arial" pitchFamily="34" charset="-120"/>
              </a:rPr>
              <a:t>KOSPI's one-day fall on 13 Jul 2026; J.P. Morgan expects a 10–15% correction in 2026.</a:t>
            </a:r>
            <a:endParaRPr lang="en-US" sz="900" dirty="0"/>
          </a:p>
          <a:p>
            <a:pPr marL="0" indent="0">
              <a:spcAft>
                <a:spcPts val="100"/>
              </a:spcAft>
              <a:buNone/>
            </a:pPr>
            <a:r>
              <a:rPr lang="en-US" sz="900" b="1" dirty="0">
                <a:solidFill>
                  <a:srgbClr val="2C5F82"/>
                </a:solidFill>
                <a:latin typeface="Arial" pitchFamily="34" charset="0"/>
                <a:ea typeface="Arial" pitchFamily="34" charset="-122"/>
                <a:cs typeface="Arial" pitchFamily="34" charset="-120"/>
              </a:rPr>
              <a:t>→ Buy-and-hold must sit through deep drawdowns</a:t>
            </a:r>
            <a:endParaRPr lang="en-US" sz="900" dirty="0"/>
          </a:p>
        </p:txBody>
      </p:sp>
      <p:sp>
        <p:nvSpPr>
          <p:cNvPr id="45" name="Text Placeholder 44">
            <a:extLst>
              <a:ext uri="{FF2B5EF4-FFF2-40B4-BE49-F238E27FC236}">
                <a16:creationId xmlns:a16="http://schemas.microsoft.com/office/drawing/2014/main" id="{85B758ED-A9D4-F58B-60FC-438F7AC309EB}"/>
              </a:ext>
            </a:extLst>
          </p:cNvPr>
          <p:cNvSpPr>
            <a:spLocks noGrp="1"/>
          </p:cNvSpPr>
          <p:nvPr>
            <p:ph type="body" idx="1"/>
          </p:nvPr>
        </p:nvSpPr>
        <p:spPr/>
        <p:txBody>
          <a:bodyPr/>
          <a:lstStyle/>
          <a:p>
            <a:r>
              <a:rPr lang="en-US" sz="1400" b="1" dirty="0">
                <a:solidFill>
                  <a:srgbClr val="FFFFFF"/>
                </a:solidFill>
                <a:latin typeface="Arial" pitchFamily="34" charset="0"/>
                <a:ea typeface="Arial" pitchFamily="34" charset="-122"/>
                <a:cs typeface="Arial" pitchFamily="34" charset="-120"/>
              </a:rPr>
              <a:t>Rates stay high for longer and Asian equity volatility is at records: neither bonds nor buy-and-hold are a comfortable place to sit.</a:t>
            </a:r>
            <a:endParaRPr lang="en-US" sz="1400" dirty="0"/>
          </a:p>
        </p:txBody>
      </p:sp>
      <p:sp>
        <p:nvSpPr>
          <p:cNvPr id="48" name="Text Placeholder 47">
            <a:extLst>
              <a:ext uri="{FF2B5EF4-FFF2-40B4-BE49-F238E27FC236}">
                <a16:creationId xmlns:a16="http://schemas.microsoft.com/office/drawing/2014/main" id="{7281D457-B4FA-7C8E-9B8C-63C007EF87D2}"/>
              </a:ext>
            </a:extLst>
          </p:cNvPr>
          <p:cNvSpPr>
            <a:spLocks noGrp="1"/>
          </p:cNvSpPr>
          <p:nvPr>
            <p:ph type="body" idx="10"/>
          </p:nvPr>
        </p:nvSpPr>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txBox="1"/>
          <p:nvPr/>
        </p:nvSpPr>
        <p:spPr>
          <a:xfrm>
            <a:off x="396239" y="124987"/>
            <a:ext cx="11247120" cy="548640"/>
          </a:xfrm>
          <a:prstGeom prst="rect">
            <a:avLst/>
          </a:prstGeom>
          <a:noFill/>
          <a:ln/>
        </p:spPr>
        <p:txBody>
          <a:bodyPr wrap="square" lIns="0" tIns="0" rIns="0" bIns="0" rtlCol="0" anchor="ctr"/>
          <a:lstStyle/>
          <a:p>
            <a:r>
              <a:rPr lang="en-US" sz="2200" dirty="0">
                <a:solidFill>
                  <a:srgbClr val="262626"/>
                </a:solidFill>
                <a:latin typeface="Arial"/>
                <a:ea typeface="Arial" pitchFamily="34" charset="-122"/>
                <a:cs typeface="Arial"/>
              </a:rPr>
              <a:t>Our Product : </a:t>
            </a:r>
            <a:r>
              <a:rPr lang="en-US" sz="2200">
                <a:solidFill>
                  <a:srgbClr val="262626"/>
                </a:solidFill>
                <a:latin typeface="Arial"/>
                <a:ea typeface="+mn-lt"/>
                <a:cs typeface="Arial"/>
              </a:rPr>
              <a:t>12.75% p.a. 5-Year Asia Mixed Technology </a:t>
            </a:r>
            <a:r>
              <a:rPr lang="en-US" sz="2200" err="1">
                <a:solidFill>
                  <a:srgbClr val="262626"/>
                </a:solidFill>
                <a:latin typeface="Arial"/>
                <a:ea typeface="+mn-lt"/>
                <a:cs typeface="Arial"/>
              </a:rPr>
              <a:t>Autocallable</a:t>
            </a:r>
            <a:r>
              <a:rPr lang="en-US" sz="2200">
                <a:solidFill>
                  <a:srgbClr val="262626"/>
                </a:solidFill>
                <a:latin typeface="Arial"/>
                <a:ea typeface="+mn-lt"/>
                <a:cs typeface="Arial"/>
              </a:rPr>
              <a:t> Note</a:t>
            </a:r>
          </a:p>
        </p:txBody>
      </p:sp>
      <p:sp>
        <p:nvSpPr>
          <p:cNvPr id="9" name="Text 7"/>
          <p:cNvSpPr txBox="1"/>
          <p:nvPr/>
        </p:nvSpPr>
        <p:spPr>
          <a:xfrm>
            <a:off x="451104" y="796930"/>
            <a:ext cx="11277600" cy="280416"/>
          </a:xfrm>
          <a:prstGeom prst="rect">
            <a:avLst/>
          </a:prstGeom>
          <a:noFill/>
          <a:ln/>
        </p:spPr>
        <p:txBody>
          <a:bodyPr wrap="square" lIns="0" tIns="0" rIns="0" bIns="0" rtlCol="0" anchor="ctr"/>
          <a:lstStyle/>
          <a:p>
            <a:r>
              <a:rPr lang="en-US" sz="1400" b="1">
                <a:solidFill>
                  <a:schemeClr val="tx2"/>
                </a:solidFill>
                <a:latin typeface="Arial"/>
                <a:ea typeface="Arial" pitchFamily="34" charset="-122"/>
                <a:cs typeface="Arial"/>
              </a:rPr>
              <a:t>Why this design: the highest coupon on the basket, with capital usually back early</a:t>
            </a:r>
            <a:endParaRPr lang="en-US" sz="1400" b="1">
              <a:solidFill>
                <a:schemeClr val="tx2"/>
              </a:solidFill>
              <a:latin typeface="Arial"/>
              <a:cs typeface="Arial"/>
            </a:endParaRPr>
          </a:p>
        </p:txBody>
      </p:sp>
      <p:graphicFrame>
        <p:nvGraphicFramePr>
          <p:cNvPr id="11" name="Table 0"/>
          <p:cNvGraphicFramePr>
            <a:graphicFrameLocks noGrp="1"/>
          </p:cNvGraphicFramePr>
          <p:nvPr>
            <p:extLst>
              <p:ext uri="{D42A27DB-BD31-4B8C-83A1-F6EECF244321}">
                <p14:modId xmlns:p14="http://schemas.microsoft.com/office/powerpoint/2010/main" val="2069106159"/>
              </p:ext>
            </p:extLst>
          </p:nvPr>
        </p:nvGraphicFramePr>
        <p:xfrm>
          <a:off x="391756" y="1259994"/>
          <a:ext cx="5966013" cy="4576437"/>
        </p:xfrm>
        <a:graphic>
          <a:graphicData uri="http://schemas.openxmlformats.org/drawingml/2006/table">
            <a:tbl>
              <a:tblPr/>
              <a:tblGrid>
                <a:gridCol w="1880591">
                  <a:extLst>
                    <a:ext uri="{9D8B030D-6E8A-4147-A177-3AD203B41FA5}">
                      <a16:colId xmlns:a16="http://schemas.microsoft.com/office/drawing/2014/main" val="20000"/>
                    </a:ext>
                  </a:extLst>
                </a:gridCol>
                <a:gridCol w="4085422">
                  <a:extLst>
                    <a:ext uri="{9D8B030D-6E8A-4147-A177-3AD203B41FA5}">
                      <a16:colId xmlns:a16="http://schemas.microsoft.com/office/drawing/2014/main" val="20001"/>
                    </a:ext>
                  </a:extLst>
                </a:gridCol>
              </a:tblGrid>
              <a:tr h="500423">
                <a:tc>
                  <a:txBody>
                    <a:bodyPr/>
                    <a:lstStyle/>
                    <a:p>
                      <a:pPr marL="0" indent="0">
                        <a:buNone/>
                      </a:pPr>
                      <a:r>
                        <a:rPr lang="en-US" sz="1200" b="1">
                          <a:solidFill>
                            <a:srgbClr val="2C5F82"/>
                          </a:solidFill>
                          <a:latin typeface="Arial" pitchFamily="34" charset="0"/>
                          <a:ea typeface="Arial" pitchFamily="34" charset="-122"/>
                          <a:cs typeface="Arial" pitchFamily="34" charset="-120"/>
                        </a:rPr>
                        <a:t>Issuer</a:t>
                      </a:r>
                      <a:endParaRPr lang="en-US" sz="1200">
                        <a:latin typeface="Arial" charset="0"/>
                        <a:ea typeface="Arial" charset="0"/>
                        <a:cs typeface="Arial" charset="0"/>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marL="0" indent="0">
                        <a:buNone/>
                      </a:pPr>
                      <a:r>
                        <a:rPr lang="en-US" sz="1200" dirty="0">
                          <a:solidFill>
                            <a:srgbClr val="262626"/>
                          </a:solidFill>
                          <a:latin typeface="Arial" pitchFamily="34" charset="0"/>
                          <a:ea typeface="Arial" pitchFamily="34" charset="-122"/>
                          <a:cs typeface="Arial" pitchFamily="34" charset="-120"/>
                        </a:rPr>
                        <a:t>Natixis SA (BPCE Group)</a:t>
                      </a:r>
                      <a:endParaRPr lang="en-US" sz="1200" dirty="0">
                        <a:latin typeface="Arial" charset="0"/>
                        <a:ea typeface="Arial" charset="0"/>
                        <a:cs typeface="Arial" charset="0"/>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extLst>
                  <a:ext uri="{0D108BD9-81ED-4DB2-BD59-A6C34878D82A}">
                    <a16:rowId xmlns:a16="http://schemas.microsoft.com/office/drawing/2014/main" val="10000"/>
                  </a:ext>
                </a:extLst>
              </a:tr>
              <a:tr h="500423">
                <a:tc>
                  <a:txBody>
                    <a:bodyPr/>
                    <a:lstStyle/>
                    <a:p>
                      <a:pPr marL="0" indent="0">
                        <a:buNone/>
                      </a:pPr>
                      <a:r>
                        <a:rPr lang="en-US" sz="1200" b="1">
                          <a:solidFill>
                            <a:srgbClr val="2C5F82"/>
                          </a:solidFill>
                          <a:latin typeface="Arial" pitchFamily="34" charset="0"/>
                          <a:ea typeface="Arial" pitchFamily="34" charset="-122"/>
                          <a:cs typeface="Arial" pitchFamily="34" charset="-120"/>
                        </a:rPr>
                        <a:t>Notional / currency</a:t>
                      </a:r>
                      <a:endParaRPr lang="en-US" sz="1200">
                        <a:latin typeface="Arial" charset="0"/>
                        <a:ea typeface="Arial" charset="0"/>
                        <a:cs typeface="Arial" charset="0"/>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marL="0" indent="0">
                        <a:buNone/>
                      </a:pPr>
                      <a:r>
                        <a:rPr lang="en-US" sz="1200">
                          <a:solidFill>
                            <a:srgbClr val="262626"/>
                          </a:solidFill>
                          <a:latin typeface="Arial"/>
                          <a:ea typeface="Arial" pitchFamily="34" charset="-122"/>
                          <a:cs typeface="Arial"/>
                        </a:rPr>
                        <a:t>USD 100,000,000 </a:t>
                      </a:r>
                      <a:endParaRPr lang="en-US" sz="1200">
                        <a:solidFill>
                          <a:srgbClr val="262626"/>
                        </a:solidFill>
                        <a:latin typeface="Arial"/>
                        <a:ea typeface="Arial" charset="0"/>
                        <a:cs typeface="Arial"/>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extLst>
                  <a:ext uri="{0D108BD9-81ED-4DB2-BD59-A6C34878D82A}">
                    <a16:rowId xmlns:a16="http://schemas.microsoft.com/office/drawing/2014/main" val="10001"/>
                  </a:ext>
                </a:extLst>
              </a:tr>
              <a:tr h="500423">
                <a:tc>
                  <a:txBody>
                    <a:bodyPr/>
                    <a:lstStyle/>
                    <a:p>
                      <a:pPr marL="0" indent="0">
                        <a:buNone/>
                      </a:pPr>
                      <a:r>
                        <a:rPr lang="en-US" sz="1200" b="1">
                          <a:solidFill>
                            <a:srgbClr val="2C5F82"/>
                          </a:solidFill>
                          <a:latin typeface="Arial" pitchFamily="34" charset="0"/>
                          <a:ea typeface="Arial" pitchFamily="34" charset="-122"/>
                          <a:cs typeface="Arial" pitchFamily="34" charset="-120"/>
                        </a:rPr>
                        <a:t>Trade / maturity</a:t>
                      </a:r>
                      <a:endParaRPr lang="en-US" sz="1200">
                        <a:latin typeface="Arial" charset="0"/>
                        <a:ea typeface="Arial" charset="0"/>
                        <a:cs typeface="Arial" charset="0"/>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marL="0" indent="0">
                        <a:buNone/>
                      </a:pPr>
                      <a:r>
                        <a:rPr lang="en-US" sz="1200">
                          <a:solidFill>
                            <a:srgbClr val="262626"/>
                          </a:solidFill>
                          <a:latin typeface="Arial" pitchFamily="34" charset="0"/>
                          <a:ea typeface="Arial" pitchFamily="34" charset="-122"/>
                          <a:cs typeface="Arial" pitchFamily="34" charset="-120"/>
                        </a:rPr>
                        <a:t>17 Sep 2026 / 17 Sep 2031 (5Y)</a:t>
                      </a:r>
                      <a:endParaRPr lang="en-US" sz="1200">
                        <a:latin typeface="Arial" charset="0"/>
                        <a:ea typeface="Arial" charset="0"/>
                        <a:cs typeface="Arial" charset="0"/>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extLst>
                  <a:ext uri="{0D108BD9-81ED-4DB2-BD59-A6C34878D82A}">
                    <a16:rowId xmlns:a16="http://schemas.microsoft.com/office/drawing/2014/main" val="10002"/>
                  </a:ext>
                </a:extLst>
              </a:tr>
              <a:tr h="500423">
                <a:tc>
                  <a:txBody>
                    <a:bodyPr/>
                    <a:lstStyle/>
                    <a:p>
                      <a:pPr marL="0" indent="0">
                        <a:buNone/>
                      </a:pPr>
                      <a:r>
                        <a:rPr lang="en-US" sz="1200" b="1">
                          <a:solidFill>
                            <a:srgbClr val="2C5F82"/>
                          </a:solidFill>
                          <a:latin typeface="Arial" pitchFamily="34" charset="0"/>
                          <a:ea typeface="Arial" pitchFamily="34" charset="-122"/>
                          <a:cs typeface="Arial" pitchFamily="34" charset="-120"/>
                        </a:rPr>
                        <a:t>Underlying</a:t>
                      </a:r>
                      <a:endParaRPr lang="en-US" sz="1200">
                        <a:latin typeface="Arial" charset="0"/>
                        <a:ea typeface="Arial" charset="0"/>
                        <a:cs typeface="Arial" charset="0"/>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marL="0" indent="0">
                        <a:buNone/>
                      </a:pPr>
                      <a:r>
                        <a:rPr lang="en-US" sz="1200">
                          <a:solidFill>
                            <a:srgbClr val="262626"/>
                          </a:solidFill>
                          <a:latin typeface="Arial"/>
                          <a:ea typeface="Arial" pitchFamily="34" charset="-122"/>
                          <a:cs typeface="Arial"/>
                        </a:rPr>
                        <a:t>Weighted basket of 5 Asian ETFs </a:t>
                      </a:r>
                      <a:endParaRPr lang="en-US" sz="1200">
                        <a:latin typeface="Arial"/>
                        <a:ea typeface="Arial" charset="0"/>
                        <a:cs typeface="Arial"/>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extLst>
                  <a:ext uri="{0D108BD9-81ED-4DB2-BD59-A6C34878D82A}">
                    <a16:rowId xmlns:a16="http://schemas.microsoft.com/office/drawing/2014/main" val="10003"/>
                  </a:ext>
                </a:extLst>
              </a:tr>
              <a:tr h="500423">
                <a:tc>
                  <a:txBody>
                    <a:bodyPr/>
                    <a:lstStyle/>
                    <a:p>
                      <a:pPr marL="0" indent="0">
                        <a:buNone/>
                      </a:pPr>
                      <a:r>
                        <a:rPr lang="en-US" sz="1200" b="1">
                          <a:solidFill>
                            <a:srgbClr val="2C5F82"/>
                          </a:solidFill>
                          <a:latin typeface="Arial" pitchFamily="34" charset="0"/>
                          <a:ea typeface="Arial" pitchFamily="34" charset="-122"/>
                          <a:cs typeface="Arial" pitchFamily="34" charset="-120"/>
                        </a:rPr>
                        <a:t>Observation</a:t>
                      </a:r>
                      <a:endParaRPr lang="en-US" sz="1200">
                        <a:latin typeface="Arial" charset="0"/>
                        <a:ea typeface="Arial" charset="0"/>
                        <a:cs typeface="Arial" charset="0"/>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marL="0" indent="0">
                        <a:buNone/>
                      </a:pPr>
                      <a:r>
                        <a:rPr lang="en-US" sz="1200">
                          <a:solidFill>
                            <a:srgbClr val="262626"/>
                          </a:solidFill>
                          <a:latin typeface="Arial"/>
                          <a:ea typeface="Arial" pitchFamily="34" charset="-122"/>
                          <a:cs typeface="Arial"/>
                        </a:rPr>
                        <a:t>Yearly, 5 dates; </a:t>
                      </a:r>
                      <a:r>
                        <a:rPr lang="en-US" sz="1200" err="1">
                          <a:solidFill>
                            <a:srgbClr val="262626"/>
                          </a:solidFill>
                          <a:latin typeface="Arial"/>
                          <a:ea typeface="Arial" pitchFamily="34" charset="-122"/>
                          <a:cs typeface="Arial"/>
                        </a:rPr>
                        <a:t>autocall</a:t>
                      </a:r>
                      <a:r>
                        <a:rPr lang="en-US" sz="1200">
                          <a:solidFill>
                            <a:srgbClr val="262626"/>
                          </a:solidFill>
                          <a:latin typeface="Arial"/>
                          <a:ea typeface="Arial" pitchFamily="34" charset="-122"/>
                          <a:cs typeface="Arial"/>
                        </a:rPr>
                        <a:t> from Year 1</a:t>
                      </a:r>
                      <a:endParaRPr lang="en-US" sz="1200">
                        <a:latin typeface="Arial"/>
                        <a:ea typeface="Arial" charset="0"/>
                        <a:cs typeface="Arial"/>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extLst>
                  <a:ext uri="{0D108BD9-81ED-4DB2-BD59-A6C34878D82A}">
                    <a16:rowId xmlns:a16="http://schemas.microsoft.com/office/drawing/2014/main" val="10004"/>
                  </a:ext>
                </a:extLst>
              </a:tr>
              <a:tr h="536738">
                <a:tc>
                  <a:txBody>
                    <a:bodyPr/>
                    <a:lstStyle/>
                    <a:p>
                      <a:pPr marL="0" indent="0">
                        <a:buNone/>
                      </a:pPr>
                      <a:r>
                        <a:rPr lang="en-US" sz="1200" b="1">
                          <a:solidFill>
                            <a:srgbClr val="2C5F82"/>
                          </a:solidFill>
                          <a:latin typeface="Arial" pitchFamily="34" charset="0"/>
                          <a:ea typeface="Arial" pitchFamily="34" charset="-122"/>
                          <a:cs typeface="Arial" pitchFamily="34" charset="-120"/>
                        </a:rPr>
                        <a:t>Coupon</a:t>
                      </a:r>
                      <a:endParaRPr lang="en-US" sz="1200">
                        <a:latin typeface="Arial" charset="0"/>
                        <a:ea typeface="Arial" charset="0"/>
                        <a:cs typeface="Arial" charset="0"/>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marL="0" indent="0">
                        <a:buNone/>
                      </a:pPr>
                      <a:r>
                        <a:rPr lang="en-US" sz="1200">
                          <a:solidFill>
                            <a:srgbClr val="262626"/>
                          </a:solidFill>
                          <a:latin typeface="Arial" pitchFamily="34" charset="0"/>
                          <a:ea typeface="Arial" pitchFamily="34" charset="-122"/>
                          <a:cs typeface="Arial" pitchFamily="34" charset="-120"/>
                        </a:rPr>
                        <a:t>12.75% p.a. (3.19% per quarter), paid if basket ≥ 100%</a:t>
                      </a:r>
                      <a:endParaRPr lang="en-US" sz="1200">
                        <a:latin typeface="Arial" charset="0"/>
                        <a:ea typeface="Arial" charset="0"/>
                        <a:cs typeface="Arial" charset="0"/>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extLst>
                  <a:ext uri="{0D108BD9-81ED-4DB2-BD59-A6C34878D82A}">
                    <a16:rowId xmlns:a16="http://schemas.microsoft.com/office/drawing/2014/main" val="10005"/>
                  </a:ext>
                </a:extLst>
              </a:tr>
              <a:tr h="536738">
                <a:tc>
                  <a:txBody>
                    <a:bodyPr/>
                    <a:lstStyle/>
                    <a:p>
                      <a:pPr marL="0" indent="0">
                        <a:buNone/>
                      </a:pPr>
                      <a:r>
                        <a:rPr lang="en-US" sz="1200" b="1" err="1">
                          <a:solidFill>
                            <a:srgbClr val="2C5F82"/>
                          </a:solidFill>
                          <a:latin typeface="Arial" pitchFamily="34" charset="0"/>
                          <a:ea typeface="Arial" pitchFamily="34" charset="-122"/>
                          <a:cs typeface="Arial" pitchFamily="34" charset="-120"/>
                        </a:rPr>
                        <a:t>Autocall</a:t>
                      </a:r>
                      <a:endParaRPr lang="en-US" sz="1200">
                        <a:latin typeface="Arial" charset="0"/>
                        <a:ea typeface="Arial" charset="0"/>
                        <a:cs typeface="Arial" charset="0"/>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marL="0" indent="0">
                        <a:buNone/>
                      </a:pPr>
                      <a:r>
                        <a:rPr lang="en-US" sz="1200">
                          <a:solidFill>
                            <a:srgbClr val="262626"/>
                          </a:solidFill>
                          <a:latin typeface="Arial"/>
                          <a:ea typeface="Arial" pitchFamily="34" charset="-122"/>
                          <a:cs typeface="Arial"/>
                        </a:rPr>
                        <a:t>Called when Basket ≥ 102.5% - 2.5% x time , return function : 100% + coupon x time </a:t>
                      </a:r>
                      <a:endParaRPr lang="en-US" sz="1200">
                        <a:latin typeface="Arial"/>
                        <a:ea typeface="Arial" charset="0"/>
                        <a:cs typeface="Arial" charset="0"/>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extLst>
                  <a:ext uri="{0D108BD9-81ED-4DB2-BD59-A6C34878D82A}">
                    <a16:rowId xmlns:a16="http://schemas.microsoft.com/office/drawing/2014/main" val="10007"/>
                  </a:ext>
                </a:extLst>
              </a:tr>
              <a:tr h="500423">
                <a:tc>
                  <a:txBody>
                    <a:bodyPr/>
                    <a:lstStyle/>
                    <a:p>
                      <a:pPr marL="0" lvl="0" indent="0">
                        <a:buNone/>
                      </a:pPr>
                      <a:r>
                        <a:rPr lang="en-US" sz="1200" b="1">
                          <a:solidFill>
                            <a:srgbClr val="2C5F82"/>
                          </a:solidFill>
                          <a:latin typeface="Arial"/>
                          <a:cs typeface="Arial"/>
                        </a:rPr>
                        <a:t>Kick in Level</a:t>
                      </a:r>
                      <a:endParaRPr lang="zh-TW"/>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marL="0" lvl="0" indent="0">
                        <a:buNone/>
                      </a:pPr>
                      <a:r>
                        <a:rPr lang="en-US" sz="1200">
                          <a:solidFill>
                            <a:srgbClr val="262626"/>
                          </a:solidFill>
                          <a:latin typeface="Arial"/>
                          <a:cs typeface="Arial"/>
                        </a:rPr>
                        <a:t>70%, if underlying asset has ever fall below the kick in level, Strike price of 100% will be activated.</a:t>
                      </a:r>
                      <a:endParaRPr lang="en-US" sz="1200" err="1">
                        <a:solidFill>
                          <a:srgbClr val="262626"/>
                        </a:solidFill>
                        <a:latin typeface="Arial"/>
                        <a:cs typeface="Arial"/>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extLst>
                  <a:ext uri="{0D108BD9-81ED-4DB2-BD59-A6C34878D82A}">
                    <a16:rowId xmlns:a16="http://schemas.microsoft.com/office/drawing/2014/main" val="10008"/>
                  </a:ext>
                </a:extLst>
              </a:tr>
              <a:tr h="500423">
                <a:tc>
                  <a:txBody>
                    <a:bodyPr/>
                    <a:lstStyle/>
                    <a:p>
                      <a:pPr marL="0" indent="0">
                        <a:buNone/>
                      </a:pPr>
                      <a:r>
                        <a:rPr lang="en-US" sz="1200" b="1">
                          <a:solidFill>
                            <a:srgbClr val="2C5F82"/>
                          </a:solidFill>
                          <a:latin typeface="Arial" pitchFamily="34" charset="0"/>
                          <a:ea typeface="Arial" pitchFamily="34" charset="-122"/>
                          <a:cs typeface="Arial" pitchFamily="34" charset="-120"/>
                        </a:rPr>
                        <a:t>Issue price / fair value</a:t>
                      </a:r>
                      <a:endParaRPr lang="en-US" sz="1200">
                        <a:latin typeface="Arial" charset="0"/>
                        <a:ea typeface="Arial" charset="0"/>
                        <a:cs typeface="Arial" charset="0"/>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marL="0" indent="0">
                        <a:buNone/>
                      </a:pPr>
                      <a:r>
                        <a:rPr lang="en-US" sz="1200" dirty="0">
                          <a:solidFill>
                            <a:srgbClr val="262626"/>
                          </a:solidFill>
                          <a:latin typeface="Arial" pitchFamily="34" charset="0"/>
                          <a:ea typeface="Arial" pitchFamily="34" charset="-122"/>
                          <a:cs typeface="Arial" pitchFamily="34" charset="-120"/>
                        </a:rPr>
                        <a:t>100% / 96.5%</a:t>
                      </a:r>
                      <a:endParaRPr lang="en-US" sz="1200" dirty="0">
                        <a:latin typeface="Arial" charset="0"/>
                        <a:ea typeface="Arial" charset="0"/>
                        <a:cs typeface="Arial" charset="0"/>
                      </a:endParaRPr>
                    </a:p>
                  </a:txBody>
                  <a:tcPr marL="84667" marR="84667" marT="33867" marB="33867"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9F8"/>
                    </a:solidFill>
                  </a:tcPr>
                </a:tc>
                <a:extLst>
                  <a:ext uri="{0D108BD9-81ED-4DB2-BD59-A6C34878D82A}">
                    <a16:rowId xmlns:a16="http://schemas.microsoft.com/office/drawing/2014/main" val="10009"/>
                  </a:ext>
                </a:extLst>
              </a:tr>
            </a:tbl>
          </a:graphicData>
        </a:graphic>
      </p:graphicFrame>
      <p:sp>
        <p:nvSpPr>
          <p:cNvPr id="12" name="Shape 8"/>
          <p:cNvSpPr/>
          <p:nvPr/>
        </p:nvSpPr>
        <p:spPr>
          <a:xfrm>
            <a:off x="6620933" y="4134314"/>
            <a:ext cx="4915221" cy="1702121"/>
          </a:xfrm>
          <a:prstGeom prst="roundRect">
            <a:avLst/>
          </a:prstGeom>
          <a:solidFill>
            <a:srgbClr val="2C5F82"/>
          </a:solidFill>
          <a:ln w="12700">
            <a:solidFill>
              <a:srgbClr val="2C5F82"/>
            </a:solidFill>
            <a:prstDash val="solid"/>
          </a:ln>
        </p:spPr>
        <p:txBody>
          <a:bodyPr lIns="91440" tIns="45720" rIns="91440" bIns="45720" anchor="t"/>
          <a:lstStyle/>
          <a:p>
            <a:pPr>
              <a:buFont typeface=""/>
              <a:buChar char="•"/>
            </a:pPr>
            <a:r>
              <a:rPr lang="af-ZA" sz="1300" b="1" u="none" strike="noStrike">
                <a:solidFill>
                  <a:schemeClr val="bg1"/>
                </a:solidFill>
                <a:latin typeface="Arial"/>
                <a:ea typeface="Arial"/>
                <a:cs typeface="Arial"/>
              </a:rPr>
              <a:t>Structure</a:t>
            </a:r>
            <a:r>
              <a:rPr lang="af-ZA" sz="1300" b="0" u="none" strike="noStrike">
                <a:solidFill>
                  <a:schemeClr val="bg1"/>
                </a:solidFill>
                <a:latin typeface="Arial"/>
                <a:ea typeface="Arial"/>
                <a:cs typeface="Arial"/>
              </a:rPr>
              <a:t>: </a:t>
            </a:r>
            <a:r>
              <a:rPr lang="af-ZA" sz="1300" b="1">
                <a:solidFill>
                  <a:schemeClr val="bg1"/>
                </a:solidFill>
                <a:latin typeface="Arial"/>
                <a:ea typeface="Arial"/>
                <a:cs typeface="Arial"/>
              </a:rPr>
              <a:t>Autocallable</a:t>
            </a:r>
            <a:r>
              <a:rPr lang="af-ZA" sz="1300" b="1" u="none" strike="noStrike">
                <a:solidFill>
                  <a:schemeClr val="bg1"/>
                </a:solidFill>
                <a:latin typeface="Arial"/>
                <a:ea typeface="Arial"/>
                <a:cs typeface="Arial"/>
              </a:rPr>
              <a:t> Note</a:t>
            </a:r>
            <a:r>
              <a:rPr lang="af-ZA" sz="1300" b="0" u="none" strike="noStrike">
                <a:solidFill>
                  <a:schemeClr val="bg1"/>
                </a:solidFill>
                <a:latin typeface="Arial"/>
                <a:ea typeface="Arial"/>
                <a:cs typeface="Arial"/>
              </a:rPr>
              <a:t>.</a:t>
            </a:r>
          </a:p>
          <a:p>
            <a:pPr>
              <a:buFont typeface=""/>
              <a:buChar char="•"/>
            </a:pPr>
            <a:r>
              <a:rPr lang="af-ZA" sz="1300" b="1" u="none" strike="noStrike">
                <a:solidFill>
                  <a:schemeClr val="bg1"/>
                </a:solidFill>
                <a:latin typeface="Arial"/>
                <a:ea typeface="Arial"/>
                <a:cs typeface="Arial"/>
              </a:rPr>
              <a:t>Asset Allocation</a:t>
            </a:r>
            <a:r>
              <a:rPr lang="af-ZA" sz="1300" b="0" u="none" strike="noStrike">
                <a:solidFill>
                  <a:schemeClr val="bg1"/>
                </a:solidFill>
                <a:latin typeface="Arial"/>
                <a:ea typeface="Arial"/>
                <a:cs typeface="Arial"/>
              </a:rPr>
              <a:t>: Applied Modern Portfolio Theory (</a:t>
            </a:r>
            <a:r>
              <a:rPr lang="af-ZA" sz="1300" b="1" u="none" strike="noStrike">
                <a:solidFill>
                  <a:schemeClr val="bg1"/>
                </a:solidFill>
                <a:latin typeface="Arial"/>
                <a:ea typeface="Arial"/>
                <a:cs typeface="Arial"/>
              </a:rPr>
              <a:t>MPT</a:t>
            </a:r>
            <a:r>
              <a:rPr lang="af-ZA" sz="1300" b="0" u="none" strike="noStrike">
                <a:solidFill>
                  <a:schemeClr val="bg1"/>
                </a:solidFill>
                <a:latin typeface="Arial"/>
                <a:ea typeface="Arial"/>
                <a:cs typeface="Arial"/>
              </a:rPr>
              <a:t>) and Relative Value (</a:t>
            </a:r>
            <a:r>
              <a:rPr lang="af-ZA" sz="1300" b="1" u="none" strike="noStrike">
                <a:solidFill>
                  <a:schemeClr val="bg1"/>
                </a:solidFill>
                <a:latin typeface="Arial"/>
                <a:ea typeface="Arial"/>
                <a:cs typeface="Arial"/>
              </a:rPr>
              <a:t>RV</a:t>
            </a:r>
            <a:r>
              <a:rPr lang="af-ZA" sz="1300" b="0" u="none" strike="noStrike">
                <a:solidFill>
                  <a:schemeClr val="bg1"/>
                </a:solidFill>
                <a:latin typeface="Arial"/>
                <a:ea typeface="Arial"/>
                <a:cs typeface="Arial"/>
              </a:rPr>
              <a:t>) analysis to optimize weights for a 5-ETF underlying basket </a:t>
            </a:r>
            <a:r>
              <a:rPr lang="af-ZA" sz="1300" b="0" i="1" u="none" strike="noStrike">
                <a:solidFill>
                  <a:schemeClr val="bg1"/>
                </a:solidFill>
                <a:latin typeface="Arial"/>
                <a:ea typeface="Arial"/>
                <a:cs typeface="Arial"/>
              </a:rPr>
              <a:t>(details on next slide)</a:t>
            </a:r>
            <a:r>
              <a:rPr lang="af-ZA" sz="1300" b="0" u="none" strike="noStrike">
                <a:solidFill>
                  <a:schemeClr val="bg1"/>
                </a:solidFill>
                <a:latin typeface="Arial"/>
                <a:ea typeface="Arial"/>
                <a:cs typeface="Arial"/>
              </a:rPr>
              <a:t>.</a:t>
            </a:r>
          </a:p>
          <a:p>
            <a:pPr>
              <a:buFont typeface=""/>
              <a:buChar char="•"/>
            </a:pPr>
            <a:r>
              <a:rPr lang="af-ZA" sz="1300" b="1" u="none" strike="noStrike">
                <a:solidFill>
                  <a:schemeClr val="bg1"/>
                </a:solidFill>
                <a:latin typeface="Arial"/>
                <a:ea typeface="Arial"/>
                <a:cs typeface="Arial"/>
              </a:rPr>
              <a:t>Pricing &amp; Valuation</a:t>
            </a:r>
            <a:r>
              <a:rPr lang="af-ZA" sz="1300" b="0" u="none" strike="noStrike">
                <a:solidFill>
                  <a:schemeClr val="bg1"/>
                </a:solidFill>
                <a:latin typeface="Arial"/>
                <a:ea typeface="Arial"/>
                <a:cs typeface="Arial"/>
              </a:rPr>
              <a:t>: Combined Implied Volatility (</a:t>
            </a:r>
            <a:r>
              <a:rPr lang="af-ZA" sz="1300" b="1" u="none" strike="noStrike">
                <a:solidFill>
                  <a:schemeClr val="bg1"/>
                </a:solidFill>
                <a:latin typeface="Arial"/>
                <a:ea typeface="Arial"/>
                <a:cs typeface="Arial"/>
              </a:rPr>
              <a:t>IV</a:t>
            </a:r>
            <a:r>
              <a:rPr lang="af-ZA" sz="1300" b="0" u="none" strike="noStrike">
                <a:solidFill>
                  <a:schemeClr val="bg1"/>
                </a:solidFill>
                <a:latin typeface="Arial"/>
                <a:ea typeface="Arial"/>
                <a:cs typeface="Arial"/>
              </a:rPr>
              <a:t>) with </a:t>
            </a:r>
            <a:r>
              <a:rPr lang="af-ZA" sz="1300" b="1" u="none" strike="noStrike">
                <a:solidFill>
                  <a:schemeClr val="bg1"/>
                </a:solidFill>
                <a:latin typeface="Arial"/>
                <a:ea typeface="Arial"/>
                <a:cs typeface="Arial"/>
              </a:rPr>
              <a:t>Monte Carlo simulations</a:t>
            </a:r>
            <a:r>
              <a:rPr lang="af-ZA" sz="1300" b="0" u="none" strike="noStrike">
                <a:solidFill>
                  <a:schemeClr val="bg1"/>
                </a:solidFill>
                <a:latin typeface="Arial"/>
                <a:ea typeface="Arial"/>
                <a:cs typeface="Arial"/>
              </a:rPr>
              <a:t> to derive the fair coupon price </a:t>
            </a:r>
            <a:r>
              <a:rPr lang="af-ZA" sz="1300" b="0" i="1" u="none" strike="noStrike">
                <a:solidFill>
                  <a:schemeClr val="bg1"/>
                </a:solidFill>
                <a:latin typeface="Arial"/>
                <a:ea typeface="Arial"/>
                <a:cs typeface="Arial"/>
              </a:rPr>
              <a:t>(methodology in Appendix E &amp; F)</a:t>
            </a:r>
            <a:r>
              <a:rPr lang="af-ZA" sz="1300" b="0" u="none" strike="noStrike">
                <a:solidFill>
                  <a:schemeClr val="bg1"/>
                </a:solidFill>
                <a:latin typeface="Arial"/>
                <a:ea typeface="Arial"/>
                <a:cs typeface="Arial"/>
              </a:rPr>
              <a:t>.</a:t>
            </a:r>
            <a:endParaRPr lang="en-US" sz="1300">
              <a:solidFill>
                <a:schemeClr val="bg1"/>
              </a:solidFill>
              <a:cs typeface="Arial"/>
            </a:endParaRPr>
          </a:p>
        </p:txBody>
      </p:sp>
      <p:sp>
        <p:nvSpPr>
          <p:cNvPr id="15" name="Text 11"/>
          <p:cNvSpPr txBox="1"/>
          <p:nvPr/>
        </p:nvSpPr>
        <p:spPr>
          <a:xfrm>
            <a:off x="11338560" y="6446520"/>
            <a:ext cx="390144" cy="274320"/>
          </a:xfrm>
          <a:prstGeom prst="rect">
            <a:avLst/>
          </a:prstGeom>
          <a:noFill/>
          <a:ln/>
        </p:spPr>
        <p:txBody>
          <a:bodyPr wrap="square" lIns="0" tIns="0" rIns="0" bIns="0" rtlCol="0" anchor="ctr"/>
          <a:lstStyle/>
          <a:p>
            <a:pPr algn="r"/>
            <a:r>
              <a:rPr lang="en-US" sz="1067">
                <a:solidFill>
                  <a:srgbClr val="595959"/>
                </a:solidFill>
                <a:latin typeface="Arial"/>
                <a:ea typeface="Arial" pitchFamily="34" charset="-122"/>
                <a:cs typeface="Arial"/>
              </a:rPr>
              <a:t>7</a:t>
            </a:r>
            <a:endParaRPr lang="en-US" sz="1067">
              <a:latin typeface="Arial"/>
              <a:cs typeface="Arial"/>
            </a:endParaRPr>
          </a:p>
        </p:txBody>
      </p:sp>
      <p:graphicFrame>
        <p:nvGraphicFramePr>
          <p:cNvPr id="3" name="Table 0">
            <a:extLst>
              <a:ext uri="{FF2B5EF4-FFF2-40B4-BE49-F238E27FC236}">
                <a16:creationId xmlns:a16="http://schemas.microsoft.com/office/drawing/2014/main" id="{CB9F53A0-3CAA-F18D-1A4E-18FAE91B6D0F}"/>
              </a:ext>
            </a:extLst>
          </p:cNvPr>
          <p:cNvGraphicFramePr>
            <a:graphicFrameLocks noGrp="1"/>
          </p:cNvGraphicFramePr>
          <p:nvPr>
            <p:extLst>
              <p:ext uri="{D42A27DB-BD31-4B8C-83A1-F6EECF244321}">
                <p14:modId xmlns:p14="http://schemas.microsoft.com/office/powerpoint/2010/main" val="1966722140"/>
              </p:ext>
            </p:extLst>
          </p:nvPr>
        </p:nvGraphicFramePr>
        <p:xfrm>
          <a:off x="6620933" y="1259994"/>
          <a:ext cx="5022425" cy="2593522"/>
        </p:xfrm>
        <a:graphic>
          <a:graphicData uri="http://schemas.openxmlformats.org/drawingml/2006/table">
            <a:tbl>
              <a:tblPr/>
              <a:tblGrid>
                <a:gridCol w="1389126">
                  <a:extLst>
                    <a:ext uri="{9D8B030D-6E8A-4147-A177-3AD203B41FA5}">
                      <a16:colId xmlns:a16="http://schemas.microsoft.com/office/drawing/2014/main" val="20000"/>
                    </a:ext>
                  </a:extLst>
                </a:gridCol>
                <a:gridCol w="407475">
                  <a:extLst>
                    <a:ext uri="{9D8B030D-6E8A-4147-A177-3AD203B41FA5}">
                      <a16:colId xmlns:a16="http://schemas.microsoft.com/office/drawing/2014/main" val="20001"/>
                    </a:ext>
                  </a:extLst>
                </a:gridCol>
                <a:gridCol w="3225824">
                  <a:extLst>
                    <a:ext uri="{9D8B030D-6E8A-4147-A177-3AD203B41FA5}">
                      <a16:colId xmlns:a16="http://schemas.microsoft.com/office/drawing/2014/main" val="20002"/>
                    </a:ext>
                  </a:extLst>
                </a:gridCol>
              </a:tblGrid>
              <a:tr h="216740">
                <a:tc>
                  <a:txBody>
                    <a:bodyPr/>
                    <a:lstStyle/>
                    <a:p>
                      <a:pPr marL="0" indent="0">
                        <a:buNone/>
                      </a:pPr>
                      <a:r>
                        <a:rPr lang="en-US" sz="1000" b="1">
                          <a:solidFill>
                            <a:srgbClr val="FFFFFF"/>
                          </a:solidFill>
                          <a:latin typeface="Arial" pitchFamily="34" charset="0"/>
                          <a:ea typeface="Arial" pitchFamily="34" charset="-122"/>
                          <a:cs typeface="Arial" pitchFamily="34" charset="-120"/>
                        </a:rPr>
                        <a:t>ETF (Bloomberg)</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buNone/>
                      </a:pPr>
                      <a:r>
                        <a:rPr lang="en-US" sz="1000" b="1" err="1">
                          <a:solidFill>
                            <a:srgbClr val="FFFFFF"/>
                          </a:solidFill>
                          <a:latin typeface="Arial" pitchFamily="34" charset="0"/>
                          <a:ea typeface="Arial" pitchFamily="34" charset="-122"/>
                          <a:cs typeface="Arial" pitchFamily="34" charset="-120"/>
                        </a:rPr>
                        <a:t>Wt</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buNone/>
                      </a:pPr>
                      <a:r>
                        <a:rPr lang="en-US" sz="1000" b="1">
                          <a:solidFill>
                            <a:srgbClr val="FFFFFF"/>
                          </a:solidFill>
                          <a:latin typeface="Arial" pitchFamily="34" charset="0"/>
                          <a:ea typeface="Arial" pitchFamily="34" charset="-122"/>
                          <a:cs typeface="Arial" pitchFamily="34" charset="-120"/>
                        </a:rPr>
                        <a:t>Role in the basket</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extLst>
                  <a:ext uri="{0D108BD9-81ED-4DB2-BD59-A6C34878D82A}">
                    <a16:rowId xmlns:a16="http://schemas.microsoft.com/office/drawing/2014/main" val="10000"/>
                  </a:ext>
                </a:extLst>
              </a:tr>
              <a:tr h="399293">
                <a:tc>
                  <a:txBody>
                    <a:bodyPr/>
                    <a:lstStyle/>
                    <a:p>
                      <a:pPr marL="0" indent="0">
                        <a:buNone/>
                      </a:pPr>
                      <a:r>
                        <a:rPr lang="en-US" sz="1000" b="1">
                          <a:solidFill>
                            <a:srgbClr val="262626"/>
                          </a:solidFill>
                          <a:latin typeface="Arial" pitchFamily="34" charset="0"/>
                          <a:ea typeface="Arial" pitchFamily="34" charset="-122"/>
                          <a:cs typeface="Arial" pitchFamily="34" charset="-120"/>
                        </a:rPr>
                        <a:t>Asia Semiconductor (3119 HK)</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a:solidFill>
                            <a:srgbClr val="262626"/>
                          </a:solidFill>
                          <a:latin typeface="Arial" pitchFamily="34" charset="0"/>
                          <a:ea typeface="Arial" pitchFamily="34" charset="-122"/>
                          <a:cs typeface="Arial" pitchFamily="34" charset="-120"/>
                        </a:rPr>
                        <a:t>35%</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a:solidFill>
                            <a:srgbClr val="262626"/>
                          </a:solidFill>
                          <a:latin typeface="Arial"/>
                          <a:ea typeface="Arial" pitchFamily="34" charset="-122"/>
                          <a:cs typeface="Arial"/>
                        </a:rPr>
                        <a:t>Pan-Asian chip leaders (40 names; TSMC, Samsung, SK Hynix the largest): the core AI-hardware exposure</a:t>
                      </a:r>
                      <a:endParaRPr lang="en-US" sz="1000">
                        <a:latin typeface="Arial"/>
                        <a:ea typeface="Arial" charset="0"/>
                        <a:cs typeface="Arial"/>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9293">
                <a:tc>
                  <a:txBody>
                    <a:bodyPr/>
                    <a:lstStyle/>
                    <a:p>
                      <a:pPr marL="0" indent="0">
                        <a:buNone/>
                      </a:pPr>
                      <a:r>
                        <a:rPr lang="en-US" sz="1000" b="1">
                          <a:solidFill>
                            <a:srgbClr val="262626"/>
                          </a:solidFill>
                          <a:latin typeface="Arial" pitchFamily="34" charset="0"/>
                          <a:ea typeface="Arial" pitchFamily="34" charset="-122"/>
                          <a:cs typeface="Arial" pitchFamily="34" charset="-120"/>
                        </a:rPr>
                        <a:t>iShares MSCI South Korea (EWY)</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a:solidFill>
                            <a:srgbClr val="262626"/>
                          </a:solidFill>
                          <a:latin typeface="Arial" pitchFamily="34" charset="0"/>
                          <a:ea typeface="Arial" pitchFamily="34" charset="-122"/>
                          <a:cs typeface="Arial" pitchFamily="34" charset="-120"/>
                        </a:rPr>
                        <a:t>20%</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a:solidFill>
                            <a:srgbClr val="262626"/>
                          </a:solidFill>
                          <a:latin typeface="Arial" pitchFamily="34" charset="0"/>
                          <a:ea typeface="Arial" pitchFamily="34" charset="-122"/>
                          <a:cs typeface="Arial" pitchFamily="34" charset="-120"/>
                        </a:rPr>
                        <a:t>Korea large caps (Samsung + SK </a:t>
                      </a:r>
                      <a:r>
                        <a:rPr lang="en-US" sz="1000" err="1">
                          <a:solidFill>
                            <a:srgbClr val="262626"/>
                          </a:solidFill>
                          <a:latin typeface="Arial" pitchFamily="34" charset="0"/>
                          <a:ea typeface="Arial" pitchFamily="34" charset="-122"/>
                          <a:cs typeface="Arial" pitchFamily="34" charset="-120"/>
                        </a:rPr>
                        <a:t>hynix</a:t>
                      </a:r>
                      <a:r>
                        <a:rPr lang="en-US" sz="1000">
                          <a:solidFill>
                            <a:srgbClr val="262626"/>
                          </a:solidFill>
                          <a:latin typeface="Arial" pitchFamily="34" charset="0"/>
                          <a:ea typeface="Arial" pitchFamily="34" charset="-122"/>
                          <a:cs typeface="Arial" pitchFamily="34" charset="-120"/>
                        </a:rPr>
                        <a:t> ~44%): high-bandwidth memory for AI</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9293">
                <a:tc>
                  <a:txBody>
                    <a:bodyPr/>
                    <a:lstStyle/>
                    <a:p>
                      <a:pPr marL="0" indent="0">
                        <a:buNone/>
                      </a:pPr>
                      <a:r>
                        <a:rPr lang="en-US" sz="1000" b="1">
                          <a:solidFill>
                            <a:srgbClr val="262626"/>
                          </a:solidFill>
                          <a:latin typeface="Arial" pitchFamily="34" charset="0"/>
                          <a:ea typeface="Arial" pitchFamily="34" charset="-122"/>
                          <a:cs typeface="Arial" pitchFamily="34" charset="-120"/>
                        </a:rPr>
                        <a:t>iShares MSCI Taiwan (EWT)</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a:solidFill>
                            <a:srgbClr val="262626"/>
                          </a:solidFill>
                          <a:latin typeface="Arial" pitchFamily="34" charset="0"/>
                          <a:ea typeface="Arial" pitchFamily="34" charset="-122"/>
                          <a:cs typeface="Arial" pitchFamily="34" charset="-120"/>
                        </a:rPr>
                        <a:t>15%</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a:solidFill>
                            <a:srgbClr val="262626"/>
                          </a:solidFill>
                          <a:latin typeface="Arial" pitchFamily="34" charset="0"/>
                          <a:ea typeface="Arial" pitchFamily="34" charset="-122"/>
                          <a:cs typeface="Arial" pitchFamily="34" charset="-120"/>
                        </a:rPr>
                        <a:t>Taiwan large caps (TSMC, MediaTek, Delta): AI foundry and server chain in the family's Greater China region</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6841">
                <a:tc>
                  <a:txBody>
                    <a:bodyPr/>
                    <a:lstStyle/>
                    <a:p>
                      <a:pPr marL="0" indent="0">
                        <a:buNone/>
                      </a:pPr>
                      <a:r>
                        <a:rPr lang="en-US" sz="1000" b="1">
                          <a:solidFill>
                            <a:srgbClr val="262626"/>
                          </a:solidFill>
                          <a:latin typeface="Arial" pitchFamily="34" charset="0"/>
                          <a:ea typeface="Arial" pitchFamily="34" charset="-122"/>
                          <a:cs typeface="Arial" pitchFamily="34" charset="-120"/>
                        </a:rPr>
                        <a:t>Japan Semiconductor (2644 JP)</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a:solidFill>
                            <a:srgbClr val="262626"/>
                          </a:solidFill>
                          <a:latin typeface="Arial" pitchFamily="34" charset="0"/>
                          <a:ea typeface="Arial" pitchFamily="34" charset="-122"/>
                          <a:cs typeface="Arial" pitchFamily="34" charset="-120"/>
                        </a:rPr>
                        <a:t>15%</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a:solidFill>
                            <a:srgbClr val="262626"/>
                          </a:solidFill>
                          <a:latin typeface="Arial" pitchFamily="34" charset="0"/>
                          <a:ea typeface="Arial" pitchFamily="34" charset="-122"/>
                          <a:cs typeface="Arial" pitchFamily="34" charset="-120"/>
                        </a:rPr>
                        <a:t>Japanese semiconductor stocks (FactSet Japan Semiconductor Index, e.g. Tokyo Electron, Advantest): the family's home market</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99293">
                <a:tc>
                  <a:txBody>
                    <a:bodyPr/>
                    <a:lstStyle/>
                    <a:p>
                      <a:pPr marL="0" indent="0">
                        <a:buNone/>
                      </a:pPr>
                      <a:r>
                        <a:rPr lang="en-US" sz="1000" b="1">
                          <a:solidFill>
                            <a:srgbClr val="262626"/>
                          </a:solidFill>
                          <a:latin typeface="Arial" pitchFamily="34" charset="0"/>
                          <a:ea typeface="Arial" pitchFamily="34" charset="-122"/>
                          <a:cs typeface="Arial" pitchFamily="34" charset="-120"/>
                        </a:rPr>
                        <a:t>Taiwan ESG High Dividend (00878 TT)</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a:solidFill>
                            <a:srgbClr val="262626"/>
                          </a:solidFill>
                          <a:latin typeface="Arial" pitchFamily="34" charset="0"/>
                          <a:ea typeface="Arial" pitchFamily="34" charset="-122"/>
                          <a:cs typeface="Arial" pitchFamily="34" charset="-120"/>
                        </a:rPr>
                        <a:t>15%</a:t>
                      </a:r>
                      <a:endParaRPr lang="en-US" sz="100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ESG-screened Taiwan high-dividend leaders (Quanta, UMC, MediaTek): ESG sleeve and lower-volatility anchor</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59981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14866" y="141022"/>
            <a:ext cx="11247120" cy="548640"/>
          </a:xfrm>
          <a:prstGeom prst="rect">
            <a:avLst/>
          </a:prstGeom>
          <a:noFill/>
          <a:ln/>
        </p:spPr>
        <p:txBody>
          <a:bodyPr wrap="square" lIns="0" tIns="0" rIns="0" bIns="0" rtlCol="0" anchor="ctr"/>
          <a:lstStyle/>
          <a:p>
            <a:r>
              <a:rPr lang="en-US" sz="2200">
                <a:solidFill>
                  <a:srgbClr val="262626"/>
                </a:solidFill>
                <a:latin typeface="Arial" pitchFamily="34" charset="0"/>
                <a:ea typeface="Arial" pitchFamily="34" charset="-122"/>
                <a:cs typeface="Arial" pitchFamily="34" charset="-120"/>
              </a:rPr>
              <a:t>Strategy: our five-ETF basket sits at the low-risk edge of every possible mix</a:t>
            </a:r>
            <a:endParaRPr lang="en-US" sz="2200"/>
          </a:p>
        </p:txBody>
      </p:sp>
      <p:sp>
        <p:nvSpPr>
          <p:cNvPr id="9" name="Text 7"/>
          <p:cNvSpPr txBox="1"/>
          <p:nvPr/>
        </p:nvSpPr>
        <p:spPr>
          <a:xfrm>
            <a:off x="477253" y="755442"/>
            <a:ext cx="11274552" cy="274320"/>
          </a:xfrm>
          <a:prstGeom prst="rect">
            <a:avLst/>
          </a:prstGeom>
          <a:noFill/>
          <a:ln/>
        </p:spPr>
        <p:txBody>
          <a:bodyPr wrap="square" lIns="0" tIns="0" rIns="0" bIns="0" rtlCol="0" anchor="t"/>
          <a:lstStyle/>
          <a:p>
            <a:r>
              <a:rPr lang="en-US" sz="1400" b="1">
                <a:solidFill>
                  <a:schemeClr val="accent1"/>
                </a:solidFill>
                <a:latin typeface="Arial"/>
                <a:ea typeface="Arial" pitchFamily="34" charset="-122"/>
                <a:cs typeface="Arial"/>
              </a:rPr>
              <a:t>USD 100mn across five Bloomberg-listed ETFs; our weights (red star) deliver ~26% expected return for only ~17% Realized Volatility</a:t>
            </a:r>
            <a:endParaRPr lang="en-US" sz="1400" b="1">
              <a:solidFill>
                <a:schemeClr val="accent1"/>
              </a:solidFill>
              <a:cs typeface="Arial"/>
            </a:endParaRPr>
          </a:p>
        </p:txBody>
      </p:sp>
      <p:sp>
        <p:nvSpPr>
          <p:cNvPr id="10" name="Shape 8"/>
          <p:cNvSpPr/>
          <p:nvPr/>
        </p:nvSpPr>
        <p:spPr>
          <a:xfrm>
            <a:off x="414866" y="1249681"/>
            <a:ext cx="3429000" cy="329184"/>
          </a:xfrm>
          <a:prstGeom prst="rect">
            <a:avLst/>
          </a:prstGeom>
          <a:solidFill>
            <a:srgbClr val="2C5F82"/>
          </a:solidFill>
          <a:ln w="12700">
            <a:solidFill>
              <a:srgbClr val="2C5F82"/>
            </a:solidFill>
            <a:prstDash val="solid"/>
          </a:ln>
        </p:spPr>
        <p:txBody>
          <a:bodyPr/>
          <a:lstStyle/>
          <a:p>
            <a:endParaRPr lang="en-US" sz="2400"/>
          </a:p>
        </p:txBody>
      </p:sp>
      <p:sp>
        <p:nvSpPr>
          <p:cNvPr id="11" name="Text 9"/>
          <p:cNvSpPr txBox="1"/>
          <p:nvPr/>
        </p:nvSpPr>
        <p:spPr>
          <a:xfrm>
            <a:off x="414866" y="1249681"/>
            <a:ext cx="3429000" cy="329184"/>
          </a:xfrm>
          <a:prstGeom prst="rect">
            <a:avLst/>
          </a:prstGeom>
          <a:noFill/>
          <a:ln/>
        </p:spPr>
        <p:txBody>
          <a:bodyPr wrap="square" lIns="0" tIns="0" rIns="0" bIns="0" rtlCol="0" anchor="ctr"/>
          <a:lstStyle/>
          <a:p>
            <a:pPr algn="ctr"/>
            <a:r>
              <a:rPr lang="en-US" sz="1147" b="1">
                <a:solidFill>
                  <a:srgbClr val="FFFFFF"/>
                </a:solidFill>
                <a:latin typeface="Arial" pitchFamily="34" charset="0"/>
                <a:ea typeface="Arial" pitchFamily="34" charset="-122"/>
                <a:cs typeface="Arial" pitchFamily="34" charset="-120"/>
              </a:rPr>
              <a:t>Allocation</a:t>
            </a:r>
            <a:endParaRPr lang="en-US" sz="1147"/>
          </a:p>
        </p:txBody>
      </p:sp>
      <p:sp>
        <p:nvSpPr>
          <p:cNvPr id="14" name="Text 11"/>
          <p:cNvSpPr txBox="1"/>
          <p:nvPr/>
        </p:nvSpPr>
        <p:spPr>
          <a:xfrm>
            <a:off x="2700866" y="2094455"/>
            <a:ext cx="1143000" cy="1154439"/>
          </a:xfrm>
          <a:prstGeom prst="rect">
            <a:avLst/>
          </a:prstGeom>
          <a:noFill/>
          <a:ln/>
        </p:spPr>
        <p:txBody>
          <a:bodyPr wrap="square" lIns="0" tIns="0" rIns="0" bIns="0" rtlCol="0" anchor="t"/>
          <a:lstStyle/>
          <a:p>
            <a:r>
              <a:rPr lang="en-US" sz="853" b="1">
                <a:solidFill>
                  <a:srgbClr val="2C5F82"/>
                </a:solidFill>
                <a:latin typeface="Arial" pitchFamily="34" charset="0"/>
                <a:ea typeface="Arial" pitchFamily="34" charset="-122"/>
                <a:cs typeface="Arial" pitchFamily="34" charset="-120"/>
              </a:rPr>
              <a:t>Half in the semiconductor core</a:t>
            </a:r>
            <a:endParaRPr lang="en-US" sz="853"/>
          </a:p>
          <a:p>
            <a:r>
              <a:rPr lang="en-US" sz="853">
                <a:solidFill>
                  <a:srgbClr val="262626"/>
                </a:solidFill>
                <a:latin typeface="Arial" pitchFamily="34" charset="0"/>
                <a:ea typeface="Arial" pitchFamily="34" charset="-122"/>
                <a:cs typeface="Arial" pitchFamily="34" charset="-120"/>
              </a:rPr>
              <a:t>3119 HK + 2644 JP = 50%; Korea adds memory, Taiwan the foundry, 00878 the ESG income.</a:t>
            </a:r>
            <a:endParaRPr lang="en-US" sz="853"/>
          </a:p>
        </p:txBody>
      </p:sp>
      <p:graphicFrame>
        <p:nvGraphicFramePr>
          <p:cNvPr id="15" name="Table 0"/>
          <p:cNvGraphicFramePr>
            <a:graphicFrameLocks noGrp="1"/>
          </p:cNvGraphicFramePr>
          <p:nvPr/>
        </p:nvGraphicFramePr>
        <p:xfrm>
          <a:off x="414866" y="3660989"/>
          <a:ext cx="3429000" cy="1645920"/>
        </p:xfrm>
        <a:graphic>
          <a:graphicData uri="http://schemas.openxmlformats.org/drawingml/2006/table">
            <a:tbl>
              <a:tblPr/>
              <a:tblGrid>
                <a:gridCol w="27432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657773">
                  <a:extLst>
                    <a:ext uri="{9D8B030D-6E8A-4147-A177-3AD203B41FA5}">
                      <a16:colId xmlns:a16="http://schemas.microsoft.com/office/drawing/2014/main" val="20002"/>
                    </a:ext>
                  </a:extLst>
                </a:gridCol>
                <a:gridCol w="719667">
                  <a:extLst>
                    <a:ext uri="{9D8B030D-6E8A-4147-A177-3AD203B41FA5}">
                      <a16:colId xmlns:a16="http://schemas.microsoft.com/office/drawing/2014/main" val="20003"/>
                    </a:ext>
                  </a:extLst>
                </a:gridCol>
              </a:tblGrid>
              <a:tr h="329184">
                <a:tc>
                  <a:txBody>
                    <a:bodyPr/>
                    <a:lstStyle/>
                    <a:p>
                      <a:pPr marL="0" indent="0" algn="ctr">
                        <a:buNone/>
                      </a:pPr>
                      <a:r>
                        <a:rPr lang="en-US" sz="1200">
                          <a:solidFill>
                            <a:srgbClr val="2C5F82"/>
                          </a:solidFill>
                          <a:latin typeface="Arial" pitchFamily="34" charset="0"/>
                          <a:ea typeface="Arial" pitchFamily="34" charset="-122"/>
                          <a:cs typeface="Arial" pitchFamily="34" charset="-120"/>
                        </a:rPr>
                        <a:t>■</a:t>
                      </a:r>
                      <a:endParaRPr lang="en-US" sz="12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900" b="1">
                          <a:solidFill>
                            <a:srgbClr val="262626"/>
                          </a:solidFill>
                          <a:latin typeface="Arial" pitchFamily="34" charset="0"/>
                          <a:ea typeface="Arial" pitchFamily="34" charset="-122"/>
                          <a:cs typeface="Arial" pitchFamily="34" charset="-120"/>
                        </a:rPr>
                        <a:t>3119 HK</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900">
                          <a:solidFill>
                            <a:srgbClr val="262626"/>
                          </a:solidFill>
                          <a:latin typeface="Arial" pitchFamily="34" charset="0"/>
                          <a:ea typeface="Arial" pitchFamily="34" charset="-122"/>
                          <a:cs typeface="Arial" pitchFamily="34" charset="-120"/>
                        </a:rPr>
                        <a:t>Pan-Asian chip leaders</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r">
                        <a:buNone/>
                      </a:pPr>
                      <a:r>
                        <a:rPr lang="en-US" sz="900" b="1">
                          <a:solidFill>
                            <a:srgbClr val="262626"/>
                          </a:solidFill>
                          <a:latin typeface="Arial" pitchFamily="34" charset="0"/>
                          <a:ea typeface="Arial" pitchFamily="34" charset="-122"/>
                          <a:cs typeface="Arial" pitchFamily="34" charset="-120"/>
                        </a:rPr>
                        <a:t>35%</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29184">
                <a:tc>
                  <a:txBody>
                    <a:bodyPr/>
                    <a:lstStyle/>
                    <a:p>
                      <a:pPr marL="0" indent="0" algn="ctr">
                        <a:buNone/>
                      </a:pPr>
                      <a:r>
                        <a:rPr lang="en-US" sz="1200">
                          <a:solidFill>
                            <a:srgbClr val="4F86AE"/>
                          </a:solidFill>
                          <a:latin typeface="Arial" pitchFamily="34" charset="0"/>
                          <a:ea typeface="Arial" pitchFamily="34" charset="-122"/>
                          <a:cs typeface="Arial" pitchFamily="34" charset="-120"/>
                        </a:rPr>
                        <a:t>■</a:t>
                      </a:r>
                      <a:endParaRPr lang="en-US" sz="12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900" b="1">
                          <a:solidFill>
                            <a:srgbClr val="262626"/>
                          </a:solidFill>
                          <a:latin typeface="Arial" pitchFamily="34" charset="0"/>
                          <a:ea typeface="Arial" pitchFamily="34" charset="-122"/>
                          <a:cs typeface="Arial" pitchFamily="34" charset="-120"/>
                        </a:rPr>
                        <a:t>EWY US</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900">
                          <a:solidFill>
                            <a:srgbClr val="262626"/>
                          </a:solidFill>
                          <a:latin typeface="Arial" pitchFamily="34" charset="0"/>
                          <a:ea typeface="Arial" pitchFamily="34" charset="-122"/>
                          <a:cs typeface="Arial" pitchFamily="34" charset="-120"/>
                        </a:rPr>
                        <a:t>Korea: memory for AI</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r">
                        <a:buNone/>
                      </a:pPr>
                      <a:r>
                        <a:rPr lang="en-US" sz="900" b="1">
                          <a:solidFill>
                            <a:srgbClr val="262626"/>
                          </a:solidFill>
                          <a:latin typeface="Arial" pitchFamily="34" charset="0"/>
                          <a:ea typeface="Arial" pitchFamily="34" charset="-122"/>
                          <a:cs typeface="Arial" pitchFamily="34" charset="-120"/>
                        </a:rPr>
                        <a:t>20%</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lang="en-US" sz="1200">
                          <a:solidFill>
                            <a:srgbClr val="8DB3D1"/>
                          </a:solidFill>
                          <a:latin typeface="Arial" pitchFamily="34" charset="0"/>
                          <a:ea typeface="Arial" pitchFamily="34" charset="-122"/>
                          <a:cs typeface="Arial" pitchFamily="34" charset="-120"/>
                        </a:rPr>
                        <a:t>■</a:t>
                      </a:r>
                      <a:endParaRPr lang="en-US" sz="12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900" b="1">
                          <a:solidFill>
                            <a:srgbClr val="262626"/>
                          </a:solidFill>
                          <a:latin typeface="Arial" pitchFamily="34" charset="0"/>
                          <a:ea typeface="Arial" pitchFamily="34" charset="-122"/>
                          <a:cs typeface="Arial" pitchFamily="34" charset="-120"/>
                        </a:rPr>
                        <a:t>EWT US</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900">
                          <a:solidFill>
                            <a:srgbClr val="262626"/>
                          </a:solidFill>
                          <a:latin typeface="Arial" pitchFamily="34" charset="0"/>
                          <a:ea typeface="Arial" pitchFamily="34" charset="-122"/>
                          <a:cs typeface="Arial" pitchFamily="34" charset="-120"/>
                        </a:rPr>
                        <a:t>Taiwan: the AI foundry</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r">
                        <a:buNone/>
                      </a:pPr>
                      <a:r>
                        <a:rPr lang="en-US" sz="900" b="1">
                          <a:solidFill>
                            <a:srgbClr val="262626"/>
                          </a:solidFill>
                          <a:latin typeface="Arial" pitchFamily="34" charset="0"/>
                          <a:ea typeface="Arial" pitchFamily="34" charset="-122"/>
                          <a:cs typeface="Arial" pitchFamily="34" charset="-120"/>
                        </a:rPr>
                        <a:t>15%</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ctr">
                        <a:buNone/>
                      </a:pPr>
                      <a:r>
                        <a:rPr lang="en-US" sz="1200">
                          <a:solidFill>
                            <a:srgbClr val="A6A6A6"/>
                          </a:solidFill>
                          <a:latin typeface="Arial" pitchFamily="34" charset="0"/>
                          <a:ea typeface="Arial" pitchFamily="34" charset="-122"/>
                          <a:cs typeface="Arial" pitchFamily="34" charset="-120"/>
                        </a:rPr>
                        <a:t>■</a:t>
                      </a:r>
                      <a:endParaRPr lang="en-US" sz="12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900" b="1">
                          <a:solidFill>
                            <a:srgbClr val="262626"/>
                          </a:solidFill>
                          <a:latin typeface="Arial" pitchFamily="34" charset="0"/>
                          <a:ea typeface="Arial" pitchFamily="34" charset="-122"/>
                          <a:cs typeface="Arial" pitchFamily="34" charset="-120"/>
                        </a:rPr>
                        <a:t>2644 JP</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900">
                          <a:solidFill>
                            <a:srgbClr val="262626"/>
                          </a:solidFill>
                          <a:latin typeface="Arial" pitchFamily="34" charset="0"/>
                          <a:ea typeface="Arial" pitchFamily="34" charset="-122"/>
                          <a:cs typeface="Arial" pitchFamily="34" charset="-120"/>
                        </a:rPr>
                        <a:t>Japan: chip-making tools</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r">
                        <a:buNone/>
                      </a:pPr>
                      <a:r>
                        <a:rPr lang="en-US" sz="900" b="1">
                          <a:solidFill>
                            <a:srgbClr val="262626"/>
                          </a:solidFill>
                          <a:latin typeface="Arial" pitchFamily="34" charset="0"/>
                          <a:ea typeface="Arial" pitchFamily="34" charset="-122"/>
                          <a:cs typeface="Arial" pitchFamily="34" charset="-120"/>
                        </a:rPr>
                        <a:t>15%</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lang="en-US" sz="1200">
                          <a:solidFill>
                            <a:srgbClr val="2E9E44"/>
                          </a:solidFill>
                          <a:latin typeface="Arial" pitchFamily="34" charset="0"/>
                          <a:ea typeface="Arial" pitchFamily="34" charset="-122"/>
                          <a:cs typeface="Arial" pitchFamily="34" charset="-120"/>
                        </a:rPr>
                        <a:t>■</a:t>
                      </a:r>
                      <a:endParaRPr lang="en-US" sz="12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900" b="1">
                          <a:solidFill>
                            <a:srgbClr val="262626"/>
                          </a:solidFill>
                          <a:latin typeface="Arial" pitchFamily="34" charset="0"/>
                          <a:ea typeface="Arial" pitchFamily="34" charset="-122"/>
                          <a:cs typeface="Arial" pitchFamily="34" charset="-120"/>
                        </a:rPr>
                        <a:t>00878 TT</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900">
                          <a:solidFill>
                            <a:srgbClr val="262626"/>
                          </a:solidFill>
                          <a:latin typeface="Arial" pitchFamily="34" charset="0"/>
                          <a:ea typeface="Arial" pitchFamily="34" charset="-122"/>
                          <a:cs typeface="Arial" pitchFamily="34" charset="-120"/>
                        </a:rPr>
                        <a:t>ESG dividend anchor</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r">
                        <a:buNone/>
                      </a:pPr>
                      <a:r>
                        <a:rPr lang="en-US" sz="900" b="1">
                          <a:solidFill>
                            <a:srgbClr val="262626"/>
                          </a:solidFill>
                          <a:latin typeface="Arial" pitchFamily="34" charset="0"/>
                          <a:ea typeface="Arial" pitchFamily="34" charset="-122"/>
                          <a:cs typeface="Arial" pitchFamily="34" charset="-120"/>
                        </a:rPr>
                        <a:t>15%</a:t>
                      </a:r>
                      <a:endParaRPr lang="en-US" sz="900">
                        <a:latin typeface="Arial" charset="0"/>
                        <a:ea typeface="Arial" charset="0"/>
                        <a:cs typeface="Arial" charset="0"/>
                      </a:endParaRPr>
                    </a:p>
                  </a:txBody>
                  <a:tcPr marL="67733" marR="67733" marT="16933" marB="16933"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6" name="Shape 12"/>
          <p:cNvSpPr/>
          <p:nvPr/>
        </p:nvSpPr>
        <p:spPr>
          <a:xfrm>
            <a:off x="4026746" y="1249681"/>
            <a:ext cx="4572000" cy="329184"/>
          </a:xfrm>
          <a:prstGeom prst="rect">
            <a:avLst/>
          </a:prstGeom>
          <a:solidFill>
            <a:srgbClr val="2C5F82"/>
          </a:solidFill>
          <a:ln w="12700">
            <a:solidFill>
              <a:srgbClr val="2C5F82"/>
            </a:solidFill>
            <a:prstDash val="solid"/>
          </a:ln>
        </p:spPr>
        <p:txBody>
          <a:bodyPr/>
          <a:lstStyle/>
          <a:p>
            <a:endParaRPr lang="en-US" sz="2400"/>
          </a:p>
        </p:txBody>
      </p:sp>
      <p:sp>
        <p:nvSpPr>
          <p:cNvPr id="17" name="Text 13"/>
          <p:cNvSpPr txBox="1"/>
          <p:nvPr/>
        </p:nvSpPr>
        <p:spPr>
          <a:xfrm>
            <a:off x="4026746" y="1248823"/>
            <a:ext cx="4572000" cy="330042"/>
          </a:xfrm>
          <a:prstGeom prst="rect">
            <a:avLst/>
          </a:prstGeom>
          <a:noFill/>
          <a:ln/>
        </p:spPr>
        <p:txBody>
          <a:bodyPr wrap="square" lIns="0" tIns="0" rIns="0" bIns="0" rtlCol="0" anchor="ctr"/>
          <a:lstStyle/>
          <a:p>
            <a:pPr algn="ctr"/>
            <a:r>
              <a:rPr lang="en-US" sz="1100" b="1" dirty="0">
                <a:solidFill>
                  <a:srgbClr val="FFFFFF"/>
                </a:solidFill>
                <a:latin typeface="Arial"/>
                <a:ea typeface="Arial" pitchFamily="34" charset="-122"/>
                <a:cs typeface="Arial"/>
              </a:rPr>
              <a:t>Modern Portfolio Theory : Risk vs return: single ETFs and random mixes</a:t>
            </a:r>
            <a:endParaRPr lang="en-US" sz="1100" dirty="0">
              <a:latin typeface="Arial"/>
              <a:cs typeface="Arial"/>
            </a:endParaRPr>
          </a:p>
        </p:txBody>
      </p:sp>
      <p:pic>
        <p:nvPicPr>
          <p:cNvPr id="18" name="Image 0" descr="/home/user/natixis-case-comp/strategy/risk_return_cloud.jpg"/>
          <p:cNvPicPr>
            <a:picLocks noChangeAspect="1"/>
          </p:cNvPicPr>
          <p:nvPr/>
        </p:nvPicPr>
        <p:blipFill>
          <a:blip r:embed="rId3"/>
          <a:stretch>
            <a:fillRect/>
          </a:stretch>
        </p:blipFill>
        <p:spPr>
          <a:xfrm>
            <a:off x="4026746" y="1797926"/>
            <a:ext cx="4480560" cy="3520835"/>
          </a:xfrm>
          <a:prstGeom prst="rect">
            <a:avLst/>
          </a:prstGeom>
        </p:spPr>
      </p:pic>
      <p:sp>
        <p:nvSpPr>
          <p:cNvPr id="19" name="Shape 14"/>
          <p:cNvSpPr/>
          <p:nvPr/>
        </p:nvSpPr>
        <p:spPr>
          <a:xfrm>
            <a:off x="8781626" y="1249681"/>
            <a:ext cx="2907792" cy="329184"/>
          </a:xfrm>
          <a:prstGeom prst="rect">
            <a:avLst/>
          </a:prstGeom>
          <a:solidFill>
            <a:srgbClr val="2C5F82"/>
          </a:solidFill>
          <a:ln w="12700">
            <a:solidFill>
              <a:srgbClr val="2C5F82"/>
            </a:solidFill>
            <a:prstDash val="solid"/>
          </a:ln>
        </p:spPr>
        <p:txBody>
          <a:bodyPr/>
          <a:lstStyle/>
          <a:p>
            <a:endParaRPr lang="en-US" sz="2400"/>
          </a:p>
        </p:txBody>
      </p:sp>
      <p:sp>
        <p:nvSpPr>
          <p:cNvPr id="20" name="Text 15"/>
          <p:cNvSpPr txBox="1"/>
          <p:nvPr/>
        </p:nvSpPr>
        <p:spPr>
          <a:xfrm>
            <a:off x="8781626" y="1249681"/>
            <a:ext cx="2907792" cy="329184"/>
          </a:xfrm>
          <a:prstGeom prst="rect">
            <a:avLst/>
          </a:prstGeom>
          <a:noFill/>
          <a:ln/>
        </p:spPr>
        <p:txBody>
          <a:bodyPr wrap="square" lIns="0" tIns="0" rIns="0" bIns="0" rtlCol="0" anchor="ctr"/>
          <a:lstStyle/>
          <a:p>
            <a:pPr algn="ctr"/>
            <a:r>
              <a:rPr lang="en-US" sz="1147" b="1">
                <a:solidFill>
                  <a:srgbClr val="FFFFFF"/>
                </a:solidFill>
                <a:latin typeface="Arial" pitchFamily="34" charset="0"/>
                <a:ea typeface="Arial" pitchFamily="34" charset="-122"/>
                <a:cs typeface="Arial" pitchFamily="34" charset="-120"/>
              </a:rPr>
              <a:t>How to read it</a:t>
            </a:r>
            <a:endParaRPr lang="en-US" sz="1147"/>
          </a:p>
        </p:txBody>
      </p:sp>
      <p:sp>
        <p:nvSpPr>
          <p:cNvPr id="21" name="Text 16"/>
          <p:cNvSpPr txBox="1"/>
          <p:nvPr/>
        </p:nvSpPr>
        <p:spPr>
          <a:xfrm>
            <a:off x="8817863" y="1716026"/>
            <a:ext cx="2834640" cy="1325880"/>
          </a:xfrm>
          <a:prstGeom prst="rect">
            <a:avLst/>
          </a:prstGeom>
          <a:noFill/>
          <a:ln/>
        </p:spPr>
        <p:txBody>
          <a:bodyPr wrap="square" lIns="0" tIns="0" rIns="0" bIns="0" rtlCol="0" anchor="t"/>
          <a:lstStyle/>
          <a:p>
            <a:pPr>
              <a:spcAft>
                <a:spcPts val="400"/>
              </a:spcAft>
            </a:pPr>
            <a:r>
              <a:rPr lang="en-US" sz="907" b="1">
                <a:solidFill>
                  <a:srgbClr val="E67E22"/>
                </a:solidFill>
                <a:latin typeface="Arial" pitchFamily="34" charset="0"/>
                <a:ea typeface="Arial" pitchFamily="34" charset="-122"/>
                <a:cs typeface="Arial" pitchFamily="34" charset="-120"/>
              </a:rPr>
              <a:t>Orange dots: </a:t>
            </a:r>
            <a:r>
              <a:rPr lang="en-US" sz="907">
                <a:solidFill>
                  <a:srgbClr val="262626"/>
                </a:solidFill>
                <a:latin typeface="Arial" pitchFamily="34" charset="0"/>
                <a:ea typeface="Arial" pitchFamily="34" charset="-122"/>
                <a:cs typeface="Arial" pitchFamily="34" charset="-120"/>
              </a:rPr>
              <a:t>each ETF on its own (2644 is the dot near 0.26, 0.25).</a:t>
            </a:r>
            <a:endParaRPr lang="en-US" sz="907"/>
          </a:p>
          <a:p>
            <a:pPr>
              <a:spcAft>
                <a:spcPts val="400"/>
              </a:spcAft>
            </a:pPr>
            <a:r>
              <a:rPr lang="en-US" sz="907" b="1">
                <a:solidFill>
                  <a:srgbClr val="C0392B"/>
                </a:solidFill>
                <a:latin typeface="Arial" pitchFamily="34" charset="0"/>
                <a:ea typeface="Arial" pitchFamily="34" charset="-122"/>
                <a:cs typeface="Arial" pitchFamily="34" charset="-120"/>
              </a:rPr>
              <a:t>Red star: </a:t>
            </a:r>
            <a:r>
              <a:rPr lang="en-US" sz="907">
                <a:solidFill>
                  <a:srgbClr val="262626"/>
                </a:solidFill>
                <a:latin typeface="Arial" pitchFamily="34" charset="0"/>
                <a:ea typeface="Arial" pitchFamily="34" charset="-122"/>
                <a:cs typeface="Arial" pitchFamily="34" charset="-120"/>
              </a:rPr>
              <a:t>our basket (35 / 20 / 15 / 15 / 15).</a:t>
            </a:r>
            <a:endParaRPr lang="en-US" sz="907"/>
          </a:p>
          <a:p>
            <a:pPr>
              <a:spcAft>
                <a:spcPts val="400"/>
              </a:spcAft>
            </a:pPr>
            <a:r>
              <a:rPr lang="en-US" sz="907" b="1">
                <a:solidFill>
                  <a:srgbClr val="2C5F82"/>
                </a:solidFill>
                <a:latin typeface="Arial" pitchFamily="34" charset="0"/>
                <a:ea typeface="Arial" pitchFamily="34" charset="-122"/>
                <a:cs typeface="Arial" pitchFamily="34" charset="-120"/>
              </a:rPr>
              <a:t>Small dots: </a:t>
            </a:r>
            <a:r>
              <a:rPr lang="en-US" sz="907">
                <a:solidFill>
                  <a:srgbClr val="262626"/>
                </a:solidFill>
                <a:latin typeface="Arial" pitchFamily="34" charset="0"/>
                <a:ea typeface="Arial" pitchFamily="34" charset="-122"/>
                <a:cs typeface="Arial" pitchFamily="34" charset="-120"/>
              </a:rPr>
              <a:t>thousands of random weightings of the five ETFs; lighter = more return per unit of risk.</a:t>
            </a:r>
            <a:endParaRPr lang="en-US" sz="907"/>
          </a:p>
          <a:p>
            <a:pPr>
              <a:spcAft>
                <a:spcPts val="400"/>
              </a:spcAft>
            </a:pPr>
            <a:r>
              <a:rPr lang="en-US" sz="907" b="1">
                <a:solidFill>
                  <a:srgbClr val="262626"/>
                </a:solidFill>
                <a:latin typeface="Arial" pitchFamily="34" charset="0"/>
                <a:ea typeface="Arial" pitchFamily="34" charset="-122"/>
                <a:cs typeface="Arial" pitchFamily="34" charset="-120"/>
              </a:rPr>
              <a:t>Axes: </a:t>
            </a:r>
            <a:r>
              <a:rPr lang="en-US" sz="907">
                <a:solidFill>
                  <a:srgbClr val="262626"/>
                </a:solidFill>
                <a:latin typeface="Arial" pitchFamily="34" charset="0"/>
                <a:ea typeface="Arial" pitchFamily="34" charset="-122"/>
                <a:cs typeface="Arial" pitchFamily="34" charset="-120"/>
              </a:rPr>
              <a:t>annualised volatility (risk) and expected return.</a:t>
            </a:r>
            <a:endParaRPr lang="en-US" sz="907"/>
          </a:p>
        </p:txBody>
      </p:sp>
      <p:sp>
        <p:nvSpPr>
          <p:cNvPr id="22" name="Shape 17"/>
          <p:cNvSpPr/>
          <p:nvPr/>
        </p:nvSpPr>
        <p:spPr>
          <a:xfrm>
            <a:off x="8781626" y="3032761"/>
            <a:ext cx="2907792" cy="2331720"/>
          </a:xfrm>
          <a:prstGeom prst="rect">
            <a:avLst/>
          </a:prstGeom>
          <a:solidFill>
            <a:srgbClr val="E8EFF5"/>
          </a:solidFill>
          <a:ln w="12700">
            <a:solidFill>
              <a:srgbClr val="E8EFF5"/>
            </a:solidFill>
            <a:prstDash val="solid"/>
          </a:ln>
        </p:spPr>
        <p:txBody>
          <a:bodyPr/>
          <a:lstStyle/>
          <a:p>
            <a:endParaRPr lang="en-US" sz="2400"/>
          </a:p>
        </p:txBody>
      </p:sp>
      <p:sp>
        <p:nvSpPr>
          <p:cNvPr id="23" name="Text 18"/>
          <p:cNvSpPr txBox="1"/>
          <p:nvPr/>
        </p:nvSpPr>
        <p:spPr>
          <a:xfrm>
            <a:off x="8873066" y="3105913"/>
            <a:ext cx="2743200" cy="2212848"/>
          </a:xfrm>
          <a:prstGeom prst="rect">
            <a:avLst/>
          </a:prstGeom>
          <a:noFill/>
          <a:ln/>
        </p:spPr>
        <p:txBody>
          <a:bodyPr wrap="square" lIns="0" tIns="0" rIns="0" bIns="0" rtlCol="0" anchor="t"/>
          <a:lstStyle/>
          <a:p>
            <a:pPr>
              <a:spcAft>
                <a:spcPts val="533"/>
              </a:spcAft>
            </a:pPr>
            <a:r>
              <a:rPr lang="en-US" sz="1107" b="1">
                <a:solidFill>
                  <a:srgbClr val="2C5F82"/>
                </a:solidFill>
                <a:latin typeface="Arial" pitchFamily="34" charset="0"/>
                <a:ea typeface="Arial" pitchFamily="34" charset="-122"/>
                <a:cs typeface="Arial" pitchFamily="34" charset="-120"/>
              </a:rPr>
              <a:t>Takeaways</a:t>
            </a:r>
            <a:endParaRPr lang="en-US" sz="947"/>
          </a:p>
          <a:p>
            <a:pPr marL="456565" indent="-456565">
              <a:spcAft>
                <a:spcPts val="533"/>
              </a:spcAft>
              <a:buSzPct val="100000"/>
              <a:buChar char="•"/>
            </a:pPr>
            <a:r>
              <a:rPr lang="en-US" sz="947">
                <a:solidFill>
                  <a:srgbClr val="262626"/>
                </a:solidFill>
                <a:latin typeface="Arial" pitchFamily="34" charset="0"/>
                <a:ea typeface="Arial" pitchFamily="34" charset="-122"/>
                <a:cs typeface="Arial" pitchFamily="34" charset="-120"/>
              </a:rPr>
              <a:t>Our basket (red star): ~26% return at ~17% volatility, the lowest risk of all the mixes shown.</a:t>
            </a:r>
            <a:endParaRPr lang="en-US" sz="947">
              <a:cs typeface="Arial" panose="020B0604020202020204"/>
            </a:endParaRPr>
          </a:p>
          <a:p>
            <a:pPr marL="456565" indent="-456565">
              <a:spcAft>
                <a:spcPts val="533"/>
              </a:spcAft>
              <a:buSzPct val="100000"/>
              <a:buChar char="•"/>
            </a:pPr>
            <a:r>
              <a:rPr lang="en-US" sz="947">
                <a:solidFill>
                  <a:srgbClr val="262626"/>
                </a:solidFill>
                <a:latin typeface="Arial" pitchFamily="34" charset="0"/>
                <a:ea typeface="Arial" pitchFamily="34" charset="-122"/>
                <a:cs typeface="Arial" pitchFamily="34" charset="-120"/>
              </a:rPr>
              <a:t>Most random mixes need 22–32% volatility for the same 25–28% return: our weights get it with less risk.</a:t>
            </a:r>
            <a:endParaRPr lang="en-US" sz="947">
              <a:cs typeface="Arial" panose="020B0604020202020204"/>
            </a:endParaRPr>
          </a:p>
          <a:p>
            <a:pPr marL="456565" indent="-456565">
              <a:spcAft>
                <a:spcPts val="533"/>
              </a:spcAft>
              <a:buSzPct val="100000"/>
              <a:buChar char="•"/>
            </a:pPr>
            <a:r>
              <a:rPr lang="en-US" sz="947">
                <a:solidFill>
                  <a:srgbClr val="262626"/>
                </a:solidFill>
                <a:latin typeface="Arial" pitchFamily="34" charset="0"/>
                <a:ea typeface="Arial" pitchFamily="34" charset="-122"/>
                <a:cs typeface="Arial" pitchFamily="34" charset="-120"/>
              </a:rPr>
              <a:t>Less risk than any single ETF, about a third of EWY's (~49%), while giving up only a few points versus EWT's ~31%.</a:t>
            </a:r>
            <a:endParaRPr lang="en-US" sz="947">
              <a:cs typeface="Arial" panose="020B0604020202020204"/>
            </a:endParaRPr>
          </a:p>
          <a:p>
            <a:pPr marL="456565" indent="-456565">
              <a:spcAft>
                <a:spcPts val="533"/>
              </a:spcAft>
              <a:buSzPct val="100000"/>
              <a:buChar char="•"/>
            </a:pPr>
            <a:r>
              <a:rPr lang="en-US" sz="947">
                <a:solidFill>
                  <a:srgbClr val="262626"/>
                </a:solidFill>
                <a:latin typeface="Arial" pitchFamily="34" charset="0"/>
                <a:ea typeface="Arial" pitchFamily="34" charset="-122"/>
                <a:cs typeface="Arial" pitchFamily="34" charset="-120"/>
              </a:rPr>
              <a:t>Why: 3119 HK (35%) anchors the basket; the other four move differently enough to pull risk down.</a:t>
            </a:r>
            <a:endParaRPr lang="en-US" sz="947">
              <a:solidFill>
                <a:srgbClr val="000000"/>
              </a:solidFill>
              <a:latin typeface="Arial" pitchFamily="34" charset="0"/>
              <a:ea typeface="Arial" pitchFamily="34" charset="-122"/>
              <a:cs typeface="Arial" pitchFamily="34" charset="-120"/>
            </a:endParaRPr>
          </a:p>
          <a:p>
            <a:pPr marL="456565" indent="-456565">
              <a:spcAft>
                <a:spcPts val="533"/>
              </a:spcAft>
              <a:buSzPct val="100000"/>
              <a:buFontTx/>
              <a:buChar char="•"/>
            </a:pPr>
            <a:endParaRPr lang="en-US" sz="900">
              <a:solidFill>
                <a:srgbClr val="262626"/>
              </a:solidFill>
              <a:cs typeface="Arial" panose="020B0604020202020204"/>
            </a:endParaRPr>
          </a:p>
        </p:txBody>
      </p:sp>
      <p:sp>
        <p:nvSpPr>
          <p:cNvPr id="27" name="Text 22"/>
          <p:cNvSpPr txBox="1"/>
          <p:nvPr/>
        </p:nvSpPr>
        <p:spPr>
          <a:xfrm>
            <a:off x="11296226" y="6370321"/>
            <a:ext cx="390144" cy="274320"/>
          </a:xfrm>
          <a:prstGeom prst="rect">
            <a:avLst/>
          </a:prstGeom>
          <a:noFill/>
          <a:ln/>
        </p:spPr>
        <p:txBody>
          <a:bodyPr wrap="square" lIns="0" tIns="0" rIns="0" bIns="0" rtlCol="0" anchor="ctr"/>
          <a:lstStyle/>
          <a:p>
            <a:pPr algn="r"/>
            <a:r>
              <a:rPr lang="en-US" sz="1067">
                <a:solidFill>
                  <a:srgbClr val="595959"/>
                </a:solidFill>
                <a:latin typeface="Arial" pitchFamily="34" charset="0"/>
                <a:ea typeface="Arial" pitchFamily="34" charset="-122"/>
                <a:cs typeface="Arial" pitchFamily="34" charset="-120"/>
              </a:rPr>
              <a:t>4</a:t>
            </a:r>
            <a:endParaRPr lang="en-US" sz="1067"/>
          </a:p>
        </p:txBody>
      </p:sp>
      <p:sp>
        <p:nvSpPr>
          <p:cNvPr id="28" name="Text Placeholder 27">
            <a:extLst>
              <a:ext uri="{FF2B5EF4-FFF2-40B4-BE49-F238E27FC236}">
                <a16:creationId xmlns:a16="http://schemas.microsoft.com/office/drawing/2014/main" id="{598AF44C-B0CB-3B32-211C-EEB66E3C01E5}"/>
              </a:ext>
            </a:extLst>
          </p:cNvPr>
          <p:cNvSpPr>
            <a:spLocks noGrp="1"/>
          </p:cNvSpPr>
          <p:nvPr>
            <p:ph type="body" idx="1"/>
          </p:nvPr>
        </p:nvSpPr>
        <p:spPr/>
        <p:txBody>
          <a:bodyPr/>
          <a:lstStyle/>
          <a:p>
            <a:r>
              <a:rPr lang="en-US" sz="1400" b="1">
                <a:solidFill>
                  <a:srgbClr val="FFFFFF"/>
                </a:solidFill>
                <a:latin typeface="Arial" pitchFamily="34" charset="0"/>
                <a:ea typeface="Arial" pitchFamily="34" charset="-122"/>
                <a:cs typeface="Arial" pitchFamily="34" charset="-120"/>
              </a:rPr>
              <a:t>Our basket (red star): ~26% return for ~17% volatility, less risk than any single ETF or random mix</a:t>
            </a:r>
          </a:p>
        </p:txBody>
      </p:sp>
      <p:sp>
        <p:nvSpPr>
          <p:cNvPr id="5" name="Text Placeholder 4">
            <a:extLst>
              <a:ext uri="{FF2B5EF4-FFF2-40B4-BE49-F238E27FC236}">
                <a16:creationId xmlns:a16="http://schemas.microsoft.com/office/drawing/2014/main" id="{A2BD4DD3-FB24-239C-E7A1-D96B89FFA105}"/>
              </a:ext>
            </a:extLst>
          </p:cNvPr>
          <p:cNvSpPr>
            <a:spLocks noGrp="1"/>
          </p:cNvSpPr>
          <p:nvPr>
            <p:ph type="body" idx="3"/>
          </p:nvPr>
        </p:nvSpPr>
        <p:spPr/>
        <p:txBody>
          <a:bodyPr/>
          <a:lstStyle/>
          <a:p>
            <a:endParaRPr lang="en-US"/>
          </a:p>
        </p:txBody>
      </p:sp>
      <p:sp>
        <p:nvSpPr>
          <p:cNvPr id="6" name="Text Placeholder 5">
            <a:extLst>
              <a:ext uri="{FF2B5EF4-FFF2-40B4-BE49-F238E27FC236}">
                <a16:creationId xmlns:a16="http://schemas.microsoft.com/office/drawing/2014/main" id="{C134FA96-B04B-6E2F-357B-328281961CB9}"/>
              </a:ext>
            </a:extLst>
          </p:cNvPr>
          <p:cNvSpPr>
            <a:spLocks noGrp="1"/>
          </p:cNvSpPr>
          <p:nvPr>
            <p:ph type="body" idx="10"/>
          </p:nvPr>
        </p:nvSpPr>
        <p:spPr/>
        <p:txBody>
          <a:bodyPr/>
          <a:lstStyle/>
          <a:p>
            <a:endParaRPr lang="en-US"/>
          </a:p>
        </p:txBody>
      </p:sp>
      <p:graphicFrame>
        <p:nvGraphicFramePr>
          <p:cNvPr id="24" name="Chart 0">
            <a:extLst>
              <a:ext uri="{FF2B5EF4-FFF2-40B4-BE49-F238E27FC236}">
                <a16:creationId xmlns:a16="http://schemas.microsoft.com/office/drawing/2014/main" id="{55C1E07A-D96D-45E6-6A5E-DF86432C2EE5}"/>
              </a:ext>
            </a:extLst>
          </p:cNvPr>
          <p:cNvGraphicFramePr/>
          <p:nvPr/>
        </p:nvGraphicFramePr>
        <p:xfrm>
          <a:off x="186266" y="1360182"/>
          <a:ext cx="2600106" cy="2326852"/>
        </p:xfrm>
        <a:graphic>
          <a:graphicData uri="http://schemas.openxmlformats.org/drawingml/2006/chart">
            <c:chart xmlns:c="http://schemas.openxmlformats.org/drawingml/2006/chart" xmlns:r="http://schemas.openxmlformats.org/officeDocument/2006/relationships" r:id="rId4"/>
          </a:graphicData>
        </a:graphic>
      </p:graphicFrame>
      <p:sp>
        <p:nvSpPr>
          <p:cNvPr id="26" name="Text 8">
            <a:extLst>
              <a:ext uri="{FF2B5EF4-FFF2-40B4-BE49-F238E27FC236}">
                <a16:creationId xmlns:a16="http://schemas.microsoft.com/office/drawing/2014/main" id="{9A36FB54-A5D8-BEB4-0770-B5D6C4AFDF83}"/>
              </a:ext>
            </a:extLst>
          </p:cNvPr>
          <p:cNvSpPr txBox="1"/>
          <p:nvPr/>
        </p:nvSpPr>
        <p:spPr>
          <a:xfrm>
            <a:off x="1022014" y="2373955"/>
            <a:ext cx="1020050" cy="423064"/>
          </a:xfrm>
          <a:prstGeom prst="rect">
            <a:avLst/>
          </a:prstGeom>
          <a:noFill/>
          <a:ln/>
        </p:spPr>
        <p:txBody>
          <a:bodyPr wrap="square" lIns="0" tIns="0" rIns="0" bIns="0" rtlCol="0" anchor="ctr"/>
          <a:lstStyle/>
          <a:p>
            <a:pPr algn="ctr"/>
            <a:r>
              <a:rPr lang="en-US" sz="1600" b="1">
                <a:solidFill>
                  <a:srgbClr val="2C5F82"/>
                </a:solidFill>
                <a:latin typeface="Arial"/>
                <a:ea typeface="Arial" pitchFamily="34" charset="-122"/>
                <a:cs typeface="Arial"/>
              </a:rPr>
              <a:t>Basket : </a:t>
            </a:r>
            <a:endParaRPr lang="en-US">
              <a:solidFill>
                <a:srgbClr val="000000"/>
              </a:solidFill>
              <a:cs typeface="Arial"/>
            </a:endParaRPr>
          </a:p>
          <a:p>
            <a:pPr algn="ctr"/>
            <a:r>
              <a:rPr lang="en-US" sz="1600" b="1">
                <a:solidFill>
                  <a:srgbClr val="2C5F82"/>
                </a:solidFill>
                <a:cs typeface="Arial"/>
              </a:rPr>
              <a:t>100M</a:t>
            </a:r>
            <a:endParaRPr lang="en-US">
              <a:cs typeface="Arial"/>
            </a:endParaRPr>
          </a:p>
        </p:txBody>
      </p:sp>
    </p:spTree>
    <p:extLst>
      <p:ext uri="{BB962C8B-B14F-4D97-AF65-F5344CB8AC3E}">
        <p14:creationId xmlns:p14="http://schemas.microsoft.com/office/powerpoint/2010/main" val="764467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11480" y="134083"/>
            <a:ext cx="11247120" cy="548640"/>
          </a:xfrm>
          <a:prstGeom prst="rect">
            <a:avLst/>
          </a:prstGeom>
          <a:noFill/>
          <a:ln/>
        </p:spPr>
        <p:txBody>
          <a:bodyPr wrap="square" lIns="0" tIns="0" rIns="0" bIns="0" rtlCol="0" anchor="ctr"/>
          <a:lstStyle/>
          <a:p>
            <a:r>
              <a:rPr lang="en-US" sz="2200" dirty="0">
                <a:solidFill>
                  <a:srgbClr val="262626"/>
                </a:solidFill>
                <a:latin typeface="Arial" pitchFamily="34" charset="0"/>
                <a:ea typeface="Arial" pitchFamily="34" charset="-122"/>
                <a:cs typeface="Arial" pitchFamily="34" charset="-120"/>
              </a:rPr>
              <a:t>Monte Carlo: the median portfolio grows 2.8× in five years</a:t>
            </a:r>
            <a:endParaRPr lang="en-US" sz="2200" dirty="0"/>
          </a:p>
        </p:txBody>
      </p:sp>
      <p:sp>
        <p:nvSpPr>
          <p:cNvPr id="9" name="Text 7"/>
          <p:cNvSpPr txBox="1"/>
          <p:nvPr/>
        </p:nvSpPr>
        <p:spPr>
          <a:xfrm>
            <a:off x="458724" y="792451"/>
            <a:ext cx="11274552" cy="274320"/>
          </a:xfrm>
          <a:prstGeom prst="rect">
            <a:avLst/>
          </a:prstGeom>
          <a:noFill/>
          <a:ln/>
        </p:spPr>
        <p:txBody>
          <a:bodyPr wrap="square" lIns="0" tIns="0" rIns="0" bIns="0" rtlCol="0" anchor="t"/>
          <a:lstStyle/>
          <a:p>
            <a:r>
              <a:rPr lang="en-US" sz="1600" dirty="0">
                <a:solidFill>
                  <a:schemeClr val="accent1"/>
                </a:solidFill>
                <a:latin typeface="Arial" pitchFamily="34" charset="0"/>
                <a:ea typeface="Arial" pitchFamily="34" charset="-122"/>
                <a:cs typeface="Arial" pitchFamily="34" charset="-120"/>
              </a:rPr>
              <a:t>5-year simulation of the five-ETF portfolio, per USD 100,000 invested (×1,000 for the USD 100mn mandate)</a:t>
            </a:r>
            <a:endParaRPr lang="en-US" sz="1600" dirty="0">
              <a:solidFill>
                <a:schemeClr val="accent1"/>
              </a:solidFill>
            </a:endParaRPr>
          </a:p>
        </p:txBody>
      </p:sp>
      <p:pic>
        <p:nvPicPr>
          <p:cNvPr id="10" name="Image 0" descr="/home/user/natixis-case-comp/strategy/mc_checkpoints.png"/>
          <p:cNvPicPr>
            <a:picLocks noChangeAspect="1"/>
          </p:cNvPicPr>
          <p:nvPr/>
        </p:nvPicPr>
        <p:blipFill>
          <a:blip r:embed="rId3"/>
          <a:stretch>
            <a:fillRect/>
          </a:stretch>
        </p:blipFill>
        <p:spPr>
          <a:xfrm>
            <a:off x="458724" y="1325880"/>
            <a:ext cx="7498080" cy="4272161"/>
          </a:xfrm>
          <a:prstGeom prst="rect">
            <a:avLst/>
          </a:prstGeom>
        </p:spPr>
      </p:pic>
      <p:sp>
        <p:nvSpPr>
          <p:cNvPr id="11" name="Shape 8"/>
          <p:cNvSpPr/>
          <p:nvPr/>
        </p:nvSpPr>
        <p:spPr>
          <a:xfrm>
            <a:off x="8183880" y="1325880"/>
            <a:ext cx="3547872" cy="914400"/>
          </a:xfrm>
          <a:prstGeom prst="rect">
            <a:avLst/>
          </a:prstGeom>
          <a:solidFill>
            <a:srgbClr val="F2F2F2"/>
          </a:solidFill>
          <a:ln w="12700">
            <a:solidFill>
              <a:srgbClr val="F2F2F2"/>
            </a:solidFill>
            <a:prstDash val="solid"/>
          </a:ln>
        </p:spPr>
        <p:txBody>
          <a:bodyPr/>
          <a:lstStyle/>
          <a:p>
            <a:endParaRPr lang="en-US" sz="2400"/>
          </a:p>
        </p:txBody>
      </p:sp>
      <p:sp>
        <p:nvSpPr>
          <p:cNvPr id="12" name="Shape 9"/>
          <p:cNvSpPr/>
          <p:nvPr/>
        </p:nvSpPr>
        <p:spPr>
          <a:xfrm>
            <a:off x="8183880" y="1325880"/>
            <a:ext cx="64008" cy="914400"/>
          </a:xfrm>
          <a:prstGeom prst="rect">
            <a:avLst/>
          </a:prstGeom>
          <a:solidFill>
            <a:srgbClr val="2C5F82"/>
          </a:solidFill>
          <a:ln w="12700">
            <a:solidFill>
              <a:srgbClr val="2C5F82"/>
            </a:solidFill>
            <a:prstDash val="solid"/>
          </a:ln>
        </p:spPr>
        <p:txBody>
          <a:bodyPr/>
          <a:lstStyle/>
          <a:p>
            <a:endParaRPr lang="en-US" sz="2400"/>
          </a:p>
        </p:txBody>
      </p:sp>
      <p:sp>
        <p:nvSpPr>
          <p:cNvPr id="13" name="Text 10"/>
          <p:cNvSpPr txBox="1"/>
          <p:nvPr/>
        </p:nvSpPr>
        <p:spPr>
          <a:xfrm>
            <a:off x="8366760" y="1380744"/>
            <a:ext cx="3291840" cy="457200"/>
          </a:xfrm>
          <a:prstGeom prst="rect">
            <a:avLst/>
          </a:prstGeom>
          <a:noFill/>
          <a:ln/>
        </p:spPr>
        <p:txBody>
          <a:bodyPr wrap="square" lIns="0" tIns="0" rIns="0" bIns="0" rtlCol="0" anchor="t"/>
          <a:lstStyle/>
          <a:p>
            <a:r>
              <a:rPr lang="en-US" sz="2200" b="1" dirty="0">
                <a:solidFill>
                  <a:srgbClr val="2C5F82"/>
                </a:solidFill>
                <a:latin typeface="Arial" pitchFamily="34" charset="0"/>
                <a:ea typeface="Arial" pitchFamily="34" charset="-122"/>
                <a:cs typeface="Arial" pitchFamily="34" charset="-120"/>
              </a:rPr>
              <a:t>$279.6k</a:t>
            </a:r>
            <a:endParaRPr lang="en-US" sz="2200" dirty="0"/>
          </a:p>
        </p:txBody>
      </p:sp>
      <p:sp>
        <p:nvSpPr>
          <p:cNvPr id="14" name="Text 11"/>
          <p:cNvSpPr txBox="1"/>
          <p:nvPr/>
        </p:nvSpPr>
        <p:spPr>
          <a:xfrm>
            <a:off x="8366760" y="1837944"/>
            <a:ext cx="3291840" cy="365760"/>
          </a:xfrm>
          <a:prstGeom prst="rect">
            <a:avLst/>
          </a:prstGeom>
          <a:noFill/>
          <a:ln/>
        </p:spPr>
        <p:txBody>
          <a:bodyPr wrap="square" lIns="0" tIns="0" rIns="0" bIns="0" rtlCol="0" anchor="t"/>
          <a:lstStyle/>
          <a:p>
            <a:r>
              <a:rPr lang="en-US" sz="947" dirty="0">
                <a:solidFill>
                  <a:srgbClr val="595959"/>
                </a:solidFill>
                <a:latin typeface="Arial" pitchFamily="34" charset="0"/>
                <a:ea typeface="Arial" pitchFamily="34" charset="-122"/>
                <a:cs typeface="Arial" pitchFamily="34" charset="-120"/>
              </a:rPr>
              <a:t>Median at Year 5: 2.8× the start, +22.8% a year</a:t>
            </a:r>
            <a:endParaRPr lang="en-US" sz="947" dirty="0"/>
          </a:p>
        </p:txBody>
      </p:sp>
      <p:sp>
        <p:nvSpPr>
          <p:cNvPr id="15" name="Shape 12"/>
          <p:cNvSpPr/>
          <p:nvPr/>
        </p:nvSpPr>
        <p:spPr>
          <a:xfrm>
            <a:off x="8183880" y="2350008"/>
            <a:ext cx="3547872" cy="914400"/>
          </a:xfrm>
          <a:prstGeom prst="rect">
            <a:avLst/>
          </a:prstGeom>
          <a:solidFill>
            <a:srgbClr val="F2F2F2"/>
          </a:solidFill>
          <a:ln w="12700">
            <a:solidFill>
              <a:srgbClr val="F2F2F2"/>
            </a:solidFill>
            <a:prstDash val="solid"/>
          </a:ln>
        </p:spPr>
        <p:txBody>
          <a:bodyPr/>
          <a:lstStyle/>
          <a:p>
            <a:endParaRPr lang="en-US" sz="2400"/>
          </a:p>
        </p:txBody>
      </p:sp>
      <p:sp>
        <p:nvSpPr>
          <p:cNvPr id="16" name="Shape 13"/>
          <p:cNvSpPr/>
          <p:nvPr/>
        </p:nvSpPr>
        <p:spPr>
          <a:xfrm>
            <a:off x="8183880" y="2350008"/>
            <a:ext cx="64008" cy="914400"/>
          </a:xfrm>
          <a:prstGeom prst="rect">
            <a:avLst/>
          </a:prstGeom>
          <a:solidFill>
            <a:srgbClr val="C0392B"/>
          </a:solidFill>
          <a:ln w="12700">
            <a:solidFill>
              <a:srgbClr val="C0392B"/>
            </a:solidFill>
            <a:prstDash val="solid"/>
          </a:ln>
        </p:spPr>
        <p:txBody>
          <a:bodyPr/>
          <a:lstStyle/>
          <a:p>
            <a:endParaRPr lang="en-US" sz="2400"/>
          </a:p>
        </p:txBody>
      </p:sp>
      <p:sp>
        <p:nvSpPr>
          <p:cNvPr id="17" name="Text 14"/>
          <p:cNvSpPr txBox="1"/>
          <p:nvPr/>
        </p:nvSpPr>
        <p:spPr>
          <a:xfrm>
            <a:off x="8366760" y="2404872"/>
            <a:ext cx="3291840" cy="457200"/>
          </a:xfrm>
          <a:prstGeom prst="rect">
            <a:avLst/>
          </a:prstGeom>
          <a:noFill/>
          <a:ln/>
        </p:spPr>
        <p:txBody>
          <a:bodyPr wrap="square" lIns="0" tIns="0" rIns="0" bIns="0" rtlCol="0" anchor="t"/>
          <a:lstStyle/>
          <a:p>
            <a:r>
              <a:rPr lang="en-US" sz="2200" b="1" dirty="0">
                <a:solidFill>
                  <a:srgbClr val="C0392B"/>
                </a:solidFill>
                <a:latin typeface="Arial" pitchFamily="34" charset="0"/>
                <a:ea typeface="Arial" pitchFamily="34" charset="-122"/>
                <a:cs typeface="Arial" pitchFamily="34" charset="-120"/>
              </a:rPr>
              <a:t>$103.6k</a:t>
            </a:r>
            <a:endParaRPr lang="en-US" sz="2200" dirty="0"/>
          </a:p>
        </p:txBody>
      </p:sp>
      <p:sp>
        <p:nvSpPr>
          <p:cNvPr id="18" name="Text 15"/>
          <p:cNvSpPr txBox="1"/>
          <p:nvPr/>
        </p:nvSpPr>
        <p:spPr>
          <a:xfrm>
            <a:off x="8366760" y="2862072"/>
            <a:ext cx="3291840" cy="365760"/>
          </a:xfrm>
          <a:prstGeom prst="rect">
            <a:avLst/>
          </a:prstGeom>
          <a:noFill/>
          <a:ln/>
        </p:spPr>
        <p:txBody>
          <a:bodyPr wrap="square" lIns="0" tIns="0" rIns="0" bIns="0" rtlCol="0" anchor="t"/>
          <a:lstStyle/>
          <a:p>
            <a:r>
              <a:rPr lang="en-US" sz="947" dirty="0">
                <a:solidFill>
                  <a:srgbClr val="595959"/>
                </a:solidFill>
                <a:latin typeface="Arial" pitchFamily="34" charset="0"/>
                <a:ea typeface="Arial" pitchFamily="34" charset="-122"/>
                <a:cs typeface="Arial" pitchFamily="34" charset="-120"/>
              </a:rPr>
              <a:t>Bearish (5th percentile): still above the start, +0.7% a year</a:t>
            </a:r>
            <a:endParaRPr lang="en-US" sz="947" dirty="0"/>
          </a:p>
        </p:txBody>
      </p:sp>
      <p:sp>
        <p:nvSpPr>
          <p:cNvPr id="19" name="Shape 16"/>
          <p:cNvSpPr/>
          <p:nvPr/>
        </p:nvSpPr>
        <p:spPr>
          <a:xfrm>
            <a:off x="8183880" y="3374136"/>
            <a:ext cx="3547872" cy="914400"/>
          </a:xfrm>
          <a:prstGeom prst="rect">
            <a:avLst/>
          </a:prstGeom>
          <a:solidFill>
            <a:srgbClr val="F2F2F2"/>
          </a:solidFill>
          <a:ln w="12700">
            <a:solidFill>
              <a:srgbClr val="F2F2F2"/>
            </a:solidFill>
            <a:prstDash val="solid"/>
          </a:ln>
        </p:spPr>
        <p:txBody>
          <a:bodyPr/>
          <a:lstStyle/>
          <a:p>
            <a:endParaRPr lang="en-US" sz="2400"/>
          </a:p>
        </p:txBody>
      </p:sp>
      <p:sp>
        <p:nvSpPr>
          <p:cNvPr id="20" name="Shape 17"/>
          <p:cNvSpPr/>
          <p:nvPr/>
        </p:nvSpPr>
        <p:spPr>
          <a:xfrm>
            <a:off x="8183880" y="3374136"/>
            <a:ext cx="64008" cy="914400"/>
          </a:xfrm>
          <a:prstGeom prst="rect">
            <a:avLst/>
          </a:prstGeom>
          <a:solidFill>
            <a:srgbClr val="2E9E44"/>
          </a:solidFill>
          <a:ln w="12700">
            <a:solidFill>
              <a:srgbClr val="2E9E44"/>
            </a:solidFill>
            <a:prstDash val="solid"/>
          </a:ln>
        </p:spPr>
        <p:txBody>
          <a:bodyPr/>
          <a:lstStyle/>
          <a:p>
            <a:endParaRPr lang="en-US" sz="2400"/>
          </a:p>
        </p:txBody>
      </p:sp>
      <p:sp>
        <p:nvSpPr>
          <p:cNvPr id="21" name="Text 18"/>
          <p:cNvSpPr txBox="1"/>
          <p:nvPr/>
        </p:nvSpPr>
        <p:spPr>
          <a:xfrm>
            <a:off x="8366760" y="3429000"/>
            <a:ext cx="3291840" cy="457200"/>
          </a:xfrm>
          <a:prstGeom prst="rect">
            <a:avLst/>
          </a:prstGeom>
          <a:noFill/>
          <a:ln/>
        </p:spPr>
        <p:txBody>
          <a:bodyPr wrap="square" lIns="0" tIns="0" rIns="0" bIns="0" rtlCol="0" anchor="t"/>
          <a:lstStyle/>
          <a:p>
            <a:r>
              <a:rPr lang="en-US" sz="2200" b="1" dirty="0">
                <a:solidFill>
                  <a:srgbClr val="2E9E44"/>
                </a:solidFill>
                <a:latin typeface="Arial" pitchFamily="34" charset="0"/>
                <a:ea typeface="Arial" pitchFamily="34" charset="-122"/>
                <a:cs typeface="Arial" pitchFamily="34" charset="-120"/>
              </a:rPr>
              <a:t>$770.5k</a:t>
            </a:r>
            <a:endParaRPr lang="en-US" sz="2200" dirty="0"/>
          </a:p>
        </p:txBody>
      </p:sp>
      <p:sp>
        <p:nvSpPr>
          <p:cNvPr id="22" name="Text 19"/>
          <p:cNvSpPr txBox="1"/>
          <p:nvPr/>
        </p:nvSpPr>
        <p:spPr>
          <a:xfrm>
            <a:off x="8366760" y="3886200"/>
            <a:ext cx="3291840" cy="365760"/>
          </a:xfrm>
          <a:prstGeom prst="rect">
            <a:avLst/>
          </a:prstGeom>
          <a:noFill/>
          <a:ln/>
        </p:spPr>
        <p:txBody>
          <a:bodyPr wrap="square" lIns="0" tIns="0" rIns="0" bIns="0" rtlCol="0" anchor="t"/>
          <a:lstStyle/>
          <a:p>
            <a:r>
              <a:rPr lang="en-US" sz="947" dirty="0">
                <a:solidFill>
                  <a:srgbClr val="595959"/>
                </a:solidFill>
                <a:latin typeface="Arial" pitchFamily="34" charset="0"/>
                <a:ea typeface="Arial" pitchFamily="34" charset="-122"/>
                <a:cs typeface="Arial" pitchFamily="34" charset="-120"/>
              </a:rPr>
              <a:t>Bullish (95th percentile): 7.7× the start</a:t>
            </a:r>
            <a:endParaRPr lang="en-US" sz="947" dirty="0"/>
          </a:p>
        </p:txBody>
      </p:sp>
      <p:sp>
        <p:nvSpPr>
          <p:cNvPr id="23" name="Shape 20"/>
          <p:cNvSpPr/>
          <p:nvPr/>
        </p:nvSpPr>
        <p:spPr>
          <a:xfrm>
            <a:off x="8183880" y="4398264"/>
            <a:ext cx="3547872" cy="914400"/>
          </a:xfrm>
          <a:prstGeom prst="rect">
            <a:avLst/>
          </a:prstGeom>
          <a:solidFill>
            <a:srgbClr val="F2F2F2"/>
          </a:solidFill>
          <a:ln w="12700">
            <a:solidFill>
              <a:srgbClr val="F2F2F2"/>
            </a:solidFill>
            <a:prstDash val="solid"/>
          </a:ln>
        </p:spPr>
        <p:txBody>
          <a:bodyPr/>
          <a:lstStyle/>
          <a:p>
            <a:endParaRPr lang="en-US" sz="2400"/>
          </a:p>
        </p:txBody>
      </p:sp>
      <p:sp>
        <p:nvSpPr>
          <p:cNvPr id="24" name="Shape 21"/>
          <p:cNvSpPr/>
          <p:nvPr/>
        </p:nvSpPr>
        <p:spPr>
          <a:xfrm>
            <a:off x="8183880" y="4398264"/>
            <a:ext cx="64008" cy="914400"/>
          </a:xfrm>
          <a:prstGeom prst="rect">
            <a:avLst/>
          </a:prstGeom>
          <a:solidFill>
            <a:srgbClr val="E67E22"/>
          </a:solidFill>
          <a:ln w="12700">
            <a:solidFill>
              <a:srgbClr val="E67E22"/>
            </a:solidFill>
            <a:prstDash val="solid"/>
          </a:ln>
        </p:spPr>
        <p:txBody>
          <a:bodyPr/>
          <a:lstStyle/>
          <a:p>
            <a:endParaRPr lang="en-US" sz="2400"/>
          </a:p>
        </p:txBody>
      </p:sp>
      <p:sp>
        <p:nvSpPr>
          <p:cNvPr id="25" name="Text 22"/>
          <p:cNvSpPr txBox="1"/>
          <p:nvPr/>
        </p:nvSpPr>
        <p:spPr>
          <a:xfrm>
            <a:off x="8366760" y="4453128"/>
            <a:ext cx="3291840" cy="457200"/>
          </a:xfrm>
          <a:prstGeom prst="rect">
            <a:avLst/>
          </a:prstGeom>
          <a:noFill/>
          <a:ln/>
        </p:spPr>
        <p:txBody>
          <a:bodyPr wrap="square" lIns="0" tIns="0" rIns="0" bIns="0" rtlCol="0" anchor="t"/>
          <a:lstStyle/>
          <a:p>
            <a:r>
              <a:rPr lang="en-US" sz="2200" b="1" dirty="0">
                <a:solidFill>
                  <a:srgbClr val="E67E22"/>
                </a:solidFill>
                <a:latin typeface="Arial" pitchFamily="34" charset="0"/>
                <a:ea typeface="Arial" pitchFamily="34" charset="-122"/>
                <a:cs typeface="Arial" pitchFamily="34" charset="-120"/>
              </a:rPr>
              <a:t>99.0%</a:t>
            </a:r>
            <a:endParaRPr lang="en-US" sz="2200" dirty="0"/>
          </a:p>
        </p:txBody>
      </p:sp>
      <p:sp>
        <p:nvSpPr>
          <p:cNvPr id="26" name="Text 23"/>
          <p:cNvSpPr txBox="1"/>
          <p:nvPr/>
        </p:nvSpPr>
        <p:spPr>
          <a:xfrm>
            <a:off x="8366760" y="4910328"/>
            <a:ext cx="3291840" cy="365760"/>
          </a:xfrm>
          <a:prstGeom prst="rect">
            <a:avLst/>
          </a:prstGeom>
          <a:noFill/>
          <a:ln/>
        </p:spPr>
        <p:txBody>
          <a:bodyPr wrap="square" lIns="0" tIns="0" rIns="0" bIns="0" rtlCol="0" anchor="t"/>
          <a:lstStyle/>
          <a:p>
            <a:r>
              <a:rPr lang="en-US" sz="947" dirty="0">
                <a:solidFill>
                  <a:srgbClr val="595959"/>
                </a:solidFill>
                <a:latin typeface="Arial" pitchFamily="34" charset="0"/>
                <a:ea typeface="Arial" pitchFamily="34" charset="-122"/>
                <a:cs typeface="Arial" pitchFamily="34" charset="-120"/>
              </a:rPr>
              <a:t>Chance of ending at or above the USD 70,000 target</a:t>
            </a:r>
            <a:endParaRPr lang="en-US" sz="947" dirty="0"/>
          </a:p>
        </p:txBody>
      </p:sp>
      <p:sp>
        <p:nvSpPr>
          <p:cNvPr id="30" name="Text 27"/>
          <p:cNvSpPr txBox="1"/>
          <p:nvPr/>
        </p:nvSpPr>
        <p:spPr>
          <a:xfrm>
            <a:off x="11338560" y="6446520"/>
            <a:ext cx="390144" cy="274320"/>
          </a:xfrm>
          <a:prstGeom prst="rect">
            <a:avLst/>
          </a:prstGeom>
          <a:noFill/>
          <a:ln/>
        </p:spPr>
        <p:txBody>
          <a:bodyPr wrap="square" lIns="0" tIns="0" rIns="0" bIns="0" rtlCol="0" anchor="ctr"/>
          <a:lstStyle/>
          <a:p>
            <a:pPr algn="r"/>
            <a:r>
              <a:rPr lang="en-US" sz="1067" dirty="0">
                <a:solidFill>
                  <a:srgbClr val="595959"/>
                </a:solidFill>
                <a:latin typeface="Arial" pitchFamily="34" charset="0"/>
                <a:ea typeface="Arial" pitchFamily="34" charset="-122"/>
                <a:cs typeface="Arial" pitchFamily="34" charset="-120"/>
              </a:rPr>
              <a:t>5</a:t>
            </a:r>
            <a:endParaRPr lang="en-US" sz="1067" dirty="0"/>
          </a:p>
        </p:txBody>
      </p:sp>
      <p:sp>
        <p:nvSpPr>
          <p:cNvPr id="35" name="Text Placeholder 34">
            <a:extLst>
              <a:ext uri="{FF2B5EF4-FFF2-40B4-BE49-F238E27FC236}">
                <a16:creationId xmlns:a16="http://schemas.microsoft.com/office/drawing/2014/main" id="{FFA8ED1D-9F08-1614-85C9-7E7EE68830F8}"/>
              </a:ext>
            </a:extLst>
          </p:cNvPr>
          <p:cNvSpPr>
            <a:spLocks noGrp="1"/>
          </p:cNvSpPr>
          <p:nvPr>
            <p:ph type="body" idx="1"/>
          </p:nvPr>
        </p:nvSpPr>
        <p:spPr/>
        <p:txBody>
          <a:bodyPr/>
          <a:lstStyle/>
          <a:p>
            <a:r>
              <a:rPr lang="en-US" sz="1200" b="1" dirty="0">
                <a:solidFill>
                  <a:srgbClr val="FFFFFF"/>
                </a:solidFill>
                <a:latin typeface="Arial" pitchFamily="34" charset="0"/>
                <a:ea typeface="Arial" pitchFamily="34" charset="-122"/>
                <a:cs typeface="Arial" pitchFamily="34" charset="-120"/>
              </a:rPr>
              <a:t>Even the bearish path ends above the start ($103.6k); the USD 70,000 target is the 1st percentile</a:t>
            </a:r>
            <a:endParaRPr lang="en-US" sz="1200" dirty="0"/>
          </a:p>
        </p:txBody>
      </p:sp>
      <p:sp>
        <p:nvSpPr>
          <p:cNvPr id="38" name="Text Placeholder 37">
            <a:extLst>
              <a:ext uri="{FF2B5EF4-FFF2-40B4-BE49-F238E27FC236}">
                <a16:creationId xmlns:a16="http://schemas.microsoft.com/office/drawing/2014/main" id="{CBBEAF50-038F-E021-340B-068DD25CFA7B}"/>
              </a:ext>
            </a:extLst>
          </p:cNvPr>
          <p:cNvSpPr>
            <a:spLocks noGrp="1"/>
          </p:cNvSpPr>
          <p:nvPr>
            <p:ph type="body" idx="10"/>
          </p:nvPr>
        </p:nvSpPr>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txBox="1"/>
          <p:nvPr/>
        </p:nvSpPr>
        <p:spPr>
          <a:xfrm>
            <a:off x="364575" y="150419"/>
            <a:ext cx="11247120" cy="548640"/>
          </a:xfrm>
          <a:prstGeom prst="rect">
            <a:avLst/>
          </a:prstGeom>
          <a:noFill/>
          <a:ln/>
        </p:spPr>
        <p:txBody>
          <a:bodyPr wrap="square" lIns="0" tIns="0" rIns="0" bIns="0" rtlCol="0" anchor="ctr"/>
          <a:lstStyle/>
          <a:p>
            <a:r>
              <a:rPr lang="en-US" sz="2200">
                <a:solidFill>
                  <a:srgbClr val="262626"/>
                </a:solidFill>
                <a:latin typeface="Arial" panose="020B0604020202020204" pitchFamily="34" charset="0"/>
                <a:ea typeface="Arial" pitchFamily="34" charset="-122"/>
                <a:cs typeface="Arial" panose="020B0604020202020204" pitchFamily="34" charset="0"/>
              </a:rPr>
              <a:t>How it pays: one question every quarter, three outcomes</a:t>
            </a:r>
            <a:endParaRPr lang="en-US" sz="2200">
              <a:latin typeface="Arial" panose="020B0604020202020204" pitchFamily="34" charset="0"/>
              <a:cs typeface="Arial" panose="020B0604020202020204" pitchFamily="34" charset="0"/>
            </a:endParaRPr>
          </a:p>
        </p:txBody>
      </p:sp>
      <p:sp>
        <p:nvSpPr>
          <p:cNvPr id="9" name="Text 7"/>
          <p:cNvSpPr txBox="1"/>
          <p:nvPr/>
        </p:nvSpPr>
        <p:spPr>
          <a:xfrm>
            <a:off x="396240" y="705003"/>
            <a:ext cx="11277600" cy="280416"/>
          </a:xfrm>
          <a:prstGeom prst="rect">
            <a:avLst/>
          </a:prstGeom>
          <a:noFill/>
          <a:ln/>
        </p:spPr>
        <p:txBody>
          <a:bodyPr wrap="square" lIns="0" tIns="0" rIns="0" bIns="0" rtlCol="0" anchor="ctr"/>
          <a:lstStyle/>
          <a:p>
            <a:r>
              <a:rPr lang="en-US" sz="1400">
                <a:solidFill>
                  <a:schemeClr val="accent1"/>
                </a:solidFill>
                <a:latin typeface="Arial" panose="020B0604020202020204" pitchFamily="34" charset="0"/>
                <a:ea typeface="Arial" pitchFamily="34" charset="-122"/>
                <a:cs typeface="Arial" panose="020B0604020202020204" pitchFamily="34" charset="0"/>
              </a:rPr>
              <a:t>Is the basket at or above 100% of its starting level? (checked quarterly; one date per year shown)</a:t>
            </a:r>
            <a:endParaRPr lang="en-US" sz="1400">
              <a:solidFill>
                <a:schemeClr val="accent1"/>
              </a:solidFill>
              <a:latin typeface="Arial" panose="020B0604020202020204" pitchFamily="34" charset="0"/>
              <a:cs typeface="Arial" panose="020B0604020202020204" pitchFamily="34" charset="0"/>
            </a:endParaRPr>
          </a:p>
        </p:txBody>
      </p:sp>
      <p:sp>
        <p:nvSpPr>
          <p:cNvPr id="10" name="Text 8"/>
          <p:cNvSpPr txBox="1"/>
          <p:nvPr/>
        </p:nvSpPr>
        <p:spPr>
          <a:xfrm>
            <a:off x="1609344" y="1032966"/>
            <a:ext cx="9631680" cy="297180"/>
          </a:xfrm>
          <a:prstGeom prst="rect">
            <a:avLst/>
          </a:prstGeom>
          <a:noFill/>
          <a:ln/>
        </p:spPr>
        <p:txBody>
          <a:bodyPr wrap="square" lIns="0" tIns="0" rIns="0" bIns="0" rtlCol="0" anchor="t"/>
          <a:lstStyle/>
          <a:p>
            <a:pPr algn="ctr"/>
            <a:r>
              <a:rPr lang="en-US" sz="1400">
                <a:solidFill>
                  <a:schemeClr val="tx2"/>
                </a:solidFill>
                <a:latin typeface="Arial" panose="020B0604020202020204" pitchFamily="34" charset="0"/>
                <a:ea typeface="Arial" pitchFamily="34" charset="-122"/>
                <a:cs typeface="Arial" panose="020B0604020202020204" pitchFamily="34" charset="0"/>
              </a:rPr>
              <a:t>Q1–Q3: coupon only (3.19% if basket ≥ 100%). From Q4: coupon plus autocall. Missed coupons are always caught up.</a:t>
            </a:r>
            <a:endParaRPr lang="en-US" sz="1400">
              <a:solidFill>
                <a:schemeClr val="tx2"/>
              </a:solidFill>
              <a:latin typeface="Arial" panose="020B0604020202020204" pitchFamily="34" charset="0"/>
              <a:cs typeface="Arial" panose="020B0604020202020204" pitchFamily="34" charset="0"/>
            </a:endParaRPr>
          </a:p>
        </p:txBody>
      </p:sp>
      <p:sp>
        <p:nvSpPr>
          <p:cNvPr id="11" name="Shape 9"/>
          <p:cNvSpPr/>
          <p:nvPr/>
        </p:nvSpPr>
        <p:spPr>
          <a:xfrm>
            <a:off x="975359" y="1679953"/>
            <a:ext cx="10437707" cy="10890"/>
          </a:xfrm>
          <a:prstGeom prst="line">
            <a:avLst/>
          </a:prstGeom>
          <a:noFill/>
          <a:ln w="25400">
            <a:solidFill>
              <a:srgbClr val="A6A6A6"/>
            </a:solidFill>
            <a:prstDash val="solid"/>
          </a:ln>
        </p:spPr>
        <p:txBody>
          <a:bodyPr/>
          <a:lstStyle/>
          <a:p>
            <a:endParaRPr lang="en-US" sz="2400">
              <a:latin typeface="Arial" panose="020B0604020202020204" pitchFamily="34" charset="0"/>
              <a:cs typeface="Arial" panose="020B0604020202020204" pitchFamily="34" charset="0"/>
            </a:endParaRPr>
          </a:p>
        </p:txBody>
      </p:sp>
      <p:sp>
        <p:nvSpPr>
          <p:cNvPr id="12" name="Shape 10"/>
          <p:cNvSpPr/>
          <p:nvPr/>
        </p:nvSpPr>
        <p:spPr>
          <a:xfrm>
            <a:off x="670560" y="1430324"/>
            <a:ext cx="512064" cy="499263"/>
          </a:xfrm>
          <a:prstGeom prst="ellipse">
            <a:avLst/>
          </a:prstGeom>
          <a:solidFill>
            <a:srgbClr val="A6A6A6"/>
          </a:solidFill>
          <a:ln/>
        </p:spPr>
        <p:txBody>
          <a:bodyPr/>
          <a:lstStyle/>
          <a:p>
            <a:endParaRPr lang="en-US" sz="2400">
              <a:latin typeface="Arial" panose="020B0604020202020204" pitchFamily="34" charset="0"/>
              <a:cs typeface="Arial" panose="020B0604020202020204" pitchFamily="34" charset="0"/>
            </a:endParaRPr>
          </a:p>
        </p:txBody>
      </p:sp>
      <p:sp>
        <p:nvSpPr>
          <p:cNvPr id="13" name="Text 11"/>
          <p:cNvSpPr txBox="1"/>
          <p:nvPr/>
        </p:nvSpPr>
        <p:spPr>
          <a:xfrm>
            <a:off x="670560" y="1430324"/>
            <a:ext cx="512064" cy="499263"/>
          </a:xfrm>
          <a:prstGeom prst="rect">
            <a:avLst/>
          </a:prstGeom>
          <a:noFill/>
          <a:ln/>
        </p:spPr>
        <p:txBody>
          <a:bodyPr wrap="square" lIns="0" tIns="0" rIns="0" bIns="0" rtlCol="0" anchor="ctr"/>
          <a:lstStyle/>
          <a:p>
            <a:pPr algn="ctr"/>
            <a:r>
              <a:rPr lang="en-US" sz="1600" b="1">
                <a:solidFill>
                  <a:srgbClr val="FFFFFF"/>
                </a:solidFill>
                <a:latin typeface="Arial" panose="020B0604020202020204" pitchFamily="34" charset="0"/>
                <a:ea typeface="Arial" pitchFamily="34" charset="-122"/>
                <a:cs typeface="Arial" panose="020B0604020202020204" pitchFamily="34" charset="0"/>
              </a:rPr>
              <a:t>0</a:t>
            </a:r>
            <a:endParaRPr lang="en-US" sz="1600">
              <a:latin typeface="Arial" panose="020B0604020202020204" pitchFamily="34" charset="0"/>
              <a:cs typeface="Arial" panose="020B0604020202020204" pitchFamily="34" charset="0"/>
            </a:endParaRPr>
          </a:p>
        </p:txBody>
      </p:sp>
      <p:sp>
        <p:nvSpPr>
          <p:cNvPr id="14" name="Text 12"/>
          <p:cNvSpPr txBox="1"/>
          <p:nvPr/>
        </p:nvSpPr>
        <p:spPr>
          <a:xfrm>
            <a:off x="182880" y="1977134"/>
            <a:ext cx="1524000" cy="475488"/>
          </a:xfrm>
          <a:prstGeom prst="rect">
            <a:avLst/>
          </a:prstGeom>
          <a:noFill/>
          <a:ln/>
        </p:spPr>
        <p:txBody>
          <a:bodyPr wrap="square" lIns="0" tIns="0" rIns="0" bIns="0" rtlCol="0" anchor="t"/>
          <a:lstStyle/>
          <a:p>
            <a:pPr algn="ctr"/>
            <a:r>
              <a:rPr lang="en-US" sz="1040">
                <a:solidFill>
                  <a:srgbClr val="595959"/>
                </a:solidFill>
                <a:latin typeface="Arial" panose="020B0604020202020204" pitchFamily="34" charset="0"/>
                <a:ea typeface="Arial" pitchFamily="34" charset="-122"/>
                <a:cs typeface="Arial" panose="020B0604020202020204" pitchFamily="34" charset="0"/>
              </a:rPr>
              <a:t>Trade date</a:t>
            </a:r>
            <a:endParaRPr lang="en-US" sz="1040">
              <a:latin typeface="Arial" panose="020B0604020202020204" pitchFamily="34" charset="0"/>
              <a:cs typeface="Arial" panose="020B0604020202020204" pitchFamily="34" charset="0"/>
            </a:endParaRPr>
          </a:p>
          <a:p>
            <a:pPr algn="ctr"/>
            <a:r>
              <a:rPr lang="en-US" sz="1040">
                <a:solidFill>
                  <a:srgbClr val="595959"/>
                </a:solidFill>
                <a:latin typeface="Arial" panose="020B0604020202020204" pitchFamily="34" charset="0"/>
                <a:ea typeface="Arial" pitchFamily="34" charset="-122"/>
                <a:cs typeface="Arial" panose="020B0604020202020204" pitchFamily="34" charset="0"/>
              </a:rPr>
              <a:t>17 Sep 2026</a:t>
            </a:r>
            <a:endParaRPr lang="en-US" sz="1040">
              <a:latin typeface="Arial" panose="020B0604020202020204" pitchFamily="34" charset="0"/>
              <a:cs typeface="Arial" panose="020B0604020202020204" pitchFamily="34" charset="0"/>
            </a:endParaRPr>
          </a:p>
        </p:txBody>
      </p:sp>
      <p:sp>
        <p:nvSpPr>
          <p:cNvPr id="15" name="Shape 13"/>
          <p:cNvSpPr/>
          <p:nvPr/>
        </p:nvSpPr>
        <p:spPr>
          <a:xfrm>
            <a:off x="2621280" y="1430324"/>
            <a:ext cx="512064" cy="499263"/>
          </a:xfrm>
          <a:prstGeom prst="ellipse">
            <a:avLst/>
          </a:prstGeom>
          <a:solidFill>
            <a:srgbClr val="2C5F82"/>
          </a:solidFill>
          <a:ln/>
        </p:spPr>
        <p:txBody>
          <a:bodyPr/>
          <a:lstStyle/>
          <a:p>
            <a:endParaRPr lang="en-US" sz="2400">
              <a:latin typeface="Arial" panose="020B0604020202020204" pitchFamily="34" charset="0"/>
              <a:cs typeface="Arial" panose="020B0604020202020204" pitchFamily="34" charset="0"/>
            </a:endParaRPr>
          </a:p>
        </p:txBody>
      </p:sp>
      <p:sp>
        <p:nvSpPr>
          <p:cNvPr id="16" name="Text 14"/>
          <p:cNvSpPr txBox="1"/>
          <p:nvPr/>
        </p:nvSpPr>
        <p:spPr>
          <a:xfrm>
            <a:off x="2621280" y="1430324"/>
            <a:ext cx="512064" cy="499263"/>
          </a:xfrm>
          <a:prstGeom prst="rect">
            <a:avLst/>
          </a:prstGeom>
          <a:noFill/>
          <a:ln/>
        </p:spPr>
        <p:txBody>
          <a:bodyPr wrap="square" lIns="0" tIns="0" rIns="0" bIns="0" rtlCol="0" anchor="ctr"/>
          <a:lstStyle/>
          <a:p>
            <a:pPr algn="ctr"/>
            <a:r>
              <a:rPr lang="en-US" sz="1600" b="1">
                <a:solidFill>
                  <a:srgbClr val="FFFFFF"/>
                </a:solidFill>
                <a:latin typeface="Arial" panose="020B0604020202020204" pitchFamily="34" charset="0"/>
                <a:ea typeface="Arial" pitchFamily="34" charset="-122"/>
                <a:cs typeface="Arial" panose="020B0604020202020204" pitchFamily="34" charset="0"/>
              </a:rPr>
              <a:t>Y1</a:t>
            </a:r>
            <a:endParaRPr lang="en-US" sz="1600">
              <a:latin typeface="Arial" panose="020B0604020202020204" pitchFamily="34" charset="0"/>
              <a:cs typeface="Arial" panose="020B0604020202020204" pitchFamily="34" charset="0"/>
            </a:endParaRPr>
          </a:p>
        </p:txBody>
      </p:sp>
      <p:sp>
        <p:nvSpPr>
          <p:cNvPr id="17" name="Text 15"/>
          <p:cNvSpPr txBox="1"/>
          <p:nvPr/>
        </p:nvSpPr>
        <p:spPr>
          <a:xfrm>
            <a:off x="2011680" y="1977135"/>
            <a:ext cx="1731264" cy="499263"/>
          </a:xfrm>
          <a:prstGeom prst="rect">
            <a:avLst/>
          </a:prstGeom>
          <a:noFill/>
          <a:ln/>
        </p:spPr>
        <p:txBody>
          <a:bodyPr wrap="square" lIns="0" tIns="0" rIns="0" bIns="0" rtlCol="0" anchor="t"/>
          <a:lstStyle/>
          <a:p>
            <a:pPr algn="ctr"/>
            <a:r>
              <a:rPr lang="en-US" sz="1107" b="1">
                <a:solidFill>
                  <a:srgbClr val="2C5F82"/>
                </a:solidFill>
                <a:latin typeface="Arial" panose="020B0604020202020204" pitchFamily="34" charset="0"/>
                <a:ea typeface="Arial" pitchFamily="34" charset="-122"/>
                <a:cs typeface="Arial" panose="020B0604020202020204" pitchFamily="34" charset="0"/>
              </a:rPr>
              <a:t>If ≥ 102.5%: </a:t>
            </a:r>
          </a:p>
          <a:p>
            <a:pPr algn="ctr"/>
            <a:r>
              <a:rPr lang="en-US" sz="1107" b="1">
                <a:solidFill>
                  <a:srgbClr val="2C5F82"/>
                </a:solidFill>
                <a:latin typeface="Arial" panose="020B0604020202020204" pitchFamily="34" charset="0"/>
                <a:ea typeface="Arial" pitchFamily="34" charset="-122"/>
                <a:cs typeface="Arial" panose="020B0604020202020204" pitchFamily="34" charset="0"/>
              </a:rPr>
              <a:t>CALLED,</a:t>
            </a:r>
            <a:endParaRPr lang="en-US" sz="1107">
              <a:latin typeface="Arial" panose="020B0604020202020204" pitchFamily="34" charset="0"/>
              <a:cs typeface="Arial" panose="020B0604020202020204" pitchFamily="34" charset="0"/>
            </a:endParaRPr>
          </a:p>
          <a:p>
            <a:pPr algn="ctr"/>
            <a:r>
              <a:rPr lang="en-US" sz="1107" b="1">
                <a:solidFill>
                  <a:srgbClr val="2C5F82"/>
                </a:solidFill>
                <a:latin typeface="Arial" panose="020B0604020202020204" pitchFamily="34" charset="0"/>
                <a:ea typeface="Arial" pitchFamily="34" charset="-122"/>
                <a:cs typeface="Arial" panose="020B0604020202020204" pitchFamily="34" charset="0"/>
              </a:rPr>
              <a:t>Receive 112.8% total, </a:t>
            </a:r>
          </a:p>
          <a:p>
            <a:pPr algn="ctr"/>
            <a:r>
              <a:rPr lang="en-US" sz="1107" b="1">
                <a:solidFill>
                  <a:srgbClr val="2C5F82"/>
                </a:solidFill>
                <a:latin typeface="Arial" panose="020B0604020202020204" pitchFamily="34" charset="0"/>
                <a:ea typeface="Arial" pitchFamily="34" charset="-122"/>
                <a:cs typeface="Arial" panose="020B0604020202020204" pitchFamily="34" charset="0"/>
              </a:rPr>
              <a:t>Otherwise, refer to B,C </a:t>
            </a:r>
            <a:endParaRPr lang="en-US" sz="1107">
              <a:latin typeface="Arial" panose="020B0604020202020204" pitchFamily="34" charset="0"/>
              <a:cs typeface="Arial" panose="020B0604020202020204" pitchFamily="34" charset="0"/>
            </a:endParaRPr>
          </a:p>
        </p:txBody>
      </p:sp>
      <p:sp>
        <p:nvSpPr>
          <p:cNvPr id="18" name="Text 16"/>
          <p:cNvSpPr txBox="1"/>
          <p:nvPr/>
        </p:nvSpPr>
        <p:spPr>
          <a:xfrm>
            <a:off x="2063495" y="2674518"/>
            <a:ext cx="1731264" cy="261519"/>
          </a:xfrm>
          <a:prstGeom prst="rect">
            <a:avLst/>
          </a:prstGeom>
          <a:noFill/>
          <a:ln/>
        </p:spPr>
        <p:txBody>
          <a:bodyPr wrap="square" lIns="0" tIns="0" rIns="0" bIns="0" rtlCol="0" anchor="t"/>
          <a:lstStyle/>
          <a:p>
            <a:pPr algn="ctr"/>
            <a:r>
              <a:rPr lang="en-US" sz="987">
                <a:solidFill>
                  <a:srgbClr val="595959"/>
                </a:solidFill>
                <a:latin typeface="Arial" panose="020B0604020202020204" pitchFamily="34" charset="0"/>
                <a:ea typeface="Arial" pitchFamily="34" charset="-122"/>
                <a:cs typeface="Arial" panose="020B0604020202020204" pitchFamily="34" charset="0"/>
              </a:rPr>
              <a:t>P(called by Y1) 78%</a:t>
            </a:r>
            <a:endParaRPr lang="en-US" sz="987">
              <a:latin typeface="Arial" panose="020B0604020202020204" pitchFamily="34" charset="0"/>
              <a:cs typeface="Arial" panose="020B0604020202020204" pitchFamily="34" charset="0"/>
            </a:endParaRPr>
          </a:p>
        </p:txBody>
      </p:sp>
      <p:sp>
        <p:nvSpPr>
          <p:cNvPr id="19" name="Shape 17"/>
          <p:cNvSpPr/>
          <p:nvPr/>
        </p:nvSpPr>
        <p:spPr>
          <a:xfrm>
            <a:off x="4572000" y="1430324"/>
            <a:ext cx="512064" cy="499263"/>
          </a:xfrm>
          <a:prstGeom prst="ellipse">
            <a:avLst/>
          </a:prstGeom>
          <a:solidFill>
            <a:srgbClr val="2C5F82"/>
          </a:solidFill>
          <a:ln/>
        </p:spPr>
        <p:txBody>
          <a:bodyPr/>
          <a:lstStyle/>
          <a:p>
            <a:endParaRPr lang="en-US" sz="2400">
              <a:latin typeface="Arial" panose="020B0604020202020204" pitchFamily="34" charset="0"/>
              <a:cs typeface="Arial" panose="020B0604020202020204" pitchFamily="34" charset="0"/>
            </a:endParaRPr>
          </a:p>
        </p:txBody>
      </p:sp>
      <p:sp>
        <p:nvSpPr>
          <p:cNvPr id="20" name="Text 18"/>
          <p:cNvSpPr txBox="1"/>
          <p:nvPr/>
        </p:nvSpPr>
        <p:spPr>
          <a:xfrm>
            <a:off x="4572000" y="1430324"/>
            <a:ext cx="512064" cy="499263"/>
          </a:xfrm>
          <a:prstGeom prst="rect">
            <a:avLst/>
          </a:prstGeom>
          <a:noFill/>
          <a:ln/>
        </p:spPr>
        <p:txBody>
          <a:bodyPr wrap="square" lIns="0" tIns="0" rIns="0" bIns="0" rtlCol="0" anchor="ctr"/>
          <a:lstStyle/>
          <a:p>
            <a:pPr algn="ctr"/>
            <a:r>
              <a:rPr lang="en-US" sz="1600" b="1">
                <a:solidFill>
                  <a:srgbClr val="FFFFFF"/>
                </a:solidFill>
                <a:latin typeface="Arial" panose="020B0604020202020204" pitchFamily="34" charset="0"/>
                <a:ea typeface="Arial" pitchFamily="34" charset="-122"/>
                <a:cs typeface="Arial" panose="020B0604020202020204" pitchFamily="34" charset="0"/>
              </a:rPr>
              <a:t>Y2</a:t>
            </a:r>
            <a:endParaRPr lang="en-US" sz="1600">
              <a:latin typeface="Arial" panose="020B0604020202020204" pitchFamily="34" charset="0"/>
              <a:cs typeface="Arial" panose="020B0604020202020204" pitchFamily="34" charset="0"/>
            </a:endParaRPr>
          </a:p>
        </p:txBody>
      </p:sp>
      <p:sp>
        <p:nvSpPr>
          <p:cNvPr id="21" name="Text 19"/>
          <p:cNvSpPr txBox="1"/>
          <p:nvPr/>
        </p:nvSpPr>
        <p:spPr>
          <a:xfrm>
            <a:off x="3962400" y="1977135"/>
            <a:ext cx="1731264" cy="499263"/>
          </a:xfrm>
          <a:prstGeom prst="rect">
            <a:avLst/>
          </a:prstGeom>
          <a:noFill/>
          <a:ln/>
        </p:spPr>
        <p:txBody>
          <a:bodyPr wrap="square" lIns="0" tIns="0" rIns="0" bIns="0" rtlCol="0" anchor="t"/>
          <a:lstStyle/>
          <a:p>
            <a:pPr algn="ctr"/>
            <a:r>
              <a:rPr lang="en-US" sz="1107" b="1">
                <a:solidFill>
                  <a:srgbClr val="2C5F82"/>
                </a:solidFill>
                <a:latin typeface="Arial" panose="020B0604020202020204" pitchFamily="34" charset="0"/>
                <a:ea typeface="Arial" pitchFamily="34" charset="-122"/>
                <a:cs typeface="Arial" panose="020B0604020202020204" pitchFamily="34" charset="0"/>
              </a:rPr>
              <a:t>If ≥ 100% &amp; y1 not </a:t>
            </a:r>
          </a:p>
          <a:p>
            <a:pPr algn="ctr"/>
            <a:r>
              <a:rPr lang="en-US" sz="1107" b="1">
                <a:solidFill>
                  <a:srgbClr val="2C5F82"/>
                </a:solidFill>
                <a:latin typeface="Arial" panose="020B0604020202020204" pitchFamily="34" charset="0"/>
                <a:ea typeface="Arial" pitchFamily="34" charset="-122"/>
                <a:cs typeface="Arial" panose="020B0604020202020204" pitchFamily="34" charset="0"/>
              </a:rPr>
              <a:t>called: CALLED,</a:t>
            </a:r>
            <a:endParaRPr lang="en-US" sz="1107">
              <a:latin typeface="Arial" panose="020B0604020202020204" pitchFamily="34" charset="0"/>
              <a:cs typeface="Arial" panose="020B0604020202020204" pitchFamily="34" charset="0"/>
            </a:endParaRPr>
          </a:p>
          <a:p>
            <a:pPr algn="ctr"/>
            <a:r>
              <a:rPr lang="en-US" sz="1107" b="1">
                <a:solidFill>
                  <a:srgbClr val="2C5F82"/>
                </a:solidFill>
                <a:latin typeface="Arial" panose="020B0604020202020204" pitchFamily="34" charset="0"/>
                <a:ea typeface="Arial" pitchFamily="34" charset="-122"/>
                <a:cs typeface="Arial" panose="020B0604020202020204" pitchFamily="34" charset="0"/>
              </a:rPr>
              <a:t>Receive 125.5% total</a:t>
            </a:r>
          </a:p>
          <a:p>
            <a:pPr algn="ctr"/>
            <a:r>
              <a:rPr lang="en-US" sz="1107" b="1">
                <a:solidFill>
                  <a:srgbClr val="2C5F82"/>
                </a:solidFill>
                <a:latin typeface="Arial" panose="020B0604020202020204" pitchFamily="34" charset="0"/>
                <a:ea typeface="Arial" pitchFamily="34" charset="-122"/>
                <a:cs typeface="Arial" panose="020B0604020202020204" pitchFamily="34" charset="0"/>
              </a:rPr>
              <a:t>Otherwise, refer to B,C</a:t>
            </a:r>
            <a:endParaRPr lang="en-US" sz="1107">
              <a:latin typeface="Arial" panose="020B0604020202020204" pitchFamily="34" charset="0"/>
              <a:cs typeface="Arial" panose="020B0604020202020204" pitchFamily="34" charset="0"/>
            </a:endParaRPr>
          </a:p>
          <a:p>
            <a:pPr algn="ctr"/>
            <a:endParaRPr lang="en-US" sz="1107">
              <a:latin typeface="Arial" panose="020B0604020202020204" pitchFamily="34" charset="0"/>
              <a:cs typeface="Arial" panose="020B0604020202020204" pitchFamily="34" charset="0"/>
            </a:endParaRPr>
          </a:p>
        </p:txBody>
      </p:sp>
      <p:sp>
        <p:nvSpPr>
          <p:cNvPr id="22" name="Text 20"/>
          <p:cNvSpPr txBox="1"/>
          <p:nvPr/>
        </p:nvSpPr>
        <p:spPr>
          <a:xfrm>
            <a:off x="3904487" y="2659783"/>
            <a:ext cx="1731264" cy="261519"/>
          </a:xfrm>
          <a:prstGeom prst="rect">
            <a:avLst/>
          </a:prstGeom>
          <a:noFill/>
          <a:ln/>
        </p:spPr>
        <p:txBody>
          <a:bodyPr wrap="square" lIns="0" tIns="0" rIns="0" bIns="0" rtlCol="0" anchor="t"/>
          <a:lstStyle/>
          <a:p>
            <a:pPr algn="ctr"/>
            <a:r>
              <a:rPr lang="en-US" sz="987">
                <a:solidFill>
                  <a:srgbClr val="595959"/>
                </a:solidFill>
                <a:latin typeface="Arial" panose="020B0604020202020204" pitchFamily="34" charset="0"/>
                <a:ea typeface="Arial" pitchFamily="34" charset="-122"/>
                <a:cs typeface="Arial" panose="020B0604020202020204" pitchFamily="34" charset="0"/>
              </a:rPr>
              <a:t>P(called by Y2) 93%</a:t>
            </a:r>
            <a:endParaRPr lang="en-US" sz="987">
              <a:latin typeface="Arial" panose="020B0604020202020204" pitchFamily="34" charset="0"/>
              <a:cs typeface="Arial" panose="020B0604020202020204" pitchFamily="34" charset="0"/>
            </a:endParaRPr>
          </a:p>
        </p:txBody>
      </p:sp>
      <p:sp>
        <p:nvSpPr>
          <p:cNvPr id="23" name="Shape 21"/>
          <p:cNvSpPr/>
          <p:nvPr/>
        </p:nvSpPr>
        <p:spPr>
          <a:xfrm>
            <a:off x="6522720" y="1430324"/>
            <a:ext cx="512064" cy="499263"/>
          </a:xfrm>
          <a:prstGeom prst="ellipse">
            <a:avLst/>
          </a:prstGeom>
          <a:solidFill>
            <a:srgbClr val="2C5F82"/>
          </a:solidFill>
          <a:ln/>
        </p:spPr>
        <p:txBody>
          <a:bodyPr/>
          <a:lstStyle/>
          <a:p>
            <a:endParaRPr lang="en-US" sz="2400">
              <a:latin typeface="Arial" panose="020B0604020202020204" pitchFamily="34" charset="0"/>
              <a:cs typeface="Arial" panose="020B0604020202020204" pitchFamily="34" charset="0"/>
            </a:endParaRPr>
          </a:p>
        </p:txBody>
      </p:sp>
      <p:sp>
        <p:nvSpPr>
          <p:cNvPr id="24" name="Text 22"/>
          <p:cNvSpPr txBox="1"/>
          <p:nvPr/>
        </p:nvSpPr>
        <p:spPr>
          <a:xfrm>
            <a:off x="6522720" y="1430324"/>
            <a:ext cx="512064" cy="499263"/>
          </a:xfrm>
          <a:prstGeom prst="rect">
            <a:avLst/>
          </a:prstGeom>
          <a:noFill/>
          <a:ln/>
        </p:spPr>
        <p:txBody>
          <a:bodyPr wrap="square" lIns="0" tIns="0" rIns="0" bIns="0" rtlCol="0" anchor="ctr"/>
          <a:lstStyle/>
          <a:p>
            <a:pPr algn="ctr"/>
            <a:r>
              <a:rPr lang="en-US" sz="1600" b="1">
                <a:solidFill>
                  <a:srgbClr val="FFFFFF"/>
                </a:solidFill>
                <a:latin typeface="Arial" panose="020B0604020202020204" pitchFamily="34" charset="0"/>
                <a:ea typeface="Arial" pitchFamily="34" charset="-122"/>
                <a:cs typeface="Arial" panose="020B0604020202020204" pitchFamily="34" charset="0"/>
              </a:rPr>
              <a:t>Y3</a:t>
            </a:r>
            <a:endParaRPr lang="en-US" sz="1600">
              <a:latin typeface="Arial" panose="020B0604020202020204" pitchFamily="34" charset="0"/>
              <a:cs typeface="Arial" panose="020B0604020202020204" pitchFamily="34" charset="0"/>
            </a:endParaRPr>
          </a:p>
        </p:txBody>
      </p:sp>
      <p:sp>
        <p:nvSpPr>
          <p:cNvPr id="25" name="Text 23"/>
          <p:cNvSpPr txBox="1"/>
          <p:nvPr/>
        </p:nvSpPr>
        <p:spPr>
          <a:xfrm>
            <a:off x="5913120" y="1977135"/>
            <a:ext cx="1731264" cy="499263"/>
          </a:xfrm>
          <a:prstGeom prst="rect">
            <a:avLst/>
          </a:prstGeom>
          <a:noFill/>
          <a:ln/>
        </p:spPr>
        <p:txBody>
          <a:bodyPr wrap="square" lIns="0" tIns="0" rIns="0" bIns="0" rtlCol="0" anchor="t"/>
          <a:lstStyle/>
          <a:p>
            <a:pPr algn="ctr"/>
            <a:r>
              <a:rPr lang="en-US" sz="1107" b="1">
                <a:solidFill>
                  <a:srgbClr val="2C5F82"/>
                </a:solidFill>
                <a:latin typeface="Arial" panose="020B0604020202020204" pitchFamily="34" charset="0"/>
                <a:ea typeface="Arial" pitchFamily="34" charset="-122"/>
                <a:cs typeface="Arial" panose="020B0604020202020204" pitchFamily="34" charset="0"/>
              </a:rPr>
              <a:t>If ≥ 97.5% &amp; y1-2 not called: CALLED,</a:t>
            </a:r>
            <a:endParaRPr lang="en-US" sz="1107">
              <a:latin typeface="Arial" panose="020B0604020202020204" pitchFamily="34" charset="0"/>
              <a:cs typeface="Arial" panose="020B0604020202020204" pitchFamily="34" charset="0"/>
            </a:endParaRPr>
          </a:p>
          <a:p>
            <a:pPr algn="ctr"/>
            <a:r>
              <a:rPr lang="en-US" sz="1107" b="1">
                <a:solidFill>
                  <a:srgbClr val="2C5F82"/>
                </a:solidFill>
                <a:latin typeface="Arial" panose="020B0604020202020204" pitchFamily="34" charset="0"/>
                <a:ea typeface="Arial" pitchFamily="34" charset="-122"/>
                <a:cs typeface="Arial" panose="020B0604020202020204" pitchFamily="34" charset="0"/>
              </a:rPr>
              <a:t>Receive 138.3% total</a:t>
            </a:r>
          </a:p>
          <a:p>
            <a:pPr algn="ctr"/>
            <a:r>
              <a:rPr lang="en-US" sz="1107" b="1">
                <a:solidFill>
                  <a:srgbClr val="2C5F82"/>
                </a:solidFill>
                <a:latin typeface="Arial" panose="020B0604020202020204" pitchFamily="34" charset="0"/>
                <a:cs typeface="Arial" panose="020B0604020202020204" pitchFamily="34" charset="0"/>
              </a:rPr>
              <a:t>Otherwise, refer to B,C</a:t>
            </a:r>
            <a:endParaRPr lang="en-US" sz="1107">
              <a:latin typeface="Arial" panose="020B0604020202020204" pitchFamily="34" charset="0"/>
              <a:cs typeface="Arial" panose="020B0604020202020204" pitchFamily="34" charset="0"/>
            </a:endParaRPr>
          </a:p>
        </p:txBody>
      </p:sp>
      <p:sp>
        <p:nvSpPr>
          <p:cNvPr id="26" name="Text 24"/>
          <p:cNvSpPr txBox="1"/>
          <p:nvPr/>
        </p:nvSpPr>
        <p:spPr>
          <a:xfrm>
            <a:off x="5853683" y="2687777"/>
            <a:ext cx="1731264" cy="261519"/>
          </a:xfrm>
          <a:prstGeom prst="rect">
            <a:avLst/>
          </a:prstGeom>
          <a:noFill/>
          <a:ln/>
        </p:spPr>
        <p:txBody>
          <a:bodyPr wrap="square" lIns="0" tIns="0" rIns="0" bIns="0" rtlCol="0" anchor="t"/>
          <a:lstStyle/>
          <a:p>
            <a:pPr algn="ctr"/>
            <a:r>
              <a:rPr lang="en-US" sz="987">
                <a:solidFill>
                  <a:srgbClr val="595959"/>
                </a:solidFill>
                <a:latin typeface="Arial" panose="020B0604020202020204" pitchFamily="34" charset="0"/>
                <a:ea typeface="Arial" pitchFamily="34" charset="-122"/>
                <a:cs typeface="Arial" panose="020B0604020202020204" pitchFamily="34" charset="0"/>
              </a:rPr>
              <a:t>P(called by Y3) 97%</a:t>
            </a:r>
            <a:endParaRPr lang="en-US" sz="987">
              <a:latin typeface="Arial" panose="020B0604020202020204" pitchFamily="34" charset="0"/>
              <a:cs typeface="Arial" panose="020B0604020202020204" pitchFamily="34" charset="0"/>
            </a:endParaRPr>
          </a:p>
        </p:txBody>
      </p:sp>
      <p:sp>
        <p:nvSpPr>
          <p:cNvPr id="27" name="Shape 25"/>
          <p:cNvSpPr/>
          <p:nvPr/>
        </p:nvSpPr>
        <p:spPr>
          <a:xfrm>
            <a:off x="8473440" y="1430324"/>
            <a:ext cx="512064" cy="499263"/>
          </a:xfrm>
          <a:prstGeom prst="ellipse">
            <a:avLst/>
          </a:prstGeom>
          <a:solidFill>
            <a:srgbClr val="2C5F82"/>
          </a:solidFill>
          <a:ln/>
        </p:spPr>
        <p:txBody>
          <a:bodyPr/>
          <a:lstStyle/>
          <a:p>
            <a:endParaRPr lang="en-US" sz="2400">
              <a:latin typeface="Arial" panose="020B0604020202020204" pitchFamily="34" charset="0"/>
              <a:cs typeface="Arial" panose="020B0604020202020204" pitchFamily="34" charset="0"/>
            </a:endParaRPr>
          </a:p>
        </p:txBody>
      </p:sp>
      <p:sp>
        <p:nvSpPr>
          <p:cNvPr id="28" name="Text 26"/>
          <p:cNvSpPr txBox="1"/>
          <p:nvPr/>
        </p:nvSpPr>
        <p:spPr>
          <a:xfrm>
            <a:off x="8473440" y="1430324"/>
            <a:ext cx="512064" cy="499263"/>
          </a:xfrm>
          <a:prstGeom prst="rect">
            <a:avLst/>
          </a:prstGeom>
          <a:noFill/>
          <a:ln/>
        </p:spPr>
        <p:txBody>
          <a:bodyPr wrap="square" lIns="0" tIns="0" rIns="0" bIns="0" rtlCol="0" anchor="ctr"/>
          <a:lstStyle/>
          <a:p>
            <a:pPr algn="ctr"/>
            <a:r>
              <a:rPr lang="en-US" sz="1600" b="1">
                <a:solidFill>
                  <a:srgbClr val="FFFFFF"/>
                </a:solidFill>
                <a:latin typeface="Arial" panose="020B0604020202020204" pitchFamily="34" charset="0"/>
                <a:ea typeface="Arial" pitchFamily="34" charset="-122"/>
                <a:cs typeface="Arial" panose="020B0604020202020204" pitchFamily="34" charset="0"/>
              </a:rPr>
              <a:t>Y4</a:t>
            </a:r>
            <a:endParaRPr lang="en-US" sz="1600">
              <a:latin typeface="Arial" panose="020B0604020202020204" pitchFamily="34" charset="0"/>
              <a:cs typeface="Arial" panose="020B0604020202020204" pitchFamily="34" charset="0"/>
            </a:endParaRPr>
          </a:p>
        </p:txBody>
      </p:sp>
      <p:sp>
        <p:nvSpPr>
          <p:cNvPr id="29" name="Text 27"/>
          <p:cNvSpPr txBox="1"/>
          <p:nvPr/>
        </p:nvSpPr>
        <p:spPr>
          <a:xfrm>
            <a:off x="7863840" y="1977135"/>
            <a:ext cx="1731264" cy="499263"/>
          </a:xfrm>
          <a:prstGeom prst="rect">
            <a:avLst/>
          </a:prstGeom>
          <a:noFill/>
          <a:ln/>
        </p:spPr>
        <p:txBody>
          <a:bodyPr wrap="square" lIns="0" tIns="0" rIns="0" bIns="0" rtlCol="0" anchor="t"/>
          <a:lstStyle/>
          <a:p>
            <a:pPr algn="ctr"/>
            <a:r>
              <a:rPr lang="en-US" sz="1107" b="1">
                <a:solidFill>
                  <a:srgbClr val="2C5F82"/>
                </a:solidFill>
                <a:latin typeface="Arial" panose="020B0604020202020204" pitchFamily="34" charset="0"/>
                <a:ea typeface="Arial" pitchFamily="34" charset="-122"/>
                <a:cs typeface="Arial" panose="020B0604020202020204" pitchFamily="34" charset="0"/>
              </a:rPr>
              <a:t>If ≥ 95% &amp; y1-3 not </a:t>
            </a:r>
          </a:p>
          <a:p>
            <a:pPr algn="ctr"/>
            <a:r>
              <a:rPr lang="en-US" sz="1107" b="1">
                <a:solidFill>
                  <a:srgbClr val="2C5F82"/>
                </a:solidFill>
                <a:latin typeface="Arial" panose="020B0604020202020204" pitchFamily="34" charset="0"/>
                <a:ea typeface="Arial" pitchFamily="34" charset="-122"/>
                <a:cs typeface="Arial" panose="020B0604020202020204" pitchFamily="34" charset="0"/>
              </a:rPr>
              <a:t>called: CALLED</a:t>
            </a:r>
            <a:endParaRPr lang="en-US" sz="1107">
              <a:latin typeface="Arial" panose="020B0604020202020204" pitchFamily="34" charset="0"/>
              <a:cs typeface="Arial" panose="020B0604020202020204" pitchFamily="34" charset="0"/>
            </a:endParaRPr>
          </a:p>
          <a:p>
            <a:pPr algn="ctr"/>
            <a:r>
              <a:rPr lang="en-US" sz="1107" b="1">
                <a:solidFill>
                  <a:srgbClr val="2C5F82"/>
                </a:solidFill>
                <a:latin typeface="Arial" panose="020B0604020202020204" pitchFamily="34" charset="0"/>
                <a:ea typeface="Arial" pitchFamily="34" charset="-122"/>
                <a:cs typeface="Arial" panose="020B0604020202020204" pitchFamily="34" charset="0"/>
              </a:rPr>
              <a:t>Receive 151.0% total; </a:t>
            </a:r>
          </a:p>
          <a:p>
            <a:pPr algn="ctr"/>
            <a:r>
              <a:rPr lang="en-US" sz="1107" b="1">
                <a:solidFill>
                  <a:srgbClr val="2C5F82"/>
                </a:solidFill>
                <a:latin typeface="Arial" panose="020B0604020202020204" pitchFamily="34" charset="0"/>
                <a:cs typeface="Arial" panose="020B0604020202020204" pitchFamily="34" charset="0"/>
              </a:rPr>
              <a:t>Otherwise, refer to B,C</a:t>
            </a:r>
            <a:endParaRPr lang="en-US" sz="1107">
              <a:latin typeface="Arial" panose="020B0604020202020204" pitchFamily="34" charset="0"/>
              <a:cs typeface="Arial" panose="020B0604020202020204" pitchFamily="34" charset="0"/>
            </a:endParaRPr>
          </a:p>
        </p:txBody>
      </p:sp>
      <p:sp>
        <p:nvSpPr>
          <p:cNvPr id="30" name="Text 28"/>
          <p:cNvSpPr txBox="1"/>
          <p:nvPr/>
        </p:nvSpPr>
        <p:spPr>
          <a:xfrm>
            <a:off x="7933944" y="2674518"/>
            <a:ext cx="1731264" cy="261519"/>
          </a:xfrm>
          <a:prstGeom prst="rect">
            <a:avLst/>
          </a:prstGeom>
          <a:noFill/>
          <a:ln/>
        </p:spPr>
        <p:txBody>
          <a:bodyPr wrap="square" lIns="0" tIns="0" rIns="0" bIns="0" rtlCol="0" anchor="t"/>
          <a:lstStyle/>
          <a:p>
            <a:pPr algn="ctr"/>
            <a:r>
              <a:rPr lang="en-US" sz="987">
                <a:solidFill>
                  <a:srgbClr val="595959"/>
                </a:solidFill>
                <a:latin typeface="Arial" panose="020B0604020202020204" pitchFamily="34" charset="0"/>
                <a:ea typeface="Arial" pitchFamily="34" charset="-122"/>
                <a:cs typeface="Arial" panose="020B0604020202020204" pitchFamily="34" charset="0"/>
              </a:rPr>
              <a:t>P(called by Y4) 99%</a:t>
            </a:r>
            <a:endParaRPr lang="en-US" sz="987">
              <a:latin typeface="Arial" panose="020B0604020202020204" pitchFamily="34" charset="0"/>
              <a:cs typeface="Arial" panose="020B0604020202020204" pitchFamily="34" charset="0"/>
            </a:endParaRPr>
          </a:p>
        </p:txBody>
      </p:sp>
      <p:sp>
        <p:nvSpPr>
          <p:cNvPr id="31" name="Shape 29"/>
          <p:cNvSpPr/>
          <p:nvPr/>
        </p:nvSpPr>
        <p:spPr>
          <a:xfrm>
            <a:off x="10424160" y="1430324"/>
            <a:ext cx="512064" cy="499263"/>
          </a:xfrm>
          <a:prstGeom prst="ellipse">
            <a:avLst/>
          </a:prstGeom>
          <a:solidFill>
            <a:srgbClr val="4F86AE"/>
          </a:solidFill>
          <a:ln/>
        </p:spPr>
        <p:txBody>
          <a:bodyPr/>
          <a:lstStyle/>
          <a:p>
            <a:endParaRPr lang="en-US" sz="2400">
              <a:latin typeface="Arial" panose="020B0604020202020204" pitchFamily="34" charset="0"/>
              <a:cs typeface="Arial" panose="020B0604020202020204" pitchFamily="34" charset="0"/>
            </a:endParaRPr>
          </a:p>
        </p:txBody>
      </p:sp>
      <p:sp>
        <p:nvSpPr>
          <p:cNvPr id="32" name="Text 30"/>
          <p:cNvSpPr txBox="1"/>
          <p:nvPr/>
        </p:nvSpPr>
        <p:spPr>
          <a:xfrm>
            <a:off x="10424160" y="1430324"/>
            <a:ext cx="512064" cy="499263"/>
          </a:xfrm>
          <a:prstGeom prst="rect">
            <a:avLst/>
          </a:prstGeom>
          <a:noFill/>
          <a:ln/>
        </p:spPr>
        <p:txBody>
          <a:bodyPr wrap="square" lIns="0" tIns="0" rIns="0" bIns="0" rtlCol="0" anchor="ctr"/>
          <a:lstStyle/>
          <a:p>
            <a:pPr algn="ctr"/>
            <a:r>
              <a:rPr lang="en-US" sz="1600" b="1">
                <a:solidFill>
                  <a:srgbClr val="FFFFFF"/>
                </a:solidFill>
                <a:latin typeface="Arial" panose="020B0604020202020204" pitchFamily="34" charset="0"/>
                <a:ea typeface="Arial" pitchFamily="34" charset="-122"/>
                <a:cs typeface="Arial" panose="020B0604020202020204" pitchFamily="34" charset="0"/>
              </a:rPr>
              <a:t>Y5</a:t>
            </a:r>
            <a:endParaRPr lang="en-US" sz="1600">
              <a:latin typeface="Arial" panose="020B0604020202020204" pitchFamily="34" charset="0"/>
              <a:cs typeface="Arial" panose="020B0604020202020204" pitchFamily="34" charset="0"/>
            </a:endParaRPr>
          </a:p>
        </p:txBody>
      </p:sp>
      <p:sp>
        <p:nvSpPr>
          <p:cNvPr id="33" name="Text 31"/>
          <p:cNvSpPr txBox="1"/>
          <p:nvPr/>
        </p:nvSpPr>
        <p:spPr>
          <a:xfrm>
            <a:off x="9814560" y="1977135"/>
            <a:ext cx="1731264" cy="499263"/>
          </a:xfrm>
          <a:prstGeom prst="rect">
            <a:avLst/>
          </a:prstGeom>
          <a:noFill/>
          <a:ln/>
        </p:spPr>
        <p:txBody>
          <a:bodyPr wrap="square" lIns="0" tIns="0" rIns="0" bIns="0" rtlCol="0" anchor="t"/>
          <a:lstStyle/>
          <a:p>
            <a:pPr algn="ctr"/>
            <a:r>
              <a:rPr lang="en-US" sz="1107" b="1">
                <a:solidFill>
                  <a:srgbClr val="4F86AE"/>
                </a:solidFill>
                <a:latin typeface="Arial" panose="020B0604020202020204" pitchFamily="34" charset="0"/>
                <a:ea typeface="Arial" pitchFamily="34" charset="-122"/>
                <a:cs typeface="Arial" panose="020B0604020202020204" pitchFamily="34" charset="0"/>
              </a:rPr>
              <a:t>If ≥ 92.5% &amp; y1-4 not called: CALLED,</a:t>
            </a:r>
            <a:endParaRPr lang="en-US" sz="1107">
              <a:latin typeface="Arial" panose="020B0604020202020204" pitchFamily="34" charset="0"/>
              <a:cs typeface="Arial" panose="020B0604020202020204" pitchFamily="34" charset="0"/>
            </a:endParaRPr>
          </a:p>
          <a:p>
            <a:pPr algn="ctr"/>
            <a:r>
              <a:rPr lang="en-US" sz="1107" b="1">
                <a:solidFill>
                  <a:srgbClr val="4F86AE"/>
                </a:solidFill>
                <a:latin typeface="Arial" panose="020B0604020202020204" pitchFamily="34" charset="0"/>
                <a:ea typeface="Arial" pitchFamily="34" charset="-122"/>
                <a:cs typeface="Arial" panose="020B0604020202020204" pitchFamily="34" charset="0"/>
              </a:rPr>
              <a:t>Receive 163.8% total; </a:t>
            </a:r>
          </a:p>
          <a:p>
            <a:pPr algn="ctr"/>
            <a:r>
              <a:rPr lang="en-US" sz="1107" b="1">
                <a:solidFill>
                  <a:srgbClr val="4F86AE"/>
                </a:solidFill>
                <a:latin typeface="Arial" panose="020B0604020202020204" pitchFamily="34" charset="0"/>
                <a:cs typeface="Arial" panose="020B0604020202020204" pitchFamily="34" charset="0"/>
              </a:rPr>
              <a:t>Otherwise refer to B,C</a:t>
            </a:r>
            <a:endParaRPr lang="en-US" sz="1107">
              <a:latin typeface="Arial" panose="020B0604020202020204" pitchFamily="34" charset="0"/>
              <a:cs typeface="Arial" panose="020B0604020202020204" pitchFamily="34" charset="0"/>
            </a:endParaRPr>
          </a:p>
        </p:txBody>
      </p:sp>
      <p:sp>
        <p:nvSpPr>
          <p:cNvPr id="34" name="Text 32"/>
          <p:cNvSpPr txBox="1"/>
          <p:nvPr/>
        </p:nvSpPr>
        <p:spPr>
          <a:xfrm>
            <a:off x="9880431" y="2651375"/>
            <a:ext cx="1731264" cy="261519"/>
          </a:xfrm>
          <a:prstGeom prst="rect">
            <a:avLst/>
          </a:prstGeom>
          <a:noFill/>
          <a:ln/>
        </p:spPr>
        <p:txBody>
          <a:bodyPr wrap="square" lIns="0" tIns="0" rIns="0" bIns="0" rtlCol="0" anchor="t"/>
          <a:lstStyle/>
          <a:p>
            <a:pPr algn="ctr"/>
            <a:r>
              <a:rPr lang="en-US" sz="987">
                <a:solidFill>
                  <a:srgbClr val="595959"/>
                </a:solidFill>
                <a:latin typeface="Arial" panose="020B0604020202020204" pitchFamily="34" charset="0"/>
                <a:ea typeface="Arial" pitchFamily="34" charset="-122"/>
                <a:cs typeface="Arial" panose="020B0604020202020204" pitchFamily="34" charset="0"/>
              </a:rPr>
              <a:t>P(called by Y5) 99%</a:t>
            </a:r>
            <a:endParaRPr lang="en-US" sz="987">
              <a:latin typeface="Arial" panose="020B0604020202020204" pitchFamily="34" charset="0"/>
              <a:cs typeface="Arial" panose="020B0604020202020204" pitchFamily="34" charset="0"/>
            </a:endParaRPr>
          </a:p>
        </p:txBody>
      </p:sp>
      <p:sp>
        <p:nvSpPr>
          <p:cNvPr id="36" name="Shape 33"/>
          <p:cNvSpPr/>
          <p:nvPr/>
        </p:nvSpPr>
        <p:spPr>
          <a:xfrm>
            <a:off x="206497" y="2877534"/>
            <a:ext cx="6123674" cy="855879"/>
          </a:xfrm>
          <a:prstGeom prst="roundRect">
            <a:avLst/>
          </a:prstGeom>
          <a:solidFill>
            <a:srgbClr val="E8EFF5"/>
          </a:solidFill>
          <a:ln w="12700">
            <a:solidFill>
              <a:srgbClr val="E8EFF5"/>
            </a:solidFill>
            <a:prstDash val="solid"/>
          </a:ln>
        </p:spPr>
        <p:txBody>
          <a:bodyPr/>
          <a:lstStyle/>
          <a:p>
            <a:endParaRPr lang="en-US" sz="2400">
              <a:latin typeface="Arial" panose="020B0604020202020204" pitchFamily="34" charset="0"/>
              <a:cs typeface="Arial" panose="020B0604020202020204" pitchFamily="34" charset="0"/>
            </a:endParaRPr>
          </a:p>
        </p:txBody>
      </p:sp>
      <p:sp>
        <p:nvSpPr>
          <p:cNvPr id="37" name="Shape 34"/>
          <p:cNvSpPr/>
          <p:nvPr/>
        </p:nvSpPr>
        <p:spPr>
          <a:xfrm>
            <a:off x="329183" y="3028288"/>
            <a:ext cx="512064" cy="499263"/>
          </a:xfrm>
          <a:prstGeom prst="ellipse">
            <a:avLst/>
          </a:prstGeom>
          <a:solidFill>
            <a:srgbClr val="2C5F82"/>
          </a:solidFill>
          <a:ln/>
        </p:spPr>
        <p:txBody>
          <a:bodyPr/>
          <a:lstStyle/>
          <a:p>
            <a:endParaRPr lang="en-US" sz="2400">
              <a:latin typeface="Arial" panose="020B0604020202020204" pitchFamily="34" charset="0"/>
              <a:cs typeface="Arial" panose="020B0604020202020204" pitchFamily="34" charset="0"/>
            </a:endParaRPr>
          </a:p>
        </p:txBody>
      </p:sp>
      <p:sp>
        <p:nvSpPr>
          <p:cNvPr id="38" name="Text 35"/>
          <p:cNvSpPr txBox="1"/>
          <p:nvPr/>
        </p:nvSpPr>
        <p:spPr>
          <a:xfrm>
            <a:off x="329183" y="3028288"/>
            <a:ext cx="512064" cy="499263"/>
          </a:xfrm>
          <a:prstGeom prst="rect">
            <a:avLst/>
          </a:prstGeom>
          <a:noFill/>
          <a:ln/>
        </p:spPr>
        <p:txBody>
          <a:bodyPr wrap="square" lIns="0" tIns="0" rIns="0" bIns="0" rtlCol="0" anchor="ctr"/>
          <a:lstStyle/>
          <a:p>
            <a:pPr algn="ctr"/>
            <a:r>
              <a:rPr lang="en-US" sz="1600" b="1">
                <a:solidFill>
                  <a:srgbClr val="FFFFFF"/>
                </a:solidFill>
                <a:latin typeface="Arial" panose="020B0604020202020204" pitchFamily="34" charset="0"/>
                <a:ea typeface="Arial" pitchFamily="34" charset="-122"/>
                <a:cs typeface="Arial" panose="020B0604020202020204" pitchFamily="34" charset="0"/>
              </a:rPr>
              <a:t>A</a:t>
            </a:r>
            <a:endParaRPr lang="en-US" sz="1600">
              <a:latin typeface="Arial" panose="020B0604020202020204" pitchFamily="34" charset="0"/>
              <a:cs typeface="Arial" panose="020B0604020202020204" pitchFamily="34" charset="0"/>
            </a:endParaRPr>
          </a:p>
        </p:txBody>
      </p:sp>
      <p:sp>
        <p:nvSpPr>
          <p:cNvPr id="39" name="Text 36"/>
          <p:cNvSpPr txBox="1"/>
          <p:nvPr/>
        </p:nvSpPr>
        <p:spPr>
          <a:xfrm>
            <a:off x="975359" y="2921302"/>
            <a:ext cx="3474720" cy="320955"/>
          </a:xfrm>
          <a:prstGeom prst="rect">
            <a:avLst/>
          </a:prstGeom>
          <a:noFill/>
          <a:ln/>
        </p:spPr>
        <p:txBody>
          <a:bodyPr wrap="square" lIns="0" tIns="0" rIns="0" bIns="0" rtlCol="0" anchor="t"/>
          <a:lstStyle/>
          <a:p>
            <a:r>
              <a:rPr lang="en-US" sz="1293" b="1">
                <a:solidFill>
                  <a:srgbClr val="2C5F82"/>
                </a:solidFill>
                <a:latin typeface="Arial" panose="020B0604020202020204" pitchFamily="34" charset="0"/>
                <a:ea typeface="Arial" pitchFamily="34" charset="-122"/>
                <a:cs typeface="Arial" panose="020B0604020202020204" pitchFamily="34" charset="0"/>
              </a:rPr>
              <a:t>Autocalled</a:t>
            </a:r>
            <a:endParaRPr lang="en-US" sz="1293">
              <a:latin typeface="Arial" panose="020B0604020202020204" pitchFamily="34" charset="0"/>
              <a:cs typeface="Arial" panose="020B0604020202020204" pitchFamily="34" charset="0"/>
            </a:endParaRPr>
          </a:p>
        </p:txBody>
      </p:sp>
      <p:sp>
        <p:nvSpPr>
          <p:cNvPr id="40" name="Text 37"/>
          <p:cNvSpPr txBox="1"/>
          <p:nvPr/>
        </p:nvSpPr>
        <p:spPr>
          <a:xfrm>
            <a:off x="975359" y="3230371"/>
            <a:ext cx="3474720" cy="451713"/>
          </a:xfrm>
          <a:prstGeom prst="rect">
            <a:avLst/>
          </a:prstGeom>
          <a:noFill/>
          <a:ln/>
        </p:spPr>
        <p:txBody>
          <a:bodyPr wrap="square" lIns="0" tIns="0" rIns="0" bIns="0" rtlCol="0" anchor="t"/>
          <a:lstStyle/>
          <a:p>
            <a:r>
              <a:rPr lang="en-US" sz="1040">
                <a:solidFill>
                  <a:srgbClr val="262626"/>
                </a:solidFill>
                <a:latin typeface="Arial" panose="020B0604020202020204" pitchFamily="34" charset="0"/>
                <a:ea typeface="Arial" pitchFamily="34" charset="-122"/>
                <a:cs typeface="Arial" panose="020B0604020202020204" pitchFamily="34" charset="0"/>
              </a:rPr>
              <a:t>Basket ≥ 100% on any date from Q4: 100% plus every coupon to date. The note ends.</a:t>
            </a:r>
            <a:endParaRPr lang="en-US" sz="1040">
              <a:latin typeface="Arial" panose="020B0604020202020204" pitchFamily="34" charset="0"/>
              <a:cs typeface="Arial" panose="020B0604020202020204" pitchFamily="34" charset="0"/>
            </a:endParaRPr>
          </a:p>
        </p:txBody>
      </p:sp>
      <p:sp>
        <p:nvSpPr>
          <p:cNvPr id="41" name="Text 38"/>
          <p:cNvSpPr txBox="1"/>
          <p:nvPr/>
        </p:nvSpPr>
        <p:spPr>
          <a:xfrm>
            <a:off x="4434839" y="3003829"/>
            <a:ext cx="1731264" cy="557122"/>
          </a:xfrm>
          <a:prstGeom prst="rect">
            <a:avLst/>
          </a:prstGeom>
          <a:noFill/>
          <a:ln/>
        </p:spPr>
        <p:txBody>
          <a:bodyPr wrap="square" lIns="0" tIns="0" rIns="0" bIns="0" rtlCol="0" anchor="ctr"/>
          <a:lstStyle/>
          <a:p>
            <a:pPr algn="ctr"/>
            <a:r>
              <a:rPr lang="en-US" sz="1400" b="1" dirty="0">
                <a:solidFill>
                  <a:srgbClr val="2C5F82"/>
                </a:solidFill>
                <a:latin typeface="Arial" panose="020B0604020202020204" pitchFamily="34" charset="0"/>
                <a:ea typeface="Arial" pitchFamily="34" charset="-122"/>
                <a:cs typeface="Arial" panose="020B0604020202020204" pitchFamily="34" charset="0"/>
              </a:rPr>
              <a:t>99.3% called</a:t>
            </a:r>
          </a:p>
          <a:p>
            <a:pPr algn="ctr"/>
            <a:r>
              <a:rPr lang="en-US" sz="1400" b="1" dirty="0">
                <a:solidFill>
                  <a:srgbClr val="2C5F82"/>
                </a:solidFill>
                <a:latin typeface="Arial" panose="020B0604020202020204" pitchFamily="34" charset="0"/>
                <a:ea typeface="Arial" pitchFamily="34" charset="-122"/>
                <a:cs typeface="Arial" panose="020B0604020202020204" pitchFamily="34" charset="0"/>
              </a:rPr>
              <a:t> in any year </a:t>
            </a:r>
            <a:endParaRPr lang="en-US" sz="1400" dirty="0">
              <a:latin typeface="Arial" panose="020B0604020202020204" pitchFamily="34" charset="0"/>
              <a:cs typeface="Arial" panose="020B0604020202020204" pitchFamily="34" charset="0"/>
            </a:endParaRPr>
          </a:p>
        </p:txBody>
      </p:sp>
      <p:sp>
        <p:nvSpPr>
          <p:cNvPr id="42" name="Shape 39"/>
          <p:cNvSpPr/>
          <p:nvPr/>
        </p:nvSpPr>
        <p:spPr>
          <a:xfrm>
            <a:off x="213359" y="3851148"/>
            <a:ext cx="6116812" cy="855879"/>
          </a:xfrm>
          <a:prstGeom prst="roundRect">
            <a:avLst/>
          </a:prstGeom>
          <a:solidFill>
            <a:srgbClr val="E8EFF5"/>
          </a:solidFill>
          <a:ln w="12700">
            <a:solidFill>
              <a:srgbClr val="E8EFF5"/>
            </a:solidFill>
            <a:prstDash val="solid"/>
          </a:ln>
        </p:spPr>
        <p:txBody>
          <a:bodyPr/>
          <a:lstStyle/>
          <a:p>
            <a:endParaRPr lang="en-US" sz="2400">
              <a:latin typeface="Arial" panose="020B0604020202020204" pitchFamily="34" charset="0"/>
              <a:cs typeface="Arial" panose="020B0604020202020204" pitchFamily="34" charset="0"/>
            </a:endParaRPr>
          </a:p>
        </p:txBody>
      </p:sp>
      <p:sp>
        <p:nvSpPr>
          <p:cNvPr id="43" name="Shape 40"/>
          <p:cNvSpPr/>
          <p:nvPr/>
        </p:nvSpPr>
        <p:spPr>
          <a:xfrm>
            <a:off x="305874" y="4029456"/>
            <a:ext cx="512064" cy="499263"/>
          </a:xfrm>
          <a:prstGeom prst="ellipse">
            <a:avLst/>
          </a:prstGeom>
          <a:solidFill>
            <a:srgbClr val="A6A6A6"/>
          </a:solidFill>
          <a:ln/>
        </p:spPr>
        <p:txBody>
          <a:bodyPr/>
          <a:lstStyle/>
          <a:p>
            <a:endParaRPr lang="en-US" sz="2400">
              <a:latin typeface="Arial" panose="020B0604020202020204" pitchFamily="34" charset="0"/>
              <a:cs typeface="Arial" panose="020B0604020202020204" pitchFamily="34" charset="0"/>
            </a:endParaRPr>
          </a:p>
        </p:txBody>
      </p:sp>
      <p:sp>
        <p:nvSpPr>
          <p:cNvPr id="44" name="Text 41"/>
          <p:cNvSpPr txBox="1"/>
          <p:nvPr/>
        </p:nvSpPr>
        <p:spPr>
          <a:xfrm>
            <a:off x="316632" y="4040214"/>
            <a:ext cx="512064" cy="499263"/>
          </a:xfrm>
          <a:prstGeom prst="rect">
            <a:avLst/>
          </a:prstGeom>
          <a:noFill/>
          <a:ln/>
        </p:spPr>
        <p:txBody>
          <a:bodyPr wrap="square" lIns="0" tIns="0" rIns="0" bIns="0" rtlCol="0" anchor="ctr"/>
          <a:lstStyle/>
          <a:p>
            <a:pPr algn="ctr"/>
            <a:r>
              <a:rPr lang="en-US" sz="1600" b="1" dirty="0">
                <a:solidFill>
                  <a:srgbClr val="FFFFFF"/>
                </a:solidFill>
                <a:latin typeface="Arial" panose="020B0604020202020204" pitchFamily="34" charset="0"/>
                <a:ea typeface="Arial" pitchFamily="34" charset="-122"/>
                <a:cs typeface="Arial" panose="020B0604020202020204" pitchFamily="34" charset="0"/>
              </a:rPr>
              <a:t>B</a:t>
            </a:r>
            <a:endParaRPr lang="en-US" sz="1600" dirty="0">
              <a:latin typeface="Arial" panose="020B0604020202020204" pitchFamily="34" charset="0"/>
              <a:cs typeface="Arial" panose="020B0604020202020204" pitchFamily="34" charset="0"/>
            </a:endParaRPr>
          </a:p>
        </p:txBody>
      </p:sp>
      <p:sp>
        <p:nvSpPr>
          <p:cNvPr id="45" name="Text 42"/>
          <p:cNvSpPr txBox="1"/>
          <p:nvPr/>
        </p:nvSpPr>
        <p:spPr>
          <a:xfrm>
            <a:off x="1005840" y="3922470"/>
            <a:ext cx="3474720" cy="320955"/>
          </a:xfrm>
          <a:prstGeom prst="rect">
            <a:avLst/>
          </a:prstGeom>
          <a:noFill/>
          <a:ln/>
        </p:spPr>
        <p:txBody>
          <a:bodyPr wrap="square" lIns="0" tIns="0" rIns="0" bIns="0" rtlCol="0" anchor="t"/>
          <a:lstStyle/>
          <a:p>
            <a:r>
              <a:rPr lang="en-US" sz="1250" b="1">
                <a:solidFill>
                  <a:srgbClr val="2C5F82"/>
                </a:solidFill>
                <a:latin typeface="Arial" panose="020B0604020202020204" pitchFamily="34" charset="0"/>
                <a:ea typeface="Arial" pitchFamily="34" charset="-122"/>
                <a:cs typeface="Arial" panose="020B0604020202020204" pitchFamily="34" charset="0"/>
              </a:rPr>
              <a:t>Not called, basket 70–By yearly target %</a:t>
            </a:r>
            <a:endParaRPr lang="en-US" sz="1250">
              <a:latin typeface="Arial" panose="020B0604020202020204" pitchFamily="34" charset="0"/>
              <a:cs typeface="Arial" panose="020B0604020202020204" pitchFamily="34" charset="0"/>
            </a:endParaRPr>
          </a:p>
        </p:txBody>
      </p:sp>
      <p:sp>
        <p:nvSpPr>
          <p:cNvPr id="46" name="Text 43"/>
          <p:cNvSpPr txBox="1"/>
          <p:nvPr/>
        </p:nvSpPr>
        <p:spPr>
          <a:xfrm>
            <a:off x="1005840" y="4231539"/>
            <a:ext cx="3474720" cy="451713"/>
          </a:xfrm>
          <a:prstGeom prst="rect">
            <a:avLst/>
          </a:prstGeom>
          <a:noFill/>
          <a:ln/>
        </p:spPr>
        <p:txBody>
          <a:bodyPr wrap="square" lIns="0" tIns="0" rIns="0" bIns="0" rtlCol="0" anchor="t"/>
          <a:lstStyle/>
          <a:p>
            <a:r>
              <a:rPr lang="en-US" sz="1040" dirty="0">
                <a:solidFill>
                  <a:srgbClr val="262626"/>
                </a:solidFill>
                <a:latin typeface="Arial" panose="020B0604020202020204" pitchFamily="34" charset="0"/>
                <a:ea typeface="Arial" pitchFamily="34" charset="-122"/>
                <a:cs typeface="Arial" panose="020B0604020202020204" pitchFamily="34" charset="0"/>
              </a:rPr>
              <a:t>Year 1-4 : Continue holding</a:t>
            </a:r>
          </a:p>
          <a:p>
            <a:r>
              <a:rPr lang="en-US" sz="1040" dirty="0">
                <a:solidFill>
                  <a:srgbClr val="262626"/>
                </a:solidFill>
                <a:latin typeface="Arial" panose="020B0604020202020204" pitchFamily="34" charset="0"/>
                <a:ea typeface="Arial" pitchFamily="34" charset="-122"/>
                <a:cs typeface="Arial" panose="020B0604020202020204" pitchFamily="34" charset="0"/>
              </a:rPr>
              <a:t>Year 5: Repaid at 100% of the basket level</a:t>
            </a:r>
            <a:endParaRPr lang="en-US" sz="1040" dirty="0">
              <a:latin typeface="Arial" panose="020B0604020202020204" pitchFamily="34" charset="0"/>
              <a:cs typeface="Arial" panose="020B0604020202020204" pitchFamily="34" charset="0"/>
            </a:endParaRPr>
          </a:p>
        </p:txBody>
      </p:sp>
      <p:sp>
        <p:nvSpPr>
          <p:cNvPr id="47" name="Text 44"/>
          <p:cNvSpPr txBox="1"/>
          <p:nvPr/>
        </p:nvSpPr>
        <p:spPr>
          <a:xfrm>
            <a:off x="4343823" y="3892753"/>
            <a:ext cx="1841823" cy="772668"/>
          </a:xfrm>
          <a:prstGeom prst="rect">
            <a:avLst/>
          </a:prstGeom>
          <a:noFill/>
          <a:ln/>
        </p:spPr>
        <p:txBody>
          <a:bodyPr wrap="square" lIns="0" tIns="0" rIns="0" bIns="0" rtlCol="0" anchor="ctr"/>
          <a:lstStyle/>
          <a:p>
            <a:pPr algn="ctr"/>
            <a:r>
              <a:rPr lang="en-US" sz="1400" b="1" dirty="0">
                <a:solidFill>
                  <a:srgbClr val="A6A6A6"/>
                </a:solidFill>
                <a:latin typeface="Arial" panose="020B0604020202020204" pitchFamily="34" charset="0"/>
                <a:cs typeface="Arial" panose="020B0604020202020204" pitchFamily="34" charset="0"/>
              </a:rPr>
              <a:t>0.5% uncalled while being above 70% in year 5 </a:t>
            </a:r>
            <a:endParaRPr lang="en-US" sz="1400" dirty="0">
              <a:latin typeface="Arial" panose="020B0604020202020204" pitchFamily="34" charset="0"/>
              <a:cs typeface="Arial" panose="020B0604020202020204" pitchFamily="34" charset="0"/>
            </a:endParaRPr>
          </a:p>
        </p:txBody>
      </p:sp>
      <p:sp>
        <p:nvSpPr>
          <p:cNvPr id="48" name="Shape 45"/>
          <p:cNvSpPr/>
          <p:nvPr/>
        </p:nvSpPr>
        <p:spPr>
          <a:xfrm>
            <a:off x="182879" y="4905147"/>
            <a:ext cx="6147292" cy="855879"/>
          </a:xfrm>
          <a:prstGeom prst="roundRect">
            <a:avLst/>
          </a:prstGeom>
          <a:solidFill>
            <a:srgbClr val="E8EFF5"/>
          </a:solidFill>
          <a:ln w="12700">
            <a:solidFill>
              <a:srgbClr val="E8EFF5"/>
            </a:solidFill>
            <a:prstDash val="solid"/>
          </a:ln>
        </p:spPr>
        <p:txBody>
          <a:bodyPr/>
          <a:lstStyle/>
          <a:p>
            <a:endParaRPr lang="en-US" sz="2400">
              <a:latin typeface="Arial" panose="020B0604020202020204" pitchFamily="34" charset="0"/>
              <a:cs typeface="Arial" panose="020B0604020202020204" pitchFamily="34" charset="0"/>
            </a:endParaRPr>
          </a:p>
        </p:txBody>
      </p:sp>
      <p:sp>
        <p:nvSpPr>
          <p:cNvPr id="49" name="Shape 46"/>
          <p:cNvSpPr/>
          <p:nvPr/>
        </p:nvSpPr>
        <p:spPr>
          <a:xfrm>
            <a:off x="329184" y="5083455"/>
            <a:ext cx="512064" cy="499263"/>
          </a:xfrm>
          <a:prstGeom prst="ellipse">
            <a:avLst/>
          </a:prstGeom>
          <a:solidFill>
            <a:srgbClr val="B23B3B"/>
          </a:solidFill>
          <a:ln/>
        </p:spPr>
        <p:txBody>
          <a:bodyPr/>
          <a:lstStyle/>
          <a:p>
            <a:endParaRPr lang="en-US" sz="2400">
              <a:latin typeface="Arial" panose="020B0604020202020204" pitchFamily="34" charset="0"/>
              <a:cs typeface="Arial" panose="020B0604020202020204" pitchFamily="34" charset="0"/>
            </a:endParaRPr>
          </a:p>
        </p:txBody>
      </p:sp>
      <p:sp>
        <p:nvSpPr>
          <p:cNvPr id="50" name="Text 47"/>
          <p:cNvSpPr txBox="1"/>
          <p:nvPr/>
        </p:nvSpPr>
        <p:spPr>
          <a:xfrm>
            <a:off x="329184" y="5083455"/>
            <a:ext cx="512064" cy="499263"/>
          </a:xfrm>
          <a:prstGeom prst="rect">
            <a:avLst/>
          </a:prstGeom>
          <a:noFill/>
          <a:ln/>
        </p:spPr>
        <p:txBody>
          <a:bodyPr wrap="square" lIns="0" tIns="0" rIns="0" bIns="0" rtlCol="0" anchor="ctr"/>
          <a:lstStyle/>
          <a:p>
            <a:pPr algn="ctr"/>
            <a:r>
              <a:rPr lang="en-US" sz="1600" b="1">
                <a:solidFill>
                  <a:srgbClr val="FFFFFF"/>
                </a:solidFill>
                <a:latin typeface="Arial" panose="020B0604020202020204" pitchFamily="34" charset="0"/>
                <a:ea typeface="Arial" pitchFamily="34" charset="-122"/>
                <a:cs typeface="Arial" panose="020B0604020202020204" pitchFamily="34" charset="0"/>
              </a:rPr>
              <a:t>C</a:t>
            </a:r>
            <a:endParaRPr lang="en-US" sz="1600">
              <a:latin typeface="Arial" panose="020B0604020202020204" pitchFamily="34" charset="0"/>
              <a:cs typeface="Arial" panose="020B0604020202020204" pitchFamily="34" charset="0"/>
            </a:endParaRPr>
          </a:p>
        </p:txBody>
      </p:sp>
      <p:sp>
        <p:nvSpPr>
          <p:cNvPr id="51" name="Text 48"/>
          <p:cNvSpPr txBox="1"/>
          <p:nvPr/>
        </p:nvSpPr>
        <p:spPr>
          <a:xfrm>
            <a:off x="975360" y="4976469"/>
            <a:ext cx="3474720" cy="320955"/>
          </a:xfrm>
          <a:prstGeom prst="rect">
            <a:avLst/>
          </a:prstGeom>
          <a:noFill/>
          <a:ln/>
        </p:spPr>
        <p:txBody>
          <a:bodyPr wrap="square" lIns="0" tIns="0" rIns="0" bIns="0" rtlCol="0" anchor="t"/>
          <a:lstStyle/>
          <a:p>
            <a:r>
              <a:rPr lang="en-US" sz="1293" b="1">
                <a:solidFill>
                  <a:srgbClr val="2C5F82"/>
                </a:solidFill>
                <a:latin typeface="Arial" panose="020B0604020202020204" pitchFamily="34" charset="0"/>
                <a:ea typeface="Arial" pitchFamily="34" charset="-122"/>
                <a:cs typeface="Arial" panose="020B0604020202020204" pitchFamily="34" charset="0"/>
              </a:rPr>
              <a:t>Not called, basket &lt; 70% </a:t>
            </a:r>
            <a:endParaRPr lang="en-US" sz="1293">
              <a:latin typeface="Arial" panose="020B0604020202020204" pitchFamily="34" charset="0"/>
              <a:cs typeface="Arial" panose="020B0604020202020204" pitchFamily="34" charset="0"/>
            </a:endParaRPr>
          </a:p>
        </p:txBody>
      </p:sp>
      <p:sp>
        <p:nvSpPr>
          <p:cNvPr id="52" name="Text 49"/>
          <p:cNvSpPr txBox="1"/>
          <p:nvPr/>
        </p:nvSpPr>
        <p:spPr>
          <a:xfrm>
            <a:off x="975360" y="5285538"/>
            <a:ext cx="3474720" cy="451713"/>
          </a:xfrm>
          <a:prstGeom prst="rect">
            <a:avLst/>
          </a:prstGeom>
          <a:noFill/>
          <a:ln/>
        </p:spPr>
        <p:txBody>
          <a:bodyPr wrap="square" lIns="0" tIns="0" rIns="0" bIns="0" rtlCol="0" anchor="t"/>
          <a:lstStyle/>
          <a:p>
            <a:r>
              <a:rPr lang="en-US" sz="1040" dirty="0">
                <a:solidFill>
                  <a:srgbClr val="262626"/>
                </a:solidFill>
                <a:latin typeface="Arial" panose="020B0604020202020204" pitchFamily="34" charset="0"/>
                <a:ea typeface="Arial" pitchFamily="34" charset="-122"/>
                <a:cs typeface="Arial" panose="020B0604020202020204" pitchFamily="34" charset="0"/>
              </a:rPr>
              <a:t>Repaid immediately at the basket level: the family bears the full fall.</a:t>
            </a:r>
            <a:endParaRPr lang="en-US" sz="1040" dirty="0">
              <a:latin typeface="Arial" panose="020B0604020202020204" pitchFamily="34" charset="0"/>
              <a:cs typeface="Arial" panose="020B0604020202020204" pitchFamily="34" charset="0"/>
            </a:endParaRPr>
          </a:p>
        </p:txBody>
      </p:sp>
      <p:sp>
        <p:nvSpPr>
          <p:cNvPr id="53" name="Text 50"/>
          <p:cNvSpPr txBox="1"/>
          <p:nvPr/>
        </p:nvSpPr>
        <p:spPr>
          <a:xfrm>
            <a:off x="4547024" y="5108152"/>
            <a:ext cx="1548974" cy="702461"/>
          </a:xfrm>
          <a:prstGeom prst="rect">
            <a:avLst/>
          </a:prstGeom>
          <a:noFill/>
          <a:ln/>
        </p:spPr>
        <p:txBody>
          <a:bodyPr wrap="square" lIns="0" tIns="0" rIns="0" bIns="0" rtlCol="0" anchor="ctr"/>
          <a:lstStyle/>
          <a:p>
            <a:pPr algn="ctr"/>
            <a:r>
              <a:rPr lang="en-US" sz="1400" b="1" dirty="0">
                <a:solidFill>
                  <a:srgbClr val="B23B3B"/>
                </a:solidFill>
                <a:latin typeface="Arial" panose="020B0604020202020204" pitchFamily="34" charset="0"/>
                <a:ea typeface="Arial" pitchFamily="34" charset="-122"/>
                <a:cs typeface="Arial" panose="020B0604020202020204" pitchFamily="34" charset="0"/>
              </a:rPr>
              <a:t>0.2% repaid due to below 70% at check date </a:t>
            </a:r>
            <a:endParaRPr lang="en-US" sz="1400" dirty="0">
              <a:latin typeface="Arial" panose="020B0604020202020204" pitchFamily="34" charset="0"/>
              <a:cs typeface="Arial" panose="020B0604020202020204" pitchFamily="34" charset="0"/>
            </a:endParaRPr>
          </a:p>
          <a:p>
            <a:pPr algn="ctr"/>
            <a:endParaRPr lang="en-US" sz="1347" dirty="0">
              <a:latin typeface="Arial" panose="020B060402020202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4B6A0123-45DB-6B8A-B34D-83988E061160}"/>
              </a:ext>
            </a:extLst>
          </p:cNvPr>
          <p:cNvSpPr>
            <a:spLocks noGrp="1"/>
          </p:cNvSpPr>
          <p:nvPr>
            <p:ph type="body" idx="10"/>
          </p:nvPr>
        </p:nvSpPr>
        <p:spPr/>
        <p:txBody>
          <a:bodyPr/>
          <a:lstStyle/>
          <a:p>
            <a:endParaRPr lang="en-US">
              <a:latin typeface="Arial" panose="020B0604020202020204" pitchFamily="34" charset="0"/>
              <a:cs typeface="Arial" panose="020B0604020202020204" pitchFamily="34" charset="0"/>
            </a:endParaRPr>
          </a:p>
        </p:txBody>
      </p:sp>
      <p:graphicFrame>
        <p:nvGraphicFramePr>
          <p:cNvPr id="3" name="Chart 0">
            <a:extLst>
              <a:ext uri="{FF2B5EF4-FFF2-40B4-BE49-F238E27FC236}">
                <a16:creationId xmlns:a16="http://schemas.microsoft.com/office/drawing/2014/main" id="{378C2F4F-977C-E13C-B605-7CA96F490B87}"/>
              </a:ext>
            </a:extLst>
          </p:cNvPr>
          <p:cNvGraphicFramePr/>
          <p:nvPr>
            <p:extLst>
              <p:ext uri="{D42A27DB-BD31-4B8C-83A1-F6EECF244321}">
                <p14:modId xmlns:p14="http://schemas.microsoft.com/office/powerpoint/2010/main" val="2202617582"/>
              </p:ext>
            </p:extLst>
          </p:nvPr>
        </p:nvGraphicFramePr>
        <p:xfrm>
          <a:off x="7417647" y="5104526"/>
          <a:ext cx="3328416" cy="1371454"/>
        </p:xfrm>
        <a:graphic>
          <a:graphicData uri="http://schemas.openxmlformats.org/drawingml/2006/chart">
            <c:chart xmlns:c="http://schemas.openxmlformats.org/drawingml/2006/chart" xmlns:r="http://schemas.openxmlformats.org/officeDocument/2006/relationships" r:id="rId3"/>
          </a:graphicData>
        </a:graphic>
      </p:graphicFrame>
      <p:pic>
        <p:nvPicPr>
          <p:cNvPr id="61" name="Picture 60">
            <a:extLst>
              <a:ext uri="{FF2B5EF4-FFF2-40B4-BE49-F238E27FC236}">
                <a16:creationId xmlns:a16="http://schemas.microsoft.com/office/drawing/2014/main" id="{E0C233A5-CF25-79A5-43D1-09CDE71888FB}"/>
              </a:ext>
            </a:extLst>
          </p:cNvPr>
          <p:cNvPicPr>
            <a:picLocks noChangeAspect="1"/>
          </p:cNvPicPr>
          <p:nvPr/>
        </p:nvPicPr>
        <p:blipFill>
          <a:blip r:embed="rId4"/>
          <a:stretch>
            <a:fillRect/>
          </a:stretch>
        </p:blipFill>
        <p:spPr>
          <a:xfrm>
            <a:off x="6973817" y="2872341"/>
            <a:ext cx="4146971" cy="2254916"/>
          </a:xfrm>
          <a:prstGeom prst="rect">
            <a:avLst/>
          </a:prstGeom>
        </p:spPr>
      </p:pic>
      <p:sp>
        <p:nvSpPr>
          <p:cNvPr id="2" name="文字方塊 1">
            <a:extLst>
              <a:ext uri="{FF2B5EF4-FFF2-40B4-BE49-F238E27FC236}">
                <a16:creationId xmlns:a16="http://schemas.microsoft.com/office/drawing/2014/main" id="{DCDE2276-8875-A438-85C4-1D7137FF587F}"/>
              </a:ext>
            </a:extLst>
          </p:cNvPr>
          <p:cNvSpPr txBox="1"/>
          <p:nvPr/>
        </p:nvSpPr>
        <p:spPr>
          <a:xfrm>
            <a:off x="182879" y="5878761"/>
            <a:ext cx="705288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TW" sz="1800" b="0" i="0" u="none" strike="noStrike" baseline="0" dirty="0">
                <a:solidFill>
                  <a:srgbClr val="000000"/>
                </a:solidFill>
                <a:latin typeface="Arial" panose="020B0604020202020204" pitchFamily="34" charset="0"/>
                <a:ea typeface="Arial"/>
                <a:cs typeface="Arial" panose="020B0604020202020204" pitchFamily="34" charset="0"/>
              </a:rPr>
              <a:t>Expected Portfolio Value : 114.1754% (+14.1754%)</a:t>
            </a:r>
            <a:r>
              <a:rPr sz="1800" b="0" i="0" dirty="0">
                <a:solidFill>
                  <a:srgbClr val="000000"/>
                </a:solidFill>
                <a:latin typeface="Arial" panose="020B0604020202020204" pitchFamily="34" charset="0"/>
                <a:ea typeface="Arial"/>
                <a:cs typeface="Arial" panose="020B0604020202020204" pitchFamily="34" charset="0"/>
              </a:rPr>
              <a:t>​</a:t>
            </a:r>
            <a:endParaRPr lang="zh-TW" altLang="en-US" dirty="0">
              <a:latin typeface="Arial" panose="020B0604020202020204" pitchFamily="34" charset="0"/>
              <a:cs typeface="Arial" panose="020B0604020202020204" pitchFamily="34" charset="0"/>
            </a:endParaRPr>
          </a:p>
          <a:p>
            <a:pPr algn="ctr"/>
            <a:endParaRPr lang="zh-TW"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7687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txBox="1"/>
          <p:nvPr/>
        </p:nvSpPr>
        <p:spPr>
          <a:xfrm>
            <a:off x="481584" y="137160"/>
            <a:ext cx="11247120" cy="548640"/>
          </a:xfrm>
          <a:prstGeom prst="rect">
            <a:avLst/>
          </a:prstGeom>
          <a:noFill/>
          <a:ln/>
        </p:spPr>
        <p:txBody>
          <a:bodyPr wrap="square" lIns="0" tIns="0" rIns="0" bIns="0" rtlCol="0" anchor="ctr"/>
          <a:lstStyle/>
          <a:p>
            <a:r>
              <a:rPr lang="en-US" sz="2200" dirty="0">
                <a:solidFill>
                  <a:srgbClr val="262626"/>
                </a:solidFill>
                <a:latin typeface="Arial" pitchFamily="34" charset="0"/>
                <a:ea typeface="Arial" pitchFamily="34" charset="-122"/>
                <a:cs typeface="Arial" pitchFamily="34" charset="-120"/>
              </a:rPr>
              <a:t>Risks for the family, and how Natixis hedges its side</a:t>
            </a:r>
            <a:endParaRPr lang="en-US" sz="2200" dirty="0"/>
          </a:p>
        </p:txBody>
      </p:sp>
      <p:graphicFrame>
        <p:nvGraphicFramePr>
          <p:cNvPr id="14" name="Table 0"/>
          <p:cNvGraphicFramePr>
            <a:graphicFrameLocks noGrp="1"/>
          </p:cNvGraphicFramePr>
          <p:nvPr/>
        </p:nvGraphicFramePr>
        <p:xfrm>
          <a:off x="548640" y="1399032"/>
          <a:ext cx="6583680" cy="3435401"/>
        </p:xfrm>
        <a:graphic>
          <a:graphicData uri="http://schemas.openxmlformats.org/drawingml/2006/table">
            <a:tbl>
              <a:tblPr/>
              <a:tblGrid>
                <a:gridCol w="1402080">
                  <a:extLst>
                    <a:ext uri="{9D8B030D-6E8A-4147-A177-3AD203B41FA5}">
                      <a16:colId xmlns:a16="http://schemas.microsoft.com/office/drawing/2014/main" val="20000"/>
                    </a:ext>
                  </a:extLst>
                </a:gridCol>
                <a:gridCol w="262128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20955">
                <a:tc>
                  <a:txBody>
                    <a:bodyPr/>
                    <a:lstStyle/>
                    <a:p>
                      <a:pPr marL="0" indent="0">
                        <a:buNone/>
                      </a:pPr>
                      <a:r>
                        <a:rPr lang="en-US" sz="1000" b="1" dirty="0">
                          <a:solidFill>
                            <a:srgbClr val="FFFFFF"/>
                          </a:solidFill>
                          <a:latin typeface="Arial" pitchFamily="34" charset="0"/>
                          <a:ea typeface="Arial" pitchFamily="34" charset="-122"/>
                          <a:cs typeface="Arial" pitchFamily="34" charset="-120"/>
                        </a:rPr>
                        <a:t>Risk</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What could happen</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Mitigant</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extLst>
                  <a:ext uri="{0D108BD9-81ED-4DB2-BD59-A6C34878D82A}">
                    <a16:rowId xmlns:a16="http://schemas.microsoft.com/office/drawing/2014/main" val="10000"/>
                  </a:ext>
                </a:extLst>
              </a:tr>
              <a:tr h="665683">
                <a:tc>
                  <a:txBody>
                    <a:bodyPr/>
                    <a:lstStyle/>
                    <a:p>
                      <a:pPr marL="0" indent="0">
                        <a:buNone/>
                      </a:pPr>
                      <a:r>
                        <a:rPr lang="en-US" sz="1000" b="1" dirty="0">
                          <a:solidFill>
                            <a:srgbClr val="2C5F82"/>
                          </a:solidFill>
                          <a:latin typeface="Arial" pitchFamily="34" charset="0"/>
                          <a:ea typeface="Arial" pitchFamily="34" charset="-122"/>
                          <a:cs typeface="Arial" pitchFamily="34" charset="-120"/>
                        </a:rPr>
                        <a:t>Capital loss</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Never called: repaid at the basket level (0.8% on the team outlook; 33% if markets go nowhere)</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Diversified basket, memory coupon; only 5% of wealth</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000" b="1" dirty="0">
                          <a:solidFill>
                            <a:srgbClr val="2C5F82"/>
                          </a:solidFill>
                          <a:latin typeface="Arial" pitchFamily="34" charset="0"/>
                          <a:ea typeface="Arial" pitchFamily="34" charset="-122"/>
                          <a:cs typeface="Arial" pitchFamily="34" charset="-120"/>
                        </a:rPr>
                        <a:t>Capped upside</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Team median is 2.8× in 5 years; the note pays 12.75% p.a. and is usually called by Y1</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Coupons lock in gains if the rally stalls; rest of family wealth keeps direct equity exposure</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buNone/>
                      </a:pPr>
                      <a:r>
                        <a:rPr lang="en-US" sz="1000" b="1" dirty="0">
                          <a:solidFill>
                            <a:srgbClr val="2C5F82"/>
                          </a:solidFill>
                          <a:latin typeface="Arial" pitchFamily="34" charset="0"/>
                          <a:ea typeface="Arial" pitchFamily="34" charset="-122"/>
                          <a:cs typeface="Arial" pitchFamily="34" charset="-120"/>
                        </a:rPr>
                        <a:t>ETF structure</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00878 pays ~7.6% a year out, lowering its price path; 3119 trading is thin; ETF tracking error</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00878 held at 15%; verify volumes; Natixis can reference total-return versions</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000" b="1" dirty="0">
                          <a:solidFill>
                            <a:srgbClr val="2C5F82"/>
                          </a:solidFill>
                          <a:latin typeface="Arial" pitchFamily="34" charset="0"/>
                          <a:ea typeface="Arial" pitchFamily="34" charset="-122"/>
                          <a:cs typeface="Arial" pitchFamily="34" charset="-120"/>
                        </a:rPr>
                        <a:t>Issuer credit</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Coupons and repayment depend on Natixis / BPCE</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BPCE senior rating; optional collateralised wrapper</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65683">
                <a:tc>
                  <a:txBody>
                    <a:bodyPr/>
                    <a:lstStyle/>
                    <a:p>
                      <a:pPr marL="0" indent="0">
                        <a:buNone/>
                      </a:pPr>
                      <a:r>
                        <a:rPr lang="en-US" sz="1000" b="1" dirty="0">
                          <a:solidFill>
                            <a:srgbClr val="2C5F82"/>
                          </a:solidFill>
                          <a:latin typeface="Arial" pitchFamily="34" charset="0"/>
                          <a:ea typeface="Arial" pitchFamily="34" charset="-122"/>
                          <a:cs typeface="Arial" pitchFamily="34" charset="-120"/>
                        </a:rPr>
                        <a:t>Liquidity / MTM</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Sold before maturity, the price can be below 100%</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Natixis daily indicative price; hold to call or maturity</a:t>
                      </a:r>
                      <a:endParaRPr lang="en-US" sz="10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8"/>
          <p:cNvSpPr/>
          <p:nvPr/>
        </p:nvSpPr>
        <p:spPr>
          <a:xfrm>
            <a:off x="7376160" y="1399032"/>
            <a:ext cx="4267200" cy="1034187"/>
          </a:xfrm>
          <a:prstGeom prst="rect">
            <a:avLst/>
          </a:prstGeom>
          <a:solidFill>
            <a:srgbClr val="F2F7F6"/>
          </a:solidFill>
          <a:ln w="12700">
            <a:solidFill>
              <a:srgbClr val="F2F7F6"/>
            </a:solidFill>
            <a:prstDash val="solid"/>
          </a:ln>
        </p:spPr>
        <p:txBody>
          <a:bodyPr/>
          <a:lstStyle/>
          <a:p>
            <a:endParaRPr lang="en-US" sz="2400"/>
          </a:p>
        </p:txBody>
      </p:sp>
      <p:sp>
        <p:nvSpPr>
          <p:cNvPr id="12" name="Text 9"/>
          <p:cNvSpPr txBox="1"/>
          <p:nvPr/>
        </p:nvSpPr>
        <p:spPr>
          <a:xfrm>
            <a:off x="7534656" y="1482243"/>
            <a:ext cx="3962400" cy="297180"/>
          </a:xfrm>
          <a:prstGeom prst="rect">
            <a:avLst/>
          </a:prstGeom>
          <a:noFill/>
          <a:ln/>
        </p:spPr>
        <p:txBody>
          <a:bodyPr wrap="square" lIns="0" tIns="0" rIns="0" bIns="0" rtlCol="0" anchor="t"/>
          <a:lstStyle/>
          <a:p>
            <a:r>
              <a:rPr lang="en-US" sz="1293" b="1" dirty="0">
                <a:solidFill>
                  <a:srgbClr val="2C5F82"/>
                </a:solidFill>
                <a:latin typeface="Arial" pitchFamily="34" charset="0"/>
                <a:ea typeface="Arial" pitchFamily="34" charset="-122"/>
                <a:cs typeface="Arial" pitchFamily="34" charset="-120"/>
              </a:rPr>
              <a:t>Coupon digitals</a:t>
            </a:r>
            <a:endParaRPr lang="en-US" sz="1293" dirty="0"/>
          </a:p>
        </p:txBody>
      </p:sp>
      <p:sp>
        <p:nvSpPr>
          <p:cNvPr id="13" name="Text 10"/>
          <p:cNvSpPr txBox="1"/>
          <p:nvPr/>
        </p:nvSpPr>
        <p:spPr>
          <a:xfrm>
            <a:off x="7534656" y="1779423"/>
            <a:ext cx="3962400" cy="618135"/>
          </a:xfrm>
          <a:prstGeom prst="rect">
            <a:avLst/>
          </a:prstGeom>
          <a:noFill/>
          <a:ln/>
        </p:spPr>
        <p:txBody>
          <a:bodyPr wrap="square" lIns="0" tIns="0" rIns="0" bIns="0" rtlCol="0" anchor="t"/>
          <a:lstStyle/>
          <a:p>
            <a:r>
              <a:rPr lang="en-US" sz="1040" dirty="0">
                <a:solidFill>
                  <a:srgbClr val="262626"/>
                </a:solidFill>
                <a:latin typeface="Arial" pitchFamily="34" charset="0"/>
                <a:ea typeface="Arial" pitchFamily="34" charset="-122"/>
                <a:cs typeface="Arial" pitchFamily="34" charset="-120"/>
              </a:rPr>
              <a:t>Natixis owes basket digitals struck at 100%: replicated with tight basket call spreads, delta-hedged with ETF units, constituent stocks and index futures as proxies; listed options on EWY/EWT</a:t>
            </a:r>
            <a:endParaRPr lang="en-US" sz="1040" dirty="0"/>
          </a:p>
        </p:txBody>
      </p:sp>
      <p:sp>
        <p:nvSpPr>
          <p:cNvPr id="10" name="Shape 11"/>
          <p:cNvSpPr/>
          <p:nvPr/>
        </p:nvSpPr>
        <p:spPr>
          <a:xfrm>
            <a:off x="7376160" y="2552091"/>
            <a:ext cx="4267200" cy="1034187"/>
          </a:xfrm>
          <a:prstGeom prst="rect">
            <a:avLst/>
          </a:prstGeom>
          <a:solidFill>
            <a:srgbClr val="E8EFF5"/>
          </a:solidFill>
          <a:ln w="12700">
            <a:solidFill>
              <a:srgbClr val="E8EFF5"/>
            </a:solidFill>
            <a:prstDash val="solid"/>
          </a:ln>
        </p:spPr>
        <p:txBody>
          <a:bodyPr/>
          <a:lstStyle/>
          <a:p>
            <a:endParaRPr lang="en-US" sz="2400"/>
          </a:p>
        </p:txBody>
      </p:sp>
      <p:sp>
        <p:nvSpPr>
          <p:cNvPr id="15" name="Text 12"/>
          <p:cNvSpPr txBox="1"/>
          <p:nvPr/>
        </p:nvSpPr>
        <p:spPr>
          <a:xfrm>
            <a:off x="7534656" y="2635302"/>
            <a:ext cx="3962400" cy="297180"/>
          </a:xfrm>
          <a:prstGeom prst="rect">
            <a:avLst/>
          </a:prstGeom>
          <a:noFill/>
          <a:ln/>
        </p:spPr>
        <p:txBody>
          <a:bodyPr wrap="square" lIns="0" tIns="0" rIns="0" bIns="0" rtlCol="0" anchor="t"/>
          <a:lstStyle/>
          <a:p>
            <a:r>
              <a:rPr lang="en-US" sz="1293" b="1" dirty="0">
                <a:solidFill>
                  <a:srgbClr val="2C5F82"/>
                </a:solidFill>
                <a:latin typeface="Arial" pitchFamily="34" charset="0"/>
                <a:ea typeface="Arial" pitchFamily="34" charset="-122"/>
                <a:cs typeface="Arial" pitchFamily="34" charset="-120"/>
              </a:rPr>
              <a:t>Vol &amp; correlation</a:t>
            </a:r>
            <a:endParaRPr lang="en-US" sz="1293" dirty="0"/>
          </a:p>
        </p:txBody>
      </p:sp>
      <p:sp>
        <p:nvSpPr>
          <p:cNvPr id="16" name="Text 13"/>
          <p:cNvSpPr txBox="1"/>
          <p:nvPr/>
        </p:nvSpPr>
        <p:spPr>
          <a:xfrm>
            <a:off x="7534656" y="2932482"/>
            <a:ext cx="3962400" cy="618135"/>
          </a:xfrm>
          <a:prstGeom prst="rect">
            <a:avLst/>
          </a:prstGeom>
          <a:noFill/>
          <a:ln/>
        </p:spPr>
        <p:txBody>
          <a:bodyPr wrap="square" lIns="0" tIns="0" rIns="0" bIns="0" rtlCol="0" anchor="t"/>
          <a:lstStyle/>
          <a:p>
            <a:r>
              <a:rPr lang="en-US" sz="1000">
                <a:solidFill>
                  <a:srgbClr val="262626"/>
                </a:solidFill>
                <a:latin typeface="Arial"/>
                <a:ea typeface="Arial" pitchFamily="34" charset="-122"/>
                <a:cs typeface="Arial"/>
              </a:rPr>
              <a:t>Coupon value moves with basket vol and correlation (fair 12.9% –15.6% for </a:t>
            </a:r>
            <a:r>
              <a:rPr lang="en-US" sz="1100">
                <a:solidFill>
                  <a:srgbClr val="000000"/>
                </a:solidFill>
                <a:latin typeface="Arial"/>
                <a:ea typeface="Arial" pitchFamily="34" charset="-122"/>
                <a:cs typeface="Arial"/>
              </a:rPr>
              <a:t>𝜎</a:t>
            </a:r>
            <a:r>
              <a:rPr lang="en-US" sz="700" baseline="-25000">
                <a:solidFill>
                  <a:srgbClr val="000000"/>
                </a:solidFill>
                <a:latin typeface="Arial"/>
                <a:ea typeface="Arial" pitchFamily="34" charset="-122"/>
                <a:cs typeface="Arial"/>
              </a:rPr>
              <a:t>𝑡 </a:t>
            </a:r>
            <a:r>
              <a:rPr lang="en-US" sz="1000">
                <a:solidFill>
                  <a:srgbClr val="262626"/>
                </a:solidFill>
                <a:latin typeface="Arial"/>
                <a:ea typeface="Arial" pitchFamily="34" charset="-122"/>
                <a:cs typeface="Arial"/>
              </a:rPr>
              <a:t>± 300bps): managed with listed index options and correlation trades</a:t>
            </a:r>
            <a:endParaRPr lang="en-US" sz="1000">
              <a:latin typeface="Arial"/>
              <a:cs typeface="Arial"/>
            </a:endParaRPr>
          </a:p>
        </p:txBody>
      </p:sp>
      <p:sp>
        <p:nvSpPr>
          <p:cNvPr id="17" name="Shape 14"/>
          <p:cNvSpPr/>
          <p:nvPr/>
        </p:nvSpPr>
        <p:spPr>
          <a:xfrm>
            <a:off x="7376160" y="3705149"/>
            <a:ext cx="4267200" cy="1034187"/>
          </a:xfrm>
          <a:prstGeom prst="rect">
            <a:avLst/>
          </a:prstGeom>
          <a:solidFill>
            <a:srgbClr val="F2F7F6"/>
          </a:solidFill>
          <a:ln w="12700">
            <a:solidFill>
              <a:srgbClr val="F2F7F6"/>
            </a:solidFill>
            <a:prstDash val="solid"/>
          </a:ln>
        </p:spPr>
        <p:txBody>
          <a:bodyPr/>
          <a:lstStyle/>
          <a:p>
            <a:endParaRPr lang="en-US" sz="2400"/>
          </a:p>
        </p:txBody>
      </p:sp>
      <p:sp>
        <p:nvSpPr>
          <p:cNvPr id="18" name="Text 15"/>
          <p:cNvSpPr txBox="1"/>
          <p:nvPr/>
        </p:nvSpPr>
        <p:spPr>
          <a:xfrm>
            <a:off x="7534656" y="3788359"/>
            <a:ext cx="3962400" cy="297180"/>
          </a:xfrm>
          <a:prstGeom prst="rect">
            <a:avLst/>
          </a:prstGeom>
          <a:noFill/>
          <a:ln/>
        </p:spPr>
        <p:txBody>
          <a:bodyPr wrap="square" lIns="0" tIns="0" rIns="0" bIns="0" rtlCol="0" anchor="t"/>
          <a:lstStyle/>
          <a:p>
            <a:r>
              <a:rPr lang="en-US" sz="1293" b="1" dirty="0">
                <a:solidFill>
                  <a:srgbClr val="2C5F82"/>
                </a:solidFill>
                <a:latin typeface="Arial" pitchFamily="34" charset="0"/>
                <a:ea typeface="Arial" pitchFamily="34" charset="-122"/>
                <a:cs typeface="Arial" pitchFamily="34" charset="-120"/>
              </a:rPr>
              <a:t>Quanto FX</a:t>
            </a:r>
            <a:endParaRPr lang="en-US" sz="1293" dirty="0"/>
          </a:p>
        </p:txBody>
      </p:sp>
      <p:sp>
        <p:nvSpPr>
          <p:cNvPr id="19" name="Text 16"/>
          <p:cNvSpPr txBox="1"/>
          <p:nvPr/>
        </p:nvSpPr>
        <p:spPr>
          <a:xfrm>
            <a:off x="7534656" y="4085539"/>
            <a:ext cx="3962400" cy="618135"/>
          </a:xfrm>
          <a:prstGeom prst="rect">
            <a:avLst/>
          </a:prstGeom>
          <a:noFill/>
          <a:ln/>
        </p:spPr>
        <p:txBody>
          <a:bodyPr wrap="square" lIns="0" tIns="0" rIns="0" bIns="0" rtlCol="0" anchor="t"/>
          <a:lstStyle/>
          <a:p>
            <a:r>
              <a:rPr lang="en-US" sz="1040" dirty="0">
                <a:solidFill>
                  <a:srgbClr val="262626"/>
                </a:solidFill>
                <a:latin typeface="Arial" pitchFamily="34" charset="0"/>
                <a:ea typeface="Arial" pitchFamily="34" charset="-122"/>
                <a:cs typeface="Arial" pitchFamily="34" charset="-120"/>
              </a:rPr>
              <a:t>EWT and EWY already trade in USD; 3119 (HKD, pegged), 2644 (JPY) and 00878 (TWD) need FX forwards and a quanto adjustment</a:t>
            </a:r>
            <a:endParaRPr lang="en-US" sz="1040" dirty="0"/>
          </a:p>
        </p:txBody>
      </p:sp>
      <p:sp>
        <p:nvSpPr>
          <p:cNvPr id="20" name="Shape 17"/>
          <p:cNvSpPr/>
          <p:nvPr/>
        </p:nvSpPr>
        <p:spPr>
          <a:xfrm>
            <a:off x="7376160" y="4858207"/>
            <a:ext cx="4267200" cy="1034187"/>
          </a:xfrm>
          <a:prstGeom prst="rect">
            <a:avLst/>
          </a:prstGeom>
          <a:solidFill>
            <a:srgbClr val="E8EFF5"/>
          </a:solidFill>
          <a:ln w="12700">
            <a:solidFill>
              <a:srgbClr val="E8EFF5"/>
            </a:solidFill>
            <a:prstDash val="solid"/>
          </a:ln>
        </p:spPr>
        <p:txBody>
          <a:bodyPr/>
          <a:lstStyle/>
          <a:p>
            <a:endParaRPr lang="en-US" sz="2400"/>
          </a:p>
        </p:txBody>
      </p:sp>
      <p:sp>
        <p:nvSpPr>
          <p:cNvPr id="21" name="Text 18"/>
          <p:cNvSpPr txBox="1"/>
          <p:nvPr/>
        </p:nvSpPr>
        <p:spPr>
          <a:xfrm>
            <a:off x="7534656" y="4941418"/>
            <a:ext cx="3962400" cy="297180"/>
          </a:xfrm>
          <a:prstGeom prst="rect">
            <a:avLst/>
          </a:prstGeom>
          <a:noFill/>
          <a:ln/>
        </p:spPr>
        <p:txBody>
          <a:bodyPr wrap="square" lIns="0" tIns="0" rIns="0" bIns="0" rtlCol="0" anchor="t"/>
          <a:lstStyle/>
          <a:p>
            <a:r>
              <a:rPr lang="en-US" sz="1293" b="1" dirty="0">
                <a:solidFill>
                  <a:srgbClr val="2C5F82"/>
                </a:solidFill>
                <a:latin typeface="Arial" pitchFamily="34" charset="0"/>
                <a:ea typeface="Arial" pitchFamily="34" charset="-122"/>
                <a:cs typeface="Arial" pitchFamily="34" charset="-120"/>
              </a:rPr>
              <a:t>Short put &amp; funding</a:t>
            </a:r>
            <a:endParaRPr lang="en-US" sz="1293" dirty="0"/>
          </a:p>
        </p:txBody>
      </p:sp>
      <p:sp>
        <p:nvSpPr>
          <p:cNvPr id="22" name="Text 19"/>
          <p:cNvSpPr txBox="1"/>
          <p:nvPr/>
        </p:nvSpPr>
        <p:spPr>
          <a:xfrm>
            <a:off x="7534656" y="5238598"/>
            <a:ext cx="3962400" cy="618135"/>
          </a:xfrm>
          <a:prstGeom prst="rect">
            <a:avLst/>
          </a:prstGeom>
          <a:noFill/>
          <a:ln/>
        </p:spPr>
        <p:txBody>
          <a:bodyPr wrap="square" lIns="0" tIns="0" rIns="0" bIns="0" rtlCol="0" anchor="t"/>
          <a:lstStyle/>
          <a:p>
            <a:r>
              <a:rPr lang="en-US" sz="1040" dirty="0">
                <a:solidFill>
                  <a:srgbClr val="262626"/>
                </a:solidFill>
                <a:latin typeface="Arial" pitchFamily="34" charset="0"/>
                <a:ea typeface="Arial" pitchFamily="34" charset="-122"/>
                <a:cs typeface="Arial" pitchFamily="34" charset="-120"/>
              </a:rPr>
              <a:t>Natixis is long the client's put at 100% (live only if never called), hedged with basket put spreads and delta. Principal funded at 5.69%</a:t>
            </a:r>
            <a:endParaRPr lang="en-US" sz="1040" dirty="0"/>
          </a:p>
        </p:txBody>
      </p:sp>
      <p:sp>
        <p:nvSpPr>
          <p:cNvPr id="23" name="Text 20"/>
          <p:cNvSpPr txBox="1"/>
          <p:nvPr/>
        </p:nvSpPr>
        <p:spPr>
          <a:xfrm>
            <a:off x="548640" y="4957130"/>
            <a:ext cx="6583680" cy="832104"/>
          </a:xfrm>
          <a:prstGeom prst="rect">
            <a:avLst/>
          </a:prstGeom>
          <a:noFill/>
          <a:ln/>
        </p:spPr>
        <p:txBody>
          <a:bodyPr wrap="square" lIns="0" tIns="0" rIns="0" bIns="0" rtlCol="0" anchor="t"/>
          <a:lstStyle/>
          <a:p>
            <a:r>
              <a:rPr lang="en-US" sz="1100" b="1" dirty="0">
                <a:solidFill>
                  <a:srgbClr val="2C5F82"/>
                </a:solidFill>
                <a:cs typeface="Arial"/>
              </a:rPr>
              <a:t>Pricing sensitivity (fair coupon): </a:t>
            </a:r>
            <a:endParaRPr lang="en-US" sz="1100" dirty="0">
              <a:solidFill>
                <a:srgbClr val="262626"/>
              </a:solidFill>
              <a:ea typeface="Cambria Math"/>
              <a:cs typeface="Arial"/>
            </a:endParaRPr>
          </a:p>
          <a:p>
            <a:pPr marL="171450" indent="-171450">
              <a:buFont typeface="Arial"/>
              <a:buChar char="•"/>
            </a:pPr>
            <a:r>
              <a:rPr lang="en-US" sz="1100" dirty="0">
                <a:solidFill>
                  <a:srgbClr val="000000"/>
                </a:solidFill>
                <a:ea typeface="Cambria Math"/>
                <a:cs typeface="Arial"/>
              </a:rPr>
              <a:t>Base Case Baseline: </a:t>
            </a:r>
            <a:r>
              <a:rPr lang="en-US" sz="1100" dirty="0">
                <a:solidFill>
                  <a:srgbClr val="000000"/>
                </a:solidFill>
                <a:latin typeface="Arial"/>
                <a:ea typeface="Cambria Math"/>
                <a:cs typeface="Arial"/>
              </a:rPr>
              <a:t>𝐶</a:t>
            </a:r>
            <a:r>
              <a:rPr lang="en-US" sz="1100" baseline="-25000" dirty="0">
                <a:latin typeface="Arial"/>
                <a:ea typeface="Cambria Math"/>
                <a:cs typeface="Arial"/>
              </a:rPr>
              <a:t>𝑓𝑎𝑖𝑟 </a:t>
            </a:r>
            <a:r>
              <a:rPr lang="en-US" sz="1100" dirty="0">
                <a:latin typeface="Arial"/>
                <a:ea typeface="Cambria Math"/>
                <a:cs typeface="Arial"/>
              </a:rPr>
              <a:t>= 14.1%</a:t>
            </a:r>
            <a:endParaRPr lang="en-US" sz="1100" baseline="-25000" dirty="0">
              <a:latin typeface="Arial"/>
              <a:ea typeface="Calibri"/>
              <a:cs typeface="Arial"/>
            </a:endParaRPr>
          </a:p>
          <a:p>
            <a:pPr marL="171450" indent="-171450">
              <a:buFont typeface="Arial"/>
              <a:buChar char="•"/>
            </a:pPr>
            <a:r>
              <a:rPr lang="en-US" sz="1100" dirty="0">
                <a:latin typeface="Arial"/>
                <a:ea typeface="Cambria Math"/>
                <a:cs typeface="Arial"/>
              </a:rPr>
              <a:t>Volatility Shift: 𝜎</a:t>
            </a:r>
            <a:r>
              <a:rPr lang="en-US" sz="1100" baseline="-25000" dirty="0">
                <a:solidFill>
                  <a:srgbClr val="000000"/>
                </a:solidFill>
                <a:latin typeface="Arial"/>
                <a:ea typeface="Cambria Math"/>
                <a:cs typeface="Arial"/>
              </a:rPr>
              <a:t>𝑡</a:t>
            </a:r>
            <a:r>
              <a:rPr lang="en-US" sz="1100" baseline="-25000" dirty="0">
                <a:ea typeface="Cambria Math"/>
                <a:cs typeface="Arial"/>
              </a:rPr>
              <a:t> </a:t>
            </a:r>
            <a:r>
              <a:rPr lang="en-US" sz="1100" dirty="0">
                <a:cs typeface="Arial"/>
              </a:rPr>
              <a:t>± 300bps</a:t>
            </a:r>
            <a:r>
              <a:rPr lang="en-US" sz="1100" dirty="0">
                <a:latin typeface="Arial"/>
                <a:ea typeface="Cambria Math"/>
                <a:cs typeface="Arial"/>
              </a:rPr>
              <a:t> ⟹</a:t>
            </a:r>
            <a:r>
              <a:rPr lang="en-US" sz="1100" dirty="0">
                <a:cs typeface="Arial"/>
              </a:rPr>
              <a:t> </a:t>
            </a:r>
            <a:r>
              <a:rPr lang="en-US" sz="1100" dirty="0">
                <a:latin typeface="Arial"/>
                <a:ea typeface="Cambria Math"/>
                <a:cs typeface="Arial"/>
              </a:rPr>
              <a:t>𝐶</a:t>
            </a:r>
            <a:r>
              <a:rPr lang="en-US" sz="1100" baseline="-25000" dirty="0">
                <a:latin typeface="Arial"/>
                <a:ea typeface="Cambria Math"/>
                <a:cs typeface="Arial"/>
              </a:rPr>
              <a:t>𝑓𝑎𝑖𝑟</a:t>
            </a:r>
            <a:r>
              <a:rPr lang="en-US" sz="1100" dirty="0">
                <a:cs typeface="Arial"/>
              </a:rPr>
              <a:t> </a:t>
            </a:r>
            <a:r>
              <a:rPr lang="en-US" sz="1100" dirty="0">
                <a:latin typeface="Arial"/>
                <a:ea typeface="Cambria Math"/>
                <a:cs typeface="Arial"/>
              </a:rPr>
              <a:t>∈</a:t>
            </a:r>
            <a:r>
              <a:rPr lang="en-US" sz="1100" dirty="0">
                <a:cs typeface="Arial"/>
              </a:rPr>
              <a:t> [12.9%,15.5%], </a:t>
            </a:r>
            <a:r>
              <a:rPr lang="en-US" sz="1100" dirty="0">
                <a:latin typeface="Cambria Math"/>
                <a:ea typeface="Cambria Math"/>
                <a:cs typeface="Arial"/>
              </a:rPr>
              <a:t>𝜕</a:t>
            </a:r>
            <a:r>
              <a:rPr lang="en-US" sz="1100" dirty="0">
                <a:latin typeface="Arial"/>
                <a:ea typeface="Cambria Math"/>
                <a:cs typeface="Arial"/>
              </a:rPr>
              <a:t>𝐶</a:t>
            </a:r>
            <a:r>
              <a:rPr lang="en-US" sz="1100" baseline="-25000" dirty="0">
                <a:latin typeface="Arial"/>
                <a:cs typeface="Arial"/>
              </a:rPr>
              <a:t>𝑓𝑎𝑖𝑟</a:t>
            </a:r>
            <a:r>
              <a:rPr lang="en-US" sz="1100" dirty="0">
                <a:latin typeface="Arial"/>
                <a:cs typeface="Arial"/>
              </a:rPr>
              <a:t> /</a:t>
            </a:r>
            <a:r>
              <a:rPr lang="en-US" sz="1100" dirty="0">
                <a:latin typeface="Cambria Math"/>
                <a:ea typeface="Cambria Math"/>
                <a:cs typeface="Arial"/>
              </a:rPr>
              <a:t>𝜕</a:t>
            </a:r>
            <a:r>
              <a:rPr lang="en-US" sz="1100" dirty="0">
                <a:solidFill>
                  <a:srgbClr val="000000"/>
                </a:solidFill>
                <a:latin typeface="Arial"/>
                <a:cs typeface="Arial"/>
              </a:rPr>
              <a:t>𝜎</a:t>
            </a:r>
            <a:r>
              <a:rPr lang="en-US" sz="1100" baseline="-25000" dirty="0">
                <a:solidFill>
                  <a:srgbClr val="000000"/>
                </a:solidFill>
                <a:latin typeface="Arial"/>
                <a:cs typeface="Arial"/>
              </a:rPr>
              <a:t>𝑡</a:t>
            </a:r>
            <a:r>
              <a:rPr lang="en-US" sz="1100" baseline="-25000" dirty="0">
                <a:latin typeface="Arial"/>
                <a:cs typeface="Arial"/>
              </a:rPr>
              <a:t>    </a:t>
            </a:r>
            <a:r>
              <a:rPr lang="en-US" sz="1100" dirty="0">
                <a:solidFill>
                  <a:srgbClr val="262626"/>
                </a:solidFill>
                <a:latin typeface="Arial"/>
                <a:cs typeface="Arial"/>
              </a:rPr>
              <a:t>&gt; 0</a:t>
            </a:r>
            <a:endParaRPr lang="en-US" dirty="0">
              <a:solidFill>
                <a:srgbClr val="000000"/>
              </a:solidFill>
              <a:latin typeface="Arial"/>
              <a:cs typeface="Arial"/>
            </a:endParaRPr>
          </a:p>
          <a:p>
            <a:pPr marL="171450" indent="-171450">
              <a:buFont typeface="Arial"/>
              <a:buChar char="•"/>
            </a:pPr>
            <a:r>
              <a:rPr lang="en-US" sz="1100" dirty="0">
                <a:solidFill>
                  <a:srgbClr val="000000"/>
                </a:solidFill>
                <a:latin typeface="Arial"/>
                <a:ea typeface="Cambria Math"/>
                <a:cs typeface="Arial"/>
              </a:rPr>
              <a:t>Correlation shift: 𝜌</a:t>
            </a:r>
            <a:r>
              <a:rPr lang="en-US" sz="1100" baseline="-25000" dirty="0">
                <a:solidFill>
                  <a:srgbClr val="000000"/>
                </a:solidFill>
                <a:latin typeface="Arial"/>
                <a:ea typeface="Cambria Math"/>
                <a:cs typeface="Arial"/>
              </a:rPr>
              <a:t>𝑖,j </a:t>
            </a:r>
            <a:r>
              <a:rPr lang="en-US" sz="1100" dirty="0">
                <a:solidFill>
                  <a:srgbClr val="262626"/>
                </a:solidFill>
                <a:latin typeface="Arial"/>
                <a:ea typeface="Cambria Math"/>
                <a:cs typeface="Arial"/>
              </a:rPr>
              <a:t>± 0.15 ⟹ 𝐶</a:t>
            </a:r>
            <a:r>
              <a:rPr lang="en-US" sz="1100" baseline="-25000" dirty="0">
                <a:solidFill>
                  <a:srgbClr val="262626"/>
                </a:solidFill>
                <a:latin typeface="Arial"/>
                <a:ea typeface="Cambria Math"/>
                <a:cs typeface="Arial"/>
              </a:rPr>
              <a:t>𝑓𝑎𝑖𝑟</a:t>
            </a:r>
            <a:r>
              <a:rPr lang="en-US" sz="1100" dirty="0">
                <a:solidFill>
                  <a:srgbClr val="262626"/>
                </a:solidFill>
                <a:latin typeface="Arial"/>
                <a:ea typeface="Cambria Math"/>
                <a:cs typeface="Arial"/>
              </a:rPr>
              <a:t> ∈ [13.2%,15.0%], </a:t>
            </a:r>
            <a:r>
              <a:rPr lang="en-US" sz="1100" dirty="0">
                <a:solidFill>
                  <a:srgbClr val="262626"/>
                </a:solidFill>
                <a:latin typeface="Cambria Math"/>
                <a:ea typeface="Cambria Math"/>
                <a:cs typeface="Arial"/>
              </a:rPr>
              <a:t>𝜕</a:t>
            </a:r>
            <a:r>
              <a:rPr lang="en-US" sz="1100" dirty="0">
                <a:solidFill>
                  <a:srgbClr val="262626"/>
                </a:solidFill>
                <a:latin typeface="Arial"/>
                <a:ea typeface="Cambria Math"/>
                <a:cs typeface="Arial"/>
              </a:rPr>
              <a:t>𝐶</a:t>
            </a:r>
            <a:r>
              <a:rPr lang="en-US" sz="1100" baseline="-25000" dirty="0">
                <a:solidFill>
                  <a:srgbClr val="262626"/>
                </a:solidFill>
                <a:latin typeface="Arial"/>
                <a:ea typeface="Cambria Math"/>
                <a:cs typeface="Arial"/>
              </a:rPr>
              <a:t>𝑓𝑎𝑖𝑟</a:t>
            </a:r>
            <a:r>
              <a:rPr lang="en-US" sz="1100" dirty="0">
                <a:solidFill>
                  <a:srgbClr val="262626"/>
                </a:solidFill>
                <a:latin typeface="Arial"/>
                <a:ea typeface="Cambria Math"/>
                <a:cs typeface="Arial"/>
              </a:rPr>
              <a:t> /</a:t>
            </a:r>
            <a:r>
              <a:rPr lang="en-US" sz="1100" dirty="0">
                <a:solidFill>
                  <a:srgbClr val="262626"/>
                </a:solidFill>
                <a:latin typeface="Cambria Math"/>
                <a:ea typeface="Cambria Math"/>
                <a:cs typeface="Arial"/>
              </a:rPr>
              <a:t>𝜕</a:t>
            </a:r>
            <a:r>
              <a:rPr lang="en-US" sz="1100" dirty="0">
                <a:solidFill>
                  <a:srgbClr val="000000"/>
                </a:solidFill>
                <a:latin typeface="Arial"/>
                <a:ea typeface="Cambria Math"/>
                <a:cs typeface="Arial"/>
              </a:rPr>
              <a:t>𝜌</a:t>
            </a:r>
            <a:r>
              <a:rPr lang="en-US" sz="1100" baseline="-25000" dirty="0">
                <a:solidFill>
                  <a:srgbClr val="000000"/>
                </a:solidFill>
                <a:latin typeface="Arial"/>
                <a:ea typeface="Cambria Math"/>
                <a:cs typeface="Arial"/>
              </a:rPr>
              <a:t>𝑖,j </a:t>
            </a:r>
            <a:r>
              <a:rPr lang="en-US" sz="700" baseline="-25000" dirty="0">
                <a:solidFill>
                  <a:srgbClr val="262626"/>
                </a:solidFill>
                <a:latin typeface="Arial"/>
                <a:ea typeface="Cambria Math"/>
                <a:cs typeface="Arial"/>
              </a:rPr>
              <a:t> </a:t>
            </a:r>
            <a:r>
              <a:rPr lang="en-US" sz="1100" dirty="0">
                <a:solidFill>
                  <a:srgbClr val="262626"/>
                </a:solidFill>
                <a:latin typeface="Arial"/>
                <a:ea typeface="Cambria Math"/>
                <a:cs typeface="Arial"/>
              </a:rPr>
              <a:t>&gt; 0</a:t>
            </a:r>
            <a:endParaRPr lang="en-US" dirty="0">
              <a:cs typeface="Arial" panose="020B0604020202020204"/>
            </a:endParaRPr>
          </a:p>
          <a:p>
            <a:pPr marL="171450" indent="-171450">
              <a:buFont typeface="Arial"/>
              <a:buChar char="•"/>
            </a:pPr>
            <a:r>
              <a:rPr lang="en-US" sz="1100" dirty="0">
                <a:solidFill>
                  <a:srgbClr val="262626"/>
                </a:solidFill>
                <a:latin typeface="Arial"/>
                <a:ea typeface="Cambria Math"/>
                <a:cs typeface="Arial"/>
              </a:rPr>
              <a:t>Equity drift: </a:t>
            </a:r>
            <a:r>
              <a:rPr lang="en-US" sz="1200" dirty="0" err="1">
                <a:solidFill>
                  <a:srgbClr val="262626"/>
                </a:solidFill>
                <a:latin typeface="Times New Roman"/>
                <a:ea typeface="Cambria Math"/>
                <a:cs typeface="Times New Roman"/>
              </a:rPr>
              <a:t>Δ</a:t>
            </a:r>
            <a:r>
              <a:rPr lang="en-US" sz="1200" dirty="0">
                <a:solidFill>
                  <a:srgbClr val="262626"/>
                </a:solidFill>
                <a:latin typeface="Cambria Math"/>
                <a:ea typeface="Cambria Math"/>
                <a:cs typeface="Arial"/>
              </a:rPr>
              <a:t>𝜇</a:t>
            </a:r>
            <a:r>
              <a:rPr lang="en-US" sz="600" dirty="0">
                <a:solidFill>
                  <a:srgbClr val="262626"/>
                </a:solidFill>
                <a:latin typeface="STIXTwoMath-Regular"/>
                <a:ea typeface="Cambria Math"/>
                <a:cs typeface="Arial"/>
              </a:rPr>
              <a:t> </a:t>
            </a:r>
            <a:r>
              <a:rPr lang="en-US" sz="1200" dirty="0">
                <a:solidFill>
                  <a:srgbClr val="262626"/>
                </a:solidFill>
                <a:latin typeface="Cambria Math"/>
                <a:ea typeface="Cambria Math"/>
                <a:cs typeface="Arial"/>
              </a:rPr>
              <a:t>= -</a:t>
            </a:r>
            <a:r>
              <a:rPr lang="en-US" sz="1100" dirty="0">
                <a:solidFill>
                  <a:srgbClr val="262626"/>
                </a:solidFill>
                <a:latin typeface="Arial"/>
                <a:ea typeface="Cambria Math"/>
                <a:cs typeface="Arial"/>
              </a:rPr>
              <a:t>1.0 to -2.0% ⟹ 𝐶</a:t>
            </a:r>
            <a:r>
              <a:rPr lang="en-US" sz="1100" baseline="-25000" dirty="0">
                <a:solidFill>
                  <a:srgbClr val="262626"/>
                </a:solidFill>
                <a:latin typeface="Arial"/>
                <a:ea typeface="Cambria Math"/>
                <a:cs typeface="Arial"/>
              </a:rPr>
              <a:t>𝑓𝑎𝑖𝑟</a:t>
            </a:r>
            <a:r>
              <a:rPr lang="en-US" sz="1100" dirty="0">
                <a:solidFill>
                  <a:srgbClr val="262626"/>
                </a:solidFill>
                <a:latin typeface="Arial"/>
                <a:ea typeface="Cambria Math"/>
                <a:cs typeface="Arial"/>
              </a:rPr>
              <a:t> = 15.6% − 17.3%</a:t>
            </a:r>
            <a:r>
              <a:rPr lang="en-US" sz="1100" dirty="0">
                <a:solidFill>
                  <a:srgbClr val="262626"/>
                </a:solidFill>
                <a:cs typeface="Arial"/>
              </a:rPr>
              <a:t> </a:t>
            </a:r>
          </a:p>
          <a:p>
            <a:pPr marL="171450" indent="-171450">
              <a:buFont typeface="Arial"/>
              <a:buChar char="•"/>
            </a:pPr>
            <a:r>
              <a:rPr lang="en-US" sz="1100" dirty="0">
                <a:solidFill>
                  <a:srgbClr val="262626"/>
                </a:solidFill>
                <a:cs typeface="Arial"/>
              </a:rPr>
              <a:t>The 12.75% offer stays fundable in every case.</a:t>
            </a:r>
            <a:br>
              <a:rPr lang="en-US" sz="1100" dirty="0">
                <a:cs typeface="Arial"/>
              </a:rPr>
            </a:br>
            <a:endParaRPr lang="en-US" sz="1100" dirty="0">
              <a:solidFill>
                <a:srgbClr val="262626"/>
              </a:solidFill>
              <a:cs typeface="Arial"/>
            </a:endParaRPr>
          </a:p>
        </p:txBody>
      </p:sp>
      <p:sp>
        <p:nvSpPr>
          <p:cNvPr id="24" name="Text 21"/>
          <p:cNvSpPr txBox="1"/>
          <p:nvPr/>
        </p:nvSpPr>
        <p:spPr>
          <a:xfrm>
            <a:off x="11338560" y="6446520"/>
            <a:ext cx="390144" cy="274320"/>
          </a:xfrm>
          <a:prstGeom prst="rect">
            <a:avLst/>
          </a:prstGeom>
          <a:noFill/>
          <a:ln/>
        </p:spPr>
        <p:txBody>
          <a:bodyPr wrap="square" lIns="0" tIns="0" rIns="0" bIns="0" rtlCol="0" anchor="ctr"/>
          <a:lstStyle/>
          <a:p>
            <a:pPr algn="r"/>
            <a:r>
              <a:rPr lang="en-US" sz="1067" dirty="0">
                <a:solidFill>
                  <a:srgbClr val="595959"/>
                </a:solidFill>
                <a:latin typeface="Arial" pitchFamily="34" charset="0"/>
                <a:ea typeface="Arial" pitchFamily="34" charset="-122"/>
                <a:cs typeface="Arial" pitchFamily="34" charset="-120"/>
              </a:rPr>
              <a:t>10</a:t>
            </a:r>
            <a:endParaRPr lang="en-US" sz="1067" dirty="0"/>
          </a:p>
        </p:txBody>
      </p:sp>
      <p:sp>
        <p:nvSpPr>
          <p:cNvPr id="28" name="Text Placeholder 27">
            <a:extLst>
              <a:ext uri="{FF2B5EF4-FFF2-40B4-BE49-F238E27FC236}">
                <a16:creationId xmlns:a16="http://schemas.microsoft.com/office/drawing/2014/main" id="{73B2DBD3-79F2-85E9-43A0-B27465C24304}"/>
              </a:ext>
            </a:extLst>
          </p:cNvPr>
          <p:cNvSpPr>
            <a:spLocks noGrp="1"/>
          </p:cNvSpPr>
          <p:nvPr>
            <p:ph type="body" idx="10"/>
          </p:nvPr>
        </p:nvSpPr>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txBox="1"/>
          <p:nvPr/>
        </p:nvSpPr>
        <p:spPr>
          <a:xfrm>
            <a:off x="457200" y="100414"/>
            <a:ext cx="11247120" cy="548640"/>
          </a:xfrm>
          <a:prstGeom prst="rect">
            <a:avLst/>
          </a:prstGeom>
          <a:noFill/>
          <a:ln/>
        </p:spPr>
        <p:txBody>
          <a:bodyPr wrap="square" lIns="0" tIns="0" rIns="0" bIns="0" rtlCol="0" anchor="ctr"/>
          <a:lstStyle/>
          <a:p>
            <a:r>
              <a:rPr lang="en-US" sz="2200" dirty="0">
                <a:solidFill>
                  <a:srgbClr val="262626"/>
                </a:solidFill>
                <a:latin typeface="Arial"/>
                <a:ea typeface="Arial" pitchFamily="34" charset="-122"/>
                <a:cs typeface="Arial"/>
              </a:rPr>
              <a:t>Appendix A: pricing assumptions and methodology</a:t>
            </a:r>
            <a:endParaRPr lang="en-US" sz="2200" dirty="0">
              <a:latin typeface="Arial"/>
              <a:cs typeface="Arial"/>
            </a:endParaRPr>
          </a:p>
        </p:txBody>
      </p:sp>
      <p:sp>
        <p:nvSpPr>
          <p:cNvPr id="9" name="Text 7"/>
          <p:cNvSpPr txBox="1"/>
          <p:nvPr/>
        </p:nvSpPr>
        <p:spPr>
          <a:xfrm>
            <a:off x="457200" y="957072"/>
            <a:ext cx="11277600" cy="280416"/>
          </a:xfrm>
          <a:prstGeom prst="rect">
            <a:avLst/>
          </a:prstGeom>
          <a:noFill/>
          <a:ln/>
        </p:spPr>
        <p:txBody>
          <a:bodyPr wrap="square" lIns="0" tIns="0" rIns="0" bIns="0" rtlCol="0" anchor="ctr"/>
          <a:lstStyle/>
          <a:p>
            <a:r>
              <a:rPr lang="en-US" sz="1133" i="1">
                <a:solidFill>
                  <a:srgbClr val="595959"/>
                </a:solidFill>
                <a:latin typeface="Arial"/>
                <a:ea typeface="Arial" pitchFamily="34" charset="-122"/>
                <a:cs typeface="Arial"/>
              </a:rPr>
              <a:t>Vols and expected returns from the team risk/return app (slides 4–5); correlations and dividends to refresh on Bloomberg</a:t>
            </a:r>
            <a:endParaRPr lang="en-US" sz="1133">
              <a:latin typeface="Arial"/>
              <a:cs typeface="Arial"/>
            </a:endParaRPr>
          </a:p>
        </p:txBody>
      </p:sp>
      <p:graphicFrame>
        <p:nvGraphicFramePr>
          <p:cNvPr id="15" name="Table 0"/>
          <p:cNvGraphicFramePr>
            <a:graphicFrameLocks noGrp="1"/>
          </p:cNvGraphicFramePr>
          <p:nvPr/>
        </p:nvGraphicFramePr>
        <p:xfrm>
          <a:off x="548641" y="1458468"/>
          <a:ext cx="6339837" cy="2188125"/>
        </p:xfrm>
        <a:graphic>
          <a:graphicData uri="http://schemas.openxmlformats.org/drawingml/2006/table">
            <a:tbl>
              <a:tblPr/>
              <a:tblGrid>
                <a:gridCol w="1097280">
                  <a:extLst>
                    <a:ext uri="{9D8B030D-6E8A-4147-A177-3AD203B41FA5}">
                      <a16:colId xmlns:a16="http://schemas.microsoft.com/office/drawing/2014/main" val="20000"/>
                    </a:ext>
                  </a:extLst>
                </a:gridCol>
                <a:gridCol w="755904">
                  <a:extLst>
                    <a:ext uri="{9D8B030D-6E8A-4147-A177-3AD203B41FA5}">
                      <a16:colId xmlns:a16="http://schemas.microsoft.com/office/drawing/2014/main" val="20001"/>
                    </a:ext>
                  </a:extLst>
                </a:gridCol>
                <a:gridCol w="633984">
                  <a:extLst>
                    <a:ext uri="{9D8B030D-6E8A-4147-A177-3AD203B41FA5}">
                      <a16:colId xmlns:a16="http://schemas.microsoft.com/office/drawing/2014/main" val="20002"/>
                    </a:ext>
                  </a:extLst>
                </a:gridCol>
                <a:gridCol w="633984">
                  <a:extLst>
                    <a:ext uri="{9D8B030D-6E8A-4147-A177-3AD203B41FA5}">
                      <a16:colId xmlns:a16="http://schemas.microsoft.com/office/drawing/2014/main" val="20003"/>
                    </a:ext>
                  </a:extLst>
                </a:gridCol>
                <a:gridCol w="643737">
                  <a:extLst>
                    <a:ext uri="{9D8B030D-6E8A-4147-A177-3AD203B41FA5}">
                      <a16:colId xmlns:a16="http://schemas.microsoft.com/office/drawing/2014/main" val="20004"/>
                    </a:ext>
                  </a:extLst>
                </a:gridCol>
                <a:gridCol w="643737">
                  <a:extLst>
                    <a:ext uri="{9D8B030D-6E8A-4147-A177-3AD203B41FA5}">
                      <a16:colId xmlns:a16="http://schemas.microsoft.com/office/drawing/2014/main" val="20005"/>
                    </a:ext>
                  </a:extLst>
                </a:gridCol>
                <a:gridCol w="643737">
                  <a:extLst>
                    <a:ext uri="{9D8B030D-6E8A-4147-A177-3AD203B41FA5}">
                      <a16:colId xmlns:a16="http://schemas.microsoft.com/office/drawing/2014/main" val="20006"/>
                    </a:ext>
                  </a:extLst>
                </a:gridCol>
                <a:gridCol w="643737">
                  <a:extLst>
                    <a:ext uri="{9D8B030D-6E8A-4147-A177-3AD203B41FA5}">
                      <a16:colId xmlns:a16="http://schemas.microsoft.com/office/drawing/2014/main" val="20007"/>
                    </a:ext>
                  </a:extLst>
                </a:gridCol>
                <a:gridCol w="643737">
                  <a:extLst>
                    <a:ext uri="{9D8B030D-6E8A-4147-A177-3AD203B41FA5}">
                      <a16:colId xmlns:a16="http://schemas.microsoft.com/office/drawing/2014/main" val="20008"/>
                    </a:ext>
                  </a:extLst>
                </a:gridCol>
              </a:tblGrid>
              <a:tr h="405045">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ETF</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Weight</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Vol</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Div</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3119 HK</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EWY US</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EWT US</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2644 JP</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00878 TT</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extLst>
                  <a:ext uri="{0D108BD9-81ED-4DB2-BD59-A6C34878D82A}">
                    <a16:rowId xmlns:a16="http://schemas.microsoft.com/office/drawing/2014/main" val="10000"/>
                  </a:ext>
                </a:extLst>
              </a:tr>
              <a:tr h="356616">
                <a:tc>
                  <a:txBody>
                    <a:bodyPr/>
                    <a:lstStyle/>
                    <a:p>
                      <a:pPr marL="0" indent="0" algn="ctr">
                        <a:buNone/>
                      </a:pPr>
                      <a:r>
                        <a:rPr lang="en-US" sz="1100" b="1" dirty="0">
                          <a:solidFill>
                            <a:srgbClr val="262626"/>
                          </a:solidFill>
                          <a:latin typeface="Arial" pitchFamily="34" charset="0"/>
                          <a:ea typeface="Arial" pitchFamily="34" charset="-122"/>
                          <a:cs typeface="Arial" pitchFamily="34" charset="-120"/>
                        </a:rPr>
                        <a:t>3119 HK</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35%</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18%</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0.80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0.85</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0.70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0.60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lgn="ctr">
                        <a:buNone/>
                      </a:pPr>
                      <a:r>
                        <a:rPr lang="en-US" sz="1100" b="1" dirty="0">
                          <a:solidFill>
                            <a:srgbClr val="262626"/>
                          </a:solidFill>
                          <a:latin typeface="Arial" pitchFamily="34" charset="0"/>
                          <a:ea typeface="Arial" pitchFamily="34" charset="-122"/>
                          <a:cs typeface="Arial" pitchFamily="34" charset="-120"/>
                        </a:rPr>
                        <a:t>EWY US</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20%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49%</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0.80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0.70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0.55</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0.55</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616">
                <a:tc>
                  <a:txBody>
                    <a:bodyPr/>
                    <a:lstStyle/>
                    <a:p>
                      <a:pPr marL="0" indent="0" algn="ctr">
                        <a:buNone/>
                      </a:pPr>
                      <a:r>
                        <a:rPr lang="en-US" sz="1100" b="1" dirty="0">
                          <a:solidFill>
                            <a:srgbClr val="262626"/>
                          </a:solidFill>
                          <a:latin typeface="Arial" pitchFamily="34" charset="0"/>
                          <a:ea typeface="Arial" pitchFamily="34" charset="-122"/>
                          <a:cs typeface="Arial" pitchFamily="34" charset="-120"/>
                        </a:rPr>
                        <a:t>EWT US</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36%</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2.6%</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0.85</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0.70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0.60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0.75</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lgn="ctr">
                        <a:buNone/>
                      </a:pPr>
                      <a:r>
                        <a:rPr lang="en-US" sz="1100" b="1" dirty="0">
                          <a:solidFill>
                            <a:srgbClr val="262626"/>
                          </a:solidFill>
                          <a:latin typeface="Arial" pitchFamily="34" charset="0"/>
                          <a:ea typeface="Arial" pitchFamily="34" charset="-122"/>
                          <a:cs typeface="Arial" pitchFamily="34" charset="-120"/>
                        </a:rPr>
                        <a:t>2644 JP</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26%</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0.8%</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0.70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0.55</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0.60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0.45</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56616">
                <a:tc>
                  <a:txBody>
                    <a:bodyPr/>
                    <a:lstStyle/>
                    <a:p>
                      <a:pPr marL="0" indent="0" algn="ctr">
                        <a:buNone/>
                      </a:pPr>
                      <a:r>
                        <a:rPr lang="en-US" sz="1100" b="1" dirty="0">
                          <a:solidFill>
                            <a:srgbClr val="262626"/>
                          </a:solidFill>
                          <a:latin typeface="Arial" pitchFamily="34" charset="0"/>
                          <a:ea typeface="Arial" pitchFamily="34" charset="-122"/>
                          <a:cs typeface="Arial" pitchFamily="34" charset="-120"/>
                        </a:rPr>
                        <a:t>00878 TT</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37%</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7.6%</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0.60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0.55</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0.75</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0.45</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62626"/>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Text 8"/>
          <p:cNvSpPr txBox="1"/>
          <p:nvPr/>
        </p:nvSpPr>
        <p:spPr>
          <a:xfrm>
            <a:off x="548640" y="3776472"/>
            <a:ext cx="6339840" cy="2377440"/>
          </a:xfrm>
          <a:prstGeom prst="rect">
            <a:avLst/>
          </a:prstGeom>
          <a:noFill/>
          <a:ln/>
        </p:spPr>
        <p:txBody>
          <a:bodyPr wrap="square" lIns="0" tIns="0" rIns="0" bIns="0" rtlCol="0" anchor="t"/>
          <a:lstStyle/>
          <a:p>
            <a:pPr>
              <a:spcAft>
                <a:spcPts val="400"/>
              </a:spcAft>
            </a:pPr>
            <a:r>
              <a:rPr lang="en-US" sz="1107" b="1">
                <a:solidFill>
                  <a:srgbClr val="2C5F82"/>
                </a:solidFill>
                <a:latin typeface="Arial"/>
                <a:ea typeface="Arial" pitchFamily="34" charset="-122"/>
                <a:cs typeface="Arial"/>
              </a:rPr>
              <a:t>Model. </a:t>
            </a:r>
            <a:r>
              <a:rPr lang="en-US" sz="1107">
                <a:solidFill>
                  <a:srgbClr val="262626"/>
                </a:solidFill>
                <a:latin typeface="Arial"/>
                <a:ea typeface="Arial" pitchFamily="34" charset="-122"/>
                <a:cs typeface="Arial"/>
              </a:rPr>
              <a:t>Correlated GBM for each ETF, 200,000 paths, quarterly steps. Risk-neutral drift = USD funding (linear interpolation of case grid) − dividend yield. Quanto adjustment ignored (assumed hedged by the desk; to be added with FX-equity correlations).</a:t>
            </a:r>
            <a:endParaRPr lang="en-US" sz="1107">
              <a:latin typeface="Arial"/>
              <a:cs typeface="Arial"/>
            </a:endParaRPr>
          </a:p>
          <a:p>
            <a:pPr>
              <a:spcAft>
                <a:spcPts val="400"/>
              </a:spcAft>
            </a:pPr>
            <a:r>
              <a:rPr lang="en-US" sz="1107" b="1">
                <a:solidFill>
                  <a:srgbClr val="2C5F82"/>
                </a:solidFill>
                <a:latin typeface="Arial"/>
                <a:ea typeface="Arial" pitchFamily="34" charset="-122"/>
                <a:cs typeface="Arial"/>
              </a:rPr>
              <a:t>Discounting. </a:t>
            </a:r>
            <a:r>
              <a:rPr lang="en-US" sz="1107">
                <a:solidFill>
                  <a:srgbClr val="262626"/>
                </a:solidFill>
                <a:latin typeface="Arial"/>
                <a:ea typeface="Arial" pitchFamily="34" charset="-122"/>
                <a:cs typeface="Arial"/>
              </a:rPr>
              <a:t>USD funding grid from the case rules; 5Y discount factor 0.758.</a:t>
            </a:r>
            <a:endParaRPr lang="en-US" sz="1107">
              <a:latin typeface="Arial"/>
              <a:cs typeface="Arial"/>
            </a:endParaRPr>
          </a:p>
          <a:p>
            <a:pPr>
              <a:spcAft>
                <a:spcPts val="400"/>
              </a:spcAft>
            </a:pPr>
            <a:r>
              <a:rPr lang="en-US" sz="1107" b="1">
                <a:solidFill>
                  <a:srgbClr val="2C5F82"/>
                </a:solidFill>
                <a:latin typeface="Arial"/>
                <a:ea typeface="Arial" pitchFamily="34" charset="-122"/>
                <a:cs typeface="Arial"/>
              </a:rPr>
              <a:t>Coupon solve. </a:t>
            </a:r>
            <a:r>
              <a:rPr lang="en-US" sz="1107">
                <a:solidFill>
                  <a:srgbClr val="262626"/>
                </a:solidFill>
                <a:latin typeface="Arial"/>
                <a:ea typeface="Arial" pitchFamily="34" charset="-122"/>
                <a:cs typeface="Arial"/>
              </a:rPr>
              <a:t>Bisection on coupon so that PV = 98% (2% hedging cost and margin).</a:t>
            </a:r>
            <a:endParaRPr lang="en-US" sz="1107">
              <a:latin typeface="Arial"/>
              <a:cs typeface="Arial"/>
            </a:endParaRPr>
          </a:p>
          <a:p>
            <a:pPr>
              <a:spcAft>
                <a:spcPts val="400"/>
              </a:spcAft>
            </a:pPr>
            <a:r>
              <a:rPr lang="en-US" sz="1107" b="1">
                <a:solidFill>
                  <a:srgbClr val="2C5F82"/>
                </a:solidFill>
                <a:latin typeface="Arial"/>
                <a:ea typeface="Arial" pitchFamily="34" charset="-122"/>
                <a:cs typeface="Arial"/>
              </a:rPr>
              <a:t>Historical back-test (to run). </a:t>
            </a:r>
            <a:r>
              <a:rPr lang="en-US" sz="1107">
                <a:solidFill>
                  <a:srgbClr val="262626"/>
                </a:solidFill>
                <a:latin typeface="Arial"/>
                <a:ea typeface="Arial" pitchFamily="34" charset="-122"/>
                <a:cs typeface="Arial"/>
              </a:rPr>
              <a:t>Monthly Bloomberg history since 2021 for all five ETFs (00878 and 3119 launched in 2020–21). Launch a hypothetical note every month, apply the same coupon, memory and autocall rules, and record coupons, life and IRR by launch year.</a:t>
            </a:r>
            <a:endParaRPr lang="en-US" sz="1107">
              <a:latin typeface="Arial"/>
              <a:cs typeface="Arial"/>
            </a:endParaRPr>
          </a:p>
        </p:txBody>
      </p:sp>
      <p:graphicFrame>
        <p:nvGraphicFramePr>
          <p:cNvPr id="29" name="Table 1"/>
          <p:cNvGraphicFramePr>
            <a:graphicFrameLocks noGrp="1"/>
          </p:cNvGraphicFramePr>
          <p:nvPr/>
        </p:nvGraphicFramePr>
        <p:xfrm>
          <a:off x="7254240" y="1458468"/>
          <a:ext cx="4389120" cy="2757832"/>
        </p:xfrm>
        <a:graphic>
          <a:graphicData uri="http://schemas.openxmlformats.org/drawingml/2006/table">
            <a:tbl>
              <a:tblPr/>
              <a:tblGrid>
                <a:gridCol w="304800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44729">
                <a:tc>
                  <a:txBody>
                    <a:bodyPr/>
                    <a:lstStyle/>
                    <a:p>
                      <a:pPr marL="0" indent="0">
                        <a:buNone/>
                      </a:pPr>
                      <a:r>
                        <a:rPr lang="en-US" sz="1100" b="1" dirty="0">
                          <a:solidFill>
                            <a:srgbClr val="FFFFFF"/>
                          </a:solidFill>
                          <a:latin typeface="Arial" pitchFamily="34" charset="0"/>
                          <a:ea typeface="Arial" pitchFamily="34" charset="-122"/>
                          <a:cs typeface="Arial" pitchFamily="34" charset="-120"/>
                        </a:rPr>
                        <a:t>Variant of our note</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Fair cpn</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extLst>
                  <a:ext uri="{0D108BD9-81ED-4DB2-BD59-A6C34878D82A}">
                    <a16:rowId xmlns:a16="http://schemas.microsoft.com/office/drawing/2014/main" val="10000"/>
                  </a:ext>
                </a:extLst>
              </a:tr>
              <a:tr h="344729">
                <a:tc>
                  <a:txBody>
                    <a:bodyPr/>
                    <a:lstStyle/>
                    <a:p>
                      <a:pPr marL="0" indent="0">
                        <a:buNone/>
                      </a:pPr>
                      <a:r>
                        <a:rPr lang="en-US" sz="1100" dirty="0">
                          <a:solidFill>
                            <a:srgbClr val="262626"/>
                          </a:solidFill>
                          <a:latin typeface="Arial" pitchFamily="34" charset="0"/>
                          <a:ea typeface="Arial" pitchFamily="34" charset="-122"/>
                          <a:cs typeface="Arial" pitchFamily="34" charset="-120"/>
                        </a:rPr>
                        <a:t>Coupon barrier 100% (base)</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14.1%</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4729">
                <a:tc>
                  <a:txBody>
                    <a:bodyPr/>
                    <a:lstStyle/>
                    <a:p>
                      <a:pPr marL="0" indent="0">
                        <a:buNone/>
                      </a:pPr>
                      <a:r>
                        <a:rPr lang="en-US" sz="1100" dirty="0">
                          <a:solidFill>
                            <a:srgbClr val="262626"/>
                          </a:solidFill>
                          <a:latin typeface="Arial" pitchFamily="34" charset="0"/>
                          <a:ea typeface="Arial" pitchFamily="34" charset="-122"/>
                          <a:cs typeface="Arial" pitchFamily="34" charset="-120"/>
                        </a:rPr>
                        <a:t>Coupon barrier 95%</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12.9%</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4729">
                <a:tc>
                  <a:txBody>
                    <a:bodyPr/>
                    <a:lstStyle/>
                    <a:p>
                      <a:pPr marL="0" indent="0">
                        <a:buNone/>
                      </a:pPr>
                      <a:r>
                        <a:rPr lang="en-US" sz="1100" dirty="0">
                          <a:solidFill>
                            <a:srgbClr val="262626"/>
                          </a:solidFill>
                          <a:latin typeface="Arial" pitchFamily="34" charset="0"/>
                          <a:ea typeface="Arial" pitchFamily="34" charset="-122"/>
                          <a:cs typeface="Arial" pitchFamily="34" charset="-120"/>
                        </a:rPr>
                        <a:t>Coupon barrier 90%</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11.9%</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4729">
                <a:tc>
                  <a:txBody>
                    <a:bodyPr/>
                    <a:lstStyle/>
                    <a:p>
                      <a:pPr marL="0" indent="0">
                        <a:buNone/>
                      </a:pPr>
                      <a:r>
                        <a:rPr lang="en-US" sz="1100" dirty="0">
                          <a:solidFill>
                            <a:srgbClr val="262626"/>
                          </a:solidFill>
                          <a:latin typeface="Arial" pitchFamily="34" charset="0"/>
                          <a:ea typeface="Arial" pitchFamily="34" charset="-122"/>
                          <a:cs typeface="Arial" pitchFamily="34" charset="-120"/>
                        </a:rPr>
                        <a:t>First autocall at Y2</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13.3%</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4729">
                <a:tc>
                  <a:txBody>
                    <a:bodyPr/>
                    <a:lstStyle/>
                    <a:p>
                      <a:pPr marL="0" indent="0">
                        <a:buNone/>
                      </a:pPr>
                      <a:r>
                        <a:rPr lang="en-US" sz="1100" dirty="0">
                          <a:solidFill>
                            <a:srgbClr val="262626"/>
                          </a:solidFill>
                          <a:latin typeface="Arial" pitchFamily="34" charset="0"/>
                          <a:ea typeface="Arial" pitchFamily="34" charset="-122"/>
                          <a:cs typeface="Arial" pitchFamily="34" charset="-120"/>
                        </a:rPr>
                        <a:t>Equity drift −1%</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15.6%</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4729">
                <a:tc>
                  <a:txBody>
                    <a:bodyPr/>
                    <a:lstStyle/>
                    <a:p>
                      <a:pPr marL="0" indent="0">
                        <a:buNone/>
                      </a:pPr>
                      <a:r>
                        <a:rPr lang="en-US" sz="1100" dirty="0">
                          <a:solidFill>
                            <a:srgbClr val="262626"/>
                          </a:solidFill>
                          <a:latin typeface="Arial" pitchFamily="34" charset="0"/>
                          <a:ea typeface="Arial" pitchFamily="34" charset="-122"/>
                          <a:cs typeface="Arial" pitchFamily="34" charset="-120"/>
                        </a:rPr>
                        <a:t>Equity drift −2%</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17.4%</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4729">
                <a:tc>
                  <a:txBody>
                    <a:bodyPr/>
                    <a:lstStyle/>
                    <a:p>
                      <a:pPr marL="0" indent="0">
                        <a:buNone/>
                      </a:pPr>
                      <a:r>
                        <a:rPr lang="en-US" sz="1100" dirty="0">
                          <a:solidFill>
                            <a:srgbClr val="262626"/>
                          </a:solidFill>
                          <a:latin typeface="Arial" pitchFamily="34" charset="0"/>
                          <a:ea typeface="Arial" pitchFamily="34" charset="-122"/>
                          <a:cs typeface="Arial" pitchFamily="34" charset="-120"/>
                        </a:rPr>
                        <a:t>Vol +3pts / −3pts</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15.6% / 12.9%</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3" name="Text 9"/>
          <p:cNvSpPr txBox="1"/>
          <p:nvPr/>
        </p:nvSpPr>
        <p:spPr>
          <a:xfrm>
            <a:off x="7254240" y="4311397"/>
            <a:ext cx="4389120" cy="534924"/>
          </a:xfrm>
          <a:prstGeom prst="rect">
            <a:avLst/>
          </a:prstGeom>
          <a:noFill/>
          <a:ln/>
        </p:spPr>
        <p:txBody>
          <a:bodyPr wrap="square" lIns="0" tIns="0" rIns="0" bIns="0" rtlCol="0" anchor="t"/>
          <a:lstStyle/>
          <a:p>
            <a:r>
              <a:rPr lang="en-US" sz="1040" i="1">
                <a:solidFill>
                  <a:srgbClr val="595959"/>
                </a:solidFill>
                <a:latin typeface="Arial"/>
                <a:ea typeface="Arial" pitchFamily="34" charset="-122"/>
                <a:cs typeface="Arial"/>
              </a:rPr>
              <a:t>All variants priced at 98% with the same basket and inputs. Code: pricing/scenario2_autocall_mc.py</a:t>
            </a:r>
            <a:endParaRPr lang="en-US" sz="1040">
              <a:latin typeface="Arial"/>
              <a:cs typeface="Arial"/>
            </a:endParaRPr>
          </a:p>
        </p:txBody>
      </p:sp>
      <p:sp>
        <p:nvSpPr>
          <p:cNvPr id="14" name="Text Placeholder 13">
            <a:extLst>
              <a:ext uri="{FF2B5EF4-FFF2-40B4-BE49-F238E27FC236}">
                <a16:creationId xmlns:a16="http://schemas.microsoft.com/office/drawing/2014/main" id="{F86B5E08-5F2B-AC7D-7969-E46C6A3D75F1}"/>
              </a:ext>
            </a:extLst>
          </p:cNvPr>
          <p:cNvSpPr>
            <a:spLocks noGrp="1"/>
          </p:cNvSpPr>
          <p:nvPr>
            <p:ph type="body" idx="3"/>
          </p:nvPr>
        </p:nvSpPr>
        <p:spPr/>
        <p:txBody>
          <a:bodyPr/>
          <a:lstStyle/>
          <a:p>
            <a:endParaRPr lang="en-US"/>
          </a:p>
        </p:txBody>
      </p:sp>
      <p:sp>
        <p:nvSpPr>
          <p:cNvPr id="16" name="Text Placeholder 15">
            <a:extLst>
              <a:ext uri="{FF2B5EF4-FFF2-40B4-BE49-F238E27FC236}">
                <a16:creationId xmlns:a16="http://schemas.microsoft.com/office/drawing/2014/main" id="{04DF4072-C638-6B54-0F65-9C6FA8D3F141}"/>
              </a:ext>
            </a:extLst>
          </p:cNvPr>
          <p:cNvSpPr>
            <a:spLocks noGrp="1"/>
          </p:cNvSpPr>
          <p:nvPr>
            <p:ph type="body" idx="10"/>
          </p:nvPr>
        </p:nvSpPr>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txBox="1"/>
          <p:nvPr/>
        </p:nvSpPr>
        <p:spPr>
          <a:xfrm>
            <a:off x="457200" y="102109"/>
            <a:ext cx="11247120" cy="548640"/>
          </a:xfrm>
          <a:prstGeom prst="rect">
            <a:avLst/>
          </a:prstGeom>
          <a:noFill/>
          <a:ln/>
        </p:spPr>
        <p:txBody>
          <a:bodyPr wrap="square" lIns="0" tIns="0" rIns="0" bIns="0" rtlCol="0" anchor="ctr"/>
          <a:lstStyle/>
          <a:p>
            <a:r>
              <a:rPr lang="en-US" sz="2200" dirty="0">
                <a:solidFill>
                  <a:srgbClr val="262626"/>
                </a:solidFill>
                <a:latin typeface="Arial" pitchFamily="34" charset="0"/>
                <a:ea typeface="Arial" pitchFamily="34" charset="-122"/>
                <a:cs typeface="Arial" pitchFamily="34" charset="-120"/>
              </a:rPr>
              <a:t>Appendix B: scenario analysis, five paths for Asian markets</a:t>
            </a:r>
            <a:endParaRPr lang="en-US" sz="2200" dirty="0"/>
          </a:p>
        </p:txBody>
      </p:sp>
      <p:sp>
        <p:nvSpPr>
          <p:cNvPr id="9" name="Text 7"/>
          <p:cNvSpPr txBox="1"/>
          <p:nvPr/>
        </p:nvSpPr>
        <p:spPr>
          <a:xfrm>
            <a:off x="457200" y="1050644"/>
            <a:ext cx="11277600" cy="280416"/>
          </a:xfrm>
          <a:prstGeom prst="rect">
            <a:avLst/>
          </a:prstGeom>
          <a:noFill/>
          <a:ln/>
        </p:spPr>
        <p:txBody>
          <a:bodyPr wrap="square" lIns="0" tIns="0" rIns="0" bIns="0" rtlCol="0" anchor="ctr"/>
          <a:lstStyle/>
          <a:p>
            <a:r>
              <a:rPr lang="en-US" sz="1133" i="1" dirty="0">
                <a:solidFill>
                  <a:srgbClr val="595959"/>
                </a:solidFill>
                <a:latin typeface="Arial" pitchFamily="34" charset="0"/>
                <a:ea typeface="Arial" pitchFamily="34" charset="-122"/>
                <a:cs typeface="Arial" pitchFamily="34" charset="-120"/>
              </a:rPr>
              <a:t>Hypothetical quarterly basket paths and what the USD 100mn note returns in each</a:t>
            </a:r>
            <a:endParaRPr lang="en-US" sz="1133" dirty="0"/>
          </a:p>
        </p:txBody>
      </p:sp>
      <p:graphicFrame>
        <p:nvGraphicFramePr>
          <p:cNvPr id="10" name="Chart 0"/>
          <p:cNvGraphicFramePr/>
          <p:nvPr/>
        </p:nvGraphicFramePr>
        <p:xfrm>
          <a:off x="426720" y="1339596"/>
          <a:ext cx="5608320" cy="427939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Table 0"/>
          <p:cNvGraphicFramePr>
            <a:graphicFrameLocks noGrp="1"/>
          </p:cNvGraphicFramePr>
          <p:nvPr/>
        </p:nvGraphicFramePr>
        <p:xfrm>
          <a:off x="6217920" y="1458468"/>
          <a:ext cx="5425440" cy="2995578"/>
        </p:xfrm>
        <a:graphic>
          <a:graphicData uri="http://schemas.openxmlformats.org/drawingml/2006/table">
            <a:tbl>
              <a:tblPr/>
              <a:tblGrid>
                <a:gridCol w="1731264">
                  <a:extLst>
                    <a:ext uri="{9D8B030D-6E8A-4147-A177-3AD203B41FA5}">
                      <a16:colId xmlns:a16="http://schemas.microsoft.com/office/drawing/2014/main" val="20000"/>
                    </a:ext>
                  </a:extLst>
                </a:gridCol>
                <a:gridCol w="1194816">
                  <a:extLst>
                    <a:ext uri="{9D8B030D-6E8A-4147-A177-3AD203B41FA5}">
                      <a16:colId xmlns:a16="http://schemas.microsoft.com/office/drawing/2014/main" val="20001"/>
                    </a:ext>
                  </a:extLst>
                </a:gridCol>
                <a:gridCol w="707136">
                  <a:extLst>
                    <a:ext uri="{9D8B030D-6E8A-4147-A177-3AD203B41FA5}">
                      <a16:colId xmlns:a16="http://schemas.microsoft.com/office/drawing/2014/main" val="20002"/>
                    </a:ext>
                  </a:extLst>
                </a:gridCol>
                <a:gridCol w="633984">
                  <a:extLst>
                    <a:ext uri="{9D8B030D-6E8A-4147-A177-3AD203B41FA5}">
                      <a16:colId xmlns:a16="http://schemas.microsoft.com/office/drawing/2014/main" val="20003"/>
                    </a:ext>
                  </a:extLst>
                </a:gridCol>
                <a:gridCol w="573024">
                  <a:extLst>
                    <a:ext uri="{9D8B030D-6E8A-4147-A177-3AD203B41FA5}">
                      <a16:colId xmlns:a16="http://schemas.microsoft.com/office/drawing/2014/main" val="20004"/>
                    </a:ext>
                  </a:extLst>
                </a:gridCol>
                <a:gridCol w="585216">
                  <a:extLst>
                    <a:ext uri="{9D8B030D-6E8A-4147-A177-3AD203B41FA5}">
                      <a16:colId xmlns:a16="http://schemas.microsoft.com/office/drawing/2014/main" val="20005"/>
                    </a:ext>
                  </a:extLst>
                </a:gridCol>
              </a:tblGrid>
              <a:tr h="499263">
                <a:tc>
                  <a:txBody>
                    <a:bodyPr/>
                    <a:lstStyle/>
                    <a:p>
                      <a:pPr marL="0" indent="0">
                        <a:buNone/>
                      </a:pPr>
                      <a:r>
                        <a:rPr lang="en-US" sz="1000" b="1" dirty="0">
                          <a:solidFill>
                            <a:srgbClr val="FFFFFF"/>
                          </a:solidFill>
                          <a:latin typeface="Arial" pitchFamily="34" charset="0"/>
                          <a:ea typeface="Arial" pitchFamily="34" charset="-122"/>
                          <a:cs typeface="Arial" pitchFamily="34" charset="-120"/>
                        </a:rPr>
                        <a:t>Scenario</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Outcome</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Coupons</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USD mn</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IRR</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Basket</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extLst>
                  <a:ext uri="{0D108BD9-81ED-4DB2-BD59-A6C34878D82A}">
                    <a16:rowId xmlns:a16="http://schemas.microsoft.com/office/drawing/2014/main" val="10000"/>
                  </a:ext>
                </a:extLst>
              </a:tr>
              <a:tr h="499263">
                <a:tc>
                  <a:txBody>
                    <a:bodyPr/>
                    <a:lstStyle/>
                    <a:p>
                      <a:pPr marL="0" indent="0">
                        <a:buNone/>
                      </a:pPr>
                      <a:r>
                        <a:rPr lang="en-US" sz="1000" b="1" dirty="0">
                          <a:solidFill>
                            <a:srgbClr val="2C5F82"/>
                          </a:solidFill>
                          <a:latin typeface="Arial" pitchFamily="34" charset="0"/>
                          <a:ea typeface="Arial" pitchFamily="34" charset="-122"/>
                          <a:cs typeface="Arial" pitchFamily="34" charset="-120"/>
                        </a:rPr>
                        <a:t>AI capex boom</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Called Q4 (1y)</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12.8%</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112.8</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13.4%</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9263">
                <a:tc>
                  <a:txBody>
                    <a:bodyPr/>
                    <a:lstStyle/>
                    <a:p>
                      <a:pPr marL="0" indent="0">
                        <a:buNone/>
                      </a:pPr>
                      <a:r>
                        <a:rPr lang="en-US" sz="1000" b="1" dirty="0">
                          <a:solidFill>
                            <a:srgbClr val="E67E22"/>
                          </a:solidFill>
                          <a:latin typeface="Arial" pitchFamily="34" charset="0"/>
                          <a:ea typeface="Arial" pitchFamily="34" charset="-122"/>
                          <a:cs typeface="Arial" pitchFamily="34" charset="-120"/>
                        </a:rPr>
                        <a:t>Range-bound Asia</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Called Q6 (1.5y)</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19.1%</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119.1</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12.4%</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9263">
                <a:tc>
                  <a:txBody>
                    <a:bodyPr/>
                    <a:lstStyle/>
                    <a:p>
                      <a:pPr marL="0" indent="0">
                        <a:buNone/>
                      </a:pPr>
                      <a:r>
                        <a:rPr lang="en-US" sz="1000" b="1" dirty="0">
                          <a:solidFill>
                            <a:srgbClr val="1F3B57"/>
                          </a:solidFill>
                          <a:latin typeface="Arial" pitchFamily="34" charset="0"/>
                          <a:ea typeface="Arial" pitchFamily="34" charset="-122"/>
                          <a:cs typeface="Arial" pitchFamily="34" charset="-120"/>
                        </a:rPr>
                        <a:t>2022-style tech drawdown, slow recovery</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Called Q15 (3.75y)</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47.8%</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147.8</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11.0%</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9263">
                <a:tc>
                  <a:txBody>
                    <a:bodyPr/>
                    <a:lstStyle/>
                    <a:p>
                      <a:pPr marL="0" indent="0">
                        <a:buNone/>
                      </a:pPr>
                      <a:r>
                        <a:rPr lang="en-US" sz="1000" b="1" dirty="0">
                          <a:solidFill>
                            <a:srgbClr val="595959"/>
                          </a:solidFill>
                          <a:latin typeface="Arial" pitchFamily="34" charset="0"/>
                          <a:ea typeface="Arial" pitchFamily="34" charset="-122"/>
                          <a:cs typeface="Arial" pitchFamily="34" charset="-120"/>
                        </a:rPr>
                        <a:t>Lost decade (sideways below par)</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88% back at Y5</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0.0%</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88.0</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-2.5%</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-12%</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9263">
                <a:tc>
                  <a:txBody>
                    <a:bodyPr/>
                    <a:lstStyle/>
                    <a:p>
                      <a:pPr marL="0" indent="0">
                        <a:buNone/>
                      </a:pPr>
                      <a:r>
                        <a:rPr lang="en-US" sz="1000" b="1" dirty="0">
                          <a:solidFill>
                            <a:srgbClr val="B23B3B"/>
                          </a:solidFill>
                          <a:latin typeface="Arial" pitchFamily="34" charset="0"/>
                          <a:ea typeface="Arial" pitchFamily="34" charset="-122"/>
                          <a:cs typeface="Arial" pitchFamily="34" charset="-120"/>
                        </a:rPr>
                        <a:t>Geopolitical shock, no recovery</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55% back at Y5</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0.0%</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55.0</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-11.3%</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000" dirty="0">
                          <a:solidFill>
                            <a:srgbClr val="262626"/>
                          </a:solidFill>
                          <a:latin typeface="Arial" pitchFamily="34" charset="0"/>
                          <a:ea typeface="Arial" pitchFamily="34" charset="-122"/>
                          <a:cs typeface="Arial" pitchFamily="34" charset="-120"/>
                        </a:rPr>
                        <a:t>-45%</a:t>
                      </a:r>
                      <a:endParaRPr lang="en-US" sz="1000" dirty="0">
                        <a:latin typeface="Arial" charset="0"/>
                        <a:ea typeface="Arial" charset="0"/>
                        <a:cs typeface="Arial" charset="0"/>
                      </a:endParaRPr>
                    </a:p>
                  </a:txBody>
                  <a:tcPr marL="50800" marR="50800"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Shape 8"/>
          <p:cNvSpPr/>
          <p:nvPr/>
        </p:nvSpPr>
        <p:spPr>
          <a:xfrm>
            <a:off x="6217920" y="4608577"/>
            <a:ext cx="5425440" cy="1367028"/>
          </a:xfrm>
          <a:prstGeom prst="rect">
            <a:avLst/>
          </a:prstGeom>
          <a:solidFill>
            <a:srgbClr val="E8EFF5"/>
          </a:solidFill>
          <a:ln w="12700">
            <a:solidFill>
              <a:srgbClr val="E8EFF5"/>
            </a:solidFill>
            <a:prstDash val="solid"/>
          </a:ln>
        </p:spPr>
        <p:txBody>
          <a:bodyPr/>
          <a:lstStyle/>
          <a:p>
            <a:endParaRPr lang="en-US" sz="2400"/>
          </a:p>
        </p:txBody>
      </p:sp>
      <p:sp>
        <p:nvSpPr>
          <p:cNvPr id="13" name="Text 9"/>
          <p:cNvSpPr txBox="1"/>
          <p:nvPr/>
        </p:nvSpPr>
        <p:spPr>
          <a:xfrm>
            <a:off x="6400800" y="4703673"/>
            <a:ext cx="5120640" cy="1188720"/>
          </a:xfrm>
          <a:prstGeom prst="rect">
            <a:avLst/>
          </a:prstGeom>
          <a:noFill/>
          <a:ln/>
        </p:spPr>
        <p:txBody>
          <a:bodyPr wrap="square" lIns="0" tIns="0" rIns="0" bIns="0" rtlCol="0" anchor="t"/>
          <a:lstStyle/>
          <a:p>
            <a:r>
              <a:rPr lang="en-US" sz="1160" b="1" dirty="0">
                <a:solidFill>
                  <a:srgbClr val="2C5F82"/>
                </a:solidFill>
                <a:latin typeface="Arial" pitchFamily="34" charset="0"/>
                <a:ea typeface="Arial" pitchFamily="34" charset="-122"/>
                <a:cs typeface="Arial" pitchFamily="34" charset="-120"/>
              </a:rPr>
              <a:t>Reading: </a:t>
            </a:r>
            <a:r>
              <a:rPr lang="en-US" sz="1160" dirty="0">
                <a:solidFill>
                  <a:srgbClr val="262626"/>
                </a:solidFill>
                <a:latin typeface="Arial" pitchFamily="34" charset="0"/>
                <a:ea typeface="Arial" pitchFamily="34" charset="-122"/>
                <a:cs typeface="Arial" pitchFamily="34" charset="-120"/>
              </a:rPr>
              <a:t>the note earns ~11.0%–13.4% a year whenever the basket gets back to 100%, even after a 30% drawdown: memory pays all 15 missed coupons at Q15. If the basket never recovers (lost decade, lasting shock) the note repays the basket's level, 88% or 55%.</a:t>
            </a:r>
            <a:endParaRPr lang="en-US" sz="1160" dirty="0"/>
          </a:p>
        </p:txBody>
      </p:sp>
      <p:sp>
        <p:nvSpPr>
          <p:cNvPr id="14" name="Text 10"/>
          <p:cNvSpPr txBox="1"/>
          <p:nvPr/>
        </p:nvSpPr>
        <p:spPr>
          <a:xfrm>
            <a:off x="457200" y="6083808"/>
            <a:ext cx="10728960" cy="280416"/>
          </a:xfrm>
          <a:prstGeom prst="rect">
            <a:avLst/>
          </a:prstGeom>
          <a:noFill/>
          <a:ln/>
        </p:spPr>
        <p:txBody>
          <a:bodyPr wrap="square" lIns="0" tIns="0" rIns="0" bIns="0" rtlCol="0" anchor="t"/>
          <a:lstStyle/>
          <a:p>
            <a:r>
              <a:rPr lang="en-US" sz="907" i="1" dirty="0">
                <a:solidFill>
                  <a:srgbClr val="595959"/>
                </a:solidFill>
                <a:latin typeface="Arial" pitchFamily="34" charset="0"/>
                <a:ea typeface="Arial" pitchFamily="34" charset="-122"/>
                <a:cs typeface="Arial" pitchFamily="34" charset="-120"/>
              </a:rPr>
              <a:t>Paths are illustrative and not forecasts. 'Basket' = direct basket return at Y5 when the note is not called. Historical back-test to run on Bloomberg history (appendix).</a:t>
            </a:r>
            <a:endParaRPr lang="en-US" sz="907" dirty="0"/>
          </a:p>
        </p:txBody>
      </p:sp>
      <p:sp>
        <p:nvSpPr>
          <p:cNvPr id="17" name="Text Placeholder 16">
            <a:extLst>
              <a:ext uri="{FF2B5EF4-FFF2-40B4-BE49-F238E27FC236}">
                <a16:creationId xmlns:a16="http://schemas.microsoft.com/office/drawing/2014/main" id="{28DE7BC2-217A-A2E4-6D37-2643DBEE7D6F}"/>
              </a:ext>
            </a:extLst>
          </p:cNvPr>
          <p:cNvSpPr>
            <a:spLocks noGrp="1"/>
          </p:cNvSpPr>
          <p:nvPr>
            <p:ph type="body" idx="3"/>
          </p:nvPr>
        </p:nvSpPr>
        <p:spPr/>
        <p:txBody>
          <a:bodyPr/>
          <a:lstStyle/>
          <a:p>
            <a:endParaRPr lang="en-US"/>
          </a:p>
        </p:txBody>
      </p:sp>
      <p:sp>
        <p:nvSpPr>
          <p:cNvPr id="18" name="Text Placeholder 17">
            <a:extLst>
              <a:ext uri="{FF2B5EF4-FFF2-40B4-BE49-F238E27FC236}">
                <a16:creationId xmlns:a16="http://schemas.microsoft.com/office/drawing/2014/main" id="{1523A48E-CC57-8F8E-FB3D-73B0B7020C2F}"/>
              </a:ext>
            </a:extLst>
          </p:cNvPr>
          <p:cNvSpPr>
            <a:spLocks noGrp="1"/>
          </p:cNvSpPr>
          <p:nvPr>
            <p:ph type="body" idx="10"/>
          </p:nvPr>
        </p:nvSpPr>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6382512"/>
            <a:ext cx="11277600" cy="0"/>
          </a:xfrm>
          <a:prstGeom prst="line">
            <a:avLst/>
          </a:prstGeom>
          <a:noFill/>
          <a:ln w="7112">
            <a:solidFill>
              <a:srgbClr val="BFBFBF"/>
            </a:solidFill>
            <a:prstDash val="solid"/>
          </a:ln>
        </p:spPr>
        <p:txBody>
          <a:bodyPr/>
          <a:lstStyle/>
          <a:p>
            <a:endParaRPr lang="en-US" sz="2400"/>
          </a:p>
        </p:txBody>
      </p:sp>
      <p:sp>
        <p:nvSpPr>
          <p:cNvPr id="7" name="Text 5"/>
          <p:cNvSpPr txBox="1"/>
          <p:nvPr/>
        </p:nvSpPr>
        <p:spPr>
          <a:xfrm>
            <a:off x="457200" y="274320"/>
            <a:ext cx="11247120" cy="548640"/>
          </a:xfrm>
          <a:prstGeom prst="rect">
            <a:avLst/>
          </a:prstGeom>
          <a:noFill/>
          <a:ln/>
        </p:spPr>
        <p:txBody>
          <a:bodyPr wrap="square" lIns="0" tIns="0" rIns="0" bIns="0" rtlCol="0" anchor="ctr"/>
          <a:lstStyle/>
          <a:p>
            <a:r>
              <a:rPr lang="en-US" sz="2200">
                <a:solidFill>
                  <a:srgbClr val="262626"/>
                </a:solidFill>
                <a:latin typeface="Arial"/>
                <a:ea typeface="Arial" pitchFamily="34" charset="-122"/>
                <a:cs typeface="Arial"/>
              </a:rPr>
              <a:t>Appendix C: how Natixis replicates the note</a:t>
            </a:r>
            <a:endParaRPr lang="en-US" sz="2200">
              <a:latin typeface="Arial"/>
              <a:cs typeface="Arial"/>
            </a:endParaRPr>
          </a:p>
        </p:txBody>
      </p:sp>
      <p:sp>
        <p:nvSpPr>
          <p:cNvPr id="8" name="Shape 6"/>
          <p:cNvSpPr/>
          <p:nvPr/>
        </p:nvSpPr>
        <p:spPr>
          <a:xfrm>
            <a:off x="457200" y="896112"/>
            <a:ext cx="11277600" cy="0"/>
          </a:xfrm>
          <a:prstGeom prst="line">
            <a:avLst/>
          </a:prstGeom>
          <a:noFill/>
          <a:ln w="9525">
            <a:solidFill>
              <a:srgbClr val="2C5F82"/>
            </a:solidFill>
            <a:prstDash val="solid"/>
          </a:ln>
        </p:spPr>
        <p:txBody>
          <a:bodyPr/>
          <a:lstStyle/>
          <a:p>
            <a:endParaRPr lang="en-US" sz="2400"/>
          </a:p>
        </p:txBody>
      </p:sp>
      <p:sp>
        <p:nvSpPr>
          <p:cNvPr id="9" name="Text 7"/>
          <p:cNvSpPr txBox="1"/>
          <p:nvPr/>
        </p:nvSpPr>
        <p:spPr>
          <a:xfrm>
            <a:off x="457200" y="957072"/>
            <a:ext cx="11277600" cy="280416"/>
          </a:xfrm>
          <a:prstGeom prst="rect">
            <a:avLst/>
          </a:prstGeom>
          <a:noFill/>
          <a:ln/>
        </p:spPr>
        <p:txBody>
          <a:bodyPr wrap="square" lIns="0" tIns="0" rIns="0" bIns="0" rtlCol="0" anchor="ctr"/>
          <a:lstStyle/>
          <a:p>
            <a:r>
              <a:rPr lang="en-US" sz="1133" i="1">
                <a:solidFill>
                  <a:srgbClr val="595959"/>
                </a:solidFill>
                <a:latin typeface="Arial"/>
                <a:ea typeface="Arial" pitchFamily="34" charset="-122"/>
                <a:cs typeface="Arial"/>
              </a:rPr>
              <a:t>Replication used by the Natixis desk to price and hedge (values in % of notional, at trade date)</a:t>
            </a:r>
            <a:endParaRPr lang="en-US" sz="1133">
              <a:latin typeface="Arial"/>
              <a:cs typeface="Arial"/>
            </a:endParaRPr>
          </a:p>
        </p:txBody>
      </p:sp>
      <p:sp>
        <p:nvSpPr>
          <p:cNvPr id="10" name="Shape 8"/>
          <p:cNvSpPr/>
          <p:nvPr/>
        </p:nvSpPr>
        <p:spPr>
          <a:xfrm>
            <a:off x="548640" y="1458469"/>
            <a:ext cx="2609088" cy="3625596"/>
          </a:xfrm>
          <a:prstGeom prst="rect">
            <a:avLst/>
          </a:prstGeom>
          <a:solidFill>
            <a:srgbClr val="E8EFF5"/>
          </a:solidFill>
          <a:ln w="12700">
            <a:solidFill>
              <a:srgbClr val="E8EFF5"/>
            </a:solidFill>
            <a:prstDash val="solid"/>
          </a:ln>
        </p:spPr>
        <p:txBody>
          <a:bodyPr/>
          <a:lstStyle/>
          <a:p>
            <a:endParaRPr lang="en-US" sz="2400"/>
          </a:p>
        </p:txBody>
      </p:sp>
      <p:sp>
        <p:nvSpPr>
          <p:cNvPr id="11" name="Text 9"/>
          <p:cNvSpPr txBox="1"/>
          <p:nvPr/>
        </p:nvSpPr>
        <p:spPr>
          <a:xfrm>
            <a:off x="694944" y="1553565"/>
            <a:ext cx="2377440" cy="356616"/>
          </a:xfrm>
          <a:prstGeom prst="rect">
            <a:avLst/>
          </a:prstGeom>
          <a:noFill/>
          <a:ln/>
        </p:spPr>
        <p:txBody>
          <a:bodyPr wrap="square" lIns="0" tIns="0" rIns="0" bIns="0" rtlCol="0" anchor="t"/>
          <a:lstStyle/>
          <a:p>
            <a:r>
              <a:rPr lang="en-US" sz="1413" b="1">
                <a:solidFill>
                  <a:srgbClr val="2C5F82"/>
                </a:solidFill>
                <a:latin typeface="Arial"/>
                <a:ea typeface="Arial" pitchFamily="34" charset="-122"/>
                <a:cs typeface="Arial"/>
              </a:rPr>
              <a:t>Principal</a:t>
            </a:r>
            <a:endParaRPr lang="en-US" sz="1413">
              <a:latin typeface="Arial"/>
              <a:cs typeface="Arial"/>
            </a:endParaRPr>
          </a:p>
        </p:txBody>
      </p:sp>
      <p:sp>
        <p:nvSpPr>
          <p:cNvPr id="12" name="Text 10"/>
          <p:cNvSpPr txBox="1"/>
          <p:nvPr/>
        </p:nvSpPr>
        <p:spPr>
          <a:xfrm>
            <a:off x="694944" y="1910181"/>
            <a:ext cx="2377440" cy="950976"/>
          </a:xfrm>
          <a:prstGeom prst="rect">
            <a:avLst/>
          </a:prstGeom>
          <a:noFill/>
          <a:ln/>
        </p:spPr>
        <p:txBody>
          <a:bodyPr wrap="square" lIns="0" tIns="0" rIns="0" bIns="0" rtlCol="0" anchor="t"/>
          <a:lstStyle/>
          <a:p>
            <a:r>
              <a:rPr lang="en-US" sz="1040">
                <a:solidFill>
                  <a:srgbClr val="595959"/>
                </a:solidFill>
                <a:latin typeface="Arial"/>
                <a:ea typeface="Arial" pitchFamily="34" charset="-122"/>
                <a:cs typeface="Arial"/>
              </a:rPr>
              <a:t>100% repaid at autocall or maturity. Worth 89.3%</a:t>
            </a:r>
            <a:endParaRPr lang="en-US" sz="1040">
              <a:latin typeface="Arial"/>
              <a:cs typeface="Arial"/>
            </a:endParaRPr>
          </a:p>
        </p:txBody>
      </p:sp>
      <p:graphicFrame>
        <p:nvGraphicFramePr>
          <p:cNvPr id="13" name="Chart 0"/>
          <p:cNvGraphicFramePr/>
          <p:nvPr/>
        </p:nvGraphicFramePr>
        <p:xfrm>
          <a:off x="585216" y="2884933"/>
          <a:ext cx="2535936" cy="2115921"/>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txBox="1"/>
          <p:nvPr/>
        </p:nvSpPr>
        <p:spPr>
          <a:xfrm>
            <a:off x="3133344" y="3419856"/>
            <a:ext cx="243840" cy="475488"/>
          </a:xfrm>
          <a:prstGeom prst="rect">
            <a:avLst/>
          </a:prstGeom>
          <a:noFill/>
          <a:ln/>
        </p:spPr>
        <p:txBody>
          <a:bodyPr wrap="square" lIns="0" tIns="0" rIns="0" bIns="0" rtlCol="0" anchor="t"/>
          <a:lstStyle/>
          <a:p>
            <a:pPr algn="ctr"/>
            <a:r>
              <a:rPr lang="en-US" sz="1960" b="1">
                <a:solidFill>
                  <a:srgbClr val="2C5F82"/>
                </a:solidFill>
                <a:latin typeface="Arial"/>
                <a:ea typeface="Arial" pitchFamily="34" charset="-122"/>
                <a:cs typeface="Arial"/>
              </a:rPr>
              <a:t>+</a:t>
            </a:r>
            <a:endParaRPr lang="en-US" sz="1960">
              <a:latin typeface="Arial"/>
              <a:cs typeface="Arial"/>
            </a:endParaRPr>
          </a:p>
        </p:txBody>
      </p:sp>
      <p:sp>
        <p:nvSpPr>
          <p:cNvPr id="15" name="Shape 12"/>
          <p:cNvSpPr/>
          <p:nvPr/>
        </p:nvSpPr>
        <p:spPr>
          <a:xfrm>
            <a:off x="3377184" y="1458469"/>
            <a:ext cx="2609088" cy="3625596"/>
          </a:xfrm>
          <a:prstGeom prst="rect">
            <a:avLst/>
          </a:prstGeom>
          <a:solidFill>
            <a:srgbClr val="E8EFF5"/>
          </a:solidFill>
          <a:ln w="12700">
            <a:solidFill>
              <a:srgbClr val="E8EFF5"/>
            </a:solidFill>
            <a:prstDash val="solid"/>
          </a:ln>
        </p:spPr>
        <p:txBody>
          <a:bodyPr/>
          <a:lstStyle/>
          <a:p>
            <a:endParaRPr lang="en-US" sz="2400"/>
          </a:p>
        </p:txBody>
      </p:sp>
      <p:sp>
        <p:nvSpPr>
          <p:cNvPr id="16" name="Text 13"/>
          <p:cNvSpPr txBox="1"/>
          <p:nvPr/>
        </p:nvSpPr>
        <p:spPr>
          <a:xfrm>
            <a:off x="3523488" y="1553565"/>
            <a:ext cx="2377440" cy="356616"/>
          </a:xfrm>
          <a:prstGeom prst="rect">
            <a:avLst/>
          </a:prstGeom>
          <a:noFill/>
          <a:ln/>
        </p:spPr>
        <p:txBody>
          <a:bodyPr wrap="square" lIns="0" tIns="0" rIns="0" bIns="0" rtlCol="0" anchor="t"/>
          <a:lstStyle/>
          <a:p>
            <a:r>
              <a:rPr lang="en-US" sz="1413" b="1">
                <a:solidFill>
                  <a:srgbClr val="2C5F82"/>
                </a:solidFill>
                <a:latin typeface="Arial"/>
                <a:ea typeface="Arial" pitchFamily="34" charset="-122"/>
                <a:cs typeface="Arial"/>
              </a:rPr>
              <a:t>Coupon digitals</a:t>
            </a:r>
            <a:endParaRPr lang="en-US" sz="1413">
              <a:latin typeface="Arial"/>
              <a:cs typeface="Arial"/>
            </a:endParaRPr>
          </a:p>
        </p:txBody>
      </p:sp>
      <p:sp>
        <p:nvSpPr>
          <p:cNvPr id="17" name="Text 14"/>
          <p:cNvSpPr txBox="1"/>
          <p:nvPr/>
        </p:nvSpPr>
        <p:spPr>
          <a:xfrm>
            <a:off x="3523488" y="1910181"/>
            <a:ext cx="2377440" cy="950976"/>
          </a:xfrm>
          <a:prstGeom prst="rect">
            <a:avLst/>
          </a:prstGeom>
          <a:noFill/>
          <a:ln/>
        </p:spPr>
        <p:txBody>
          <a:bodyPr wrap="square" lIns="0" tIns="0" rIns="0" bIns="0" rtlCol="0" anchor="t"/>
          <a:lstStyle/>
          <a:p>
            <a:r>
              <a:rPr lang="en-US" sz="1040">
                <a:solidFill>
                  <a:srgbClr val="595959"/>
                </a:solidFill>
                <a:latin typeface="Arial"/>
                <a:ea typeface="Arial" pitchFamily="34" charset="-122"/>
                <a:cs typeface="Arial"/>
              </a:rPr>
              <a:t>3.19% plus missed coupons on each date ≥ 100%. Worth 14.1% (net of autocall)</a:t>
            </a:r>
            <a:endParaRPr lang="en-US" sz="1040">
              <a:latin typeface="Arial"/>
              <a:cs typeface="Arial"/>
            </a:endParaRPr>
          </a:p>
        </p:txBody>
      </p:sp>
      <p:graphicFrame>
        <p:nvGraphicFramePr>
          <p:cNvPr id="18" name="Chart 1"/>
          <p:cNvGraphicFramePr/>
          <p:nvPr/>
        </p:nvGraphicFramePr>
        <p:xfrm>
          <a:off x="3413760" y="2884933"/>
          <a:ext cx="2535936" cy="2115921"/>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 15"/>
          <p:cNvSpPr txBox="1"/>
          <p:nvPr/>
        </p:nvSpPr>
        <p:spPr>
          <a:xfrm>
            <a:off x="5961888" y="3419856"/>
            <a:ext cx="243840" cy="475488"/>
          </a:xfrm>
          <a:prstGeom prst="rect">
            <a:avLst/>
          </a:prstGeom>
          <a:noFill/>
          <a:ln/>
        </p:spPr>
        <p:txBody>
          <a:bodyPr wrap="square" lIns="0" tIns="0" rIns="0" bIns="0" rtlCol="0" anchor="t"/>
          <a:lstStyle/>
          <a:p>
            <a:pPr algn="ctr"/>
            <a:r>
              <a:rPr lang="en-US" sz="1960" b="1">
                <a:solidFill>
                  <a:srgbClr val="2C5F82"/>
                </a:solidFill>
                <a:latin typeface="Arial"/>
                <a:ea typeface="Arial" pitchFamily="34" charset="-122"/>
                <a:cs typeface="Arial"/>
              </a:rPr>
              <a:t>−</a:t>
            </a:r>
            <a:endParaRPr lang="en-US" sz="1960">
              <a:latin typeface="Arial"/>
              <a:cs typeface="Arial"/>
            </a:endParaRPr>
          </a:p>
        </p:txBody>
      </p:sp>
      <p:sp>
        <p:nvSpPr>
          <p:cNvPr id="20" name="Shape 16"/>
          <p:cNvSpPr/>
          <p:nvPr/>
        </p:nvSpPr>
        <p:spPr>
          <a:xfrm>
            <a:off x="6205728" y="1458469"/>
            <a:ext cx="2609088" cy="3625596"/>
          </a:xfrm>
          <a:prstGeom prst="rect">
            <a:avLst/>
          </a:prstGeom>
          <a:solidFill>
            <a:srgbClr val="E8EFF5"/>
          </a:solidFill>
          <a:ln w="12700">
            <a:solidFill>
              <a:srgbClr val="E8EFF5"/>
            </a:solidFill>
            <a:prstDash val="solid"/>
          </a:ln>
        </p:spPr>
        <p:txBody>
          <a:bodyPr/>
          <a:lstStyle/>
          <a:p>
            <a:endParaRPr lang="en-US" sz="2400"/>
          </a:p>
        </p:txBody>
      </p:sp>
      <p:sp>
        <p:nvSpPr>
          <p:cNvPr id="21" name="Text 17"/>
          <p:cNvSpPr txBox="1"/>
          <p:nvPr/>
        </p:nvSpPr>
        <p:spPr>
          <a:xfrm>
            <a:off x="6352032" y="1553565"/>
            <a:ext cx="2377440" cy="356616"/>
          </a:xfrm>
          <a:prstGeom prst="rect">
            <a:avLst/>
          </a:prstGeom>
          <a:noFill/>
          <a:ln/>
        </p:spPr>
        <p:txBody>
          <a:bodyPr wrap="square" lIns="0" tIns="0" rIns="0" bIns="0" rtlCol="0" anchor="t"/>
          <a:lstStyle/>
          <a:p>
            <a:r>
              <a:rPr lang="en-US" sz="1413" b="1">
                <a:solidFill>
                  <a:srgbClr val="2C5F82"/>
                </a:solidFill>
                <a:latin typeface="Arial"/>
                <a:ea typeface="Arial" pitchFamily="34" charset="-122"/>
                <a:cs typeface="Arial"/>
              </a:rPr>
              <a:t>Autocall (Natixis)</a:t>
            </a:r>
            <a:endParaRPr lang="en-US" sz="1413">
              <a:latin typeface="Arial"/>
              <a:cs typeface="Arial"/>
            </a:endParaRPr>
          </a:p>
        </p:txBody>
      </p:sp>
      <p:sp>
        <p:nvSpPr>
          <p:cNvPr id="22" name="Text 18"/>
          <p:cNvSpPr txBox="1"/>
          <p:nvPr/>
        </p:nvSpPr>
        <p:spPr>
          <a:xfrm>
            <a:off x="6352032" y="1910181"/>
            <a:ext cx="2377440" cy="950976"/>
          </a:xfrm>
          <a:prstGeom prst="rect">
            <a:avLst/>
          </a:prstGeom>
          <a:noFill/>
          <a:ln/>
        </p:spPr>
        <p:txBody>
          <a:bodyPr wrap="square" lIns="0" tIns="0" rIns="0" bIns="0" rtlCol="0" anchor="t"/>
          <a:lstStyle/>
          <a:p>
            <a:r>
              <a:rPr lang="en-US" sz="1040">
                <a:solidFill>
                  <a:srgbClr val="595959"/>
                </a:solidFill>
                <a:latin typeface="Arial"/>
                <a:ea typeface="Arial" pitchFamily="34" charset="-122"/>
                <a:cs typeface="Arial"/>
              </a:rPr>
              <a:t>From Q4, basket ≥ 100%: remaining coupons cancelled, note ends. Keeps the coupon affordable</a:t>
            </a:r>
            <a:endParaRPr lang="en-US" sz="1040">
              <a:latin typeface="Arial"/>
              <a:cs typeface="Arial"/>
            </a:endParaRPr>
          </a:p>
        </p:txBody>
      </p:sp>
      <p:graphicFrame>
        <p:nvGraphicFramePr>
          <p:cNvPr id="23" name="Chart 2"/>
          <p:cNvGraphicFramePr/>
          <p:nvPr/>
        </p:nvGraphicFramePr>
        <p:xfrm>
          <a:off x="6242304" y="2884933"/>
          <a:ext cx="2535936" cy="2115921"/>
        </p:xfrm>
        <a:graphic>
          <a:graphicData uri="http://schemas.openxmlformats.org/drawingml/2006/chart">
            <c:chart xmlns:c="http://schemas.openxmlformats.org/drawingml/2006/chart" xmlns:r="http://schemas.openxmlformats.org/officeDocument/2006/relationships" r:id="rId5"/>
          </a:graphicData>
        </a:graphic>
      </p:graphicFrame>
      <p:sp>
        <p:nvSpPr>
          <p:cNvPr id="24" name="Text 19"/>
          <p:cNvSpPr txBox="1"/>
          <p:nvPr/>
        </p:nvSpPr>
        <p:spPr>
          <a:xfrm>
            <a:off x="8790432" y="3419856"/>
            <a:ext cx="243840" cy="475488"/>
          </a:xfrm>
          <a:prstGeom prst="rect">
            <a:avLst/>
          </a:prstGeom>
          <a:noFill/>
          <a:ln/>
        </p:spPr>
        <p:txBody>
          <a:bodyPr wrap="square" lIns="0" tIns="0" rIns="0" bIns="0" rtlCol="0" anchor="t"/>
          <a:lstStyle/>
          <a:p>
            <a:pPr algn="ctr"/>
            <a:r>
              <a:rPr lang="en-US" sz="1960" b="1">
                <a:solidFill>
                  <a:srgbClr val="2C5F82"/>
                </a:solidFill>
                <a:latin typeface="Arial"/>
                <a:ea typeface="Arial" pitchFamily="34" charset="-122"/>
                <a:cs typeface="Arial"/>
              </a:rPr>
              <a:t>−</a:t>
            </a:r>
            <a:endParaRPr lang="en-US" sz="1960">
              <a:latin typeface="Arial"/>
              <a:cs typeface="Arial"/>
            </a:endParaRPr>
          </a:p>
        </p:txBody>
      </p:sp>
      <p:sp>
        <p:nvSpPr>
          <p:cNvPr id="25" name="Shape 20"/>
          <p:cNvSpPr/>
          <p:nvPr/>
        </p:nvSpPr>
        <p:spPr>
          <a:xfrm>
            <a:off x="9034272" y="1458469"/>
            <a:ext cx="2609088" cy="3625596"/>
          </a:xfrm>
          <a:prstGeom prst="rect">
            <a:avLst/>
          </a:prstGeom>
          <a:solidFill>
            <a:srgbClr val="E8EFF5"/>
          </a:solidFill>
          <a:ln w="12700">
            <a:solidFill>
              <a:srgbClr val="E8EFF5"/>
            </a:solidFill>
            <a:prstDash val="solid"/>
          </a:ln>
        </p:spPr>
        <p:txBody>
          <a:bodyPr/>
          <a:lstStyle/>
          <a:p>
            <a:endParaRPr lang="en-US" sz="2400"/>
          </a:p>
        </p:txBody>
      </p:sp>
      <p:sp>
        <p:nvSpPr>
          <p:cNvPr id="26" name="Text 21"/>
          <p:cNvSpPr txBox="1"/>
          <p:nvPr/>
        </p:nvSpPr>
        <p:spPr>
          <a:xfrm>
            <a:off x="9180576" y="1553565"/>
            <a:ext cx="2377440" cy="356616"/>
          </a:xfrm>
          <a:prstGeom prst="rect">
            <a:avLst/>
          </a:prstGeom>
          <a:noFill/>
          <a:ln/>
        </p:spPr>
        <p:txBody>
          <a:bodyPr wrap="square" lIns="0" tIns="0" rIns="0" bIns="0" rtlCol="0" anchor="t"/>
          <a:lstStyle/>
          <a:p>
            <a:r>
              <a:rPr lang="en-US" sz="1413" b="1">
                <a:solidFill>
                  <a:srgbClr val="B23B3B"/>
                </a:solidFill>
                <a:latin typeface="Arial"/>
                <a:ea typeface="Arial" pitchFamily="34" charset="-122"/>
                <a:cs typeface="Arial"/>
              </a:rPr>
              <a:t>Short put (client)</a:t>
            </a:r>
            <a:endParaRPr lang="en-US" sz="1413">
              <a:latin typeface="Arial"/>
              <a:cs typeface="Arial"/>
            </a:endParaRPr>
          </a:p>
        </p:txBody>
      </p:sp>
      <p:sp>
        <p:nvSpPr>
          <p:cNvPr id="27" name="Text 22"/>
          <p:cNvSpPr txBox="1"/>
          <p:nvPr/>
        </p:nvSpPr>
        <p:spPr>
          <a:xfrm>
            <a:off x="9180576" y="1910181"/>
            <a:ext cx="2377440" cy="950976"/>
          </a:xfrm>
          <a:prstGeom prst="rect">
            <a:avLst/>
          </a:prstGeom>
          <a:noFill/>
          <a:ln/>
        </p:spPr>
        <p:txBody>
          <a:bodyPr wrap="square" lIns="0" tIns="0" rIns="0" bIns="0" rtlCol="0" anchor="t"/>
          <a:lstStyle/>
          <a:p>
            <a:r>
              <a:rPr lang="en-US" sz="1040">
                <a:solidFill>
                  <a:srgbClr val="595959"/>
                </a:solidFill>
                <a:latin typeface="Arial"/>
                <a:ea typeface="Arial" pitchFamily="34" charset="-122"/>
                <a:cs typeface="Arial"/>
              </a:rPr>
              <a:t>If never called, the client bears the basket's fall below 100% at Y5. Worth −6.8%</a:t>
            </a:r>
            <a:endParaRPr lang="en-US" sz="1040">
              <a:latin typeface="Arial"/>
              <a:cs typeface="Arial"/>
            </a:endParaRPr>
          </a:p>
        </p:txBody>
      </p:sp>
      <p:graphicFrame>
        <p:nvGraphicFramePr>
          <p:cNvPr id="28" name="Chart 3"/>
          <p:cNvGraphicFramePr/>
          <p:nvPr/>
        </p:nvGraphicFramePr>
        <p:xfrm>
          <a:off x="9070848" y="2884933"/>
          <a:ext cx="2535936" cy="2115921"/>
        </p:xfrm>
        <a:graphic>
          <a:graphicData uri="http://schemas.openxmlformats.org/drawingml/2006/chart">
            <c:chart xmlns:c="http://schemas.openxmlformats.org/drawingml/2006/chart" xmlns:r="http://schemas.openxmlformats.org/officeDocument/2006/relationships" r:id="rId6"/>
          </a:graphicData>
        </a:graphic>
      </p:graphicFrame>
      <p:sp>
        <p:nvSpPr>
          <p:cNvPr id="29" name="Shape 23"/>
          <p:cNvSpPr/>
          <p:nvPr/>
        </p:nvSpPr>
        <p:spPr>
          <a:xfrm>
            <a:off x="548640" y="5202936"/>
            <a:ext cx="11094720" cy="832104"/>
          </a:xfrm>
          <a:prstGeom prst="rect">
            <a:avLst/>
          </a:prstGeom>
          <a:solidFill>
            <a:srgbClr val="2C5F82"/>
          </a:solidFill>
          <a:ln w="12700">
            <a:solidFill>
              <a:srgbClr val="2C5F82"/>
            </a:solidFill>
            <a:prstDash val="solid"/>
          </a:ln>
        </p:spPr>
        <p:txBody>
          <a:bodyPr/>
          <a:lstStyle/>
          <a:p>
            <a:endParaRPr lang="en-US" sz="2400"/>
          </a:p>
        </p:txBody>
      </p:sp>
      <p:sp>
        <p:nvSpPr>
          <p:cNvPr id="30" name="Text 24"/>
          <p:cNvSpPr txBox="1"/>
          <p:nvPr/>
        </p:nvSpPr>
        <p:spPr>
          <a:xfrm>
            <a:off x="731520" y="5286147"/>
            <a:ext cx="10728960" cy="713232"/>
          </a:xfrm>
          <a:prstGeom prst="rect">
            <a:avLst/>
          </a:prstGeom>
          <a:noFill/>
          <a:ln/>
        </p:spPr>
        <p:txBody>
          <a:bodyPr wrap="square" lIns="0" tIns="0" rIns="0" bIns="0" rtlCol="0" anchor="ctr"/>
          <a:lstStyle/>
          <a:p>
            <a:r>
              <a:rPr lang="en-US" sz="1227" b="1">
                <a:solidFill>
                  <a:srgbClr val="BFD7EA"/>
                </a:solidFill>
                <a:latin typeface="Arial"/>
                <a:ea typeface="Arial" pitchFamily="34" charset="-122"/>
                <a:cs typeface="Arial"/>
              </a:rPr>
              <a:t>Fair value 96.5% = principal 89.3% + coupons 14.1% − short put 6.8%.  </a:t>
            </a:r>
            <a:r>
              <a:rPr lang="en-US" sz="1227">
                <a:solidFill>
                  <a:srgbClr val="FFFFFF"/>
                </a:solidFill>
                <a:latin typeface="Arial"/>
                <a:ea typeface="Arial" pitchFamily="34" charset="-122"/>
                <a:cs typeface="Arial"/>
              </a:rPr>
              <a:t>Issued at 100%, leaving 3.5% for hedging and margin. The short put funds the double-digit coupon.</a:t>
            </a:r>
            <a:endParaRPr lang="en-US" sz="1227">
              <a:latin typeface="Arial"/>
              <a:cs typeface="Arial"/>
            </a:endParaRPr>
          </a:p>
        </p:txBody>
      </p:sp>
      <p:sp>
        <p:nvSpPr>
          <p:cNvPr id="33" name="Text Placeholder 32">
            <a:extLst>
              <a:ext uri="{FF2B5EF4-FFF2-40B4-BE49-F238E27FC236}">
                <a16:creationId xmlns:a16="http://schemas.microsoft.com/office/drawing/2014/main" id="{C3B9218D-BAE5-DB5F-2D2F-4144BEEE7C26}"/>
              </a:ext>
            </a:extLst>
          </p:cNvPr>
          <p:cNvSpPr>
            <a:spLocks noGrp="1"/>
          </p:cNvSpPr>
          <p:nvPr>
            <p:ph type="body" idx="3"/>
          </p:nvPr>
        </p:nvSpPr>
        <p:spPr/>
        <p:txBody>
          <a:bodyPr/>
          <a:lstStyle/>
          <a:p>
            <a:endParaRPr lang="en-US"/>
          </a:p>
        </p:txBody>
      </p:sp>
      <p:sp>
        <p:nvSpPr>
          <p:cNvPr id="32" name="Text Placeholder 31">
            <a:extLst>
              <a:ext uri="{FF2B5EF4-FFF2-40B4-BE49-F238E27FC236}">
                <a16:creationId xmlns:a16="http://schemas.microsoft.com/office/drawing/2014/main" id="{CE06F229-4B74-2806-57FC-F7615BCAF59D}"/>
              </a:ext>
            </a:extLst>
          </p:cNvPr>
          <p:cNvSpPr>
            <a:spLocks noGrp="1"/>
          </p:cNvSpPr>
          <p:nvPr>
            <p:ph type="body" idx="2"/>
          </p:nvPr>
        </p:nvSpPr>
        <p:spPr/>
        <p:txBody>
          <a:bodyPr/>
          <a:lstStyle/>
          <a:p>
            <a:endParaRPr lang="en-US"/>
          </a:p>
        </p:txBody>
      </p:sp>
      <p:sp>
        <p:nvSpPr>
          <p:cNvPr id="34" name="Text Placeholder 33">
            <a:extLst>
              <a:ext uri="{FF2B5EF4-FFF2-40B4-BE49-F238E27FC236}">
                <a16:creationId xmlns:a16="http://schemas.microsoft.com/office/drawing/2014/main" id="{21EDB952-10BD-3567-CA3A-D2CF6E6FA12F}"/>
              </a:ext>
            </a:extLst>
          </p:cNvPr>
          <p:cNvSpPr>
            <a:spLocks noGrp="1"/>
          </p:cNvSpPr>
          <p:nvPr>
            <p:ph type="body" idx="10"/>
          </p:nvPr>
        </p:nvSpPr>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6382512"/>
            <a:ext cx="11277600" cy="0"/>
          </a:xfrm>
          <a:prstGeom prst="line">
            <a:avLst/>
          </a:prstGeom>
          <a:noFill/>
          <a:ln w="7112">
            <a:solidFill>
              <a:srgbClr val="BFBFBF"/>
            </a:solidFill>
            <a:prstDash val="solid"/>
          </a:ln>
        </p:spPr>
        <p:txBody>
          <a:bodyPr/>
          <a:lstStyle/>
          <a:p>
            <a:endParaRPr lang="en-US" sz="2400"/>
          </a:p>
        </p:txBody>
      </p:sp>
      <p:sp>
        <p:nvSpPr>
          <p:cNvPr id="7" name="Text 5"/>
          <p:cNvSpPr txBox="1"/>
          <p:nvPr/>
        </p:nvSpPr>
        <p:spPr>
          <a:xfrm>
            <a:off x="457200" y="274320"/>
            <a:ext cx="11247120" cy="548640"/>
          </a:xfrm>
          <a:prstGeom prst="rect">
            <a:avLst/>
          </a:prstGeom>
          <a:noFill/>
          <a:ln/>
        </p:spPr>
        <p:txBody>
          <a:bodyPr wrap="square" lIns="0" tIns="0" rIns="0" bIns="0" rtlCol="0" anchor="ctr"/>
          <a:lstStyle/>
          <a:p>
            <a:r>
              <a:rPr lang="en-US" sz="2200">
                <a:solidFill>
                  <a:srgbClr val="262626"/>
                </a:solidFill>
                <a:latin typeface="Arial"/>
                <a:ea typeface="Arial" pitchFamily="34" charset="-122"/>
                <a:cs typeface="Arial"/>
              </a:rPr>
              <a:t>Appendix D: alternatives for the investment committee</a:t>
            </a:r>
            <a:endParaRPr lang="en-US" sz="2200">
              <a:latin typeface="Arial"/>
              <a:cs typeface="Arial"/>
            </a:endParaRPr>
          </a:p>
        </p:txBody>
      </p:sp>
      <p:sp>
        <p:nvSpPr>
          <p:cNvPr id="8" name="Shape 6"/>
          <p:cNvSpPr/>
          <p:nvPr/>
        </p:nvSpPr>
        <p:spPr>
          <a:xfrm>
            <a:off x="457200" y="896112"/>
            <a:ext cx="11277600" cy="0"/>
          </a:xfrm>
          <a:prstGeom prst="line">
            <a:avLst/>
          </a:prstGeom>
          <a:noFill/>
          <a:ln w="9525">
            <a:solidFill>
              <a:srgbClr val="2C5F82"/>
            </a:solidFill>
            <a:prstDash val="solid"/>
          </a:ln>
        </p:spPr>
        <p:txBody>
          <a:bodyPr/>
          <a:lstStyle/>
          <a:p>
            <a:endParaRPr lang="en-US" sz="2400"/>
          </a:p>
        </p:txBody>
      </p:sp>
      <p:sp>
        <p:nvSpPr>
          <p:cNvPr id="9" name="Text 7"/>
          <p:cNvSpPr txBox="1"/>
          <p:nvPr/>
        </p:nvSpPr>
        <p:spPr>
          <a:xfrm>
            <a:off x="457200" y="957072"/>
            <a:ext cx="11277600" cy="280416"/>
          </a:xfrm>
          <a:prstGeom prst="rect">
            <a:avLst/>
          </a:prstGeom>
          <a:noFill/>
          <a:ln/>
        </p:spPr>
        <p:txBody>
          <a:bodyPr wrap="square" lIns="0" tIns="0" rIns="0" bIns="0" rtlCol="0" anchor="ctr"/>
          <a:lstStyle/>
          <a:p>
            <a:r>
              <a:rPr lang="en-US" sz="1133" i="1">
                <a:solidFill>
                  <a:srgbClr val="595959"/>
                </a:solidFill>
                <a:latin typeface="Arial"/>
                <a:ea typeface="Arial" pitchFamily="34" charset="-122"/>
                <a:cs typeface="Arial"/>
              </a:rPr>
              <a:t>Same basket: full protection, a higher-risk snowball, and a pure participation note</a:t>
            </a:r>
            <a:endParaRPr lang="en-US" sz="1133">
              <a:latin typeface="Arial"/>
              <a:cs typeface="Arial"/>
            </a:endParaRPr>
          </a:p>
        </p:txBody>
      </p:sp>
      <p:graphicFrame>
        <p:nvGraphicFramePr>
          <p:cNvPr id="10" name="Chart 0"/>
          <p:cNvGraphicFramePr/>
          <p:nvPr/>
        </p:nvGraphicFramePr>
        <p:xfrm>
          <a:off x="487680" y="1399032"/>
          <a:ext cx="6096000" cy="427939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Table 0"/>
          <p:cNvGraphicFramePr>
            <a:graphicFrameLocks noGrp="1"/>
          </p:cNvGraphicFramePr>
          <p:nvPr/>
        </p:nvGraphicFramePr>
        <p:xfrm>
          <a:off x="6949440" y="1458468"/>
          <a:ext cx="4693920" cy="2139695"/>
        </p:xfrm>
        <a:graphic>
          <a:graphicData uri="http://schemas.openxmlformats.org/drawingml/2006/table">
            <a:tbl>
              <a:tblPr/>
              <a:tblGrid>
                <a:gridCol w="1950720">
                  <a:extLst>
                    <a:ext uri="{9D8B030D-6E8A-4147-A177-3AD203B41FA5}">
                      <a16:colId xmlns:a16="http://schemas.microsoft.com/office/drawing/2014/main" val="20000"/>
                    </a:ext>
                  </a:extLst>
                </a:gridCol>
                <a:gridCol w="176784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tblGrid>
              <a:tr h="427939">
                <a:tc>
                  <a:txBody>
                    <a:bodyPr/>
                    <a:lstStyle/>
                    <a:p>
                      <a:pPr marL="0" indent="0">
                        <a:buNone/>
                      </a:pPr>
                      <a:r>
                        <a:rPr lang="en-US" sz="1100" b="1" dirty="0">
                          <a:solidFill>
                            <a:srgbClr val="FFFFFF"/>
                          </a:solidFill>
                          <a:latin typeface="Arial" pitchFamily="34" charset="0"/>
                          <a:ea typeface="Arial" pitchFamily="34" charset="-122"/>
                          <a:cs typeface="Arial" pitchFamily="34" charset="-120"/>
                        </a:rPr>
                        <a:t>Option</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Return</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Loss risk</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2C5F82"/>
                    </a:solidFill>
                  </a:tcPr>
                </a:tc>
                <a:extLst>
                  <a:ext uri="{0D108BD9-81ED-4DB2-BD59-A6C34878D82A}">
                    <a16:rowId xmlns:a16="http://schemas.microsoft.com/office/drawing/2014/main" val="10000"/>
                  </a:ext>
                </a:extLst>
              </a:tr>
              <a:tr h="427939">
                <a:tc>
                  <a:txBody>
                    <a:bodyPr/>
                    <a:lstStyle/>
                    <a:p>
                      <a:pPr marL="0" indent="0">
                        <a:buNone/>
                      </a:pPr>
                      <a:r>
                        <a:rPr lang="en-US" sz="1100" b="1" dirty="0">
                          <a:solidFill>
                            <a:srgbClr val="2C5F82"/>
                          </a:solidFill>
                          <a:latin typeface="Arial" pitchFamily="34" charset="0"/>
                          <a:ea typeface="Arial" pitchFamily="34" charset="-122"/>
                          <a:cs typeface="Arial" pitchFamily="34" charset="-120"/>
                        </a:rPr>
                        <a:t>Classic autocallable (ours)</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12.75% p.a. memory coupon</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0.8% (team outlook)</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7939">
                <a:tc>
                  <a:txBody>
                    <a:bodyPr/>
                    <a:lstStyle/>
                    <a:p>
                      <a:pPr marL="0" indent="0">
                        <a:buNone/>
                      </a:pPr>
                      <a:r>
                        <a:rPr lang="en-US" sz="1100" dirty="0">
                          <a:solidFill>
                            <a:srgbClr val="262626"/>
                          </a:solidFill>
                          <a:latin typeface="Arial" pitchFamily="34" charset="0"/>
                          <a:ea typeface="Arial" pitchFamily="34" charset="-122"/>
                          <a:cs typeface="Arial" pitchFamily="34" charset="-120"/>
                        </a:rPr>
                        <a:t>100% protected autocallable</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~7.9% fair coupon</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7939">
                <a:tc>
                  <a:txBody>
                    <a:bodyPr/>
                    <a:lstStyle/>
                    <a:p>
                      <a:pPr marL="0" indent="0">
                        <a:buNone/>
                      </a:pPr>
                      <a:r>
                        <a:rPr lang="en-US" sz="1100" dirty="0">
                          <a:solidFill>
                            <a:srgbClr val="262626"/>
                          </a:solidFill>
                          <a:latin typeface="Arial" pitchFamily="34" charset="0"/>
                          <a:ea typeface="Arial" pitchFamily="34" charset="-122"/>
                          <a:cs typeface="Arial" pitchFamily="34" charset="-120"/>
                        </a:rPr>
                        <a:t>Snowball, 65% barrier</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13.6% fair, paid at call</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14.0% (pricing)</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7939">
                <a:tc>
                  <a:txBody>
                    <a:bodyPr/>
                    <a:lstStyle/>
                    <a:p>
                      <a:pPr marL="0" indent="0">
                        <a:buNone/>
                      </a:pPr>
                      <a:r>
                        <a:rPr lang="en-US" sz="1100" dirty="0">
                          <a:solidFill>
                            <a:srgbClr val="262626"/>
                          </a:solidFill>
                          <a:latin typeface="Arial" pitchFamily="34" charset="0"/>
                          <a:ea typeface="Arial" pitchFamily="34" charset="-122"/>
                          <a:cs typeface="Arial" pitchFamily="34" charset="-120"/>
                        </a:rPr>
                        <a:t>Principal-protected note</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85% of basket gain at Y5</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100" dirty="0">
                          <a:solidFill>
                            <a:srgbClr val="262626"/>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67733" marR="67733" marT="33867" marB="33867"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2" name="Shape 8"/>
          <p:cNvSpPr/>
          <p:nvPr/>
        </p:nvSpPr>
        <p:spPr>
          <a:xfrm>
            <a:off x="6949440" y="3717037"/>
            <a:ext cx="4693920" cy="1485900"/>
          </a:xfrm>
          <a:prstGeom prst="rect">
            <a:avLst/>
          </a:prstGeom>
          <a:solidFill>
            <a:srgbClr val="E8EFF5"/>
          </a:solidFill>
          <a:ln w="12700">
            <a:solidFill>
              <a:srgbClr val="E8EFF5"/>
            </a:solidFill>
            <a:prstDash val="solid"/>
          </a:ln>
        </p:spPr>
        <p:txBody>
          <a:bodyPr/>
          <a:lstStyle/>
          <a:p>
            <a:endParaRPr lang="en-US" sz="2400"/>
          </a:p>
        </p:txBody>
      </p:sp>
      <p:sp>
        <p:nvSpPr>
          <p:cNvPr id="13" name="Text 9"/>
          <p:cNvSpPr txBox="1"/>
          <p:nvPr/>
        </p:nvSpPr>
        <p:spPr>
          <a:xfrm>
            <a:off x="7132320" y="3800247"/>
            <a:ext cx="4389120" cy="1331367"/>
          </a:xfrm>
          <a:prstGeom prst="rect">
            <a:avLst/>
          </a:prstGeom>
          <a:noFill/>
          <a:ln/>
        </p:spPr>
        <p:txBody>
          <a:bodyPr wrap="square" lIns="0" tIns="0" rIns="0" bIns="0" rtlCol="0" anchor="t"/>
          <a:lstStyle/>
          <a:p>
            <a:r>
              <a:rPr lang="en-US" sz="1107" b="1">
                <a:solidFill>
                  <a:srgbClr val="2C5F82"/>
                </a:solidFill>
                <a:latin typeface="Arial"/>
                <a:ea typeface="Arial" pitchFamily="34" charset="-122"/>
                <a:cs typeface="Arial"/>
              </a:rPr>
              <a:t>Trade-off: </a:t>
            </a:r>
            <a:r>
              <a:rPr lang="en-US" sz="1107">
                <a:solidFill>
                  <a:srgbClr val="262626"/>
                </a:solidFill>
                <a:latin typeface="Arial"/>
                <a:ea typeface="Arial" pitchFamily="34" charset="-122"/>
                <a:cs typeface="Arial"/>
              </a:rPr>
              <a:t>The snowball's fair coupon is 13.6%, but it loses capital in ~14% of paths (pricing measure). Full protection pays only ~8%. The PPN pays nothing unless the basket ends above 100% after 5 years. Our note pays 12.75%, with money usually back within ~1 year on the team outlook, but takes the basket's fall if never called.</a:t>
            </a:r>
            <a:endParaRPr lang="en-US" sz="1107">
              <a:latin typeface="Arial"/>
              <a:cs typeface="Arial"/>
            </a:endParaRPr>
          </a:p>
        </p:txBody>
      </p:sp>
      <p:sp>
        <p:nvSpPr>
          <p:cNvPr id="14" name="Text 10"/>
          <p:cNvSpPr txBox="1"/>
          <p:nvPr/>
        </p:nvSpPr>
        <p:spPr>
          <a:xfrm>
            <a:off x="457200" y="6083808"/>
            <a:ext cx="10728960" cy="280416"/>
          </a:xfrm>
          <a:prstGeom prst="rect">
            <a:avLst/>
          </a:prstGeom>
          <a:noFill/>
          <a:ln/>
        </p:spPr>
        <p:txBody>
          <a:bodyPr wrap="square" lIns="0" tIns="0" rIns="0" bIns="0" rtlCol="0" anchor="t"/>
          <a:lstStyle/>
          <a:p>
            <a:r>
              <a:rPr lang="en-US" sz="907" i="1">
                <a:solidFill>
                  <a:srgbClr val="595959"/>
                </a:solidFill>
                <a:latin typeface="Arial"/>
                <a:ea typeface="Arial" pitchFamily="34" charset="-122"/>
                <a:cs typeface="Arial"/>
              </a:rPr>
              <a:t>Monte Carlo, 200k paths. Vols, dividends and correlations are assumptions to refresh with Bloomberg data as of the 17 Sep 2026 trade date; discounting uses the USD funding grid.</a:t>
            </a:r>
            <a:endParaRPr lang="en-US" sz="907">
              <a:latin typeface="Arial"/>
              <a:cs typeface="Arial"/>
            </a:endParaRPr>
          </a:p>
        </p:txBody>
      </p:sp>
      <p:sp>
        <p:nvSpPr>
          <p:cNvPr id="15" name="Text Placeholder 14">
            <a:extLst>
              <a:ext uri="{FF2B5EF4-FFF2-40B4-BE49-F238E27FC236}">
                <a16:creationId xmlns:a16="http://schemas.microsoft.com/office/drawing/2014/main" id="{C030EE9A-C8D8-9346-57F6-9CB00A011758}"/>
              </a:ext>
            </a:extLst>
          </p:cNvPr>
          <p:cNvSpPr>
            <a:spLocks noGrp="1"/>
          </p:cNvSpPr>
          <p:nvPr>
            <p:ph type="body" idx="2"/>
          </p:nvPr>
        </p:nvSpPr>
        <p:spPr/>
        <p:txBody>
          <a:bodyPr/>
          <a:lstStyle/>
          <a:p>
            <a:endParaRPr lang="en-US"/>
          </a:p>
        </p:txBody>
      </p:sp>
      <p:sp>
        <p:nvSpPr>
          <p:cNvPr id="17" name="Text Placeholder 16">
            <a:extLst>
              <a:ext uri="{FF2B5EF4-FFF2-40B4-BE49-F238E27FC236}">
                <a16:creationId xmlns:a16="http://schemas.microsoft.com/office/drawing/2014/main" id="{B28AE636-1A2E-4379-50B7-EE28F424F444}"/>
              </a:ext>
            </a:extLst>
          </p:cNvPr>
          <p:cNvSpPr>
            <a:spLocks noGrp="1"/>
          </p:cNvSpPr>
          <p:nvPr>
            <p:ph type="body" idx="10"/>
          </p:nvPr>
        </p:nvSpPr>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marL="0" indent="0">
              <a:buNone/>
            </a:pPr>
            <a:r>
              <a:rPr lang="en-US" sz="2200">
                <a:solidFill>
                  <a:srgbClr val="262626"/>
                </a:solidFill>
                <a:latin typeface="Arial"/>
                <a:ea typeface="Arial" pitchFamily="34" charset="-122"/>
                <a:cs typeface="Arial"/>
              </a:rPr>
              <a:t>Appendix E: how we priced the note, and why the fair coupon is 14.09%</a:t>
            </a:r>
            <a:endParaRPr lang="en-US" sz="2200">
              <a:latin typeface="Arial"/>
              <a:cs typeface="Arial"/>
            </a:endParaRPr>
          </a:p>
        </p:txBody>
      </p:sp>
      <p:sp>
        <p:nvSpPr>
          <p:cNvPr id="3" name="Shape 1"/>
          <p:cNvSpPr/>
          <p:nvPr/>
        </p:nvSpPr>
        <p:spPr>
          <a:xfrm>
            <a:off x="457200" y="896112"/>
            <a:ext cx="11274552" cy="0"/>
          </a:xfrm>
          <a:prstGeom prst="line">
            <a:avLst/>
          </a:prstGeom>
          <a:noFill/>
          <a:ln w="12700">
            <a:solidFill>
              <a:srgbClr val="2C5F82"/>
            </a:solidFill>
            <a:prstDash val="solid"/>
          </a:ln>
        </p:spPr>
        <p:txBody>
          <a:bodyPr/>
          <a:lstStyle/>
          <a:p>
            <a:endParaRPr lang="en-HK"/>
          </a:p>
        </p:txBody>
      </p:sp>
      <p:sp>
        <p:nvSpPr>
          <p:cNvPr id="4" name="Text 2"/>
          <p:cNvSpPr txBox="1"/>
          <p:nvPr/>
        </p:nvSpPr>
        <p:spPr>
          <a:xfrm>
            <a:off x="457200" y="969264"/>
            <a:ext cx="11274552" cy="274320"/>
          </a:xfrm>
          <a:prstGeom prst="rect">
            <a:avLst/>
          </a:prstGeom>
          <a:noFill/>
          <a:ln/>
        </p:spPr>
        <p:txBody>
          <a:bodyPr wrap="square" lIns="0" tIns="0" rIns="0" bIns="0" rtlCol="0" anchor="t"/>
          <a:lstStyle/>
          <a:p>
            <a:pPr marL="0" indent="0">
              <a:buNone/>
            </a:pPr>
            <a:r>
              <a:rPr lang="en-US" sz="1100" i="1">
                <a:solidFill>
                  <a:srgbClr val="595959"/>
                </a:solidFill>
                <a:latin typeface="Arial"/>
                <a:ea typeface="Arial" pitchFamily="34" charset="-122"/>
                <a:cs typeface="Arial"/>
              </a:rPr>
              <a:t>Monte Carlo simulation of the five-ETF basket (1,000,000 paths); the fair coupon makes the note worth exactly its issue price</a:t>
            </a:r>
            <a:endParaRPr lang="en-US" sz="1100">
              <a:latin typeface="Arial"/>
              <a:cs typeface="Arial"/>
            </a:endParaRPr>
          </a:p>
        </p:txBody>
      </p:sp>
      <p:sp>
        <p:nvSpPr>
          <p:cNvPr id="10" name="Shape 8"/>
          <p:cNvSpPr/>
          <p:nvPr/>
        </p:nvSpPr>
        <p:spPr>
          <a:xfrm>
            <a:off x="457200" y="1325880"/>
            <a:ext cx="7315200" cy="749808"/>
          </a:xfrm>
          <a:prstGeom prst="rect">
            <a:avLst/>
          </a:prstGeom>
          <a:solidFill>
            <a:srgbClr val="F2F2F2"/>
          </a:solidFill>
          <a:ln w="12700">
            <a:solidFill>
              <a:srgbClr val="F2F2F2"/>
            </a:solidFill>
            <a:prstDash val="solid"/>
          </a:ln>
        </p:spPr>
        <p:txBody>
          <a:bodyPr/>
          <a:lstStyle/>
          <a:p>
            <a:endParaRPr lang="en-HK"/>
          </a:p>
        </p:txBody>
      </p:sp>
      <p:sp>
        <p:nvSpPr>
          <p:cNvPr id="11" name="Shape 9"/>
          <p:cNvSpPr/>
          <p:nvPr/>
        </p:nvSpPr>
        <p:spPr>
          <a:xfrm>
            <a:off x="548640" y="1499616"/>
            <a:ext cx="402336" cy="402336"/>
          </a:xfrm>
          <a:prstGeom prst="ellipse">
            <a:avLst/>
          </a:prstGeom>
          <a:solidFill>
            <a:srgbClr val="2C5F82"/>
          </a:solidFill>
          <a:ln w="12700">
            <a:solidFill>
              <a:srgbClr val="2C5F82"/>
            </a:solidFill>
            <a:prstDash val="solid"/>
          </a:ln>
        </p:spPr>
        <p:txBody>
          <a:bodyPr/>
          <a:lstStyle/>
          <a:p>
            <a:endParaRPr lang="en-HK"/>
          </a:p>
        </p:txBody>
      </p:sp>
      <p:sp>
        <p:nvSpPr>
          <p:cNvPr id="12" name="Text 10"/>
          <p:cNvSpPr txBox="1"/>
          <p:nvPr/>
        </p:nvSpPr>
        <p:spPr>
          <a:xfrm>
            <a:off x="548640" y="1499616"/>
            <a:ext cx="402336" cy="402336"/>
          </a:xfrm>
          <a:prstGeom prst="rect">
            <a:avLst/>
          </a:prstGeom>
          <a:noFill/>
          <a:ln/>
        </p:spPr>
        <p:txBody>
          <a:bodyPr wrap="square" lIns="0" tIns="0" rIns="0" bIns="0" rtlCol="0" anchor="ctr"/>
          <a:lstStyle/>
          <a:p>
            <a:pPr marL="0" indent="0" algn="ctr">
              <a:buNone/>
            </a:pPr>
            <a:r>
              <a:rPr lang="en-US" sz="1300" b="1">
                <a:solidFill>
                  <a:srgbClr val="FFFFFF"/>
                </a:solidFill>
                <a:latin typeface="Arial"/>
                <a:ea typeface="Arial" pitchFamily="34" charset="-122"/>
                <a:cs typeface="Arial"/>
              </a:rPr>
              <a:t>A</a:t>
            </a:r>
            <a:endParaRPr lang="en-US" sz="1300">
              <a:latin typeface="Arial"/>
              <a:cs typeface="Arial"/>
            </a:endParaRPr>
          </a:p>
        </p:txBody>
      </p:sp>
      <p:sp>
        <p:nvSpPr>
          <p:cNvPr id="13" name="Text 11"/>
          <p:cNvSpPr txBox="1"/>
          <p:nvPr/>
        </p:nvSpPr>
        <p:spPr>
          <a:xfrm>
            <a:off x="1051560" y="1371600"/>
            <a:ext cx="3063240" cy="658368"/>
          </a:xfrm>
          <a:prstGeom prst="rect">
            <a:avLst/>
          </a:prstGeom>
          <a:noFill/>
          <a:ln/>
        </p:spPr>
        <p:txBody>
          <a:bodyPr wrap="square" lIns="0" tIns="0" rIns="0" bIns="0" rtlCol="0" anchor="ctr"/>
          <a:lstStyle/>
          <a:p>
            <a:pPr marL="0" indent="0">
              <a:buNone/>
            </a:pPr>
            <a:r>
              <a:rPr lang="en-US" sz="1000" b="1">
                <a:solidFill>
                  <a:srgbClr val="262626"/>
                </a:solidFill>
                <a:latin typeface="Arial"/>
                <a:ea typeface="Arial" pitchFamily="34" charset="-122"/>
                <a:cs typeface="Arial"/>
              </a:rPr>
              <a:t>Term structure &amp; discount factors</a:t>
            </a:r>
            <a:endParaRPr lang="en-US" sz="1000">
              <a:latin typeface="Arial"/>
              <a:cs typeface="Arial"/>
            </a:endParaRPr>
          </a:p>
          <a:p>
            <a:pPr marL="0" indent="0">
              <a:buNone/>
            </a:pPr>
            <a:r>
              <a:rPr lang="en-US" sz="850">
                <a:solidFill>
                  <a:srgbClr val="595959"/>
                </a:solidFill>
                <a:latin typeface="Arial"/>
                <a:ea typeface="Arial" pitchFamily="34" charset="-122"/>
                <a:cs typeface="Arial"/>
              </a:rPr>
              <a:t>Annual rates are converted to continuous rates; each cash flow is discounted at its own tenor</a:t>
            </a:r>
            <a:endParaRPr lang="en-US" sz="1000">
              <a:latin typeface="Arial"/>
              <a:cs typeface="Arial"/>
            </a:endParaRPr>
          </a:p>
        </p:txBody>
      </p:sp>
      <p:sp>
        <p:nvSpPr>
          <p:cNvPr id="14" name="Text 12"/>
          <p:cNvSpPr txBox="1"/>
          <p:nvPr/>
        </p:nvSpPr>
        <p:spPr>
          <a:xfrm>
            <a:off x="5439477" y="1400797"/>
            <a:ext cx="3520440" cy="320040"/>
          </a:xfrm>
          <a:prstGeom prst="rect">
            <a:avLst/>
          </a:prstGeom>
          <a:noFill/>
          <a:ln/>
        </p:spPr>
        <p:txBody>
          <a:bodyPr wrap="square" lIns="0" tIns="0" rIns="0" bIns="0" rtlCol="0" anchor="ctr"/>
          <a:lstStyle/>
          <a:p>
            <a:pPr marL="0" indent="0">
              <a:buNone/>
            </a:pPr>
            <a:r>
              <a:rPr lang="en-US" sz="1200">
                <a:solidFill>
                  <a:srgbClr val="262626"/>
                </a:solidFill>
                <a:latin typeface="Arial"/>
                <a:ea typeface="Cambria Math" pitchFamily="34" charset="-122"/>
                <a:cs typeface="Arial"/>
              </a:rPr>
              <a:t>                                     (1)</a:t>
            </a:r>
            <a:endParaRPr lang="en-US" sz="1200">
              <a:latin typeface="Arial"/>
              <a:cs typeface="Arial"/>
            </a:endParaRPr>
          </a:p>
        </p:txBody>
      </p:sp>
      <mc:AlternateContent xmlns:mc="http://schemas.openxmlformats.org/markup-compatibility/2006">
        <mc:Choice xmlns:a14="http://schemas.microsoft.com/office/drawing/2010/main" Requires="a14">
          <p:sp>
            <p:nvSpPr>
              <p:cNvPr id="15" name="Text 13"/>
              <p:cNvSpPr txBox="1"/>
              <p:nvPr/>
            </p:nvSpPr>
            <p:spPr>
              <a:xfrm>
                <a:off x="4206240" y="1700784"/>
                <a:ext cx="3520440" cy="320040"/>
              </a:xfrm>
              <a:prstGeom prst="rect">
                <a:avLst/>
              </a:prstGeom>
              <a:noFill/>
              <a:ln/>
            </p:spPr>
            <p:txBody>
              <a:bodyPr wrap="square" lIns="0" tIns="0" rIns="0" bIns="0" rtlCol="0" anchor="ctr"/>
              <a:lstStyle/>
              <a:p>
                <a14:m>
                  <m:oMath xmlns:m="http://schemas.openxmlformats.org/officeDocument/2006/math">
                    <m:sSub>
                      <m:sSubPr>
                        <m:ctrlPr>
                          <a:rPr lang="en-HK" sz="1200" i="1" dirty="0" smtClean="0">
                            <a:latin typeface="Cambria Math" panose="02040503050406030204" pitchFamily="18" charset="0"/>
                          </a:rPr>
                        </m:ctrlPr>
                      </m:sSubPr>
                      <m:e>
                        <m:r>
                          <a:rPr lang="en-HK" sz="1200" i="1" dirty="0" smtClean="0">
                            <a:latin typeface="Cambria Math" panose="02040503050406030204" pitchFamily="18" charset="0"/>
                          </a:rPr>
                          <m:t>𝐷</m:t>
                        </m:r>
                      </m:e>
                      <m:sub>
                        <m:r>
                          <a:rPr lang="en-HK" sz="1200" i="1" dirty="0" smtClean="0">
                            <a:latin typeface="Cambria Math" panose="02040503050406030204" pitchFamily="18" charset="0"/>
                          </a:rPr>
                          <m:t>𝑗</m:t>
                        </m:r>
                      </m:sub>
                    </m:sSub>
                    <m:r>
                      <a:rPr lang="en-HK" sz="1200" i="1" dirty="0" smtClean="0">
                        <a:latin typeface="Cambria Math" panose="02040503050406030204" pitchFamily="18" charset="0"/>
                      </a:rPr>
                      <m:t>=</m:t>
                    </m:r>
                    <m:func>
                      <m:funcPr>
                        <m:ctrlPr>
                          <a:rPr lang="en-HK" sz="1200" i="1" dirty="0" smtClean="0">
                            <a:latin typeface="Cambria Math" panose="02040503050406030204" pitchFamily="18" charset="0"/>
                          </a:rPr>
                        </m:ctrlPr>
                      </m:funcPr>
                      <m:fName>
                        <m:r>
                          <m:rPr>
                            <m:sty m:val="p"/>
                          </m:rPr>
                          <a:rPr lang="en-HK" sz="1200" i="1" dirty="0" smtClean="0">
                            <a:latin typeface="Cambria Math" panose="02040503050406030204" pitchFamily="18" charset="0"/>
                          </a:rPr>
                          <m:t>exp</m:t>
                        </m:r>
                      </m:fName>
                      <m:e>
                        <m:sSubSup>
                          <m:sSubSupPr>
                            <m:ctrlPr>
                              <a:rPr lang="en-HK" sz="1200" i="1" dirty="0" smtClean="0">
                                <a:latin typeface="Cambria Math" panose="02040503050406030204" pitchFamily="18" charset="0"/>
                              </a:rPr>
                            </m:ctrlPr>
                          </m:sSubSupPr>
                          <m:e>
                            <m:r>
                              <a:rPr lang="en-HK" sz="1200" i="1" dirty="0" smtClean="0">
                                <a:latin typeface="Cambria Math" panose="02040503050406030204" pitchFamily="18" charset="0"/>
                              </a:rPr>
                              <m:t>​</m:t>
                            </m:r>
                          </m:e>
                          <m:sub>
                            <m:r>
                              <a:rPr lang="en-HK" sz="1200" i="1" dirty="0" smtClean="0">
                                <a:latin typeface="Cambria Math" panose="02040503050406030204" pitchFamily="18" charset="0"/>
                              </a:rPr>
                              <m:t>​</m:t>
                            </m:r>
                          </m:sub>
                          <m:sup>
                            <m:d>
                              <m:dPr>
                                <m:ctrlPr>
                                  <a:rPr lang="en-HK" sz="1200" i="1" dirty="0" smtClean="0">
                                    <a:latin typeface="Cambria Math" panose="02040503050406030204" pitchFamily="18" charset="0"/>
                                  </a:rPr>
                                </m:ctrlPr>
                              </m:dPr>
                              <m:e>
                                <m:r>
                                  <a:rPr lang="en-HK" sz="1200" i="1" dirty="0" smtClean="0">
                                    <a:latin typeface="Cambria Math" panose="02040503050406030204" pitchFamily="18" charset="0"/>
                                  </a:rPr>
                                  <m:t>−</m:t>
                                </m:r>
                                <m:sSub>
                                  <m:sSubPr>
                                    <m:ctrlPr>
                                      <a:rPr lang="en-HK" sz="1200" i="1" dirty="0" smtClean="0">
                                        <a:latin typeface="Cambria Math" panose="02040503050406030204" pitchFamily="18" charset="0"/>
                                      </a:rPr>
                                    </m:ctrlPr>
                                  </m:sSubPr>
                                  <m:e>
                                    <m:r>
                                      <a:rPr lang="en-HK" sz="1200" i="1" dirty="0" smtClean="0">
                                        <a:latin typeface="Cambria Math" panose="02040503050406030204" pitchFamily="18" charset="0"/>
                                      </a:rPr>
                                      <m:t>𝑟</m:t>
                                    </m:r>
                                  </m:e>
                                  <m:sub>
                                    <m:r>
                                      <a:rPr lang="en-HK" sz="1200" i="1" dirty="0" smtClean="0">
                                        <a:latin typeface="Cambria Math" panose="02040503050406030204" pitchFamily="18" charset="0"/>
                                      </a:rPr>
                                      <m:t>𝑗</m:t>
                                    </m:r>
                                  </m:sub>
                                </m:sSub>
                                <m:r>
                                  <a:rPr lang="en-HK" sz="1200" i="1" dirty="0" smtClean="0">
                                    <a:latin typeface="Cambria Math" panose="02040503050406030204" pitchFamily="18" charset="0"/>
                                  </a:rPr>
                                  <m:t>⋅</m:t>
                                </m:r>
                                <m:sSub>
                                  <m:sSubPr>
                                    <m:ctrlPr>
                                      <a:rPr lang="en-HK" sz="1200" i="1" dirty="0" smtClean="0">
                                        <a:latin typeface="Cambria Math" panose="02040503050406030204" pitchFamily="18" charset="0"/>
                                      </a:rPr>
                                    </m:ctrlPr>
                                  </m:sSubPr>
                                  <m:e>
                                    <m:r>
                                      <a:rPr lang="en-HK" sz="1200" i="1" dirty="0" smtClean="0">
                                        <a:latin typeface="Cambria Math" panose="02040503050406030204" pitchFamily="18" charset="0"/>
                                      </a:rPr>
                                      <m:t>𝑡</m:t>
                                    </m:r>
                                  </m:e>
                                  <m:sub>
                                    <m:r>
                                      <a:rPr lang="en-HK" sz="1200" i="1" dirty="0" smtClean="0">
                                        <a:latin typeface="Cambria Math" panose="02040503050406030204" pitchFamily="18" charset="0"/>
                                      </a:rPr>
                                      <m:t>𝑗</m:t>
                                    </m:r>
                                  </m:sub>
                                </m:sSub>
                              </m:e>
                            </m:d>
                          </m:sup>
                        </m:sSubSup>
                        <m:r>
                          <a:rPr lang="en-HK" sz="1200" i="1" dirty="0" smtClean="0">
                            <a:latin typeface="Cambria Math" panose="02040503050406030204" pitchFamily="18" charset="0"/>
                          </a:rPr>
                          <m:t>​</m:t>
                        </m:r>
                      </m:e>
                    </m:func>
                  </m:oMath>
                </a14:m>
                <a:r>
                  <a:rPr lang="en-US" sz="1200">
                    <a:solidFill>
                      <a:srgbClr val="262626"/>
                    </a:solidFill>
                    <a:latin typeface="Cambria Math" pitchFamily="34" charset="0"/>
                    <a:ea typeface="Cambria Math" pitchFamily="34" charset="-122"/>
                    <a:cs typeface="Cambria Math" pitchFamily="34" charset="-120"/>
                  </a:rPr>
                  <a:t>      (2)</a:t>
                </a:r>
                <a:endParaRPr lang="en-US" sz="1200"/>
              </a:p>
            </p:txBody>
          </p:sp>
        </mc:Choice>
        <mc:Fallback>
          <p:sp>
            <p:nvSpPr>
              <p:cNvPr id="15" name="Text 13"/>
              <p:cNvSpPr txBox="1">
                <a:spLocks noRot="1" noChangeAspect="1" noMove="1" noResize="1" noEditPoints="1" noAdjustHandles="1" noChangeArrowheads="1" noChangeShapeType="1" noTextEdit="1"/>
              </p:cNvSpPr>
              <p:nvPr/>
            </p:nvSpPr>
            <p:spPr>
              <a:xfrm>
                <a:off x="4206240" y="1700784"/>
                <a:ext cx="3520440" cy="320040"/>
              </a:xfrm>
              <a:prstGeom prst="rect">
                <a:avLst/>
              </a:prstGeom>
              <a:blipFill>
                <a:blip r:embed="rId3"/>
                <a:stretch>
                  <a:fillRect l="-1799" b="-7407"/>
                </a:stretch>
              </a:blipFill>
              <a:ln/>
            </p:spPr>
            <p:txBody>
              <a:bodyPr/>
              <a:lstStyle/>
              <a:p>
                <a:r>
                  <a:rPr lang="en-US">
                    <a:noFill/>
                  </a:rPr>
                  <a:t> </a:t>
                </a:r>
              </a:p>
            </p:txBody>
          </p:sp>
        </mc:Fallback>
      </mc:AlternateContent>
      <p:sp>
        <p:nvSpPr>
          <p:cNvPr id="16" name="Shape 14"/>
          <p:cNvSpPr/>
          <p:nvPr/>
        </p:nvSpPr>
        <p:spPr>
          <a:xfrm>
            <a:off x="457200" y="2148840"/>
            <a:ext cx="7315200" cy="749808"/>
          </a:xfrm>
          <a:prstGeom prst="rect">
            <a:avLst/>
          </a:prstGeom>
          <a:solidFill>
            <a:srgbClr val="FFFFFF"/>
          </a:solidFill>
          <a:ln w="12700">
            <a:solidFill>
              <a:srgbClr val="F2F2F2"/>
            </a:solidFill>
            <a:prstDash val="solid"/>
          </a:ln>
        </p:spPr>
        <p:txBody>
          <a:bodyPr/>
          <a:lstStyle/>
          <a:p>
            <a:endParaRPr lang="en-HK"/>
          </a:p>
        </p:txBody>
      </p:sp>
      <p:sp>
        <p:nvSpPr>
          <p:cNvPr id="17" name="Shape 15"/>
          <p:cNvSpPr/>
          <p:nvPr/>
        </p:nvSpPr>
        <p:spPr>
          <a:xfrm>
            <a:off x="548640" y="2322576"/>
            <a:ext cx="402336" cy="402336"/>
          </a:xfrm>
          <a:prstGeom prst="ellipse">
            <a:avLst/>
          </a:prstGeom>
          <a:solidFill>
            <a:srgbClr val="2C5F82"/>
          </a:solidFill>
          <a:ln w="12700">
            <a:solidFill>
              <a:srgbClr val="2C5F82"/>
            </a:solidFill>
            <a:prstDash val="solid"/>
          </a:ln>
        </p:spPr>
        <p:txBody>
          <a:bodyPr/>
          <a:lstStyle/>
          <a:p>
            <a:endParaRPr lang="en-HK"/>
          </a:p>
        </p:txBody>
      </p:sp>
      <p:sp>
        <p:nvSpPr>
          <p:cNvPr id="18" name="Text 16"/>
          <p:cNvSpPr txBox="1"/>
          <p:nvPr/>
        </p:nvSpPr>
        <p:spPr>
          <a:xfrm>
            <a:off x="548640" y="2322576"/>
            <a:ext cx="402336" cy="402336"/>
          </a:xfrm>
          <a:prstGeom prst="rect">
            <a:avLst/>
          </a:prstGeom>
          <a:noFill/>
          <a:ln/>
        </p:spPr>
        <p:txBody>
          <a:bodyPr wrap="square" lIns="0" tIns="0" rIns="0" bIns="0" rtlCol="0" anchor="ctr"/>
          <a:lstStyle/>
          <a:p>
            <a:pPr marL="0" indent="0" algn="ctr">
              <a:buNone/>
            </a:pPr>
            <a:r>
              <a:rPr lang="en-US" sz="1300" b="1">
                <a:solidFill>
                  <a:srgbClr val="FFFFFF"/>
                </a:solidFill>
                <a:latin typeface="Arial"/>
                <a:ea typeface="Arial" pitchFamily="34" charset="-122"/>
                <a:cs typeface="Arial"/>
              </a:rPr>
              <a:t>B</a:t>
            </a:r>
            <a:endParaRPr lang="en-US" sz="1300">
              <a:latin typeface="Arial"/>
              <a:cs typeface="Arial"/>
            </a:endParaRPr>
          </a:p>
        </p:txBody>
      </p:sp>
      <p:sp>
        <p:nvSpPr>
          <p:cNvPr id="19" name="Text 17"/>
          <p:cNvSpPr txBox="1"/>
          <p:nvPr/>
        </p:nvSpPr>
        <p:spPr>
          <a:xfrm>
            <a:off x="1051560" y="2194560"/>
            <a:ext cx="3063240" cy="658368"/>
          </a:xfrm>
          <a:prstGeom prst="rect">
            <a:avLst/>
          </a:prstGeom>
          <a:noFill/>
          <a:ln/>
        </p:spPr>
        <p:txBody>
          <a:bodyPr wrap="square" lIns="0" tIns="0" rIns="0" bIns="0" rtlCol="0" anchor="ctr"/>
          <a:lstStyle/>
          <a:p>
            <a:pPr marL="0" indent="0">
              <a:buNone/>
            </a:pPr>
            <a:r>
              <a:rPr lang="en-US" sz="1000" b="1">
                <a:solidFill>
                  <a:srgbClr val="262626"/>
                </a:solidFill>
                <a:latin typeface="Arial"/>
                <a:ea typeface="Arial" pitchFamily="34" charset="-122"/>
                <a:cs typeface="Arial"/>
              </a:rPr>
              <a:t>Asset paths (correlated geometric Brownian motion)</a:t>
            </a:r>
            <a:endParaRPr lang="en-US" sz="1000">
              <a:latin typeface="Arial"/>
              <a:cs typeface="Arial"/>
            </a:endParaRPr>
          </a:p>
          <a:p>
            <a:pPr marL="0" indent="0">
              <a:buNone/>
            </a:pPr>
            <a:r>
              <a:rPr lang="en-US" sz="850">
                <a:solidFill>
                  <a:srgbClr val="595959"/>
                </a:solidFill>
                <a:latin typeface="Arial"/>
                <a:ea typeface="Arial" pitchFamily="34" charset="-122"/>
                <a:cs typeface="Arial"/>
              </a:rPr>
              <a:t>Each ETF moves one year at a time with its own interval variance ΔV; shocks are correlated through the Cholesky factor L of ρ</a:t>
            </a:r>
            <a:endParaRPr lang="en-US" sz="1000">
              <a:latin typeface="Arial"/>
              <a:cs typeface="Arial"/>
            </a:endParaRPr>
          </a:p>
        </p:txBody>
      </p:sp>
      <mc:AlternateContent xmlns:mc="http://schemas.openxmlformats.org/markup-compatibility/2006">
        <mc:Choice xmlns:a14="http://schemas.microsoft.com/office/drawing/2010/main" Requires="a14">
          <p:sp>
            <p:nvSpPr>
              <p:cNvPr id="20" name="Text 18"/>
              <p:cNvSpPr txBox="1"/>
              <p:nvPr/>
            </p:nvSpPr>
            <p:spPr>
              <a:xfrm>
                <a:off x="4206240" y="2176272"/>
                <a:ext cx="3657600" cy="347472"/>
              </a:xfrm>
              <a:prstGeom prst="rect">
                <a:avLst/>
              </a:prstGeom>
              <a:noFill/>
              <a:ln/>
            </p:spPr>
            <p:txBody>
              <a:bodyPr wrap="square" lIns="0" tIns="0" rIns="0" bIns="0" rtlCol="0" anchor="ctr"/>
              <a:lstStyle/>
              <a:p>
                <a:r>
                  <a:rPr lang="en-HK" sz="1200"/>
                  <a:t>X</a:t>
                </a:r>
                <a14:m>
                  <m:oMath xmlns:m="http://schemas.openxmlformats.org/officeDocument/2006/math">
                    <m:sSubSup>
                      <m:sSubSupPr>
                        <m:ctrlPr>
                          <a:rPr lang="en-HK" sz="1200" i="1" dirty="0" smtClean="0">
                            <a:latin typeface="Cambria Math" panose="02040503050406030204" pitchFamily="18" charset="0"/>
                          </a:rPr>
                        </m:ctrlPr>
                      </m:sSubSupPr>
                      <m:e>
                        <m:r>
                          <a:rPr lang="en-HK" sz="1200" i="1" dirty="0" smtClean="0">
                            <a:latin typeface="Cambria Math" panose="02040503050406030204" pitchFamily="18" charset="0"/>
                          </a:rPr>
                          <m:t>​</m:t>
                        </m:r>
                      </m:e>
                      <m:sub>
                        <m:r>
                          <a:rPr lang="en-HK" sz="1200" i="1" dirty="0" smtClean="0">
                            <a:latin typeface="Cambria Math" panose="02040503050406030204" pitchFamily="18" charset="0"/>
                          </a:rPr>
                          <m:t>𝑖</m:t>
                        </m:r>
                        <m:r>
                          <a:rPr lang="en-HK" sz="1200" i="1" dirty="0" smtClean="0">
                            <a:latin typeface="Cambria Math" panose="02040503050406030204" pitchFamily="18" charset="0"/>
                          </a:rPr>
                          <m:t>,</m:t>
                        </m:r>
                        <m:r>
                          <a:rPr lang="en-HK" sz="1200" i="1" dirty="0" smtClean="0">
                            <a:latin typeface="Cambria Math" panose="02040503050406030204" pitchFamily="18" charset="0"/>
                          </a:rPr>
                          <m:t>𝑗</m:t>
                        </m:r>
                      </m:sub>
                      <m:sup>
                        <m:r>
                          <a:rPr lang="en-HK" sz="1200" i="1" dirty="0" smtClean="0">
                            <a:latin typeface="Cambria Math" panose="02040503050406030204" pitchFamily="18" charset="0"/>
                          </a:rPr>
                          <m:t>​</m:t>
                        </m:r>
                      </m:sup>
                    </m:sSubSup>
                    <m:r>
                      <a:rPr lang="en-HK" sz="1200" i="1" dirty="0" smtClean="0">
                        <a:latin typeface="Cambria Math" panose="02040503050406030204" pitchFamily="18" charset="0"/>
                      </a:rPr>
                      <m:t>=</m:t>
                    </m:r>
                    <m:sSub>
                      <m:sSubPr>
                        <m:ctrlPr>
                          <a:rPr lang="en-HK" sz="1200" i="1" dirty="0" smtClean="0">
                            <a:latin typeface="Cambria Math" panose="02040503050406030204" pitchFamily="18" charset="0"/>
                          </a:rPr>
                        </m:ctrlPr>
                      </m:sSubPr>
                      <m:e>
                        <m:r>
                          <a:rPr lang="en-HK" sz="1200" i="1" dirty="0" smtClean="0">
                            <a:latin typeface="Cambria Math" panose="02040503050406030204" pitchFamily="18" charset="0"/>
                          </a:rPr>
                          <m:t>𝑋</m:t>
                        </m:r>
                      </m:e>
                      <m:sub>
                        <m:r>
                          <a:rPr lang="en-HK" sz="1200" i="1" dirty="0" smtClean="0">
                            <a:latin typeface="Cambria Math" panose="02040503050406030204" pitchFamily="18" charset="0"/>
                          </a:rPr>
                          <m:t>𝑖</m:t>
                        </m:r>
                        <m:r>
                          <a:rPr lang="en-HK" sz="1200" i="1" dirty="0" smtClean="0">
                            <a:latin typeface="Cambria Math" panose="02040503050406030204" pitchFamily="18" charset="0"/>
                          </a:rPr>
                          <m:t>,</m:t>
                        </m:r>
                        <m:r>
                          <a:rPr lang="en-HK" sz="1200" i="1" dirty="0" smtClean="0">
                            <a:latin typeface="Cambria Math" panose="02040503050406030204" pitchFamily="18" charset="0"/>
                          </a:rPr>
                          <m:t>𝑗</m:t>
                        </m:r>
                        <m:r>
                          <a:rPr lang="en-HK" sz="1200" i="1" dirty="0" smtClean="0">
                            <a:latin typeface="Cambria Math" panose="02040503050406030204" pitchFamily="18" charset="0"/>
                          </a:rPr>
                          <m:t>−1</m:t>
                        </m:r>
                      </m:sub>
                    </m:sSub>
                    <m:r>
                      <a:rPr lang="en-HK" sz="1200" i="1" dirty="0" smtClean="0">
                        <a:latin typeface="Cambria Math" panose="02040503050406030204" pitchFamily="18" charset="0"/>
                      </a:rPr>
                      <m:t>⋅</m:t>
                    </m:r>
                    <m:sSup>
                      <m:sSupPr>
                        <m:ctrlPr>
                          <a:rPr lang="en-HK" sz="1200" b="0" i="1" dirty="0" smtClean="0">
                            <a:latin typeface="Cambria Math" panose="02040503050406030204" pitchFamily="18" charset="0"/>
                          </a:rPr>
                        </m:ctrlPr>
                      </m:sSupPr>
                      <m:e>
                        <m:r>
                          <m:rPr>
                            <m:sty m:val="p"/>
                          </m:rPr>
                          <a:rPr lang="en-HK" sz="1200" b="0" i="1" dirty="0" smtClean="0">
                            <a:latin typeface="Cambria Math" panose="02040503050406030204" pitchFamily="18" charset="0"/>
                          </a:rPr>
                          <m:t>e</m:t>
                        </m:r>
                      </m:e>
                      <m:sup>
                        <m:d>
                          <m:dPr>
                            <m:ctrlPr>
                              <a:rPr lang="en-HK" sz="1200" i="1" dirty="0">
                                <a:latin typeface="Cambria Math" panose="02040503050406030204" pitchFamily="18" charset="0"/>
                              </a:rPr>
                            </m:ctrlPr>
                          </m:dPr>
                          <m:e>
                            <m:d>
                              <m:dPr>
                                <m:ctrlPr>
                                  <a:rPr lang="en-HK" sz="1200" i="1" dirty="0">
                                    <a:latin typeface="Cambria Math" panose="02040503050406030204" pitchFamily="18" charset="0"/>
                                  </a:rPr>
                                </m:ctrlPr>
                              </m:dPr>
                              <m:e>
                                <m:sSub>
                                  <m:sSubPr>
                                    <m:ctrlPr>
                                      <a:rPr lang="en-HK" sz="1200" i="1" dirty="0">
                                        <a:latin typeface="Cambria Math" panose="02040503050406030204" pitchFamily="18" charset="0"/>
                                      </a:rPr>
                                    </m:ctrlPr>
                                  </m:sSubPr>
                                  <m:e>
                                    <m:r>
                                      <a:rPr lang="en-HK" sz="1200" i="1" dirty="0">
                                        <a:latin typeface="Cambria Math" panose="02040503050406030204" pitchFamily="18" charset="0"/>
                                      </a:rPr>
                                      <m:t>𝑟</m:t>
                                    </m:r>
                                  </m:e>
                                  <m:sub>
                                    <m:r>
                                      <a:rPr lang="en-HK" sz="1200" i="1" dirty="0">
                                        <a:latin typeface="Cambria Math" panose="02040503050406030204" pitchFamily="18" charset="0"/>
                                      </a:rPr>
                                      <m:t>𝑗</m:t>
                                    </m:r>
                                  </m:sub>
                                </m:sSub>
                                <m:r>
                                  <a:rPr lang="en-HK" sz="1200" i="1" dirty="0">
                                    <a:latin typeface="Cambria Math" panose="02040503050406030204" pitchFamily="18" charset="0"/>
                                  </a:rPr>
                                  <m:t>−</m:t>
                                </m:r>
                                <m:sSub>
                                  <m:sSubPr>
                                    <m:ctrlPr>
                                      <a:rPr lang="en-HK" sz="1200" i="1" dirty="0">
                                        <a:latin typeface="Cambria Math" panose="02040503050406030204" pitchFamily="18" charset="0"/>
                                      </a:rPr>
                                    </m:ctrlPr>
                                  </m:sSubPr>
                                  <m:e>
                                    <m:r>
                                      <a:rPr lang="en-HK" sz="1200" i="1" dirty="0">
                                        <a:latin typeface="Cambria Math" panose="02040503050406030204" pitchFamily="18" charset="0"/>
                                      </a:rPr>
                                      <m:t>𝑞</m:t>
                                    </m:r>
                                  </m:e>
                                  <m:sub>
                                    <m:r>
                                      <a:rPr lang="en-HK" sz="1200" i="1" dirty="0">
                                        <a:latin typeface="Cambria Math" panose="02040503050406030204" pitchFamily="18" charset="0"/>
                                      </a:rPr>
                                      <m:t>𝑖</m:t>
                                    </m:r>
                                    <m:r>
                                      <a:rPr lang="en-HK" sz="1200" i="1" dirty="0">
                                        <a:latin typeface="Cambria Math" panose="02040503050406030204" pitchFamily="18" charset="0"/>
                                      </a:rPr>
                                      <m:t>,</m:t>
                                    </m:r>
                                    <m:r>
                                      <a:rPr lang="en-HK" sz="1200" i="1" dirty="0">
                                        <a:latin typeface="Cambria Math" panose="02040503050406030204" pitchFamily="18" charset="0"/>
                                      </a:rPr>
                                      <m:t>𝑗</m:t>
                                    </m:r>
                                  </m:sub>
                                </m:sSub>
                                <m:r>
                                  <a:rPr lang="en-HK" sz="1200" i="1" dirty="0">
                                    <a:latin typeface="Cambria Math" panose="02040503050406030204" pitchFamily="18" charset="0"/>
                                  </a:rPr>
                                  <m:t>−</m:t>
                                </m:r>
                                <m:f>
                                  <m:fPr>
                                    <m:ctrlPr>
                                      <a:rPr lang="en-HK" sz="1200" i="1" dirty="0">
                                        <a:latin typeface="Cambria Math" panose="02040503050406030204" pitchFamily="18" charset="0"/>
                                      </a:rPr>
                                    </m:ctrlPr>
                                  </m:fPr>
                                  <m:num>
                                    <m:r>
                                      <a:rPr lang="en-HK" sz="1200" i="1" dirty="0">
                                        <a:latin typeface="Cambria Math" panose="02040503050406030204" pitchFamily="18" charset="0"/>
                                      </a:rPr>
                                      <m:t>1</m:t>
                                    </m:r>
                                  </m:num>
                                  <m:den>
                                    <m:r>
                                      <a:rPr lang="en-HK" sz="1200" i="1" dirty="0">
                                        <a:latin typeface="Cambria Math" panose="02040503050406030204" pitchFamily="18" charset="0"/>
                                      </a:rPr>
                                      <m:t>2</m:t>
                                    </m:r>
                                  </m:den>
                                </m:f>
                                <m:r>
                                  <m:rPr>
                                    <m:sty m:val="p"/>
                                  </m:rPr>
                                  <a:rPr lang="en-HK" sz="1200" i="1" dirty="0">
                                    <a:latin typeface="Cambria Math" panose="02040503050406030204" pitchFamily="18" charset="0"/>
                                  </a:rPr>
                                  <m:t>Δ</m:t>
                                </m:r>
                                <m:sSub>
                                  <m:sSubPr>
                                    <m:ctrlPr>
                                      <a:rPr lang="en-HK" sz="1200" i="1" dirty="0">
                                        <a:latin typeface="Cambria Math" panose="02040503050406030204" pitchFamily="18" charset="0"/>
                                      </a:rPr>
                                    </m:ctrlPr>
                                  </m:sSubPr>
                                  <m:e>
                                    <m:r>
                                      <a:rPr lang="en-HK" sz="1200" i="1" dirty="0">
                                        <a:latin typeface="Cambria Math" panose="02040503050406030204" pitchFamily="18" charset="0"/>
                                      </a:rPr>
                                      <m:t>𝑉</m:t>
                                    </m:r>
                                  </m:e>
                                  <m:sub>
                                    <m:r>
                                      <a:rPr lang="en-HK" sz="1200" i="1" dirty="0">
                                        <a:latin typeface="Cambria Math" panose="02040503050406030204" pitchFamily="18" charset="0"/>
                                      </a:rPr>
                                      <m:t>𝑖</m:t>
                                    </m:r>
                                    <m:r>
                                      <a:rPr lang="en-HK" sz="1200" i="1" dirty="0">
                                        <a:latin typeface="Cambria Math" panose="02040503050406030204" pitchFamily="18" charset="0"/>
                                      </a:rPr>
                                      <m:t>,</m:t>
                                    </m:r>
                                    <m:r>
                                      <a:rPr lang="en-HK" sz="1200" i="1" dirty="0">
                                        <a:latin typeface="Cambria Math" panose="02040503050406030204" pitchFamily="18" charset="0"/>
                                      </a:rPr>
                                      <m:t>𝑗</m:t>
                                    </m:r>
                                  </m:sub>
                                </m:sSub>
                              </m:e>
                            </m:d>
                            <m:r>
                              <a:rPr lang="en-HK" sz="1200" i="1" dirty="0">
                                <a:latin typeface="Cambria Math" panose="02040503050406030204" pitchFamily="18" charset="0"/>
                              </a:rPr>
                              <m:t>+</m:t>
                            </m:r>
                            <m:rad>
                              <m:radPr>
                                <m:degHide m:val="on"/>
                                <m:ctrlPr>
                                  <a:rPr lang="en-HK" sz="1200" i="1" dirty="0">
                                    <a:latin typeface="Cambria Math" panose="02040503050406030204" pitchFamily="18" charset="0"/>
                                  </a:rPr>
                                </m:ctrlPr>
                              </m:radPr>
                              <m:deg/>
                              <m:e>
                                <m:r>
                                  <m:rPr>
                                    <m:sty m:val="p"/>
                                  </m:rPr>
                                  <a:rPr lang="en-HK" sz="1200" i="1" dirty="0">
                                    <a:latin typeface="Cambria Math" panose="02040503050406030204" pitchFamily="18" charset="0"/>
                                  </a:rPr>
                                  <m:t>Δ</m:t>
                                </m:r>
                                <m:sSub>
                                  <m:sSubPr>
                                    <m:ctrlPr>
                                      <a:rPr lang="en-HK" sz="1200" i="1" dirty="0">
                                        <a:latin typeface="Cambria Math" panose="02040503050406030204" pitchFamily="18" charset="0"/>
                                      </a:rPr>
                                    </m:ctrlPr>
                                  </m:sSubPr>
                                  <m:e>
                                    <m:r>
                                      <a:rPr lang="en-HK" sz="1200" i="1" dirty="0">
                                        <a:latin typeface="Cambria Math" panose="02040503050406030204" pitchFamily="18" charset="0"/>
                                      </a:rPr>
                                      <m:t>𝑉</m:t>
                                    </m:r>
                                  </m:e>
                                  <m:sub>
                                    <m:r>
                                      <a:rPr lang="en-HK" sz="1200" i="1" dirty="0">
                                        <a:latin typeface="Cambria Math" panose="02040503050406030204" pitchFamily="18" charset="0"/>
                                      </a:rPr>
                                      <m:t>𝑖</m:t>
                                    </m:r>
                                    <m:r>
                                      <a:rPr lang="en-HK" sz="1200" i="1" dirty="0">
                                        <a:latin typeface="Cambria Math" panose="02040503050406030204" pitchFamily="18" charset="0"/>
                                      </a:rPr>
                                      <m:t>,</m:t>
                                    </m:r>
                                    <m:r>
                                      <a:rPr lang="en-HK" sz="1200" i="1" dirty="0">
                                        <a:latin typeface="Cambria Math" panose="02040503050406030204" pitchFamily="18" charset="0"/>
                                      </a:rPr>
                                      <m:t>𝑗</m:t>
                                    </m:r>
                                  </m:sub>
                                </m:sSub>
                              </m:e>
                            </m:rad>
                            <m:r>
                              <a:rPr lang="en-HK" sz="1200" i="1" dirty="0">
                                <a:latin typeface="Cambria Math" panose="02040503050406030204" pitchFamily="18" charset="0"/>
                              </a:rPr>
                              <m:t>⋅</m:t>
                            </m:r>
                            <m:sSub>
                              <m:sSubPr>
                                <m:ctrlPr>
                                  <a:rPr lang="en-HK" sz="1200" i="1" dirty="0">
                                    <a:latin typeface="Cambria Math" panose="02040503050406030204" pitchFamily="18" charset="0"/>
                                  </a:rPr>
                                </m:ctrlPr>
                              </m:sSubPr>
                              <m:e>
                                <m:r>
                                  <a:rPr lang="en-HK" sz="1200" i="1" dirty="0">
                                    <a:latin typeface="Cambria Math" panose="02040503050406030204" pitchFamily="18" charset="0"/>
                                  </a:rPr>
                                  <m:t>𝑍</m:t>
                                </m:r>
                              </m:e>
                              <m:sub>
                                <m:r>
                                  <a:rPr lang="en-HK" sz="1200" i="1" dirty="0">
                                    <a:latin typeface="Cambria Math" panose="02040503050406030204" pitchFamily="18" charset="0"/>
                                  </a:rPr>
                                  <m:t>𝑖</m:t>
                                </m:r>
                                <m:r>
                                  <a:rPr lang="en-HK" sz="1200" i="1" dirty="0">
                                    <a:latin typeface="Cambria Math" panose="02040503050406030204" pitchFamily="18" charset="0"/>
                                  </a:rPr>
                                  <m:t>,</m:t>
                                </m:r>
                                <m:r>
                                  <a:rPr lang="en-HK" sz="1200" i="1" dirty="0">
                                    <a:latin typeface="Cambria Math" panose="02040503050406030204" pitchFamily="18" charset="0"/>
                                  </a:rPr>
                                  <m:t>𝑗</m:t>
                                </m:r>
                              </m:sub>
                            </m:sSub>
                          </m:e>
                        </m:d>
                      </m:sup>
                    </m:sSup>
                    <m:r>
                      <a:rPr lang="en-HK" sz="1200" b="0" i="1" dirty="0" smtClean="0">
                        <a:latin typeface="Cambria Math" panose="02040503050406030204" pitchFamily="18" charset="0"/>
                      </a:rPr>
                      <m:t>     </m:t>
                    </m:r>
                    <m:r>
                      <a:rPr lang="en-HK" sz="1200" i="1" dirty="0" smtClean="0">
                        <a:latin typeface="Cambria Math" panose="02040503050406030204" pitchFamily="18" charset="0"/>
                      </a:rPr>
                      <m:t> </m:t>
                    </m:r>
                  </m:oMath>
                </a14:m>
                <a:r>
                  <a:rPr lang="en-US" sz="1200">
                    <a:solidFill>
                      <a:srgbClr val="262626"/>
                    </a:solidFill>
                    <a:latin typeface="Cambria Math" pitchFamily="34" charset="0"/>
                    <a:ea typeface="Cambria Math" pitchFamily="34" charset="-122"/>
                    <a:cs typeface="Cambria Math" pitchFamily="34" charset="-120"/>
                  </a:rPr>
                  <a:t>(3)</a:t>
                </a:r>
                <a:endParaRPr lang="en-US" sz="1200"/>
              </a:p>
            </p:txBody>
          </p:sp>
        </mc:Choice>
        <mc:Fallback>
          <p:sp>
            <p:nvSpPr>
              <p:cNvPr id="20" name="Text 18"/>
              <p:cNvSpPr txBox="1">
                <a:spLocks noRot="1" noChangeAspect="1" noMove="1" noResize="1" noEditPoints="1" noAdjustHandles="1" noChangeArrowheads="1" noChangeShapeType="1" noTextEdit="1"/>
              </p:cNvSpPr>
              <p:nvPr/>
            </p:nvSpPr>
            <p:spPr>
              <a:xfrm>
                <a:off x="4206240" y="2176272"/>
                <a:ext cx="3657600" cy="347472"/>
              </a:xfrm>
              <a:prstGeom prst="rect">
                <a:avLst/>
              </a:prstGeom>
              <a:blipFill>
                <a:blip r:embed="rId4"/>
                <a:stretch>
                  <a:fillRect l="-2422" b="-14286"/>
                </a:stretch>
              </a:blipFill>
              <a:ln/>
            </p:spPr>
            <p:txBody>
              <a:bodyPr/>
              <a:lstStyle/>
              <a:p>
                <a:r>
                  <a:rPr lang="en-US">
                    <a:noFill/>
                  </a:rPr>
                  <a:t> </a:t>
                </a:r>
              </a:p>
            </p:txBody>
          </p:sp>
        </mc:Fallback>
      </mc:AlternateContent>
      <p:sp>
        <p:nvSpPr>
          <p:cNvPr id="21" name="Text 19"/>
          <p:cNvSpPr txBox="1"/>
          <p:nvPr/>
        </p:nvSpPr>
        <p:spPr>
          <a:xfrm>
            <a:off x="4206240" y="2523744"/>
            <a:ext cx="3520440" cy="320040"/>
          </a:xfrm>
          <a:prstGeom prst="rect">
            <a:avLst/>
          </a:prstGeom>
          <a:noFill/>
          <a:ln/>
        </p:spPr>
        <p:txBody>
          <a:bodyPr wrap="square" lIns="0" tIns="0" rIns="0" bIns="0" rtlCol="0" anchor="ctr"/>
          <a:lstStyle/>
          <a:p>
            <a:pPr marL="0" indent="0">
              <a:buNone/>
            </a:pPr>
            <a:r>
              <a:rPr lang="en-US" sz="1200">
                <a:solidFill>
                  <a:srgbClr val="262626"/>
                </a:solidFill>
                <a:latin typeface="Arial"/>
                <a:ea typeface="Cambria Math" pitchFamily="34" charset="-122"/>
                <a:cs typeface="Arial"/>
              </a:rPr>
              <a:t>Z = ε · L</a:t>
            </a:r>
            <a:r>
              <a:rPr lang="en-US" sz="1200" baseline="30000">
                <a:solidFill>
                  <a:srgbClr val="262626"/>
                </a:solidFill>
                <a:latin typeface="Arial"/>
                <a:ea typeface="Cambria Math" pitchFamily="34" charset="-122"/>
                <a:cs typeface="Arial"/>
              </a:rPr>
              <a:t>T</a:t>
            </a:r>
            <a:r>
              <a:rPr lang="en-US" sz="1200">
                <a:solidFill>
                  <a:srgbClr val="262626"/>
                </a:solidFill>
                <a:latin typeface="Arial"/>
                <a:ea typeface="Cambria Math" pitchFamily="34" charset="-122"/>
                <a:cs typeface="Arial"/>
              </a:rPr>
              <a:t>,   ρ = L · L</a:t>
            </a:r>
            <a:r>
              <a:rPr lang="en-US" sz="1200" baseline="30000">
                <a:solidFill>
                  <a:srgbClr val="262626"/>
                </a:solidFill>
                <a:latin typeface="Arial"/>
                <a:ea typeface="Cambria Math" pitchFamily="34" charset="-122"/>
                <a:cs typeface="Arial"/>
              </a:rPr>
              <a:t>T</a:t>
            </a:r>
            <a:r>
              <a:rPr lang="en-US" sz="1200">
                <a:solidFill>
                  <a:srgbClr val="262626"/>
                </a:solidFill>
                <a:latin typeface="Arial"/>
                <a:ea typeface="Cambria Math" pitchFamily="34" charset="-122"/>
                <a:cs typeface="Arial"/>
              </a:rPr>
              <a:t>     (4)</a:t>
            </a:r>
            <a:endParaRPr lang="en-US" sz="1200">
              <a:latin typeface="Arial"/>
              <a:cs typeface="Arial"/>
            </a:endParaRPr>
          </a:p>
        </p:txBody>
      </p:sp>
      <p:sp>
        <p:nvSpPr>
          <p:cNvPr id="22" name="Shape 20"/>
          <p:cNvSpPr/>
          <p:nvPr/>
        </p:nvSpPr>
        <p:spPr>
          <a:xfrm>
            <a:off x="457200" y="2971800"/>
            <a:ext cx="7315200" cy="749808"/>
          </a:xfrm>
          <a:prstGeom prst="rect">
            <a:avLst/>
          </a:prstGeom>
          <a:solidFill>
            <a:srgbClr val="F2F2F2"/>
          </a:solidFill>
          <a:ln w="12700">
            <a:solidFill>
              <a:srgbClr val="F2F2F2"/>
            </a:solidFill>
            <a:prstDash val="solid"/>
          </a:ln>
        </p:spPr>
        <p:txBody>
          <a:bodyPr/>
          <a:lstStyle/>
          <a:p>
            <a:endParaRPr lang="en-HK"/>
          </a:p>
        </p:txBody>
      </p:sp>
      <p:sp>
        <p:nvSpPr>
          <p:cNvPr id="23" name="Shape 21"/>
          <p:cNvSpPr/>
          <p:nvPr/>
        </p:nvSpPr>
        <p:spPr>
          <a:xfrm>
            <a:off x="548640" y="3145536"/>
            <a:ext cx="402336" cy="402336"/>
          </a:xfrm>
          <a:prstGeom prst="ellipse">
            <a:avLst/>
          </a:prstGeom>
          <a:solidFill>
            <a:srgbClr val="2C5F82"/>
          </a:solidFill>
          <a:ln w="12700">
            <a:solidFill>
              <a:srgbClr val="2C5F82"/>
            </a:solidFill>
            <a:prstDash val="solid"/>
          </a:ln>
        </p:spPr>
        <p:txBody>
          <a:bodyPr/>
          <a:lstStyle/>
          <a:p>
            <a:endParaRPr lang="en-HK"/>
          </a:p>
        </p:txBody>
      </p:sp>
      <p:sp>
        <p:nvSpPr>
          <p:cNvPr id="24" name="Text 22"/>
          <p:cNvSpPr txBox="1"/>
          <p:nvPr/>
        </p:nvSpPr>
        <p:spPr>
          <a:xfrm>
            <a:off x="548640" y="3145536"/>
            <a:ext cx="402336" cy="402336"/>
          </a:xfrm>
          <a:prstGeom prst="rect">
            <a:avLst/>
          </a:prstGeom>
          <a:noFill/>
          <a:ln/>
        </p:spPr>
        <p:txBody>
          <a:bodyPr wrap="square" lIns="0" tIns="0" rIns="0" bIns="0" rtlCol="0" anchor="ctr"/>
          <a:lstStyle/>
          <a:p>
            <a:pPr marL="0" indent="0" algn="ctr">
              <a:buNone/>
            </a:pPr>
            <a:r>
              <a:rPr lang="en-US" sz="1300" b="1">
                <a:solidFill>
                  <a:srgbClr val="FFFFFF"/>
                </a:solidFill>
                <a:latin typeface="Arial"/>
                <a:ea typeface="Arial" pitchFamily="34" charset="-122"/>
                <a:cs typeface="Arial"/>
              </a:rPr>
              <a:t>C</a:t>
            </a:r>
            <a:endParaRPr lang="en-US" sz="1300">
              <a:latin typeface="Arial"/>
              <a:cs typeface="Arial"/>
            </a:endParaRPr>
          </a:p>
        </p:txBody>
      </p:sp>
      <p:sp>
        <p:nvSpPr>
          <p:cNvPr id="25" name="Text 23"/>
          <p:cNvSpPr txBox="1"/>
          <p:nvPr/>
        </p:nvSpPr>
        <p:spPr>
          <a:xfrm>
            <a:off x="1051560" y="3017520"/>
            <a:ext cx="3063240" cy="658368"/>
          </a:xfrm>
          <a:prstGeom prst="rect">
            <a:avLst/>
          </a:prstGeom>
          <a:noFill/>
          <a:ln/>
        </p:spPr>
        <p:txBody>
          <a:bodyPr wrap="square" lIns="0" tIns="0" rIns="0" bIns="0" rtlCol="0" anchor="ctr"/>
          <a:lstStyle/>
          <a:p>
            <a:pPr marL="0" indent="0">
              <a:buNone/>
            </a:pPr>
            <a:r>
              <a:rPr lang="en-US" sz="1000" b="1">
                <a:solidFill>
                  <a:srgbClr val="262626"/>
                </a:solidFill>
                <a:latin typeface="Arial"/>
                <a:ea typeface="Arial" pitchFamily="34" charset="-122"/>
                <a:cs typeface="Arial"/>
              </a:rPr>
              <a:t>Basket &amp; autocall trigger</a:t>
            </a:r>
            <a:endParaRPr lang="en-US" sz="1000">
              <a:latin typeface="Arial"/>
              <a:cs typeface="Arial"/>
            </a:endParaRPr>
          </a:p>
          <a:p>
            <a:pPr marL="0" indent="0">
              <a:buNone/>
            </a:pPr>
            <a:r>
              <a:rPr lang="en-US" sz="850">
                <a:solidFill>
                  <a:srgbClr val="595959"/>
                </a:solidFill>
                <a:latin typeface="Arial"/>
                <a:ea typeface="Arial" pitchFamily="34" charset="-122"/>
                <a:cs typeface="Arial"/>
              </a:rPr>
              <a:t>The basket is the weighted sum of normalised ETF prices; the note ends at the first year it reaches that year's barrier</a:t>
            </a:r>
            <a:endParaRPr lang="en-US" sz="1000">
              <a:latin typeface="Arial"/>
              <a:cs typeface="Arial"/>
            </a:endParaRPr>
          </a:p>
        </p:txBody>
      </p:sp>
      <p:sp>
        <p:nvSpPr>
          <p:cNvPr id="26" name="Text 24"/>
          <p:cNvSpPr txBox="1"/>
          <p:nvPr/>
        </p:nvSpPr>
        <p:spPr>
          <a:xfrm>
            <a:off x="4206240" y="3026664"/>
            <a:ext cx="3520440" cy="320040"/>
          </a:xfrm>
          <a:prstGeom prst="rect">
            <a:avLst/>
          </a:prstGeom>
          <a:noFill/>
          <a:ln/>
        </p:spPr>
        <p:txBody>
          <a:bodyPr wrap="square" lIns="0" tIns="0" rIns="0" bIns="0" rtlCol="0" anchor="ctr"/>
          <a:lstStyle/>
          <a:p>
            <a:pPr marL="0" indent="0">
              <a:buNone/>
            </a:pPr>
            <a:r>
              <a:rPr lang="en-US" sz="1200">
                <a:solidFill>
                  <a:srgbClr val="262626"/>
                </a:solidFill>
                <a:latin typeface="Arial"/>
                <a:ea typeface="Cambria Math" pitchFamily="34" charset="-122"/>
                <a:cs typeface="Arial"/>
              </a:rPr>
              <a:t>B</a:t>
            </a:r>
            <a:r>
              <a:rPr lang="en-US" sz="1200" baseline="-40000">
                <a:solidFill>
                  <a:srgbClr val="262626"/>
                </a:solidFill>
                <a:latin typeface="Arial"/>
                <a:ea typeface="Cambria Math" pitchFamily="34" charset="-122"/>
                <a:cs typeface="Arial"/>
              </a:rPr>
              <a:t>j</a:t>
            </a:r>
            <a:r>
              <a:rPr lang="en-US" sz="1200">
                <a:solidFill>
                  <a:srgbClr val="262626"/>
                </a:solidFill>
                <a:latin typeface="Arial"/>
                <a:ea typeface="Cambria Math" pitchFamily="34" charset="-122"/>
                <a:cs typeface="Arial"/>
              </a:rPr>
              <a:t> = Σ</a:t>
            </a:r>
            <a:r>
              <a:rPr lang="en-US" sz="1200" baseline="-40000">
                <a:solidFill>
                  <a:srgbClr val="262626"/>
                </a:solidFill>
                <a:latin typeface="Arial"/>
                <a:ea typeface="Cambria Math" pitchFamily="34" charset="-122"/>
                <a:cs typeface="Arial"/>
              </a:rPr>
              <a:t>i=1..5</a:t>
            </a:r>
            <a:r>
              <a:rPr lang="en-US" sz="1200">
                <a:solidFill>
                  <a:srgbClr val="262626"/>
                </a:solidFill>
                <a:latin typeface="Arial"/>
                <a:ea typeface="Cambria Math" pitchFamily="34" charset="-122"/>
                <a:cs typeface="Arial"/>
              </a:rPr>
              <a:t> w</a:t>
            </a:r>
            <a:r>
              <a:rPr lang="en-US" sz="1200" baseline="-40000">
                <a:solidFill>
                  <a:srgbClr val="262626"/>
                </a:solidFill>
                <a:latin typeface="Arial"/>
                <a:ea typeface="Cambria Math" pitchFamily="34" charset="-122"/>
                <a:cs typeface="Arial"/>
              </a:rPr>
              <a:t>i</a:t>
            </a:r>
            <a:r>
              <a:rPr lang="en-US" sz="1200">
                <a:solidFill>
                  <a:srgbClr val="262626"/>
                </a:solidFill>
                <a:latin typeface="Arial"/>
                <a:ea typeface="Cambria Math" pitchFamily="34" charset="-122"/>
                <a:cs typeface="Arial"/>
              </a:rPr>
              <a:t> X</a:t>
            </a:r>
            <a:r>
              <a:rPr lang="en-US" sz="1200" baseline="-40000">
                <a:solidFill>
                  <a:srgbClr val="262626"/>
                </a:solidFill>
                <a:latin typeface="Arial"/>
                <a:ea typeface="Cambria Math" pitchFamily="34" charset="-122"/>
                <a:cs typeface="Arial"/>
              </a:rPr>
              <a:t>i,j</a:t>
            </a:r>
            <a:r>
              <a:rPr lang="en-US" sz="1200">
                <a:solidFill>
                  <a:srgbClr val="262626"/>
                </a:solidFill>
                <a:latin typeface="Arial"/>
                <a:ea typeface="Cambria Math" pitchFamily="34" charset="-122"/>
                <a:cs typeface="Arial"/>
              </a:rPr>
              <a:t>     (5)</a:t>
            </a:r>
            <a:endParaRPr lang="en-US" sz="1200">
              <a:latin typeface="Arial"/>
              <a:cs typeface="Arial"/>
            </a:endParaRPr>
          </a:p>
        </p:txBody>
      </p:sp>
      <p:sp>
        <p:nvSpPr>
          <p:cNvPr id="27" name="Text 25"/>
          <p:cNvSpPr txBox="1"/>
          <p:nvPr/>
        </p:nvSpPr>
        <p:spPr>
          <a:xfrm>
            <a:off x="4206240" y="3346704"/>
            <a:ext cx="3520440" cy="320040"/>
          </a:xfrm>
          <a:prstGeom prst="rect">
            <a:avLst/>
          </a:prstGeom>
          <a:noFill/>
          <a:ln/>
        </p:spPr>
        <p:txBody>
          <a:bodyPr wrap="square" lIns="0" tIns="0" rIns="0" bIns="0" rtlCol="0" anchor="ctr"/>
          <a:lstStyle/>
          <a:p>
            <a:pPr marL="0" indent="0">
              <a:buNone/>
            </a:pPr>
            <a:r>
              <a:rPr lang="en-US" sz="1200">
                <a:solidFill>
                  <a:srgbClr val="262626"/>
                </a:solidFill>
                <a:latin typeface="Arial"/>
                <a:ea typeface="Cambria Math" pitchFamily="34" charset="-122"/>
                <a:cs typeface="Arial"/>
              </a:rPr>
              <a:t>call at first k with  B</a:t>
            </a:r>
            <a:r>
              <a:rPr lang="en-US" sz="1200" baseline="-40000">
                <a:solidFill>
                  <a:srgbClr val="262626"/>
                </a:solidFill>
                <a:latin typeface="Arial"/>
                <a:ea typeface="Cambria Math" pitchFamily="34" charset="-122"/>
                <a:cs typeface="Arial"/>
              </a:rPr>
              <a:t>k</a:t>
            </a:r>
            <a:r>
              <a:rPr lang="en-US" sz="1200">
                <a:solidFill>
                  <a:srgbClr val="262626"/>
                </a:solidFill>
                <a:latin typeface="Arial"/>
                <a:ea typeface="Cambria Math" pitchFamily="34" charset="-122"/>
                <a:cs typeface="Arial"/>
              </a:rPr>
              <a:t> ≥ H</a:t>
            </a:r>
            <a:r>
              <a:rPr lang="en-US" sz="1200" baseline="-40000">
                <a:solidFill>
                  <a:srgbClr val="262626"/>
                </a:solidFill>
                <a:latin typeface="Arial"/>
                <a:ea typeface="Cambria Math" pitchFamily="34" charset="-122"/>
                <a:cs typeface="Arial"/>
              </a:rPr>
              <a:t>k</a:t>
            </a:r>
            <a:r>
              <a:rPr lang="en-US" sz="1200">
                <a:solidFill>
                  <a:srgbClr val="262626"/>
                </a:solidFill>
                <a:latin typeface="Arial"/>
                <a:ea typeface="Cambria Math" pitchFamily="34" charset="-122"/>
                <a:cs typeface="Arial"/>
              </a:rPr>
              <a:t>     (6)</a:t>
            </a:r>
            <a:endParaRPr lang="en-US" sz="1200">
              <a:latin typeface="Arial"/>
              <a:cs typeface="Arial"/>
            </a:endParaRPr>
          </a:p>
        </p:txBody>
      </p:sp>
      <p:sp>
        <p:nvSpPr>
          <p:cNvPr id="28" name="Shape 26"/>
          <p:cNvSpPr/>
          <p:nvPr/>
        </p:nvSpPr>
        <p:spPr>
          <a:xfrm>
            <a:off x="457200" y="3794760"/>
            <a:ext cx="7315200" cy="749808"/>
          </a:xfrm>
          <a:prstGeom prst="rect">
            <a:avLst/>
          </a:prstGeom>
          <a:solidFill>
            <a:srgbClr val="FFFFFF"/>
          </a:solidFill>
          <a:ln w="12700">
            <a:solidFill>
              <a:srgbClr val="F2F2F2"/>
            </a:solidFill>
            <a:prstDash val="solid"/>
          </a:ln>
        </p:spPr>
        <p:txBody>
          <a:bodyPr/>
          <a:lstStyle/>
          <a:p>
            <a:endParaRPr lang="en-HK"/>
          </a:p>
        </p:txBody>
      </p:sp>
      <p:sp>
        <p:nvSpPr>
          <p:cNvPr id="29" name="Shape 27"/>
          <p:cNvSpPr/>
          <p:nvPr/>
        </p:nvSpPr>
        <p:spPr>
          <a:xfrm>
            <a:off x="548640" y="3968496"/>
            <a:ext cx="402336" cy="402336"/>
          </a:xfrm>
          <a:prstGeom prst="ellipse">
            <a:avLst/>
          </a:prstGeom>
          <a:solidFill>
            <a:srgbClr val="2C5F82"/>
          </a:solidFill>
          <a:ln w="12700">
            <a:solidFill>
              <a:srgbClr val="2C5F82"/>
            </a:solidFill>
            <a:prstDash val="solid"/>
          </a:ln>
        </p:spPr>
        <p:txBody>
          <a:bodyPr/>
          <a:lstStyle/>
          <a:p>
            <a:endParaRPr lang="en-HK"/>
          </a:p>
        </p:txBody>
      </p:sp>
      <p:sp>
        <p:nvSpPr>
          <p:cNvPr id="30" name="Text 28"/>
          <p:cNvSpPr txBox="1"/>
          <p:nvPr/>
        </p:nvSpPr>
        <p:spPr>
          <a:xfrm>
            <a:off x="548640" y="3968496"/>
            <a:ext cx="402336" cy="402336"/>
          </a:xfrm>
          <a:prstGeom prst="rect">
            <a:avLst/>
          </a:prstGeom>
          <a:noFill/>
          <a:ln/>
        </p:spPr>
        <p:txBody>
          <a:bodyPr wrap="square" lIns="0" tIns="0" rIns="0" bIns="0" rtlCol="0" anchor="ctr"/>
          <a:lstStyle/>
          <a:p>
            <a:pPr marL="0" indent="0" algn="ctr">
              <a:buNone/>
            </a:pPr>
            <a:r>
              <a:rPr lang="en-US" sz="1300" b="1">
                <a:solidFill>
                  <a:srgbClr val="FFFFFF"/>
                </a:solidFill>
                <a:latin typeface="Arial"/>
                <a:ea typeface="Arial" pitchFamily="34" charset="-122"/>
                <a:cs typeface="Arial"/>
              </a:rPr>
              <a:t>D</a:t>
            </a:r>
            <a:endParaRPr lang="en-US" sz="1300">
              <a:latin typeface="Arial"/>
              <a:cs typeface="Arial"/>
            </a:endParaRPr>
          </a:p>
        </p:txBody>
      </p:sp>
      <p:sp>
        <p:nvSpPr>
          <p:cNvPr id="31" name="Text 29"/>
          <p:cNvSpPr txBox="1"/>
          <p:nvPr/>
        </p:nvSpPr>
        <p:spPr>
          <a:xfrm>
            <a:off x="1051560" y="3840480"/>
            <a:ext cx="3063240" cy="658368"/>
          </a:xfrm>
          <a:prstGeom prst="rect">
            <a:avLst/>
          </a:prstGeom>
          <a:noFill/>
          <a:ln/>
        </p:spPr>
        <p:txBody>
          <a:bodyPr wrap="square" lIns="0" tIns="0" rIns="0" bIns="0" rtlCol="0" anchor="ctr"/>
          <a:lstStyle/>
          <a:p>
            <a:pPr marL="0" indent="0">
              <a:buNone/>
            </a:pPr>
            <a:r>
              <a:rPr lang="en-US" sz="1000" b="1">
                <a:solidFill>
                  <a:srgbClr val="262626"/>
                </a:solidFill>
                <a:latin typeface="Arial"/>
                <a:ea typeface="Arial" pitchFamily="34" charset="-122"/>
                <a:cs typeface="Arial"/>
              </a:rPr>
              <a:t>Maturity payout (never called)</a:t>
            </a:r>
            <a:endParaRPr lang="en-US" sz="1000">
              <a:latin typeface="Arial"/>
              <a:cs typeface="Arial"/>
            </a:endParaRPr>
          </a:p>
          <a:p>
            <a:pPr marL="0" indent="0">
              <a:buNone/>
            </a:pPr>
            <a:r>
              <a:rPr lang="en-US" sz="850">
                <a:solidFill>
                  <a:srgbClr val="595959"/>
                </a:solidFill>
                <a:latin typeface="Arial"/>
                <a:ea typeface="Arial" pitchFamily="34" charset="-122"/>
                <a:cs typeface="Arial"/>
              </a:rPr>
              <a:t>A 70% barrier observed only at Year 5</a:t>
            </a:r>
            <a:endParaRPr lang="en-US" sz="1000">
              <a:latin typeface="Arial"/>
              <a:cs typeface="Arial"/>
            </a:endParaRPr>
          </a:p>
        </p:txBody>
      </p:sp>
      <p:sp>
        <p:nvSpPr>
          <p:cNvPr id="32" name="Text 30"/>
          <p:cNvSpPr txBox="1"/>
          <p:nvPr/>
        </p:nvSpPr>
        <p:spPr>
          <a:xfrm>
            <a:off x="4206240" y="3849624"/>
            <a:ext cx="3520440" cy="640080"/>
          </a:xfrm>
          <a:prstGeom prst="rect">
            <a:avLst/>
          </a:prstGeom>
          <a:noFill/>
          <a:ln/>
        </p:spPr>
        <p:txBody>
          <a:bodyPr wrap="square" lIns="0" tIns="0" rIns="0" bIns="0" rtlCol="0" anchor="ctr"/>
          <a:lstStyle/>
          <a:p>
            <a:pPr marL="0" indent="0">
              <a:buNone/>
            </a:pPr>
            <a:r>
              <a:rPr lang="en-US" sz="1200">
                <a:solidFill>
                  <a:srgbClr val="262626"/>
                </a:solidFill>
                <a:latin typeface="Arial"/>
                <a:ea typeface="Cambria Math" pitchFamily="34" charset="-122"/>
                <a:cs typeface="Arial"/>
              </a:rPr>
              <a:t>R</a:t>
            </a:r>
            <a:r>
              <a:rPr lang="en-US" sz="1200" baseline="-40000">
                <a:solidFill>
                  <a:srgbClr val="262626"/>
                </a:solidFill>
                <a:latin typeface="Arial"/>
                <a:ea typeface="Cambria Math" pitchFamily="34" charset="-122"/>
                <a:cs typeface="Arial"/>
              </a:rPr>
              <a:t>5</a:t>
            </a:r>
            <a:r>
              <a:rPr lang="en-US" sz="1200">
                <a:solidFill>
                  <a:srgbClr val="262626"/>
                </a:solidFill>
                <a:latin typeface="Arial"/>
                <a:ea typeface="Cambria Math" pitchFamily="34" charset="-122"/>
                <a:cs typeface="Arial"/>
              </a:rPr>
              <a:t> = 1.0  if B</a:t>
            </a:r>
            <a:r>
              <a:rPr lang="en-US" sz="1200" baseline="-40000">
                <a:solidFill>
                  <a:srgbClr val="262626"/>
                </a:solidFill>
                <a:latin typeface="Arial"/>
                <a:ea typeface="Cambria Math" pitchFamily="34" charset="-122"/>
                <a:cs typeface="Arial"/>
              </a:rPr>
              <a:t>5</a:t>
            </a:r>
            <a:r>
              <a:rPr lang="en-US" sz="1200">
                <a:solidFill>
                  <a:srgbClr val="262626"/>
                </a:solidFill>
                <a:latin typeface="Arial"/>
                <a:ea typeface="Cambria Math" pitchFamily="34" charset="-122"/>
                <a:cs typeface="Arial"/>
              </a:rPr>
              <a:t> ≥ 0.70;   R</a:t>
            </a:r>
            <a:r>
              <a:rPr lang="en-US" sz="1200" baseline="-40000">
                <a:solidFill>
                  <a:srgbClr val="262626"/>
                </a:solidFill>
                <a:latin typeface="Arial"/>
                <a:ea typeface="Cambria Math" pitchFamily="34" charset="-122"/>
                <a:cs typeface="Arial"/>
              </a:rPr>
              <a:t>5</a:t>
            </a:r>
            <a:r>
              <a:rPr lang="en-US" sz="1200">
                <a:solidFill>
                  <a:srgbClr val="262626"/>
                </a:solidFill>
                <a:latin typeface="Arial"/>
                <a:ea typeface="Cambria Math" pitchFamily="34" charset="-122"/>
                <a:cs typeface="Arial"/>
              </a:rPr>
              <a:t> = B</a:t>
            </a:r>
            <a:r>
              <a:rPr lang="en-US" sz="1200" baseline="-40000">
                <a:solidFill>
                  <a:srgbClr val="262626"/>
                </a:solidFill>
                <a:latin typeface="Arial"/>
                <a:ea typeface="Cambria Math" pitchFamily="34" charset="-122"/>
                <a:cs typeface="Arial"/>
              </a:rPr>
              <a:t>5</a:t>
            </a:r>
            <a:r>
              <a:rPr lang="en-US" sz="1200">
                <a:solidFill>
                  <a:srgbClr val="262626"/>
                </a:solidFill>
                <a:latin typeface="Arial"/>
                <a:ea typeface="Cambria Math" pitchFamily="34" charset="-122"/>
                <a:cs typeface="Arial"/>
              </a:rPr>
              <a:t>  if B</a:t>
            </a:r>
            <a:r>
              <a:rPr lang="en-US" sz="1200" baseline="-40000">
                <a:solidFill>
                  <a:srgbClr val="262626"/>
                </a:solidFill>
                <a:latin typeface="Arial"/>
                <a:ea typeface="Cambria Math" pitchFamily="34" charset="-122"/>
                <a:cs typeface="Arial"/>
              </a:rPr>
              <a:t>5</a:t>
            </a:r>
            <a:r>
              <a:rPr lang="en-US" sz="1200">
                <a:solidFill>
                  <a:srgbClr val="262626"/>
                </a:solidFill>
                <a:latin typeface="Arial"/>
                <a:ea typeface="Cambria Math" pitchFamily="34" charset="-122"/>
                <a:cs typeface="Arial"/>
              </a:rPr>
              <a:t> &lt; 0.70     (7)</a:t>
            </a:r>
            <a:endParaRPr lang="en-US" sz="1200">
              <a:latin typeface="Arial"/>
              <a:cs typeface="Arial"/>
            </a:endParaRPr>
          </a:p>
        </p:txBody>
      </p:sp>
      <p:sp>
        <p:nvSpPr>
          <p:cNvPr id="33" name="Shape 31"/>
          <p:cNvSpPr/>
          <p:nvPr/>
        </p:nvSpPr>
        <p:spPr>
          <a:xfrm>
            <a:off x="457200" y="4617720"/>
            <a:ext cx="7315200" cy="749808"/>
          </a:xfrm>
          <a:prstGeom prst="rect">
            <a:avLst/>
          </a:prstGeom>
          <a:solidFill>
            <a:srgbClr val="F2F2F2"/>
          </a:solidFill>
          <a:ln w="12700">
            <a:solidFill>
              <a:srgbClr val="F2F2F2"/>
            </a:solidFill>
            <a:prstDash val="solid"/>
          </a:ln>
        </p:spPr>
        <p:txBody>
          <a:bodyPr/>
          <a:lstStyle/>
          <a:p>
            <a:endParaRPr lang="en-HK"/>
          </a:p>
        </p:txBody>
      </p:sp>
      <p:sp>
        <p:nvSpPr>
          <p:cNvPr id="34" name="Shape 32"/>
          <p:cNvSpPr/>
          <p:nvPr/>
        </p:nvSpPr>
        <p:spPr>
          <a:xfrm>
            <a:off x="548640" y="4791456"/>
            <a:ext cx="402336" cy="402336"/>
          </a:xfrm>
          <a:prstGeom prst="ellipse">
            <a:avLst/>
          </a:prstGeom>
          <a:solidFill>
            <a:srgbClr val="2C5F82"/>
          </a:solidFill>
          <a:ln w="12700">
            <a:solidFill>
              <a:srgbClr val="2C5F82"/>
            </a:solidFill>
            <a:prstDash val="solid"/>
          </a:ln>
        </p:spPr>
        <p:txBody>
          <a:bodyPr/>
          <a:lstStyle/>
          <a:p>
            <a:endParaRPr lang="en-HK"/>
          </a:p>
        </p:txBody>
      </p:sp>
      <p:sp>
        <p:nvSpPr>
          <p:cNvPr id="35" name="Text 33"/>
          <p:cNvSpPr txBox="1"/>
          <p:nvPr/>
        </p:nvSpPr>
        <p:spPr>
          <a:xfrm>
            <a:off x="548640" y="4791456"/>
            <a:ext cx="402336" cy="402336"/>
          </a:xfrm>
          <a:prstGeom prst="rect">
            <a:avLst/>
          </a:prstGeom>
          <a:noFill/>
          <a:ln/>
        </p:spPr>
        <p:txBody>
          <a:bodyPr wrap="square" lIns="0" tIns="0" rIns="0" bIns="0" rtlCol="0" anchor="ctr"/>
          <a:lstStyle/>
          <a:p>
            <a:pPr marL="0" indent="0" algn="ctr">
              <a:buNone/>
            </a:pPr>
            <a:r>
              <a:rPr lang="en-US" sz="1300" b="1">
                <a:solidFill>
                  <a:srgbClr val="FFFFFF"/>
                </a:solidFill>
                <a:latin typeface="Arial"/>
                <a:ea typeface="Arial" pitchFamily="34" charset="-122"/>
                <a:cs typeface="Arial"/>
              </a:rPr>
              <a:t>E</a:t>
            </a:r>
            <a:endParaRPr lang="en-US" sz="1300">
              <a:latin typeface="Arial"/>
              <a:cs typeface="Arial"/>
            </a:endParaRPr>
          </a:p>
        </p:txBody>
      </p:sp>
      <p:sp>
        <p:nvSpPr>
          <p:cNvPr id="36" name="Text 34"/>
          <p:cNvSpPr txBox="1"/>
          <p:nvPr/>
        </p:nvSpPr>
        <p:spPr>
          <a:xfrm>
            <a:off x="1051560" y="4663440"/>
            <a:ext cx="3063240" cy="658368"/>
          </a:xfrm>
          <a:prstGeom prst="rect">
            <a:avLst/>
          </a:prstGeom>
          <a:noFill/>
          <a:ln/>
        </p:spPr>
        <p:txBody>
          <a:bodyPr wrap="square" lIns="0" tIns="0" rIns="0" bIns="0" rtlCol="0" anchor="ctr"/>
          <a:lstStyle/>
          <a:p>
            <a:pPr marL="0" indent="0">
              <a:buNone/>
            </a:pPr>
            <a:r>
              <a:rPr lang="en-US" sz="1000" b="1">
                <a:solidFill>
                  <a:srgbClr val="262626"/>
                </a:solidFill>
                <a:latin typeface="Arial"/>
                <a:ea typeface="Arial" pitchFamily="34" charset="-122"/>
                <a:cs typeface="Arial"/>
              </a:rPr>
              <a:t>Fair coupon</a:t>
            </a:r>
            <a:endParaRPr lang="en-US" sz="1000">
              <a:latin typeface="Arial"/>
              <a:cs typeface="Arial"/>
            </a:endParaRPr>
          </a:p>
          <a:p>
            <a:pPr marL="0" indent="0">
              <a:buNone/>
            </a:pPr>
            <a:r>
              <a:rPr lang="en-US" sz="850">
                <a:solidFill>
                  <a:srgbClr val="595959"/>
                </a:solidFill>
                <a:latin typeface="Arial"/>
                <a:ea typeface="Arial" pitchFamily="34" charset="-122"/>
                <a:cs typeface="Arial"/>
              </a:rPr>
              <a:t>a = discounted principal repaid, b = discounted years of coupon (Case A: no coupon on never-called paths)</a:t>
            </a:r>
            <a:endParaRPr lang="en-US" sz="1000">
              <a:latin typeface="Arial"/>
              <a:cs typeface="Arial"/>
            </a:endParaRPr>
          </a:p>
        </p:txBody>
      </p:sp>
      <p:sp>
        <p:nvSpPr>
          <p:cNvPr id="37" name="Text 35"/>
          <p:cNvSpPr txBox="1"/>
          <p:nvPr/>
        </p:nvSpPr>
        <p:spPr>
          <a:xfrm>
            <a:off x="4206240" y="4672584"/>
            <a:ext cx="3520440" cy="320040"/>
          </a:xfrm>
          <a:prstGeom prst="rect">
            <a:avLst/>
          </a:prstGeom>
          <a:noFill/>
          <a:ln/>
        </p:spPr>
        <p:txBody>
          <a:bodyPr wrap="square" lIns="0" tIns="0" rIns="0" bIns="0" rtlCol="0" anchor="ctr"/>
          <a:lstStyle/>
          <a:p>
            <a:pPr marL="0" indent="0">
              <a:buNone/>
            </a:pPr>
            <a:r>
              <a:rPr lang="en-US" sz="1200">
                <a:solidFill>
                  <a:srgbClr val="262626"/>
                </a:solidFill>
                <a:latin typeface="Arial"/>
                <a:ea typeface="Cambria Math" pitchFamily="34" charset="-122"/>
                <a:cs typeface="Arial"/>
              </a:rPr>
              <a:t>1.0 = E[a + y · b]     (8)</a:t>
            </a:r>
            <a:endParaRPr lang="en-US" sz="1200">
              <a:latin typeface="Arial"/>
              <a:cs typeface="Arial"/>
            </a:endParaRPr>
          </a:p>
        </p:txBody>
      </p:sp>
      <mc:AlternateContent xmlns:mc="http://schemas.openxmlformats.org/markup-compatibility/2006">
        <mc:Choice xmlns:a14="http://schemas.microsoft.com/office/drawing/2010/main" Requires="a14">
          <p:sp>
            <p:nvSpPr>
              <p:cNvPr id="38" name="Text 36"/>
              <p:cNvSpPr txBox="1"/>
              <p:nvPr/>
            </p:nvSpPr>
            <p:spPr>
              <a:xfrm>
                <a:off x="4206240" y="4992624"/>
                <a:ext cx="3520440" cy="320040"/>
              </a:xfrm>
              <a:prstGeom prst="rect">
                <a:avLst/>
              </a:prstGeom>
              <a:noFill/>
              <a:ln/>
            </p:spPr>
            <p:txBody>
              <a:bodyPr wrap="square" lIns="0" tIns="0" rIns="0" bIns="0" rtlCol="0" anchor="ctr"/>
              <a:lstStyle/>
              <a:p>
                <a14:m>
                  <m:oMath xmlns:m="http://schemas.openxmlformats.org/officeDocument/2006/math">
                    <m:r>
                      <a:rPr lang="en-US" sz="1600" i="1" dirty="0" smtClean="0">
                        <a:solidFill>
                          <a:srgbClr val="262626"/>
                        </a:solidFill>
                        <a:latin typeface="Cambria Math" panose="02040503050406030204" pitchFamily="18" charset="0"/>
                        <a:ea typeface="Cambria Math" pitchFamily="34" charset="-122"/>
                      </a:rPr>
                      <m:t>𝑦</m:t>
                    </m:r>
                    <m:r>
                      <a:rPr lang="en-US" sz="1600" i="1" dirty="0" smtClean="0">
                        <a:solidFill>
                          <a:srgbClr val="262626"/>
                        </a:solidFill>
                        <a:latin typeface="Cambria Math" panose="02040503050406030204" pitchFamily="18" charset="0"/>
                        <a:ea typeface="Cambria Math" pitchFamily="34" charset="-122"/>
                      </a:rPr>
                      <m:t>=</m:t>
                    </m:r>
                    <m:f>
                      <m:fPr>
                        <m:ctrlPr>
                          <a:rPr lang="en-US" sz="1600" i="1" dirty="0">
                            <a:solidFill>
                              <a:srgbClr val="262626"/>
                            </a:solidFill>
                            <a:latin typeface="Cambria Math" panose="02040503050406030204" pitchFamily="18" charset="0"/>
                            <a:ea typeface="Cambria Math" pitchFamily="34" charset="-122"/>
                          </a:rPr>
                        </m:ctrlPr>
                      </m:fPr>
                      <m:num>
                        <m:d>
                          <m:dPr>
                            <m:ctrlPr>
                              <a:rPr lang="en-US" sz="1600" i="1" dirty="0">
                                <a:solidFill>
                                  <a:srgbClr val="262626"/>
                                </a:solidFill>
                                <a:latin typeface="Cambria Math" panose="02040503050406030204" pitchFamily="18" charset="0"/>
                                <a:ea typeface="Cambria Math" pitchFamily="34" charset="-122"/>
                              </a:rPr>
                            </m:ctrlPr>
                          </m:dPr>
                          <m:e>
                            <m:r>
                              <a:rPr lang="en-US" sz="1600" i="1" dirty="0">
                                <a:solidFill>
                                  <a:srgbClr val="262626"/>
                                </a:solidFill>
                                <a:latin typeface="Cambria Math" panose="02040503050406030204" pitchFamily="18" charset="0"/>
                                <a:ea typeface="Cambria Math" pitchFamily="34" charset="-122"/>
                              </a:rPr>
                              <m:t>1.0−</m:t>
                            </m:r>
                            <m:r>
                              <a:rPr lang="en-US" sz="1600" i="1" dirty="0">
                                <a:solidFill>
                                  <a:srgbClr val="262626"/>
                                </a:solidFill>
                                <a:latin typeface="Cambria Math" panose="02040503050406030204" pitchFamily="18" charset="0"/>
                                <a:ea typeface="Cambria Math" pitchFamily="34" charset="-122"/>
                              </a:rPr>
                              <m:t>𝐸</m:t>
                            </m:r>
                            <m:d>
                              <m:dPr>
                                <m:begChr m:val="["/>
                                <m:endChr m:val="]"/>
                                <m:ctrlPr>
                                  <a:rPr lang="en-US" sz="1600" i="1" dirty="0">
                                    <a:solidFill>
                                      <a:srgbClr val="262626"/>
                                    </a:solidFill>
                                    <a:latin typeface="Cambria Math" panose="02040503050406030204" pitchFamily="18" charset="0"/>
                                    <a:ea typeface="Cambria Math" pitchFamily="34" charset="-122"/>
                                  </a:rPr>
                                </m:ctrlPr>
                              </m:dPr>
                              <m:e>
                                <m:r>
                                  <a:rPr lang="en-US" sz="1600" i="1" dirty="0">
                                    <a:solidFill>
                                      <a:srgbClr val="262626"/>
                                    </a:solidFill>
                                    <a:latin typeface="Cambria Math" panose="02040503050406030204" pitchFamily="18" charset="0"/>
                                    <a:ea typeface="Cambria Math" pitchFamily="34" charset="-122"/>
                                  </a:rPr>
                                  <m:t>𝑎</m:t>
                                </m:r>
                              </m:e>
                            </m:d>
                          </m:e>
                        </m:d>
                      </m:num>
                      <m:den>
                        <m:r>
                          <a:rPr lang="en-US" sz="1600" i="1" dirty="0">
                            <a:solidFill>
                              <a:srgbClr val="262626"/>
                            </a:solidFill>
                            <a:latin typeface="Cambria Math" panose="02040503050406030204" pitchFamily="18" charset="0"/>
                            <a:ea typeface="Cambria Math" pitchFamily="34" charset="-122"/>
                          </a:rPr>
                          <m:t>𝐸</m:t>
                        </m:r>
                        <m:d>
                          <m:dPr>
                            <m:begChr m:val="["/>
                            <m:endChr m:val="]"/>
                            <m:ctrlPr>
                              <a:rPr lang="en-US" sz="1600" i="1" dirty="0">
                                <a:solidFill>
                                  <a:srgbClr val="262626"/>
                                </a:solidFill>
                                <a:latin typeface="Cambria Math" panose="02040503050406030204" pitchFamily="18" charset="0"/>
                                <a:ea typeface="Cambria Math" pitchFamily="34" charset="-122"/>
                              </a:rPr>
                            </m:ctrlPr>
                          </m:dPr>
                          <m:e>
                            <m:r>
                              <a:rPr lang="en-US" sz="1600" i="1" dirty="0">
                                <a:solidFill>
                                  <a:srgbClr val="262626"/>
                                </a:solidFill>
                                <a:latin typeface="Cambria Math" panose="02040503050406030204" pitchFamily="18" charset="0"/>
                                <a:ea typeface="Cambria Math" pitchFamily="34" charset="-122"/>
                              </a:rPr>
                              <m:t>𝑏</m:t>
                            </m:r>
                          </m:e>
                        </m:d>
                      </m:den>
                    </m:f>
                    <m:r>
                      <a:rPr lang="en-US" sz="1600" i="1" dirty="0" smtClean="0">
                        <a:solidFill>
                          <a:srgbClr val="262626"/>
                        </a:solidFill>
                        <a:latin typeface="Cambria Math" panose="02040503050406030204" pitchFamily="18" charset="0"/>
                        <a:ea typeface="Cambria Math" pitchFamily="34" charset="-122"/>
                      </a:rPr>
                      <m:t> </m:t>
                    </m:r>
                  </m:oMath>
                </a14:m>
                <a:r>
                  <a:rPr lang="en-US" sz="1200">
                    <a:solidFill>
                      <a:srgbClr val="262626"/>
                    </a:solidFill>
                    <a:latin typeface="Cambria Math" pitchFamily="34" charset="0"/>
                    <a:ea typeface="Cambria Math" pitchFamily="34" charset="-122"/>
                    <a:cs typeface="Cambria Math" pitchFamily="34" charset="-120"/>
                  </a:rPr>
                  <a:t>(9)</a:t>
                </a:r>
                <a:endParaRPr lang="en-US" sz="1200"/>
              </a:p>
            </p:txBody>
          </p:sp>
        </mc:Choice>
        <mc:Fallback>
          <p:sp>
            <p:nvSpPr>
              <p:cNvPr id="38" name="Text 36"/>
              <p:cNvSpPr txBox="1">
                <a:spLocks noRot="1" noChangeAspect="1" noMove="1" noResize="1" noEditPoints="1" noAdjustHandles="1" noChangeArrowheads="1" noChangeShapeType="1" noTextEdit="1"/>
              </p:cNvSpPr>
              <p:nvPr/>
            </p:nvSpPr>
            <p:spPr>
              <a:xfrm>
                <a:off x="4206240" y="4992624"/>
                <a:ext cx="3520440" cy="320040"/>
              </a:xfrm>
              <a:prstGeom prst="rect">
                <a:avLst/>
              </a:prstGeom>
              <a:blipFill>
                <a:blip r:embed="rId5"/>
                <a:stretch>
                  <a:fillRect l="-2158" t="-7692" b="-15385"/>
                </a:stretch>
              </a:blipFill>
              <a:ln/>
            </p:spPr>
            <p:txBody>
              <a:bodyPr/>
              <a:lstStyle/>
              <a:p>
                <a:r>
                  <a:rPr lang="en-US">
                    <a:noFill/>
                  </a:rPr>
                  <a:t> </a:t>
                </a:r>
              </a:p>
            </p:txBody>
          </p:sp>
        </mc:Fallback>
      </mc:AlternateContent>
      <p:sp>
        <p:nvSpPr>
          <p:cNvPr id="39" name="Shape 37"/>
          <p:cNvSpPr/>
          <p:nvPr/>
        </p:nvSpPr>
        <p:spPr>
          <a:xfrm>
            <a:off x="8001000" y="1325880"/>
            <a:ext cx="3730752" cy="310896"/>
          </a:xfrm>
          <a:prstGeom prst="rect">
            <a:avLst/>
          </a:prstGeom>
          <a:solidFill>
            <a:srgbClr val="2C5F82"/>
          </a:solidFill>
          <a:ln w="12700">
            <a:solidFill>
              <a:srgbClr val="2C5F82"/>
            </a:solidFill>
            <a:prstDash val="solid"/>
          </a:ln>
        </p:spPr>
        <p:txBody>
          <a:bodyPr/>
          <a:lstStyle/>
          <a:p>
            <a:endParaRPr lang="en-HK"/>
          </a:p>
        </p:txBody>
      </p:sp>
      <p:sp>
        <p:nvSpPr>
          <p:cNvPr id="40" name="Text 38"/>
          <p:cNvSpPr txBox="1"/>
          <p:nvPr/>
        </p:nvSpPr>
        <p:spPr>
          <a:xfrm>
            <a:off x="8092440" y="1325880"/>
            <a:ext cx="3547872" cy="310896"/>
          </a:xfrm>
          <a:prstGeom prst="rect">
            <a:avLst/>
          </a:prstGeom>
          <a:noFill/>
          <a:ln/>
        </p:spPr>
        <p:txBody>
          <a:bodyPr wrap="square" lIns="0" tIns="0" rIns="0" bIns="0" rtlCol="0" anchor="ctr"/>
          <a:lstStyle/>
          <a:p>
            <a:pPr marL="0" indent="0">
              <a:buNone/>
            </a:pPr>
            <a:r>
              <a:rPr lang="en-US" sz="1100" b="1">
                <a:solidFill>
                  <a:srgbClr val="FFFFFF"/>
                </a:solidFill>
                <a:latin typeface="Arial"/>
                <a:ea typeface="Arial" pitchFamily="34" charset="-122"/>
                <a:cs typeface="Arial"/>
              </a:rPr>
              <a:t>Product priced</a:t>
            </a:r>
            <a:endParaRPr lang="en-US" sz="1100">
              <a:latin typeface="Arial"/>
              <a:cs typeface="Arial"/>
            </a:endParaRPr>
          </a:p>
        </p:txBody>
      </p:sp>
      <p:graphicFrame>
        <p:nvGraphicFramePr>
          <p:cNvPr id="41" name="Table 0"/>
          <p:cNvGraphicFramePr>
            <a:graphicFrameLocks noGrp="1"/>
          </p:cNvGraphicFramePr>
          <p:nvPr/>
        </p:nvGraphicFramePr>
        <p:xfrm>
          <a:off x="8001000" y="1664208"/>
          <a:ext cx="3730752" cy="1645920"/>
        </p:xfrm>
        <a:graphic>
          <a:graphicData uri="http://schemas.openxmlformats.org/drawingml/2006/table">
            <a:tbl>
              <a:tblPr/>
              <a:tblGrid>
                <a:gridCol w="1234440">
                  <a:extLst>
                    <a:ext uri="{9D8B030D-6E8A-4147-A177-3AD203B41FA5}">
                      <a16:colId xmlns:a16="http://schemas.microsoft.com/office/drawing/2014/main" val="20000"/>
                    </a:ext>
                  </a:extLst>
                </a:gridCol>
                <a:gridCol w="2496312">
                  <a:extLst>
                    <a:ext uri="{9D8B030D-6E8A-4147-A177-3AD203B41FA5}">
                      <a16:colId xmlns:a16="http://schemas.microsoft.com/office/drawing/2014/main" val="20001"/>
                    </a:ext>
                  </a:extLst>
                </a:gridCol>
              </a:tblGrid>
              <a:tr h="329184">
                <a:tc>
                  <a:txBody>
                    <a:bodyPr/>
                    <a:lstStyle/>
                    <a:p>
                      <a:pPr marL="0" indent="0">
                        <a:buNone/>
                      </a:pPr>
                      <a:r>
                        <a:rPr lang="en-US" sz="850" b="1">
                          <a:solidFill>
                            <a:srgbClr val="2C5F82"/>
                          </a:solidFill>
                          <a:latin typeface="Arial" pitchFamily="34" charset="0"/>
                          <a:ea typeface="Arial" pitchFamily="34" charset="-122"/>
                          <a:cs typeface="Arial" pitchFamily="34" charset="-120"/>
                        </a:rPr>
                        <a:t>Basket weights</a:t>
                      </a:r>
                      <a:endParaRPr lang="en-US" sz="850">
                        <a:latin typeface="Arial" charset="0"/>
                        <a:ea typeface="Arial" charset="0"/>
                        <a:cs typeface="Arial"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marL="0" indent="0">
                        <a:buNone/>
                      </a:pPr>
                      <a:r>
                        <a:rPr lang="en-US" sz="850">
                          <a:solidFill>
                            <a:srgbClr val="262626"/>
                          </a:solidFill>
                          <a:latin typeface="Arial" pitchFamily="34" charset="0"/>
                          <a:ea typeface="Arial" pitchFamily="34" charset="-122"/>
                          <a:cs typeface="Arial" pitchFamily="34" charset="-120"/>
                        </a:rPr>
                        <a:t>3119.HK 35% · EWY 20% · EWT 15% · 2644.T 15% · 00878.TW 15%</a:t>
                      </a:r>
                      <a:endParaRPr lang="en-US" sz="850">
                        <a:latin typeface="Arial" charset="0"/>
                        <a:ea typeface="Arial" charset="0"/>
                        <a:cs typeface="Arial"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329184">
                <a:tc>
                  <a:txBody>
                    <a:bodyPr/>
                    <a:lstStyle/>
                    <a:p>
                      <a:pPr marL="0" indent="0">
                        <a:buNone/>
                      </a:pPr>
                      <a:r>
                        <a:rPr lang="en-US" sz="850" b="1">
                          <a:solidFill>
                            <a:srgbClr val="2C5F82"/>
                          </a:solidFill>
                          <a:latin typeface="Arial" pitchFamily="34" charset="0"/>
                          <a:ea typeface="Arial" pitchFamily="34" charset="-122"/>
                          <a:cs typeface="Arial" pitchFamily="34" charset="-120"/>
                        </a:rPr>
                        <a:t>Autocall barrier H</a:t>
                      </a:r>
                      <a:endParaRPr lang="en-US" sz="850">
                        <a:latin typeface="Arial" charset="0"/>
                        <a:ea typeface="Arial" charset="0"/>
                        <a:cs typeface="Arial"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marL="0" indent="0">
                        <a:buNone/>
                      </a:pPr>
                      <a:r>
                        <a:rPr lang="en-US" sz="850">
                          <a:solidFill>
                            <a:srgbClr val="262626"/>
                          </a:solidFill>
                          <a:latin typeface="Arial" pitchFamily="34" charset="0"/>
                          <a:ea typeface="Arial" pitchFamily="34" charset="-122"/>
                          <a:cs typeface="Arial" pitchFamily="34" charset="-120"/>
                        </a:rPr>
                        <a:t>Y1 102.5% · Y2 100% · Y3 97.5% · Y4 95% · Y5 92.5%</a:t>
                      </a:r>
                      <a:endParaRPr lang="en-US" sz="850">
                        <a:latin typeface="Arial" charset="0"/>
                        <a:ea typeface="Arial" charset="0"/>
                        <a:cs typeface="Arial"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329184">
                <a:tc>
                  <a:txBody>
                    <a:bodyPr/>
                    <a:lstStyle/>
                    <a:p>
                      <a:pPr marL="0" indent="0">
                        <a:buNone/>
                      </a:pPr>
                      <a:r>
                        <a:rPr lang="en-US" sz="850" b="1">
                          <a:solidFill>
                            <a:srgbClr val="2C5F82"/>
                          </a:solidFill>
                          <a:latin typeface="Arial" pitchFamily="34" charset="0"/>
                          <a:ea typeface="Arial" pitchFamily="34" charset="-122"/>
                          <a:cs typeface="Arial" pitchFamily="34" charset="-120"/>
                        </a:rPr>
                        <a:t>Called in year k</a:t>
                      </a:r>
                      <a:endParaRPr lang="en-US" sz="850">
                        <a:latin typeface="Arial" charset="0"/>
                        <a:ea typeface="Arial" charset="0"/>
                        <a:cs typeface="Arial"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marL="0" indent="0">
                        <a:buNone/>
                      </a:pPr>
                      <a:r>
                        <a:rPr lang="en-US" sz="850">
                          <a:solidFill>
                            <a:srgbClr val="262626"/>
                          </a:solidFill>
                          <a:latin typeface="Arial" pitchFamily="34" charset="0"/>
                          <a:ea typeface="Arial" pitchFamily="34" charset="-122"/>
                          <a:cs typeface="Arial" pitchFamily="34" charset="-120"/>
                        </a:rPr>
                        <a:t>100 × (1 + k × y)</a:t>
                      </a:r>
                      <a:endParaRPr lang="en-US" sz="850">
                        <a:latin typeface="Arial" charset="0"/>
                        <a:ea typeface="Arial" charset="0"/>
                        <a:cs typeface="Arial"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29184">
                <a:tc>
                  <a:txBody>
                    <a:bodyPr/>
                    <a:lstStyle/>
                    <a:p>
                      <a:pPr marL="0" indent="0">
                        <a:buNone/>
                      </a:pPr>
                      <a:r>
                        <a:rPr lang="en-US" sz="850" b="1">
                          <a:solidFill>
                            <a:srgbClr val="2C5F82"/>
                          </a:solidFill>
                          <a:latin typeface="Arial" pitchFamily="34" charset="0"/>
                          <a:ea typeface="Arial" pitchFamily="34" charset="-122"/>
                          <a:cs typeface="Arial" pitchFamily="34" charset="-120"/>
                        </a:rPr>
                        <a:t>Never called</a:t>
                      </a:r>
                      <a:endParaRPr lang="en-US" sz="850">
                        <a:latin typeface="Arial" charset="0"/>
                        <a:ea typeface="Arial" charset="0"/>
                        <a:cs typeface="Arial"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marL="0" indent="0">
                        <a:buNone/>
                      </a:pPr>
                      <a:r>
                        <a:rPr lang="en-US" sz="850">
                          <a:solidFill>
                            <a:srgbClr val="262626"/>
                          </a:solidFill>
                          <a:latin typeface="Arial" pitchFamily="34" charset="0"/>
                          <a:ea typeface="Arial" pitchFamily="34" charset="-122"/>
                          <a:cs typeface="Arial" pitchFamily="34" charset="-120"/>
                        </a:rPr>
                        <a:t>R₅ as in (7)</a:t>
                      </a:r>
                      <a:endParaRPr lang="en-US" sz="850">
                        <a:latin typeface="Arial" charset="0"/>
                        <a:ea typeface="Arial" charset="0"/>
                        <a:cs typeface="Arial"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329184">
                <a:tc>
                  <a:txBody>
                    <a:bodyPr/>
                    <a:lstStyle/>
                    <a:p>
                      <a:pPr marL="0" indent="0">
                        <a:buNone/>
                      </a:pPr>
                      <a:r>
                        <a:rPr lang="en-US" sz="850" b="1">
                          <a:solidFill>
                            <a:srgbClr val="2C5F82"/>
                          </a:solidFill>
                          <a:latin typeface="Arial" pitchFamily="34" charset="0"/>
                          <a:ea typeface="Arial" pitchFamily="34" charset="-122"/>
                          <a:cs typeface="Arial" pitchFamily="34" charset="-120"/>
                        </a:rPr>
                        <a:t>Simulation</a:t>
                      </a:r>
                      <a:endParaRPr lang="en-US" sz="850">
                        <a:latin typeface="Arial" charset="0"/>
                        <a:ea typeface="Arial" charset="0"/>
                        <a:cs typeface="Arial"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marL="0" indent="0">
                        <a:buNone/>
                      </a:pPr>
                      <a:r>
                        <a:rPr lang="en-US" sz="850">
                          <a:solidFill>
                            <a:srgbClr val="262626"/>
                          </a:solidFill>
                          <a:latin typeface="Arial" pitchFamily="34" charset="0"/>
                          <a:ea typeface="Arial" pitchFamily="34" charset="-122"/>
                          <a:cs typeface="Arial" pitchFamily="34" charset="-120"/>
                        </a:rPr>
                        <a:t>1,000,000 paths, annual steps</a:t>
                      </a:r>
                      <a:endParaRPr lang="en-US" sz="850">
                        <a:latin typeface="Arial" charset="0"/>
                        <a:ea typeface="Arial" charset="0"/>
                        <a:cs typeface="Arial"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42" name="Shape 39"/>
          <p:cNvSpPr/>
          <p:nvPr/>
        </p:nvSpPr>
        <p:spPr>
          <a:xfrm>
            <a:off x="8001000" y="3429000"/>
            <a:ext cx="3730752" cy="310896"/>
          </a:xfrm>
          <a:prstGeom prst="rect">
            <a:avLst/>
          </a:prstGeom>
          <a:solidFill>
            <a:srgbClr val="2C5F82"/>
          </a:solidFill>
          <a:ln w="12700">
            <a:solidFill>
              <a:srgbClr val="2C5F82"/>
            </a:solidFill>
            <a:prstDash val="solid"/>
          </a:ln>
        </p:spPr>
        <p:txBody>
          <a:bodyPr/>
          <a:lstStyle/>
          <a:p>
            <a:endParaRPr lang="en-HK"/>
          </a:p>
        </p:txBody>
      </p:sp>
      <p:sp>
        <p:nvSpPr>
          <p:cNvPr id="43" name="Text 40"/>
          <p:cNvSpPr txBox="1"/>
          <p:nvPr/>
        </p:nvSpPr>
        <p:spPr>
          <a:xfrm>
            <a:off x="8092440" y="3429000"/>
            <a:ext cx="3547872" cy="310896"/>
          </a:xfrm>
          <a:prstGeom prst="rect">
            <a:avLst/>
          </a:prstGeom>
          <a:noFill/>
          <a:ln/>
        </p:spPr>
        <p:txBody>
          <a:bodyPr wrap="square" lIns="0" tIns="0" rIns="0" bIns="0" rtlCol="0" anchor="ctr"/>
          <a:lstStyle/>
          <a:p>
            <a:pPr marL="0" indent="0">
              <a:buNone/>
            </a:pPr>
            <a:r>
              <a:rPr lang="en-US" sz="1100" b="1">
                <a:solidFill>
                  <a:srgbClr val="FFFFFF"/>
                </a:solidFill>
                <a:latin typeface="Arial"/>
                <a:ea typeface="Arial" pitchFamily="34" charset="-122"/>
                <a:cs typeface="Arial"/>
              </a:rPr>
              <a:t>Pricing results (Case A)</a:t>
            </a:r>
            <a:endParaRPr lang="en-US" sz="1100">
              <a:latin typeface="Arial"/>
              <a:cs typeface="Arial"/>
            </a:endParaRPr>
          </a:p>
        </p:txBody>
      </p:sp>
      <p:graphicFrame>
        <p:nvGraphicFramePr>
          <p:cNvPr id="44" name="Table 1"/>
          <p:cNvGraphicFramePr>
            <a:graphicFrameLocks noGrp="1"/>
          </p:cNvGraphicFramePr>
          <p:nvPr>
            <p:extLst>
              <p:ext uri="{D42A27DB-BD31-4B8C-83A1-F6EECF244321}">
                <p14:modId xmlns:p14="http://schemas.microsoft.com/office/powerpoint/2010/main" val="1244337216"/>
              </p:ext>
            </p:extLst>
          </p:nvPr>
        </p:nvGraphicFramePr>
        <p:xfrm>
          <a:off x="8001000" y="3767328"/>
          <a:ext cx="3730751" cy="1042416"/>
        </p:xfrm>
        <a:graphic>
          <a:graphicData uri="http://schemas.openxmlformats.org/drawingml/2006/table">
            <a:tbl>
              <a:tblPr/>
              <a:tblGrid>
                <a:gridCol w="1002890">
                  <a:extLst>
                    <a:ext uri="{9D8B030D-6E8A-4147-A177-3AD203B41FA5}">
                      <a16:colId xmlns:a16="http://schemas.microsoft.com/office/drawing/2014/main" val="20000"/>
                    </a:ext>
                  </a:extLst>
                </a:gridCol>
                <a:gridCol w="1002890">
                  <a:extLst>
                    <a:ext uri="{9D8B030D-6E8A-4147-A177-3AD203B41FA5}">
                      <a16:colId xmlns:a16="http://schemas.microsoft.com/office/drawing/2014/main" val="548215608"/>
                    </a:ext>
                  </a:extLst>
                </a:gridCol>
                <a:gridCol w="1724971">
                  <a:extLst>
                    <a:ext uri="{9D8B030D-6E8A-4147-A177-3AD203B41FA5}">
                      <a16:colId xmlns:a16="http://schemas.microsoft.com/office/drawing/2014/main" val="20001"/>
                    </a:ext>
                  </a:extLst>
                </a:gridCol>
              </a:tblGrid>
              <a:tr h="347472">
                <a:tc>
                  <a:txBody>
                    <a:bodyPr/>
                    <a:lstStyle/>
                    <a:p>
                      <a:pPr marL="0" indent="0">
                        <a:buNone/>
                      </a:pPr>
                      <a:r>
                        <a:rPr lang="en-US" sz="1000" b="1">
                          <a:solidFill>
                            <a:srgbClr val="262626"/>
                          </a:solidFill>
                          <a:latin typeface="Arial" pitchFamily="34" charset="0"/>
                          <a:ea typeface="Arial" pitchFamily="34" charset="-122"/>
                          <a:cs typeface="Arial" pitchFamily="34" charset="-120"/>
                        </a:rPr>
                        <a:t>Fair coupon</a:t>
                      </a:r>
                      <a:endParaRPr lang="en-US" sz="1000">
                        <a:latin typeface="Arial" charset="0"/>
                        <a:ea typeface="Arial" charset="0"/>
                        <a:cs typeface="Arial" charset="0"/>
                      </a:endParaRPr>
                    </a:p>
                  </a:txBody>
                  <a:tcPr marL="76200" marR="762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lvl="0" indent="0">
                        <a:buNone/>
                      </a:pPr>
                      <a:endParaRPr lang="en-US" sz="1000" b="1">
                        <a:solidFill>
                          <a:srgbClr val="262626"/>
                        </a:solidFill>
                        <a:latin typeface="Arial"/>
                        <a:ea typeface="Arial" charset="0"/>
                        <a:cs typeface="Arial"/>
                      </a:endParaRPr>
                    </a:p>
                  </a:txBody>
                  <a:tcPr marL="76200" marR="76200" marT="12700" marB="127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marL="0" indent="0" algn="r">
                        <a:buNone/>
                      </a:pPr>
                      <a:r>
                        <a:rPr lang="en-US" sz="1000" b="1">
                          <a:solidFill>
                            <a:srgbClr val="2C5F82"/>
                          </a:solidFill>
                          <a:latin typeface="Arial"/>
                          <a:ea typeface="Arial" pitchFamily="34" charset="-122"/>
                          <a:cs typeface="Arial"/>
                        </a:rPr>
                        <a:t>14.092219%</a:t>
                      </a:r>
                      <a:endParaRPr lang="en-US" sz="1000">
                        <a:latin typeface="Arial"/>
                        <a:ea typeface="Arial" charset="0"/>
                        <a:cs typeface="Arial"/>
                      </a:endParaRPr>
                    </a:p>
                  </a:txBody>
                  <a:tcPr marL="76200" marR="762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7472">
                <a:tc>
                  <a:txBody>
                    <a:bodyPr/>
                    <a:lstStyle/>
                    <a:p>
                      <a:pPr marL="0" indent="0">
                        <a:buNone/>
                      </a:pPr>
                      <a:r>
                        <a:rPr lang="en-US" sz="1000" b="1">
                          <a:solidFill>
                            <a:srgbClr val="262626"/>
                          </a:solidFill>
                          <a:latin typeface="Arial" pitchFamily="34" charset="0"/>
                          <a:ea typeface="Arial" pitchFamily="34" charset="-122"/>
                          <a:cs typeface="Arial" pitchFamily="34" charset="-120"/>
                        </a:rPr>
                        <a:t>Standard error</a:t>
                      </a:r>
                      <a:endParaRPr lang="en-US" sz="1000">
                        <a:latin typeface="Arial" charset="0"/>
                        <a:ea typeface="Arial" charset="0"/>
                        <a:cs typeface="Arial" charset="0"/>
                      </a:endParaRPr>
                    </a:p>
                  </a:txBody>
                  <a:tcPr marL="76200" marR="762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lvl="0" indent="0">
                        <a:buNone/>
                      </a:pPr>
                      <a:endParaRPr lang="en-US" sz="1000" b="1">
                        <a:solidFill>
                          <a:srgbClr val="262626"/>
                        </a:solidFill>
                        <a:latin typeface="Arial"/>
                        <a:ea typeface="Arial" charset="0"/>
                        <a:cs typeface="Arial"/>
                      </a:endParaRPr>
                    </a:p>
                  </a:txBody>
                  <a:tcPr marL="76200" marR="76200" marT="12700" marB="127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marL="0" indent="0" algn="r">
                        <a:buNone/>
                      </a:pPr>
                      <a:r>
                        <a:rPr lang="en-US" sz="1000">
                          <a:solidFill>
                            <a:srgbClr val="262626"/>
                          </a:solidFill>
                          <a:latin typeface="Arial" pitchFamily="34" charset="0"/>
                          <a:ea typeface="Arial" pitchFamily="34" charset="-122"/>
                          <a:cs typeface="Arial" pitchFamily="34" charset="-120"/>
                        </a:rPr>
                        <a:t>2.236 bp</a:t>
                      </a:r>
                      <a:endParaRPr lang="en-US" sz="1000">
                        <a:latin typeface="Arial" charset="0"/>
                        <a:ea typeface="Arial" charset="0"/>
                        <a:cs typeface="Arial" charset="0"/>
                      </a:endParaRPr>
                    </a:p>
                  </a:txBody>
                  <a:tcPr marL="76200" marR="762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000" b="1">
                          <a:solidFill>
                            <a:srgbClr val="262626"/>
                          </a:solidFill>
                          <a:latin typeface="Arial" pitchFamily="34" charset="0"/>
                          <a:ea typeface="Arial" pitchFamily="34" charset="-122"/>
                          <a:cs typeface="Arial" pitchFamily="34" charset="-120"/>
                        </a:rPr>
                        <a:t>Approx. 95% CI</a:t>
                      </a:r>
                      <a:endParaRPr lang="en-US" sz="1000">
                        <a:latin typeface="Arial" charset="0"/>
                        <a:ea typeface="Arial" charset="0"/>
                        <a:cs typeface="Arial" charset="0"/>
                      </a:endParaRPr>
                    </a:p>
                  </a:txBody>
                  <a:tcPr marL="76200" marR="762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lvl="0" indent="0">
                        <a:buNone/>
                      </a:pPr>
                      <a:endParaRPr lang="en-US" sz="1000" b="1">
                        <a:solidFill>
                          <a:srgbClr val="262626"/>
                        </a:solidFill>
                        <a:latin typeface="Arial"/>
                        <a:ea typeface="Arial" charset="0"/>
                        <a:cs typeface="Arial"/>
                      </a:endParaRPr>
                    </a:p>
                  </a:txBody>
                  <a:tcPr marL="76200" marR="76200" marT="12700" marB="12700"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a:lstStyle/>
                    <a:p>
                      <a:pPr marL="0" indent="0" algn="r">
                        <a:buNone/>
                      </a:pPr>
                      <a:r>
                        <a:rPr lang="en-US" sz="1000">
                          <a:solidFill>
                            <a:srgbClr val="262626"/>
                          </a:solidFill>
                          <a:latin typeface="Arial"/>
                          <a:ea typeface="Arial" pitchFamily="34" charset="-122"/>
                          <a:cs typeface="Arial"/>
                        </a:rPr>
                        <a:t>[14.018397%, 14.166041%]</a:t>
                      </a:r>
                      <a:endParaRPr lang="en-US" sz="1000">
                        <a:latin typeface="Arial"/>
                        <a:ea typeface="Arial" charset="0"/>
                        <a:cs typeface="Arial"/>
                      </a:endParaRPr>
                    </a:p>
                  </a:txBody>
                  <a:tcPr marL="76200" marR="762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45" name="Shape 41"/>
          <p:cNvSpPr/>
          <p:nvPr/>
        </p:nvSpPr>
        <p:spPr>
          <a:xfrm>
            <a:off x="8001000" y="4846320"/>
            <a:ext cx="3730752" cy="621792"/>
          </a:xfrm>
          <a:prstGeom prst="rect">
            <a:avLst/>
          </a:prstGeom>
          <a:solidFill>
            <a:srgbClr val="E8EFF5"/>
          </a:solidFill>
          <a:ln w="12700">
            <a:solidFill>
              <a:srgbClr val="2C5F82"/>
            </a:solidFill>
            <a:prstDash val="solid"/>
          </a:ln>
        </p:spPr>
        <p:txBody>
          <a:bodyPr/>
          <a:lstStyle/>
          <a:p>
            <a:endParaRPr lang="en-HK"/>
          </a:p>
        </p:txBody>
      </p:sp>
      <p:sp>
        <p:nvSpPr>
          <p:cNvPr id="46" name="Text 42"/>
          <p:cNvSpPr txBox="1"/>
          <p:nvPr/>
        </p:nvSpPr>
        <p:spPr>
          <a:xfrm>
            <a:off x="8092440" y="4846320"/>
            <a:ext cx="3566160" cy="621792"/>
          </a:xfrm>
          <a:prstGeom prst="rect">
            <a:avLst/>
          </a:prstGeom>
          <a:noFill/>
          <a:ln/>
        </p:spPr>
        <p:txBody>
          <a:bodyPr wrap="square" lIns="0" tIns="0" rIns="0" bIns="0" rtlCol="0" anchor="ctr"/>
          <a:lstStyle/>
          <a:p>
            <a:pPr marL="0" indent="0">
              <a:buNone/>
            </a:pPr>
            <a:r>
              <a:rPr lang="en-US" sz="1000" b="1">
                <a:solidFill>
                  <a:srgbClr val="2C5F82"/>
                </a:solidFill>
                <a:latin typeface="Arial"/>
                <a:ea typeface="Arial" pitchFamily="34" charset="-122"/>
                <a:cs typeface="Arial"/>
              </a:rPr>
              <a:t>14.092219% = </a:t>
            </a:r>
            <a:r>
              <a:rPr lang="en-US" sz="1000">
                <a:solidFill>
                  <a:srgbClr val="262626"/>
                </a:solidFill>
                <a:latin typeface="Arial"/>
                <a:ea typeface="Arial" pitchFamily="34" charset="-122"/>
                <a:cs typeface="Arial"/>
              </a:rPr>
              <a:t>12.75% coupon to the client + 1.34% kept by Natixis</a:t>
            </a:r>
            <a:endParaRPr lang="en-US" sz="1000">
              <a:latin typeface="Arial"/>
              <a:cs typeface="Arial"/>
            </a:endParaRPr>
          </a:p>
        </p:txBody>
      </p:sp>
      <p:sp>
        <p:nvSpPr>
          <p:cNvPr id="47" name="Shape 43"/>
          <p:cNvSpPr/>
          <p:nvPr/>
        </p:nvSpPr>
        <p:spPr>
          <a:xfrm>
            <a:off x="457200" y="5577840"/>
            <a:ext cx="11274552" cy="457200"/>
          </a:xfrm>
          <a:prstGeom prst="rect">
            <a:avLst/>
          </a:prstGeom>
          <a:solidFill>
            <a:srgbClr val="2C5F82"/>
          </a:solidFill>
          <a:ln w="12700">
            <a:solidFill>
              <a:srgbClr val="2C5F82"/>
            </a:solidFill>
            <a:prstDash val="solid"/>
          </a:ln>
        </p:spPr>
        <p:txBody>
          <a:bodyPr/>
          <a:lstStyle/>
          <a:p>
            <a:endParaRPr lang="en-HK"/>
          </a:p>
        </p:txBody>
      </p:sp>
      <p:sp>
        <p:nvSpPr>
          <p:cNvPr id="48" name="Text 44"/>
          <p:cNvSpPr txBox="1"/>
          <p:nvPr/>
        </p:nvSpPr>
        <p:spPr>
          <a:xfrm>
            <a:off x="594360" y="5577840"/>
            <a:ext cx="11000232" cy="457200"/>
          </a:xfrm>
          <a:prstGeom prst="rect">
            <a:avLst/>
          </a:prstGeom>
          <a:noFill/>
          <a:ln/>
        </p:spPr>
        <p:txBody>
          <a:bodyPr wrap="square" lIns="0" tIns="0" rIns="0" bIns="0" rtlCol="0" anchor="ctr"/>
          <a:lstStyle/>
          <a:p>
            <a:pPr marL="0" indent="0" algn="ctr">
              <a:buNone/>
            </a:pPr>
            <a:r>
              <a:rPr lang="en-US" sz="1300" b="1">
                <a:solidFill>
                  <a:srgbClr val="FFFFFF"/>
                </a:solidFill>
                <a:latin typeface="Arial"/>
                <a:ea typeface="Arial" pitchFamily="34" charset="-122"/>
                <a:cs typeface="Arial"/>
              </a:rPr>
              <a:t>We are collecting 3.752219% from the customer and give them a 10% coupon</a:t>
            </a:r>
            <a:endParaRPr lang="en-US" sz="1300">
              <a:latin typeface="Arial"/>
              <a:cs typeface="Arial"/>
            </a:endParaRPr>
          </a:p>
        </p:txBody>
      </p:sp>
      <p:sp>
        <p:nvSpPr>
          <p:cNvPr id="49" name="Text 45"/>
          <p:cNvSpPr txBox="1"/>
          <p:nvPr/>
        </p:nvSpPr>
        <p:spPr>
          <a:xfrm>
            <a:off x="443484" y="6153234"/>
            <a:ext cx="11274552" cy="256032"/>
          </a:xfrm>
          <a:prstGeom prst="rect">
            <a:avLst/>
          </a:prstGeom>
          <a:noFill/>
          <a:ln/>
        </p:spPr>
        <p:txBody>
          <a:bodyPr wrap="square" lIns="0" tIns="0" rIns="0" bIns="0" rtlCol="0" anchor="t"/>
          <a:lstStyle/>
          <a:p>
            <a:pPr marL="0" indent="0">
              <a:buNone/>
            </a:pPr>
            <a:r>
              <a:rPr lang="en-US" sz="800" i="1">
                <a:solidFill>
                  <a:srgbClr val="595959"/>
                </a:solidFill>
                <a:latin typeface="Arial"/>
                <a:ea typeface="Arial" pitchFamily="34" charset="-122"/>
                <a:cs typeface="Arial"/>
              </a:rPr>
              <a:t>Source: team write-up 'Derivation of Fair Coupon Rate for Autocallable Structured Product' (8 Oct 2026), sections 2–3. Excludes issuer credit, fees and hedging costs.</a:t>
            </a:r>
            <a:endParaRPr lang="en-US" sz="800">
              <a:latin typeface="Arial"/>
              <a:cs typeface="Arial"/>
            </a:endParaRPr>
          </a:p>
        </p:txBody>
      </p:sp>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303EC54B-6943-800A-F60E-FE8BBA2437A5}"/>
                  </a:ext>
                </a:extLst>
              </p:cNvPr>
              <p:cNvSpPr txBox="1"/>
              <p:nvPr/>
            </p:nvSpPr>
            <p:spPr>
              <a:xfrm>
                <a:off x="3649980" y="1446885"/>
                <a:ext cx="2118360" cy="212751"/>
              </a:xfrm>
              <a:prstGeom prst="rect">
                <a:avLst/>
              </a:prstGeom>
              <a:noFill/>
            </p:spPr>
            <p:txBody>
              <a:bodyPr wrap="square" lIns="0" tIns="0" rIns="0" bIns="0" rtlCol="0">
                <a:spAutoFit/>
              </a:bodyPr>
              <a:lstStyle/>
              <a:p>
                <a:pPr/>
                <a14:m>
                  <m:oMathPara xmlns:m="http://schemas.openxmlformats.org/officeDocument/2006/math">
                    <m:oMath>
                      <m:sSub>
                        <m:sSubPr>
                          <m:ctrlPr>
                            <a:rPr lang="en-HK" sz="1200" i="1">
                              <a:latin typeface="Cambria Math" panose="02040503050406030204" pitchFamily="18" charset="0"/>
                            </a:rPr>
                          </m:ctrlPr>
                        </m:sSubPr>
                        <m:e>
                          <m:r>
                            <a:rPr lang="en-HK" sz="1200" i="1">
                              <a:latin typeface="Cambria Math" panose="02040503050406030204" pitchFamily="18" charset="0"/>
                            </a:rPr>
                            <m:t>𝑟</m:t>
                          </m:r>
                        </m:e>
                        <m:sub>
                          <m:r>
                            <a:rPr lang="en-HK" sz="1200" i="1">
                              <a:latin typeface="Cambria Math" panose="02040503050406030204" pitchFamily="18" charset="0"/>
                            </a:rPr>
                            <m:t>𝑗</m:t>
                          </m:r>
                        </m:sub>
                      </m:sSub>
                      <m:r>
                        <a:rPr lang="en-HK" sz="1200" i="0">
                          <a:latin typeface="Cambria Math" panose="02040503050406030204" pitchFamily="18" charset="0"/>
                        </a:rPr>
                        <m:t>=</m:t>
                      </m:r>
                      <m:func>
                        <m:funcPr>
                          <m:ctrlPr>
                            <a:rPr lang="en-HK" sz="1200" i="0">
                              <a:latin typeface="Cambria Math" panose="02040503050406030204" pitchFamily="18" charset="0"/>
                            </a:rPr>
                          </m:ctrlPr>
                        </m:funcPr>
                        <m:fName>
                          <m:r>
                            <m:rPr>
                              <m:sty m:val="p"/>
                            </m:rPr>
                            <a:rPr lang="en-HK" sz="1200" i="0">
                              <a:latin typeface="Cambria Math" panose="02040503050406030204" pitchFamily="18" charset="0"/>
                            </a:rPr>
                            <m:t>ln</m:t>
                          </m:r>
                        </m:fName>
                        <m:e>
                          <m:d>
                            <m:dPr>
                              <m:ctrlPr>
                                <a:rPr lang="en-HK" sz="1200" i="0">
                                  <a:latin typeface="Cambria Math" panose="02040503050406030204" pitchFamily="18" charset="0"/>
                                </a:rPr>
                              </m:ctrlPr>
                            </m:dPr>
                            <m:e>
                              <m:r>
                                <a:rPr lang="en-HK" sz="1200" i="0">
                                  <a:latin typeface="Cambria Math" panose="02040503050406030204" pitchFamily="18" charset="0"/>
                                </a:rPr>
                                <m:t>1+</m:t>
                              </m:r>
                              <m:sSub>
                                <m:sSubPr>
                                  <m:ctrlPr>
                                    <a:rPr lang="en-HK" sz="1200" i="1">
                                      <a:latin typeface="Cambria Math" panose="02040503050406030204" pitchFamily="18" charset="0"/>
                                    </a:rPr>
                                  </m:ctrlPr>
                                </m:sSubPr>
                                <m:e>
                                  <m:r>
                                    <a:rPr lang="en-HK" sz="1200" i="1">
                                      <a:latin typeface="Cambria Math" panose="02040503050406030204" pitchFamily="18" charset="0"/>
                                    </a:rPr>
                                    <m:t>𝑅</m:t>
                                  </m:r>
                                </m:e>
                                <m:sub>
                                  <m:r>
                                    <a:rPr lang="en-HK" sz="1200" i="1">
                                      <a:latin typeface="Cambria Math" panose="02040503050406030204" pitchFamily="18" charset="0"/>
                                    </a:rPr>
                                    <m:t>𝑗</m:t>
                                  </m:r>
                                </m:sub>
                              </m:sSub>
                            </m:e>
                          </m:d>
                        </m:e>
                      </m:func>
                    </m:oMath>
                  </m:oMathPara>
                </a14:m>
                <a:endParaRPr lang="en-HK" sz="1200"/>
              </a:p>
            </p:txBody>
          </p:sp>
        </mc:Choice>
        <mc:Fallback>
          <p:sp>
            <p:nvSpPr>
              <p:cNvPr id="50" name="TextBox 49">
                <a:extLst>
                  <a:ext uri="{FF2B5EF4-FFF2-40B4-BE49-F238E27FC236}">
                    <a16:creationId xmlns:a16="http://schemas.microsoft.com/office/drawing/2014/main" id="{303EC54B-6943-800A-F60E-FE8BBA2437A5}"/>
                  </a:ext>
                </a:extLst>
              </p:cNvPr>
              <p:cNvSpPr txBox="1">
                <a:spLocks noRot="1" noChangeAspect="1" noMove="1" noResize="1" noEditPoints="1" noAdjustHandles="1" noChangeArrowheads="1" noChangeShapeType="1" noTextEdit="1"/>
              </p:cNvSpPr>
              <p:nvPr/>
            </p:nvSpPr>
            <p:spPr>
              <a:xfrm>
                <a:off x="3649980" y="1446885"/>
                <a:ext cx="2118360" cy="212751"/>
              </a:xfrm>
              <a:prstGeom prst="rect">
                <a:avLst/>
              </a:prstGeom>
              <a:blipFill>
                <a:blip r:embed="rId6"/>
                <a:stretch>
                  <a:fillRect b="-16667"/>
                </a:stretch>
              </a:blipFill>
            </p:spPr>
            <p:txBody>
              <a:bodyPr/>
              <a:lstStyle/>
              <a:p>
                <a:r>
                  <a:rPr lang="en-US">
                    <a:noFill/>
                  </a:rPr>
                  <a:t> </a:t>
                </a:r>
              </a:p>
            </p:txBody>
          </p:sp>
        </mc:Fallback>
      </mc:AlternateContent>
      <p:sp>
        <p:nvSpPr>
          <p:cNvPr id="52" name="Text Placeholder 51">
            <a:extLst>
              <a:ext uri="{FF2B5EF4-FFF2-40B4-BE49-F238E27FC236}">
                <a16:creationId xmlns:a16="http://schemas.microsoft.com/office/drawing/2014/main" id="{7F632C62-6634-C020-BF5D-5BF177CFDBA4}"/>
              </a:ext>
            </a:extLst>
          </p:cNvPr>
          <p:cNvSpPr>
            <a:spLocks noGrp="1"/>
          </p:cNvSpPr>
          <p:nvPr>
            <p:ph type="body" idx="2"/>
          </p:nvPr>
        </p:nvSpPr>
        <p:spPr/>
        <p:txBody>
          <a:bodyPr/>
          <a:lstStyle/>
          <a:p>
            <a:endParaRPr lang="en-US"/>
          </a:p>
        </p:txBody>
      </p:sp>
      <p:sp>
        <p:nvSpPr>
          <p:cNvPr id="54" name="Text Placeholder 53">
            <a:extLst>
              <a:ext uri="{FF2B5EF4-FFF2-40B4-BE49-F238E27FC236}">
                <a16:creationId xmlns:a16="http://schemas.microsoft.com/office/drawing/2014/main" id="{01B5F320-918A-5249-D708-C7BBD1CA228B}"/>
              </a:ext>
            </a:extLst>
          </p:cNvPr>
          <p:cNvSpPr>
            <a:spLocks noGrp="1"/>
          </p:cNvSpPr>
          <p:nvPr>
            <p:ph type="body" idx="10"/>
          </p:nvPr>
        </p:nvSpPr>
        <p:spPr/>
        <p:txBody>
          <a:bodyPr/>
          <a:lstStyle/>
          <a:p>
            <a:endParaRPr lang="en-US"/>
          </a:p>
        </p:txBody>
      </p:sp>
    </p:spTree>
    <p:extLst>
      <p:ext uri="{BB962C8B-B14F-4D97-AF65-F5344CB8AC3E}">
        <p14:creationId xmlns:p14="http://schemas.microsoft.com/office/powerpoint/2010/main" val="780870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93192" y="141732"/>
            <a:ext cx="11247120" cy="548640"/>
          </a:xfrm>
          <a:prstGeom prst="rect">
            <a:avLst/>
          </a:prstGeom>
          <a:noFill/>
          <a:ln/>
        </p:spPr>
        <p:txBody>
          <a:bodyPr wrap="square" lIns="0" tIns="0" rIns="0" bIns="0" rtlCol="0" anchor="ctr"/>
          <a:lstStyle/>
          <a:p>
            <a:pPr marL="0" indent="0">
              <a:buNone/>
            </a:pPr>
            <a:r>
              <a:rPr lang="en-US" sz="2200">
                <a:solidFill>
                  <a:srgbClr val="262626"/>
                </a:solidFill>
                <a:latin typeface="Arial"/>
                <a:ea typeface="Arial" pitchFamily="34" charset="-122"/>
                <a:cs typeface="Arial"/>
              </a:rPr>
              <a:t>Appendix F: pricing inputs, grids and matrices</a:t>
            </a:r>
            <a:endParaRPr lang="en-US" sz="2200">
              <a:latin typeface="Arial"/>
              <a:cs typeface="Arial"/>
            </a:endParaRPr>
          </a:p>
        </p:txBody>
      </p:sp>
      <p:sp>
        <p:nvSpPr>
          <p:cNvPr id="4" name="Text 2"/>
          <p:cNvSpPr txBox="1"/>
          <p:nvPr/>
        </p:nvSpPr>
        <p:spPr>
          <a:xfrm>
            <a:off x="393192" y="781812"/>
            <a:ext cx="11274552" cy="274320"/>
          </a:xfrm>
          <a:prstGeom prst="rect">
            <a:avLst/>
          </a:prstGeom>
          <a:noFill/>
          <a:ln/>
        </p:spPr>
        <p:txBody>
          <a:bodyPr wrap="square" lIns="0" tIns="0" rIns="0" bIns="0" rtlCol="0" anchor="t"/>
          <a:lstStyle/>
          <a:p>
            <a:pPr marL="0" indent="0">
              <a:buNone/>
            </a:pPr>
            <a:r>
              <a:rPr lang="en-US" sz="1100" i="1">
                <a:solidFill>
                  <a:srgbClr val="595959"/>
                </a:solidFill>
                <a:latin typeface="Arial"/>
                <a:ea typeface="Arial" pitchFamily="34" charset="-122"/>
                <a:cs typeface="Arial"/>
              </a:rPr>
              <a:t>Every input used in the Monte Carlo simulation (team write-up, section 4)</a:t>
            </a:r>
            <a:endParaRPr lang="en-US" sz="1100">
              <a:latin typeface="Arial"/>
              <a:cs typeface="Arial"/>
            </a:endParaRPr>
          </a:p>
        </p:txBody>
      </p:sp>
      <p:sp>
        <p:nvSpPr>
          <p:cNvPr id="10" name="Shape 8"/>
          <p:cNvSpPr/>
          <p:nvPr/>
        </p:nvSpPr>
        <p:spPr>
          <a:xfrm>
            <a:off x="457200" y="1325880"/>
            <a:ext cx="5486400" cy="310896"/>
          </a:xfrm>
          <a:prstGeom prst="rect">
            <a:avLst/>
          </a:prstGeom>
          <a:solidFill>
            <a:srgbClr val="2C5F82"/>
          </a:solidFill>
          <a:ln w="12700">
            <a:solidFill>
              <a:srgbClr val="2C5F82"/>
            </a:solidFill>
            <a:prstDash val="solid"/>
          </a:ln>
        </p:spPr>
        <p:txBody>
          <a:bodyPr/>
          <a:lstStyle/>
          <a:p>
            <a:endParaRPr lang="en-HK"/>
          </a:p>
        </p:txBody>
      </p:sp>
      <p:sp>
        <p:nvSpPr>
          <p:cNvPr id="11" name="Text 9"/>
          <p:cNvSpPr txBox="1"/>
          <p:nvPr/>
        </p:nvSpPr>
        <p:spPr>
          <a:xfrm>
            <a:off x="548640" y="1325880"/>
            <a:ext cx="5303520" cy="310896"/>
          </a:xfrm>
          <a:prstGeom prst="rect">
            <a:avLst/>
          </a:prstGeom>
          <a:noFill/>
          <a:ln/>
        </p:spPr>
        <p:txBody>
          <a:bodyPr wrap="square" lIns="0" tIns="0" rIns="0" bIns="0" rtlCol="0" anchor="ctr"/>
          <a:lstStyle/>
          <a:p>
            <a:pPr marL="0" indent="0">
              <a:buNone/>
            </a:pPr>
            <a:r>
              <a:rPr lang="en-US" sz="1100" b="1">
                <a:solidFill>
                  <a:srgbClr val="FFFFFF"/>
                </a:solidFill>
                <a:latin typeface="Arial"/>
                <a:ea typeface="Arial" pitchFamily="34" charset="-122"/>
                <a:cs typeface="Arial"/>
              </a:rPr>
              <a:t>4.1  Term structure of interest rates</a:t>
            </a:r>
            <a:endParaRPr lang="en-US" sz="1100">
              <a:latin typeface="Arial"/>
              <a:cs typeface="Arial"/>
            </a:endParaRPr>
          </a:p>
        </p:txBody>
      </p:sp>
      <p:graphicFrame>
        <p:nvGraphicFramePr>
          <p:cNvPr id="12" name="Table 0"/>
          <p:cNvGraphicFramePr>
            <a:graphicFrameLocks noGrp="1"/>
          </p:cNvGraphicFramePr>
          <p:nvPr/>
        </p:nvGraphicFramePr>
        <p:xfrm>
          <a:off x="457200" y="1645920"/>
          <a:ext cx="5486400" cy="1645920"/>
        </p:xfrm>
        <a:graphic>
          <a:graphicData uri="http://schemas.openxmlformats.org/drawingml/2006/table">
            <a:tbl>
              <a:tblPr/>
              <a:tblGrid>
                <a:gridCol w="11887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274320">
                <a:tc>
                  <a:txBody>
                    <a:bodyPr/>
                    <a:lstStyle/>
                    <a:p>
                      <a:pPr marL="0" indent="0" algn="ctr">
                        <a:buNone/>
                      </a:pPr>
                      <a:r>
                        <a:rPr lang="en-US" sz="950" b="1">
                          <a:solidFill>
                            <a:srgbClr val="FFFFFF"/>
                          </a:solidFill>
                          <a:latin typeface="Arial" pitchFamily="34" charset="0"/>
                          <a:ea typeface="Arial" pitchFamily="34" charset="-122"/>
                          <a:cs typeface="Arial" pitchFamily="34" charset="-120"/>
                        </a:rPr>
                        <a:t>Year (t)</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Risk-free rate (R)</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Continuous rate r = ln(1 + R)</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Discount factor (D)</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extLst>
                  <a:ext uri="{0D108BD9-81ED-4DB2-BD59-A6C34878D82A}">
                    <a16:rowId xmlns:a16="http://schemas.microsoft.com/office/drawing/2014/main" val="10000"/>
                  </a:ext>
                </a:extLst>
              </a:tr>
              <a:tr h="274320">
                <a:tc>
                  <a:txBody>
                    <a:bodyPr/>
                    <a:lstStyle/>
                    <a:p>
                      <a:pPr marL="0" indent="0" algn="ctr">
                        <a:buNone/>
                      </a:pPr>
                      <a:r>
                        <a:rPr lang="en-US" sz="950" b="1">
                          <a:solidFill>
                            <a:srgbClr val="262626"/>
                          </a:solidFill>
                          <a:latin typeface="Arial" pitchFamily="34" charset="0"/>
                          <a:ea typeface="Arial" pitchFamily="34" charset="-122"/>
                          <a:cs typeface="Arial" pitchFamily="34" charset="-120"/>
                        </a:rPr>
                        <a:t>1</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4.78%</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4.671%</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0.9544</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ctr">
                        <a:buNone/>
                      </a:pPr>
                      <a:r>
                        <a:rPr lang="en-US" sz="950" b="1">
                          <a:solidFill>
                            <a:srgbClr val="262626"/>
                          </a:solidFill>
                          <a:latin typeface="Arial" pitchFamily="34" charset="0"/>
                          <a:ea typeface="Arial" pitchFamily="34" charset="-122"/>
                          <a:cs typeface="Arial" pitchFamily="34" charset="-120"/>
                        </a:rPr>
                        <a:t>2</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5.30%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5.166%</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0.9015</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ctr">
                        <a:buNone/>
                      </a:pPr>
                      <a:r>
                        <a:rPr lang="en-US" sz="950" b="1">
                          <a:solidFill>
                            <a:srgbClr val="262626"/>
                          </a:solidFill>
                          <a:latin typeface="Arial" pitchFamily="34" charset="0"/>
                          <a:ea typeface="Arial" pitchFamily="34" charset="-122"/>
                          <a:cs typeface="Arial" pitchFamily="34" charset="-120"/>
                        </a:rPr>
                        <a:t>3</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5.52%</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5.375%</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0.8466</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ctr">
                        <a:buNone/>
                      </a:pPr>
                      <a:r>
                        <a:rPr lang="en-US" sz="950" b="1">
                          <a:solidFill>
                            <a:srgbClr val="262626"/>
                          </a:solidFill>
                          <a:latin typeface="Arial" pitchFamily="34" charset="0"/>
                          <a:ea typeface="Arial" pitchFamily="34" charset="-122"/>
                          <a:cs typeface="Arial" pitchFamily="34" charset="-120"/>
                        </a:rPr>
                        <a:t>4 (interpolated)</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5.605%</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5.454%</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0.7981</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ctr">
                        <a:buNone/>
                      </a:pPr>
                      <a:r>
                        <a:rPr lang="en-US" sz="950" b="1">
                          <a:solidFill>
                            <a:srgbClr val="262626"/>
                          </a:solidFill>
                          <a:latin typeface="Arial" pitchFamily="34" charset="0"/>
                          <a:ea typeface="Arial" pitchFamily="34" charset="-122"/>
                          <a:cs typeface="Arial" pitchFamily="34" charset="-120"/>
                        </a:rPr>
                        <a:t>5</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5.69%</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5.534%</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0.7510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hape 10"/>
          <p:cNvSpPr/>
          <p:nvPr/>
        </p:nvSpPr>
        <p:spPr>
          <a:xfrm>
            <a:off x="6245352" y="1325880"/>
            <a:ext cx="5486400" cy="310896"/>
          </a:xfrm>
          <a:prstGeom prst="rect">
            <a:avLst/>
          </a:prstGeom>
          <a:solidFill>
            <a:srgbClr val="2C5F82"/>
          </a:solidFill>
          <a:ln w="12700">
            <a:solidFill>
              <a:srgbClr val="2C5F82"/>
            </a:solidFill>
            <a:prstDash val="solid"/>
          </a:ln>
        </p:spPr>
        <p:txBody>
          <a:bodyPr/>
          <a:lstStyle/>
          <a:p>
            <a:endParaRPr lang="en-HK"/>
          </a:p>
        </p:txBody>
      </p:sp>
      <p:sp>
        <p:nvSpPr>
          <p:cNvPr id="14" name="Text 11"/>
          <p:cNvSpPr txBox="1"/>
          <p:nvPr/>
        </p:nvSpPr>
        <p:spPr>
          <a:xfrm>
            <a:off x="6336792" y="1325880"/>
            <a:ext cx="5303520" cy="310896"/>
          </a:xfrm>
          <a:prstGeom prst="rect">
            <a:avLst/>
          </a:prstGeom>
          <a:noFill/>
          <a:ln/>
        </p:spPr>
        <p:txBody>
          <a:bodyPr wrap="square" lIns="0" tIns="0" rIns="0" bIns="0" rtlCol="0" anchor="ctr"/>
          <a:lstStyle/>
          <a:p>
            <a:pPr marL="0" indent="0">
              <a:buNone/>
            </a:pPr>
            <a:r>
              <a:rPr lang="en-US" sz="1100" b="1">
                <a:solidFill>
                  <a:srgbClr val="FFFFFF"/>
                </a:solidFill>
                <a:latin typeface="Arial"/>
                <a:ea typeface="Arial" pitchFamily="34" charset="-122"/>
                <a:cs typeface="Arial"/>
              </a:rPr>
              <a:t>4.2  Correlation matrix (ρ)</a:t>
            </a:r>
            <a:endParaRPr lang="en-US" sz="1100">
              <a:latin typeface="Arial"/>
              <a:cs typeface="Arial"/>
            </a:endParaRPr>
          </a:p>
        </p:txBody>
      </p:sp>
      <p:graphicFrame>
        <p:nvGraphicFramePr>
          <p:cNvPr id="15" name="Table 1"/>
          <p:cNvGraphicFramePr>
            <a:graphicFrameLocks noGrp="1"/>
          </p:cNvGraphicFramePr>
          <p:nvPr>
            <p:extLst>
              <p:ext uri="{D42A27DB-BD31-4B8C-83A1-F6EECF244321}">
                <p14:modId xmlns:p14="http://schemas.microsoft.com/office/powerpoint/2010/main" val="2173932557"/>
              </p:ext>
            </p:extLst>
          </p:nvPr>
        </p:nvGraphicFramePr>
        <p:xfrm>
          <a:off x="6245352" y="1645920"/>
          <a:ext cx="5486400" cy="1645920"/>
        </p:xfrm>
        <a:graphic>
          <a:graphicData uri="http://schemas.openxmlformats.org/drawingml/2006/table">
            <a:tbl>
              <a:tblPr/>
              <a:tblGrid>
                <a:gridCol w="11430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tblGrid>
              <a:tr h="274320">
                <a:tc>
                  <a:txBody>
                    <a:bodyPr/>
                    <a:lstStyle/>
                    <a:p>
                      <a:pPr marL="0" indent="0" algn="ctr">
                        <a:buNone/>
                      </a:pPr>
                      <a:r>
                        <a:rPr lang="en-US" sz="950" b="1">
                          <a:solidFill>
                            <a:srgbClr val="FFFFFF"/>
                          </a:solidFill>
                          <a:latin typeface="Arial" pitchFamily="34" charset="0"/>
                          <a:ea typeface="Arial" pitchFamily="34" charset="-122"/>
                          <a:cs typeface="Arial" pitchFamily="34" charset="-120"/>
                        </a:rPr>
                        <a:t>Asset</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3119.HK</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EWY</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EWT</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2644.T</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00878.TW</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extLst>
                  <a:ext uri="{0D108BD9-81ED-4DB2-BD59-A6C34878D82A}">
                    <a16:rowId xmlns:a16="http://schemas.microsoft.com/office/drawing/2014/main" val="10000"/>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3119.HK</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595959"/>
                          </a:solidFill>
                          <a:latin typeface="Arial" pitchFamily="34" charset="0"/>
                          <a:ea typeface="Arial" pitchFamily="34" charset="-122"/>
                          <a:cs typeface="Arial" pitchFamily="34" charset="-120"/>
                        </a:rPr>
                        <a:t>1.000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0.534</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0.741</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0.863</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0.562</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EWY</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0.534</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595959"/>
                          </a:solidFill>
                          <a:latin typeface="Arial" pitchFamily="34" charset="0"/>
                          <a:ea typeface="Arial" pitchFamily="34" charset="-122"/>
                          <a:cs typeface="Arial" pitchFamily="34" charset="-120"/>
                        </a:rPr>
                        <a:t>1.000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a:ea typeface="Arial" charset="0"/>
                          <a:cs typeface="Arial"/>
                        </a:rPr>
                        <a:t>0.787</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a:ea typeface="Arial" charset="0"/>
                          <a:cs typeface="Arial"/>
                        </a:rPr>
                        <a:t>0.691</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0.438</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EWT</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0.741</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a:ea typeface="Arial" charset="0"/>
                          <a:cs typeface="Arial"/>
                        </a:rPr>
                        <a:t>0.787</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595959"/>
                          </a:solidFill>
                          <a:latin typeface="Arial" pitchFamily="34" charset="0"/>
                          <a:ea typeface="Arial" pitchFamily="34" charset="-122"/>
                          <a:cs typeface="Arial" pitchFamily="34" charset="-120"/>
                        </a:rPr>
                        <a:t>1.000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0.614</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0.689</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2644.T</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0.863</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a:ea typeface="Arial" charset="0"/>
                          <a:cs typeface="Arial"/>
                        </a:rPr>
                        <a:t>0.691</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0.614</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595959"/>
                          </a:solidFill>
                          <a:latin typeface="Arial" pitchFamily="34" charset="0"/>
                          <a:ea typeface="Arial" pitchFamily="34" charset="-122"/>
                          <a:cs typeface="Arial" pitchFamily="34" charset="-120"/>
                        </a:rPr>
                        <a:t>1.000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0.517</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00878.TW</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0.562</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0.438</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0.689</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0.517</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595959"/>
                          </a:solidFill>
                          <a:latin typeface="Arial" pitchFamily="34" charset="0"/>
                          <a:ea typeface="Arial" pitchFamily="34" charset="-122"/>
                          <a:cs typeface="Arial" pitchFamily="34" charset="-120"/>
                        </a:rPr>
                        <a:t>1.000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6" name="Shape 12"/>
          <p:cNvSpPr/>
          <p:nvPr/>
        </p:nvSpPr>
        <p:spPr>
          <a:xfrm>
            <a:off x="457200" y="3520440"/>
            <a:ext cx="5486400" cy="310896"/>
          </a:xfrm>
          <a:prstGeom prst="rect">
            <a:avLst/>
          </a:prstGeom>
          <a:solidFill>
            <a:srgbClr val="2C5F82"/>
          </a:solidFill>
          <a:ln w="12700">
            <a:solidFill>
              <a:srgbClr val="2C5F82"/>
            </a:solidFill>
            <a:prstDash val="solid"/>
          </a:ln>
        </p:spPr>
        <p:txBody>
          <a:bodyPr/>
          <a:lstStyle/>
          <a:p>
            <a:endParaRPr lang="en-HK"/>
          </a:p>
        </p:txBody>
      </p:sp>
      <p:sp>
        <p:nvSpPr>
          <p:cNvPr id="17" name="Text 13"/>
          <p:cNvSpPr txBox="1"/>
          <p:nvPr/>
        </p:nvSpPr>
        <p:spPr>
          <a:xfrm>
            <a:off x="548640" y="3520440"/>
            <a:ext cx="5303520" cy="310896"/>
          </a:xfrm>
          <a:prstGeom prst="rect">
            <a:avLst/>
          </a:prstGeom>
          <a:noFill/>
          <a:ln/>
        </p:spPr>
        <p:txBody>
          <a:bodyPr wrap="square" lIns="0" tIns="0" rIns="0" bIns="0" rtlCol="0" anchor="ctr"/>
          <a:lstStyle/>
          <a:p>
            <a:pPr marL="0" indent="0">
              <a:buNone/>
            </a:pPr>
            <a:r>
              <a:rPr lang="en-US" sz="1100" b="1">
                <a:solidFill>
                  <a:srgbClr val="FFFFFF"/>
                </a:solidFill>
                <a:latin typeface="Arial"/>
                <a:ea typeface="Arial" pitchFamily="34" charset="-122"/>
                <a:cs typeface="Arial"/>
              </a:rPr>
              <a:t>4.3  Implied volatility grid (σ), annualised</a:t>
            </a:r>
            <a:endParaRPr lang="en-US" sz="1100">
              <a:latin typeface="Arial"/>
              <a:cs typeface="Arial"/>
            </a:endParaRPr>
          </a:p>
        </p:txBody>
      </p:sp>
      <p:graphicFrame>
        <p:nvGraphicFramePr>
          <p:cNvPr id="18" name="Table 2"/>
          <p:cNvGraphicFramePr>
            <a:graphicFrameLocks noGrp="1"/>
          </p:cNvGraphicFramePr>
          <p:nvPr/>
        </p:nvGraphicFramePr>
        <p:xfrm>
          <a:off x="457200" y="3840480"/>
          <a:ext cx="5486400" cy="1645920"/>
        </p:xfrm>
        <a:graphic>
          <a:graphicData uri="http://schemas.openxmlformats.org/drawingml/2006/table">
            <a:tbl>
              <a:tblPr/>
              <a:tblGrid>
                <a:gridCol w="11430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tblGrid>
              <a:tr h="274320">
                <a:tc>
                  <a:txBody>
                    <a:bodyPr/>
                    <a:lstStyle/>
                    <a:p>
                      <a:pPr marL="0" indent="0" algn="ctr">
                        <a:buNone/>
                      </a:pPr>
                      <a:r>
                        <a:rPr lang="en-US" sz="950" b="1">
                          <a:solidFill>
                            <a:srgbClr val="FFFFFF"/>
                          </a:solidFill>
                          <a:latin typeface="Arial" pitchFamily="34" charset="0"/>
                          <a:ea typeface="Arial" pitchFamily="34" charset="-122"/>
                          <a:cs typeface="Arial" pitchFamily="34" charset="-120"/>
                        </a:rPr>
                        <a:t>Asset / Year</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Year 1</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Year 2</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Year 3</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Year 4</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Year 5</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extLst>
                  <a:ext uri="{0D108BD9-81ED-4DB2-BD59-A6C34878D82A}">
                    <a16:rowId xmlns:a16="http://schemas.microsoft.com/office/drawing/2014/main" val="10000"/>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3119.HK</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30.45%</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32.34%</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33.50%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36.70%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37.50%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EWY</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41.50%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42.70%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44.50%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44.50%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44.50%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EWT</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32.40%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35.80%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36.30%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36.30%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36.30%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2644.T</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23.00%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24.90%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25.60%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25.60%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25.90%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00878.TW</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7.00%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9.00%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12.00%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12.00%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12.00%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9" name="Shape 14"/>
          <p:cNvSpPr/>
          <p:nvPr/>
        </p:nvSpPr>
        <p:spPr>
          <a:xfrm>
            <a:off x="6245352" y="3520440"/>
            <a:ext cx="5486400" cy="310896"/>
          </a:xfrm>
          <a:prstGeom prst="rect">
            <a:avLst/>
          </a:prstGeom>
          <a:solidFill>
            <a:srgbClr val="2C5F82"/>
          </a:solidFill>
          <a:ln w="12700">
            <a:solidFill>
              <a:srgbClr val="2C5F82"/>
            </a:solidFill>
            <a:prstDash val="solid"/>
          </a:ln>
        </p:spPr>
        <p:txBody>
          <a:bodyPr/>
          <a:lstStyle/>
          <a:p>
            <a:endParaRPr lang="en-HK"/>
          </a:p>
        </p:txBody>
      </p:sp>
      <p:sp>
        <p:nvSpPr>
          <p:cNvPr id="20" name="Text 15"/>
          <p:cNvSpPr txBox="1"/>
          <p:nvPr/>
        </p:nvSpPr>
        <p:spPr>
          <a:xfrm>
            <a:off x="6336792" y="3520440"/>
            <a:ext cx="5303520" cy="310896"/>
          </a:xfrm>
          <a:prstGeom prst="rect">
            <a:avLst/>
          </a:prstGeom>
          <a:noFill/>
          <a:ln/>
        </p:spPr>
        <p:txBody>
          <a:bodyPr wrap="square" lIns="0" tIns="0" rIns="0" bIns="0" rtlCol="0" anchor="ctr"/>
          <a:lstStyle/>
          <a:p>
            <a:pPr marL="0" indent="0">
              <a:buNone/>
            </a:pPr>
            <a:r>
              <a:rPr lang="en-US" sz="1100" b="1">
                <a:solidFill>
                  <a:srgbClr val="FFFFFF"/>
                </a:solidFill>
                <a:latin typeface="Arial"/>
                <a:ea typeface="Arial" pitchFamily="34" charset="-122"/>
                <a:cs typeface="Arial"/>
              </a:rPr>
              <a:t>4.4  Interval variances (ΔV), drive each year's diffusion step</a:t>
            </a:r>
            <a:endParaRPr lang="en-US" sz="1100">
              <a:latin typeface="Arial"/>
              <a:cs typeface="Arial"/>
            </a:endParaRPr>
          </a:p>
        </p:txBody>
      </p:sp>
      <p:graphicFrame>
        <p:nvGraphicFramePr>
          <p:cNvPr id="21" name="Table 3"/>
          <p:cNvGraphicFramePr>
            <a:graphicFrameLocks noGrp="1"/>
          </p:cNvGraphicFramePr>
          <p:nvPr/>
        </p:nvGraphicFramePr>
        <p:xfrm>
          <a:off x="6245352" y="3840480"/>
          <a:ext cx="5486400" cy="1645920"/>
        </p:xfrm>
        <a:graphic>
          <a:graphicData uri="http://schemas.openxmlformats.org/drawingml/2006/table">
            <a:tbl>
              <a:tblPr/>
              <a:tblGrid>
                <a:gridCol w="11430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tblGrid>
              <a:tr h="274320">
                <a:tc>
                  <a:txBody>
                    <a:bodyPr/>
                    <a:lstStyle/>
                    <a:p>
                      <a:pPr marL="0" indent="0" algn="ctr">
                        <a:buNone/>
                      </a:pPr>
                      <a:r>
                        <a:rPr lang="en-US" sz="950" b="1">
                          <a:solidFill>
                            <a:srgbClr val="FFFFFF"/>
                          </a:solidFill>
                          <a:latin typeface="Arial" pitchFamily="34" charset="0"/>
                          <a:ea typeface="Arial" pitchFamily="34" charset="-122"/>
                          <a:cs typeface="Arial" pitchFamily="34" charset="-120"/>
                        </a:rPr>
                        <a:t>Asset / Interval</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Year 1</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Year 2</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Year 3</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Year 4</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marL="0" indent="0" algn="ctr">
                        <a:buNone/>
                      </a:pPr>
                      <a:r>
                        <a:rPr lang="en-US" sz="950" b="1">
                          <a:solidFill>
                            <a:srgbClr val="FFFFFF"/>
                          </a:solidFill>
                          <a:latin typeface="Arial" pitchFamily="34" charset="0"/>
                          <a:ea typeface="Arial" pitchFamily="34" charset="-122"/>
                          <a:cs typeface="Arial" pitchFamily="34" charset="-120"/>
                        </a:rPr>
                        <a:t>Year 5</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extLst>
                  <a:ext uri="{0D108BD9-81ED-4DB2-BD59-A6C34878D82A}">
                    <a16:rowId xmlns:a16="http://schemas.microsoft.com/office/drawing/2014/main" val="10000"/>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3119.HK</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0.0927</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0.1126</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0.1177</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0.1633</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0.1744</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EWY</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0.1722</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0.1868</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0.2078</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0.2078</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0.2078</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EWT</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0.1050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0.1340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0.1384</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0.1384</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0.1406</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2644.T</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0.0529</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0.0620</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0.0655</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0.0655</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0.0689</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l">
                        <a:buNone/>
                      </a:pPr>
                      <a:r>
                        <a:rPr lang="en-US" sz="950" b="1">
                          <a:solidFill>
                            <a:srgbClr val="262626"/>
                          </a:solidFill>
                          <a:latin typeface="Arial" pitchFamily="34" charset="0"/>
                          <a:ea typeface="Arial" pitchFamily="34" charset="-122"/>
                          <a:cs typeface="Arial" pitchFamily="34" charset="-120"/>
                        </a:rPr>
                        <a:t>00878.TW</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0.0049</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0.0081</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0.0162</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0.0162</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950">
                          <a:solidFill>
                            <a:srgbClr val="262626"/>
                          </a:solidFill>
                          <a:latin typeface="Arial" pitchFamily="34" charset="0"/>
                          <a:ea typeface="Arial" pitchFamily="34" charset="-122"/>
                          <a:cs typeface="Arial" pitchFamily="34" charset="-120"/>
                        </a:rPr>
                        <a:t>0.0162</a:t>
                      </a:r>
                      <a:endParaRPr lang="en-US" sz="950">
                        <a:latin typeface="Arial" charset="0"/>
                        <a:ea typeface="Arial" charset="0"/>
                        <a:cs typeface="Arial" charset="0"/>
                      </a:endParaRPr>
                    </a:p>
                  </a:txBody>
                  <a:tcPr marL="38100" marR="381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2" name="Shape 16"/>
          <p:cNvSpPr/>
          <p:nvPr/>
        </p:nvSpPr>
        <p:spPr>
          <a:xfrm>
            <a:off x="457200" y="5577840"/>
            <a:ext cx="11274552" cy="457200"/>
          </a:xfrm>
          <a:prstGeom prst="rect">
            <a:avLst/>
          </a:prstGeom>
          <a:solidFill>
            <a:srgbClr val="2C5F82"/>
          </a:solidFill>
          <a:ln w="12700">
            <a:solidFill>
              <a:srgbClr val="2C5F82"/>
            </a:solidFill>
            <a:prstDash val="solid"/>
          </a:ln>
        </p:spPr>
        <p:txBody>
          <a:bodyPr/>
          <a:lstStyle/>
          <a:p>
            <a:endParaRPr lang="en-HK"/>
          </a:p>
        </p:txBody>
      </p:sp>
      <p:sp>
        <p:nvSpPr>
          <p:cNvPr id="23" name="Text 17"/>
          <p:cNvSpPr txBox="1"/>
          <p:nvPr/>
        </p:nvSpPr>
        <p:spPr>
          <a:xfrm>
            <a:off x="594360" y="5577840"/>
            <a:ext cx="11000232" cy="457200"/>
          </a:xfrm>
          <a:prstGeom prst="rect">
            <a:avLst/>
          </a:prstGeom>
          <a:noFill/>
          <a:ln/>
        </p:spPr>
        <p:txBody>
          <a:bodyPr wrap="square" lIns="0" tIns="0" rIns="0" bIns="0" rtlCol="0" anchor="ctr"/>
          <a:lstStyle/>
          <a:p>
            <a:pPr marL="0" indent="0" algn="ctr">
              <a:buNone/>
            </a:pPr>
            <a:r>
              <a:rPr lang="en-US" sz="1100" b="1">
                <a:solidFill>
                  <a:srgbClr val="FFFFFF"/>
                </a:solidFill>
                <a:latin typeface="Arial"/>
                <a:ea typeface="Arial" pitchFamily="34" charset="-122"/>
                <a:cs typeface="Arial"/>
              </a:rPr>
              <a:t>Basket weights 3119.HK 35% · EWY 20% · EWT 15% · 2644.T 15% · 00878.TW 15%   |   Autocall barriers 102.5% / 100% / 97.5% / 95% / 92.5%   |   Maturity barrier 70%</a:t>
            </a:r>
            <a:endParaRPr lang="en-US" sz="1100">
              <a:latin typeface="Arial"/>
              <a:cs typeface="Arial"/>
            </a:endParaRPr>
          </a:p>
        </p:txBody>
      </p:sp>
      <p:sp>
        <p:nvSpPr>
          <p:cNvPr id="24" name="Text 18"/>
          <p:cNvSpPr txBox="1"/>
          <p:nvPr/>
        </p:nvSpPr>
        <p:spPr>
          <a:xfrm>
            <a:off x="457200" y="6089904"/>
            <a:ext cx="11274552" cy="256032"/>
          </a:xfrm>
          <a:prstGeom prst="rect">
            <a:avLst/>
          </a:prstGeom>
          <a:noFill/>
          <a:ln/>
        </p:spPr>
        <p:txBody>
          <a:bodyPr wrap="square" lIns="0" tIns="0" rIns="0" bIns="0" rtlCol="0" anchor="t"/>
          <a:lstStyle/>
          <a:p>
            <a:pPr marL="0" indent="0">
              <a:buNone/>
            </a:pPr>
            <a:r>
              <a:rPr lang="en-US" sz="800" i="1">
                <a:solidFill>
                  <a:srgbClr val="595959"/>
                </a:solidFill>
                <a:latin typeface="Arial"/>
                <a:ea typeface="Arial" pitchFamily="34" charset="-122"/>
                <a:cs typeface="Arial"/>
              </a:rPr>
              <a:t>Source: team write-up, section 4. Rates: case USD funding grid (Year 4 interpolated). Correlation matrix checked positive definite before the Cholesky decomposition.</a:t>
            </a:r>
            <a:endParaRPr lang="en-US" sz="800">
              <a:latin typeface="Arial"/>
              <a:cs typeface="Arial"/>
            </a:endParaRPr>
          </a:p>
        </p:txBody>
      </p:sp>
      <p:sp>
        <p:nvSpPr>
          <p:cNvPr id="27" name="Text Placeholder 26">
            <a:extLst>
              <a:ext uri="{FF2B5EF4-FFF2-40B4-BE49-F238E27FC236}">
                <a16:creationId xmlns:a16="http://schemas.microsoft.com/office/drawing/2014/main" id="{A805EEFD-913E-F6D3-1EB0-CA2F55801BD3}"/>
              </a:ext>
            </a:extLst>
          </p:cNvPr>
          <p:cNvSpPr>
            <a:spLocks noGrp="1"/>
          </p:cNvSpPr>
          <p:nvPr>
            <p:ph type="body" idx="3"/>
          </p:nvPr>
        </p:nvSpPr>
        <p:spPr/>
        <p:txBody>
          <a:bodyPr/>
          <a:lstStyle/>
          <a:p>
            <a:endParaRPr lang="en-US"/>
          </a:p>
        </p:txBody>
      </p:sp>
      <p:sp>
        <p:nvSpPr>
          <p:cNvPr id="28" name="Text Placeholder 27">
            <a:extLst>
              <a:ext uri="{FF2B5EF4-FFF2-40B4-BE49-F238E27FC236}">
                <a16:creationId xmlns:a16="http://schemas.microsoft.com/office/drawing/2014/main" id="{435730BE-BD14-540B-8817-7365FF239018}"/>
              </a:ext>
            </a:extLst>
          </p:cNvPr>
          <p:cNvSpPr>
            <a:spLocks noGrp="1"/>
          </p:cNvSpPr>
          <p:nvPr>
            <p:ph type="body" idx="10"/>
          </p:nvPr>
        </p:nvSpPr>
        <p:spPr/>
        <p:txBody>
          <a:bodyPr/>
          <a:lstStyle/>
          <a:p>
            <a:endParaRPr lang="en-US"/>
          </a:p>
        </p:txBody>
      </p:sp>
    </p:spTree>
    <p:extLst>
      <p:ext uri="{BB962C8B-B14F-4D97-AF65-F5344CB8AC3E}">
        <p14:creationId xmlns:p14="http://schemas.microsoft.com/office/powerpoint/2010/main" val="1912106600"/>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84632" y="137160"/>
            <a:ext cx="11247120" cy="548640"/>
          </a:xfrm>
          <a:prstGeom prst="rect">
            <a:avLst/>
          </a:prstGeom>
          <a:noFill/>
        </p:spPr>
        <p:txBody>
          <a:bodyPr wrap="square" anchor="ctr" lIns="0" rIns="0" tIns="0" bIns="0">
            <a:spAutoFit/>
          </a:bodyPr>
          <a:lstStyle/>
          <a:p>
            <a:pPr algn="l">
              <a:spcAft>
                <a:spcPts val="300"/>
              </a:spcAft>
            </a:pPr>
            <a:r>
              <a:rPr sz="2200" b="0" i="0">
                <a:solidFill>
                  <a:srgbClr val="262626"/>
                </a:solidFill>
                <a:latin typeface="Arial"/>
              </a:rPr>
              <a:t>Summary: Asia's AI hardware, held through an autocall that pays while markets swing</a:t>
            </a:r>
          </a:p>
        </p:txBody>
      </p:sp>
      <p:sp>
        <p:nvSpPr>
          <p:cNvPr id="3" name="TextBox 2"/>
          <p:cNvSpPr txBox="1"/>
          <p:nvPr/>
        </p:nvSpPr>
        <p:spPr>
          <a:xfrm>
            <a:off x="548640" y="777240"/>
            <a:ext cx="11155680" cy="274320"/>
          </a:xfrm>
          <a:prstGeom prst="rect">
            <a:avLst/>
          </a:prstGeom>
          <a:noFill/>
        </p:spPr>
        <p:txBody>
          <a:bodyPr wrap="square" anchor="t" lIns="0" rIns="0" tIns="0" bIns="0">
            <a:spAutoFit/>
          </a:bodyPr>
          <a:lstStyle/>
          <a:p>
            <a:pPr algn="l">
              <a:spcAft>
                <a:spcPts val="300"/>
              </a:spcAft>
            </a:pPr>
            <a:r>
              <a:rPr sz="1100" b="0" i="1">
                <a:solidFill>
                  <a:srgbClr val="595959"/>
                </a:solidFill>
                <a:latin typeface="Arial"/>
              </a:rPr>
              <a:t>From the family's mandate to the note: what we recommend, why now, and what the family can expect</a:t>
            </a:r>
          </a:p>
        </p:txBody>
      </p:sp>
      <p:sp>
        <p:nvSpPr>
          <p:cNvPr id="4" name="Rectangle 3"/>
          <p:cNvSpPr/>
          <p:nvPr/>
        </p:nvSpPr>
        <p:spPr>
          <a:xfrm>
            <a:off x="548640" y="1188720"/>
            <a:ext cx="2679192" cy="41148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88720"/>
            <a:ext cx="2404872" cy="411480"/>
          </a:xfrm>
          <a:prstGeom prst="rect">
            <a:avLst/>
          </a:prstGeom>
          <a:noFill/>
        </p:spPr>
        <p:txBody>
          <a:bodyPr wrap="square" anchor="ctr" lIns="0" rIns="0" tIns="0" bIns="0">
            <a:spAutoFit/>
          </a:bodyPr>
          <a:lstStyle/>
          <a:p>
            <a:pPr algn="l">
              <a:spcAft>
                <a:spcPts val="300"/>
              </a:spcAft>
            </a:pPr>
            <a:r>
              <a:rPr sz="1300" b="1" i="0">
                <a:solidFill>
                  <a:srgbClr val="8DB3D1"/>
                </a:solidFill>
                <a:latin typeface="Arial"/>
              </a:rPr>
              <a:t>1  </a:t>
            </a:r>
            <a:r>
              <a:rPr sz="1300" b="1" i="0">
                <a:solidFill>
                  <a:srgbClr val="FFFFFF"/>
                </a:solidFill>
                <a:latin typeface="Arial"/>
              </a:rPr>
              <a:t>The client</a:t>
            </a:r>
          </a:p>
        </p:txBody>
      </p:sp>
      <p:sp>
        <p:nvSpPr>
          <p:cNvPr id="6" name="Isosceles Triangle 5"/>
          <p:cNvSpPr/>
          <p:nvPr/>
        </p:nvSpPr>
        <p:spPr>
          <a:xfrm rot="5400000">
            <a:off x="3246120" y="1307592"/>
            <a:ext cx="109728" cy="173736"/>
          </a:xfrm>
          <a:prstGeom prst="triangle">
            <a:avLst/>
          </a:prstGeom>
          <a:solidFill>
            <a:srgbClr val="8DB3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2679192" cy="822960"/>
          </a:xfrm>
          <a:prstGeom prst="rect">
            <a:avLst/>
          </a:prstGeom>
          <a:solidFill>
            <a:srgbClr val="F2F2F2"/>
          </a:solidFill>
          <a:ln>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91640"/>
            <a:ext cx="54864" cy="82296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64792"/>
            <a:ext cx="2404872" cy="713232"/>
          </a:xfrm>
          <a:prstGeom prst="rect">
            <a:avLst/>
          </a:prstGeom>
          <a:noFill/>
        </p:spPr>
        <p:txBody>
          <a:bodyPr wrap="square" anchor="t" lIns="0" rIns="0" tIns="0" bIns="0">
            <a:spAutoFit/>
          </a:bodyPr>
          <a:lstStyle/>
          <a:p>
            <a:pPr algn="l">
              <a:spcAft>
                <a:spcPts val="300"/>
              </a:spcAft>
            </a:pPr>
            <a:r>
              <a:rPr sz="1050" b="1" i="0">
                <a:solidFill>
                  <a:srgbClr val="2C5F82"/>
                </a:solidFill>
                <a:latin typeface="Arial"/>
              </a:rPr>
              <a:t>USD 100mn, 5 years, moderate risk</a:t>
            </a:r>
          </a:p>
          <a:p>
            <a:pPr algn="l">
              <a:spcAft>
                <a:spcPts val="300"/>
              </a:spcAft>
            </a:pPr>
            <a:r>
              <a:rPr sz="950" b="0" i="0">
                <a:solidFill>
                  <a:srgbClr val="262626"/>
                </a:solidFill>
                <a:latin typeface="Arial"/>
              </a:rPr>
              <a:t>Chak family office (NKE Private Wealth); ~5% of family wealth.</a:t>
            </a:r>
          </a:p>
        </p:txBody>
      </p:sp>
      <p:sp>
        <p:nvSpPr>
          <p:cNvPr id="10" name="Rectangle 9"/>
          <p:cNvSpPr/>
          <p:nvPr/>
        </p:nvSpPr>
        <p:spPr>
          <a:xfrm>
            <a:off x="548640" y="2578608"/>
            <a:ext cx="2679192" cy="822960"/>
          </a:xfrm>
          <a:prstGeom prst="rect">
            <a:avLst/>
          </a:prstGeom>
          <a:solidFill>
            <a:srgbClr val="FFFFFF"/>
          </a:solidFill>
          <a:ln>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578608"/>
            <a:ext cx="54864" cy="82296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651760"/>
            <a:ext cx="2404872" cy="713232"/>
          </a:xfrm>
          <a:prstGeom prst="rect">
            <a:avLst/>
          </a:prstGeom>
          <a:noFill/>
        </p:spPr>
        <p:txBody>
          <a:bodyPr wrap="square" anchor="t" lIns="0" rIns="0" tIns="0" bIns="0">
            <a:spAutoFit/>
          </a:bodyPr>
          <a:lstStyle/>
          <a:p>
            <a:pPr algn="l">
              <a:spcAft>
                <a:spcPts val="300"/>
              </a:spcAft>
            </a:pPr>
            <a:r>
              <a:rPr sz="1050" b="1" i="0">
                <a:solidFill>
                  <a:srgbClr val="2C5F82"/>
                </a:solidFill>
                <a:latin typeface="Arial"/>
              </a:rPr>
              <a:t>Two goals</a:t>
            </a:r>
          </a:p>
          <a:p>
            <a:pPr algn="l">
              <a:spcAft>
                <a:spcPts val="300"/>
              </a:spcAft>
            </a:pPr>
            <a:r>
              <a:rPr sz="950" b="0" i="0">
                <a:solidFill>
                  <a:srgbClr val="262626"/>
                </a:solidFill>
                <a:latin typeface="Arial"/>
              </a:rPr>
              <a:t>Compound capital for the next generation, and own Asia's digital transformation.</a:t>
            </a:r>
          </a:p>
        </p:txBody>
      </p:sp>
      <p:sp>
        <p:nvSpPr>
          <p:cNvPr id="13" name="Rectangle 12"/>
          <p:cNvSpPr/>
          <p:nvPr/>
        </p:nvSpPr>
        <p:spPr>
          <a:xfrm>
            <a:off x="548640" y="3465576"/>
            <a:ext cx="2679192" cy="822960"/>
          </a:xfrm>
          <a:prstGeom prst="rect">
            <a:avLst/>
          </a:prstGeom>
          <a:solidFill>
            <a:srgbClr val="F2F2F2"/>
          </a:solidFill>
          <a:ln>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465576"/>
            <a:ext cx="54864" cy="82296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3538728"/>
            <a:ext cx="2404872" cy="713232"/>
          </a:xfrm>
          <a:prstGeom prst="rect">
            <a:avLst/>
          </a:prstGeom>
          <a:noFill/>
        </p:spPr>
        <p:txBody>
          <a:bodyPr wrap="square" anchor="t" lIns="0" rIns="0" tIns="0" bIns="0">
            <a:spAutoFit/>
          </a:bodyPr>
          <a:lstStyle/>
          <a:p>
            <a:pPr algn="l">
              <a:spcAft>
                <a:spcPts val="300"/>
              </a:spcAft>
            </a:pPr>
            <a:r>
              <a:rPr sz="1050" b="1" i="0">
                <a:solidFill>
                  <a:srgbClr val="2C5F82"/>
                </a:solidFill>
                <a:latin typeface="Arial"/>
              </a:rPr>
              <a:t>One constraint</a:t>
            </a:r>
          </a:p>
          <a:p>
            <a:pPr algn="l">
              <a:spcAft>
                <a:spcPts val="300"/>
              </a:spcAft>
            </a:pPr>
            <a:r>
              <a:rPr sz="950" b="0" i="0">
                <a:solidFill>
                  <a:srgbClr val="262626"/>
                </a:solidFill>
                <a:latin typeface="Arial"/>
              </a:rPr>
              <a:t>A defined capital barrier, not an open-ended equity drawdown.</a:t>
            </a:r>
          </a:p>
        </p:txBody>
      </p:sp>
      <p:sp>
        <p:nvSpPr>
          <p:cNvPr id="16" name="Rectangle 15"/>
          <p:cNvSpPr/>
          <p:nvPr/>
        </p:nvSpPr>
        <p:spPr>
          <a:xfrm>
            <a:off x="3374136" y="1188720"/>
            <a:ext cx="2679192" cy="41148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11296" y="1188720"/>
            <a:ext cx="2404872" cy="411480"/>
          </a:xfrm>
          <a:prstGeom prst="rect">
            <a:avLst/>
          </a:prstGeom>
          <a:noFill/>
        </p:spPr>
        <p:txBody>
          <a:bodyPr wrap="square" anchor="ctr" lIns="0" rIns="0" tIns="0" bIns="0">
            <a:spAutoFit/>
          </a:bodyPr>
          <a:lstStyle/>
          <a:p>
            <a:pPr algn="l">
              <a:spcAft>
                <a:spcPts val="300"/>
              </a:spcAft>
            </a:pPr>
            <a:r>
              <a:rPr sz="1300" b="1" i="0">
                <a:solidFill>
                  <a:srgbClr val="8DB3D1"/>
                </a:solidFill>
                <a:latin typeface="Arial"/>
              </a:rPr>
              <a:t>2  </a:t>
            </a:r>
            <a:r>
              <a:rPr sz="1300" b="1" i="0">
                <a:solidFill>
                  <a:srgbClr val="FFFFFF"/>
                </a:solidFill>
                <a:latin typeface="Arial"/>
              </a:rPr>
              <a:t>The thesis</a:t>
            </a:r>
          </a:p>
        </p:txBody>
      </p:sp>
      <p:sp>
        <p:nvSpPr>
          <p:cNvPr id="18" name="Isosceles Triangle 17"/>
          <p:cNvSpPr/>
          <p:nvPr/>
        </p:nvSpPr>
        <p:spPr>
          <a:xfrm rot="5400000">
            <a:off x="6071616" y="1307592"/>
            <a:ext cx="109728" cy="173736"/>
          </a:xfrm>
          <a:prstGeom prst="triangle">
            <a:avLst/>
          </a:prstGeom>
          <a:solidFill>
            <a:srgbClr val="8DB3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74136" y="1691640"/>
            <a:ext cx="2679192" cy="822960"/>
          </a:xfrm>
          <a:prstGeom prst="rect">
            <a:avLst/>
          </a:prstGeom>
          <a:solidFill>
            <a:srgbClr val="F2F2F2"/>
          </a:solidFill>
          <a:ln>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74136" y="1691640"/>
            <a:ext cx="54864" cy="82296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38728" y="1764792"/>
            <a:ext cx="2404872" cy="713232"/>
          </a:xfrm>
          <a:prstGeom prst="rect">
            <a:avLst/>
          </a:prstGeom>
          <a:noFill/>
        </p:spPr>
        <p:txBody>
          <a:bodyPr wrap="square" anchor="t" lIns="0" rIns="0" tIns="0" bIns="0">
            <a:spAutoFit/>
          </a:bodyPr>
          <a:lstStyle/>
          <a:p>
            <a:pPr algn="l">
              <a:spcAft>
                <a:spcPts val="300"/>
              </a:spcAft>
            </a:pPr>
            <a:r>
              <a:rPr sz="1050" b="1" i="0">
                <a:solidFill>
                  <a:srgbClr val="2C5F82"/>
                </a:solidFill>
                <a:latin typeface="Arial"/>
              </a:rPr>
              <a:t>Asia controls AI's hardware</a:t>
            </a:r>
          </a:p>
          <a:p>
            <a:pPr algn="l">
              <a:spcAft>
                <a:spcPts val="300"/>
              </a:spcAft>
            </a:pPr>
            <a:r>
              <a:rPr sz="950" b="0" i="0">
                <a:solidFill>
                  <a:srgbClr val="262626"/>
                </a:solidFill>
                <a:latin typeface="Arial"/>
              </a:rPr>
              <a:t>~70% of foundry (Taiwan), 83% of HBM (Korea), ~55% of chip test (Japan).</a:t>
            </a:r>
          </a:p>
        </p:txBody>
      </p:sp>
      <p:sp>
        <p:nvSpPr>
          <p:cNvPr id="22" name="Rectangle 21"/>
          <p:cNvSpPr/>
          <p:nvPr/>
        </p:nvSpPr>
        <p:spPr>
          <a:xfrm>
            <a:off x="3374136" y="2578608"/>
            <a:ext cx="2679192" cy="822960"/>
          </a:xfrm>
          <a:prstGeom prst="rect">
            <a:avLst/>
          </a:prstGeom>
          <a:solidFill>
            <a:srgbClr val="FFFFFF"/>
          </a:solidFill>
          <a:ln>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74136" y="2578608"/>
            <a:ext cx="54864" cy="822960"/>
          </a:xfrm>
          <a:prstGeom prst="rect">
            <a:avLst/>
          </a:prstGeom>
          <a:solidFill>
            <a:srgbClr val="B2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38728" y="2651760"/>
            <a:ext cx="2404872" cy="713232"/>
          </a:xfrm>
          <a:prstGeom prst="rect">
            <a:avLst/>
          </a:prstGeom>
          <a:noFill/>
        </p:spPr>
        <p:txBody>
          <a:bodyPr wrap="square" anchor="t" lIns="0" rIns="0" tIns="0" bIns="0">
            <a:spAutoFit/>
          </a:bodyPr>
          <a:lstStyle/>
          <a:p>
            <a:pPr algn="l">
              <a:spcAft>
                <a:spcPts val="300"/>
              </a:spcAft>
            </a:pPr>
            <a:r>
              <a:rPr sz="1050" b="1" i="0">
                <a:solidFill>
                  <a:srgbClr val="2C5F82"/>
                </a:solidFill>
                <a:latin typeface="Arial"/>
              </a:rPr>
              <a:t>But the path is violent</a:t>
            </a:r>
          </a:p>
          <a:p>
            <a:pPr algn="l">
              <a:spcAft>
                <a:spcPts val="300"/>
              </a:spcAft>
            </a:pPr>
            <a:r>
              <a:rPr sz="950" b="0" i="0">
                <a:solidFill>
                  <a:srgbClr val="262626"/>
                </a:solidFill>
                <a:latin typeface="Arial"/>
              </a:rPr>
              <a:t>KOSPI −25% in ten weeks; VKOSPI at a record 91.2.</a:t>
            </a:r>
          </a:p>
        </p:txBody>
      </p:sp>
      <p:sp>
        <p:nvSpPr>
          <p:cNvPr id="25" name="Rectangle 24"/>
          <p:cNvSpPr/>
          <p:nvPr/>
        </p:nvSpPr>
        <p:spPr>
          <a:xfrm>
            <a:off x="3374136" y="3465576"/>
            <a:ext cx="2679192" cy="822960"/>
          </a:xfrm>
          <a:prstGeom prst="rect">
            <a:avLst/>
          </a:prstGeom>
          <a:solidFill>
            <a:srgbClr val="F2F2F2"/>
          </a:solidFill>
          <a:ln>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74136" y="3465576"/>
            <a:ext cx="54864" cy="82296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38728" y="3538728"/>
            <a:ext cx="2404872" cy="713232"/>
          </a:xfrm>
          <a:prstGeom prst="rect">
            <a:avLst/>
          </a:prstGeom>
          <a:noFill/>
        </p:spPr>
        <p:txBody>
          <a:bodyPr wrap="square" anchor="t" lIns="0" rIns="0" tIns="0" bIns="0">
            <a:spAutoFit/>
          </a:bodyPr>
          <a:lstStyle/>
          <a:p>
            <a:pPr algn="l">
              <a:spcAft>
                <a:spcPts val="300"/>
              </a:spcAft>
            </a:pPr>
            <a:r>
              <a:rPr sz="1050" b="1" i="0">
                <a:solidFill>
                  <a:srgbClr val="2C5F82"/>
                </a:solidFill>
                <a:latin typeface="Arial"/>
              </a:rPr>
              <a:t>And rates stay high</a:t>
            </a:r>
          </a:p>
          <a:p>
            <a:pPr algn="l">
              <a:spcAft>
                <a:spcPts val="300"/>
              </a:spcAft>
            </a:pPr>
            <a:r>
              <a:rPr sz="950" b="0" i="0">
                <a:solidFill>
                  <a:srgbClr val="262626"/>
                </a:solidFill>
                <a:latin typeface="Arial"/>
              </a:rPr>
              <a:t>FOMC median 4.125% to end-2027; long bonds lose ~4% per 1% rise.</a:t>
            </a:r>
          </a:p>
        </p:txBody>
      </p:sp>
      <p:sp>
        <p:nvSpPr>
          <p:cNvPr id="28" name="Rectangle 27"/>
          <p:cNvSpPr/>
          <p:nvPr/>
        </p:nvSpPr>
        <p:spPr>
          <a:xfrm>
            <a:off x="6199632" y="1188720"/>
            <a:ext cx="2679192" cy="41148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36792" y="1188720"/>
            <a:ext cx="2404872" cy="411480"/>
          </a:xfrm>
          <a:prstGeom prst="rect">
            <a:avLst/>
          </a:prstGeom>
          <a:noFill/>
        </p:spPr>
        <p:txBody>
          <a:bodyPr wrap="square" anchor="ctr" lIns="0" rIns="0" tIns="0" bIns="0">
            <a:spAutoFit/>
          </a:bodyPr>
          <a:lstStyle/>
          <a:p>
            <a:pPr algn="l">
              <a:spcAft>
                <a:spcPts val="300"/>
              </a:spcAft>
            </a:pPr>
            <a:r>
              <a:rPr sz="1300" b="1" i="0">
                <a:solidFill>
                  <a:srgbClr val="8DB3D1"/>
                </a:solidFill>
                <a:latin typeface="Arial"/>
              </a:rPr>
              <a:t>3  </a:t>
            </a:r>
            <a:r>
              <a:rPr sz="1300" b="1" i="0">
                <a:solidFill>
                  <a:srgbClr val="FFFFFF"/>
                </a:solidFill>
                <a:latin typeface="Arial"/>
              </a:rPr>
              <a:t>The product</a:t>
            </a:r>
          </a:p>
        </p:txBody>
      </p:sp>
      <p:sp>
        <p:nvSpPr>
          <p:cNvPr id="30" name="Isosceles Triangle 29"/>
          <p:cNvSpPr/>
          <p:nvPr/>
        </p:nvSpPr>
        <p:spPr>
          <a:xfrm rot="5400000">
            <a:off x="8897112" y="1307592"/>
            <a:ext cx="109728" cy="173736"/>
          </a:xfrm>
          <a:prstGeom prst="triangle">
            <a:avLst/>
          </a:prstGeom>
          <a:solidFill>
            <a:srgbClr val="8DB3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99632" y="1691640"/>
            <a:ext cx="2679192" cy="822960"/>
          </a:xfrm>
          <a:prstGeom prst="rect">
            <a:avLst/>
          </a:prstGeom>
          <a:solidFill>
            <a:srgbClr val="F2F2F2"/>
          </a:solidFill>
          <a:ln>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99632" y="1691640"/>
            <a:ext cx="54864" cy="82296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64224" y="1764792"/>
            <a:ext cx="2404872" cy="713232"/>
          </a:xfrm>
          <a:prstGeom prst="rect">
            <a:avLst/>
          </a:prstGeom>
          <a:noFill/>
        </p:spPr>
        <p:txBody>
          <a:bodyPr wrap="square" anchor="t" lIns="0" rIns="0" tIns="0" bIns="0">
            <a:spAutoFit/>
          </a:bodyPr>
          <a:lstStyle/>
          <a:p>
            <a:pPr algn="l">
              <a:spcAft>
                <a:spcPts val="300"/>
              </a:spcAft>
            </a:pPr>
            <a:r>
              <a:rPr sz="1050" b="1" i="0">
                <a:solidFill>
                  <a:srgbClr val="2C5F82"/>
                </a:solidFill>
                <a:latin typeface="Arial"/>
              </a:rPr>
              <a:t>12.75% a year, 5Y autocallable note</a:t>
            </a:r>
          </a:p>
          <a:p>
            <a:pPr algn="l">
              <a:spcAft>
                <a:spcPts val="300"/>
              </a:spcAft>
            </a:pPr>
            <a:r>
              <a:rPr sz="950" b="0" i="0">
                <a:solidFill>
                  <a:srgbClr val="262626"/>
                </a:solidFill>
                <a:latin typeface="Arial"/>
              </a:rPr>
              <a:t>Natixis-issued, USD 100mn, five Asian ETFs: 3119 HK 35%, EWY 20%, EWT 15%, 2644 JP 15%, 00878 TT 15%.</a:t>
            </a:r>
          </a:p>
        </p:txBody>
      </p:sp>
      <p:sp>
        <p:nvSpPr>
          <p:cNvPr id="34" name="Rectangle 33"/>
          <p:cNvSpPr/>
          <p:nvPr/>
        </p:nvSpPr>
        <p:spPr>
          <a:xfrm>
            <a:off x="6199632" y="2578608"/>
            <a:ext cx="2679192" cy="822960"/>
          </a:xfrm>
          <a:prstGeom prst="rect">
            <a:avLst/>
          </a:prstGeom>
          <a:solidFill>
            <a:srgbClr val="FFFFFF"/>
          </a:solidFill>
          <a:ln>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99632" y="2578608"/>
            <a:ext cx="54864" cy="82296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64224" y="2651760"/>
            <a:ext cx="2404872" cy="713232"/>
          </a:xfrm>
          <a:prstGeom prst="rect">
            <a:avLst/>
          </a:prstGeom>
          <a:noFill/>
        </p:spPr>
        <p:txBody>
          <a:bodyPr wrap="square" anchor="t" lIns="0" rIns="0" tIns="0" bIns="0">
            <a:spAutoFit/>
          </a:bodyPr>
          <a:lstStyle/>
          <a:p>
            <a:pPr algn="l">
              <a:spcAft>
                <a:spcPts val="300"/>
              </a:spcAft>
            </a:pPr>
            <a:r>
              <a:rPr sz="1050" b="1" i="0">
                <a:solidFill>
                  <a:srgbClr val="2C5F82"/>
                </a:solidFill>
                <a:latin typeface="Arial"/>
              </a:rPr>
              <a:t>Step-down call, yearly</a:t>
            </a:r>
          </a:p>
          <a:p>
            <a:pPr algn="l">
              <a:spcAft>
                <a:spcPts val="300"/>
              </a:spcAft>
            </a:pPr>
            <a:r>
              <a:rPr sz="950" b="0" i="0">
                <a:solidFill>
                  <a:srgbClr val="262626"/>
                </a:solidFill>
                <a:latin typeface="Arial"/>
              </a:rPr>
              <a:t>Called if the basket ≥ 102.5% in Y1, falling 2.5% a year to 92.5% in Y5; pays 100% + 12.75% × years.</a:t>
            </a:r>
          </a:p>
        </p:txBody>
      </p:sp>
      <p:sp>
        <p:nvSpPr>
          <p:cNvPr id="37" name="Rectangle 36"/>
          <p:cNvSpPr/>
          <p:nvPr/>
        </p:nvSpPr>
        <p:spPr>
          <a:xfrm>
            <a:off x="6199632" y="3465576"/>
            <a:ext cx="2679192" cy="822960"/>
          </a:xfrm>
          <a:prstGeom prst="rect">
            <a:avLst/>
          </a:prstGeom>
          <a:solidFill>
            <a:srgbClr val="F2F2F2"/>
          </a:solidFill>
          <a:ln>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99632" y="3465576"/>
            <a:ext cx="54864" cy="82296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64224" y="3538728"/>
            <a:ext cx="2404872" cy="713232"/>
          </a:xfrm>
          <a:prstGeom prst="rect">
            <a:avLst/>
          </a:prstGeom>
          <a:noFill/>
        </p:spPr>
        <p:txBody>
          <a:bodyPr wrap="square" anchor="t" lIns="0" rIns="0" tIns="0" bIns="0">
            <a:spAutoFit/>
          </a:bodyPr>
          <a:lstStyle/>
          <a:p>
            <a:pPr algn="l">
              <a:spcAft>
                <a:spcPts val="300"/>
              </a:spcAft>
            </a:pPr>
            <a:r>
              <a:rPr sz="1050" b="1" i="0">
                <a:solidFill>
                  <a:srgbClr val="2C5F82"/>
                </a:solidFill>
                <a:latin typeface="Arial"/>
              </a:rPr>
              <a:t>70% barrier at maturity only</a:t>
            </a:r>
          </a:p>
          <a:p>
            <a:pPr algn="l">
              <a:spcAft>
                <a:spcPts val="300"/>
              </a:spcAft>
            </a:pPr>
            <a:r>
              <a:rPr sz="950" b="0" i="0">
                <a:solidFill>
                  <a:srgbClr val="262626"/>
                </a:solidFill>
                <a:latin typeface="Arial"/>
              </a:rPr>
              <a:t>If never called, 100% back unless the basket ends below 70%.</a:t>
            </a:r>
          </a:p>
        </p:txBody>
      </p:sp>
      <p:sp>
        <p:nvSpPr>
          <p:cNvPr id="40" name="Rectangle 39"/>
          <p:cNvSpPr/>
          <p:nvPr/>
        </p:nvSpPr>
        <p:spPr>
          <a:xfrm>
            <a:off x="9025128" y="1188720"/>
            <a:ext cx="2679192" cy="41148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62288" y="1188720"/>
            <a:ext cx="2404872" cy="411480"/>
          </a:xfrm>
          <a:prstGeom prst="rect">
            <a:avLst/>
          </a:prstGeom>
          <a:noFill/>
        </p:spPr>
        <p:txBody>
          <a:bodyPr wrap="square" anchor="ctr" lIns="0" rIns="0" tIns="0" bIns="0">
            <a:spAutoFit/>
          </a:bodyPr>
          <a:lstStyle/>
          <a:p>
            <a:pPr algn="l">
              <a:spcAft>
                <a:spcPts val="300"/>
              </a:spcAft>
            </a:pPr>
            <a:r>
              <a:rPr sz="1300" b="1" i="0">
                <a:solidFill>
                  <a:srgbClr val="8DB3D1"/>
                </a:solidFill>
                <a:latin typeface="Arial"/>
              </a:rPr>
              <a:t>4  </a:t>
            </a:r>
            <a:r>
              <a:rPr sz="1300" b="1" i="0">
                <a:solidFill>
                  <a:srgbClr val="FFFFFF"/>
                </a:solidFill>
                <a:latin typeface="Arial"/>
              </a:rPr>
              <a:t>The outcome</a:t>
            </a:r>
          </a:p>
        </p:txBody>
      </p:sp>
      <p:sp>
        <p:nvSpPr>
          <p:cNvPr id="42" name="Rectangle 41"/>
          <p:cNvSpPr/>
          <p:nvPr/>
        </p:nvSpPr>
        <p:spPr>
          <a:xfrm>
            <a:off x="9025128" y="1691640"/>
            <a:ext cx="2679192" cy="822960"/>
          </a:xfrm>
          <a:prstGeom prst="rect">
            <a:avLst/>
          </a:prstGeom>
          <a:solidFill>
            <a:srgbClr val="F2F2F2"/>
          </a:solidFill>
          <a:ln>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025128" y="1691640"/>
            <a:ext cx="54864" cy="82296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89720" y="1764792"/>
            <a:ext cx="2404872" cy="713232"/>
          </a:xfrm>
          <a:prstGeom prst="rect">
            <a:avLst/>
          </a:prstGeom>
          <a:noFill/>
        </p:spPr>
        <p:txBody>
          <a:bodyPr wrap="square" anchor="t" lIns="0" rIns="0" tIns="0" bIns="0">
            <a:spAutoFit/>
          </a:bodyPr>
          <a:lstStyle/>
          <a:p>
            <a:pPr algn="l">
              <a:spcAft>
                <a:spcPts val="300"/>
              </a:spcAft>
            </a:pPr>
            <a:r>
              <a:rPr sz="1050" b="1" i="0">
                <a:solidFill>
                  <a:srgbClr val="2C5F82"/>
                </a:solidFill>
                <a:latin typeface="Arial"/>
              </a:rPr>
              <a:t>Capital usually back early</a:t>
            </a:r>
          </a:p>
          <a:p>
            <a:pPr algn="l">
              <a:spcAft>
                <a:spcPts val="300"/>
              </a:spcAft>
            </a:pPr>
            <a:r>
              <a:rPr sz="950" b="0" i="0">
                <a:solidFill>
                  <a:srgbClr val="262626"/>
                </a:solidFill>
                <a:latin typeface="Arial"/>
              </a:rPr>
              <a:t>78% called in year 1 (112.75%); 99.3% called within five years.</a:t>
            </a:r>
          </a:p>
        </p:txBody>
      </p:sp>
      <p:sp>
        <p:nvSpPr>
          <p:cNvPr id="45" name="Rectangle 44"/>
          <p:cNvSpPr/>
          <p:nvPr/>
        </p:nvSpPr>
        <p:spPr>
          <a:xfrm>
            <a:off x="9025128" y="2578608"/>
            <a:ext cx="2679192" cy="822960"/>
          </a:xfrm>
          <a:prstGeom prst="rect">
            <a:avLst/>
          </a:prstGeom>
          <a:solidFill>
            <a:srgbClr val="FFFFFF"/>
          </a:solidFill>
          <a:ln>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025128" y="2578608"/>
            <a:ext cx="54864" cy="82296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89720" y="2651760"/>
            <a:ext cx="2404872" cy="713232"/>
          </a:xfrm>
          <a:prstGeom prst="rect">
            <a:avLst/>
          </a:prstGeom>
          <a:noFill/>
        </p:spPr>
        <p:txBody>
          <a:bodyPr wrap="square" anchor="t" lIns="0" rIns="0" tIns="0" bIns="0">
            <a:spAutoFit/>
          </a:bodyPr>
          <a:lstStyle/>
          <a:p>
            <a:pPr algn="l">
              <a:spcAft>
                <a:spcPts val="300"/>
              </a:spcAft>
            </a:pPr>
            <a:r>
              <a:rPr sz="1050" b="1" i="0">
                <a:solidFill>
                  <a:srgbClr val="2C5F82"/>
                </a:solidFill>
                <a:latin typeface="Arial"/>
              </a:rPr>
              <a:t>Loss is rare</a:t>
            </a:r>
          </a:p>
          <a:p>
            <a:pPr algn="l">
              <a:spcAft>
                <a:spcPts val="300"/>
              </a:spcAft>
            </a:pPr>
            <a:r>
              <a:rPr sz="950" b="0" i="0">
                <a:solidFill>
                  <a:srgbClr val="262626"/>
                </a:solidFill>
                <a:latin typeface="Arial"/>
              </a:rPr>
              <a:t>0.2% of paths end below 70%, where the family takes the basket's fall.</a:t>
            </a:r>
          </a:p>
        </p:txBody>
      </p:sp>
      <p:sp>
        <p:nvSpPr>
          <p:cNvPr id="48" name="Rectangle 47"/>
          <p:cNvSpPr/>
          <p:nvPr/>
        </p:nvSpPr>
        <p:spPr>
          <a:xfrm>
            <a:off x="9025128" y="3465576"/>
            <a:ext cx="2679192" cy="822960"/>
          </a:xfrm>
          <a:prstGeom prst="rect">
            <a:avLst/>
          </a:prstGeom>
          <a:solidFill>
            <a:srgbClr val="F2F2F2"/>
          </a:solidFill>
          <a:ln>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025128" y="3465576"/>
            <a:ext cx="54864" cy="82296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89720" y="3538728"/>
            <a:ext cx="2404872" cy="713232"/>
          </a:xfrm>
          <a:prstGeom prst="rect">
            <a:avLst/>
          </a:prstGeom>
          <a:noFill/>
        </p:spPr>
        <p:txBody>
          <a:bodyPr wrap="square" anchor="t" lIns="0" rIns="0" tIns="0" bIns="0">
            <a:spAutoFit/>
          </a:bodyPr>
          <a:lstStyle/>
          <a:p>
            <a:pPr algn="l">
              <a:spcAft>
                <a:spcPts val="300"/>
              </a:spcAft>
            </a:pPr>
            <a:r>
              <a:rPr sz="1050" b="1" i="0">
                <a:solidFill>
                  <a:srgbClr val="2C5F82"/>
                </a:solidFill>
                <a:latin typeface="Arial"/>
              </a:rPr>
              <a:t>Priced with room</a:t>
            </a:r>
          </a:p>
          <a:p>
            <a:pPr algn="l">
              <a:spcAft>
                <a:spcPts val="300"/>
              </a:spcAft>
            </a:pPr>
            <a:r>
              <a:rPr sz="950" b="0" i="0">
                <a:solidFill>
                  <a:srgbClr val="262626"/>
                </a:solidFill>
                <a:latin typeface="Arial"/>
              </a:rPr>
              <a:t>Fair coupon 14.09%: Natixis keeps 1.34% a year for hedging and margin.</a:t>
            </a:r>
          </a:p>
        </p:txBody>
      </p:sp>
      <p:sp>
        <p:nvSpPr>
          <p:cNvPr id="51" name="TextBox 50"/>
          <p:cNvSpPr txBox="1"/>
          <p:nvPr/>
        </p:nvSpPr>
        <p:spPr>
          <a:xfrm>
            <a:off x="548640" y="4389120"/>
            <a:ext cx="11155680" cy="256032"/>
          </a:xfrm>
          <a:prstGeom prst="rect">
            <a:avLst/>
          </a:prstGeom>
          <a:noFill/>
        </p:spPr>
        <p:txBody>
          <a:bodyPr wrap="square" anchor="t" lIns="0" rIns="0" tIns="0" bIns="0">
            <a:spAutoFit/>
          </a:bodyPr>
          <a:lstStyle/>
          <a:p>
            <a:pPr algn="l">
              <a:spcAft>
                <a:spcPts val="300"/>
              </a:spcAft>
            </a:pPr>
            <a:r>
              <a:rPr sz="1150" b="1" i="0">
                <a:solidFill>
                  <a:srgbClr val="2C5F82"/>
                </a:solidFill>
                <a:latin typeface="Arial"/>
              </a:rPr>
              <a:t>Why it fits the family</a:t>
            </a:r>
          </a:p>
        </p:txBody>
      </p:sp>
      <p:sp>
        <p:nvSpPr>
          <p:cNvPr id="52" name="Rectangle 51"/>
          <p:cNvSpPr/>
          <p:nvPr/>
        </p:nvSpPr>
        <p:spPr>
          <a:xfrm>
            <a:off x="548640" y="4681728"/>
            <a:ext cx="3621023" cy="713232"/>
          </a:xfrm>
          <a:prstGeom prst="rect">
            <a:avLst/>
          </a:prstGeom>
          <a:solidFill>
            <a:srgbClr val="E8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 y="4681728"/>
            <a:ext cx="1143000" cy="713232"/>
          </a:xfrm>
          <a:prstGeom prst="rect">
            <a:avLst/>
          </a:prstGeom>
          <a:noFill/>
        </p:spPr>
        <p:txBody>
          <a:bodyPr wrap="square" anchor="ctr" lIns="0" rIns="0" tIns="0" bIns="0">
            <a:spAutoFit/>
          </a:bodyPr>
          <a:lstStyle/>
          <a:p>
            <a:pPr algn="ctr">
              <a:spcAft>
                <a:spcPts val="300"/>
              </a:spcAft>
            </a:pPr>
            <a:r>
              <a:rPr sz="1900" b="1" i="0">
                <a:solidFill>
                  <a:srgbClr val="2C5F82"/>
                </a:solidFill>
                <a:latin typeface="Arial"/>
              </a:rPr>
              <a:t>12.75%</a:t>
            </a:r>
          </a:p>
        </p:txBody>
      </p:sp>
      <p:sp>
        <p:nvSpPr>
          <p:cNvPr id="54" name="TextBox 53"/>
          <p:cNvSpPr txBox="1"/>
          <p:nvPr/>
        </p:nvSpPr>
        <p:spPr>
          <a:xfrm>
            <a:off x="1874519" y="4681728"/>
            <a:ext cx="2203703" cy="713232"/>
          </a:xfrm>
          <a:prstGeom prst="rect">
            <a:avLst/>
          </a:prstGeom>
          <a:noFill/>
        </p:spPr>
        <p:txBody>
          <a:bodyPr wrap="square" anchor="ctr" lIns="0" rIns="0" tIns="0" bIns="0">
            <a:spAutoFit/>
          </a:bodyPr>
          <a:lstStyle/>
          <a:p>
            <a:pPr algn="l">
              <a:spcAft>
                <a:spcPts val="300"/>
              </a:spcAft>
            </a:pPr>
            <a:r>
              <a:rPr sz="1000" b="1" i="0">
                <a:solidFill>
                  <a:srgbClr val="262626"/>
                </a:solidFill>
                <a:latin typeface="Arial"/>
              </a:rPr>
              <a:t>Growth: </a:t>
            </a:r>
            <a:r>
              <a:rPr sz="1000" b="0" i="0">
                <a:solidFill>
                  <a:srgbClr val="595959"/>
                </a:solidFill>
                <a:latin typeface="Arial"/>
              </a:rPr>
              <a:t>a double-digit coupon from the AI-hardware theme, without having to time entry</a:t>
            </a:r>
          </a:p>
        </p:txBody>
      </p:sp>
      <p:sp>
        <p:nvSpPr>
          <p:cNvPr id="55" name="Rectangle 54"/>
          <p:cNvSpPr/>
          <p:nvPr/>
        </p:nvSpPr>
        <p:spPr>
          <a:xfrm>
            <a:off x="4315967" y="4681728"/>
            <a:ext cx="3621023" cy="713232"/>
          </a:xfrm>
          <a:prstGeom prst="rect">
            <a:avLst/>
          </a:prstGeom>
          <a:solidFill>
            <a:srgbClr val="E8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407407" y="4681728"/>
            <a:ext cx="1143000" cy="713232"/>
          </a:xfrm>
          <a:prstGeom prst="rect">
            <a:avLst/>
          </a:prstGeom>
          <a:noFill/>
        </p:spPr>
        <p:txBody>
          <a:bodyPr wrap="square" anchor="ctr" lIns="0" rIns="0" tIns="0" bIns="0">
            <a:spAutoFit/>
          </a:bodyPr>
          <a:lstStyle/>
          <a:p>
            <a:pPr algn="ctr">
              <a:spcAft>
                <a:spcPts val="300"/>
              </a:spcAft>
            </a:pPr>
            <a:r>
              <a:rPr sz="1900" b="1" i="0">
                <a:solidFill>
                  <a:srgbClr val="2C5F82"/>
                </a:solidFill>
                <a:latin typeface="Arial"/>
              </a:rPr>
              <a:t>70%</a:t>
            </a:r>
          </a:p>
        </p:txBody>
      </p:sp>
      <p:sp>
        <p:nvSpPr>
          <p:cNvPr id="57" name="TextBox 56"/>
          <p:cNvSpPr txBox="1"/>
          <p:nvPr/>
        </p:nvSpPr>
        <p:spPr>
          <a:xfrm>
            <a:off x="5641847" y="4681728"/>
            <a:ext cx="2203703" cy="713232"/>
          </a:xfrm>
          <a:prstGeom prst="rect">
            <a:avLst/>
          </a:prstGeom>
          <a:noFill/>
        </p:spPr>
        <p:txBody>
          <a:bodyPr wrap="square" anchor="ctr" lIns="0" rIns="0" tIns="0" bIns="0">
            <a:spAutoFit/>
          </a:bodyPr>
          <a:lstStyle/>
          <a:p>
            <a:pPr algn="l">
              <a:spcAft>
                <a:spcPts val="300"/>
              </a:spcAft>
            </a:pPr>
            <a:r>
              <a:rPr sz="1000" b="1" i="0">
                <a:solidFill>
                  <a:srgbClr val="262626"/>
                </a:solidFill>
                <a:latin typeface="Arial"/>
              </a:rPr>
              <a:t>Protection: </a:t>
            </a:r>
            <a:r>
              <a:rPr sz="1000" b="0" i="0">
                <a:solidFill>
                  <a:srgbClr val="595959"/>
                </a:solidFill>
                <a:latin typeface="Arial"/>
              </a:rPr>
              <a:t>a defined barrier, checked only at maturity, for the legacy sleeve</a:t>
            </a:r>
          </a:p>
        </p:txBody>
      </p:sp>
      <p:sp>
        <p:nvSpPr>
          <p:cNvPr id="58" name="Rectangle 57"/>
          <p:cNvSpPr/>
          <p:nvPr/>
        </p:nvSpPr>
        <p:spPr>
          <a:xfrm>
            <a:off x="8083295" y="4681728"/>
            <a:ext cx="3621023" cy="713232"/>
          </a:xfrm>
          <a:prstGeom prst="rect">
            <a:avLst/>
          </a:prstGeom>
          <a:solidFill>
            <a:srgbClr val="E8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74735" y="4681728"/>
            <a:ext cx="1143000" cy="713232"/>
          </a:xfrm>
          <a:prstGeom prst="rect">
            <a:avLst/>
          </a:prstGeom>
          <a:noFill/>
        </p:spPr>
        <p:txBody>
          <a:bodyPr wrap="square" anchor="ctr" lIns="0" rIns="0" tIns="0" bIns="0">
            <a:spAutoFit/>
          </a:bodyPr>
          <a:lstStyle/>
          <a:p>
            <a:pPr algn="ctr">
              <a:spcAft>
                <a:spcPts val="300"/>
              </a:spcAft>
            </a:pPr>
            <a:r>
              <a:rPr sz="1900" b="1" i="0">
                <a:solidFill>
                  <a:srgbClr val="2C5F82"/>
                </a:solidFill>
                <a:latin typeface="Arial"/>
              </a:rPr>
              <a:t>~1.3 yrs</a:t>
            </a:r>
          </a:p>
        </p:txBody>
      </p:sp>
      <p:sp>
        <p:nvSpPr>
          <p:cNvPr id="60" name="TextBox 59"/>
          <p:cNvSpPr txBox="1"/>
          <p:nvPr/>
        </p:nvSpPr>
        <p:spPr>
          <a:xfrm>
            <a:off x="9409175" y="4681728"/>
            <a:ext cx="2203703" cy="713232"/>
          </a:xfrm>
          <a:prstGeom prst="rect">
            <a:avLst/>
          </a:prstGeom>
          <a:noFill/>
        </p:spPr>
        <p:txBody>
          <a:bodyPr wrap="square" anchor="ctr" lIns="0" rIns="0" tIns="0" bIns="0">
            <a:spAutoFit/>
          </a:bodyPr>
          <a:lstStyle/>
          <a:p>
            <a:pPr algn="l">
              <a:spcAft>
                <a:spcPts val="300"/>
              </a:spcAft>
            </a:pPr>
            <a:r>
              <a:rPr sz="1000" b="1" i="0">
                <a:solidFill>
                  <a:srgbClr val="262626"/>
                </a:solidFill>
                <a:latin typeface="Arial"/>
              </a:rPr>
              <a:t>Flexibility: </a:t>
            </a:r>
            <a:r>
              <a:rPr sz="1000" b="0" i="0">
                <a:solidFill>
                  <a:srgbClr val="595959"/>
                </a:solidFill>
                <a:latin typeface="Arial"/>
              </a:rPr>
              <a:t>expected life is short, so capital returns early to reinvest at higher rates</a:t>
            </a:r>
          </a:p>
        </p:txBody>
      </p:sp>
      <p:sp>
        <p:nvSpPr>
          <p:cNvPr id="61" name="Rectangle 60"/>
          <p:cNvSpPr/>
          <p:nvPr/>
        </p:nvSpPr>
        <p:spPr>
          <a:xfrm>
            <a:off x="548640" y="5596128"/>
            <a:ext cx="11155680" cy="438912"/>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5800" y="5596128"/>
            <a:ext cx="10881360" cy="438912"/>
          </a:xfrm>
          <a:prstGeom prst="rect">
            <a:avLst/>
          </a:prstGeom>
          <a:noFill/>
        </p:spPr>
        <p:txBody>
          <a:bodyPr wrap="square" anchor="ctr" lIns="0" rIns="0" tIns="0" bIns="0">
            <a:spAutoFit/>
          </a:bodyPr>
          <a:lstStyle/>
          <a:p>
            <a:pPr algn="ctr">
              <a:spcAft>
                <a:spcPts val="300"/>
              </a:spcAft>
            </a:pPr>
            <a:r>
              <a:rPr sz="1250" b="1" i="0">
                <a:solidFill>
                  <a:srgbClr val="FFFFFF"/>
                </a:solidFill>
                <a:latin typeface="Arial"/>
              </a:rPr>
              <a:t>Own the scarce part of AI, Asia's chips, memory and tools, and get paid while the market swings.</a:t>
            </a:r>
          </a:p>
        </p:txBody>
      </p:sp>
      <p:sp>
        <p:nvSpPr>
          <p:cNvPr id="63" name="TextBox 62"/>
          <p:cNvSpPr txBox="1"/>
          <p:nvPr/>
        </p:nvSpPr>
        <p:spPr>
          <a:xfrm>
            <a:off x="548640" y="6071616"/>
            <a:ext cx="11155680" cy="228600"/>
          </a:xfrm>
          <a:prstGeom prst="rect">
            <a:avLst/>
          </a:prstGeom>
          <a:noFill/>
        </p:spPr>
        <p:txBody>
          <a:bodyPr wrap="square" anchor="t" lIns="0" rIns="0" tIns="0" bIns="0">
            <a:spAutoFit/>
          </a:bodyPr>
          <a:lstStyle/>
          <a:p>
            <a:pPr algn="l">
              <a:spcAft>
                <a:spcPts val="300"/>
              </a:spcAft>
            </a:pPr>
            <a:r>
              <a:rPr sz="750" b="0" i="1">
                <a:solidFill>
                  <a:srgbClr val="595959"/>
                </a:solidFill>
                <a:latin typeface="Arial"/>
              </a:rPr>
              <a:t>Call and loss probabilities on the team outlook (slide 9); fair coupon from the Monte Carlo pricing (Appendix E). Not a guarantee of future returns; capital at risk below the 70% barrier and to Natixis credit.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5412</Words>
  <Application>Microsoft Macintosh PowerPoint</Application>
  <PresentationFormat>Widescreen</PresentationFormat>
  <Paragraphs>673</Paragraphs>
  <Slides>16</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Calibri</vt:lpstr>
      <vt:lpstr>Cambria Math</vt:lpstr>
      <vt:lpstr>STIXTwoMath-Regular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 Man Yan Joyce</dc:creator>
  <cp:lastModifiedBy>LIU, Hon Leung</cp:lastModifiedBy>
  <cp:revision>1</cp:revision>
  <dcterms:created xsi:type="dcterms:W3CDTF">2026-10-01T02:25:39Z</dcterms:created>
  <dcterms:modified xsi:type="dcterms:W3CDTF">2026-10-09T16:50:52Z</dcterms:modified>
</cp:coreProperties>
</file>