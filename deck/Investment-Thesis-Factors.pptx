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 now: the AI-hardware story is intact, the entry point is volatile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2C5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6364224"/>
            <a:ext cx="2514600" cy="4572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8853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2901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969264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factors behind 3119 HK, 2644 JP, 00878 TT, EWY and EWT at the 17 Sep 2026 trade date (market data to 8 Oct 2026)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745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5788152"/>
                <a:gridCol w="3383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 now (evidence)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means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demand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TSMC Aug-26 revenue +53% y/y (Jan–Aug +39%); hyperscaler capex ≈US$725bn in 2026 (+77%); chip market ≈US$1.5trn (WSTS)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Five years of structural growth: own the theme, not a bond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cycle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Samsung Q3-26 operating profit seen at ≈₩100trn+ (₩12trn a year ago); but DRAM contract gains slow: +45–50% Q2, +13–18% Q3, +10–15% Q4e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Earnings near a cyclical peak: Korea (EWY) and 3119 most exposed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Momentum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Portfolio +87% in 1 year, +36% a year over 3 years; but −14% in 3 months and −16% from its high (2644 JP −26%)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Entry after a pullback, but the trend is fragile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Volatility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1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Realised vol 48% vs 25% 5-year average (97th percentile); VKOSPI record 91 (Jun-26); KOSPI −8.95% in one day (13 Jul)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Holding naked is costly; high vol makes option-based protection and coupons rich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KOSPI forward P/E ≈7.8×; Nikkei 17.2× forward, CAPE 38.6; Taiwan among the most expensive markets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Korea cheap, Japan and Taiwan full: no margin of safety in price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 &amp; FX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 hiked to 3.75–4.00% (16 Sep), ≈1-in-3 odds of another on 28 Oct; BoJ 1.25% (18 Sep); USD/JPY ≈158; 5Y USD funding 5.69%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USD drags USD returns; high rates make a capital floor cheap (5Y zero-coupon 75.8)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Geopolitics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1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Taiwan makes ≈92% of advanced chips and is 'the most blockade-sensitive advanced economy' (J.P. Morgan); US Section 232 chip tariff 25%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tail risk no diversification removes: needs a contractual floor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Income &amp; ESG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00878 (ESG high dividend) pays ≈7.6% a year, lowest vol (17%), −0.1% from its high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Ballast and ESG credentials inside the basket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5486400"/>
            <a:ext cx="11274552" cy="50292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5486400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Thesis: stay invested in Asian AI hardware for five years, but at 2× normal volatility and with tail risk, hold it with a floor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035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Bloomberg USD prices 2021–26 (team calculations); TSMC 6-K (10 Sep 2026); Hana/IBK Securities previews; TrendForce; Siblis Research; Federal Reserve; BoJ; J.P. Morgan AWM 2026 Outlook; WSTS. Full list in the appendix. Forecasts marked ≈ are consensus or approximate: verify before submission.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now: one AI cycle in five years, +87% in the last twelve months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2C5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6364224"/>
            <a:ext cx="2514600" cy="4572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8853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2901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pic>
        <p:nvPicPr>
          <p:cNvPr id="9" name="Image 0" descr="/home/user/natixis-case-comp/simulation/mc_factor_p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7863840" cy="36697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49640" y="1097280"/>
            <a:ext cx="3182112" cy="950976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0" y="11704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+87%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16824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Portfolio, last 12 months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549640" y="2176272"/>
            <a:ext cx="3182112" cy="950976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0" y="22494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−14%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27614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3 months: the pullback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549640" y="3255264"/>
            <a:ext cx="3182112" cy="950976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332841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−16%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0" y="3840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the 52-week high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549640" y="4334256"/>
            <a:ext cx="3182112" cy="950976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0" y="44074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−40%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0" y="4919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fall in 5 years (2022)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5440680"/>
            <a:ext cx="11274552" cy="50292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5440680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long-term trend, but we are buying after a 12-month surge and a sharp summer correction: timing risk is high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035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Bloomberg PX_LAST in USD, 29 Sep 2021 to 17 Sep 2026; buy-and-hold portfolio at our weights (3119 HK 25%, 2644 JP 25%, 00878 TT 20%, EWY 15%, EWT 15%). Price only.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regime: volatility is at a 5-year extreme, and diversification is not helping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2C5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6364224"/>
            <a:ext cx="2514600" cy="4572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8853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2901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pic>
        <p:nvPicPr>
          <p:cNvPr id="9" name="Image 0" descr="/home/user/natixis-case-comp/simulation/mc_factor_reg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005840"/>
            <a:ext cx="10058400" cy="355912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4617720"/>
            <a:ext cx="3630168" cy="1143000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4617720"/>
            <a:ext cx="64008" cy="114300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468172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 2× normal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974336"/>
            <a:ext cx="3355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Realised 48% vs 25% on average. In our 5-year simulation the unhedged worst 1% is USD 33mn of 100.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79392" y="4617720"/>
            <a:ext cx="3630168" cy="1143000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79392" y="4617720"/>
            <a:ext cx="64008" cy="114300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62272" y="468172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stays high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462272" y="4974336"/>
            <a:ext cx="3355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ETFs move together (0.68 now, 0.67 on average): they share TSMC, Samsung and SK hynix, so a shock hits all five.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101584" y="4617720"/>
            <a:ext cx="3630168" cy="1143000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01584" y="4617720"/>
            <a:ext cx="64008" cy="114300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84464" y="468172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So: protect, don't dilute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284464" y="4974336"/>
            <a:ext cx="3355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zero-cost collar (buy the 70% put, sell a ≈248% call) lifts the worst 1% to USD 70mn and keeps the median at 113.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58978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Realised vol: 63-day daily returns of the buy-and-hold portfolio; 5-year average of that series 22% (weekly-return vol 24.5%). Correlation: 13-week weekly returns. Collar priced in the team Monte Carlo without volatility skew (real quotes will be dearer).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sources for the factor thesis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2C5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28853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77656" y="6364224"/>
            <a:ext cx="2514600" cy="4572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2901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61539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Prices, returns, volatility, correlation, drawdowns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Bloomberg PX_LAST (USD), 3119 HK, 2644 JP, EWY US, EWT US, 00878 TT, 2021-09 to 2026-09; simulation/factor_snapshot.py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TSMC Aug-26 revenue NT$514.8bn, +53.3% y/y; Jan–Aug +39.3%; Q3 guide US$44.6–45.8bn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TSMC monthly revenue report / Form 6-K, 10 Sep 2026 (sec.gov); Focus Taiwan, 10 Sep 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Samsung Q3-26 operating profit forecasts ₩101.7trn (IBK) to ₩108trn (Hana); Q3-25 ₩12.17trn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Broker previews via StockHub (Oct 2026); Korea JoongAng Daily (Q3 2025 actual). Verify against the preliminary release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DRAM contract prices +45–50% Q2, +13–18% Q3, +10–15% Q4e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TrendForce via iConnect007 / TechNews (2026)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Hyperscaler capex ≈US$725bn 2026; chip market ≈US$1.5trn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 guidance via AI Weekly / Yahoo Finance; WSTS Spring 2026 forecast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KOSPI fwd P/E 7.82; Nikkei fwd 17.18, CAPE 38.59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Siblis Research (1 Jul 2026)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VKOSPI record 91.23 (9 Jun 2026); KOSPI −8.95% (13 Jul 2026)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SBS; Herald Corp; Asiae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 3.75–4.00% (16 Sep 2026); BoJ 1.25% (18 Sep 2026); USD/JPY ≈158; Oct meeting odds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Federal Reserve; TMGM / Oxford Economics market notes (Oct 2026). Verify on federalreserve.gov and boj.or.jp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Taiwan ≈92% of advanced chips; blockade sensitivity; 10–15% correction base case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J.P. Morgan AWM, Eye on the Market 2026 Outlook 'Smothering Heights' (1 Jan 2026)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Section 232 25% tariff on advanced logic chips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Proclamation 11002 via Perkins Coie (Jan 2026)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Collar and simulation outcomes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Monte Carlo: simulation/portfolio_mc.py, simulation/collar_overlay.py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thesis: factors at the trade date</dc:title>
  <dc:subject>PptxGenJS Presentation</dc:subject>
  <dc:creator>PptxGenJS</dc:creator>
  <cp:lastModifiedBy>PptxGenJS</cp:lastModifiedBy>
  <cp:revision>1</cp:revision>
  <dcterms:created xsi:type="dcterms:W3CDTF">2026-10-08T08:28:44Z</dcterms:created>
  <dcterms:modified xsi:type="dcterms:W3CDTF">2026-10-08T08:28:44Z</dcterms:modified>
</cp:coreProperties>
</file>