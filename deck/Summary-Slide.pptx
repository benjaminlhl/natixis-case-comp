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A7899"/>
    <a:srgbClr val="499AC5"/>
    <a:srgbClr val="93C4D5"/>
    <a:srgbClr val="E3E8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88" dt="2026-10-09T10:45:36.674"/>
    <p1510:client id="{30D345CF-1C58-4C3E-3134-563CB7C8644B}" v="937" dt="2026-10-09T16:36:29.347"/>
    <p1510:client id="{37A4172D-72D8-7D4F-B3D7-4371E159EDF4}" v="660" dt="2026-10-09T16:50:52.245"/>
    <p1510:client id="{C8CF1BC7-B0BF-B216-F450-24A8CCECC1F5}" v="154" dt="2026-10-09T16:46:19.8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3"/>
    <p:restoredTop sz="94637"/>
  </p:normalViewPr>
  <p:slideViewPr>
    <p:cSldViewPr snapToGrid="0">
      <p:cViewPr>
        <p:scale>
          <a:sx n="119" d="100"/>
          <a:sy n="119" d="100"/>
        </p:scale>
        <p:origin x="1296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42E27-AB27-4C41-A7B9-B5728E1D6364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C1EE00-C15A-0B4C-A8B9-48F259B52223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181228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one page. The family wants to grow capital for the next generation and own Asia's digital transformation, with a defined barrier. Our thesis: Asia holds AI's hardware bottlenecks, but the path is violent and rates stay high. So we hold a five-ETF Asian basket through a five-year autocallable note paying 12.75% a year, with a step-down call and a 70% barrier at maturity only. On our outlook the note is usually called in year one and loses capital in very few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>
  <p:cSld name="1_Title Slid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7B90982-70E3-7E29-BC07-522DD6DAEDE2}"/>
              </a:ext>
            </a:extLst>
          </p:cNvPr>
          <p:cNvSpPr/>
          <p:nvPr userDrawn="1"/>
        </p:nvSpPr>
        <p:spPr>
          <a:xfrm flipH="1">
            <a:off x="0" y="0"/>
            <a:ext cx="12192000" cy="51946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72000"/>
                </a:schemeClr>
              </a:gs>
              <a:gs pos="98000">
                <a:schemeClr val="tx1">
                  <a:alpha val="19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 u="s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AB5593-0EF9-6D98-0813-57D1EEB9583C}"/>
              </a:ext>
            </a:extLst>
          </p:cNvPr>
          <p:cNvSpPr txBox="1"/>
          <p:nvPr userDrawn="1"/>
        </p:nvSpPr>
        <p:spPr>
          <a:xfrm>
            <a:off x="335835" y="4352079"/>
            <a:ext cx="7158269" cy="584477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endParaRPr lang="en-US" sz="28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BCBD69-B3F7-6638-61CA-B3E6EBA6ED39}"/>
              </a:ext>
            </a:extLst>
          </p:cNvPr>
          <p:cNvSpPr txBox="1"/>
          <p:nvPr userDrawn="1"/>
        </p:nvSpPr>
        <p:spPr>
          <a:xfrm>
            <a:off x="355120" y="4115055"/>
            <a:ext cx="4741457" cy="38523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r>
              <a:rPr lang="en-US" sz="2000" b="1" i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presents</a:t>
            </a:r>
            <a:endParaRPr lang="en-GB" sz="2000" b="1" i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72747E-A873-6BA2-0012-E7041DA0913B}"/>
              </a:ext>
            </a:extLst>
          </p:cNvPr>
          <p:cNvSpPr txBox="1"/>
          <p:nvPr userDrawn="1"/>
        </p:nvSpPr>
        <p:spPr>
          <a:xfrm>
            <a:off x="10824765" y="6485098"/>
            <a:ext cx="1074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200" b="1">
                <a:latin typeface="Calibri" panose="020F0502020204030204" pitchFamily="34" charset="0"/>
                <a:cs typeface="Calibri" panose="020F0502020204030204" pitchFamily="34" charset="0"/>
              </a:rPr>
              <a:t>Joyce Li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3367171E-525A-66C2-6AA1-35792C0C1A2B}"/>
              </a:ext>
            </a:extLst>
          </p:cNvPr>
          <p:cNvSpPr/>
          <p:nvPr userDrawn="1"/>
        </p:nvSpPr>
        <p:spPr>
          <a:xfrm>
            <a:off x="5775989" y="536740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6BA9783-52B7-1394-7350-1F5B1C919615}"/>
              </a:ext>
            </a:extLst>
          </p:cNvPr>
          <p:cNvSpPr/>
          <p:nvPr userDrawn="1"/>
        </p:nvSpPr>
        <p:spPr>
          <a:xfrm>
            <a:off x="7458076" y="538606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5E181B7-BFCD-EC81-92B2-C71D7EC77DFB}"/>
              </a:ext>
            </a:extLst>
          </p:cNvPr>
          <p:cNvSpPr/>
          <p:nvPr userDrawn="1"/>
        </p:nvSpPr>
        <p:spPr>
          <a:xfrm>
            <a:off x="9142958" y="536740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F8ABF191-5284-C80B-3CDD-6898F538F1C8}"/>
              </a:ext>
            </a:extLst>
          </p:cNvPr>
          <p:cNvSpPr/>
          <p:nvPr userDrawn="1"/>
        </p:nvSpPr>
        <p:spPr>
          <a:xfrm>
            <a:off x="10824765" y="5386062"/>
            <a:ext cx="1074333" cy="1069848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person with long hair wearing a black suit&#10;&#10;Description automatically generated">
            <a:extLst>
              <a:ext uri="{FF2B5EF4-FFF2-40B4-BE49-F238E27FC236}">
                <a16:creationId xmlns:a16="http://schemas.microsoft.com/office/drawing/2014/main" id="{8AD1B786-9FF3-790B-6F99-5C033A3F62D3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7" t="8759" r="-469" b="14345"/>
          <a:stretch/>
        </p:blipFill>
        <p:spPr>
          <a:xfrm>
            <a:off x="10895731" y="5454786"/>
            <a:ext cx="932400" cy="932400"/>
          </a:xfrm>
          <a:prstGeom prst="ellipse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656160-D967-EBE1-676D-2D6080FF09A0}"/>
              </a:ext>
            </a:extLst>
          </p:cNvPr>
          <p:cNvSpPr txBox="1"/>
          <p:nvPr userDrawn="1"/>
        </p:nvSpPr>
        <p:spPr>
          <a:xfrm>
            <a:off x="7422097" y="6485099"/>
            <a:ext cx="114414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200" b="1">
                <a:latin typeface="Calibri" panose="020F0502020204030204" pitchFamily="34" charset="0"/>
                <a:cs typeface="Calibri" panose="020F0502020204030204" pitchFamily="34" charset="0"/>
              </a:rPr>
              <a:t>Sergius Ching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F4E69-797A-24A0-70E0-12B203F1FF9E}"/>
              </a:ext>
            </a:extLst>
          </p:cNvPr>
          <p:cNvSpPr txBox="1"/>
          <p:nvPr userDrawn="1"/>
        </p:nvSpPr>
        <p:spPr>
          <a:xfrm>
            <a:off x="5465152" y="6485099"/>
            <a:ext cx="169600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HK" sz="1200" b="1">
                <a:latin typeface="Calibri" panose="020F0502020204030204" pitchFamily="34" charset="0"/>
                <a:cs typeface="Calibri" panose="020F0502020204030204" pitchFamily="34" charset="0"/>
              </a:rPr>
              <a:t>Benjamin Liu</a:t>
            </a:r>
          </a:p>
        </p:txBody>
      </p:sp>
    </p:spTree>
    <p:extLst>
      <p:ext uri="{BB962C8B-B14F-4D97-AF65-F5344CB8AC3E}">
        <p14:creationId xmlns:p14="http://schemas.microsoft.com/office/powerpoint/2010/main" val="3146709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 preserve="1" userDrawn="1">
  <p:cSld name="Analysi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7"/>
          <p:cNvCxnSpPr/>
          <p:nvPr/>
        </p:nvCxnSpPr>
        <p:spPr>
          <a:xfrm>
            <a:off x="0" y="642585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57"/>
          <p:cNvSpPr txBox="1"/>
          <p:nvPr/>
        </p:nvSpPr>
        <p:spPr>
          <a:xfrm>
            <a:off x="11733574" y="6460390"/>
            <a:ext cx="4584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7"/>
          <p:cNvSpPr txBox="1">
            <a:spLocks noGrp="1"/>
          </p:cNvSpPr>
          <p:nvPr>
            <p:ph type="body" idx="1"/>
          </p:nvPr>
        </p:nvSpPr>
        <p:spPr>
          <a:xfrm>
            <a:off x="0" y="5795203"/>
            <a:ext cx="12192000" cy="328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/>
          <p:nvPr/>
        </p:nvSpPr>
        <p:spPr>
          <a:xfrm>
            <a:off x="9405534" y="6477000"/>
            <a:ext cx="17745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/>
          </a:p>
        </p:txBody>
      </p:sp>
      <p:sp>
        <p:nvSpPr>
          <p:cNvPr id="32" name="Google Shape;32;p57"/>
          <p:cNvSpPr txBox="1"/>
          <p:nvPr/>
        </p:nvSpPr>
        <p:spPr>
          <a:xfrm>
            <a:off x="1036182" y="6477000"/>
            <a:ext cx="1012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/>
          </a:p>
        </p:txBody>
      </p:sp>
      <p:sp>
        <p:nvSpPr>
          <p:cNvPr id="33" name="Google Shape;33;p57"/>
          <p:cNvSpPr txBox="1"/>
          <p:nvPr/>
        </p:nvSpPr>
        <p:spPr>
          <a:xfrm>
            <a:off x="5526825" y="6489084"/>
            <a:ext cx="11383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/>
          </a:p>
        </p:txBody>
      </p:sp>
      <p:cxnSp>
        <p:nvCxnSpPr>
          <p:cNvPr id="34" name="Google Shape;34;p57"/>
          <p:cNvCxnSpPr/>
          <p:nvPr/>
        </p:nvCxnSpPr>
        <p:spPr>
          <a:xfrm>
            <a:off x="515434" y="6425852"/>
            <a:ext cx="2053825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57"/>
          <p:cNvSpPr txBox="1">
            <a:spLocks noGrp="1"/>
          </p:cNvSpPr>
          <p:nvPr>
            <p:ph type="body" idx="3"/>
          </p:nvPr>
        </p:nvSpPr>
        <p:spPr>
          <a:xfrm>
            <a:off x="228600" y="6204558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" name="Google Shape;23;p57">
            <a:extLst>
              <a:ext uri="{FF2B5EF4-FFF2-40B4-BE49-F238E27FC236}">
                <a16:creationId xmlns:a16="http://schemas.microsoft.com/office/drawing/2014/main" id="{148D9606-A4BE-344F-4D30-36168EDBFB2E}"/>
              </a:ext>
            </a:extLst>
          </p:cNvPr>
          <p:cNvSpPr/>
          <p:nvPr userDrawn="1"/>
        </p:nvSpPr>
        <p:spPr>
          <a:xfrm>
            <a:off x="0" y="762000"/>
            <a:ext cx="124179" cy="894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4;p57">
            <a:extLst>
              <a:ext uri="{FF2B5EF4-FFF2-40B4-BE49-F238E27FC236}">
                <a16:creationId xmlns:a16="http://schemas.microsoft.com/office/drawing/2014/main" id="{B073929D-4AD2-8CB1-7048-A9666D5B6920}"/>
              </a:ext>
            </a:extLst>
          </p:cNvPr>
          <p:cNvSpPr/>
          <p:nvPr userDrawn="1"/>
        </p:nvSpPr>
        <p:spPr>
          <a:xfrm>
            <a:off x="0" y="0"/>
            <a:ext cx="124179" cy="8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;p57">
            <a:extLst>
              <a:ext uri="{FF2B5EF4-FFF2-40B4-BE49-F238E27FC236}">
                <a16:creationId xmlns:a16="http://schemas.microsoft.com/office/drawing/2014/main" id="{68800D4D-8D1C-0A55-FA4D-50F94CFCEB0F}"/>
              </a:ext>
            </a:extLst>
          </p:cNvPr>
          <p:cNvSpPr/>
          <p:nvPr userDrawn="1"/>
        </p:nvSpPr>
        <p:spPr>
          <a:xfrm>
            <a:off x="-1" y="1643749"/>
            <a:ext cx="124179" cy="82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;p57">
            <a:extLst>
              <a:ext uri="{FF2B5EF4-FFF2-40B4-BE49-F238E27FC236}">
                <a16:creationId xmlns:a16="http://schemas.microsoft.com/office/drawing/2014/main" id="{5C361EC3-8E42-A98E-74EA-6F226F88C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5573" y="231721"/>
            <a:ext cx="8375650" cy="37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35;p57">
            <a:extLst>
              <a:ext uri="{FF2B5EF4-FFF2-40B4-BE49-F238E27FC236}">
                <a16:creationId xmlns:a16="http://schemas.microsoft.com/office/drawing/2014/main" id="{6503DD0C-DFB1-BC08-BDAE-8FDE7C17EF35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75573" y="35174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5829F02-7E64-69C9-CE0C-2DB13B4135C5}"/>
              </a:ext>
            </a:extLst>
          </p:cNvPr>
          <p:cNvCxnSpPr/>
          <p:nvPr userDrawn="1"/>
        </p:nvCxnSpPr>
        <p:spPr>
          <a:xfrm>
            <a:off x="275573" y="621210"/>
            <a:ext cx="10008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4777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 preserve="1" userDrawn="1">
  <p:cSld name="1_Analysi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7"/>
          <p:cNvCxnSpPr/>
          <p:nvPr/>
        </p:nvCxnSpPr>
        <p:spPr>
          <a:xfrm>
            <a:off x="0" y="642585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57"/>
          <p:cNvSpPr txBox="1"/>
          <p:nvPr/>
        </p:nvSpPr>
        <p:spPr>
          <a:xfrm>
            <a:off x="11733574" y="6460390"/>
            <a:ext cx="4584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7"/>
          <p:cNvSpPr txBox="1">
            <a:spLocks noGrp="1"/>
          </p:cNvSpPr>
          <p:nvPr>
            <p:ph type="body" idx="1"/>
          </p:nvPr>
        </p:nvSpPr>
        <p:spPr>
          <a:xfrm>
            <a:off x="0" y="5795203"/>
            <a:ext cx="12192000" cy="328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/>
          <p:nvPr/>
        </p:nvSpPr>
        <p:spPr>
          <a:xfrm>
            <a:off x="9405534" y="6477000"/>
            <a:ext cx="17745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APPENDIX</a:t>
            </a:r>
            <a:endParaRPr/>
          </a:p>
        </p:txBody>
      </p:sp>
      <p:sp>
        <p:nvSpPr>
          <p:cNvPr id="32" name="Google Shape;32;p57"/>
          <p:cNvSpPr txBox="1"/>
          <p:nvPr/>
        </p:nvSpPr>
        <p:spPr>
          <a:xfrm>
            <a:off x="1036182" y="6477000"/>
            <a:ext cx="1012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ANALYSIS</a:t>
            </a:r>
            <a:endParaRPr/>
          </a:p>
        </p:txBody>
      </p:sp>
      <p:sp>
        <p:nvSpPr>
          <p:cNvPr id="33" name="Google Shape;33;p57"/>
          <p:cNvSpPr txBox="1"/>
          <p:nvPr/>
        </p:nvSpPr>
        <p:spPr>
          <a:xfrm>
            <a:off x="5526825" y="6489084"/>
            <a:ext cx="11383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STRATEGY</a:t>
            </a:r>
            <a:endParaRPr/>
          </a:p>
        </p:txBody>
      </p:sp>
      <p:cxnSp>
        <p:nvCxnSpPr>
          <p:cNvPr id="34" name="Google Shape;34;p57"/>
          <p:cNvCxnSpPr/>
          <p:nvPr/>
        </p:nvCxnSpPr>
        <p:spPr>
          <a:xfrm>
            <a:off x="5021180" y="6425852"/>
            <a:ext cx="2053825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57"/>
          <p:cNvSpPr txBox="1">
            <a:spLocks noGrp="1"/>
          </p:cNvSpPr>
          <p:nvPr>
            <p:ph type="body" idx="3"/>
          </p:nvPr>
        </p:nvSpPr>
        <p:spPr>
          <a:xfrm>
            <a:off x="228600" y="6204558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" name="Google Shape;23;p57">
            <a:extLst>
              <a:ext uri="{FF2B5EF4-FFF2-40B4-BE49-F238E27FC236}">
                <a16:creationId xmlns:a16="http://schemas.microsoft.com/office/drawing/2014/main" id="{148D9606-A4BE-344F-4D30-36168EDBFB2E}"/>
              </a:ext>
            </a:extLst>
          </p:cNvPr>
          <p:cNvSpPr/>
          <p:nvPr userDrawn="1"/>
        </p:nvSpPr>
        <p:spPr>
          <a:xfrm>
            <a:off x="0" y="762000"/>
            <a:ext cx="124179" cy="894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4;p57">
            <a:extLst>
              <a:ext uri="{FF2B5EF4-FFF2-40B4-BE49-F238E27FC236}">
                <a16:creationId xmlns:a16="http://schemas.microsoft.com/office/drawing/2014/main" id="{B073929D-4AD2-8CB1-7048-A9666D5B6920}"/>
              </a:ext>
            </a:extLst>
          </p:cNvPr>
          <p:cNvSpPr/>
          <p:nvPr userDrawn="1"/>
        </p:nvSpPr>
        <p:spPr>
          <a:xfrm>
            <a:off x="0" y="0"/>
            <a:ext cx="124179" cy="8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;p57">
            <a:extLst>
              <a:ext uri="{FF2B5EF4-FFF2-40B4-BE49-F238E27FC236}">
                <a16:creationId xmlns:a16="http://schemas.microsoft.com/office/drawing/2014/main" id="{68800D4D-8D1C-0A55-FA4D-50F94CFCEB0F}"/>
              </a:ext>
            </a:extLst>
          </p:cNvPr>
          <p:cNvSpPr/>
          <p:nvPr userDrawn="1"/>
        </p:nvSpPr>
        <p:spPr>
          <a:xfrm>
            <a:off x="-1" y="1643749"/>
            <a:ext cx="124179" cy="82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;p57">
            <a:extLst>
              <a:ext uri="{FF2B5EF4-FFF2-40B4-BE49-F238E27FC236}">
                <a16:creationId xmlns:a16="http://schemas.microsoft.com/office/drawing/2014/main" id="{5C361EC3-8E42-A98E-74EA-6F226F88C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5573" y="231721"/>
            <a:ext cx="8375650" cy="37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35;p57">
            <a:extLst>
              <a:ext uri="{FF2B5EF4-FFF2-40B4-BE49-F238E27FC236}">
                <a16:creationId xmlns:a16="http://schemas.microsoft.com/office/drawing/2014/main" id="{6503DD0C-DFB1-BC08-BDAE-8FDE7C17EF35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75573" y="35174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C1666FC-22AE-4AB1-798D-0A20BCB8BDF6}"/>
              </a:ext>
            </a:extLst>
          </p:cNvPr>
          <p:cNvCxnSpPr/>
          <p:nvPr userDrawn="1"/>
        </p:nvCxnSpPr>
        <p:spPr>
          <a:xfrm>
            <a:off x="275573" y="621210"/>
            <a:ext cx="10008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02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nalysis" preserve="1" userDrawn="1">
  <p:cSld name="2_Analysi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57"/>
          <p:cNvCxnSpPr/>
          <p:nvPr/>
        </p:nvCxnSpPr>
        <p:spPr>
          <a:xfrm>
            <a:off x="0" y="6425852"/>
            <a:ext cx="12192000" cy="0"/>
          </a:xfrm>
          <a:prstGeom prst="straightConnector1">
            <a:avLst/>
          </a:prstGeom>
          <a:noFill/>
          <a:ln w="2857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" name="Google Shape;22;p57"/>
          <p:cNvSpPr txBox="1"/>
          <p:nvPr/>
        </p:nvSpPr>
        <p:spPr>
          <a:xfrm>
            <a:off x="11733574" y="6460390"/>
            <a:ext cx="45842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57"/>
          <p:cNvSpPr txBox="1">
            <a:spLocks noGrp="1"/>
          </p:cNvSpPr>
          <p:nvPr>
            <p:ph type="body" idx="1"/>
          </p:nvPr>
        </p:nvSpPr>
        <p:spPr>
          <a:xfrm>
            <a:off x="0" y="5795203"/>
            <a:ext cx="12192000" cy="3281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7"/>
          <p:cNvSpPr txBox="1"/>
          <p:nvPr/>
        </p:nvSpPr>
        <p:spPr>
          <a:xfrm>
            <a:off x="9405534" y="6477000"/>
            <a:ext cx="177458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APPENDIX</a:t>
            </a:r>
            <a:endParaRPr/>
          </a:p>
        </p:txBody>
      </p:sp>
      <p:sp>
        <p:nvSpPr>
          <p:cNvPr id="32" name="Google Shape;32;p57"/>
          <p:cNvSpPr txBox="1"/>
          <p:nvPr/>
        </p:nvSpPr>
        <p:spPr>
          <a:xfrm>
            <a:off x="1036182" y="6477000"/>
            <a:ext cx="10123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>
              <a:defRPr lang="en-US"/>
            </a:defPPr>
            <a:lvl1pPr marR="0" lvl="0" indent="0" algn="ctr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</a:defRPr>
            </a:lvl1pPr>
          </a:lstStyle>
          <a:p>
            <a:pPr lvl="0"/>
            <a:r>
              <a:rPr lang="en-US">
                <a:sym typeface="Calibri"/>
              </a:rPr>
              <a:t>ANALYSIS</a:t>
            </a:r>
            <a:endParaRPr/>
          </a:p>
        </p:txBody>
      </p:sp>
      <p:sp>
        <p:nvSpPr>
          <p:cNvPr id="33" name="Google Shape;33;p57"/>
          <p:cNvSpPr txBox="1"/>
          <p:nvPr/>
        </p:nvSpPr>
        <p:spPr>
          <a:xfrm>
            <a:off x="5526825" y="6489084"/>
            <a:ext cx="113835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STRATEGY</a:t>
            </a:r>
            <a:endParaRPr/>
          </a:p>
        </p:txBody>
      </p:sp>
      <p:cxnSp>
        <p:nvCxnSpPr>
          <p:cNvPr id="34" name="Google Shape;34;p57"/>
          <p:cNvCxnSpPr/>
          <p:nvPr/>
        </p:nvCxnSpPr>
        <p:spPr>
          <a:xfrm>
            <a:off x="9248630" y="6425852"/>
            <a:ext cx="2053825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5" name="Google Shape;35;p57"/>
          <p:cNvSpPr txBox="1">
            <a:spLocks noGrp="1"/>
          </p:cNvSpPr>
          <p:nvPr>
            <p:ph type="body" idx="3"/>
          </p:nvPr>
        </p:nvSpPr>
        <p:spPr>
          <a:xfrm>
            <a:off x="228600" y="6204558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" name="Google Shape;23;p57">
            <a:extLst>
              <a:ext uri="{FF2B5EF4-FFF2-40B4-BE49-F238E27FC236}">
                <a16:creationId xmlns:a16="http://schemas.microsoft.com/office/drawing/2014/main" id="{148D9606-A4BE-344F-4D30-36168EDBFB2E}"/>
              </a:ext>
            </a:extLst>
          </p:cNvPr>
          <p:cNvSpPr/>
          <p:nvPr userDrawn="1"/>
        </p:nvSpPr>
        <p:spPr>
          <a:xfrm>
            <a:off x="0" y="762000"/>
            <a:ext cx="124179" cy="8949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24;p57">
            <a:extLst>
              <a:ext uri="{FF2B5EF4-FFF2-40B4-BE49-F238E27FC236}">
                <a16:creationId xmlns:a16="http://schemas.microsoft.com/office/drawing/2014/main" id="{B073929D-4AD2-8CB1-7048-A9666D5B6920}"/>
              </a:ext>
            </a:extLst>
          </p:cNvPr>
          <p:cNvSpPr/>
          <p:nvPr userDrawn="1"/>
        </p:nvSpPr>
        <p:spPr>
          <a:xfrm>
            <a:off x="0" y="0"/>
            <a:ext cx="124179" cy="82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36;p57">
            <a:extLst>
              <a:ext uri="{FF2B5EF4-FFF2-40B4-BE49-F238E27FC236}">
                <a16:creationId xmlns:a16="http://schemas.microsoft.com/office/drawing/2014/main" id="{68800D4D-8D1C-0A55-FA4D-50F94CFCEB0F}"/>
              </a:ext>
            </a:extLst>
          </p:cNvPr>
          <p:cNvSpPr/>
          <p:nvPr userDrawn="1"/>
        </p:nvSpPr>
        <p:spPr>
          <a:xfrm>
            <a:off x="-1" y="1643749"/>
            <a:ext cx="124179" cy="82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7;p57">
            <a:extLst>
              <a:ext uri="{FF2B5EF4-FFF2-40B4-BE49-F238E27FC236}">
                <a16:creationId xmlns:a16="http://schemas.microsoft.com/office/drawing/2014/main" id="{5C361EC3-8E42-A98E-74EA-6F226F88CDF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75573" y="231721"/>
            <a:ext cx="8375650" cy="376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" name="Google Shape;35;p57">
            <a:extLst>
              <a:ext uri="{FF2B5EF4-FFF2-40B4-BE49-F238E27FC236}">
                <a16:creationId xmlns:a16="http://schemas.microsoft.com/office/drawing/2014/main" id="{6503DD0C-DFB1-BC08-BDAE-8FDE7C17EF35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275573" y="35174"/>
            <a:ext cx="2266344" cy="13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7070"/>
              </a:buClr>
              <a:buSzPts val="900"/>
              <a:buNone/>
              <a:defRPr sz="900">
                <a:solidFill>
                  <a:srgbClr val="75707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267B6CC3-4029-A626-8C39-273AD00EB3BB}"/>
              </a:ext>
            </a:extLst>
          </p:cNvPr>
          <p:cNvCxnSpPr/>
          <p:nvPr userDrawn="1"/>
        </p:nvCxnSpPr>
        <p:spPr>
          <a:xfrm>
            <a:off x="275573" y="621210"/>
            <a:ext cx="1000811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3783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85D6A-D4E3-A3B4-CB9D-EFB509BF0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AE0F4-13BE-548B-83A7-400DD4C66B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24EF0-DF05-99EF-952B-CE8072D02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86EAEB-5D6B-D189-C53D-2CE3A0EE5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9A6E0-4A9E-13E1-3366-8320EE3E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1839561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FE73B-2BA4-A8C2-43AB-875216ED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333B54-0686-C98F-E219-F5818C5CE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FF20A6-A7D2-0ACD-20EC-570BE1A2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35BD4-BCAA-47B5-76FC-3807ED21E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2137D-C53B-B07C-13CB-5A0624474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809611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FCE35-48D3-6086-EDE4-B8C5EB914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8E9A-C7CB-5069-8AE1-193095D35B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7D0E85-159E-BD1B-8589-63F6515C26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9E401-5B69-F7B7-2AD8-2B9F63D43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F3FF0-2F1D-4A1F-FEEC-6A883139E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61785-34EF-96C9-FDE2-4EC182599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911254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DF257-F9C2-AAB4-D018-0EE0D62F4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0422C6-4A01-3D71-4A44-0DF6BE7B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B773-2F67-6764-D9BD-7BBE009633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8D220C-AFEA-502D-6B2E-2CF332124A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FD5B8A-A934-EF49-AF71-3E86C60F3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65822-C3DF-832A-D5CA-718C7B20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13DFFE-4692-A496-E282-9AA195D38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CD035-2FF9-4EC9-F778-9F6DC1655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4215584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3206-5920-A384-E5EC-2D80C33AD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091192-A23D-0DC4-2382-DC689130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023E14-FF12-5ED1-4824-F766A408A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76BBA-DDA9-0E90-EAC5-C681B201C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0970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CE5E9D-EA08-CC53-0A50-8CBB582E2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3F56D0-6672-40F7-1605-FB72F319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757FD-346C-7F6E-796C-AFA53D530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8967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554BD-A1A7-DA35-471B-9BF434648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C0FD3-9C39-EC99-C5EE-76A112D2C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E4D054-319B-7113-CA18-5982542CA5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6623E-9A83-6703-5246-9C7C97A7A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1F406-0870-2F58-9FED-CF7245A7C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82439B-C465-C067-F724-8F585C643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26815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E4D16-B140-C7B2-9B0B-764055AAB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A14C04-607D-D604-3E07-7C166340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D00013-4A49-D98C-6227-FBBB62A0F0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2D74C2-DAA3-9B38-318B-B8CF06E4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8CE1C-98CA-3277-FF2A-C5670F29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773AA1-290D-1E98-F688-1A4983DD9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4875435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524B3-2C5B-746F-3A7B-6EAE1E8EF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1CF5FD-E044-F800-1AB9-1E7738029B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B77C61-9A45-9DE5-AE80-7C2F9FCC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8BAE1-A34D-F68B-134A-B970CABB4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69BCB-313C-56DD-2FE3-95984D821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210836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D0B1DB-BA79-363E-4FB5-A5B4388C8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506E93-328B-B168-68E4-FD3D09F29B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7B4D5-0631-ACD8-5715-2514D5739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4F332-EC5C-601C-DB1D-458F85CAE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E6A564-5D69-2A5A-D84B-88AD8BE8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931989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8264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75837E-A609-9CA9-32AB-717F975F9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2A7E03-57A8-21B1-F85B-F0F13725F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8D51B-04AF-86F7-BDC5-23810144E8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C2A8DC-87C1-E447-8B55-80DD0650AE7E}" type="datetimeFigureOut">
              <a:rPr lang="en-HK" smtClean="0"/>
              <a:t>8/10/2026</a:t>
            </a:fld>
            <a:endParaRPr lang="en-H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4F258-CC23-3342-3F3E-7B806D3E3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F6F43-F231-E2CB-BD33-F9F283F5CE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780C6E-6CF4-774E-991E-80A3BC0F0591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280169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0" r:id="rId2"/>
    <p:sldLayoutId id="2147483661" r:id="rId3"/>
    <p:sldLayoutId id="2147483662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4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4632" y="137160"/>
            <a:ext cx="11247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0" i="0">
                <a:solidFill>
                  <a:srgbClr val="262626"/>
                </a:solidFill>
                <a:latin typeface="Arial"/>
              </a:rPr>
              <a:t>Summary: Asia's AI hardware, held through an autocall that pays while markets swing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i="1">
                <a:solidFill>
                  <a:srgbClr val="595959"/>
                </a:solidFill>
                <a:latin typeface="Arial"/>
              </a:rPr>
              <a:t>From the family's mandate to the note: what we recommend, why now, and what the family can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1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client</a:t>
            </a:r>
          </a:p>
        </p:txBody>
      </p:sp>
      <p:sp>
        <p:nvSpPr>
          <p:cNvPr id="6" name="Isosceles Triangle 5"/>
          <p:cNvSpPr/>
          <p:nvPr/>
        </p:nvSpPr>
        <p:spPr>
          <a:xfrm rot="5400000">
            <a:off x="3246120" y="1307592"/>
            <a:ext cx="109728" cy="173736"/>
          </a:xfrm>
          <a:prstGeom prst="triangle">
            <a:avLst/>
          </a:prstGeom>
          <a:solidFill>
            <a:srgbClr val="8DB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USD 100mn, 5 years, moderate risk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Chak family office (NKE Private Wealth); ~5% of family wealth.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578608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Two goals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Compound capital for the next generation, and own Asia's digital transformation.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One constraint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A defined capital barrier, not an open-ended equity drawdown.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74136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1296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2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thesis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6071616" y="1307592"/>
            <a:ext cx="109728" cy="173736"/>
          </a:xfrm>
          <a:prstGeom prst="triangle">
            <a:avLst/>
          </a:prstGeom>
          <a:solidFill>
            <a:srgbClr val="8DB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74136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74136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38728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Asia controls AI's hardware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~70% of foundry (Taiwan), 83% of HBM (Korea), ~55% of chip test (Japan).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74136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74136" y="2578608"/>
            <a:ext cx="54864" cy="822960"/>
          </a:xfrm>
          <a:prstGeom prst="rect">
            <a:avLst/>
          </a:prstGeom>
          <a:solidFill>
            <a:srgbClr val="B2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38728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But the path is violent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KOSPI −25% in ten weeks; VKOSPI at a record 91.2.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74136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74136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38728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And rates stay high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FOMC median 4.125% to end-2027; long bonds lose ~4% per 1% rise.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99632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3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product</a:t>
            </a:r>
          </a:p>
        </p:txBody>
      </p:sp>
      <p:sp>
        <p:nvSpPr>
          <p:cNvPr id="30" name="Isosceles Triangle 29"/>
          <p:cNvSpPr/>
          <p:nvPr/>
        </p:nvSpPr>
        <p:spPr>
          <a:xfrm rot="5400000">
            <a:off x="8897112" y="1307592"/>
            <a:ext cx="109728" cy="173736"/>
          </a:xfrm>
          <a:prstGeom prst="triangle">
            <a:avLst/>
          </a:prstGeom>
          <a:solidFill>
            <a:srgbClr val="8DB3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9632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64224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12.75% a year, 5Y autocallable note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Natixis-issued, USD 100mn, five Asian ETFs: 3119 HK 35%, EWY 20%, EWT 15%, 2644 JP 15%, 00878 TT 15%.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9632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9632" y="2578608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64224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Step-down call, yearly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Called if the basket ≥ 102.5% in Y1, falling 2.5% a year to 92.5% in Y5; pays 100% + 12.75% × years.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99632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9632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64224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70% barrier at maturity only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If never called, 100% back unless the basket ends below 70%.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25128" y="1188720"/>
            <a:ext cx="2679192" cy="41148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62288" y="1188720"/>
            <a:ext cx="240487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8DB3D1"/>
                </a:solidFill>
                <a:latin typeface="Arial"/>
              </a:rPr>
              <a:t>4  </a:t>
            </a:r>
            <a:r>
              <a:rPr sz="1300" b="1" i="0">
                <a:solidFill>
                  <a:srgbClr val="FFFFFF"/>
                </a:solidFill>
                <a:latin typeface="Arial"/>
              </a:rPr>
              <a:t>The outcome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025128" y="1691640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5128" y="1691640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9720" y="1764792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Capital usually back early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78% called in year 1 (112.75%); 99.3% called within five years.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25128" y="2578608"/>
            <a:ext cx="2679192" cy="822960"/>
          </a:xfrm>
          <a:prstGeom prst="rect">
            <a:avLst/>
          </a:prstGeom>
          <a:solidFill>
            <a:srgbClr val="FFFFFF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025128" y="2578608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20" y="2651760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Loss is rare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0.2% of paths end below 70%, where the family takes the basket's fall.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025128" y="3465576"/>
            <a:ext cx="2679192" cy="822960"/>
          </a:xfrm>
          <a:prstGeom prst="rect">
            <a:avLst/>
          </a:prstGeom>
          <a:solidFill>
            <a:srgbClr val="F2F2F2"/>
          </a:solidFill>
          <a:ln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5128" y="3465576"/>
            <a:ext cx="54864" cy="822960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89720" y="3538728"/>
            <a:ext cx="24048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1" i="0">
                <a:solidFill>
                  <a:srgbClr val="2C5F82"/>
                </a:solidFill>
                <a:latin typeface="Arial"/>
              </a:rPr>
              <a:t>Priced with room</a:t>
            </a:r>
          </a:p>
          <a:p>
            <a:pPr algn="l">
              <a:spcAft>
                <a:spcPts val="300"/>
              </a:spcAft>
            </a:pPr>
            <a:r>
              <a:rPr sz="950" b="0" i="0">
                <a:solidFill>
                  <a:srgbClr val="262626"/>
                </a:solidFill>
                <a:latin typeface="Arial"/>
              </a:rPr>
              <a:t>Fair coupon 14.09%: Natixis keeps 1.34% a year for hedging and margin.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389120"/>
            <a:ext cx="111556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2C5F82"/>
                </a:solidFill>
                <a:latin typeface="Arial"/>
              </a:rPr>
              <a:t>Why it fits the family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48640" y="4681728"/>
            <a:ext cx="3621023" cy="713232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46817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2C5F82"/>
                </a:solidFill>
                <a:latin typeface="Arial"/>
              </a:rPr>
              <a:t>12.75%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19" y="4681728"/>
            <a:ext cx="220370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Growth: </a:t>
            </a:r>
            <a:r>
              <a:rPr sz="1000" b="0" i="0">
                <a:solidFill>
                  <a:srgbClr val="595959"/>
                </a:solidFill>
                <a:latin typeface="Arial"/>
              </a:rPr>
              <a:t>a double-digit coupon from the AI-hardware theme, without having to time entry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15967" y="4681728"/>
            <a:ext cx="3621023" cy="713232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07407" y="46817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2C5F82"/>
                </a:solidFill>
                <a:latin typeface="Arial"/>
              </a:rPr>
              <a:t>70%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41847" y="4681728"/>
            <a:ext cx="220370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Protection: </a:t>
            </a:r>
            <a:r>
              <a:rPr sz="1000" b="0" i="0">
                <a:solidFill>
                  <a:srgbClr val="595959"/>
                </a:solidFill>
                <a:latin typeface="Arial"/>
              </a:rPr>
              <a:t>a defined barrier, checked only at maturity, for the legacy sleeve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083295" y="4681728"/>
            <a:ext cx="3621023" cy="713232"/>
          </a:xfrm>
          <a:prstGeom prst="rect">
            <a:avLst/>
          </a:prstGeom>
          <a:solidFill>
            <a:srgbClr val="E8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174735" y="4681728"/>
            <a:ext cx="1143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900" b="1" i="0">
                <a:solidFill>
                  <a:srgbClr val="2C5F82"/>
                </a:solidFill>
                <a:latin typeface="Arial"/>
              </a:rPr>
              <a:t>~1.3 yrs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09175" y="4681728"/>
            <a:ext cx="2203703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 i="0">
                <a:solidFill>
                  <a:srgbClr val="262626"/>
                </a:solidFill>
                <a:latin typeface="Arial"/>
              </a:rPr>
              <a:t>Flexibility: </a:t>
            </a:r>
            <a:r>
              <a:rPr sz="1000" b="0" i="0">
                <a:solidFill>
                  <a:srgbClr val="595959"/>
                </a:solidFill>
                <a:latin typeface="Arial"/>
              </a:rPr>
              <a:t>expected life is short, so capital returns early to reinvest at higher rates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596128"/>
            <a:ext cx="11155680" cy="438912"/>
          </a:xfrm>
          <a:prstGeom prst="rect">
            <a:avLst/>
          </a:prstGeom>
          <a:solidFill>
            <a:srgbClr val="2C5F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5800" y="5596128"/>
            <a:ext cx="1088136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0"/>
              </a:spcAft>
            </a:pPr>
            <a:r>
              <a:rPr sz="1250" b="1" i="0">
                <a:solidFill>
                  <a:srgbClr val="FFFFFF"/>
                </a:solidFill>
                <a:latin typeface="Arial"/>
              </a:rPr>
              <a:t>Own the scarce part of AI, Asia's chips, memory and tools, and get paid while the market swings.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48640" y="6071616"/>
            <a:ext cx="111556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50" b="0" i="1">
                <a:solidFill>
                  <a:srgbClr val="595959"/>
                </a:solidFill>
                <a:latin typeface="Arial"/>
              </a:rPr>
              <a:t>Call and loss probabilities on the team outlook (slide 9); fair coupon from the Monte Carlo pricing (Appendix E). Not a guarantee of future returns; capital at risk below the 70% barrier and to Natixis credit.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5412</Words>
  <Application>Microsoft Macintosh PowerPoint</Application>
  <PresentationFormat>Widescreen</PresentationFormat>
  <Paragraphs>673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STIXTwoMath-Regular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LI, Man Yan Joyce</dc:creator>
  <cp:lastModifiedBy>LIU, Hon Leung</cp:lastModifiedBy>
  <cp:revision>1</cp:revision>
  <dcterms:created xsi:type="dcterms:W3CDTF">2026-10-01T02:25:39Z</dcterms:created>
  <dcterms:modified xsi:type="dcterms:W3CDTF">2026-10-09T16:50:52Z</dcterms:modified>
</cp:coreProperties>
</file>