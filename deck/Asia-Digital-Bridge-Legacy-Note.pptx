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0"/>
                </a:solidFill>
                <a:latin typeface="Calibri"/>
              </a:defRPr>
            </a:pPr>
            <a:r>
              <a:rPr sz="1100" b="0" i="0" u="none" strike="noStrike">
                <a:solidFill>
                  <a:srgbClr val="1A2230"/>
                </a:solidFill>
                <a:latin typeface="Calibri"/>
              </a:rPr>
              <a:t>2026 YTD return (%), to late Sep</a:t>
            </a:r>
          </a:p>
        </c:rich>
      </c:tx>
      <c:layout/>
      <c:overlay val="0"/>
    </c:title>
    <c:autoTitleDeleted val="0"/>
    <c:plotArea>
      <c:layout/>
      <c:barChart>
        <c:barDir val="col"/>
        <c:grouping val="clustered"/>
        <c:varyColors val="0"/>
        <c:ser>
          <c:idx val="0"/>
          <c:order val="0"/>
          <c:tx>
            <c:strRef>
              <c:f>Sheet1!$B$1</c:f>
              <c:strCache>
                <c:ptCount val="1"/>
                <c:pt idx="0">
                  <c:v>YTD 2026</c:v>
                </c:pt>
              </c:strCache>
            </c:strRef>
          </c:tx>
          <c:spPr>
            <a:solidFill>
              <a:srgbClr val="1F8A70"/>
            </a:solidFill>
            <a:effectLst/>
          </c:spPr>
          <c:invertIfNegative val="0"/>
          <c:dLbls>
            <c:numFmt formatCode="0&quot;%&quot;" sourceLinked="0"/>
            <c:txPr>
              <a:bodyPr/>
              <a:lstStyle/>
              <a:p>
                <a:pPr>
                  <a:defRPr b="0" i="0" strike="noStrike" sz="1000" u="none">
                    <a:solidFill>
                      <a:srgbClr val="1A2230"/>
                    </a:solidFill>
                    <a:latin typeface="Arial"/>
                  </a:defRPr>
                </a:pPr>
              </a:p>
            </c:txPr>
            <c:showLegendKey val="0"/>
            <c:showVal val="1"/>
            <c:showCatName val="0"/>
            <c:showSerName val="0"/>
            <c:showPercent val="0"/>
            <c:showBubbleSize val="0"/>
            <c:showLeaderLines val="0"/>
          </c:dLbls>
          <c:dPt>
            <c:idx val="0"/>
            <c:invertIfNegative val="0"/>
            <c:bubble3D val="0"/>
            <c:spPr>
              <a:solidFill>
                <a:srgbClr val="1F8A70"/>
              </a:solidFill>
              <a:effectLst/>
            </c:spPr>
          </c:dPt>
          <c:dPt>
            <c:idx val="1"/>
            <c:invertIfNegative val="0"/>
            <c:bubble3D val="0"/>
            <c:spPr>
              <a:solidFill>
                <a:srgbClr val="1F8A70"/>
              </a:solidFill>
              <a:effectLst/>
            </c:spPr>
          </c:dPt>
          <c:dPt>
            <c:idx val="2"/>
            <c:invertIfNegative val="0"/>
            <c:bubble3D val="0"/>
            <c:spPr>
              <a:solidFill>
                <a:srgbClr val="1C3A5A"/>
              </a:solidFill>
              <a:effectLst/>
            </c:spPr>
          </c:dPt>
          <c:dPt>
            <c:idx val="3"/>
            <c:invertIfNegative val="0"/>
            <c:bubble3D val="0"/>
            <c:spPr>
              <a:solidFill>
                <a:srgbClr val="9AA5AF"/>
              </a:solidFill>
              <a:effectLst/>
            </c:spPr>
          </c:dPt>
          <c:cat>
            <c:multiLvlStrRef>
              <c:f>Sheet1!$A$2:$A$5</c:f>
              <c:multiLvlStrCache>
                <c:ptCount val="4"/>
                <c:lvl>
                  <c:pt idx="0">
                    <c:v>TAIEX</c:v>
                  </c:pt>
                  <c:pt idx="1">
                    <c:v>KOSPI</c:v>
                  </c:pt>
                  <c:pt idx="2">
                    <c:v>Nikkei 225</c:v>
                  </c:pt>
                  <c:pt idx="3">
                    <c:v>Hang Seng</c:v>
                  </c:pt>
                </c:lvl>
              </c:multiLvlStrCache>
            </c:multiLvlStrRef>
          </c:cat>
          <c:val>
            <c:numRef>
              <c:f>Sheet1!$B$2:$B$5</c:f>
              <c:numCache>
                <c:formatCode>General</c:formatCode>
                <c:ptCount val="4"/>
                <c:pt idx="0">
                  <c:v>66.3</c:v>
                </c:pt>
                <c:pt idx="1">
                  <c:v>62.3</c:v>
                </c:pt>
                <c:pt idx="2">
                  <c:v>29.2</c:v>
                </c:pt>
                <c:pt idx="3">
                  <c:v>-0.7</c:v>
                </c:pt>
              </c:numCache>
            </c:numRef>
          </c:val>
        </c:ser>
        <c:dLbls>
          <c:numFmt formatCode="0&quot;%&quot;" sourceLinked="0"/>
          <c:txPr>
            <a:bodyPr/>
            <a:lstStyle/>
            <a:p>
              <a:pPr>
                <a:defRPr b="0" i="0" strike="noStrike" sz="1000" u="none">
                  <a:solidFill>
                    <a:srgbClr val="1A22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3E0DB"/>
            </a:solidFill>
            <a:prstDash val="solid"/>
            <a:round/>
          </a:ln>
        </c:spPr>
        <c:txPr>
          <a:bodyPr/>
          <a:lstStyle/>
          <a:p>
            <a:pPr>
              <a:defRPr sz="900" b="0" i="0" u="none" strike="noStrike">
                <a:solidFill>
                  <a:srgbClr val="5E6B78"/>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A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E6B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0"/>
                </a:solidFill>
                <a:latin typeface="Calibri"/>
              </a:defRPr>
            </a:pPr>
            <a:r>
              <a:rPr sz="1100" b="0" i="0" u="none" strike="noStrike">
                <a:solidFill>
                  <a:srgbClr val="1A2230"/>
                </a:solidFill>
                <a:latin typeface="Calibri"/>
              </a:rPr>
              <a:t>Redemption (%) vs basket level at maturity</a:t>
            </a:r>
          </a:p>
        </c:rich>
      </c:tx>
      <c:layout/>
      <c:overlay val="0"/>
    </c:title>
    <c:autoTitleDeleted val="0"/>
    <c:plotArea>
      <c:layout/>
      <c:lineChart>
        <c:varyColors val="0"/>
        <c:ser>
          <c:idx val="0"/>
          <c:order val="0"/>
          <c:tx>
            <c:strRef>
              <c:f>Sheet1!$B$1</c:f>
              <c:strCache>
                <c:ptCount val="1"/>
                <c:pt idx="0">
                  <c:v>Floor 100% (no lock-in)</c:v>
                </c:pt>
              </c:strCache>
            </c:strRef>
          </c:tx>
          <c:spPr>
            <a:solidFill>
              <a:srgbClr val="1F8A70"/>
            </a:solidFill>
            <a:ln w="31750" cap="flat">
              <a:solidFill>
                <a:srgbClr val="1F8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70"/>
              </a:solidFill>
              <a:ln w="9525" cap="flat">
                <a:solidFill>
                  <a:srgbClr val="1F8A70"/>
                </a:solidFill>
                <a:prstDash val="solid"/>
                <a:round/>
              </a:ln>
              <a:effectLst/>
            </c:spPr>
          </c:marker>
          <c:cat>
            <c:multiLvlStrRef>
              <c:f>Sheet1!$A$2:$A$22</c:f>
              <c:multiLvlStrCache>
                <c:ptCount val="21"/>
                <c:lvl>
                  <c:pt idx="0">
                    <c:v>50%</c:v>
                  </c:pt>
                  <c:pt idx="1">
                    <c:v>60%</c:v>
                  </c:pt>
                  <c:pt idx="2">
                    <c:v>70%</c:v>
                  </c:pt>
                  <c:pt idx="3">
                    <c:v>80%</c:v>
                  </c:pt>
                  <c:pt idx="4">
                    <c:v>90%</c:v>
                  </c:pt>
                  <c:pt idx="5">
                    <c:v>100%</c:v>
                  </c:pt>
                  <c:pt idx="6">
                    <c:v>110%</c:v>
                  </c:pt>
                  <c:pt idx="7">
                    <c:v>120%</c:v>
                  </c:pt>
                  <c:pt idx="8">
                    <c:v>130%</c:v>
                  </c:pt>
                  <c:pt idx="9">
                    <c:v>140%</c:v>
                  </c:pt>
                  <c:pt idx="10">
                    <c:v>150%</c:v>
                  </c:pt>
                  <c:pt idx="11">
                    <c:v>160%</c:v>
                  </c:pt>
                  <c:pt idx="12">
                    <c:v>170%</c:v>
                  </c:pt>
                  <c:pt idx="13">
                    <c:v>180%</c:v>
                  </c:pt>
                  <c:pt idx="14">
                    <c:v>190%</c:v>
                  </c:pt>
                  <c:pt idx="15">
                    <c:v>200%</c:v>
                  </c:pt>
                  <c:pt idx="16">
                    <c:v>210%</c:v>
                  </c:pt>
                  <c:pt idx="17">
                    <c:v>220%</c:v>
                  </c:pt>
                  <c:pt idx="18">
                    <c:v>230%</c:v>
                  </c:pt>
                  <c:pt idx="19">
                    <c:v>240%</c:v>
                  </c:pt>
                  <c:pt idx="20">
                    <c:v>250%</c:v>
                  </c:pt>
                </c:lvl>
              </c:multiLvlStrCache>
            </c:multiLvlStrRef>
          </c:cat>
          <c:val>
            <c:numRef>
              <c:f>Sheet1!$B$2:$B$22</c:f>
              <c:numCache>
                <c:formatCode>General</c:formatCode>
                <c:ptCount val="21"/>
                <c:pt idx="0">
                  <c:v>100</c:v>
                </c:pt>
                <c:pt idx="1">
                  <c:v>100</c:v>
                </c:pt>
                <c:pt idx="2">
                  <c:v>100</c:v>
                </c:pt>
                <c:pt idx="3">
                  <c:v>100</c:v>
                </c:pt>
                <c:pt idx="4">
                  <c:v>100</c:v>
                </c:pt>
                <c:pt idx="5">
                  <c:v>100</c:v>
                </c:pt>
                <c:pt idx="6">
                  <c:v>112.5</c:v>
                </c:pt>
                <c:pt idx="7">
                  <c:v>125</c:v>
                </c:pt>
                <c:pt idx="8">
                  <c:v>137.5</c:v>
                </c:pt>
                <c:pt idx="9">
                  <c:v>150</c:v>
                </c:pt>
                <c:pt idx="10">
                  <c:v>162.5</c:v>
                </c:pt>
                <c:pt idx="11">
                  <c:v>175</c:v>
                </c:pt>
                <c:pt idx="12">
                  <c:v>187.5</c:v>
                </c:pt>
                <c:pt idx="13">
                  <c:v>200</c:v>
                </c:pt>
                <c:pt idx="14">
                  <c:v>212.5</c:v>
                </c:pt>
                <c:pt idx="15">
                  <c:v>225</c:v>
                </c:pt>
                <c:pt idx="16">
                  <c:v>237.5</c:v>
                </c:pt>
                <c:pt idx="17">
                  <c:v>250</c:v>
                </c:pt>
                <c:pt idx="18">
                  <c:v>262.5</c:v>
                </c:pt>
                <c:pt idx="19">
                  <c:v>275</c:v>
                </c:pt>
                <c:pt idx="20">
                  <c:v>287.5</c:v>
                </c:pt>
              </c:numCache>
            </c:numRef>
          </c:val>
          <c:smooth val="0"/>
        </c:ser>
        <c:ser>
          <c:idx val="1"/>
          <c:order val="1"/>
          <c:tx>
            <c:strRef>
              <c:f>Sheet1!$C$1</c:f>
              <c:strCache>
                <c:ptCount val="1"/>
                <c:pt idx="0">
                  <c:v>Floor locked at 130%</c:v>
                </c:pt>
              </c:strCache>
            </c:strRef>
          </c:tx>
          <c:spPr>
            <a:solidFill>
              <a:srgbClr val="C99A2E"/>
            </a:solidFill>
            <a:ln w="31750" cap="flat">
              <a:solidFill>
                <a:srgbClr val="C99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9A2E"/>
              </a:solidFill>
              <a:ln w="9525" cap="flat">
                <a:solidFill>
                  <a:srgbClr val="C99A2E"/>
                </a:solidFill>
                <a:prstDash val="solid"/>
                <a:round/>
              </a:ln>
              <a:effectLst/>
            </c:spPr>
          </c:marker>
          <c:cat>
            <c:multiLvlStrRef>
              <c:f>Sheet1!$A$2:$A$22</c:f>
              <c:multiLvlStrCache>
                <c:ptCount val="21"/>
                <c:lvl>
                  <c:pt idx="0">
                    <c:v>50%</c:v>
                  </c:pt>
                  <c:pt idx="1">
                    <c:v>60%</c:v>
                  </c:pt>
                  <c:pt idx="2">
                    <c:v>70%</c:v>
                  </c:pt>
                  <c:pt idx="3">
                    <c:v>80%</c:v>
                  </c:pt>
                  <c:pt idx="4">
                    <c:v>90%</c:v>
                  </c:pt>
                  <c:pt idx="5">
                    <c:v>100%</c:v>
                  </c:pt>
                  <c:pt idx="6">
                    <c:v>110%</c:v>
                  </c:pt>
                  <c:pt idx="7">
                    <c:v>120%</c:v>
                  </c:pt>
                  <c:pt idx="8">
                    <c:v>130%</c:v>
                  </c:pt>
                  <c:pt idx="9">
                    <c:v>140%</c:v>
                  </c:pt>
                  <c:pt idx="10">
                    <c:v>150%</c:v>
                  </c:pt>
                  <c:pt idx="11">
                    <c:v>160%</c:v>
                  </c:pt>
                  <c:pt idx="12">
                    <c:v>170%</c:v>
                  </c:pt>
                  <c:pt idx="13">
                    <c:v>180%</c:v>
                  </c:pt>
                  <c:pt idx="14">
                    <c:v>190%</c:v>
                  </c:pt>
                  <c:pt idx="15">
                    <c:v>200%</c:v>
                  </c:pt>
                  <c:pt idx="16">
                    <c:v>210%</c:v>
                  </c:pt>
                  <c:pt idx="17">
                    <c:v>220%</c:v>
                  </c:pt>
                  <c:pt idx="18">
                    <c:v>230%</c:v>
                  </c:pt>
                  <c:pt idx="19">
                    <c:v>240%</c:v>
                  </c:pt>
                  <c:pt idx="20">
                    <c:v>250%</c:v>
                  </c:pt>
                </c:lvl>
              </c:multiLvlStrCache>
            </c:multiLvlStrRef>
          </c:cat>
          <c:val>
            <c:numRef>
              <c:f>Sheet1!$C$2:$C$22</c:f>
              <c:numCache>
                <c:formatCode>General</c:formatCode>
                <c:ptCount val="21"/>
                <c:pt idx="0">
                  <c:v>130</c:v>
                </c:pt>
                <c:pt idx="1">
                  <c:v>130</c:v>
                </c:pt>
                <c:pt idx="2">
                  <c:v>130</c:v>
                </c:pt>
                <c:pt idx="3">
                  <c:v>130</c:v>
                </c:pt>
                <c:pt idx="4">
                  <c:v>130</c:v>
                </c:pt>
                <c:pt idx="5">
                  <c:v>130</c:v>
                </c:pt>
                <c:pt idx="6">
                  <c:v>130</c:v>
                </c:pt>
                <c:pt idx="7">
                  <c:v>130</c:v>
                </c:pt>
                <c:pt idx="8">
                  <c:v>137.5</c:v>
                </c:pt>
                <c:pt idx="9">
                  <c:v>150</c:v>
                </c:pt>
                <c:pt idx="10">
                  <c:v>162.5</c:v>
                </c:pt>
                <c:pt idx="11">
                  <c:v>175</c:v>
                </c:pt>
                <c:pt idx="12">
                  <c:v>187.5</c:v>
                </c:pt>
                <c:pt idx="13">
                  <c:v>200</c:v>
                </c:pt>
                <c:pt idx="14">
                  <c:v>212.5</c:v>
                </c:pt>
                <c:pt idx="15">
                  <c:v>225</c:v>
                </c:pt>
                <c:pt idx="16">
                  <c:v>237.5</c:v>
                </c:pt>
                <c:pt idx="17">
                  <c:v>250</c:v>
                </c:pt>
                <c:pt idx="18">
                  <c:v>262.5</c:v>
                </c:pt>
                <c:pt idx="19">
                  <c:v>275</c:v>
                </c:pt>
                <c:pt idx="20">
                  <c:v>287.5</c:v>
                </c:pt>
              </c:numCache>
            </c:numRef>
          </c:val>
          <c:smooth val="0"/>
        </c:ser>
        <c:ser>
          <c:idx val="2"/>
          <c:order val="2"/>
          <c:tx>
            <c:strRef>
              <c:f>Sheet1!$D$1</c:f>
              <c:strCache>
                <c:ptCount val="1"/>
                <c:pt idx="0">
                  <c:v>Direct basket</c:v>
                </c:pt>
              </c:strCache>
            </c:strRef>
          </c:tx>
          <c:spPr>
            <a:solidFill>
              <a:srgbClr val="9AA5AF"/>
            </a:solidFill>
            <a:ln w="31750" cap="flat">
              <a:solidFill>
                <a:srgbClr val="9AA5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5AF"/>
              </a:solidFill>
              <a:ln w="9525" cap="flat">
                <a:solidFill>
                  <a:srgbClr val="9AA5AF"/>
                </a:solidFill>
                <a:prstDash val="solid"/>
                <a:round/>
              </a:ln>
              <a:effectLst/>
            </c:spPr>
          </c:marker>
          <c:cat>
            <c:multiLvlStrRef>
              <c:f>Sheet1!$A$2:$A$22</c:f>
              <c:multiLvlStrCache>
                <c:ptCount val="21"/>
                <c:lvl>
                  <c:pt idx="0">
                    <c:v>50%</c:v>
                  </c:pt>
                  <c:pt idx="1">
                    <c:v>60%</c:v>
                  </c:pt>
                  <c:pt idx="2">
                    <c:v>70%</c:v>
                  </c:pt>
                  <c:pt idx="3">
                    <c:v>80%</c:v>
                  </c:pt>
                  <c:pt idx="4">
                    <c:v>90%</c:v>
                  </c:pt>
                  <c:pt idx="5">
                    <c:v>100%</c:v>
                  </c:pt>
                  <c:pt idx="6">
                    <c:v>110%</c:v>
                  </c:pt>
                  <c:pt idx="7">
                    <c:v>120%</c:v>
                  </c:pt>
                  <c:pt idx="8">
                    <c:v>130%</c:v>
                  </c:pt>
                  <c:pt idx="9">
                    <c:v>140%</c:v>
                  </c:pt>
                  <c:pt idx="10">
                    <c:v>150%</c:v>
                  </c:pt>
                  <c:pt idx="11">
                    <c:v>160%</c:v>
                  </c:pt>
                  <c:pt idx="12">
                    <c:v>170%</c:v>
                  </c:pt>
                  <c:pt idx="13">
                    <c:v>180%</c:v>
                  </c:pt>
                  <c:pt idx="14">
                    <c:v>190%</c:v>
                  </c:pt>
                  <c:pt idx="15">
                    <c:v>200%</c:v>
                  </c:pt>
                  <c:pt idx="16">
                    <c:v>210%</c:v>
                  </c:pt>
                  <c:pt idx="17">
                    <c:v>220%</c:v>
                  </c:pt>
                  <c:pt idx="18">
                    <c:v>230%</c:v>
                  </c:pt>
                  <c:pt idx="19">
                    <c:v>240%</c:v>
                  </c:pt>
                  <c:pt idx="20">
                    <c:v>250%</c:v>
                  </c:pt>
                </c:lvl>
              </c:multiLvlStrCache>
            </c:multiLvlStrRef>
          </c:cat>
          <c:val>
            <c:numRef>
              <c:f>Sheet1!$D$2:$D$22</c:f>
              <c:numCache>
                <c:formatCode>General</c:formatCode>
                <c:ptCount val="21"/>
                <c:pt idx="0">
                  <c:v>50</c:v>
                </c:pt>
                <c:pt idx="1">
                  <c:v>60</c:v>
                </c:pt>
                <c:pt idx="2">
                  <c:v>70</c:v>
                </c:pt>
                <c:pt idx="3">
                  <c:v>80</c:v>
                </c:pt>
                <c:pt idx="4">
                  <c:v>90</c:v>
                </c:pt>
                <c:pt idx="5">
                  <c:v>100</c:v>
                </c:pt>
                <c:pt idx="6">
                  <c:v>110</c:v>
                </c:pt>
                <c:pt idx="7">
                  <c:v>120</c:v>
                </c:pt>
                <c:pt idx="8">
                  <c:v>130</c:v>
                </c:pt>
                <c:pt idx="9">
                  <c:v>140</c:v>
                </c:pt>
                <c:pt idx="10">
                  <c:v>150</c:v>
                </c:pt>
                <c:pt idx="11">
                  <c:v>160</c:v>
                </c:pt>
                <c:pt idx="12">
                  <c:v>170</c:v>
                </c:pt>
                <c:pt idx="13">
                  <c:v>180</c:v>
                </c:pt>
                <c:pt idx="14">
                  <c:v>190</c:v>
                </c:pt>
                <c:pt idx="15">
                  <c:v>200</c:v>
                </c:pt>
                <c:pt idx="16">
                  <c:v>210</c:v>
                </c:pt>
                <c:pt idx="17">
                  <c:v>220</c:v>
                </c:pt>
                <c:pt idx="18">
                  <c:v>230</c:v>
                </c:pt>
                <c:pt idx="19">
                  <c:v>240</c:v>
                </c:pt>
                <c:pt idx="20">
                  <c:v>250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E6B78"/>
                    </a:solidFill>
                    <a:latin typeface="Arial"/>
                  </a:defRPr>
                </a:pPr>
                <a:r>
                  <a:rPr sz="900" b="0" i="0" u="none" strike="noStrike">
                    <a:solidFill>
                      <a:srgbClr val="5E6B78"/>
                    </a:solidFill>
                    <a:latin typeface="Arial"/>
                  </a:rPr>
                  <a:t>Basket final / initial</a:t>
                </a:r>
              </a:p>
            </c:rich>
          </c:tx>
          <c:layout/>
          <c:overlay val="0"/>
        </c:title>
        <c:numFmt formatCode="General" sourceLinked="1"/>
        <c:majorTickMark val="out"/>
        <c:minorTickMark val="none"/>
        <c:tickLblPos val="low"/>
        <c:spPr>
          <a:ln w="12700" cap="flat">
            <a:solidFill>
              <a:srgbClr val="D3E0DB"/>
            </a:solidFill>
            <a:prstDash val="solid"/>
            <a:round/>
          </a:ln>
        </c:spPr>
        <c:txPr>
          <a:bodyPr/>
          <a:lstStyle/>
          <a:p>
            <a:pPr>
              <a:defRPr sz="900" b="0" i="0" u="none" strike="noStrike">
                <a:solidFill>
                  <a:srgbClr val="5E6B78"/>
                </a:solidFill>
                <a:latin typeface="Calibri"/>
              </a:defRPr>
            </a:pPr>
            <a:endParaRPr lang="en-US"/>
          </a:p>
        </c:txPr>
        <c:crossAx val="2094734552"/>
        <c:crosses val="autoZero"/>
        <c:auto val="1"/>
        <c:lblAlgn val="ctr"/>
        <c:noMultiLvlLbl val="1"/>
        <c:tickLblSkip val="5"/>
      </c:catAx>
      <c:valAx>
        <c:axId val="2094734552"/>
        <c:scaling>
          <c:orientation val="minMax"/>
          <c:max val="300"/>
          <c:min val="40"/>
        </c:scaling>
        <c:delete val="0"/>
        <c:axPos val="l"/>
        <c:majorGridlines>
          <c:spPr>
            <a:ln w="6350" cap="flat">
              <a:solidFill>
                <a:srgbClr val="E3EA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E6B78"/>
                </a:solidFill>
                <a:latin typeface="Calibri"/>
              </a:defRPr>
            </a:pPr>
            <a:endParaRPr lang="en-US"/>
          </a:p>
        </c:txPr>
        <c:crossAx val="2094734554"/>
        <c:crosses val="autoZero"/>
        <c:crossBetween val="between"/>
        <c:majorUnit val="50"/>
      </c:valAx>
      <c:spPr>
        <a:noFill/>
        <a:ln>
          <a:noFill/>
        </a:ln>
        <a:effectLst/>
      </c:spPr>
    </c:plotArea>
    <c:legend>
      <c:legendPos val="b"/>
      <c:overlay val="0"/>
      <c:txPr>
        <a:bodyPr/>
        <a:lstStyle/>
        <a:p>
          <a:pPr>
            <a:defRPr sz="900">
              <a:solidFill>
                <a:srgbClr val="1A22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0"/>
                </a:solidFill>
                <a:latin typeface="Calibri"/>
              </a:defRPr>
            </a:pPr>
            <a:r>
              <a:rPr sz="1100" b="0" i="0" u="none" strike="noStrike">
                <a:solidFill>
                  <a:srgbClr val="1A2230"/>
                </a:solidFill>
                <a:latin typeface="Calibri"/>
              </a:rPr>
              <a:t>Use of USD 100 (% of notional)</a:t>
            </a:r>
          </a:p>
        </c:rich>
      </c:tx>
      <c:layout/>
      <c:overlay val="0"/>
    </c:title>
    <c:autoTitleDeleted val="0"/>
    <c:plotArea>
      <c:layout/>
      <c:barChart>
        <c:barDir val="col"/>
        <c:grouping val="stacked"/>
        <c:varyColors val="0"/>
        <c:ser>
          <c:idx val="0"/>
          <c:order val="0"/>
          <c:tx>
            <c:strRef>
              <c:f>Sheet1!$B$1</c:f>
              <c:strCache>
                <c:ptCount val="1"/>
                <c:pt idx="0">
                  <c:v>Zero-coupon bond (100% floor): 67.6%</c:v>
                </c:pt>
              </c:strCache>
            </c:strRef>
          </c:tx>
          <c:spPr>
            <a:solidFill>
              <a:srgbClr val="0E223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Note</c:v>
                  </c:pt>
                </c:lvl>
              </c:multiLvlStrCache>
            </c:multiLvlStrRef>
          </c:cat>
          <c:val>
            <c:numRef>
              <c:f>Sheet1!$B$2:$B$2</c:f>
              <c:numCache>
                <c:formatCode>General</c:formatCode>
                <c:ptCount val="1"/>
                <c:pt idx="0">
                  <c:v>67.6</c:v>
                </c:pt>
              </c:numCache>
            </c:numRef>
          </c:val>
        </c:ser>
        <c:ser>
          <c:idx val="1"/>
          <c:order val="1"/>
          <c:tx>
            <c:strRef>
              <c:f>Sheet1!$C$1</c:f>
              <c:strCache>
                <c:ptCount val="1"/>
                <c:pt idx="0">
                  <c:v>Uncapped basket call (125%): 26.7%</c:v>
                </c:pt>
              </c:strCache>
            </c:strRef>
          </c:tx>
          <c:spPr>
            <a:solidFill>
              <a:srgbClr val="1F8A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Note</c:v>
                  </c:pt>
                </c:lvl>
              </c:multiLvlStrCache>
            </c:multiLvlStrRef>
          </c:cat>
          <c:val>
            <c:numRef>
              <c:f>Sheet1!$C$2:$C$2</c:f>
              <c:numCache>
                <c:formatCode>General</c:formatCode>
                <c:ptCount val="1"/>
                <c:pt idx="0">
                  <c:v>26.7</c:v>
                </c:pt>
              </c:numCache>
            </c:numRef>
          </c:val>
        </c:ser>
        <c:ser>
          <c:idx val="2"/>
          <c:order val="2"/>
          <c:tx>
            <c:strRef>
              <c:f>Sheet1!$D$1</c:f>
              <c:strCache>
                <c:ptCount val="1"/>
                <c:pt idx="0">
                  <c:v>Legacy Lock-in ladder: 1.8%</c:v>
                </c:pt>
              </c:strCache>
            </c:strRef>
          </c:tx>
          <c:spPr>
            <a:solidFill>
              <a:srgbClr val="C99A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Note</c:v>
                  </c:pt>
                </c:lvl>
              </c:multiLvlStrCache>
            </c:multiLvlStrRef>
          </c:cat>
          <c:val>
            <c:numRef>
              <c:f>Sheet1!$D$2:$D$2</c:f>
              <c:numCache>
                <c:formatCode>General</c:formatCode>
                <c:ptCount val="1"/>
                <c:pt idx="0">
                  <c:v>1.8</c:v>
                </c:pt>
              </c:numCache>
            </c:numRef>
          </c:val>
        </c:ser>
        <c:ser>
          <c:idx val="3"/>
          <c:order val="3"/>
          <c:tx>
            <c:strRef>
              <c:f>Sheet1!$E$1</c:f>
              <c:strCache>
                <c:ptCount val="1"/>
                <c:pt idx="0">
                  <c:v>Natixis fee (35 bp p.a.): 2.5%</c:v>
                </c:pt>
              </c:strCache>
            </c:strRef>
          </c:tx>
          <c:spPr>
            <a:solidFill>
              <a:srgbClr val="9AA5A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Note</c:v>
                  </c:pt>
                </c:lvl>
              </c:multiLvlStrCache>
            </c:multiLvlStrRef>
          </c:cat>
          <c:val>
            <c:numRef>
              <c:f>Sheet1!$E$2:$E$2</c:f>
              <c:numCache>
                <c:formatCode>General</c:formatCode>
                <c:ptCount val="1"/>
                <c:pt idx="0">
                  <c:v>2.5</c:v>
                </c:pt>
              </c:numCache>
            </c:numRef>
          </c:val>
        </c:ser>
        <c:ser>
          <c:idx val="4"/>
          <c:order val="4"/>
          <c:tx>
            <c:strRef>
              <c:f>Sheet1!$F$1</c:f>
              <c:strCache>
                <c:ptCount val="1"/>
                <c:pt idx="0">
                  <c:v>Model reserve (skew, fwd vol): 1.5%</c:v>
                </c:pt>
              </c:strCache>
            </c:strRef>
          </c:tx>
          <c:spPr>
            <a:solidFill>
              <a:srgbClr val="B7C4C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Note</c:v>
                  </c:pt>
                </c:lvl>
              </c:multiLvlStrCache>
            </c:multiLvlStrRef>
          </c:cat>
          <c:val>
            <c:numRef>
              <c:f>Sheet1!$F$2:$F$2</c:f>
              <c:numCache>
                <c:formatCode>General</c:formatCode>
                <c:ptCount val="1"/>
                <c:pt idx="0">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3E0DB"/>
            </a:solidFill>
            <a:prstDash val="solid"/>
            <a:round/>
          </a:ln>
        </c:spPr>
        <c:txPr>
          <a:bodyPr/>
          <a:lstStyle/>
          <a:p>
            <a:pPr>
              <a:defRPr sz="900" b="0" i="0" u="none" strike="noStrike">
                <a:solidFill>
                  <a:srgbClr val="5E6B78"/>
                </a:solidFill>
                <a:latin typeface="Calibri"/>
              </a:defRPr>
            </a:pPr>
            <a:endParaRPr lang="en-US"/>
          </a:p>
        </c:txPr>
        <c:crossAx val="2094734552"/>
        <c:crosses val="autoZero"/>
        <c:auto val="1"/>
        <c:lblAlgn val="ctr"/>
        <c:noMultiLvlLbl val="1"/>
      </c:catAx>
      <c:valAx>
        <c:axId val="2094734552"/>
        <c:scaling>
          <c:orientation val="minMax"/>
          <c:max val="100"/>
        </c:scaling>
        <c:delete val="1"/>
        <c:axPos val="l"/>
        <c:majorGridlines>
          <c:spPr>
            <a:ln w="6350" cap="flat">
              <a:solidFill>
                <a:srgbClr val="E3EA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E6B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8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0"/>
                </a:solidFill>
                <a:latin typeface="Calibri"/>
              </a:defRPr>
            </a:pPr>
            <a:r>
              <a:rPr sz="1100" b="0" i="0" u="none" strike="noStrike">
                <a:solidFill>
                  <a:srgbClr val="1A2230"/>
                </a:solidFill>
                <a:latin typeface="Calibri"/>
              </a:rPr>
              <a:t>Fair participation under shocks</a:t>
            </a:r>
          </a:p>
        </c:rich>
      </c:tx>
      <c:layout/>
      <c:overlay val="0"/>
    </c:title>
    <c:autoTitleDeleted val="0"/>
    <c:plotArea>
      <c:layout/>
      <c:barChart>
        <c:barDir val="bar"/>
        <c:grouping val="clustered"/>
        <c:varyColors val="0"/>
        <c:ser>
          <c:idx val="0"/>
          <c:order val="0"/>
          <c:tx>
            <c:strRef>
              <c:f>Sheet1!$B$1</c:f>
              <c:strCache>
                <c:ptCount val="1"/>
                <c:pt idx="0">
                  <c:v>Fair participation</c:v>
                </c:pt>
              </c:strCache>
            </c:strRef>
          </c:tx>
          <c:spPr>
            <a:solidFill>
              <a:srgbClr val="1F8A70"/>
            </a:solidFill>
            <a:effectLst/>
          </c:spPr>
          <c:invertIfNegative val="0"/>
          <c:dLbls>
            <c:numFmt formatCode="0&quot;%&quot;" sourceLinked="0"/>
            <c:txPr>
              <a:bodyPr/>
              <a:lstStyle/>
              <a:p>
                <a:pPr>
                  <a:defRPr b="0" i="0" strike="noStrike" sz="850" u="none">
                    <a:solidFill>
                      <a:srgbClr val="1A2230"/>
                    </a:solidFill>
                    <a:latin typeface="Arial"/>
                  </a:defRPr>
                </a:pPr>
              </a:p>
            </c:txPr>
            <c:showLegendKey val="0"/>
            <c:showVal val="1"/>
            <c:showCatName val="0"/>
            <c:showSerName val="0"/>
            <c:showPercent val="0"/>
            <c:showBubbleSize val="0"/>
            <c:showLeaderLines val="0"/>
          </c:dLbls>
          <c:cat>
            <c:multiLvlStrRef>
              <c:f>Sheet1!$A$2:$A$8</c:f>
              <c:multiLvlStrCache>
                <c:ptCount val="7"/>
                <c:lvl>
                  <c:pt idx="0">
                    <c:v>Base</c:v>
                  </c:pt>
                  <c:pt idx="1">
                    <c:v>Vol +3pts</c:v>
                  </c:pt>
                  <c:pt idx="2">
                    <c:v>Vol −3pts</c:v>
                  </c:pt>
                  <c:pt idx="3">
                    <c:v>Corr +0.15</c:v>
                  </c:pt>
                  <c:pt idx="4">
                    <c:v>Corr −0.15</c:v>
                  </c:pt>
                  <c:pt idx="5">
                    <c:v>Rates +50bp</c:v>
                  </c:pt>
                  <c:pt idx="6">
                    <c:v>Rates −50bp</c:v>
                  </c:pt>
                </c:lvl>
              </c:multiLvlStrCache>
            </c:multiLvlStrRef>
          </c:cat>
          <c:val>
            <c:numRef>
              <c:f>Sheet1!$B$2:$B$8</c:f>
              <c:numCache>
                <c:formatCode>General</c:formatCode>
                <c:ptCount val="7"/>
                <c:pt idx="0">
                  <c:v>132</c:v>
                </c:pt>
                <c:pt idx="1">
                  <c:v>120</c:v>
                </c:pt>
                <c:pt idx="2">
                  <c:v>146</c:v>
                </c:pt>
                <c:pt idx="3">
                  <c:v>123</c:v>
                </c:pt>
                <c:pt idx="4">
                  <c:v>142</c:v>
                </c:pt>
                <c:pt idx="5">
                  <c:v>148</c:v>
                </c:pt>
                <c:pt idx="6">
                  <c:v>116</c:v>
                </c:pt>
              </c:numCache>
            </c:numRef>
          </c:val>
        </c:ser>
        <c:dLbls>
          <c:numFmt formatCode="0&quot;%&quot;" sourceLinked="0"/>
          <c:txPr>
            <a:bodyPr/>
            <a:lstStyle/>
            <a:p>
              <a:pPr>
                <a:defRPr b="0" i="0" strike="noStrike" sz="850" u="none">
                  <a:solidFill>
                    <a:srgbClr val="1A223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3E0DB"/>
            </a:solidFill>
            <a:prstDash val="solid"/>
            <a:round/>
          </a:ln>
        </c:spPr>
        <c:txPr>
          <a:bodyPr/>
          <a:lstStyle/>
          <a:p>
            <a:pPr>
              <a:defRPr sz="900" b="0" i="0" u="none" strike="noStrike">
                <a:solidFill>
                  <a:srgbClr val="5E6B78"/>
                </a:solidFill>
                <a:latin typeface="Calibri"/>
              </a:defRPr>
            </a:pPr>
            <a:endParaRPr lang="en-US"/>
          </a:p>
        </c:txPr>
        <c:crossAx val="2094734552"/>
        <c:crosses val="autoZero"/>
        <c:auto val="1"/>
        <c:lblAlgn val="ctr"/>
        <c:noMultiLvlLbl val="1"/>
      </c:catAx>
      <c:valAx>
        <c:axId val="2094734552"/>
        <c:scaling>
          <c:orientation val="minMax"/>
          <c:max val="180"/>
          <c:min val="0"/>
        </c:scaling>
        <c:delete val="1"/>
        <c:axPos val="b"/>
        <c:majorGridlines>
          <c:spPr>
            <a:ln w="6350" cap="flat">
              <a:solidFill>
                <a:srgbClr val="E3EAE7"/>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E6B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0"/>
                </a:solidFill>
                <a:latin typeface="Calibri"/>
              </a:defRPr>
            </a:pPr>
            <a:r>
              <a:rPr sz="1100" b="0" i="0" u="none" strike="noStrike">
                <a:solidFill>
                  <a:srgbClr val="1A2230"/>
                </a:solidFill>
                <a:latin typeface="Calibri"/>
              </a:rPr>
              <a:t>Basket level fan chart (% of initial)</a:t>
            </a:r>
          </a:p>
        </c:rich>
      </c:tx>
      <c:layout/>
      <c:overlay val="0"/>
    </c:title>
    <c:autoTitleDeleted val="0"/>
    <c:plotArea>
      <c:layout/>
      <c:lineChart>
        <c:varyColors val="0"/>
        <c:ser>
          <c:idx val="0"/>
          <c:order val="0"/>
          <c:tx>
            <c:strRef>
              <c:f>Sheet1!$B$1</c:f>
              <c:strCache>
                <c:ptCount val="1"/>
                <c:pt idx="0">
                  <c:v>5th pct</c:v>
                </c:pt>
              </c:strCache>
            </c:strRef>
          </c:tx>
          <c:spPr>
            <a:solidFill>
              <a:srgbClr val="B7C4CF"/>
            </a:solidFill>
            <a:ln w="25400" cap="flat">
              <a:solidFill>
                <a:srgbClr val="B7C4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7C4CF"/>
              </a:solidFill>
              <a:ln w="9525" cap="flat">
                <a:solidFill>
                  <a:srgbClr val="B7C4CF"/>
                </a:solidFill>
                <a:prstDash val="solid"/>
                <a:round/>
              </a:ln>
              <a:effectLst/>
            </c:spPr>
          </c:marker>
          <c:cat>
            <c:multiLvlStrRef>
              <c:f>Sheet1!$A$2:$A$9</c:f>
              <c:multiLvlStrCache>
                <c:ptCount val="8"/>
                <c:lvl>
                  <c:pt idx="0">
                    <c:v>Y0</c:v>
                  </c:pt>
                  <c:pt idx="1">
                    <c:v>Y1</c:v>
                  </c:pt>
                  <c:pt idx="2">
                    <c:v>Y2</c:v>
                  </c:pt>
                  <c:pt idx="3">
                    <c:v>Y3</c:v>
                  </c:pt>
                  <c:pt idx="4">
                    <c:v>Y4</c:v>
                  </c:pt>
                  <c:pt idx="5">
                    <c:v>Y5</c:v>
                  </c:pt>
                  <c:pt idx="6">
                    <c:v>Y6</c:v>
                  </c:pt>
                  <c:pt idx="7">
                    <c:v>Y7</c:v>
                  </c:pt>
                </c:lvl>
              </c:multiLvlStrCache>
            </c:multiLvlStrRef>
          </c:cat>
          <c:val>
            <c:numRef>
              <c:f>Sheet1!$B$2:$B$9</c:f>
              <c:numCache>
                <c:formatCode>General</c:formatCode>
                <c:ptCount val="8"/>
                <c:pt idx="0">
                  <c:v>100</c:v>
                </c:pt>
                <c:pt idx="1">
                  <c:v>72</c:v>
                </c:pt>
                <c:pt idx="2">
                  <c:v>63</c:v>
                </c:pt>
                <c:pt idx="3">
                  <c:v>58</c:v>
                </c:pt>
                <c:pt idx="4">
                  <c:v>54</c:v>
                </c:pt>
                <c:pt idx="5">
                  <c:v>51</c:v>
                </c:pt>
                <c:pt idx="6">
                  <c:v>49</c:v>
                </c:pt>
                <c:pt idx="7">
                  <c:v>47</c:v>
                </c:pt>
              </c:numCache>
            </c:numRef>
          </c:val>
          <c:smooth val="0"/>
        </c:ser>
        <c:ser>
          <c:idx val="1"/>
          <c:order val="1"/>
          <c:tx>
            <c:strRef>
              <c:f>Sheet1!$C$1</c:f>
              <c:strCache>
                <c:ptCount val="1"/>
                <c:pt idx="0">
                  <c:v>25th pct</c:v>
                </c:pt>
              </c:strCache>
            </c:strRef>
          </c:tx>
          <c:spPr>
            <a:solidFill>
              <a:srgbClr val="5FB49C"/>
            </a:solidFill>
            <a:ln w="25400" cap="flat">
              <a:solidFill>
                <a:srgbClr val="5FB4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FB49C"/>
              </a:solidFill>
              <a:ln w="9525" cap="flat">
                <a:solidFill>
                  <a:srgbClr val="5FB49C"/>
                </a:solidFill>
                <a:prstDash val="solid"/>
                <a:round/>
              </a:ln>
              <a:effectLst/>
            </c:spPr>
          </c:marker>
          <c:cat>
            <c:multiLvlStrRef>
              <c:f>Sheet1!$A$2:$A$9</c:f>
              <c:multiLvlStrCache>
                <c:ptCount val="8"/>
                <c:lvl>
                  <c:pt idx="0">
                    <c:v>Y0</c:v>
                  </c:pt>
                  <c:pt idx="1">
                    <c:v>Y1</c:v>
                  </c:pt>
                  <c:pt idx="2">
                    <c:v>Y2</c:v>
                  </c:pt>
                  <c:pt idx="3">
                    <c:v>Y3</c:v>
                  </c:pt>
                  <c:pt idx="4">
                    <c:v>Y4</c:v>
                  </c:pt>
                  <c:pt idx="5">
                    <c:v>Y5</c:v>
                  </c:pt>
                  <c:pt idx="6">
                    <c:v>Y6</c:v>
                  </c:pt>
                  <c:pt idx="7">
                    <c:v>Y7</c:v>
                  </c:pt>
                </c:lvl>
              </c:multiLvlStrCache>
            </c:multiLvlStrRef>
          </c:cat>
          <c:val>
            <c:numRef>
              <c:f>Sheet1!$C$2:$C$9</c:f>
              <c:numCache>
                <c:formatCode>General</c:formatCode>
                <c:ptCount val="8"/>
                <c:pt idx="0">
                  <c:v>100</c:v>
                </c:pt>
                <c:pt idx="1">
                  <c:v>89</c:v>
                </c:pt>
                <c:pt idx="2">
                  <c:v>86</c:v>
                </c:pt>
                <c:pt idx="3">
                  <c:v>84</c:v>
                </c:pt>
                <c:pt idx="4">
                  <c:v>83</c:v>
                </c:pt>
                <c:pt idx="5">
                  <c:v>83</c:v>
                </c:pt>
                <c:pt idx="6">
                  <c:v>82</c:v>
                </c:pt>
                <c:pt idx="7">
                  <c:v>82</c:v>
                </c:pt>
              </c:numCache>
            </c:numRef>
          </c:val>
          <c:smooth val="0"/>
        </c:ser>
        <c:ser>
          <c:idx val="2"/>
          <c:order val="2"/>
          <c:tx>
            <c:strRef>
              <c:f>Sheet1!$D$1</c:f>
              <c:strCache>
                <c:ptCount val="1"/>
                <c:pt idx="0">
                  <c:v>Median</c:v>
                </c:pt>
              </c:strCache>
            </c:strRef>
          </c:tx>
          <c:spPr>
            <a:solidFill>
              <a:srgbClr val="0E2238"/>
            </a:solidFill>
            <a:ln w="25400" cap="flat">
              <a:solidFill>
                <a:srgbClr val="0E223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2238"/>
              </a:solidFill>
              <a:ln w="9525" cap="flat">
                <a:solidFill>
                  <a:srgbClr val="0E2238"/>
                </a:solidFill>
                <a:prstDash val="solid"/>
                <a:round/>
              </a:ln>
              <a:effectLst/>
            </c:spPr>
          </c:marker>
          <c:cat>
            <c:multiLvlStrRef>
              <c:f>Sheet1!$A$2:$A$9</c:f>
              <c:multiLvlStrCache>
                <c:ptCount val="8"/>
                <c:lvl>
                  <c:pt idx="0">
                    <c:v>Y0</c:v>
                  </c:pt>
                  <c:pt idx="1">
                    <c:v>Y1</c:v>
                  </c:pt>
                  <c:pt idx="2">
                    <c:v>Y2</c:v>
                  </c:pt>
                  <c:pt idx="3">
                    <c:v>Y3</c:v>
                  </c:pt>
                  <c:pt idx="4">
                    <c:v>Y4</c:v>
                  </c:pt>
                  <c:pt idx="5">
                    <c:v>Y5</c:v>
                  </c:pt>
                  <c:pt idx="6">
                    <c:v>Y6</c:v>
                  </c:pt>
                  <c:pt idx="7">
                    <c:v>Y7</c:v>
                  </c:pt>
                </c:lvl>
              </c:multiLvlStrCache>
            </c:multiLvlStrRef>
          </c:cat>
          <c:val>
            <c:numRef>
              <c:f>Sheet1!$D$2:$D$9</c:f>
              <c:numCache>
                <c:formatCode>General</c:formatCode>
                <c:ptCount val="8"/>
                <c:pt idx="0">
                  <c:v>100</c:v>
                </c:pt>
                <c:pt idx="1">
                  <c:v>103</c:v>
                </c:pt>
                <c:pt idx="2">
                  <c:v>106</c:v>
                </c:pt>
                <c:pt idx="3">
                  <c:v>109</c:v>
                </c:pt>
                <c:pt idx="4">
                  <c:v>112</c:v>
                </c:pt>
                <c:pt idx="5">
                  <c:v>115</c:v>
                </c:pt>
                <c:pt idx="6">
                  <c:v>118</c:v>
                </c:pt>
                <c:pt idx="7">
                  <c:v>121</c:v>
                </c:pt>
              </c:numCache>
            </c:numRef>
          </c:val>
          <c:smooth val="0"/>
        </c:ser>
        <c:ser>
          <c:idx val="3"/>
          <c:order val="3"/>
          <c:tx>
            <c:strRef>
              <c:f>Sheet1!$E$1</c:f>
              <c:strCache>
                <c:ptCount val="1"/>
                <c:pt idx="0">
                  <c:v>75th pct</c:v>
                </c:pt>
              </c:strCache>
            </c:strRef>
          </c:tx>
          <c:spPr>
            <a:solidFill>
              <a:srgbClr val="5FB49C"/>
            </a:solidFill>
            <a:ln w="25400" cap="flat">
              <a:solidFill>
                <a:srgbClr val="5FB4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FB49C"/>
              </a:solidFill>
              <a:ln w="9525" cap="flat">
                <a:solidFill>
                  <a:srgbClr val="5FB49C"/>
                </a:solidFill>
                <a:prstDash val="solid"/>
                <a:round/>
              </a:ln>
              <a:effectLst/>
            </c:spPr>
          </c:marker>
          <c:cat>
            <c:multiLvlStrRef>
              <c:f>Sheet1!$A$2:$A$9</c:f>
              <c:multiLvlStrCache>
                <c:ptCount val="8"/>
                <c:lvl>
                  <c:pt idx="0">
                    <c:v>Y0</c:v>
                  </c:pt>
                  <c:pt idx="1">
                    <c:v>Y1</c:v>
                  </c:pt>
                  <c:pt idx="2">
                    <c:v>Y2</c:v>
                  </c:pt>
                  <c:pt idx="3">
                    <c:v>Y3</c:v>
                  </c:pt>
                  <c:pt idx="4">
                    <c:v>Y4</c:v>
                  </c:pt>
                  <c:pt idx="5">
                    <c:v>Y5</c:v>
                  </c:pt>
                  <c:pt idx="6">
                    <c:v>Y6</c:v>
                  </c:pt>
                  <c:pt idx="7">
                    <c:v>Y7</c:v>
                  </c:pt>
                </c:lvl>
              </c:multiLvlStrCache>
            </c:multiLvlStrRef>
          </c:cat>
          <c:val>
            <c:numRef>
              <c:f>Sheet1!$E$2:$E$9</c:f>
              <c:numCache>
                <c:formatCode>General</c:formatCode>
                <c:ptCount val="8"/>
                <c:pt idx="0">
                  <c:v>100</c:v>
                </c:pt>
                <c:pt idx="1">
                  <c:v>119</c:v>
                </c:pt>
                <c:pt idx="2">
                  <c:v>131</c:v>
                </c:pt>
                <c:pt idx="3">
                  <c:v>141</c:v>
                </c:pt>
                <c:pt idx="4">
                  <c:v>151</c:v>
                </c:pt>
                <c:pt idx="5">
                  <c:v>161</c:v>
                </c:pt>
                <c:pt idx="6">
                  <c:v>171</c:v>
                </c:pt>
                <c:pt idx="7">
                  <c:v>181</c:v>
                </c:pt>
              </c:numCache>
            </c:numRef>
          </c:val>
          <c:smooth val="0"/>
        </c:ser>
        <c:ser>
          <c:idx val="4"/>
          <c:order val="4"/>
          <c:tx>
            <c:strRef>
              <c:f>Sheet1!$F$1</c:f>
              <c:strCache>
                <c:ptCount val="1"/>
                <c:pt idx="0">
                  <c:v>95th pct</c:v>
                </c:pt>
              </c:strCache>
            </c:strRef>
          </c:tx>
          <c:spPr>
            <a:solidFill>
              <a:srgbClr val="B7C4CF"/>
            </a:solidFill>
            <a:ln w="25400" cap="flat">
              <a:solidFill>
                <a:srgbClr val="B7C4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7C4CF"/>
              </a:solidFill>
              <a:ln w="9525" cap="flat">
                <a:solidFill>
                  <a:srgbClr val="B7C4CF"/>
                </a:solidFill>
                <a:prstDash val="solid"/>
                <a:round/>
              </a:ln>
              <a:effectLst/>
            </c:spPr>
          </c:marker>
          <c:cat>
            <c:multiLvlStrRef>
              <c:f>Sheet1!$A$2:$A$9</c:f>
              <c:multiLvlStrCache>
                <c:ptCount val="8"/>
                <c:lvl>
                  <c:pt idx="0">
                    <c:v>Y0</c:v>
                  </c:pt>
                  <c:pt idx="1">
                    <c:v>Y1</c:v>
                  </c:pt>
                  <c:pt idx="2">
                    <c:v>Y2</c:v>
                  </c:pt>
                  <c:pt idx="3">
                    <c:v>Y3</c:v>
                  </c:pt>
                  <c:pt idx="4">
                    <c:v>Y4</c:v>
                  </c:pt>
                  <c:pt idx="5">
                    <c:v>Y5</c:v>
                  </c:pt>
                  <c:pt idx="6">
                    <c:v>Y6</c:v>
                  </c:pt>
                  <c:pt idx="7">
                    <c:v>Y7</c:v>
                  </c:pt>
                </c:lvl>
              </c:multiLvlStrCache>
            </c:multiLvlStrRef>
          </c:cat>
          <c:val>
            <c:numRef>
              <c:f>Sheet1!$F$2:$F$9</c:f>
              <c:numCache>
                <c:formatCode>General</c:formatCode>
                <c:ptCount val="8"/>
                <c:pt idx="0">
                  <c:v>100</c:v>
                </c:pt>
                <c:pt idx="1">
                  <c:v>149</c:v>
                </c:pt>
                <c:pt idx="2">
                  <c:v>178</c:v>
                </c:pt>
                <c:pt idx="3">
                  <c:v>206</c:v>
                </c:pt>
                <c:pt idx="4">
                  <c:v>234</c:v>
                </c:pt>
                <c:pt idx="5">
                  <c:v>263</c:v>
                </c:pt>
                <c:pt idx="6">
                  <c:v>293</c:v>
                </c:pt>
                <c:pt idx="7">
                  <c:v>325</c:v>
                </c:pt>
              </c:numCache>
            </c:numRef>
          </c:val>
          <c:smooth val="0"/>
        </c:ser>
        <c:ser>
          <c:idx val="5"/>
          <c:order val="5"/>
          <c:tx>
            <c:strRef>
              <c:f>Sheet1!$G$1</c:f>
              <c:strCache>
                <c:ptCount val="1"/>
                <c:pt idx="0">
                  <c:v>Note floor</c:v>
                </c:pt>
              </c:strCache>
            </c:strRef>
          </c:tx>
          <c:spPr>
            <a:solidFill>
              <a:srgbClr val="C99A2E"/>
            </a:solidFill>
            <a:ln w="25400" cap="flat">
              <a:solidFill>
                <a:srgbClr val="C99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9A2E"/>
              </a:solidFill>
              <a:ln w="9525" cap="flat">
                <a:solidFill>
                  <a:srgbClr val="C99A2E"/>
                </a:solidFill>
                <a:prstDash val="solid"/>
                <a:round/>
              </a:ln>
              <a:effectLst/>
            </c:spPr>
          </c:marker>
          <c:cat>
            <c:multiLvlStrRef>
              <c:f>Sheet1!$A$2:$A$9</c:f>
              <c:multiLvlStrCache>
                <c:ptCount val="8"/>
                <c:lvl>
                  <c:pt idx="0">
                    <c:v>Y0</c:v>
                  </c:pt>
                  <c:pt idx="1">
                    <c:v>Y1</c:v>
                  </c:pt>
                  <c:pt idx="2">
                    <c:v>Y2</c:v>
                  </c:pt>
                  <c:pt idx="3">
                    <c:v>Y3</c:v>
                  </c:pt>
                  <c:pt idx="4">
                    <c:v>Y4</c:v>
                  </c:pt>
                  <c:pt idx="5">
                    <c:v>Y5</c:v>
                  </c:pt>
                  <c:pt idx="6">
                    <c:v>Y6</c:v>
                  </c:pt>
                  <c:pt idx="7">
                    <c:v>Y7</c:v>
                  </c:pt>
                </c:lvl>
              </c:multiLvlStrCache>
            </c:multiLvlStrRef>
          </c:cat>
          <c:val>
            <c:numRef>
              <c:f>Sheet1!$G$2:$G$9</c:f>
              <c:numCache>
                <c:formatCode>General</c:formatCode>
                <c:ptCount val="8"/>
                <c:pt idx="0">
                  <c:v>100</c:v>
                </c:pt>
                <c:pt idx="1">
                  <c:v>100</c:v>
                </c:pt>
                <c:pt idx="2">
                  <c:v>100</c:v>
                </c:pt>
                <c:pt idx="3">
                  <c:v>100</c:v>
                </c:pt>
                <c:pt idx="4">
                  <c:v>100</c:v>
                </c:pt>
                <c:pt idx="5">
                  <c:v>100</c:v>
                </c:pt>
                <c:pt idx="6">
                  <c:v>100</c:v>
                </c:pt>
                <c:pt idx="7">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3E0DB"/>
            </a:solidFill>
            <a:prstDash val="solid"/>
            <a:round/>
          </a:ln>
        </c:spPr>
        <c:txPr>
          <a:bodyPr/>
          <a:lstStyle/>
          <a:p>
            <a:pPr>
              <a:defRPr sz="900" b="0" i="0" u="none" strike="noStrike">
                <a:solidFill>
                  <a:srgbClr val="5E6B78"/>
                </a:solidFill>
                <a:latin typeface="Calibri"/>
              </a:defRPr>
            </a:pPr>
            <a:endParaRPr lang="en-US"/>
          </a:p>
        </c:txPr>
        <c:crossAx val="2094734552"/>
        <c:crosses val="autoZero"/>
        <c:auto val="1"/>
        <c:lblAlgn val="ctr"/>
        <c:noMultiLvlLbl val="1"/>
      </c:catAx>
      <c:valAx>
        <c:axId val="2094734552"/>
        <c:scaling>
          <c:orientation val="minMax"/>
          <c:max val="350"/>
          <c:min val="0"/>
        </c:scaling>
        <c:delete val="0"/>
        <c:axPos val="l"/>
        <c:majorGridlines>
          <c:spPr>
            <a:ln w="6350" cap="flat">
              <a:solidFill>
                <a:srgbClr val="E3EA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E6B78"/>
                </a:solidFill>
                <a:latin typeface="Calibri"/>
              </a:defRPr>
            </a:pPr>
            <a:endParaRPr lang="en-US"/>
          </a:p>
        </c:txPr>
        <c:crossAx val="2094734554"/>
        <c:crosses val="autoZero"/>
        <c:crossBetween val="between"/>
        <c:majorUnit val="50"/>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230"/>
                </a:solidFill>
                <a:latin typeface="Calibri"/>
              </a:defRPr>
            </a:pPr>
            <a:r>
              <a:rPr sz="1100" b="0" i="0" u="none" strike="noStrike">
                <a:solidFill>
                  <a:srgbClr val="1A2230"/>
                </a:solidFill>
                <a:latin typeface="Calibri"/>
              </a:rPr>
              <a:t>Distribution of note redemption at maturity (% of paths)</a:t>
            </a:r>
          </a:p>
        </c:rich>
      </c:tx>
      <c:layout/>
      <c:overlay val="0"/>
    </c:title>
    <c:autoTitleDeleted val="0"/>
    <c:plotArea>
      <c:layout/>
      <c:barChart>
        <c:barDir val="col"/>
        <c:grouping val="clustered"/>
        <c:varyColors val="0"/>
        <c:ser>
          <c:idx val="0"/>
          <c:order val="0"/>
          <c:tx>
            <c:strRef>
              <c:f>Sheet1!$B$1</c:f>
              <c:strCache>
                <c:ptCount val="1"/>
                <c:pt idx="0">
                  <c:v>Probability</c:v>
                </c:pt>
              </c:strCache>
            </c:strRef>
          </c:tx>
          <c:spPr>
            <a:solidFill>
              <a:srgbClr val="0E2238"/>
            </a:solidFill>
            <a:effectLst/>
          </c:spPr>
          <c:invertIfNegative val="0"/>
          <c:dLbls>
            <c:numFmt formatCode="0&quot;%&quot;" sourceLinked="0"/>
            <c:txPr>
              <a:bodyPr/>
              <a:lstStyle/>
              <a:p>
                <a:pPr>
                  <a:defRPr b="0" i="0" strike="noStrike" sz="900" u="none">
                    <a:solidFill>
                      <a:srgbClr val="1A2230"/>
                    </a:solidFill>
                    <a:latin typeface="Arial"/>
                  </a:defRPr>
                </a:pPr>
              </a:p>
            </c:txPr>
            <c:showLegendKey val="0"/>
            <c:showVal val="1"/>
            <c:showCatName val="0"/>
            <c:showSerName val="0"/>
            <c:showPercent val="0"/>
            <c:showBubbleSize val="0"/>
            <c:showLeaderLines val="0"/>
          </c:dLbls>
          <c:dPt>
            <c:idx val="0"/>
            <c:invertIfNegative val="0"/>
            <c:bubble3D val="0"/>
            <c:spPr>
              <a:solidFill>
                <a:srgbClr val="0E2238"/>
              </a:solidFill>
              <a:effectLst/>
            </c:spPr>
          </c:dPt>
          <c:dPt>
            <c:idx val="1"/>
            <c:invertIfNegative val="0"/>
            <c:bubble3D val="0"/>
            <c:spPr>
              <a:solidFill>
                <a:srgbClr val="1F8A70"/>
              </a:solidFill>
              <a:effectLst/>
            </c:spPr>
          </c:dPt>
          <c:dPt>
            <c:idx val="2"/>
            <c:invertIfNegative val="0"/>
            <c:bubble3D val="0"/>
            <c:spPr>
              <a:solidFill>
                <a:srgbClr val="1F8A70"/>
              </a:solidFill>
              <a:effectLst/>
            </c:spPr>
          </c:dPt>
          <c:dPt>
            <c:idx val="3"/>
            <c:invertIfNegative val="0"/>
            <c:bubble3D val="0"/>
            <c:spPr>
              <a:solidFill>
                <a:srgbClr val="1F8A70"/>
              </a:solidFill>
              <a:effectLst/>
            </c:spPr>
          </c:dPt>
          <c:dPt>
            <c:idx val="4"/>
            <c:invertIfNegative val="0"/>
            <c:bubble3D val="0"/>
            <c:spPr>
              <a:solidFill>
                <a:srgbClr val="1F8A70"/>
              </a:solidFill>
              <a:effectLst/>
            </c:spPr>
          </c:dPt>
          <c:dPt>
            <c:idx val="5"/>
            <c:invertIfNegative val="0"/>
            <c:bubble3D val="0"/>
            <c:spPr>
              <a:solidFill>
                <a:srgbClr val="C99A2E"/>
              </a:solidFill>
              <a:effectLst/>
            </c:spPr>
          </c:dPt>
          <c:cat>
            <c:multiLvlStrRef>
              <c:f>Sheet1!$A$2:$A$7</c:f>
              <c:multiLvlStrCache>
                <c:ptCount val="6"/>
                <c:lvl>
                  <c:pt idx="0">
                    <c:v>100% (floor)</c:v>
                  </c:pt>
                  <c:pt idx="1">
                    <c:v>100-115%</c:v>
                  </c:pt>
                  <c:pt idx="2">
                    <c:v>115-130%</c:v>
                  </c:pt>
                  <c:pt idx="3">
                    <c:v>130-150%</c:v>
                  </c:pt>
                  <c:pt idx="4">
                    <c:v>150-200%</c:v>
                  </c:pt>
                  <c:pt idx="5">
                    <c:v>&gt;200%</c:v>
                  </c:pt>
                </c:lvl>
              </c:multiLvlStrCache>
            </c:multiLvlStrRef>
          </c:cat>
          <c:val>
            <c:numRef>
              <c:f>Sheet1!$B$2:$B$7</c:f>
              <c:numCache>
                <c:formatCode>General</c:formatCode>
                <c:ptCount val="6"/>
                <c:pt idx="0">
                  <c:v>29.4</c:v>
                </c:pt>
                <c:pt idx="1">
                  <c:v>4</c:v>
                </c:pt>
                <c:pt idx="2">
                  <c:v>13.4</c:v>
                </c:pt>
                <c:pt idx="3">
                  <c:v>11.3</c:v>
                </c:pt>
                <c:pt idx="4">
                  <c:v>16.5</c:v>
                </c:pt>
                <c:pt idx="5">
                  <c:v>25.3</c:v>
                </c:pt>
              </c:numCache>
            </c:numRef>
          </c:val>
        </c:ser>
        <c:dLbls>
          <c:numFmt formatCode="0&quot;%&quot;" sourceLinked="0"/>
          <c:txPr>
            <a:bodyPr/>
            <a:lstStyle/>
            <a:p>
              <a:pPr>
                <a:defRPr b="0" i="0" strike="noStrike" sz="900" u="none">
                  <a:solidFill>
                    <a:srgbClr val="1A22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3E0DB"/>
            </a:solidFill>
            <a:prstDash val="solid"/>
            <a:round/>
          </a:ln>
        </c:spPr>
        <c:txPr>
          <a:bodyPr/>
          <a:lstStyle/>
          <a:p>
            <a:pPr>
              <a:defRPr sz="900" b="0" i="0" u="none" strike="noStrike">
                <a:solidFill>
                  <a:srgbClr val="5E6B78"/>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AE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E6B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the Chak family already owns Asia's physical digital infrastructure. This note gives them the chips-and-platforms layer, in USD, with principal protected and gains banked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are our reading of the brief; confirm them with the family's investment committee. The key one is no income need, which lets us spend the whole option budget 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strip maps each client constraint to one product feature; every later slide refers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lock-in observes the basket only on six anniversaries, which keeps it cheap (1.8% of notional) and easy to explain. A lock-in can only ratchet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redemption 173%, p95 381%. Note returns exactly principal in 29% of paths; direct basket loses money in 29%. The note beats a 7Y USD bond in 44% of paths: that is the honest cost of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goldmansachs.com/insights/articles/global-investment-is-forecast-to-exceed-1-trillion-in-2026" TargetMode="External"/><Relationship Id="rId2" Type="http://schemas.openxmlformats.org/officeDocument/2006/relationships/hyperlink" Target="https://know.creditsights.com/insights/technology-hyperscaler-capex-2026-estimates/" TargetMode="External"/><Relationship Id="rId3" Type="http://schemas.openxmlformats.org/officeDocument/2006/relationships/hyperlink" Target="https://www.techtimes.com/articles/327359/20260911/south-korea-chips-hit-47-exports-ai-demand-shatters-september-record.htm" TargetMode="External"/><Relationship Id="rId4" Type="http://schemas.openxmlformats.org/officeDocument/2006/relationships/hyperlink" Target="https://en.sedaily.com/finance/2026/10/01/kospi-cedes-global-lead-to-taiwan-as-monthly-gains-stall" TargetMode="External"/><Relationship Id="rId5" Type="http://schemas.openxmlformats.org/officeDocument/2006/relationships/hyperlink" Target="https://www.advisorperspectives.com/dshort/updates/2026/09/21/world-markets-watchlist-september-21-2026" TargetMode="External"/><Relationship Id="rId6" Type="http://schemas.openxmlformats.org/officeDocument/2006/relationships/hyperlink" Target="https://www.cnbc.com/2026/09/16/fed-rate-decision-september-2026.html" TargetMode="External"/><Relationship Id="rId7" Type="http://schemas.openxmlformats.org/officeDocument/2006/relationships/hyperlink" Target="https://www.allianz.com/content/dam/onemarketing/azcom/Allianz_com/economic-research/publications/specials/en/2026/march/2026_03_25_AI.pdf" TargetMode="External"/><Relationship Id="rId8" Type="http://schemas.openxmlformats.org/officeDocument/2006/relationships/hyperlink" Target="https://www.hsi.com.hk/eng/indexes/all-indexes/hstech" TargetMode="External"/><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8"/>
        </a:solidFill>
      </p:bgPr>
    </p:bg>
    <p:spTree>
      <p:nvGrpSpPr>
        <p:cNvPr id="1" name=""/>
        <p:cNvGrpSpPr/>
        <p:nvPr/>
      </p:nvGrpSpPr>
      <p:grpSpPr>
        <a:xfrm>
          <a:off x="0" y="0"/>
          <a:ext cx="0" cy="0"/>
          <a:chOff x="0" y="0"/>
          <a:chExt cx="0" cy="0"/>
        </a:xfrm>
      </p:grpSpPr>
      <p:sp>
        <p:nvSpPr>
          <p:cNvPr id="2" name="Shape 0"/>
          <p:cNvSpPr/>
          <p:nvPr/>
        </p:nvSpPr>
        <p:spPr>
          <a:xfrm>
            <a:off x="5120640" y="1097280"/>
            <a:ext cx="5120640" cy="5120640"/>
          </a:xfrm>
          <a:prstGeom prst="blockArc">
            <a:avLst>
              <a:gd name="adj1" fmla="val 10800000"/>
              <a:gd name="adj2" fmla="val 0"/>
              <a:gd name="adj3" fmla="val 6000"/>
            </a:avLst>
          </a:prstGeom>
          <a:solidFill>
            <a:srgbClr val="1F8A70">
              <a:alpha val="65000"/>
            </a:srgbClr>
          </a:solidFill>
          <a:ln w="12700">
            <a:solidFill>
              <a:srgbClr val="1F8A70">
                <a:alpha val="65000"/>
              </a:srgbClr>
            </a:solidFill>
            <a:prstDash val="solid"/>
          </a:ln>
        </p:spPr>
      </p:sp>
      <p:sp>
        <p:nvSpPr>
          <p:cNvPr id="3" name="Shape 1"/>
          <p:cNvSpPr/>
          <p:nvPr/>
        </p:nvSpPr>
        <p:spPr>
          <a:xfrm>
            <a:off x="5760720" y="1737360"/>
            <a:ext cx="3840480" cy="3840480"/>
          </a:xfrm>
          <a:prstGeom prst="blockArc">
            <a:avLst>
              <a:gd name="adj1" fmla="val 10800000"/>
              <a:gd name="adj2" fmla="val 0"/>
              <a:gd name="adj3" fmla="val 5000"/>
            </a:avLst>
          </a:prstGeom>
          <a:solidFill>
            <a:srgbClr val="C99A2E">
              <a:alpha val="75000"/>
            </a:srgbClr>
          </a:solidFill>
          <a:ln w="12700">
            <a:solidFill>
              <a:srgbClr val="C99A2E">
                <a:alpha val="75000"/>
              </a:srgbClr>
            </a:solidFill>
            <a:prstDash val="solid"/>
          </a:ln>
        </p:spPr>
      </p:sp>
      <p:sp>
        <p:nvSpPr>
          <p:cNvPr id="4" name="Text 2"/>
          <p:cNvSpPr txBox="1"/>
          <p:nvPr/>
        </p:nvSpPr>
        <p:spPr>
          <a:xfrm>
            <a:off x="548640" y="685800"/>
            <a:ext cx="7680960" cy="320040"/>
          </a:xfrm>
          <a:prstGeom prst="rect">
            <a:avLst/>
          </a:prstGeom>
          <a:noFill/>
          <a:ln/>
        </p:spPr>
        <p:txBody>
          <a:bodyPr wrap="square" lIns="0" tIns="0" rIns="0" bIns="0" rtlCol="0" anchor="ctr"/>
          <a:lstStyle/>
          <a:p>
            <a:pPr indent="0" marL="0">
              <a:buNone/>
            </a:pPr>
            <a:r>
              <a:rPr lang="en-US" sz="1200" dirty="0">
                <a:solidFill>
                  <a:srgbClr val="B9C7D6"/>
                </a:solidFill>
                <a:latin typeface="Calibri" pitchFamily="34" charset="0"/>
                <a:ea typeface="Calibri" pitchFamily="34" charset="-122"/>
                <a:cs typeface="Calibri" pitchFamily="34" charset="-120"/>
              </a:rPr>
              <a:t>Investment Strategy Challenge 2026  ·  Proposal to the NKE Private Wealth Investment Committee</a:t>
            </a:r>
            <a:endParaRPr lang="en-US" sz="1200" dirty="0"/>
          </a:p>
        </p:txBody>
      </p:sp>
      <p:sp>
        <p:nvSpPr>
          <p:cNvPr id="5" name="Text 3"/>
          <p:cNvSpPr txBox="1"/>
          <p:nvPr/>
        </p:nvSpPr>
        <p:spPr>
          <a:xfrm>
            <a:off x="548640" y="1188720"/>
            <a:ext cx="5852160" cy="14173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Asia Digital Bridge</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Legacy Note</a:t>
            </a:r>
            <a:endParaRPr lang="en-US" sz="3800" dirty="0"/>
          </a:p>
        </p:txBody>
      </p:sp>
      <p:sp>
        <p:nvSpPr>
          <p:cNvPr id="6" name="Text 4"/>
          <p:cNvSpPr txBox="1"/>
          <p:nvPr/>
        </p:nvSpPr>
        <p:spPr>
          <a:xfrm>
            <a:off x="548640" y="2743200"/>
            <a:ext cx="5303520" cy="777240"/>
          </a:xfrm>
          <a:prstGeom prst="rect">
            <a:avLst/>
          </a:prstGeom>
          <a:noFill/>
          <a:ln/>
        </p:spPr>
        <p:txBody>
          <a:bodyPr wrap="square" lIns="0" tIns="0" rIns="0" bIns="0" rtlCol="0" anchor="ctr"/>
          <a:lstStyle/>
          <a:p>
            <a:pPr indent="0" marL="0">
              <a:buNone/>
            </a:pPr>
            <a:r>
              <a:rPr lang="en-US" sz="1500" i="1" dirty="0">
                <a:solidFill>
                  <a:srgbClr val="DCE7E3"/>
                </a:solidFill>
                <a:latin typeface="Calibri" pitchFamily="34" charset="0"/>
                <a:ea typeface="Calibri" pitchFamily="34" charset="-122"/>
                <a:cs typeface="Calibri" pitchFamily="34" charset="-120"/>
              </a:rPr>
              <a:t>Own Asia's AI supply chain, from wafer to app, while every dollar of principal and every banked gain is kept for the next generation</a:t>
            </a:r>
            <a:endParaRPr lang="en-US" sz="1500" dirty="0"/>
          </a:p>
        </p:txBody>
      </p:sp>
      <p:sp>
        <p:nvSpPr>
          <p:cNvPr id="7" name="Text 5"/>
          <p:cNvSpPr txBox="1"/>
          <p:nvPr/>
        </p:nvSpPr>
        <p:spPr>
          <a:xfrm>
            <a:off x="548640" y="3977640"/>
            <a:ext cx="8046720" cy="320040"/>
          </a:xfrm>
          <a:prstGeom prst="rect">
            <a:avLst/>
          </a:prstGeom>
          <a:noFill/>
          <a:ln/>
        </p:spPr>
        <p:txBody>
          <a:bodyPr wrap="square" lIns="0" tIns="0" rIns="0" bIns="0" rtlCol="0" anchor="ctr"/>
          <a:lstStyle/>
          <a:p>
            <a:pPr indent="0" marL="0">
              <a:buNone/>
            </a:pPr>
            <a:r>
              <a:rPr lang="en-US" sz="1200" b="1" dirty="0">
                <a:solidFill>
                  <a:srgbClr val="C99A2E"/>
                </a:solidFill>
                <a:latin typeface="Calibri" pitchFamily="34" charset="0"/>
                <a:ea typeface="Calibri" pitchFamily="34" charset="-122"/>
                <a:cs typeface="Calibri" pitchFamily="34" charset="-120"/>
              </a:rPr>
              <a:t>USD 100Mn  ·  7-year USD note  ·  100% principal protected  ·  125% uncapped participation  ·  Trade date 17 Sep 2026</a:t>
            </a:r>
            <a:endParaRPr lang="en-US" sz="1200" dirty="0"/>
          </a:p>
        </p:txBody>
      </p:sp>
      <p:sp>
        <p:nvSpPr>
          <p:cNvPr id="8" name="Text 6"/>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100" dirty="0">
                <a:solidFill>
                  <a:srgbClr val="B9C7D6"/>
                </a:solidFill>
                <a:latin typeface="Calibri" pitchFamily="34" charset="0"/>
                <a:ea typeface="Calibri" pitchFamily="34" charset="-122"/>
                <a:cs typeface="Calibri" pitchFamily="34" charset="-120"/>
              </a:rPr>
              <a:t>Team [name]  ·  Natixis Global Markets Institute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Agenda</a:t>
            </a:r>
            <a:endParaRPr lang="en-US" sz="2100" dirty="0"/>
          </a:p>
        </p:txBody>
      </p:sp>
      <p:sp>
        <p:nvSpPr>
          <p:cNvPr id="3" name="Shape 1"/>
          <p:cNvSpPr/>
          <p:nvPr/>
        </p:nvSpPr>
        <p:spPr>
          <a:xfrm>
            <a:off x="548640" y="996696"/>
            <a:ext cx="420624" cy="420624"/>
          </a:xfrm>
          <a:prstGeom prst="ellipse">
            <a:avLst/>
          </a:prstGeom>
          <a:solidFill>
            <a:srgbClr val="0E2238"/>
          </a:solidFill>
          <a:ln/>
        </p:spPr>
      </p:sp>
      <p:sp>
        <p:nvSpPr>
          <p:cNvPr id="4" name="Text 2"/>
          <p:cNvSpPr txBox="1"/>
          <p:nvPr/>
        </p:nvSpPr>
        <p:spPr>
          <a:xfrm>
            <a:off x="548640" y="9966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188720" y="960120"/>
            <a:ext cx="2926080" cy="502920"/>
          </a:xfrm>
          <a:prstGeom prst="rect">
            <a:avLst/>
          </a:prstGeom>
          <a:noFill/>
          <a:ln/>
        </p:spPr>
        <p:txBody>
          <a:bodyPr wrap="square" lIns="0" tIns="0" rIns="0" bIns="0" rtlCol="0" anchor="ctr"/>
          <a:lstStyle/>
          <a:p>
            <a:pPr indent="0" marL="0">
              <a:buNone/>
            </a:pPr>
            <a:r>
              <a:rPr lang="en-US" sz="1600" b="1" dirty="0">
                <a:solidFill>
                  <a:srgbClr val="0E2238"/>
                </a:solidFill>
                <a:latin typeface="Cambria" pitchFamily="34" charset="0"/>
                <a:ea typeface="Cambria" pitchFamily="34" charset="-122"/>
                <a:cs typeface="Cambria" pitchFamily="34" charset="-120"/>
              </a:rPr>
              <a:t>Client and diagnosis</a:t>
            </a:r>
            <a:endParaRPr lang="en-US" sz="1600" dirty="0"/>
          </a:p>
        </p:txBody>
      </p:sp>
      <p:sp>
        <p:nvSpPr>
          <p:cNvPr id="6" name="Text 4"/>
          <p:cNvSpPr txBox="1"/>
          <p:nvPr/>
        </p:nvSpPr>
        <p:spPr>
          <a:xfrm>
            <a:off x="4114800" y="960120"/>
            <a:ext cx="3840480" cy="502920"/>
          </a:xfrm>
          <a:prstGeom prst="rect">
            <a:avLst/>
          </a:prstGeom>
          <a:noFill/>
          <a:ln/>
        </p:spPr>
        <p:txBody>
          <a:bodyPr wrap="square" lIns="0" tIns="0" rIns="0" bIns="0" rtlCol="0" anchor="ctr"/>
          <a:lstStyle/>
          <a:p>
            <a:pPr indent="0" marL="0">
              <a:buNone/>
            </a:pPr>
            <a:r>
              <a:rPr lang="en-US" sz="1200" dirty="0">
                <a:solidFill>
                  <a:srgbClr val="5E6B78"/>
                </a:solidFill>
                <a:latin typeface="Calibri" pitchFamily="34" charset="0"/>
                <a:ea typeface="Calibri" pitchFamily="34" charset="-122"/>
                <a:cs typeface="Calibri" pitchFamily="34" charset="-120"/>
              </a:rPr>
              <a:t>Who the Chak family are, and what their balance sheet already owns</a:t>
            </a:r>
            <a:endParaRPr lang="en-US" sz="1200" dirty="0"/>
          </a:p>
        </p:txBody>
      </p:sp>
      <p:sp>
        <p:nvSpPr>
          <p:cNvPr id="7" name="Text 5"/>
          <p:cNvSpPr txBox="1"/>
          <p:nvPr/>
        </p:nvSpPr>
        <p:spPr>
          <a:xfrm>
            <a:off x="8001000" y="960120"/>
            <a:ext cx="731520" cy="502920"/>
          </a:xfrm>
          <a:prstGeom prst="rect">
            <a:avLst/>
          </a:prstGeom>
          <a:noFill/>
          <a:ln/>
        </p:spPr>
        <p:txBody>
          <a:bodyPr wrap="square" lIns="0" tIns="0" rIns="0" bIns="0" rtlCol="0" anchor="ctr"/>
          <a:lstStyle/>
          <a:p>
            <a:pPr algn="r" indent="0" marL="0">
              <a:buNone/>
            </a:pPr>
            <a:r>
              <a:rPr lang="en-US" sz="1200" b="1" dirty="0">
                <a:solidFill>
                  <a:srgbClr val="1F8A70"/>
                </a:solidFill>
                <a:latin typeface="Calibri" pitchFamily="34" charset="0"/>
                <a:ea typeface="Calibri" pitchFamily="34" charset="-122"/>
                <a:cs typeface="Calibri" pitchFamily="34" charset="-120"/>
              </a:rPr>
              <a:t>1–2</a:t>
            </a:r>
            <a:endParaRPr lang="en-US" sz="1200" dirty="0"/>
          </a:p>
        </p:txBody>
      </p:sp>
      <p:sp>
        <p:nvSpPr>
          <p:cNvPr id="8" name="Shape 6"/>
          <p:cNvSpPr/>
          <p:nvPr/>
        </p:nvSpPr>
        <p:spPr>
          <a:xfrm>
            <a:off x="548640" y="1618488"/>
            <a:ext cx="420624" cy="420624"/>
          </a:xfrm>
          <a:prstGeom prst="ellipse">
            <a:avLst/>
          </a:prstGeom>
          <a:solidFill>
            <a:srgbClr val="1F8A70"/>
          </a:solidFill>
          <a:ln/>
        </p:spPr>
      </p:sp>
      <p:sp>
        <p:nvSpPr>
          <p:cNvPr id="9" name="Text 7"/>
          <p:cNvSpPr txBox="1"/>
          <p:nvPr/>
        </p:nvSpPr>
        <p:spPr>
          <a:xfrm>
            <a:off x="548640" y="16184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188720" y="1581912"/>
            <a:ext cx="2926080" cy="502920"/>
          </a:xfrm>
          <a:prstGeom prst="rect">
            <a:avLst/>
          </a:prstGeom>
          <a:noFill/>
          <a:ln/>
        </p:spPr>
        <p:txBody>
          <a:bodyPr wrap="square" lIns="0" tIns="0" rIns="0" bIns="0" rtlCol="0" anchor="ctr"/>
          <a:lstStyle/>
          <a:p>
            <a:pPr indent="0" marL="0">
              <a:buNone/>
            </a:pPr>
            <a:r>
              <a:rPr lang="en-US" sz="1600" b="1" dirty="0">
                <a:solidFill>
                  <a:srgbClr val="0E2238"/>
                </a:solidFill>
                <a:latin typeface="Cambria" pitchFamily="34" charset="0"/>
                <a:ea typeface="Cambria" pitchFamily="34" charset="-122"/>
                <a:cs typeface="Cambria" pitchFamily="34" charset="-120"/>
              </a:rPr>
              <a:t>Market view</a:t>
            </a:r>
            <a:endParaRPr lang="en-US" sz="1600" dirty="0"/>
          </a:p>
        </p:txBody>
      </p:sp>
      <p:sp>
        <p:nvSpPr>
          <p:cNvPr id="11" name="Text 9"/>
          <p:cNvSpPr txBox="1"/>
          <p:nvPr/>
        </p:nvSpPr>
        <p:spPr>
          <a:xfrm>
            <a:off x="4114800" y="1581912"/>
            <a:ext cx="3840480" cy="502920"/>
          </a:xfrm>
          <a:prstGeom prst="rect">
            <a:avLst/>
          </a:prstGeom>
          <a:noFill/>
          <a:ln/>
        </p:spPr>
        <p:txBody>
          <a:bodyPr wrap="square" lIns="0" tIns="0" rIns="0" bIns="0" rtlCol="0" anchor="ctr"/>
          <a:lstStyle/>
          <a:p>
            <a:pPr indent="0" marL="0">
              <a:buNone/>
            </a:pPr>
            <a:r>
              <a:rPr lang="en-US" sz="1200" dirty="0">
                <a:solidFill>
                  <a:srgbClr val="5E6B78"/>
                </a:solidFill>
                <a:latin typeface="Calibri" pitchFamily="34" charset="0"/>
                <a:ea typeface="Calibri" pitchFamily="34" charset="-122"/>
                <a:cs typeface="Calibri" pitchFamily="34" charset="-120"/>
              </a:rPr>
              <a:t>Asia's AI build-out, a crowded 2026 rally and the return of high USD rates</a:t>
            </a:r>
            <a:endParaRPr lang="en-US" sz="1200" dirty="0"/>
          </a:p>
        </p:txBody>
      </p:sp>
      <p:sp>
        <p:nvSpPr>
          <p:cNvPr id="12" name="Text 10"/>
          <p:cNvSpPr txBox="1"/>
          <p:nvPr/>
        </p:nvSpPr>
        <p:spPr>
          <a:xfrm>
            <a:off x="8001000" y="1581912"/>
            <a:ext cx="731520" cy="502920"/>
          </a:xfrm>
          <a:prstGeom prst="rect">
            <a:avLst/>
          </a:prstGeom>
          <a:noFill/>
          <a:ln/>
        </p:spPr>
        <p:txBody>
          <a:bodyPr wrap="square" lIns="0" tIns="0" rIns="0" bIns="0" rtlCol="0" anchor="ctr"/>
          <a:lstStyle/>
          <a:p>
            <a:pPr algn="r" indent="0" marL="0">
              <a:buNone/>
            </a:pPr>
            <a:r>
              <a:rPr lang="en-US" sz="1200" b="1" dirty="0">
                <a:solidFill>
                  <a:srgbClr val="1F8A70"/>
                </a:solidFill>
                <a:latin typeface="Calibri" pitchFamily="34" charset="0"/>
                <a:ea typeface="Calibri" pitchFamily="34" charset="-122"/>
                <a:cs typeface="Calibri" pitchFamily="34" charset="-120"/>
              </a:rPr>
              <a:t>3</a:t>
            </a:r>
            <a:endParaRPr lang="en-US" sz="1200" dirty="0"/>
          </a:p>
        </p:txBody>
      </p:sp>
      <p:sp>
        <p:nvSpPr>
          <p:cNvPr id="13" name="Shape 11"/>
          <p:cNvSpPr/>
          <p:nvPr/>
        </p:nvSpPr>
        <p:spPr>
          <a:xfrm>
            <a:off x="548640" y="2240280"/>
            <a:ext cx="420624" cy="420624"/>
          </a:xfrm>
          <a:prstGeom prst="ellipse">
            <a:avLst/>
          </a:prstGeom>
          <a:solidFill>
            <a:srgbClr val="0E2238"/>
          </a:solidFill>
          <a:ln/>
        </p:spPr>
      </p:sp>
      <p:sp>
        <p:nvSpPr>
          <p:cNvPr id="14" name="Text 12"/>
          <p:cNvSpPr txBox="1"/>
          <p:nvPr/>
        </p:nvSpPr>
        <p:spPr>
          <a:xfrm>
            <a:off x="548640" y="2240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188720" y="2203704"/>
            <a:ext cx="2926080" cy="502920"/>
          </a:xfrm>
          <a:prstGeom prst="rect">
            <a:avLst/>
          </a:prstGeom>
          <a:noFill/>
          <a:ln/>
        </p:spPr>
        <p:txBody>
          <a:bodyPr wrap="square" lIns="0" tIns="0" rIns="0" bIns="0" rtlCol="0" anchor="ctr"/>
          <a:lstStyle/>
          <a:p>
            <a:pPr indent="0" marL="0">
              <a:buNone/>
            </a:pPr>
            <a:r>
              <a:rPr lang="en-US" sz="1600" b="1" dirty="0">
                <a:solidFill>
                  <a:srgbClr val="0E2238"/>
                </a:solidFill>
                <a:latin typeface="Cambria" pitchFamily="34" charset="0"/>
                <a:ea typeface="Cambria" pitchFamily="34" charset="-122"/>
                <a:cs typeface="Cambria" pitchFamily="34" charset="-120"/>
              </a:rPr>
              <a:t>Product design</a:t>
            </a:r>
            <a:endParaRPr lang="en-US" sz="1600" dirty="0"/>
          </a:p>
        </p:txBody>
      </p:sp>
      <p:sp>
        <p:nvSpPr>
          <p:cNvPr id="16" name="Text 14"/>
          <p:cNvSpPr txBox="1"/>
          <p:nvPr/>
        </p:nvSpPr>
        <p:spPr>
          <a:xfrm>
            <a:off x="4114800" y="2203704"/>
            <a:ext cx="3840480" cy="502920"/>
          </a:xfrm>
          <a:prstGeom prst="rect">
            <a:avLst/>
          </a:prstGeom>
          <a:noFill/>
          <a:ln/>
        </p:spPr>
        <p:txBody>
          <a:bodyPr wrap="square" lIns="0" tIns="0" rIns="0" bIns="0" rtlCol="0" anchor="ctr"/>
          <a:lstStyle/>
          <a:p>
            <a:pPr indent="0" marL="0">
              <a:buNone/>
            </a:pPr>
            <a:r>
              <a:rPr lang="en-US" sz="1200" dirty="0">
                <a:solidFill>
                  <a:srgbClr val="5E6B78"/>
                </a:solidFill>
                <a:latin typeface="Calibri" pitchFamily="34" charset="0"/>
                <a:ea typeface="Calibri" pitchFamily="34" charset="-122"/>
                <a:cs typeface="Calibri" pitchFamily="34" charset="-120"/>
              </a:rPr>
              <a:t>Basket, mechanics, payoff and scenario analysis</a:t>
            </a:r>
            <a:endParaRPr lang="en-US" sz="1200" dirty="0"/>
          </a:p>
        </p:txBody>
      </p:sp>
      <p:sp>
        <p:nvSpPr>
          <p:cNvPr id="17" name="Text 15"/>
          <p:cNvSpPr txBox="1"/>
          <p:nvPr/>
        </p:nvSpPr>
        <p:spPr>
          <a:xfrm>
            <a:off x="8001000" y="2203704"/>
            <a:ext cx="731520" cy="502920"/>
          </a:xfrm>
          <a:prstGeom prst="rect">
            <a:avLst/>
          </a:prstGeom>
          <a:noFill/>
          <a:ln/>
        </p:spPr>
        <p:txBody>
          <a:bodyPr wrap="square" lIns="0" tIns="0" rIns="0" bIns="0" rtlCol="0" anchor="ctr"/>
          <a:lstStyle/>
          <a:p>
            <a:pPr algn="r" indent="0" marL="0">
              <a:buNone/>
            </a:pPr>
            <a:r>
              <a:rPr lang="en-US" sz="1200" b="1" dirty="0">
                <a:solidFill>
                  <a:srgbClr val="1F8A70"/>
                </a:solidFill>
                <a:latin typeface="Calibri" pitchFamily="34" charset="0"/>
                <a:ea typeface="Calibri" pitchFamily="34" charset="-122"/>
                <a:cs typeface="Calibri" pitchFamily="34" charset="-120"/>
              </a:rPr>
              <a:t>4–6</a:t>
            </a:r>
            <a:endParaRPr lang="en-US" sz="1200" dirty="0"/>
          </a:p>
        </p:txBody>
      </p:sp>
      <p:sp>
        <p:nvSpPr>
          <p:cNvPr id="18" name="Shape 16"/>
          <p:cNvSpPr/>
          <p:nvPr/>
        </p:nvSpPr>
        <p:spPr>
          <a:xfrm>
            <a:off x="548640" y="2862072"/>
            <a:ext cx="420624" cy="420624"/>
          </a:xfrm>
          <a:prstGeom prst="ellipse">
            <a:avLst/>
          </a:prstGeom>
          <a:solidFill>
            <a:srgbClr val="1F8A70"/>
          </a:solidFill>
          <a:ln/>
        </p:spPr>
      </p:sp>
      <p:sp>
        <p:nvSpPr>
          <p:cNvPr id="19" name="Text 17"/>
          <p:cNvSpPr txBox="1"/>
          <p:nvPr/>
        </p:nvSpPr>
        <p:spPr>
          <a:xfrm>
            <a:off x="548640" y="2862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1188720" y="2825496"/>
            <a:ext cx="2926080" cy="502920"/>
          </a:xfrm>
          <a:prstGeom prst="rect">
            <a:avLst/>
          </a:prstGeom>
          <a:noFill/>
          <a:ln/>
        </p:spPr>
        <p:txBody>
          <a:bodyPr wrap="square" lIns="0" tIns="0" rIns="0" bIns="0" rtlCol="0" anchor="ctr"/>
          <a:lstStyle/>
          <a:p>
            <a:pPr indent="0" marL="0">
              <a:buNone/>
            </a:pPr>
            <a:r>
              <a:rPr lang="en-US" sz="1600" b="1" dirty="0">
                <a:solidFill>
                  <a:srgbClr val="0E2238"/>
                </a:solidFill>
                <a:latin typeface="Cambria" pitchFamily="34" charset="0"/>
                <a:ea typeface="Cambria" pitchFamily="34" charset="-122"/>
                <a:cs typeface="Cambria" pitchFamily="34" charset="-120"/>
              </a:rPr>
              <a:t>Pricing and back-testing</a:t>
            </a:r>
            <a:endParaRPr lang="en-US" sz="1600" dirty="0"/>
          </a:p>
        </p:txBody>
      </p:sp>
      <p:sp>
        <p:nvSpPr>
          <p:cNvPr id="21" name="Text 19"/>
          <p:cNvSpPr txBox="1"/>
          <p:nvPr/>
        </p:nvSpPr>
        <p:spPr>
          <a:xfrm>
            <a:off x="4114800" y="2825496"/>
            <a:ext cx="3840480" cy="502920"/>
          </a:xfrm>
          <a:prstGeom prst="rect">
            <a:avLst/>
          </a:prstGeom>
          <a:noFill/>
          <a:ln/>
        </p:spPr>
        <p:txBody>
          <a:bodyPr wrap="square" lIns="0" tIns="0" rIns="0" bIns="0" rtlCol="0" anchor="ctr"/>
          <a:lstStyle/>
          <a:p>
            <a:pPr indent="0" marL="0">
              <a:buNone/>
            </a:pPr>
            <a:r>
              <a:rPr lang="en-US" sz="1200" dirty="0">
                <a:solidFill>
                  <a:srgbClr val="5E6B78"/>
                </a:solidFill>
                <a:latin typeface="Calibri" pitchFamily="34" charset="0"/>
                <a:ea typeface="Calibri" pitchFamily="34" charset="-122"/>
                <a:cs typeface="Calibri" pitchFamily="34" charset="-120"/>
              </a:rPr>
              <a:t>Option budget, structuring trade-offs and 100,000-path simulation</a:t>
            </a:r>
            <a:endParaRPr lang="en-US" sz="1200" dirty="0"/>
          </a:p>
        </p:txBody>
      </p:sp>
      <p:sp>
        <p:nvSpPr>
          <p:cNvPr id="22" name="Text 20"/>
          <p:cNvSpPr txBox="1"/>
          <p:nvPr/>
        </p:nvSpPr>
        <p:spPr>
          <a:xfrm>
            <a:off x="8001000" y="2825496"/>
            <a:ext cx="731520" cy="502920"/>
          </a:xfrm>
          <a:prstGeom prst="rect">
            <a:avLst/>
          </a:prstGeom>
          <a:noFill/>
          <a:ln/>
        </p:spPr>
        <p:txBody>
          <a:bodyPr wrap="square" lIns="0" tIns="0" rIns="0" bIns="0" rtlCol="0" anchor="ctr"/>
          <a:lstStyle/>
          <a:p>
            <a:pPr algn="r" indent="0" marL="0">
              <a:buNone/>
            </a:pPr>
            <a:r>
              <a:rPr lang="en-US" sz="1200" b="1" dirty="0">
                <a:solidFill>
                  <a:srgbClr val="1F8A70"/>
                </a:solidFill>
                <a:latin typeface="Calibri" pitchFamily="34" charset="0"/>
                <a:ea typeface="Calibri" pitchFamily="34" charset="-122"/>
                <a:cs typeface="Calibri" pitchFamily="34" charset="-120"/>
              </a:rPr>
              <a:t>7–8</a:t>
            </a:r>
            <a:endParaRPr lang="en-US" sz="1200" dirty="0"/>
          </a:p>
        </p:txBody>
      </p:sp>
      <p:sp>
        <p:nvSpPr>
          <p:cNvPr id="23" name="Shape 21"/>
          <p:cNvSpPr/>
          <p:nvPr/>
        </p:nvSpPr>
        <p:spPr>
          <a:xfrm>
            <a:off x="548640" y="3483864"/>
            <a:ext cx="420624" cy="420624"/>
          </a:xfrm>
          <a:prstGeom prst="ellipse">
            <a:avLst/>
          </a:prstGeom>
          <a:solidFill>
            <a:srgbClr val="0E2238"/>
          </a:solidFill>
          <a:ln/>
        </p:spPr>
      </p:sp>
      <p:sp>
        <p:nvSpPr>
          <p:cNvPr id="24" name="Text 22"/>
          <p:cNvSpPr txBox="1"/>
          <p:nvPr/>
        </p:nvSpPr>
        <p:spPr>
          <a:xfrm>
            <a:off x="548640" y="3483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Text 23"/>
          <p:cNvSpPr txBox="1"/>
          <p:nvPr/>
        </p:nvSpPr>
        <p:spPr>
          <a:xfrm>
            <a:off x="1188720" y="3447288"/>
            <a:ext cx="2926080" cy="502920"/>
          </a:xfrm>
          <a:prstGeom prst="rect">
            <a:avLst/>
          </a:prstGeom>
          <a:noFill/>
          <a:ln/>
        </p:spPr>
        <p:txBody>
          <a:bodyPr wrap="square" lIns="0" tIns="0" rIns="0" bIns="0" rtlCol="0" anchor="ctr"/>
          <a:lstStyle/>
          <a:p>
            <a:pPr indent="0" marL="0">
              <a:buNone/>
            </a:pPr>
            <a:r>
              <a:rPr lang="en-US" sz="1600" b="1" dirty="0">
                <a:solidFill>
                  <a:srgbClr val="0E2238"/>
                </a:solidFill>
                <a:latin typeface="Cambria" pitchFamily="34" charset="0"/>
                <a:ea typeface="Cambria" pitchFamily="34" charset="-122"/>
                <a:cs typeface="Cambria" pitchFamily="34" charset="-120"/>
              </a:rPr>
              <a:t>Risk and recommendation</a:t>
            </a:r>
            <a:endParaRPr lang="en-US" sz="1600" dirty="0"/>
          </a:p>
        </p:txBody>
      </p:sp>
      <p:sp>
        <p:nvSpPr>
          <p:cNvPr id="26" name="Text 24"/>
          <p:cNvSpPr txBox="1"/>
          <p:nvPr/>
        </p:nvSpPr>
        <p:spPr>
          <a:xfrm>
            <a:off x="4114800" y="3447288"/>
            <a:ext cx="3840480" cy="502920"/>
          </a:xfrm>
          <a:prstGeom prst="rect">
            <a:avLst/>
          </a:prstGeom>
          <a:noFill/>
          <a:ln/>
        </p:spPr>
        <p:txBody>
          <a:bodyPr wrap="square" lIns="0" tIns="0" rIns="0" bIns="0" rtlCol="0" anchor="ctr"/>
          <a:lstStyle/>
          <a:p>
            <a:pPr indent="0" marL="0">
              <a:buNone/>
            </a:pPr>
            <a:r>
              <a:rPr lang="en-US" sz="1200" dirty="0">
                <a:solidFill>
                  <a:srgbClr val="5E6B78"/>
                </a:solidFill>
                <a:latin typeface="Calibri" pitchFamily="34" charset="0"/>
                <a:ea typeface="Calibri" pitchFamily="34" charset="-122"/>
                <a:cs typeface="Calibri" pitchFamily="34" charset="-120"/>
              </a:rPr>
              <a:t>Sizing, VaR and stress, hedging, exits and next steps</a:t>
            </a:r>
            <a:endParaRPr lang="en-US" sz="1200" dirty="0"/>
          </a:p>
        </p:txBody>
      </p:sp>
      <p:sp>
        <p:nvSpPr>
          <p:cNvPr id="27" name="Text 25"/>
          <p:cNvSpPr txBox="1"/>
          <p:nvPr/>
        </p:nvSpPr>
        <p:spPr>
          <a:xfrm>
            <a:off x="8001000" y="3447288"/>
            <a:ext cx="731520" cy="502920"/>
          </a:xfrm>
          <a:prstGeom prst="rect">
            <a:avLst/>
          </a:prstGeom>
          <a:noFill/>
          <a:ln/>
        </p:spPr>
        <p:txBody>
          <a:bodyPr wrap="square" lIns="0" tIns="0" rIns="0" bIns="0" rtlCol="0" anchor="ctr"/>
          <a:lstStyle/>
          <a:p>
            <a:pPr algn="r" indent="0" marL="0">
              <a:buNone/>
            </a:pPr>
            <a:r>
              <a:rPr lang="en-US" sz="1200" b="1" dirty="0">
                <a:solidFill>
                  <a:srgbClr val="1F8A70"/>
                </a:solidFill>
                <a:latin typeface="Calibri" pitchFamily="34" charset="0"/>
                <a:ea typeface="Calibri" pitchFamily="34" charset="-122"/>
                <a:cs typeface="Calibri" pitchFamily="34" charset="-120"/>
              </a:rPr>
              <a:t>9–10</a:t>
            </a:r>
            <a:endParaRPr lang="en-US" sz="1200" dirty="0"/>
          </a:p>
        </p:txBody>
      </p:sp>
      <p:sp>
        <p:nvSpPr>
          <p:cNvPr id="28" name="Shape 26"/>
          <p:cNvSpPr/>
          <p:nvPr/>
        </p:nvSpPr>
        <p:spPr>
          <a:xfrm>
            <a:off x="548640" y="4105656"/>
            <a:ext cx="420624" cy="420624"/>
          </a:xfrm>
          <a:prstGeom prst="ellipse">
            <a:avLst/>
          </a:prstGeom>
          <a:solidFill>
            <a:srgbClr val="9AA5AF"/>
          </a:solidFill>
          <a:ln/>
        </p:spPr>
      </p:sp>
      <p:sp>
        <p:nvSpPr>
          <p:cNvPr id="29" name="Text 27"/>
          <p:cNvSpPr txBox="1"/>
          <p:nvPr/>
        </p:nvSpPr>
        <p:spPr>
          <a:xfrm>
            <a:off x="548640" y="41056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0" name="Text 28"/>
          <p:cNvSpPr txBox="1"/>
          <p:nvPr/>
        </p:nvSpPr>
        <p:spPr>
          <a:xfrm>
            <a:off x="1188720" y="4069080"/>
            <a:ext cx="2926080" cy="502920"/>
          </a:xfrm>
          <a:prstGeom prst="rect">
            <a:avLst/>
          </a:prstGeom>
          <a:noFill/>
          <a:ln/>
        </p:spPr>
        <p:txBody>
          <a:bodyPr wrap="square" lIns="0" tIns="0" rIns="0" bIns="0" rtlCol="0" anchor="ctr"/>
          <a:lstStyle/>
          <a:p>
            <a:pPr indent="0" marL="0">
              <a:buNone/>
            </a:pPr>
            <a:r>
              <a:rPr lang="en-US" sz="1600" b="1" dirty="0">
                <a:solidFill>
                  <a:srgbClr val="0E2238"/>
                </a:solidFill>
                <a:latin typeface="Cambria" pitchFamily="34" charset="0"/>
                <a:ea typeface="Cambria" pitchFamily="34" charset="-122"/>
                <a:cs typeface="Cambria" pitchFamily="34" charset="-120"/>
              </a:rPr>
              <a:t>Appendix</a:t>
            </a:r>
            <a:endParaRPr lang="en-US" sz="1600" dirty="0"/>
          </a:p>
        </p:txBody>
      </p:sp>
      <p:sp>
        <p:nvSpPr>
          <p:cNvPr id="31" name="Text 29"/>
          <p:cNvSpPr txBox="1"/>
          <p:nvPr/>
        </p:nvSpPr>
        <p:spPr>
          <a:xfrm>
            <a:off x="4114800" y="4069080"/>
            <a:ext cx="3840480" cy="502920"/>
          </a:xfrm>
          <a:prstGeom prst="rect">
            <a:avLst/>
          </a:prstGeom>
          <a:noFill/>
          <a:ln/>
        </p:spPr>
        <p:txBody>
          <a:bodyPr wrap="square" lIns="0" tIns="0" rIns="0" bIns="0" rtlCol="0" anchor="ctr"/>
          <a:lstStyle/>
          <a:p>
            <a:pPr indent="0" marL="0">
              <a:buNone/>
            </a:pPr>
            <a:r>
              <a:rPr lang="en-US" sz="1200" dirty="0">
                <a:solidFill>
                  <a:srgbClr val="5E6B78"/>
                </a:solidFill>
                <a:latin typeface="Calibri" pitchFamily="34" charset="0"/>
                <a:ea typeface="Calibri" pitchFamily="34" charset="-122"/>
                <a:cs typeface="Calibri" pitchFamily="34" charset="-120"/>
              </a:rPr>
              <a:t>Market inputs, methodology, alternatives considered and sources</a:t>
            </a:r>
            <a:endParaRPr lang="en-US" sz="1200" dirty="0"/>
          </a:p>
        </p:txBody>
      </p:sp>
      <p:sp>
        <p:nvSpPr>
          <p:cNvPr id="32" name="Text 30"/>
          <p:cNvSpPr txBox="1"/>
          <p:nvPr/>
        </p:nvSpPr>
        <p:spPr>
          <a:xfrm>
            <a:off x="8001000" y="4069080"/>
            <a:ext cx="731520" cy="502920"/>
          </a:xfrm>
          <a:prstGeom prst="rect">
            <a:avLst/>
          </a:prstGeom>
          <a:noFill/>
          <a:ln/>
        </p:spPr>
        <p:txBody>
          <a:bodyPr wrap="square" lIns="0" tIns="0" rIns="0" bIns="0" rtlCol="0" anchor="ctr"/>
          <a:lstStyle/>
          <a:p>
            <a:pPr algn="r" indent="0" marL="0">
              <a:buNone/>
            </a:pPr>
            <a:r>
              <a:rPr lang="en-US" sz="1200" b="1" dirty="0">
                <a:solidFill>
                  <a:srgbClr val="1F8A70"/>
                </a:solidFill>
                <a:latin typeface="Calibri" pitchFamily="34" charset="0"/>
                <a:ea typeface="Calibri" pitchFamily="34" charset="-122"/>
                <a:cs typeface="Calibri" pitchFamily="34" charset="-120"/>
              </a:rPr>
              <a:t>A1–A4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Executive summary</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A 7-year USD note that turns high USD rates into protected, uncapped exposure to Asia's AI stack</a:t>
            </a:r>
            <a:endParaRPr lang="en-US" sz="1200" dirty="0"/>
          </a:p>
        </p:txBody>
      </p:sp>
      <p:sp>
        <p:nvSpPr>
          <p:cNvPr id="4" name="Shape 2"/>
          <p:cNvSpPr/>
          <p:nvPr/>
        </p:nvSpPr>
        <p:spPr>
          <a:xfrm>
            <a:off x="411480" y="1188720"/>
            <a:ext cx="2651760" cy="1874520"/>
          </a:xfrm>
          <a:prstGeom prst="roundRect">
            <a:avLst>
              <a:gd name="adj" fmla="val 2927"/>
            </a:avLst>
          </a:prstGeom>
          <a:solidFill>
            <a:srgbClr val="E8F3EF"/>
          </a:solidFill>
          <a:ln w="6350">
            <a:solidFill>
              <a:srgbClr val="E8F3EF"/>
            </a:solidFill>
            <a:prstDash val="solid"/>
          </a:ln>
        </p:spPr>
      </p:sp>
      <p:sp>
        <p:nvSpPr>
          <p:cNvPr id="5" name="Text 3"/>
          <p:cNvSpPr txBox="1"/>
          <p:nvPr/>
        </p:nvSpPr>
        <p:spPr>
          <a:xfrm>
            <a:off x="594360" y="1280160"/>
            <a:ext cx="2377440" cy="685800"/>
          </a:xfrm>
          <a:prstGeom prst="rect">
            <a:avLst/>
          </a:prstGeom>
          <a:noFill/>
          <a:ln/>
        </p:spPr>
        <p:txBody>
          <a:bodyPr wrap="square" lIns="0" tIns="0" rIns="0" bIns="0" rtlCol="0" anchor="ctr"/>
          <a:lstStyle/>
          <a:p>
            <a:pPr indent="0" marL="0">
              <a:buNone/>
            </a:pPr>
            <a:r>
              <a:rPr lang="en-US" sz="3400" b="1" dirty="0">
                <a:solidFill>
                  <a:srgbClr val="0E2238"/>
                </a:solidFill>
                <a:latin typeface="Cambria" pitchFamily="34" charset="0"/>
                <a:ea typeface="Cambria" pitchFamily="34" charset="-122"/>
                <a:cs typeface="Cambria" pitchFamily="34" charset="-120"/>
              </a:rPr>
              <a:t>100%</a:t>
            </a:r>
            <a:endParaRPr lang="en-US" sz="3400" dirty="0"/>
          </a:p>
        </p:txBody>
      </p:sp>
      <p:sp>
        <p:nvSpPr>
          <p:cNvPr id="6" name="Text 4"/>
          <p:cNvSpPr txBox="1"/>
          <p:nvPr/>
        </p:nvSpPr>
        <p:spPr>
          <a:xfrm>
            <a:off x="594360" y="1965960"/>
            <a:ext cx="2377440" cy="274320"/>
          </a:xfrm>
          <a:prstGeom prst="rect">
            <a:avLst/>
          </a:prstGeom>
          <a:noFill/>
          <a:ln/>
        </p:spPr>
        <p:txBody>
          <a:bodyPr wrap="square" lIns="0" tIns="0" rIns="0" bIns="0" rtlCol="0" anchor="ctr"/>
          <a:lstStyle/>
          <a:p>
            <a:pPr indent="0" marL="0">
              <a:buNone/>
            </a:pPr>
            <a:r>
              <a:rPr lang="en-US" sz="1300" b="1" dirty="0">
                <a:solidFill>
                  <a:srgbClr val="1A2230"/>
                </a:solidFill>
                <a:latin typeface="Calibri" pitchFamily="34" charset="0"/>
                <a:ea typeface="Calibri" pitchFamily="34" charset="-122"/>
                <a:cs typeface="Calibri" pitchFamily="34" charset="-120"/>
              </a:rPr>
              <a:t>Principal back in 2033</a:t>
            </a:r>
            <a:endParaRPr lang="en-US" sz="1300" dirty="0"/>
          </a:p>
        </p:txBody>
      </p:sp>
      <p:sp>
        <p:nvSpPr>
          <p:cNvPr id="7" name="Text 5"/>
          <p:cNvSpPr txBox="1"/>
          <p:nvPr/>
        </p:nvSpPr>
        <p:spPr>
          <a:xfrm>
            <a:off x="594360" y="2258568"/>
            <a:ext cx="2331720" cy="73152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Contractual floor at maturity (Natixis credit). A zero-coupon bond costing 67.6% funds it.</a:t>
            </a:r>
            <a:endParaRPr lang="en-US" sz="1050" dirty="0"/>
          </a:p>
        </p:txBody>
      </p:sp>
      <p:sp>
        <p:nvSpPr>
          <p:cNvPr id="8" name="Shape 6"/>
          <p:cNvSpPr/>
          <p:nvPr/>
        </p:nvSpPr>
        <p:spPr>
          <a:xfrm>
            <a:off x="3218688" y="1188720"/>
            <a:ext cx="2651760" cy="1874520"/>
          </a:xfrm>
          <a:prstGeom prst="roundRect">
            <a:avLst>
              <a:gd name="adj" fmla="val 2927"/>
            </a:avLst>
          </a:prstGeom>
          <a:solidFill>
            <a:srgbClr val="E8F3EF"/>
          </a:solidFill>
          <a:ln w="6350">
            <a:solidFill>
              <a:srgbClr val="E8F3EF"/>
            </a:solidFill>
            <a:prstDash val="solid"/>
          </a:ln>
        </p:spPr>
      </p:sp>
      <p:sp>
        <p:nvSpPr>
          <p:cNvPr id="9" name="Text 7"/>
          <p:cNvSpPr txBox="1"/>
          <p:nvPr/>
        </p:nvSpPr>
        <p:spPr>
          <a:xfrm>
            <a:off x="3401568" y="1280160"/>
            <a:ext cx="2377440" cy="685800"/>
          </a:xfrm>
          <a:prstGeom prst="rect">
            <a:avLst/>
          </a:prstGeom>
          <a:noFill/>
          <a:ln/>
        </p:spPr>
        <p:txBody>
          <a:bodyPr wrap="square" lIns="0" tIns="0" rIns="0" bIns="0" rtlCol="0" anchor="ctr"/>
          <a:lstStyle/>
          <a:p>
            <a:pPr indent="0" marL="0">
              <a:buNone/>
            </a:pPr>
            <a:r>
              <a:rPr lang="en-US" sz="3400" b="1" dirty="0">
                <a:solidFill>
                  <a:srgbClr val="1F8A70"/>
                </a:solidFill>
                <a:latin typeface="Cambria" pitchFamily="34" charset="0"/>
                <a:ea typeface="Cambria" pitchFamily="34" charset="-122"/>
                <a:cs typeface="Cambria" pitchFamily="34" charset="-120"/>
              </a:rPr>
              <a:t>125%</a:t>
            </a:r>
            <a:endParaRPr lang="en-US" sz="3400" dirty="0"/>
          </a:p>
        </p:txBody>
      </p:sp>
      <p:sp>
        <p:nvSpPr>
          <p:cNvPr id="10" name="Text 8"/>
          <p:cNvSpPr txBox="1"/>
          <p:nvPr/>
        </p:nvSpPr>
        <p:spPr>
          <a:xfrm>
            <a:off x="3401568" y="1965960"/>
            <a:ext cx="2377440" cy="274320"/>
          </a:xfrm>
          <a:prstGeom prst="rect">
            <a:avLst/>
          </a:prstGeom>
          <a:noFill/>
          <a:ln/>
        </p:spPr>
        <p:txBody>
          <a:bodyPr wrap="square" lIns="0" tIns="0" rIns="0" bIns="0" rtlCol="0" anchor="ctr"/>
          <a:lstStyle/>
          <a:p>
            <a:pPr indent="0" marL="0">
              <a:buNone/>
            </a:pPr>
            <a:r>
              <a:rPr lang="en-US" sz="1300" b="1" dirty="0">
                <a:solidFill>
                  <a:srgbClr val="1A2230"/>
                </a:solidFill>
                <a:latin typeface="Calibri" pitchFamily="34" charset="0"/>
                <a:ea typeface="Calibri" pitchFamily="34" charset="-122"/>
                <a:cs typeface="Calibri" pitchFamily="34" charset="-120"/>
              </a:rPr>
              <a:t>Uncapped participation</a:t>
            </a:r>
            <a:endParaRPr lang="en-US" sz="1300" dirty="0"/>
          </a:p>
        </p:txBody>
      </p:sp>
      <p:sp>
        <p:nvSpPr>
          <p:cNvPr id="11" name="Text 9"/>
          <p:cNvSpPr txBox="1"/>
          <p:nvPr/>
        </p:nvSpPr>
        <p:spPr>
          <a:xfrm>
            <a:off x="3401568" y="2258568"/>
            <a:ext cx="2331720" cy="73152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In an equal-weight basket: Nikkei 225, TAIEX, KOSPI 200 and Hang Seng TECH, quanto USD</a:t>
            </a:r>
            <a:endParaRPr lang="en-US" sz="1050" dirty="0"/>
          </a:p>
        </p:txBody>
      </p:sp>
      <p:sp>
        <p:nvSpPr>
          <p:cNvPr id="12" name="Shape 10"/>
          <p:cNvSpPr/>
          <p:nvPr/>
        </p:nvSpPr>
        <p:spPr>
          <a:xfrm>
            <a:off x="6025896" y="1188720"/>
            <a:ext cx="2651760" cy="1874520"/>
          </a:xfrm>
          <a:prstGeom prst="roundRect">
            <a:avLst>
              <a:gd name="adj" fmla="val 2927"/>
            </a:avLst>
          </a:prstGeom>
          <a:solidFill>
            <a:srgbClr val="E8F3EF"/>
          </a:solidFill>
          <a:ln w="6350">
            <a:solidFill>
              <a:srgbClr val="E8F3EF"/>
            </a:solidFill>
            <a:prstDash val="solid"/>
          </a:ln>
        </p:spPr>
      </p:sp>
      <p:sp>
        <p:nvSpPr>
          <p:cNvPr id="13" name="Text 11"/>
          <p:cNvSpPr txBox="1"/>
          <p:nvPr/>
        </p:nvSpPr>
        <p:spPr>
          <a:xfrm>
            <a:off x="6208776" y="1280160"/>
            <a:ext cx="2377440" cy="685800"/>
          </a:xfrm>
          <a:prstGeom prst="rect">
            <a:avLst/>
          </a:prstGeom>
          <a:noFill/>
          <a:ln/>
        </p:spPr>
        <p:txBody>
          <a:bodyPr wrap="square" lIns="0" tIns="0" rIns="0" bIns="0" rtlCol="0" anchor="ctr"/>
          <a:lstStyle/>
          <a:p>
            <a:pPr indent="0" marL="0">
              <a:buNone/>
            </a:pPr>
            <a:r>
              <a:rPr lang="en-US" sz="3400" b="1" dirty="0">
                <a:solidFill>
                  <a:srgbClr val="C99A2E"/>
                </a:solidFill>
                <a:latin typeface="Cambria" pitchFamily="34" charset="0"/>
                <a:ea typeface="Cambria" pitchFamily="34" charset="-122"/>
                <a:cs typeface="Cambria" pitchFamily="34" charset="-120"/>
              </a:rPr>
              <a:t>115→150%</a:t>
            </a:r>
            <a:endParaRPr lang="en-US" sz="3400" dirty="0"/>
          </a:p>
        </p:txBody>
      </p:sp>
      <p:sp>
        <p:nvSpPr>
          <p:cNvPr id="14" name="Text 12"/>
          <p:cNvSpPr txBox="1"/>
          <p:nvPr/>
        </p:nvSpPr>
        <p:spPr>
          <a:xfrm>
            <a:off x="6208776" y="1965960"/>
            <a:ext cx="2377440" cy="274320"/>
          </a:xfrm>
          <a:prstGeom prst="rect">
            <a:avLst/>
          </a:prstGeom>
          <a:noFill/>
          <a:ln/>
        </p:spPr>
        <p:txBody>
          <a:bodyPr wrap="square" lIns="0" tIns="0" rIns="0" bIns="0" rtlCol="0" anchor="ctr"/>
          <a:lstStyle/>
          <a:p>
            <a:pPr indent="0" marL="0">
              <a:buNone/>
            </a:pPr>
            <a:r>
              <a:rPr lang="en-US" sz="1300" b="1" dirty="0">
                <a:solidFill>
                  <a:srgbClr val="1A2230"/>
                </a:solidFill>
                <a:latin typeface="Calibri" pitchFamily="34" charset="0"/>
                <a:ea typeface="Calibri" pitchFamily="34" charset="-122"/>
                <a:cs typeface="Calibri" pitchFamily="34" charset="-120"/>
              </a:rPr>
              <a:t>Legacy Lock-in</a:t>
            </a:r>
            <a:endParaRPr lang="en-US" sz="1300" dirty="0"/>
          </a:p>
        </p:txBody>
      </p:sp>
      <p:sp>
        <p:nvSpPr>
          <p:cNvPr id="15" name="Text 13"/>
          <p:cNvSpPr txBox="1"/>
          <p:nvPr/>
        </p:nvSpPr>
        <p:spPr>
          <a:xfrm>
            <a:off x="6208776" y="2258568"/>
            <a:ext cx="2331720" cy="731520"/>
          </a:xfrm>
          <a:prstGeom prst="rect">
            <a:avLst/>
          </a:prstGeom>
          <a:noFill/>
          <a:ln/>
        </p:spPr>
        <p:txBody>
          <a:bodyPr wrap="square" lIns="0" tIns="0" rIns="0" bIns="0" rtlCol="0" anchor="t"/>
          <a:lstStyle/>
          <a:p>
            <a:pPr indent="0" marL="0">
              <a:buNone/>
            </a:pPr>
            <a:r>
              <a:rPr lang="en-US" sz="1050" dirty="0">
                <a:solidFill>
                  <a:srgbClr val="5E6B78"/>
                </a:solidFill>
                <a:latin typeface="Calibri" pitchFamily="34" charset="0"/>
                <a:ea typeface="Calibri" pitchFamily="34" charset="-122"/>
                <a:cs typeface="Calibri" pitchFamily="34" charset="-120"/>
              </a:rPr>
              <a:t>Gains of +30% / +60% / +100% on any anniversary lock the floor at 115% / 130% / 150%</a:t>
            </a:r>
            <a:endParaRPr lang="en-US" sz="1050" dirty="0"/>
          </a:p>
        </p:txBody>
      </p:sp>
      <p:sp>
        <p:nvSpPr>
          <p:cNvPr id="16" name="Text 14"/>
          <p:cNvSpPr txBox="1"/>
          <p:nvPr/>
        </p:nvSpPr>
        <p:spPr>
          <a:xfrm>
            <a:off x="411480" y="3246120"/>
            <a:ext cx="8321040" cy="1005840"/>
          </a:xfrm>
          <a:prstGeom prst="rect">
            <a:avLst/>
          </a:prstGeom>
          <a:noFill/>
          <a:ln/>
        </p:spPr>
        <p:txBody>
          <a:bodyPr wrap="square" lIns="0" tIns="0" rIns="0" bIns="0" rtlCol="0" anchor="t"/>
          <a:lstStyle/>
          <a:p>
            <a:pPr indent="0" marL="0">
              <a:buNone/>
            </a:pPr>
            <a:r>
              <a:rPr lang="en-US" sz="1150" b="1" dirty="0">
                <a:solidFill>
                  <a:srgbClr val="0E2238"/>
                </a:solidFill>
                <a:latin typeface="Calibri" pitchFamily="34" charset="0"/>
                <a:ea typeface="Calibri" pitchFamily="34" charset="-122"/>
                <a:cs typeface="Calibri" pitchFamily="34" charset="-120"/>
              </a:rPr>
              <a:t>Recommendation. </a:t>
            </a:r>
            <a:pPr indent="0" marL="0">
              <a:buNone/>
            </a:pPr>
            <a:r>
              <a:rPr lang="en-US" sz="1150" dirty="0">
                <a:solidFill>
                  <a:srgbClr val="1A2230"/>
                </a:solidFill>
                <a:latin typeface="Calibri" pitchFamily="34" charset="0"/>
                <a:ea typeface="Calibri" pitchFamily="34" charset="-122"/>
                <a:cs typeface="Calibri" pitchFamily="34" charset="-120"/>
              </a:rPr>
              <a:t>NKE invests USD 100Mn (5% of family wealth) in a Natixis note covering the four markets that make up Asia's AI supply chain: equipment, foundry, memory and platforms. The family's operating businesses already own the physical layer (data centres, power, real estate). The note adds the digital layer they lack, in USD, without picking a single winner. </a:t>
            </a:r>
            <a:pPr indent="0" marL="0">
              <a:buNone/>
            </a:pPr>
            <a:r>
              <a:rPr lang="en-US" sz="1150" b="1" dirty="0">
                <a:solidFill>
                  <a:srgbClr val="1A2230"/>
                </a:solidFill>
                <a:latin typeface="Calibri" pitchFamily="34" charset="0"/>
                <a:ea typeface="Calibri" pitchFamily="34" charset="-122"/>
                <a:cs typeface="Calibri" pitchFamily="34" charset="-120"/>
              </a:rPr>
              <a:t>In our 100,000-path simulation the note's median redemption is 130% and the worst 5% of outcomes still return 100%. Holding the basket directly would return 53% in that worst 5%, with a 29% chance of losing money.</a:t>
            </a:r>
            <a:endParaRPr lang="en-US" sz="1150" dirty="0"/>
          </a:p>
        </p:txBody>
      </p:sp>
      <p:sp>
        <p:nvSpPr>
          <p:cNvPr id="17" name="Shape 15"/>
          <p:cNvSpPr/>
          <p:nvPr/>
        </p:nvSpPr>
        <p:spPr>
          <a:xfrm>
            <a:off x="411480" y="4297680"/>
            <a:ext cx="8321040" cy="438912"/>
          </a:xfrm>
          <a:prstGeom prst="roundRect">
            <a:avLst>
              <a:gd name="adj" fmla="val 12500"/>
            </a:avLst>
          </a:prstGeom>
          <a:solidFill>
            <a:srgbClr val="0E2238"/>
          </a:solidFill>
          <a:ln w="6350">
            <a:solidFill>
              <a:srgbClr val="0E2238"/>
            </a:solidFill>
            <a:prstDash val="solid"/>
          </a:ln>
        </p:spPr>
      </p:sp>
      <p:sp>
        <p:nvSpPr>
          <p:cNvPr id="18" name="Text 16"/>
          <p:cNvSpPr txBox="1"/>
          <p:nvPr/>
        </p:nvSpPr>
        <p:spPr>
          <a:xfrm>
            <a:off x="548640" y="4297680"/>
            <a:ext cx="8092440" cy="438912"/>
          </a:xfrm>
          <a:prstGeom prst="rect">
            <a:avLst/>
          </a:prstGeom>
          <a:noFill/>
          <a:ln/>
        </p:spPr>
        <p:txBody>
          <a:bodyPr wrap="square" lIns="0" tIns="0" rIns="0" bIns="0" rtlCol="0" anchor="ctr"/>
          <a:lstStyle/>
          <a:p>
            <a:pPr indent="0" marL="0">
              <a:buNone/>
            </a:pPr>
            <a:r>
              <a:rPr lang="en-US" sz="1050" b="1" dirty="0">
                <a:solidFill>
                  <a:srgbClr val="C99A2E"/>
                </a:solidFill>
                <a:latin typeface="Calibri" pitchFamily="34" charset="0"/>
                <a:ea typeface="Calibri" pitchFamily="34" charset="-122"/>
                <a:cs typeface="Calibri" pitchFamily="34" charset="-120"/>
              </a:rPr>
              <a:t>What it costs: </a:t>
            </a:r>
            <a:pPr indent="0" marL="0">
              <a:buNone/>
            </a:pPr>
            <a:r>
              <a:rPr lang="en-US" sz="1050" dirty="0">
                <a:solidFill>
                  <a:srgbClr val="FFFFFF"/>
                </a:solidFill>
                <a:latin typeface="Calibri" pitchFamily="34" charset="0"/>
                <a:ea typeface="Calibri" pitchFamily="34" charset="-122"/>
                <a:cs typeface="Calibri" pitchFamily="34" charset="-120"/>
              </a:rPr>
              <a:t>no dividends, and the forgone 7Y bond yield. In 29% of simulated paths the family gets exactly its principal back. Mark-to-market can fall 17% in a joint equity-vol-rate shock before maturity.</a:t>
            </a:r>
            <a:endParaRPr lang="en-US" sz="1050" dirty="0"/>
          </a:p>
        </p:txBody>
      </p:sp>
      <p:sp>
        <p:nvSpPr>
          <p:cNvPr id="19" name="Text 17"/>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Indicative Monte Carlo pricing with placeholder market inputs (pricing/scenario2/model.py); to be refreshed with Bloomberg data as of 17 Sep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The client: a third-generation family moving from operating to investing</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NKE Private Wealth, the single-family office of the Chak family</a:t>
            </a:r>
            <a:endParaRPr lang="en-US" sz="1200" dirty="0"/>
          </a:p>
        </p:txBody>
      </p:sp>
      <p:sp>
        <p:nvSpPr>
          <p:cNvPr id="4" name="Shape 2"/>
          <p:cNvSpPr/>
          <p:nvPr/>
        </p:nvSpPr>
        <p:spPr>
          <a:xfrm>
            <a:off x="411480" y="1143000"/>
            <a:ext cx="2606040" cy="3566160"/>
          </a:xfrm>
          <a:prstGeom prst="roundRect">
            <a:avLst>
              <a:gd name="adj" fmla="val 2105"/>
            </a:avLst>
          </a:prstGeom>
          <a:solidFill>
            <a:srgbClr val="E8F3EF"/>
          </a:solidFill>
          <a:ln w="6350">
            <a:solidFill>
              <a:srgbClr val="E8F3EF"/>
            </a:solidFill>
            <a:prstDash val="solid"/>
          </a:ln>
        </p:spPr>
      </p:sp>
      <p:sp>
        <p:nvSpPr>
          <p:cNvPr id="5" name="Shape 3"/>
          <p:cNvSpPr/>
          <p:nvPr/>
        </p:nvSpPr>
        <p:spPr>
          <a:xfrm>
            <a:off x="594360" y="1280160"/>
            <a:ext cx="457200" cy="457200"/>
          </a:xfrm>
          <a:prstGeom prst="ellipse">
            <a:avLst/>
          </a:prstGeom>
          <a:solidFill>
            <a:srgbClr val="0E2238"/>
          </a:solidFill>
          <a:ln/>
        </p:spPr>
      </p:sp>
      <p:pic>
        <p:nvPicPr>
          <p:cNvPr id="6" name="Image 0" descr="preencoded.png">    </p:cNvPr>
          <p:cNvPicPr>
            <a:picLocks noChangeAspect="1"/>
          </p:cNvPicPr>
          <p:nvPr/>
        </p:nvPicPr>
        <p:blipFill>
          <a:blip r:embed="rId1"/>
          <a:stretch>
            <a:fillRect/>
          </a:stretch>
        </p:blipFill>
        <p:spPr>
          <a:xfrm>
            <a:off x="708660" y="1394460"/>
            <a:ext cx="228600" cy="228600"/>
          </a:xfrm>
          <a:prstGeom prst="rect">
            <a:avLst/>
          </a:prstGeom>
        </p:spPr>
      </p:pic>
      <p:sp>
        <p:nvSpPr>
          <p:cNvPr id="7" name="Text 4"/>
          <p:cNvSpPr txBox="1"/>
          <p:nvPr/>
        </p:nvSpPr>
        <p:spPr>
          <a:xfrm>
            <a:off x="1143000" y="1298448"/>
            <a:ext cx="1737360" cy="411480"/>
          </a:xfrm>
          <a:prstGeom prst="rect">
            <a:avLst/>
          </a:prstGeom>
          <a:noFill/>
          <a:ln/>
        </p:spPr>
        <p:txBody>
          <a:bodyPr wrap="square" lIns="0" tIns="0" rIns="0" bIns="0" rtlCol="0" anchor="ctr"/>
          <a:lstStyle/>
          <a:p>
            <a:pPr indent="0" marL="0">
              <a:buNone/>
            </a:pPr>
            <a:r>
              <a:rPr lang="en-US" sz="1500" b="1" dirty="0">
                <a:solidFill>
                  <a:srgbClr val="0E2238"/>
                </a:solidFill>
                <a:latin typeface="Cambria" pitchFamily="34" charset="0"/>
                <a:ea typeface="Cambria" pitchFamily="34" charset="-122"/>
                <a:cs typeface="Cambria" pitchFamily="34" charset="-120"/>
              </a:rPr>
              <a:t>Client profile</a:t>
            </a:r>
            <a:endParaRPr lang="en-US" sz="1500" dirty="0"/>
          </a:p>
        </p:txBody>
      </p:sp>
      <p:sp>
        <p:nvSpPr>
          <p:cNvPr id="8" name="Text 5"/>
          <p:cNvSpPr txBox="1"/>
          <p:nvPr/>
        </p:nvSpPr>
        <p:spPr>
          <a:xfrm>
            <a:off x="594360" y="1828800"/>
            <a:ext cx="2286000" cy="27432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A2230"/>
                </a:solidFill>
                <a:latin typeface="Calibri" pitchFamily="34" charset="0"/>
                <a:ea typeface="Calibri" pitchFamily="34" charset="-122"/>
                <a:cs typeface="Calibri" pitchFamily="34" charset="-120"/>
              </a:rPr>
              <a:t>Chak family, third generation; operating succession just completed</a:t>
            </a:r>
            <a:endParaRPr lang="en-US" sz="1050" dirty="0"/>
          </a:p>
          <a:p>
            <a:pPr marL="342900" indent="-342900">
              <a:spcAft>
                <a:spcPts val="500"/>
              </a:spcAft>
              <a:buSzPct val="100000"/>
              <a:buChar char="•"/>
            </a:pPr>
            <a:r>
              <a:rPr lang="en-US" sz="1050" dirty="0">
                <a:solidFill>
                  <a:srgbClr val="1A2230"/>
                </a:solidFill>
                <a:latin typeface="Calibri" pitchFamily="34" charset="0"/>
                <a:ea typeface="Calibri" pitchFamily="34" charset="-122"/>
                <a:cs typeface="Calibri" pitchFamily="34" charset="-120"/>
              </a:rPr>
              <a:t>Businesses: technology infrastructure, renewable energy plants and real estate across Japan and Greater China</a:t>
            </a:r>
            <a:endParaRPr lang="en-US" sz="1050" dirty="0"/>
          </a:p>
          <a:p>
            <a:pPr marL="342900" indent="-342900">
              <a:spcAft>
                <a:spcPts val="500"/>
              </a:spcAft>
              <a:buSzPct val="100000"/>
              <a:buChar char="•"/>
            </a:pPr>
            <a:r>
              <a:rPr lang="en-US" sz="1050" dirty="0">
                <a:solidFill>
                  <a:srgbClr val="1A2230"/>
                </a:solidFill>
                <a:latin typeface="Calibri" pitchFamily="34" charset="0"/>
                <a:ea typeface="Calibri" pitchFamily="34" charset="-122"/>
                <a:cs typeface="Calibri" pitchFamily="34" charset="-120"/>
              </a:rPr>
              <a:t>Family net worth &gt; USD 2Bn</a:t>
            </a:r>
            <a:endParaRPr lang="en-US" sz="1050" dirty="0"/>
          </a:p>
          <a:p>
            <a:pPr marL="342900" indent="-342900">
              <a:spcAft>
                <a:spcPts val="500"/>
              </a:spcAft>
              <a:buSzPct val="100000"/>
              <a:buChar char="•"/>
            </a:pPr>
            <a:r>
              <a:rPr lang="en-US" sz="1050" b="1" dirty="0">
                <a:solidFill>
                  <a:srgbClr val="1A2230"/>
                </a:solidFill>
                <a:latin typeface="Calibri" pitchFamily="34" charset="0"/>
                <a:ea typeface="Calibri" pitchFamily="34" charset="-122"/>
                <a:cs typeface="Calibri" pitchFamily="34" charset="-120"/>
              </a:rPr>
              <a:t>Mandate: USD 100Mn (about 5% of wealth) for one structured allocation</a:t>
            </a:r>
            <a:endParaRPr lang="en-US" sz="1050" dirty="0"/>
          </a:p>
        </p:txBody>
      </p:sp>
      <p:sp>
        <p:nvSpPr>
          <p:cNvPr id="9" name="Text 6"/>
          <p:cNvSpPr txBox="1"/>
          <p:nvPr/>
        </p:nvSpPr>
        <p:spPr>
          <a:xfrm>
            <a:off x="3200400" y="1143000"/>
            <a:ext cx="2743200" cy="320040"/>
          </a:xfrm>
          <a:prstGeom prst="rect">
            <a:avLst/>
          </a:prstGeom>
          <a:noFill/>
          <a:ln/>
        </p:spPr>
        <p:txBody>
          <a:bodyPr wrap="square" lIns="0" tIns="0" rIns="0" bIns="0" rtlCol="0" anchor="ctr"/>
          <a:lstStyle/>
          <a:p>
            <a:pPr indent="0" marL="0">
              <a:buNone/>
            </a:pPr>
            <a:r>
              <a:rPr lang="en-US" sz="1500" b="1" dirty="0">
                <a:solidFill>
                  <a:srgbClr val="0E2238"/>
                </a:solidFill>
                <a:latin typeface="Cambria" pitchFamily="34" charset="0"/>
                <a:ea typeface="Cambria" pitchFamily="34" charset="-122"/>
                <a:cs typeface="Cambria" pitchFamily="34" charset="-120"/>
              </a:rPr>
              <a:t>Objectives</a:t>
            </a:r>
            <a:endParaRPr lang="en-US" sz="1500" dirty="0"/>
          </a:p>
        </p:txBody>
      </p:sp>
      <p:sp>
        <p:nvSpPr>
          <p:cNvPr id="10" name="Shape 7"/>
          <p:cNvSpPr/>
          <p:nvPr/>
        </p:nvSpPr>
        <p:spPr>
          <a:xfrm>
            <a:off x="3200400" y="1600200"/>
            <a:ext cx="411480" cy="411480"/>
          </a:xfrm>
          <a:prstGeom prst="ellipse">
            <a:avLst/>
          </a:prstGeom>
          <a:solidFill>
            <a:srgbClr val="1F8A70"/>
          </a:solidFill>
          <a:ln/>
        </p:spPr>
      </p:sp>
      <p:pic>
        <p:nvPicPr>
          <p:cNvPr id="11" name="Image 1" descr="preencoded.png">    </p:cNvPr>
          <p:cNvPicPr>
            <a:picLocks noChangeAspect="1"/>
          </p:cNvPicPr>
          <p:nvPr/>
        </p:nvPicPr>
        <p:blipFill>
          <a:blip r:embed="rId2"/>
          <a:stretch>
            <a:fillRect/>
          </a:stretch>
        </p:blipFill>
        <p:spPr>
          <a:xfrm>
            <a:off x="3303270" y="1703070"/>
            <a:ext cx="205740" cy="205740"/>
          </a:xfrm>
          <a:prstGeom prst="rect">
            <a:avLst/>
          </a:prstGeom>
        </p:spPr>
      </p:pic>
      <p:sp>
        <p:nvSpPr>
          <p:cNvPr id="12" name="Text 8"/>
          <p:cNvSpPr txBox="1"/>
          <p:nvPr/>
        </p:nvSpPr>
        <p:spPr>
          <a:xfrm>
            <a:off x="3703320" y="1554480"/>
            <a:ext cx="2331720" cy="365760"/>
          </a:xfrm>
          <a:prstGeom prst="rect">
            <a:avLst/>
          </a:prstGeom>
          <a:noFill/>
          <a:ln/>
        </p:spPr>
        <p:txBody>
          <a:bodyPr wrap="square" lIns="0" tIns="0" rIns="0" bIns="0" rtlCol="0" anchor="ctr"/>
          <a:lstStyle/>
          <a:p>
            <a:pPr indent="0" marL="0">
              <a:buNone/>
            </a:pPr>
            <a:r>
              <a:rPr lang="en-US" sz="1100" b="1" dirty="0">
                <a:solidFill>
                  <a:srgbClr val="1A2230"/>
                </a:solidFill>
                <a:latin typeface="Calibri" pitchFamily="34" charset="0"/>
                <a:ea typeface="Calibri" pitchFamily="34" charset="-122"/>
                <a:cs typeface="Calibri" pitchFamily="34" charset="-120"/>
              </a:rPr>
              <a:t>Capital appreciation for future generations</a:t>
            </a:r>
            <a:endParaRPr lang="en-US" sz="1100" dirty="0"/>
          </a:p>
        </p:txBody>
      </p:sp>
      <p:sp>
        <p:nvSpPr>
          <p:cNvPr id="13" name="Text 9"/>
          <p:cNvSpPr txBox="1"/>
          <p:nvPr/>
        </p:nvSpPr>
        <p:spPr>
          <a:xfrm>
            <a:off x="3703320" y="1920240"/>
            <a:ext cx="2331720" cy="320040"/>
          </a:xfrm>
          <a:prstGeom prst="rect">
            <a:avLst/>
          </a:prstGeom>
          <a:noFill/>
          <a:ln/>
        </p:spPr>
        <p:txBody>
          <a:bodyPr wrap="square" lIns="0" tIns="0" rIns="0" bIns="0" rtlCol="0" anchor="t"/>
          <a:lstStyle/>
          <a:p>
            <a:pPr indent="0" marL="0">
              <a:buNone/>
            </a:pPr>
            <a:r>
              <a:rPr lang="en-US" sz="950" dirty="0">
                <a:solidFill>
                  <a:srgbClr val="5E6B78"/>
                </a:solidFill>
                <a:latin typeface="Calibri" pitchFamily="34" charset="0"/>
                <a:ea typeface="Calibri" pitchFamily="34" charset="-122"/>
                <a:cs typeface="Calibri" pitchFamily="34" charset="-120"/>
              </a:rPr>
              <a:t>Long-horizon growth, not current income</a:t>
            </a:r>
            <a:endParaRPr lang="en-US" sz="950" dirty="0"/>
          </a:p>
        </p:txBody>
      </p:sp>
      <p:sp>
        <p:nvSpPr>
          <p:cNvPr id="14" name="Shape 10"/>
          <p:cNvSpPr/>
          <p:nvPr/>
        </p:nvSpPr>
        <p:spPr>
          <a:xfrm>
            <a:off x="3200400" y="2386584"/>
            <a:ext cx="411480" cy="411480"/>
          </a:xfrm>
          <a:prstGeom prst="ellipse">
            <a:avLst/>
          </a:prstGeom>
          <a:solidFill>
            <a:srgbClr val="1F8A70"/>
          </a:solidFill>
          <a:ln/>
        </p:spPr>
      </p:sp>
      <p:pic>
        <p:nvPicPr>
          <p:cNvPr id="15" name="Image 2" descr="preencoded.png">    </p:cNvPr>
          <p:cNvPicPr>
            <a:picLocks noChangeAspect="1"/>
          </p:cNvPicPr>
          <p:nvPr/>
        </p:nvPicPr>
        <p:blipFill>
          <a:blip r:embed="rId3"/>
          <a:stretch>
            <a:fillRect/>
          </a:stretch>
        </p:blipFill>
        <p:spPr>
          <a:xfrm>
            <a:off x="3303270" y="2489454"/>
            <a:ext cx="205740" cy="205740"/>
          </a:xfrm>
          <a:prstGeom prst="rect">
            <a:avLst/>
          </a:prstGeom>
        </p:spPr>
      </p:pic>
      <p:sp>
        <p:nvSpPr>
          <p:cNvPr id="16" name="Text 11"/>
          <p:cNvSpPr txBox="1"/>
          <p:nvPr/>
        </p:nvSpPr>
        <p:spPr>
          <a:xfrm>
            <a:off x="3703320" y="2340864"/>
            <a:ext cx="2331720" cy="365760"/>
          </a:xfrm>
          <a:prstGeom prst="rect">
            <a:avLst/>
          </a:prstGeom>
          <a:noFill/>
          <a:ln/>
        </p:spPr>
        <p:txBody>
          <a:bodyPr wrap="square" lIns="0" tIns="0" rIns="0" bIns="0" rtlCol="0" anchor="ctr"/>
          <a:lstStyle/>
          <a:p>
            <a:pPr indent="0" marL="0">
              <a:buNone/>
            </a:pPr>
            <a:r>
              <a:rPr lang="en-US" sz="1100" b="1" dirty="0">
                <a:solidFill>
                  <a:srgbClr val="1A2230"/>
                </a:solidFill>
                <a:latin typeface="Calibri" pitchFamily="34" charset="0"/>
                <a:ea typeface="Calibri" pitchFamily="34" charset="-122"/>
                <a:cs typeface="Calibri" pitchFamily="34" charset="-120"/>
              </a:rPr>
              <a:t>Meaningful exposure to Asia's digital transformation</a:t>
            </a:r>
            <a:endParaRPr lang="en-US" sz="1100" dirty="0"/>
          </a:p>
        </p:txBody>
      </p:sp>
      <p:sp>
        <p:nvSpPr>
          <p:cNvPr id="17" name="Text 12"/>
          <p:cNvSpPr txBox="1"/>
          <p:nvPr/>
        </p:nvSpPr>
        <p:spPr>
          <a:xfrm>
            <a:off x="3703320" y="2706624"/>
            <a:ext cx="2331720" cy="320040"/>
          </a:xfrm>
          <a:prstGeom prst="rect">
            <a:avLst/>
          </a:prstGeom>
          <a:noFill/>
          <a:ln/>
        </p:spPr>
        <p:txBody>
          <a:bodyPr wrap="square" lIns="0" tIns="0" rIns="0" bIns="0" rtlCol="0" anchor="t"/>
          <a:lstStyle/>
          <a:p>
            <a:pPr indent="0" marL="0">
              <a:buNone/>
            </a:pPr>
            <a:r>
              <a:rPr lang="en-US" sz="950" dirty="0">
                <a:solidFill>
                  <a:srgbClr val="5E6B78"/>
                </a:solidFill>
                <a:latin typeface="Calibri" pitchFamily="34" charset="0"/>
                <a:ea typeface="Calibri" pitchFamily="34" charset="-122"/>
                <a:cs typeface="Calibri" pitchFamily="34" charset="-120"/>
              </a:rPr>
              <a:t>Enough weight to matter, not a token allocation</a:t>
            </a:r>
            <a:endParaRPr lang="en-US" sz="950" dirty="0"/>
          </a:p>
        </p:txBody>
      </p:sp>
      <p:sp>
        <p:nvSpPr>
          <p:cNvPr id="18" name="Shape 13"/>
          <p:cNvSpPr/>
          <p:nvPr/>
        </p:nvSpPr>
        <p:spPr>
          <a:xfrm>
            <a:off x="3200400" y="3172968"/>
            <a:ext cx="411480" cy="411480"/>
          </a:xfrm>
          <a:prstGeom prst="ellipse">
            <a:avLst/>
          </a:prstGeom>
          <a:solidFill>
            <a:srgbClr val="1F8A70"/>
          </a:solidFill>
          <a:ln/>
        </p:spPr>
      </p:sp>
      <p:pic>
        <p:nvPicPr>
          <p:cNvPr id="19" name="Image 3" descr="preencoded.png">    </p:cNvPr>
          <p:cNvPicPr>
            <a:picLocks noChangeAspect="1"/>
          </p:cNvPicPr>
          <p:nvPr/>
        </p:nvPicPr>
        <p:blipFill>
          <a:blip r:embed="rId4"/>
          <a:stretch>
            <a:fillRect/>
          </a:stretch>
        </p:blipFill>
        <p:spPr>
          <a:xfrm>
            <a:off x="3303270" y="3275838"/>
            <a:ext cx="205740" cy="205740"/>
          </a:xfrm>
          <a:prstGeom prst="rect">
            <a:avLst/>
          </a:prstGeom>
        </p:spPr>
      </p:pic>
      <p:sp>
        <p:nvSpPr>
          <p:cNvPr id="20" name="Text 14"/>
          <p:cNvSpPr txBox="1"/>
          <p:nvPr/>
        </p:nvSpPr>
        <p:spPr>
          <a:xfrm>
            <a:off x="3703320" y="3127248"/>
            <a:ext cx="2331720" cy="365760"/>
          </a:xfrm>
          <a:prstGeom prst="rect">
            <a:avLst/>
          </a:prstGeom>
          <a:noFill/>
          <a:ln/>
        </p:spPr>
        <p:txBody>
          <a:bodyPr wrap="square" lIns="0" tIns="0" rIns="0" bIns="0" rtlCol="0" anchor="ctr"/>
          <a:lstStyle/>
          <a:p>
            <a:pPr indent="0" marL="0">
              <a:buNone/>
            </a:pPr>
            <a:r>
              <a:rPr lang="en-US" sz="1100" b="1" dirty="0">
                <a:solidFill>
                  <a:srgbClr val="1A2230"/>
                </a:solidFill>
                <a:latin typeface="Calibri" pitchFamily="34" charset="0"/>
                <a:ea typeface="Calibri" pitchFamily="34" charset="-122"/>
                <a:cs typeface="Calibri" pitchFamily="34" charset="-120"/>
              </a:rPr>
              <a:t>Bridge traditional Asian markets and new technology</a:t>
            </a:r>
            <a:endParaRPr lang="en-US" sz="1100" dirty="0"/>
          </a:p>
        </p:txBody>
      </p:sp>
      <p:sp>
        <p:nvSpPr>
          <p:cNvPr id="21" name="Text 15"/>
          <p:cNvSpPr txBox="1"/>
          <p:nvPr/>
        </p:nvSpPr>
        <p:spPr>
          <a:xfrm>
            <a:off x="3703320" y="3493008"/>
            <a:ext cx="2331720" cy="320040"/>
          </a:xfrm>
          <a:prstGeom prst="rect">
            <a:avLst/>
          </a:prstGeom>
          <a:noFill/>
          <a:ln/>
        </p:spPr>
        <p:txBody>
          <a:bodyPr wrap="square" lIns="0" tIns="0" rIns="0" bIns="0" rtlCol="0" anchor="t"/>
          <a:lstStyle/>
          <a:p>
            <a:pPr indent="0" marL="0">
              <a:buNone/>
            </a:pPr>
            <a:r>
              <a:rPr lang="en-US" sz="950" dirty="0">
                <a:solidFill>
                  <a:srgbClr val="5E6B78"/>
                </a:solidFill>
                <a:latin typeface="Calibri" pitchFamily="34" charset="0"/>
                <a:ea typeface="Calibri" pitchFamily="34" charset="-122"/>
                <a:cs typeface="Calibri" pitchFamily="34" charset="-120"/>
              </a:rPr>
              <a:t>Where the family has operating expertise</a:t>
            </a:r>
            <a:endParaRPr lang="en-US" sz="950" dirty="0"/>
          </a:p>
        </p:txBody>
      </p:sp>
      <p:sp>
        <p:nvSpPr>
          <p:cNvPr id="22" name="Shape 16"/>
          <p:cNvSpPr/>
          <p:nvPr/>
        </p:nvSpPr>
        <p:spPr>
          <a:xfrm>
            <a:off x="3200400" y="3959352"/>
            <a:ext cx="411480" cy="411480"/>
          </a:xfrm>
          <a:prstGeom prst="ellipse">
            <a:avLst/>
          </a:prstGeom>
          <a:solidFill>
            <a:srgbClr val="C99A2E"/>
          </a:solidFill>
          <a:ln/>
        </p:spPr>
      </p:sp>
      <p:pic>
        <p:nvPicPr>
          <p:cNvPr id="23" name="Image 4" descr="preencoded.png">    </p:cNvPr>
          <p:cNvPicPr>
            <a:picLocks noChangeAspect="1"/>
          </p:cNvPicPr>
          <p:nvPr/>
        </p:nvPicPr>
        <p:blipFill>
          <a:blip r:embed="rId5"/>
          <a:stretch>
            <a:fillRect/>
          </a:stretch>
        </p:blipFill>
        <p:spPr>
          <a:xfrm>
            <a:off x="3303270" y="4062222"/>
            <a:ext cx="205740" cy="205740"/>
          </a:xfrm>
          <a:prstGeom prst="rect">
            <a:avLst/>
          </a:prstGeom>
        </p:spPr>
      </p:pic>
      <p:sp>
        <p:nvSpPr>
          <p:cNvPr id="24" name="Text 17"/>
          <p:cNvSpPr txBox="1"/>
          <p:nvPr/>
        </p:nvSpPr>
        <p:spPr>
          <a:xfrm>
            <a:off x="3703320" y="3913632"/>
            <a:ext cx="2331720" cy="365760"/>
          </a:xfrm>
          <a:prstGeom prst="rect">
            <a:avLst/>
          </a:prstGeom>
          <a:noFill/>
          <a:ln/>
        </p:spPr>
        <p:txBody>
          <a:bodyPr wrap="square" lIns="0" tIns="0" rIns="0" bIns="0" rtlCol="0" anchor="ctr"/>
          <a:lstStyle/>
          <a:p>
            <a:pPr indent="0" marL="0">
              <a:buNone/>
            </a:pPr>
            <a:r>
              <a:rPr lang="en-US" sz="1100" b="1" dirty="0">
                <a:solidFill>
                  <a:srgbClr val="1A2230"/>
                </a:solidFill>
                <a:latin typeface="Calibri" pitchFamily="34" charset="0"/>
                <a:ea typeface="Calibri" pitchFamily="34" charset="-122"/>
                <a:cs typeface="Calibri" pitchFamily="34" charset="-120"/>
              </a:rPr>
              <a:t>Downside managed for generational preservation</a:t>
            </a:r>
            <a:endParaRPr lang="en-US" sz="1100" dirty="0"/>
          </a:p>
        </p:txBody>
      </p:sp>
      <p:sp>
        <p:nvSpPr>
          <p:cNvPr id="25" name="Text 18"/>
          <p:cNvSpPr txBox="1"/>
          <p:nvPr/>
        </p:nvSpPr>
        <p:spPr>
          <a:xfrm>
            <a:off x="3703320" y="4279392"/>
            <a:ext cx="2331720" cy="320040"/>
          </a:xfrm>
          <a:prstGeom prst="rect">
            <a:avLst/>
          </a:prstGeom>
          <a:noFill/>
          <a:ln/>
        </p:spPr>
        <p:txBody>
          <a:bodyPr wrap="square" lIns="0" tIns="0" rIns="0" bIns="0" rtlCol="0" anchor="t"/>
          <a:lstStyle/>
          <a:p>
            <a:pPr indent="0" marL="0">
              <a:buNone/>
            </a:pPr>
            <a:r>
              <a:rPr lang="en-US" sz="950" dirty="0">
                <a:solidFill>
                  <a:srgbClr val="5E6B78"/>
                </a:solidFill>
                <a:latin typeface="Calibri" pitchFamily="34" charset="0"/>
                <a:ea typeface="Calibri" pitchFamily="34" charset="-122"/>
                <a:cs typeface="Calibri" pitchFamily="34" charset="-120"/>
              </a:rPr>
              <a:t>No permanent loss of the capital being passed on</a:t>
            </a:r>
            <a:endParaRPr lang="en-US" sz="950" dirty="0"/>
          </a:p>
        </p:txBody>
      </p:sp>
      <p:sp>
        <p:nvSpPr>
          <p:cNvPr id="26" name="Shape 19"/>
          <p:cNvSpPr/>
          <p:nvPr/>
        </p:nvSpPr>
        <p:spPr>
          <a:xfrm>
            <a:off x="6217920" y="1143000"/>
            <a:ext cx="2514600" cy="685800"/>
          </a:xfrm>
          <a:prstGeom prst="roundRect">
            <a:avLst>
              <a:gd name="adj" fmla="val 8000"/>
            </a:avLst>
          </a:prstGeom>
          <a:solidFill>
            <a:srgbClr val="0E2238"/>
          </a:solidFill>
          <a:ln w="6350">
            <a:solidFill>
              <a:srgbClr val="0E2238"/>
            </a:solidFill>
            <a:prstDash val="solid"/>
          </a:ln>
        </p:spPr>
      </p:sp>
      <p:sp>
        <p:nvSpPr>
          <p:cNvPr id="27" name="Text 20"/>
          <p:cNvSpPr txBox="1"/>
          <p:nvPr/>
        </p:nvSpPr>
        <p:spPr>
          <a:xfrm>
            <a:off x="6355080" y="1161288"/>
            <a:ext cx="2286000" cy="6492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 tolerance: Moderate</a:t>
            </a:r>
            <a:endParaRPr lang="en-US" sz="1400" dirty="0"/>
          </a:p>
          <a:p>
            <a:pPr indent="0" marL="0">
              <a:buNone/>
            </a:pPr>
            <a:r>
              <a:rPr lang="en-US" sz="950" dirty="0">
                <a:solidFill>
                  <a:srgbClr val="C9D6E2"/>
                </a:solidFill>
                <a:latin typeface="Calibri" pitchFamily="34" charset="0"/>
                <a:ea typeface="Calibri" pitchFamily="34" charset="-122"/>
                <a:cs typeface="Calibri" pitchFamily="34" charset="-120"/>
              </a:rPr>
              <a:t>Can live with mark-to-market swings; cannot accept permanent capital loss</a:t>
            </a:r>
            <a:endParaRPr lang="en-US" sz="1400" dirty="0"/>
          </a:p>
        </p:txBody>
      </p:sp>
      <p:sp>
        <p:nvSpPr>
          <p:cNvPr id="28" name="Text 21"/>
          <p:cNvSpPr txBox="1"/>
          <p:nvPr/>
        </p:nvSpPr>
        <p:spPr>
          <a:xfrm>
            <a:off x="6217920" y="1938528"/>
            <a:ext cx="2514600" cy="274320"/>
          </a:xfrm>
          <a:prstGeom prst="rect">
            <a:avLst/>
          </a:prstGeom>
          <a:noFill/>
          <a:ln/>
        </p:spPr>
        <p:txBody>
          <a:bodyPr wrap="square" lIns="0" tIns="0" rIns="0" bIns="0" rtlCol="0" anchor="ctr"/>
          <a:lstStyle/>
          <a:p>
            <a:pPr indent="0" marL="0">
              <a:buNone/>
            </a:pPr>
            <a:r>
              <a:rPr lang="en-US" sz="1300" b="1" dirty="0">
                <a:solidFill>
                  <a:srgbClr val="0E2238"/>
                </a:solidFill>
                <a:latin typeface="Cambria" pitchFamily="34" charset="0"/>
                <a:ea typeface="Cambria" pitchFamily="34" charset="-122"/>
                <a:cs typeface="Cambria" pitchFamily="34" charset="-120"/>
              </a:rPr>
              <a:t>Key assumptions</a:t>
            </a:r>
            <a:endParaRPr lang="en-US" sz="1300" dirty="0"/>
          </a:p>
        </p:txBody>
      </p:sp>
      <p:sp>
        <p:nvSpPr>
          <p:cNvPr id="29" name="Shape 22"/>
          <p:cNvSpPr/>
          <p:nvPr/>
        </p:nvSpPr>
        <p:spPr>
          <a:xfrm>
            <a:off x="6217920" y="2359152"/>
            <a:ext cx="310896" cy="310896"/>
          </a:xfrm>
          <a:prstGeom prst="ellipse">
            <a:avLst/>
          </a:prstGeom>
          <a:solidFill>
            <a:srgbClr val="5FB49C"/>
          </a:solidFill>
          <a:ln/>
        </p:spPr>
      </p:sp>
      <p:sp>
        <p:nvSpPr>
          <p:cNvPr id="30" name="Text 23"/>
          <p:cNvSpPr txBox="1"/>
          <p:nvPr/>
        </p:nvSpPr>
        <p:spPr>
          <a:xfrm>
            <a:off x="6217920" y="23591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31" name="Text 24"/>
          <p:cNvSpPr txBox="1"/>
          <p:nvPr/>
        </p:nvSpPr>
        <p:spPr>
          <a:xfrm>
            <a:off x="6629400" y="2286000"/>
            <a:ext cx="2103120" cy="548640"/>
          </a:xfrm>
          <a:prstGeom prst="rect">
            <a:avLst/>
          </a:prstGeom>
          <a:noFill/>
          <a:ln/>
        </p:spPr>
        <p:txBody>
          <a:bodyPr wrap="square" lIns="0" tIns="0" rIns="0" bIns="0" rtlCol="0" anchor="ctr"/>
          <a:lstStyle/>
          <a:p>
            <a:pPr indent="0" marL="0">
              <a:buNone/>
            </a:pPr>
            <a:r>
              <a:rPr lang="en-US" sz="950" dirty="0">
                <a:solidFill>
                  <a:srgbClr val="1A2230"/>
                </a:solidFill>
                <a:latin typeface="Calibri" pitchFamily="34" charset="0"/>
                <a:ea typeface="Calibri" pitchFamily="34" charset="-122"/>
                <a:cs typeface="Calibri" pitchFamily="34" charset="-120"/>
              </a:rPr>
              <a:t>Hold to maturity: a 7-year horizon, one succession cycle</a:t>
            </a:r>
            <a:endParaRPr lang="en-US" sz="950" dirty="0"/>
          </a:p>
        </p:txBody>
      </p:sp>
      <p:sp>
        <p:nvSpPr>
          <p:cNvPr id="32" name="Shape 25"/>
          <p:cNvSpPr/>
          <p:nvPr/>
        </p:nvSpPr>
        <p:spPr>
          <a:xfrm>
            <a:off x="6217920" y="2962656"/>
            <a:ext cx="310896" cy="310896"/>
          </a:xfrm>
          <a:prstGeom prst="ellipse">
            <a:avLst/>
          </a:prstGeom>
          <a:solidFill>
            <a:srgbClr val="5FB49C"/>
          </a:solidFill>
          <a:ln/>
        </p:spPr>
      </p:sp>
      <p:sp>
        <p:nvSpPr>
          <p:cNvPr id="33" name="Text 26"/>
          <p:cNvSpPr txBox="1"/>
          <p:nvPr/>
        </p:nvSpPr>
        <p:spPr>
          <a:xfrm>
            <a:off x="6217920" y="296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34" name="Text 27"/>
          <p:cNvSpPr txBox="1"/>
          <p:nvPr/>
        </p:nvSpPr>
        <p:spPr>
          <a:xfrm>
            <a:off x="6629400" y="2889504"/>
            <a:ext cx="2103120" cy="548640"/>
          </a:xfrm>
          <a:prstGeom prst="rect">
            <a:avLst/>
          </a:prstGeom>
          <a:noFill/>
          <a:ln/>
        </p:spPr>
        <p:txBody>
          <a:bodyPr wrap="square" lIns="0" tIns="0" rIns="0" bIns="0" rtlCol="0" anchor="ctr"/>
          <a:lstStyle/>
          <a:p>
            <a:pPr indent="0" marL="0">
              <a:buNone/>
            </a:pPr>
            <a:r>
              <a:rPr lang="en-US" sz="950" dirty="0">
                <a:solidFill>
                  <a:srgbClr val="1A2230"/>
                </a:solidFill>
                <a:latin typeface="Calibri" pitchFamily="34" charset="0"/>
                <a:ea typeface="Calibri" pitchFamily="34" charset="-122"/>
                <a:cs typeface="Calibri" pitchFamily="34" charset="-120"/>
              </a:rPr>
              <a:t>Reports in USD; operating cash flows are in JPY, CNY and HKD</a:t>
            </a:r>
            <a:endParaRPr lang="en-US" sz="950" dirty="0"/>
          </a:p>
        </p:txBody>
      </p:sp>
      <p:sp>
        <p:nvSpPr>
          <p:cNvPr id="35" name="Shape 28"/>
          <p:cNvSpPr/>
          <p:nvPr/>
        </p:nvSpPr>
        <p:spPr>
          <a:xfrm>
            <a:off x="6217920" y="3566160"/>
            <a:ext cx="310896" cy="310896"/>
          </a:xfrm>
          <a:prstGeom prst="ellipse">
            <a:avLst/>
          </a:prstGeom>
          <a:solidFill>
            <a:srgbClr val="5FB49C"/>
          </a:solidFill>
          <a:ln/>
        </p:spPr>
      </p:sp>
      <p:sp>
        <p:nvSpPr>
          <p:cNvPr id="36" name="Text 29"/>
          <p:cNvSpPr txBox="1"/>
          <p:nvPr/>
        </p:nvSpPr>
        <p:spPr>
          <a:xfrm>
            <a:off x="6217920" y="35661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7" name="Text 30"/>
          <p:cNvSpPr txBox="1"/>
          <p:nvPr/>
        </p:nvSpPr>
        <p:spPr>
          <a:xfrm>
            <a:off x="6629400" y="3493008"/>
            <a:ext cx="2103120" cy="548640"/>
          </a:xfrm>
          <a:prstGeom prst="rect">
            <a:avLst/>
          </a:prstGeom>
          <a:noFill/>
          <a:ln/>
        </p:spPr>
        <p:txBody>
          <a:bodyPr wrap="square" lIns="0" tIns="0" rIns="0" bIns="0" rtlCol="0" anchor="ctr"/>
          <a:lstStyle/>
          <a:p>
            <a:pPr indent="0" marL="0">
              <a:buNone/>
            </a:pPr>
            <a:r>
              <a:rPr lang="en-US" sz="950" dirty="0">
                <a:solidFill>
                  <a:srgbClr val="1A2230"/>
                </a:solidFill>
                <a:latin typeface="Calibri" pitchFamily="34" charset="0"/>
                <a:ea typeface="Calibri" pitchFamily="34" charset="-122"/>
                <a:cs typeface="Calibri" pitchFamily="34" charset="-120"/>
              </a:rPr>
              <a:t>Professional investor; can hold OTC notes and accepts Natixis credit risk</a:t>
            </a:r>
            <a:endParaRPr lang="en-US" sz="950" dirty="0"/>
          </a:p>
        </p:txBody>
      </p:sp>
      <p:sp>
        <p:nvSpPr>
          <p:cNvPr id="38" name="Shape 31"/>
          <p:cNvSpPr/>
          <p:nvPr/>
        </p:nvSpPr>
        <p:spPr>
          <a:xfrm>
            <a:off x="6217920" y="4169664"/>
            <a:ext cx="310896" cy="310896"/>
          </a:xfrm>
          <a:prstGeom prst="ellipse">
            <a:avLst/>
          </a:prstGeom>
          <a:solidFill>
            <a:srgbClr val="5FB49C"/>
          </a:solidFill>
          <a:ln/>
        </p:spPr>
      </p:sp>
      <p:sp>
        <p:nvSpPr>
          <p:cNvPr id="39" name="Text 32"/>
          <p:cNvSpPr txBox="1"/>
          <p:nvPr/>
        </p:nvSpPr>
        <p:spPr>
          <a:xfrm>
            <a:off x="6217920" y="41696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40" name="Text 33"/>
          <p:cNvSpPr txBox="1"/>
          <p:nvPr/>
        </p:nvSpPr>
        <p:spPr>
          <a:xfrm>
            <a:off x="6629400" y="4096512"/>
            <a:ext cx="2103120" cy="548640"/>
          </a:xfrm>
          <a:prstGeom prst="rect">
            <a:avLst/>
          </a:prstGeom>
          <a:noFill/>
          <a:ln/>
        </p:spPr>
        <p:txBody>
          <a:bodyPr wrap="square" lIns="0" tIns="0" rIns="0" bIns="0" rtlCol="0" anchor="ctr"/>
          <a:lstStyle/>
          <a:p>
            <a:pPr indent="0" marL="0">
              <a:buNone/>
            </a:pPr>
            <a:r>
              <a:rPr lang="en-US" sz="950" dirty="0">
                <a:solidFill>
                  <a:srgbClr val="1A2230"/>
                </a:solidFill>
                <a:latin typeface="Calibri" pitchFamily="34" charset="0"/>
                <a:ea typeface="Calibri" pitchFamily="34" charset="-122"/>
                <a:cs typeface="Calibri" pitchFamily="34" charset="-120"/>
              </a:rPr>
              <a:t>No income need: the businesses provide cash flow, so no coupon</a:t>
            </a:r>
            <a:endParaRPr lang="en-US" sz="950" dirty="0"/>
          </a:p>
        </p:txBody>
      </p:sp>
      <p:sp>
        <p:nvSpPr>
          <p:cNvPr id="41" name="Text 34"/>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The family owns Asia's physical layer; the note adds the digital layer</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Diagnosis: avoid adding to risks the family already carries</a:t>
            </a:r>
            <a:endParaRPr lang="en-US" sz="1200" dirty="0"/>
          </a:p>
        </p:txBody>
      </p:sp>
      <p:sp>
        <p:nvSpPr>
          <p:cNvPr id="4" name="Text 2"/>
          <p:cNvSpPr txBox="1"/>
          <p:nvPr/>
        </p:nvSpPr>
        <p:spPr>
          <a:xfrm>
            <a:off x="411480" y="1143000"/>
            <a:ext cx="4754880" cy="274320"/>
          </a:xfrm>
          <a:prstGeom prst="rect">
            <a:avLst/>
          </a:prstGeom>
          <a:noFill/>
          <a:ln/>
        </p:spPr>
        <p:txBody>
          <a:bodyPr wrap="square" lIns="0" tIns="0" rIns="0" bIns="0" rtlCol="0" anchor="ctr"/>
          <a:lstStyle/>
          <a:p>
            <a:pPr indent="0" marL="0">
              <a:buNone/>
            </a:pPr>
            <a:r>
              <a:rPr lang="en-US" sz="1300" b="1" dirty="0">
                <a:solidFill>
                  <a:srgbClr val="0E2238"/>
                </a:solidFill>
                <a:latin typeface="Cambria" pitchFamily="34" charset="0"/>
                <a:ea typeface="Cambria" pitchFamily="34" charset="-122"/>
                <a:cs typeface="Cambria" pitchFamily="34" charset="-120"/>
              </a:rPr>
              <a:t>The AI value chain in Asia</a:t>
            </a:r>
            <a:endParaRPr lang="en-US" sz="1300" dirty="0"/>
          </a:p>
        </p:txBody>
      </p:sp>
      <p:sp>
        <p:nvSpPr>
          <p:cNvPr id="5" name="Shape 3"/>
          <p:cNvSpPr/>
          <p:nvPr/>
        </p:nvSpPr>
        <p:spPr>
          <a:xfrm>
            <a:off x="411480" y="1481328"/>
            <a:ext cx="4754880" cy="694944"/>
          </a:xfrm>
          <a:prstGeom prst="rect">
            <a:avLst/>
          </a:prstGeom>
          <a:solidFill>
            <a:srgbClr val="1F8A70"/>
          </a:solidFill>
          <a:ln w="12700">
            <a:solidFill>
              <a:srgbClr val="FFFFFF"/>
            </a:solidFill>
            <a:prstDash val="solid"/>
          </a:ln>
        </p:spPr>
      </p:sp>
      <p:sp>
        <p:nvSpPr>
          <p:cNvPr id="6" name="Text 4"/>
          <p:cNvSpPr txBox="1"/>
          <p:nvPr/>
        </p:nvSpPr>
        <p:spPr>
          <a:xfrm>
            <a:off x="594360" y="1481328"/>
            <a:ext cx="2514600" cy="6949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Applications &amp; platforms</a:t>
            </a:r>
            <a:endParaRPr lang="en-US" sz="1250" dirty="0"/>
          </a:p>
          <a:p>
            <a:pPr indent="0" marL="0">
              <a:buNone/>
            </a:pPr>
            <a:r>
              <a:rPr lang="en-US" sz="950" dirty="0">
                <a:solidFill>
                  <a:srgbClr val="FFFFFF"/>
                </a:solidFill>
                <a:latin typeface="Calibri" pitchFamily="34" charset="0"/>
                <a:ea typeface="Calibri" pitchFamily="34" charset="-122"/>
                <a:cs typeface="Calibri" pitchFamily="34" charset="-120"/>
              </a:rPr>
              <a:t>AI models, cloud, e-commerce, super-apps</a:t>
            </a:r>
            <a:endParaRPr lang="en-US" sz="1250" dirty="0"/>
          </a:p>
        </p:txBody>
      </p:sp>
      <p:sp>
        <p:nvSpPr>
          <p:cNvPr id="7" name="Text 5"/>
          <p:cNvSpPr txBox="1"/>
          <p:nvPr/>
        </p:nvSpPr>
        <p:spPr>
          <a:xfrm>
            <a:off x="3063240" y="1481328"/>
            <a:ext cx="1965960" cy="694944"/>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Hang Seng TECH</a:t>
            </a:r>
            <a:endParaRPr lang="en-US" sz="1000" dirty="0"/>
          </a:p>
        </p:txBody>
      </p:sp>
      <p:sp>
        <p:nvSpPr>
          <p:cNvPr id="8" name="Shape 6"/>
          <p:cNvSpPr/>
          <p:nvPr/>
        </p:nvSpPr>
        <p:spPr>
          <a:xfrm>
            <a:off x="521208" y="2267712"/>
            <a:ext cx="4535424" cy="694944"/>
          </a:xfrm>
          <a:prstGeom prst="rect">
            <a:avLst/>
          </a:prstGeom>
          <a:solidFill>
            <a:srgbClr val="1F8A70"/>
          </a:solidFill>
          <a:ln w="12700">
            <a:solidFill>
              <a:srgbClr val="FFFFFF"/>
            </a:solidFill>
            <a:prstDash val="solid"/>
          </a:ln>
        </p:spPr>
      </p:sp>
      <p:sp>
        <p:nvSpPr>
          <p:cNvPr id="9" name="Text 7"/>
          <p:cNvSpPr txBox="1"/>
          <p:nvPr/>
        </p:nvSpPr>
        <p:spPr>
          <a:xfrm>
            <a:off x="704088" y="2267712"/>
            <a:ext cx="2514600" cy="6949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Semiconductors</a:t>
            </a:r>
            <a:endParaRPr lang="en-US" sz="1250" dirty="0"/>
          </a:p>
          <a:p>
            <a:pPr indent="0" marL="0">
              <a:buNone/>
            </a:pPr>
            <a:r>
              <a:rPr lang="en-US" sz="950" dirty="0">
                <a:solidFill>
                  <a:srgbClr val="FFFFFF"/>
                </a:solidFill>
                <a:latin typeface="Calibri" pitchFamily="34" charset="0"/>
                <a:ea typeface="Calibri" pitchFamily="34" charset="-122"/>
                <a:cs typeface="Calibri" pitchFamily="34" charset="-120"/>
              </a:rPr>
              <a:t>Equipment · foundry · memory / HBM</a:t>
            </a:r>
            <a:endParaRPr lang="en-US" sz="1250" dirty="0"/>
          </a:p>
        </p:txBody>
      </p:sp>
      <p:sp>
        <p:nvSpPr>
          <p:cNvPr id="10" name="Text 8"/>
          <p:cNvSpPr txBox="1"/>
          <p:nvPr/>
        </p:nvSpPr>
        <p:spPr>
          <a:xfrm>
            <a:off x="3063240" y="2267712"/>
            <a:ext cx="1856232" cy="694944"/>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Nikkei 225 · TAIEX · KOSPI 200</a:t>
            </a:r>
            <a:endParaRPr lang="en-US" sz="1000" dirty="0"/>
          </a:p>
        </p:txBody>
      </p:sp>
      <p:sp>
        <p:nvSpPr>
          <p:cNvPr id="11" name="Shape 9"/>
          <p:cNvSpPr/>
          <p:nvPr/>
        </p:nvSpPr>
        <p:spPr>
          <a:xfrm>
            <a:off x="630936" y="3054096"/>
            <a:ext cx="4315968" cy="694944"/>
          </a:xfrm>
          <a:prstGeom prst="rect">
            <a:avLst/>
          </a:prstGeom>
          <a:solidFill>
            <a:srgbClr val="C9D2DA"/>
          </a:solidFill>
          <a:ln w="12700">
            <a:solidFill>
              <a:srgbClr val="FFFFFF"/>
            </a:solidFill>
            <a:prstDash val="solid"/>
          </a:ln>
        </p:spPr>
      </p:sp>
      <p:sp>
        <p:nvSpPr>
          <p:cNvPr id="12" name="Text 10"/>
          <p:cNvSpPr txBox="1"/>
          <p:nvPr/>
        </p:nvSpPr>
        <p:spPr>
          <a:xfrm>
            <a:off x="813816" y="3054096"/>
            <a:ext cx="2514600" cy="694944"/>
          </a:xfrm>
          <a:prstGeom prst="rect">
            <a:avLst/>
          </a:prstGeom>
          <a:noFill/>
          <a:ln/>
        </p:spPr>
        <p:txBody>
          <a:bodyPr wrap="square" lIns="0" tIns="0" rIns="0" bIns="0" rtlCol="0" anchor="ctr"/>
          <a:lstStyle/>
          <a:p>
            <a:pPr indent="0" marL="0">
              <a:buNone/>
            </a:pPr>
            <a:r>
              <a:rPr lang="en-US" sz="1250" b="1" dirty="0">
                <a:solidFill>
                  <a:srgbClr val="1A2230"/>
                </a:solidFill>
                <a:latin typeface="Calibri" pitchFamily="34" charset="0"/>
                <a:ea typeface="Calibri" pitchFamily="34" charset="-122"/>
                <a:cs typeface="Calibri" pitchFamily="34" charset="-120"/>
              </a:rPr>
              <a:t>Physical infrastructure</a:t>
            </a:r>
            <a:endParaRPr lang="en-US" sz="1250" dirty="0"/>
          </a:p>
          <a:p>
            <a:pPr indent="0" marL="0">
              <a:buNone/>
            </a:pPr>
            <a:r>
              <a:rPr lang="en-US" sz="950" dirty="0">
                <a:solidFill>
                  <a:srgbClr val="1A2230"/>
                </a:solidFill>
                <a:latin typeface="Calibri" pitchFamily="34" charset="0"/>
                <a:ea typeface="Calibri" pitchFamily="34" charset="-122"/>
                <a:cs typeface="Calibri" pitchFamily="34" charset="-120"/>
              </a:rPr>
              <a:t>Data centres · renewable power · real estate</a:t>
            </a:r>
            <a:endParaRPr lang="en-US" sz="1250" dirty="0"/>
          </a:p>
        </p:txBody>
      </p:sp>
      <p:sp>
        <p:nvSpPr>
          <p:cNvPr id="13" name="Text 11"/>
          <p:cNvSpPr txBox="1"/>
          <p:nvPr/>
        </p:nvSpPr>
        <p:spPr>
          <a:xfrm>
            <a:off x="3063240" y="3054096"/>
            <a:ext cx="1746504" cy="694944"/>
          </a:xfrm>
          <a:prstGeom prst="rect">
            <a:avLst/>
          </a:prstGeom>
          <a:noFill/>
          <a:ln/>
        </p:spPr>
        <p:txBody>
          <a:bodyPr wrap="square" lIns="0" tIns="0" rIns="0" bIns="0" rtlCol="0" anchor="ctr"/>
          <a:lstStyle/>
          <a:p>
            <a:pPr algn="r" indent="0" marL="0">
              <a:buNone/>
            </a:pPr>
            <a:r>
              <a:rPr lang="en-US" sz="1000" b="1" i="1" dirty="0">
                <a:solidFill>
                  <a:srgbClr val="1A2230"/>
                </a:solidFill>
                <a:latin typeface="Calibri" pitchFamily="34" charset="0"/>
                <a:ea typeface="Calibri" pitchFamily="34" charset="-122"/>
                <a:cs typeface="Calibri" pitchFamily="34" charset="-120"/>
              </a:rPr>
              <a:t>Already owned via family businesses</a:t>
            </a:r>
            <a:endParaRPr lang="en-US" sz="1000" dirty="0"/>
          </a:p>
        </p:txBody>
      </p:sp>
      <p:sp>
        <p:nvSpPr>
          <p:cNvPr id="14" name="Text 12"/>
          <p:cNvSpPr txBox="1"/>
          <p:nvPr/>
        </p:nvSpPr>
        <p:spPr>
          <a:xfrm>
            <a:off x="411480" y="3858768"/>
            <a:ext cx="4754880" cy="228600"/>
          </a:xfrm>
          <a:prstGeom prst="rect">
            <a:avLst/>
          </a:prstGeom>
          <a:noFill/>
          <a:ln/>
        </p:spPr>
        <p:txBody>
          <a:bodyPr wrap="square" lIns="0" tIns="0" rIns="0" bIns="0" rtlCol="0" anchor="ctr"/>
          <a:lstStyle/>
          <a:p>
            <a:pPr indent="0" marL="0">
              <a:buNone/>
            </a:pPr>
            <a:r>
              <a:rPr lang="en-US" sz="950" i="1" dirty="0">
                <a:solidFill>
                  <a:srgbClr val="1F8A70"/>
                </a:solidFill>
                <a:latin typeface="Calibri" pitchFamily="34" charset="0"/>
                <a:ea typeface="Calibri" pitchFamily="34" charset="-122"/>
                <a:cs typeface="Calibri" pitchFamily="34" charset="-120"/>
              </a:rPr>
              <a:t>◄ the note adds these two layers</a:t>
            </a:r>
            <a:endParaRPr lang="en-US" sz="950" dirty="0"/>
          </a:p>
        </p:txBody>
      </p:sp>
      <p:sp>
        <p:nvSpPr>
          <p:cNvPr id="15" name="Shape 13"/>
          <p:cNvSpPr/>
          <p:nvPr/>
        </p:nvSpPr>
        <p:spPr>
          <a:xfrm>
            <a:off x="5440680" y="1143000"/>
            <a:ext cx="3291840" cy="2926080"/>
          </a:xfrm>
          <a:prstGeom prst="roundRect">
            <a:avLst>
              <a:gd name="adj" fmla="val 1875"/>
            </a:avLst>
          </a:prstGeom>
          <a:solidFill>
            <a:srgbClr val="E8F3EF"/>
          </a:solidFill>
          <a:ln w="6350">
            <a:solidFill>
              <a:srgbClr val="E8F3EF"/>
            </a:solidFill>
            <a:prstDash val="solid"/>
          </a:ln>
        </p:spPr>
      </p:sp>
      <p:sp>
        <p:nvSpPr>
          <p:cNvPr id="16" name="Text 14"/>
          <p:cNvSpPr txBox="1"/>
          <p:nvPr/>
        </p:nvSpPr>
        <p:spPr>
          <a:xfrm>
            <a:off x="5577840" y="1216152"/>
            <a:ext cx="3063240" cy="411480"/>
          </a:xfrm>
          <a:prstGeom prst="rect">
            <a:avLst/>
          </a:prstGeom>
          <a:noFill/>
          <a:ln/>
        </p:spPr>
        <p:txBody>
          <a:bodyPr wrap="square" lIns="0" tIns="0" rIns="0" bIns="0" rtlCol="0" anchor="ctr"/>
          <a:lstStyle/>
          <a:p>
            <a:pPr indent="0" marL="0">
              <a:buNone/>
            </a:pPr>
            <a:r>
              <a:rPr lang="en-US" sz="1200" b="1" dirty="0">
                <a:solidFill>
                  <a:srgbClr val="0E2238"/>
                </a:solidFill>
                <a:latin typeface="Cambria" pitchFamily="34" charset="0"/>
                <a:ea typeface="Cambria" pitchFamily="34" charset="-122"/>
                <a:cs typeface="Cambria" pitchFamily="34" charset="-120"/>
              </a:rPr>
              <a:t>What the family's balance sheet already carries</a:t>
            </a:r>
            <a:endParaRPr lang="en-US" sz="1200" dirty="0"/>
          </a:p>
        </p:txBody>
      </p:sp>
      <p:sp>
        <p:nvSpPr>
          <p:cNvPr id="17" name="Text 15"/>
          <p:cNvSpPr txBox="1"/>
          <p:nvPr/>
        </p:nvSpPr>
        <p:spPr>
          <a:xfrm>
            <a:off x="5577840" y="1691640"/>
            <a:ext cx="3063240" cy="22860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2230"/>
                </a:solidFill>
                <a:latin typeface="Calibri" pitchFamily="34" charset="0"/>
                <a:ea typeface="Calibri" pitchFamily="34" charset="-122"/>
                <a:cs typeface="Calibri" pitchFamily="34" charset="-120"/>
              </a:rPr>
              <a:t>JPY, CNY and HKD currency exposure</a:t>
            </a:r>
            <a:endParaRPr lang="en-US" sz="1050" dirty="0"/>
          </a:p>
          <a:p>
            <a:pPr marL="342900" indent="-342900">
              <a:spcAft>
                <a:spcPts val="400"/>
              </a:spcAft>
              <a:buSzPct val="100000"/>
              <a:buChar char="•"/>
            </a:pPr>
            <a:r>
              <a:rPr lang="en-US" sz="1050" dirty="0">
                <a:solidFill>
                  <a:srgbClr val="1A2230"/>
                </a:solidFill>
                <a:latin typeface="Calibri" pitchFamily="34" charset="0"/>
                <a:ea typeface="Calibri" pitchFamily="34" charset="-122"/>
                <a:cs typeface="Calibri" pitchFamily="34" charset="-120"/>
              </a:rPr>
              <a:t>Greater China property cycle</a:t>
            </a:r>
            <a:endParaRPr lang="en-US" sz="1050" dirty="0"/>
          </a:p>
          <a:p>
            <a:pPr marL="342900" indent="-342900">
              <a:spcAft>
                <a:spcPts val="400"/>
              </a:spcAft>
              <a:buSzPct val="100000"/>
              <a:buChar char="•"/>
            </a:pPr>
            <a:r>
              <a:rPr lang="en-US" sz="1050" dirty="0">
                <a:solidFill>
                  <a:srgbClr val="1A2230"/>
                </a:solidFill>
                <a:latin typeface="Calibri" pitchFamily="34" charset="0"/>
                <a:ea typeface="Calibri" pitchFamily="34" charset="-122"/>
                <a:cs typeface="Calibri" pitchFamily="34" charset="-120"/>
              </a:rPr>
              <a:t>Power prices and interest-rate sensitivity in renewables</a:t>
            </a:r>
            <a:endParaRPr lang="en-US" sz="1050" dirty="0"/>
          </a:p>
          <a:p>
            <a:pPr marL="342900" indent="-342900">
              <a:spcAft>
                <a:spcPts val="400"/>
              </a:spcAft>
              <a:buSzPct val="100000"/>
              <a:buChar char="•"/>
            </a:pPr>
            <a:r>
              <a:rPr lang="en-US" sz="1050" dirty="0">
                <a:solidFill>
                  <a:srgbClr val="1A2230"/>
                </a:solidFill>
                <a:latin typeface="Calibri" pitchFamily="34" charset="0"/>
                <a:ea typeface="Calibri" pitchFamily="34" charset="-122"/>
                <a:cs typeface="Calibri" pitchFamily="34" charset="-120"/>
              </a:rPr>
              <a:t>Illiquid, concentrated, hard-asset wealth</a:t>
            </a:r>
            <a:endParaRPr lang="en-US" sz="1050" dirty="0"/>
          </a:p>
          <a:p>
            <a:pPr indent="0" marL="0">
              <a:spcAft>
                <a:spcPts val="400"/>
              </a:spcAft>
              <a:buNone/>
            </a:pPr>
            <a:r>
              <a:rPr lang="en-US" sz="1050" b="1" dirty="0">
                <a:solidFill>
                  <a:srgbClr val="1F8A70"/>
                </a:solidFill>
                <a:latin typeface="Calibri" pitchFamily="34" charset="0"/>
                <a:ea typeface="Calibri" pitchFamily="34" charset="-122"/>
                <a:cs typeface="Calibri" pitchFamily="34" charset="-120"/>
              </a:rPr>
              <a:t>Implication: </a:t>
            </a:r>
            <a:pPr indent="0" marL="0">
              <a:spcAft>
                <a:spcPts val="400"/>
              </a:spcAft>
              <a:buNone/>
            </a:pPr>
            <a:r>
              <a:rPr lang="en-US" sz="1050" dirty="0">
                <a:solidFill>
                  <a:srgbClr val="1A2230"/>
                </a:solidFill>
                <a:latin typeface="Calibri" pitchFamily="34" charset="0"/>
                <a:ea typeface="Calibri" pitchFamily="34" charset="-122"/>
                <a:cs typeface="Calibri" pitchFamily="34" charset="-120"/>
              </a:rPr>
              <a:t>no China property, utilities or REITs in the basket; pay out in USD; keep capital intact.</a:t>
            </a:r>
            <a:endParaRPr lang="en-US" sz="1050" dirty="0"/>
          </a:p>
        </p:txBody>
      </p:sp>
      <p:sp>
        <p:nvSpPr>
          <p:cNvPr id="18" name="Shape 16"/>
          <p:cNvSpPr/>
          <p:nvPr/>
        </p:nvSpPr>
        <p:spPr>
          <a:xfrm>
            <a:off x="411480" y="4160520"/>
            <a:ext cx="1572768" cy="594360"/>
          </a:xfrm>
          <a:prstGeom prst="roundRect">
            <a:avLst>
              <a:gd name="adj" fmla="val 9231"/>
            </a:avLst>
          </a:prstGeom>
          <a:solidFill>
            <a:srgbClr val="FFFFFF"/>
          </a:solidFill>
          <a:ln w="12700">
            <a:solidFill>
              <a:srgbClr val="D3E0DB"/>
            </a:solidFill>
            <a:prstDash val="solid"/>
          </a:ln>
        </p:spPr>
      </p:sp>
      <p:sp>
        <p:nvSpPr>
          <p:cNvPr id="19" name="Text 17"/>
          <p:cNvSpPr txBox="1"/>
          <p:nvPr/>
        </p:nvSpPr>
        <p:spPr>
          <a:xfrm>
            <a:off x="484632" y="4160520"/>
            <a:ext cx="1463040" cy="594360"/>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Keep principal</a:t>
            </a:r>
            <a:endParaRPr lang="en-US" sz="1000" dirty="0"/>
          </a:p>
          <a:p>
            <a:pPr algn="ctr" indent="0" marL="0">
              <a:buNone/>
            </a:pPr>
            <a:r>
              <a:rPr lang="en-US" sz="1000" b="1" dirty="0">
                <a:solidFill>
                  <a:srgbClr val="1F8A70"/>
                </a:solidFill>
                <a:latin typeface="Calibri" pitchFamily="34" charset="0"/>
                <a:ea typeface="Calibri" pitchFamily="34" charset="-122"/>
                <a:cs typeface="Calibri" pitchFamily="34" charset="-120"/>
              </a:rPr>
              <a:t>→ 100% protection</a:t>
            </a:r>
            <a:endParaRPr lang="en-US" sz="1000" dirty="0"/>
          </a:p>
        </p:txBody>
      </p:sp>
      <p:sp>
        <p:nvSpPr>
          <p:cNvPr id="20" name="Shape 18"/>
          <p:cNvSpPr/>
          <p:nvPr/>
        </p:nvSpPr>
        <p:spPr>
          <a:xfrm>
            <a:off x="2093976" y="4160520"/>
            <a:ext cx="1572768" cy="594360"/>
          </a:xfrm>
          <a:prstGeom prst="roundRect">
            <a:avLst>
              <a:gd name="adj" fmla="val 9231"/>
            </a:avLst>
          </a:prstGeom>
          <a:solidFill>
            <a:srgbClr val="FFFFFF"/>
          </a:solidFill>
          <a:ln w="12700">
            <a:solidFill>
              <a:srgbClr val="D3E0DB"/>
            </a:solidFill>
            <a:prstDash val="solid"/>
          </a:ln>
        </p:spPr>
      </p:sp>
      <p:sp>
        <p:nvSpPr>
          <p:cNvPr id="21" name="Text 19"/>
          <p:cNvSpPr txBox="1"/>
          <p:nvPr/>
        </p:nvSpPr>
        <p:spPr>
          <a:xfrm>
            <a:off x="2167128" y="4160520"/>
            <a:ext cx="1463040" cy="594360"/>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Add digital, not physical</a:t>
            </a:r>
            <a:endParaRPr lang="en-US" sz="1000" dirty="0"/>
          </a:p>
          <a:p>
            <a:pPr algn="ctr" indent="0" marL="0">
              <a:buNone/>
            </a:pPr>
            <a:r>
              <a:rPr lang="en-US" sz="1000" b="1" dirty="0">
                <a:solidFill>
                  <a:srgbClr val="1F8A70"/>
                </a:solidFill>
                <a:latin typeface="Calibri" pitchFamily="34" charset="0"/>
                <a:ea typeface="Calibri" pitchFamily="34" charset="-122"/>
                <a:cs typeface="Calibri" pitchFamily="34" charset="-120"/>
              </a:rPr>
              <a:t>→ AI-stack basket</a:t>
            </a:r>
            <a:endParaRPr lang="en-US" sz="1000" dirty="0"/>
          </a:p>
        </p:txBody>
      </p:sp>
      <p:sp>
        <p:nvSpPr>
          <p:cNvPr id="22" name="Shape 20"/>
          <p:cNvSpPr/>
          <p:nvPr/>
        </p:nvSpPr>
        <p:spPr>
          <a:xfrm>
            <a:off x="3776472" y="4160520"/>
            <a:ext cx="1572768" cy="594360"/>
          </a:xfrm>
          <a:prstGeom prst="roundRect">
            <a:avLst>
              <a:gd name="adj" fmla="val 9231"/>
            </a:avLst>
          </a:prstGeom>
          <a:solidFill>
            <a:srgbClr val="FFFFFF"/>
          </a:solidFill>
          <a:ln w="12700">
            <a:solidFill>
              <a:srgbClr val="D3E0DB"/>
            </a:solidFill>
            <a:prstDash val="solid"/>
          </a:ln>
        </p:spPr>
      </p:sp>
      <p:sp>
        <p:nvSpPr>
          <p:cNvPr id="23" name="Text 21"/>
          <p:cNvSpPr txBox="1"/>
          <p:nvPr/>
        </p:nvSpPr>
        <p:spPr>
          <a:xfrm>
            <a:off x="3849624" y="4160520"/>
            <a:ext cx="1463040" cy="594360"/>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No new FX risk</a:t>
            </a:r>
            <a:endParaRPr lang="en-US" sz="1000" dirty="0"/>
          </a:p>
          <a:p>
            <a:pPr algn="ctr" indent="0" marL="0">
              <a:buNone/>
            </a:pPr>
            <a:r>
              <a:rPr lang="en-US" sz="1000" b="1" dirty="0">
                <a:solidFill>
                  <a:srgbClr val="1F8A70"/>
                </a:solidFill>
                <a:latin typeface="Calibri" pitchFamily="34" charset="0"/>
                <a:ea typeface="Calibri" pitchFamily="34" charset="-122"/>
                <a:cs typeface="Calibri" pitchFamily="34" charset="-120"/>
              </a:rPr>
              <a:t>→ USD quanto</a:t>
            </a:r>
            <a:endParaRPr lang="en-US" sz="1000" dirty="0"/>
          </a:p>
        </p:txBody>
      </p:sp>
      <p:sp>
        <p:nvSpPr>
          <p:cNvPr id="24" name="Shape 22"/>
          <p:cNvSpPr/>
          <p:nvPr/>
        </p:nvSpPr>
        <p:spPr>
          <a:xfrm>
            <a:off x="5458968" y="4160520"/>
            <a:ext cx="1572768" cy="594360"/>
          </a:xfrm>
          <a:prstGeom prst="roundRect">
            <a:avLst>
              <a:gd name="adj" fmla="val 9231"/>
            </a:avLst>
          </a:prstGeom>
          <a:solidFill>
            <a:srgbClr val="FFFFFF"/>
          </a:solidFill>
          <a:ln w="12700">
            <a:solidFill>
              <a:srgbClr val="D3E0DB"/>
            </a:solidFill>
            <a:prstDash val="solid"/>
          </a:ln>
        </p:spPr>
      </p:sp>
      <p:sp>
        <p:nvSpPr>
          <p:cNvPr id="25" name="Text 23"/>
          <p:cNvSpPr txBox="1"/>
          <p:nvPr/>
        </p:nvSpPr>
        <p:spPr>
          <a:xfrm>
            <a:off x="5532120" y="4160520"/>
            <a:ext cx="1463040" cy="594360"/>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Don't pick one winner</a:t>
            </a:r>
            <a:endParaRPr lang="en-US" sz="1000" dirty="0"/>
          </a:p>
          <a:p>
            <a:pPr algn="ctr" indent="0" marL="0">
              <a:buNone/>
            </a:pPr>
            <a:r>
              <a:rPr lang="en-US" sz="1000" b="1" dirty="0">
                <a:solidFill>
                  <a:srgbClr val="1F8A70"/>
                </a:solidFill>
                <a:latin typeface="Calibri" pitchFamily="34" charset="0"/>
                <a:ea typeface="Calibri" pitchFamily="34" charset="-122"/>
                <a:cs typeface="Calibri" pitchFamily="34" charset="-120"/>
              </a:rPr>
              <a:t>→ 4-market basket</a:t>
            </a:r>
            <a:endParaRPr lang="en-US" sz="1000" dirty="0"/>
          </a:p>
        </p:txBody>
      </p:sp>
      <p:sp>
        <p:nvSpPr>
          <p:cNvPr id="26" name="Shape 24"/>
          <p:cNvSpPr/>
          <p:nvPr/>
        </p:nvSpPr>
        <p:spPr>
          <a:xfrm>
            <a:off x="7141464" y="4160520"/>
            <a:ext cx="1572768" cy="594360"/>
          </a:xfrm>
          <a:prstGeom prst="roundRect">
            <a:avLst>
              <a:gd name="adj" fmla="val 9231"/>
            </a:avLst>
          </a:prstGeom>
          <a:solidFill>
            <a:srgbClr val="F6ECD3"/>
          </a:solidFill>
          <a:ln w="12700">
            <a:solidFill>
              <a:srgbClr val="D3E0DB"/>
            </a:solidFill>
            <a:prstDash val="solid"/>
          </a:ln>
        </p:spPr>
      </p:sp>
      <p:sp>
        <p:nvSpPr>
          <p:cNvPr id="27" name="Text 25"/>
          <p:cNvSpPr txBox="1"/>
          <p:nvPr/>
        </p:nvSpPr>
        <p:spPr>
          <a:xfrm>
            <a:off x="7214616" y="4160520"/>
            <a:ext cx="1463040" cy="594360"/>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Bank gains for heirs</a:t>
            </a:r>
            <a:endParaRPr lang="en-US" sz="1000" dirty="0"/>
          </a:p>
          <a:p>
            <a:pPr algn="ctr" indent="0" marL="0">
              <a:buNone/>
            </a:pPr>
            <a:r>
              <a:rPr lang="en-US" sz="1000" b="1" dirty="0">
                <a:solidFill>
                  <a:srgbClr val="8A6A1E"/>
                </a:solidFill>
                <a:latin typeface="Calibri" pitchFamily="34" charset="0"/>
                <a:ea typeface="Calibri" pitchFamily="34" charset="-122"/>
                <a:cs typeface="Calibri" pitchFamily="34" charset="-120"/>
              </a:rPr>
              <a:t>→ Legacy Lock-in</a:t>
            </a:r>
            <a:endParaRPr lang="en-US" sz="1000" dirty="0"/>
          </a:p>
        </p:txBody>
      </p:sp>
      <p:sp>
        <p:nvSpPr>
          <p:cNvPr id="28" name="Text 26"/>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Asia builds the AI economy, but the 2026 rally makes entry risky</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Market view as of the 17 Sep 2026 trade date</a:t>
            </a:r>
            <a:endParaRPr lang="en-US" sz="1200" dirty="0"/>
          </a:p>
        </p:txBody>
      </p:sp>
      <p:sp>
        <p:nvSpPr>
          <p:cNvPr id="4" name="Shape 2"/>
          <p:cNvSpPr/>
          <p:nvPr/>
        </p:nvSpPr>
        <p:spPr>
          <a:xfrm>
            <a:off x="411480" y="1143000"/>
            <a:ext cx="411480" cy="411480"/>
          </a:xfrm>
          <a:prstGeom prst="ellipse">
            <a:avLst/>
          </a:prstGeom>
          <a:solidFill>
            <a:srgbClr val="1F8A70"/>
          </a:solidFill>
          <a:ln/>
        </p:spPr>
      </p:sp>
      <p:pic>
        <p:nvPicPr>
          <p:cNvPr id="5" name="Image 0" descr="preencoded.png">    </p:cNvPr>
          <p:cNvPicPr>
            <a:picLocks noChangeAspect="1"/>
          </p:cNvPicPr>
          <p:nvPr/>
        </p:nvPicPr>
        <p:blipFill>
          <a:blip r:embed="rId1"/>
          <a:stretch>
            <a:fillRect/>
          </a:stretch>
        </p:blipFill>
        <p:spPr>
          <a:xfrm>
            <a:off x="514350" y="1245870"/>
            <a:ext cx="205740" cy="205740"/>
          </a:xfrm>
          <a:prstGeom prst="rect">
            <a:avLst/>
          </a:prstGeom>
        </p:spPr>
      </p:pic>
      <p:sp>
        <p:nvSpPr>
          <p:cNvPr id="6" name="Text 3"/>
          <p:cNvSpPr txBox="1"/>
          <p:nvPr/>
        </p:nvSpPr>
        <p:spPr>
          <a:xfrm>
            <a:off x="914400" y="1143000"/>
            <a:ext cx="1920240" cy="411480"/>
          </a:xfrm>
          <a:prstGeom prst="rect">
            <a:avLst/>
          </a:prstGeom>
          <a:noFill/>
          <a:ln/>
        </p:spPr>
        <p:txBody>
          <a:bodyPr wrap="square" lIns="0" tIns="0" rIns="0" bIns="0" rtlCol="0" anchor="ctr"/>
          <a:lstStyle/>
          <a:p>
            <a:pPr indent="0" marL="0">
              <a:buNone/>
            </a:pPr>
            <a:r>
              <a:rPr lang="en-US" sz="1250" b="1" dirty="0">
                <a:solidFill>
                  <a:srgbClr val="0E2238"/>
                </a:solidFill>
                <a:latin typeface="Cambria" pitchFamily="34" charset="0"/>
                <a:ea typeface="Cambria" pitchFamily="34" charset="-122"/>
                <a:cs typeface="Cambria" pitchFamily="34" charset="-120"/>
              </a:rPr>
              <a:t>AI capex runs through Asia</a:t>
            </a:r>
            <a:endParaRPr lang="en-US" sz="1250" dirty="0"/>
          </a:p>
        </p:txBody>
      </p:sp>
      <p:sp>
        <p:nvSpPr>
          <p:cNvPr id="7" name="Text 4"/>
          <p:cNvSpPr txBox="1"/>
          <p:nvPr/>
        </p:nvSpPr>
        <p:spPr>
          <a:xfrm>
            <a:off x="411480" y="1691640"/>
            <a:ext cx="2514600" cy="384048"/>
          </a:xfrm>
          <a:prstGeom prst="rect">
            <a:avLst/>
          </a:prstGeom>
          <a:noFill/>
          <a:ln/>
        </p:spPr>
        <p:txBody>
          <a:bodyPr wrap="square" lIns="0" tIns="0" rIns="0" bIns="0" rtlCol="0" anchor="ctr"/>
          <a:lstStyle/>
          <a:p>
            <a:pPr indent="0" marL="0">
              <a:buNone/>
            </a:pPr>
            <a:r>
              <a:rPr lang="en-US" sz="2100" b="1" dirty="0">
                <a:solidFill>
                  <a:srgbClr val="1F8A70"/>
                </a:solidFill>
                <a:latin typeface="Cambria" pitchFamily="34" charset="0"/>
                <a:ea typeface="Cambria" pitchFamily="34" charset="-122"/>
                <a:cs typeface="Cambria" pitchFamily="34" charset="-120"/>
              </a:rPr>
              <a:t>&gt; USD 600bn</a:t>
            </a:r>
            <a:endParaRPr lang="en-US" sz="2100" dirty="0"/>
          </a:p>
        </p:txBody>
      </p:sp>
      <p:sp>
        <p:nvSpPr>
          <p:cNvPr id="8" name="Text 5"/>
          <p:cNvSpPr txBox="1"/>
          <p:nvPr/>
        </p:nvSpPr>
        <p:spPr>
          <a:xfrm>
            <a:off x="411480" y="2075688"/>
            <a:ext cx="251460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Big-5 hyperscaler capex 2026E, mostly AI servers, GPUs and data centres</a:t>
            </a:r>
            <a:endParaRPr lang="en-US" sz="950" dirty="0"/>
          </a:p>
        </p:txBody>
      </p:sp>
      <p:sp>
        <p:nvSpPr>
          <p:cNvPr id="9" name="Text 6"/>
          <p:cNvSpPr txBox="1"/>
          <p:nvPr/>
        </p:nvSpPr>
        <p:spPr>
          <a:xfrm>
            <a:off x="411480" y="2651760"/>
            <a:ext cx="2514600" cy="384048"/>
          </a:xfrm>
          <a:prstGeom prst="rect">
            <a:avLst/>
          </a:prstGeom>
          <a:noFill/>
          <a:ln/>
        </p:spPr>
        <p:txBody>
          <a:bodyPr wrap="square" lIns="0" tIns="0" rIns="0" bIns="0" rtlCol="0" anchor="ctr"/>
          <a:lstStyle/>
          <a:p>
            <a:pPr indent="0" marL="0">
              <a:buNone/>
            </a:pPr>
            <a:r>
              <a:rPr lang="en-US" sz="2100" b="1" dirty="0">
                <a:solidFill>
                  <a:srgbClr val="1F8A70"/>
                </a:solidFill>
                <a:latin typeface="Cambria" pitchFamily="34" charset="0"/>
                <a:ea typeface="Cambria" pitchFamily="34" charset="-122"/>
                <a:cs typeface="Cambria" pitchFamily="34" charset="-120"/>
              </a:rPr>
              <a:t>47%</a:t>
            </a:r>
            <a:endParaRPr lang="en-US" sz="2100" dirty="0"/>
          </a:p>
        </p:txBody>
      </p:sp>
      <p:sp>
        <p:nvSpPr>
          <p:cNvPr id="10" name="Text 7"/>
          <p:cNvSpPr txBox="1"/>
          <p:nvPr/>
        </p:nvSpPr>
        <p:spPr>
          <a:xfrm>
            <a:off x="411480" y="3035808"/>
            <a:ext cx="251460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Chips' share of Korean exports in 1–10 Sep 2026 (+270% YoY)</a:t>
            </a:r>
            <a:endParaRPr lang="en-US" sz="950" dirty="0"/>
          </a:p>
        </p:txBody>
      </p:sp>
      <p:sp>
        <p:nvSpPr>
          <p:cNvPr id="11" name="Text 8"/>
          <p:cNvSpPr txBox="1"/>
          <p:nvPr/>
        </p:nvSpPr>
        <p:spPr>
          <a:xfrm>
            <a:off x="411480" y="3611880"/>
            <a:ext cx="2514600" cy="384048"/>
          </a:xfrm>
          <a:prstGeom prst="rect">
            <a:avLst/>
          </a:prstGeom>
          <a:noFill/>
          <a:ln/>
        </p:spPr>
        <p:txBody>
          <a:bodyPr wrap="square" lIns="0" tIns="0" rIns="0" bIns="0" rtlCol="0" anchor="ctr"/>
          <a:lstStyle/>
          <a:p>
            <a:pPr indent="0" marL="0">
              <a:buNone/>
            </a:pPr>
            <a:r>
              <a:rPr lang="en-US" sz="2100" b="1" dirty="0">
                <a:solidFill>
                  <a:srgbClr val="1F8A70"/>
                </a:solidFill>
                <a:latin typeface="Cambria" pitchFamily="34" charset="0"/>
                <a:ea typeface="Cambria" pitchFamily="34" charset="-122"/>
                <a:cs typeface="Cambria" pitchFamily="34" charset="-120"/>
              </a:rPr>
              <a:t>4 markets</a:t>
            </a:r>
            <a:endParaRPr lang="en-US" sz="2100" dirty="0"/>
          </a:p>
        </p:txBody>
      </p:sp>
      <p:sp>
        <p:nvSpPr>
          <p:cNvPr id="12" name="Text 9"/>
          <p:cNvSpPr txBox="1"/>
          <p:nvPr/>
        </p:nvSpPr>
        <p:spPr>
          <a:xfrm>
            <a:off x="411480" y="3995928"/>
            <a:ext cx="251460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Japan (equipment), Taiwan (foundry), Korea (memory), HK/China (platforms)</a:t>
            </a:r>
            <a:endParaRPr lang="en-US" sz="950" dirty="0"/>
          </a:p>
        </p:txBody>
      </p:sp>
      <p:graphicFrame>
        <p:nvGraphicFramePr>
          <p:cNvPr id="13" name="Chart 0" descr=""/>
          <p:cNvGraphicFramePr/>
          <p:nvPr/>
        </p:nvGraphicFramePr>
        <p:xfrm>
          <a:off x="3063240" y="1097280"/>
          <a:ext cx="2926080" cy="251460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3154680" y="3703320"/>
            <a:ext cx="2743200" cy="1005840"/>
          </a:xfrm>
          <a:prstGeom prst="roundRect">
            <a:avLst>
              <a:gd name="adj" fmla="val 5455"/>
            </a:avLst>
          </a:prstGeom>
          <a:solidFill>
            <a:srgbClr val="E8F3EF"/>
          </a:solidFill>
          <a:ln w="6350">
            <a:solidFill>
              <a:srgbClr val="E8F3EF"/>
            </a:solidFill>
            <a:prstDash val="solid"/>
          </a:ln>
        </p:spPr>
      </p:sp>
      <p:sp>
        <p:nvSpPr>
          <p:cNvPr id="15" name="Text 11"/>
          <p:cNvSpPr txBox="1"/>
          <p:nvPr/>
        </p:nvSpPr>
        <p:spPr>
          <a:xfrm>
            <a:off x="3246120" y="3730752"/>
            <a:ext cx="2560320" cy="950976"/>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Implication: </a:t>
            </a:r>
            <a:pPr indent="0" marL="0">
              <a:buNone/>
            </a:pPr>
            <a:r>
              <a:rPr lang="en-US" sz="950" dirty="0">
                <a:solidFill>
                  <a:srgbClr val="1A2230"/>
                </a:solidFill>
                <a:latin typeface="Calibri" pitchFamily="34" charset="0"/>
                <a:ea typeface="Calibri" pitchFamily="34" charset="-122"/>
                <a:cs typeface="Calibri" pitchFamily="34" charset="-120"/>
              </a:rPr>
              <a:t>buying the momentum markets outright after +60% puts legacy capital at risk of a 2000-style reversal. Hong Kong tech has lagged, which gives a lower entry point.</a:t>
            </a:r>
            <a:endParaRPr lang="en-US" sz="950" dirty="0"/>
          </a:p>
        </p:txBody>
      </p:sp>
      <p:sp>
        <p:nvSpPr>
          <p:cNvPr id="16" name="Shape 12"/>
          <p:cNvSpPr/>
          <p:nvPr/>
        </p:nvSpPr>
        <p:spPr>
          <a:xfrm>
            <a:off x="6217920" y="1143000"/>
            <a:ext cx="411480" cy="411480"/>
          </a:xfrm>
          <a:prstGeom prst="ellipse">
            <a:avLst/>
          </a:prstGeom>
          <a:solidFill>
            <a:srgbClr val="0E2238"/>
          </a:solidFill>
          <a:ln/>
        </p:spPr>
      </p:sp>
      <p:pic>
        <p:nvPicPr>
          <p:cNvPr id="17" name="Image 1" descr="preencoded.png">    </p:cNvPr>
          <p:cNvPicPr>
            <a:picLocks noChangeAspect="1"/>
          </p:cNvPicPr>
          <p:nvPr/>
        </p:nvPicPr>
        <p:blipFill>
          <a:blip r:embed="rId3"/>
          <a:stretch>
            <a:fillRect/>
          </a:stretch>
        </p:blipFill>
        <p:spPr>
          <a:xfrm>
            <a:off x="6320790" y="1245870"/>
            <a:ext cx="205740" cy="205740"/>
          </a:xfrm>
          <a:prstGeom prst="rect">
            <a:avLst/>
          </a:prstGeom>
        </p:spPr>
      </p:pic>
      <p:sp>
        <p:nvSpPr>
          <p:cNvPr id="18" name="Text 13"/>
          <p:cNvSpPr txBox="1"/>
          <p:nvPr/>
        </p:nvSpPr>
        <p:spPr>
          <a:xfrm>
            <a:off x="6720840" y="1143000"/>
            <a:ext cx="2011680" cy="411480"/>
          </a:xfrm>
          <a:prstGeom prst="rect">
            <a:avLst/>
          </a:prstGeom>
          <a:noFill/>
          <a:ln/>
        </p:spPr>
        <p:txBody>
          <a:bodyPr wrap="square" lIns="0" tIns="0" rIns="0" bIns="0" rtlCol="0" anchor="ctr"/>
          <a:lstStyle/>
          <a:p>
            <a:pPr indent="0" marL="0">
              <a:buNone/>
            </a:pPr>
            <a:r>
              <a:rPr lang="en-US" sz="1250" b="1" dirty="0">
                <a:solidFill>
                  <a:srgbClr val="0E2238"/>
                </a:solidFill>
                <a:latin typeface="Cambria" pitchFamily="34" charset="0"/>
                <a:ea typeface="Cambria" pitchFamily="34" charset="-122"/>
                <a:cs typeface="Cambria" pitchFamily="34" charset="-120"/>
              </a:rPr>
              <a:t>Oil shock keeps USD rates high</a:t>
            </a:r>
            <a:endParaRPr lang="en-US" sz="1250" dirty="0"/>
          </a:p>
        </p:txBody>
      </p:sp>
      <p:sp>
        <p:nvSpPr>
          <p:cNvPr id="19" name="Text 14"/>
          <p:cNvSpPr txBox="1"/>
          <p:nvPr/>
        </p:nvSpPr>
        <p:spPr>
          <a:xfrm>
            <a:off x="6217920" y="1691640"/>
            <a:ext cx="2514600" cy="19202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A2230"/>
                </a:solidFill>
                <a:latin typeface="Calibri" pitchFamily="34" charset="0"/>
                <a:ea typeface="Calibri" pitchFamily="34" charset="-122"/>
                <a:cs typeface="Calibri" pitchFamily="34" charset="-120"/>
              </a:rPr>
              <a:t>Fed hiked to 3.75–4.00% on 16 Sep 2026, its first hike in three years; the dots signal more</a:t>
            </a:r>
            <a:endParaRPr lang="en-US" sz="1000" dirty="0"/>
          </a:p>
          <a:p>
            <a:pPr marL="342900" indent="-342900">
              <a:spcAft>
                <a:spcPts val="500"/>
              </a:spcAft>
              <a:buSzPct val="100000"/>
              <a:buChar char="•"/>
            </a:pPr>
            <a:r>
              <a:rPr lang="en-US" sz="1000" dirty="0">
                <a:solidFill>
                  <a:srgbClr val="1A2230"/>
                </a:solidFill>
                <a:latin typeface="Calibri" pitchFamily="34" charset="0"/>
                <a:ea typeface="Calibri" pitchFamily="34" charset="-122"/>
                <a:cs typeface="Calibri" pitchFamily="34" charset="-120"/>
              </a:rPr>
              <a:t>Brent near USD 109 on the Iran war, with volatility elevated across Asia</a:t>
            </a:r>
            <a:endParaRPr lang="en-US" sz="1000" dirty="0"/>
          </a:p>
          <a:p>
            <a:pPr marL="342900" indent="-342900">
              <a:spcAft>
                <a:spcPts val="500"/>
              </a:spcAft>
              <a:buSzPct val="100000"/>
              <a:buChar char="•"/>
            </a:pPr>
            <a:r>
              <a:rPr lang="en-US" sz="1000" b="1" dirty="0">
                <a:solidFill>
                  <a:srgbClr val="1F8A70"/>
                </a:solidFill>
                <a:latin typeface="Calibri" pitchFamily="34" charset="0"/>
                <a:ea typeface="Calibri" pitchFamily="34" charset="-122"/>
                <a:cs typeface="Calibri" pitchFamily="34" charset="-120"/>
              </a:rPr>
              <a:t>USD 7Y Natixis funding of 5.75%: 67.6 cents today buys USD 1 in 2033</a:t>
            </a:r>
            <a:endParaRPr lang="en-US" sz="1000" dirty="0"/>
          </a:p>
        </p:txBody>
      </p:sp>
      <p:sp>
        <p:nvSpPr>
          <p:cNvPr id="20" name="Shape 15"/>
          <p:cNvSpPr/>
          <p:nvPr/>
        </p:nvSpPr>
        <p:spPr>
          <a:xfrm>
            <a:off x="6217920" y="3703320"/>
            <a:ext cx="2514600" cy="1005840"/>
          </a:xfrm>
          <a:prstGeom prst="roundRect">
            <a:avLst>
              <a:gd name="adj" fmla="val 5455"/>
            </a:avLst>
          </a:prstGeom>
          <a:solidFill>
            <a:srgbClr val="0E2238"/>
          </a:solidFill>
          <a:ln w="6350">
            <a:solidFill>
              <a:srgbClr val="0E2238"/>
            </a:solidFill>
            <a:prstDash val="solid"/>
          </a:ln>
        </p:spPr>
      </p:sp>
      <p:sp>
        <p:nvSpPr>
          <p:cNvPr id="21" name="Text 16"/>
          <p:cNvSpPr txBox="1"/>
          <p:nvPr/>
        </p:nvSpPr>
        <p:spPr>
          <a:xfrm>
            <a:off x="6327648" y="3730752"/>
            <a:ext cx="2331720" cy="950976"/>
          </a:xfrm>
          <a:prstGeom prst="rect">
            <a:avLst/>
          </a:prstGeom>
          <a:noFill/>
          <a:ln/>
        </p:spPr>
        <p:txBody>
          <a:bodyPr wrap="square" lIns="0" tIns="0" rIns="0" bIns="0" rtlCol="0" anchor="ctr"/>
          <a:lstStyle/>
          <a:p>
            <a:pPr indent="0" marL="0">
              <a:buNone/>
            </a:pPr>
            <a:r>
              <a:rPr lang="en-US" sz="1050" b="1" dirty="0">
                <a:solidFill>
                  <a:srgbClr val="C99A2E"/>
                </a:solidFill>
                <a:latin typeface="Calibri" pitchFamily="34" charset="0"/>
                <a:ea typeface="Calibri" pitchFamily="34" charset="-122"/>
                <a:cs typeface="Calibri" pitchFamily="34" charset="-120"/>
              </a:rPr>
              <a:t>Therefore: </a:t>
            </a:r>
            <a:pPr indent="0" marL="0">
              <a:buNone/>
            </a:pPr>
            <a:r>
              <a:rPr lang="en-US" sz="1050" dirty="0">
                <a:solidFill>
                  <a:srgbClr val="FFFFFF"/>
                </a:solidFill>
                <a:latin typeface="Calibri" pitchFamily="34" charset="0"/>
                <a:ea typeface="Calibri" pitchFamily="34" charset="-122"/>
                <a:cs typeface="Calibri" pitchFamily="34" charset="-120"/>
              </a:rPr>
              <a:t>own the AI stack through a floor, in USD, for 7 years. High rates pay for the protection.</a:t>
            </a:r>
            <a:endParaRPr lang="en-US" sz="1050" dirty="0"/>
          </a:p>
        </p:txBody>
      </p:sp>
      <p:sp>
        <p:nvSpPr>
          <p:cNvPr id="22" name="Text 17"/>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Sources: Goldman Sachs, CreditSights (capex); Korea Customs via TechTimes (exports); Seoul Economic Daily, Advisor Perspectives (index YTD); CNBC (Fed). Verify on Bloomberg as of 17 Sep 2026.</a:t>
            </a:r>
            <a:endParaRPr lang="en-US" sz="750" dirty="0"/>
          </a:p>
        </p:txBody>
      </p:sp>
      <p:sp>
        <p:nvSpPr>
          <p:cNvPr id="23" name="Text 18"/>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The Asia Digital Bridge Legacy Note</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One note, four markets and the full AI stack, with a floor that only ratchets up</a:t>
            </a:r>
            <a:endParaRPr lang="en-US" sz="1200" dirty="0"/>
          </a:p>
        </p:txBody>
      </p:sp>
      <p:sp>
        <p:nvSpPr>
          <p:cNvPr id="4" name="Shape 2"/>
          <p:cNvSpPr/>
          <p:nvPr/>
        </p:nvSpPr>
        <p:spPr>
          <a:xfrm>
            <a:off x="411480" y="1143000"/>
            <a:ext cx="4023360" cy="960120"/>
          </a:xfrm>
          <a:prstGeom prst="roundRect">
            <a:avLst>
              <a:gd name="adj" fmla="val 5714"/>
            </a:avLst>
          </a:prstGeom>
          <a:solidFill>
            <a:srgbClr val="0E2238"/>
          </a:solidFill>
          <a:ln w="6350">
            <a:solidFill>
              <a:srgbClr val="0E2238"/>
            </a:solidFill>
            <a:prstDash val="solid"/>
          </a:ln>
        </p:spPr>
      </p:sp>
      <p:sp>
        <p:nvSpPr>
          <p:cNvPr id="5" name="Text 3"/>
          <p:cNvSpPr txBox="1"/>
          <p:nvPr/>
        </p:nvSpPr>
        <p:spPr>
          <a:xfrm>
            <a:off x="548640" y="1161288"/>
            <a:ext cx="3794760" cy="92354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7-year, USD-denominated Natixis note. It returns 100% of principal at maturity plus 125% of the basket's gain, uncapped. Each anniversary, strong gains are locked in as a higher minimum redemption that can never fall back.</a:t>
            </a:r>
            <a:endParaRPr lang="en-US" sz="1050" dirty="0"/>
          </a:p>
        </p:txBody>
      </p:sp>
      <p:sp>
        <p:nvSpPr>
          <p:cNvPr id="6" name="Shape 4"/>
          <p:cNvSpPr/>
          <p:nvPr/>
        </p:nvSpPr>
        <p:spPr>
          <a:xfrm>
            <a:off x="411480" y="2240280"/>
            <a:ext cx="1965960" cy="1143000"/>
          </a:xfrm>
          <a:prstGeom prst="roundRect">
            <a:avLst>
              <a:gd name="adj" fmla="val 4800"/>
            </a:avLst>
          </a:prstGeom>
          <a:solidFill>
            <a:srgbClr val="E8F3EF"/>
          </a:solidFill>
          <a:ln w="6350">
            <a:solidFill>
              <a:srgbClr val="E8F3EF"/>
            </a:solidFill>
            <a:prstDash val="solid"/>
          </a:ln>
        </p:spPr>
      </p:sp>
      <p:sp>
        <p:nvSpPr>
          <p:cNvPr id="7" name="Shape 5"/>
          <p:cNvSpPr/>
          <p:nvPr/>
        </p:nvSpPr>
        <p:spPr>
          <a:xfrm>
            <a:off x="521208" y="2350008"/>
            <a:ext cx="384048" cy="384048"/>
          </a:xfrm>
          <a:prstGeom prst="ellipse">
            <a:avLst/>
          </a:prstGeom>
          <a:solidFill>
            <a:srgbClr val="0E2238"/>
          </a:solidFill>
          <a:ln/>
        </p:spPr>
      </p:sp>
      <p:pic>
        <p:nvPicPr>
          <p:cNvPr id="8" name="Image 0" descr="preencoded.png">    </p:cNvPr>
          <p:cNvPicPr>
            <a:picLocks noChangeAspect="1"/>
          </p:cNvPicPr>
          <p:nvPr/>
        </p:nvPicPr>
        <p:blipFill>
          <a:blip r:embed="rId1"/>
          <a:stretch>
            <a:fillRect/>
          </a:stretch>
        </p:blipFill>
        <p:spPr>
          <a:xfrm>
            <a:off x="617220" y="2446020"/>
            <a:ext cx="192024" cy="192024"/>
          </a:xfrm>
          <a:prstGeom prst="rect">
            <a:avLst/>
          </a:prstGeom>
        </p:spPr>
      </p:pic>
      <p:sp>
        <p:nvSpPr>
          <p:cNvPr id="9" name="Text 6"/>
          <p:cNvSpPr txBox="1"/>
          <p:nvPr/>
        </p:nvSpPr>
        <p:spPr>
          <a:xfrm>
            <a:off x="978408" y="2331720"/>
            <a:ext cx="1353312" cy="438912"/>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100% principal protection</a:t>
            </a:r>
            <a:endParaRPr lang="en-US" sz="1050" dirty="0"/>
          </a:p>
        </p:txBody>
      </p:sp>
      <p:sp>
        <p:nvSpPr>
          <p:cNvPr id="10" name="Text 7"/>
          <p:cNvSpPr txBox="1"/>
          <p:nvPr/>
        </p:nvSpPr>
        <p:spPr>
          <a:xfrm>
            <a:off x="521208" y="2834640"/>
            <a:ext cx="178308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Funded by a 7Y Natixis zero-coupon bond</a:t>
            </a:r>
            <a:endParaRPr lang="en-US" sz="950" dirty="0"/>
          </a:p>
        </p:txBody>
      </p:sp>
      <p:sp>
        <p:nvSpPr>
          <p:cNvPr id="11" name="Shape 8"/>
          <p:cNvSpPr/>
          <p:nvPr/>
        </p:nvSpPr>
        <p:spPr>
          <a:xfrm>
            <a:off x="2468880" y="2240280"/>
            <a:ext cx="1965960" cy="1143000"/>
          </a:xfrm>
          <a:prstGeom prst="roundRect">
            <a:avLst>
              <a:gd name="adj" fmla="val 4800"/>
            </a:avLst>
          </a:prstGeom>
          <a:solidFill>
            <a:srgbClr val="E8F3EF"/>
          </a:solidFill>
          <a:ln w="6350">
            <a:solidFill>
              <a:srgbClr val="E8F3EF"/>
            </a:solidFill>
            <a:prstDash val="solid"/>
          </a:ln>
        </p:spPr>
      </p:sp>
      <p:sp>
        <p:nvSpPr>
          <p:cNvPr id="12" name="Shape 9"/>
          <p:cNvSpPr/>
          <p:nvPr/>
        </p:nvSpPr>
        <p:spPr>
          <a:xfrm>
            <a:off x="2578608" y="2350008"/>
            <a:ext cx="384048" cy="384048"/>
          </a:xfrm>
          <a:prstGeom prst="ellipse">
            <a:avLst/>
          </a:prstGeom>
          <a:solidFill>
            <a:srgbClr val="1F8A70"/>
          </a:solidFill>
          <a:ln/>
        </p:spPr>
      </p:sp>
      <p:pic>
        <p:nvPicPr>
          <p:cNvPr id="13" name="Image 1" descr="preencoded.png">    </p:cNvPr>
          <p:cNvPicPr>
            <a:picLocks noChangeAspect="1"/>
          </p:cNvPicPr>
          <p:nvPr/>
        </p:nvPicPr>
        <p:blipFill>
          <a:blip r:embed="rId2"/>
          <a:stretch>
            <a:fillRect/>
          </a:stretch>
        </p:blipFill>
        <p:spPr>
          <a:xfrm>
            <a:off x="2674620" y="2446020"/>
            <a:ext cx="192024" cy="192024"/>
          </a:xfrm>
          <a:prstGeom prst="rect">
            <a:avLst/>
          </a:prstGeom>
        </p:spPr>
      </p:pic>
      <p:sp>
        <p:nvSpPr>
          <p:cNvPr id="14" name="Text 10"/>
          <p:cNvSpPr txBox="1"/>
          <p:nvPr/>
        </p:nvSpPr>
        <p:spPr>
          <a:xfrm>
            <a:off x="3035808" y="2331720"/>
            <a:ext cx="1353312" cy="438912"/>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125% participation, no cap</a:t>
            </a:r>
            <a:endParaRPr lang="en-US" sz="1050" dirty="0"/>
          </a:p>
        </p:txBody>
      </p:sp>
      <p:sp>
        <p:nvSpPr>
          <p:cNvPr id="15" name="Text 11"/>
          <p:cNvSpPr txBox="1"/>
          <p:nvPr/>
        </p:nvSpPr>
        <p:spPr>
          <a:xfrm>
            <a:off x="2578608" y="2834640"/>
            <a:ext cx="178308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Full upside for the next generation</a:t>
            </a:r>
            <a:endParaRPr lang="en-US" sz="950" dirty="0"/>
          </a:p>
        </p:txBody>
      </p:sp>
      <p:sp>
        <p:nvSpPr>
          <p:cNvPr id="16" name="Shape 12"/>
          <p:cNvSpPr/>
          <p:nvPr/>
        </p:nvSpPr>
        <p:spPr>
          <a:xfrm>
            <a:off x="411480" y="3502152"/>
            <a:ext cx="1965960" cy="1143000"/>
          </a:xfrm>
          <a:prstGeom prst="roundRect">
            <a:avLst>
              <a:gd name="adj" fmla="val 4800"/>
            </a:avLst>
          </a:prstGeom>
          <a:solidFill>
            <a:srgbClr val="E8F3EF"/>
          </a:solidFill>
          <a:ln w="6350">
            <a:solidFill>
              <a:srgbClr val="E8F3EF"/>
            </a:solidFill>
            <a:prstDash val="solid"/>
          </a:ln>
        </p:spPr>
      </p:sp>
      <p:sp>
        <p:nvSpPr>
          <p:cNvPr id="17" name="Shape 13"/>
          <p:cNvSpPr/>
          <p:nvPr/>
        </p:nvSpPr>
        <p:spPr>
          <a:xfrm>
            <a:off x="521208" y="3611880"/>
            <a:ext cx="384048" cy="384048"/>
          </a:xfrm>
          <a:prstGeom prst="ellipse">
            <a:avLst/>
          </a:prstGeom>
          <a:solidFill>
            <a:srgbClr val="C99A2E"/>
          </a:solidFill>
          <a:ln/>
        </p:spPr>
      </p:sp>
      <p:pic>
        <p:nvPicPr>
          <p:cNvPr id="18" name="Image 2" descr="preencoded.png">    </p:cNvPr>
          <p:cNvPicPr>
            <a:picLocks noChangeAspect="1"/>
          </p:cNvPicPr>
          <p:nvPr/>
        </p:nvPicPr>
        <p:blipFill>
          <a:blip r:embed="rId3"/>
          <a:stretch>
            <a:fillRect/>
          </a:stretch>
        </p:blipFill>
        <p:spPr>
          <a:xfrm>
            <a:off x="617220" y="3707892"/>
            <a:ext cx="192024" cy="192024"/>
          </a:xfrm>
          <a:prstGeom prst="rect">
            <a:avLst/>
          </a:prstGeom>
        </p:spPr>
      </p:pic>
      <p:sp>
        <p:nvSpPr>
          <p:cNvPr id="19" name="Text 14"/>
          <p:cNvSpPr txBox="1"/>
          <p:nvPr/>
        </p:nvSpPr>
        <p:spPr>
          <a:xfrm>
            <a:off x="978408" y="3593592"/>
            <a:ext cx="1353312" cy="438912"/>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Legacy Lock-in ladder</a:t>
            </a:r>
            <a:endParaRPr lang="en-US" sz="1050" dirty="0"/>
          </a:p>
        </p:txBody>
      </p:sp>
      <p:sp>
        <p:nvSpPr>
          <p:cNvPr id="20" name="Text 15"/>
          <p:cNvSpPr txBox="1"/>
          <p:nvPr/>
        </p:nvSpPr>
        <p:spPr>
          <a:xfrm>
            <a:off x="521208" y="4096512"/>
            <a:ext cx="178308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+30% / +60% / +100% → floor 115 / 130 / 150%</a:t>
            </a:r>
            <a:endParaRPr lang="en-US" sz="950" dirty="0"/>
          </a:p>
        </p:txBody>
      </p:sp>
      <p:sp>
        <p:nvSpPr>
          <p:cNvPr id="21" name="Shape 16"/>
          <p:cNvSpPr/>
          <p:nvPr/>
        </p:nvSpPr>
        <p:spPr>
          <a:xfrm>
            <a:off x="2468880" y="3502152"/>
            <a:ext cx="1965960" cy="1143000"/>
          </a:xfrm>
          <a:prstGeom prst="roundRect">
            <a:avLst>
              <a:gd name="adj" fmla="val 4800"/>
            </a:avLst>
          </a:prstGeom>
          <a:solidFill>
            <a:srgbClr val="E8F3EF"/>
          </a:solidFill>
          <a:ln w="6350">
            <a:solidFill>
              <a:srgbClr val="E8F3EF"/>
            </a:solidFill>
            <a:prstDash val="solid"/>
          </a:ln>
        </p:spPr>
      </p:sp>
      <p:sp>
        <p:nvSpPr>
          <p:cNvPr id="22" name="Shape 17"/>
          <p:cNvSpPr/>
          <p:nvPr/>
        </p:nvSpPr>
        <p:spPr>
          <a:xfrm>
            <a:off x="2578608" y="3611880"/>
            <a:ext cx="384048" cy="384048"/>
          </a:xfrm>
          <a:prstGeom prst="ellipse">
            <a:avLst/>
          </a:prstGeom>
          <a:solidFill>
            <a:srgbClr val="1C3A5A"/>
          </a:solidFill>
          <a:ln/>
        </p:spPr>
      </p:sp>
      <p:pic>
        <p:nvPicPr>
          <p:cNvPr id="23" name="Image 3" descr="preencoded.png">    </p:cNvPr>
          <p:cNvPicPr>
            <a:picLocks noChangeAspect="1"/>
          </p:cNvPicPr>
          <p:nvPr/>
        </p:nvPicPr>
        <p:blipFill>
          <a:blip r:embed="rId4"/>
          <a:stretch>
            <a:fillRect/>
          </a:stretch>
        </p:blipFill>
        <p:spPr>
          <a:xfrm>
            <a:off x="2674620" y="3707892"/>
            <a:ext cx="192024" cy="192024"/>
          </a:xfrm>
          <a:prstGeom prst="rect">
            <a:avLst/>
          </a:prstGeom>
        </p:spPr>
      </p:pic>
      <p:sp>
        <p:nvSpPr>
          <p:cNvPr id="24" name="Text 18"/>
          <p:cNvSpPr txBox="1"/>
          <p:nvPr/>
        </p:nvSpPr>
        <p:spPr>
          <a:xfrm>
            <a:off x="3035808" y="3593592"/>
            <a:ext cx="1353312" cy="438912"/>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Quanto USD</a:t>
            </a:r>
            <a:endParaRPr lang="en-US" sz="1050" dirty="0"/>
          </a:p>
        </p:txBody>
      </p:sp>
      <p:sp>
        <p:nvSpPr>
          <p:cNvPr id="25" name="Text 19"/>
          <p:cNvSpPr txBox="1"/>
          <p:nvPr/>
        </p:nvSpPr>
        <p:spPr>
          <a:xfrm>
            <a:off x="2578608" y="4096512"/>
            <a:ext cx="1783080" cy="502920"/>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Local-market returns, no JPY/TWD/KRW/HKD risk</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17720" y="1143000"/>
          <a:ext cx="4114800" cy="914400"/>
        </p:xfrm>
        <a:graphic>
          <a:graphicData uri="http://schemas.openxmlformats.org/drawingml/2006/table">
            <a:tbl>
              <a:tblPr/>
              <a:tblGrid>
                <a:gridCol w="868680"/>
                <a:gridCol w="868680"/>
                <a:gridCol w="365760"/>
                <a:gridCol w="2011680"/>
              </a:tblGrid>
              <a:tr h="45720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Index</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Bloomberg</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Wt</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AI-stack role / bridge</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45720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Nikkei 225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NKY Index</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00" dirty="0">
                          <a:solidFill>
                            <a:srgbClr val="1F8A7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Traditional Japan Inc. + chip equipment (Tokyo Electron, Advantest)</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45720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TAIEX</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TWSE Index</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00" dirty="0">
                          <a:solidFill>
                            <a:srgbClr val="1F8A7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Foundry and AI servers (TSMC, Hon Hai, MediaTek)</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KOSPI 200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KOSPI2 Index</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00" dirty="0">
                          <a:solidFill>
                            <a:srgbClr val="1F8A7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Memory / HBM (SK hynix, Samsung Electronics)</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45720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Hang Seng TECH</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HSTECH Index</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00" dirty="0">
                          <a:solidFill>
                            <a:srgbClr val="1F8A70"/>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00" dirty="0">
                          <a:solidFill>
                            <a:srgbClr val="1A2230"/>
                          </a:solidFill>
                          <a:latin typeface="Calibri" pitchFamily="34" charset="0"/>
                          <a:ea typeface="Calibri" pitchFamily="34" charset="-122"/>
                          <a:cs typeface="Calibri" pitchFamily="34" charset="-120"/>
                        </a:rPr>
                        <a:t>Platforms and AI apps (Tencent, Alibaba, Xiaomi)</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27" name="Shape 20"/>
          <p:cNvSpPr/>
          <p:nvPr/>
        </p:nvSpPr>
        <p:spPr>
          <a:xfrm>
            <a:off x="4617720" y="3611880"/>
            <a:ext cx="4114800" cy="1097280"/>
          </a:xfrm>
          <a:prstGeom prst="roundRect">
            <a:avLst>
              <a:gd name="adj" fmla="val 5000"/>
            </a:avLst>
          </a:prstGeom>
          <a:solidFill>
            <a:srgbClr val="F6ECD3"/>
          </a:solidFill>
          <a:ln w="6350">
            <a:solidFill>
              <a:srgbClr val="F6ECD3"/>
            </a:solidFill>
            <a:prstDash val="solid"/>
          </a:ln>
        </p:spPr>
      </p:sp>
      <p:sp>
        <p:nvSpPr>
          <p:cNvPr id="28" name="Text 21"/>
          <p:cNvSpPr txBox="1"/>
          <p:nvPr/>
        </p:nvSpPr>
        <p:spPr>
          <a:xfrm>
            <a:off x="4736592" y="3630168"/>
            <a:ext cx="3886200" cy="1060704"/>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Why these four: </a:t>
            </a:r>
            <a:pPr indent="0" marL="0">
              <a:buNone/>
            </a:pPr>
            <a:r>
              <a:rPr lang="en-US" sz="950" dirty="0">
                <a:solidFill>
                  <a:srgbClr val="1A2230"/>
                </a:solidFill>
                <a:latin typeface="Calibri" pitchFamily="34" charset="0"/>
                <a:ea typeface="Calibri" pitchFamily="34" charset="-122"/>
                <a:cs typeface="Calibri" pitchFamily="34" charset="-120"/>
              </a:rPr>
              <a:t>three traditional national benchmarks now driven by tech, plus one pure new-economy index. That is the bridge the family asked for. All four have deep listed futures and options, so Natixis can hedge at low cost. Equal weight keeps any one geopolitical risk (Taiwan, China regulation) to 25%.</a:t>
            </a:r>
            <a:endParaRPr lang="en-US" sz="950" dirty="0"/>
          </a:p>
        </p:txBody>
      </p:sp>
      <p:sp>
        <p:nvSpPr>
          <p:cNvPr id="29" name="Text 22"/>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Constituent examples are indicative top weights; confirm with MEMB &lt;GO&gt; on Bloomberg. Price-return indices; basket performance = Σ 25% × S(t)/S(0).</a:t>
            </a:r>
            <a:endParaRPr lang="en-US" sz="750" dirty="0"/>
          </a:p>
        </p:txBody>
      </p:sp>
      <p:sp>
        <p:nvSpPr>
          <p:cNvPr id="30" name="Text 23"/>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How the note works</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Key terms and redemption logic</a:t>
            </a:r>
            <a:endParaRPr lang="en-US" sz="1200" dirty="0"/>
          </a:p>
        </p:txBody>
      </p:sp>
      <p:sp>
        <p:nvSpPr>
          <p:cNvPr id="4" name="Shape 2"/>
          <p:cNvSpPr/>
          <p:nvPr/>
        </p:nvSpPr>
        <p:spPr>
          <a:xfrm>
            <a:off x="411480" y="1097280"/>
            <a:ext cx="3566160" cy="3611880"/>
          </a:xfrm>
          <a:prstGeom prst="roundRect">
            <a:avLst>
              <a:gd name="adj" fmla="val 1538"/>
            </a:avLst>
          </a:prstGeom>
          <a:solidFill>
            <a:srgbClr val="FFFFFF"/>
          </a:solidFill>
          <a:ln w="12700">
            <a:solidFill>
              <a:srgbClr val="D3E0DB"/>
            </a:solidFill>
            <a:prstDash val="solid"/>
          </a:ln>
        </p:spPr>
      </p:sp>
      <p:sp>
        <p:nvSpPr>
          <p:cNvPr id="5" name="Text 3"/>
          <p:cNvSpPr txBox="1"/>
          <p:nvPr/>
        </p:nvSpPr>
        <p:spPr>
          <a:xfrm>
            <a:off x="548640" y="1161288"/>
            <a:ext cx="3291840" cy="274320"/>
          </a:xfrm>
          <a:prstGeom prst="rect">
            <a:avLst/>
          </a:prstGeom>
          <a:noFill/>
          <a:ln/>
        </p:spPr>
        <p:txBody>
          <a:bodyPr wrap="square" lIns="0" tIns="0" rIns="0" bIns="0" rtlCol="0" anchor="ctr"/>
          <a:lstStyle/>
          <a:p>
            <a:pPr indent="0" marL="0">
              <a:buNone/>
            </a:pPr>
            <a:r>
              <a:rPr lang="en-US" sz="1300" b="1" dirty="0">
                <a:solidFill>
                  <a:srgbClr val="0E2238"/>
                </a:solidFill>
                <a:latin typeface="Cambria" pitchFamily="34" charset="0"/>
                <a:ea typeface="Cambria" pitchFamily="34" charset="-122"/>
                <a:cs typeface="Cambria" pitchFamily="34" charset="-120"/>
              </a:rPr>
              <a:t>Key terms</a:t>
            </a:r>
            <a:endParaRPr lang="en-US" sz="1300" dirty="0"/>
          </a:p>
        </p:txBody>
      </p:sp>
      <p:sp>
        <p:nvSpPr>
          <p:cNvPr id="6" name="Text 4"/>
          <p:cNvSpPr txBox="1"/>
          <p:nvPr/>
        </p:nvSpPr>
        <p:spPr>
          <a:xfrm>
            <a:off x="548640" y="148132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Issuer</a:t>
            </a:r>
            <a:endParaRPr lang="en-US" sz="900" dirty="0"/>
          </a:p>
        </p:txBody>
      </p:sp>
      <p:sp>
        <p:nvSpPr>
          <p:cNvPr id="7" name="Text 5"/>
          <p:cNvSpPr txBox="1"/>
          <p:nvPr/>
        </p:nvSpPr>
        <p:spPr>
          <a:xfrm>
            <a:off x="1600200" y="148132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Natixis S.A. (EMTN programme, private placement)</a:t>
            </a:r>
            <a:endParaRPr lang="en-US" sz="900" dirty="0"/>
          </a:p>
        </p:txBody>
      </p:sp>
      <p:sp>
        <p:nvSpPr>
          <p:cNvPr id="8" name="Text 6"/>
          <p:cNvSpPr txBox="1"/>
          <p:nvPr/>
        </p:nvSpPr>
        <p:spPr>
          <a:xfrm>
            <a:off x="548640" y="180136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Notional / price</a:t>
            </a:r>
            <a:endParaRPr lang="en-US" sz="900" dirty="0"/>
          </a:p>
        </p:txBody>
      </p:sp>
      <p:sp>
        <p:nvSpPr>
          <p:cNvPr id="9" name="Text 7"/>
          <p:cNvSpPr txBox="1"/>
          <p:nvPr/>
        </p:nvSpPr>
        <p:spPr>
          <a:xfrm>
            <a:off x="1600200" y="180136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USD 100,000,000 at 100%</a:t>
            </a:r>
            <a:endParaRPr lang="en-US" sz="900" dirty="0"/>
          </a:p>
        </p:txBody>
      </p:sp>
      <p:sp>
        <p:nvSpPr>
          <p:cNvPr id="10" name="Text 8"/>
          <p:cNvSpPr txBox="1"/>
          <p:nvPr/>
        </p:nvSpPr>
        <p:spPr>
          <a:xfrm>
            <a:off x="548640" y="212140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Trade / strike date</a:t>
            </a:r>
            <a:endParaRPr lang="en-US" sz="900" dirty="0"/>
          </a:p>
        </p:txBody>
      </p:sp>
      <p:sp>
        <p:nvSpPr>
          <p:cNvPr id="11" name="Text 9"/>
          <p:cNvSpPr txBox="1"/>
          <p:nvPr/>
        </p:nvSpPr>
        <p:spPr>
          <a:xfrm>
            <a:off x="1600200" y="212140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17 Sep 2026</a:t>
            </a:r>
            <a:endParaRPr lang="en-US" sz="900" dirty="0"/>
          </a:p>
        </p:txBody>
      </p:sp>
      <p:sp>
        <p:nvSpPr>
          <p:cNvPr id="12" name="Text 10"/>
          <p:cNvSpPr txBox="1"/>
          <p:nvPr/>
        </p:nvSpPr>
        <p:spPr>
          <a:xfrm>
            <a:off x="548640" y="244144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Maturity</a:t>
            </a:r>
            <a:endParaRPr lang="en-US" sz="900" dirty="0"/>
          </a:p>
        </p:txBody>
      </p:sp>
      <p:sp>
        <p:nvSpPr>
          <p:cNvPr id="13" name="Text 11"/>
          <p:cNvSpPr txBox="1"/>
          <p:nvPr/>
        </p:nvSpPr>
        <p:spPr>
          <a:xfrm>
            <a:off x="1600200" y="244144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17 Sep 2033 (7 years)</a:t>
            </a:r>
            <a:endParaRPr lang="en-US" sz="900" dirty="0"/>
          </a:p>
        </p:txBody>
      </p:sp>
      <p:sp>
        <p:nvSpPr>
          <p:cNvPr id="14" name="Text 12"/>
          <p:cNvSpPr txBox="1"/>
          <p:nvPr/>
        </p:nvSpPr>
        <p:spPr>
          <a:xfrm>
            <a:off x="548640" y="276148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Underlying</a:t>
            </a:r>
            <a:endParaRPr lang="en-US" sz="900" dirty="0"/>
          </a:p>
        </p:txBody>
      </p:sp>
      <p:sp>
        <p:nvSpPr>
          <p:cNvPr id="15" name="Text 13"/>
          <p:cNvSpPr txBox="1"/>
          <p:nvPr/>
        </p:nvSpPr>
        <p:spPr>
          <a:xfrm>
            <a:off x="1600200" y="276148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Equal-weight basket: NKY, TWSE, KOSPI2, HSTECH; quanto USD</a:t>
            </a:r>
            <a:endParaRPr lang="en-US" sz="900" dirty="0"/>
          </a:p>
        </p:txBody>
      </p:sp>
      <p:sp>
        <p:nvSpPr>
          <p:cNvPr id="16" name="Text 14"/>
          <p:cNvSpPr txBox="1"/>
          <p:nvPr/>
        </p:nvSpPr>
        <p:spPr>
          <a:xfrm>
            <a:off x="548640" y="308152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Participation</a:t>
            </a:r>
            <a:endParaRPr lang="en-US" sz="900" dirty="0"/>
          </a:p>
        </p:txBody>
      </p:sp>
      <p:sp>
        <p:nvSpPr>
          <p:cNvPr id="17" name="Text 15"/>
          <p:cNvSpPr txBox="1"/>
          <p:nvPr/>
        </p:nvSpPr>
        <p:spPr>
          <a:xfrm>
            <a:off x="1600200" y="308152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125% of basket gain, uncapped</a:t>
            </a:r>
            <a:endParaRPr lang="en-US" sz="900" dirty="0"/>
          </a:p>
        </p:txBody>
      </p:sp>
      <p:sp>
        <p:nvSpPr>
          <p:cNvPr id="18" name="Text 16"/>
          <p:cNvSpPr txBox="1"/>
          <p:nvPr/>
        </p:nvSpPr>
        <p:spPr>
          <a:xfrm>
            <a:off x="548640" y="340156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Lock-in dates</a:t>
            </a:r>
            <a:endParaRPr lang="en-US" sz="900" dirty="0"/>
          </a:p>
        </p:txBody>
      </p:sp>
      <p:sp>
        <p:nvSpPr>
          <p:cNvPr id="19" name="Text 17"/>
          <p:cNvSpPr txBox="1"/>
          <p:nvPr/>
        </p:nvSpPr>
        <p:spPr>
          <a:xfrm>
            <a:off x="1600200" y="340156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Annually, 17 Sep 2027 to 2032 (6 dates)</a:t>
            </a:r>
            <a:endParaRPr lang="en-US" sz="900" dirty="0"/>
          </a:p>
        </p:txBody>
      </p:sp>
      <p:sp>
        <p:nvSpPr>
          <p:cNvPr id="20" name="Text 18"/>
          <p:cNvSpPr txBox="1"/>
          <p:nvPr/>
        </p:nvSpPr>
        <p:spPr>
          <a:xfrm>
            <a:off x="548640" y="372160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Lock-in ladder</a:t>
            </a:r>
            <a:endParaRPr lang="en-US" sz="900" dirty="0"/>
          </a:p>
        </p:txBody>
      </p:sp>
      <p:sp>
        <p:nvSpPr>
          <p:cNvPr id="21" name="Text 19"/>
          <p:cNvSpPr txBox="1"/>
          <p:nvPr/>
        </p:nvSpPr>
        <p:spPr>
          <a:xfrm>
            <a:off x="1600200" y="372160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Basket ≥130% → floor 115%; ≥160% → 130%; ≥200% → 150%</a:t>
            </a:r>
            <a:endParaRPr lang="en-US" sz="900" dirty="0"/>
          </a:p>
        </p:txBody>
      </p:sp>
      <p:sp>
        <p:nvSpPr>
          <p:cNvPr id="22" name="Text 20"/>
          <p:cNvSpPr txBox="1"/>
          <p:nvPr/>
        </p:nvSpPr>
        <p:spPr>
          <a:xfrm>
            <a:off x="548640" y="404164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Redemption</a:t>
            </a:r>
            <a:endParaRPr lang="en-US" sz="900" dirty="0"/>
          </a:p>
        </p:txBody>
      </p:sp>
      <p:sp>
        <p:nvSpPr>
          <p:cNvPr id="23" name="Text 21"/>
          <p:cNvSpPr txBox="1"/>
          <p:nvPr/>
        </p:nvSpPr>
        <p:spPr>
          <a:xfrm>
            <a:off x="1600200" y="404164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max[ Locked floor ; 100% + 125% × max(0, Basket_final − 100%) ]</a:t>
            </a:r>
            <a:endParaRPr lang="en-US" sz="900" dirty="0"/>
          </a:p>
        </p:txBody>
      </p:sp>
      <p:sp>
        <p:nvSpPr>
          <p:cNvPr id="24" name="Text 22"/>
          <p:cNvSpPr txBox="1"/>
          <p:nvPr/>
        </p:nvSpPr>
        <p:spPr>
          <a:xfrm>
            <a:off x="548640" y="4361688"/>
            <a:ext cx="1051560" cy="301752"/>
          </a:xfrm>
          <a:prstGeom prst="rect">
            <a:avLst/>
          </a:prstGeom>
          <a:noFill/>
          <a:ln/>
        </p:spPr>
        <p:txBody>
          <a:bodyPr wrap="square" lIns="0" tIns="0" rIns="0" bIns="0" rtlCol="0" anchor="ctr"/>
          <a:lstStyle/>
          <a:p>
            <a:pPr indent="0" marL="0">
              <a:buNone/>
            </a:pPr>
            <a:r>
              <a:rPr lang="en-US" sz="900" b="1" dirty="0">
                <a:solidFill>
                  <a:srgbClr val="1F8A70"/>
                </a:solidFill>
                <a:latin typeface="Calibri" pitchFamily="34" charset="0"/>
                <a:ea typeface="Calibri" pitchFamily="34" charset="-122"/>
                <a:cs typeface="Calibri" pitchFamily="34" charset="-120"/>
              </a:rPr>
              <a:t>Liquidity</a:t>
            </a:r>
            <a:endParaRPr lang="en-US" sz="900" dirty="0"/>
          </a:p>
        </p:txBody>
      </p:sp>
      <p:sp>
        <p:nvSpPr>
          <p:cNvPr id="25" name="Text 23"/>
          <p:cNvSpPr txBox="1"/>
          <p:nvPr/>
        </p:nvSpPr>
        <p:spPr>
          <a:xfrm>
            <a:off x="1600200" y="4361688"/>
            <a:ext cx="2286000" cy="301752"/>
          </a:xfrm>
          <a:prstGeom prst="rect">
            <a:avLst/>
          </a:prstGeom>
          <a:noFill/>
          <a:ln/>
        </p:spPr>
        <p:txBody>
          <a:bodyPr wrap="square" lIns="0" tIns="0" rIns="0" bIns="0" rtlCol="0" anchor="ctr"/>
          <a:lstStyle/>
          <a:p>
            <a:pPr indent="0" marL="0">
              <a:buNone/>
            </a:pPr>
            <a:r>
              <a:rPr lang="en-US" sz="900" dirty="0">
                <a:solidFill>
                  <a:srgbClr val="1A2230"/>
                </a:solidFill>
                <a:latin typeface="Calibri" pitchFamily="34" charset="0"/>
                <a:ea typeface="Calibri" pitchFamily="34" charset="-122"/>
                <a:cs typeface="Calibri" pitchFamily="34" charset="-120"/>
              </a:rPr>
              <a:t>Natixis indicative secondary bid, daily</a:t>
            </a:r>
            <a:endParaRPr lang="en-US" sz="900" dirty="0"/>
          </a:p>
        </p:txBody>
      </p:sp>
      <p:sp>
        <p:nvSpPr>
          <p:cNvPr id="26" name="Text 24"/>
          <p:cNvSpPr txBox="1"/>
          <p:nvPr/>
        </p:nvSpPr>
        <p:spPr>
          <a:xfrm>
            <a:off x="4206240" y="1097280"/>
            <a:ext cx="2743200" cy="256032"/>
          </a:xfrm>
          <a:prstGeom prst="rect">
            <a:avLst/>
          </a:prstGeom>
          <a:noFill/>
          <a:ln/>
        </p:spPr>
        <p:txBody>
          <a:bodyPr wrap="square" lIns="0" tIns="0" rIns="0" bIns="0" rtlCol="0" anchor="ctr"/>
          <a:lstStyle/>
          <a:p>
            <a:pPr indent="0" marL="0">
              <a:buNone/>
            </a:pPr>
            <a:r>
              <a:rPr lang="en-US" sz="1000" b="1" dirty="0">
                <a:solidFill>
                  <a:srgbClr val="C99A2E"/>
                </a:solidFill>
                <a:latin typeface="Calibri" pitchFamily="34" charset="0"/>
                <a:ea typeface="Calibri" pitchFamily="34" charset="-122"/>
                <a:cs typeface="Calibri" pitchFamily="34" charset="-120"/>
              </a:rPr>
              <a:t>Each anniversary, years 1–6</a:t>
            </a:r>
            <a:endParaRPr lang="en-US" sz="1000" dirty="0"/>
          </a:p>
        </p:txBody>
      </p:sp>
      <p:sp>
        <p:nvSpPr>
          <p:cNvPr id="27" name="Shape 25"/>
          <p:cNvSpPr/>
          <p:nvPr/>
        </p:nvSpPr>
        <p:spPr>
          <a:xfrm>
            <a:off x="4206240" y="1371600"/>
            <a:ext cx="2331720" cy="658368"/>
          </a:xfrm>
          <a:prstGeom prst="roundRect">
            <a:avLst>
              <a:gd name="adj" fmla="val 8333"/>
            </a:avLst>
          </a:prstGeom>
          <a:solidFill>
            <a:srgbClr val="E8F3EF"/>
          </a:solidFill>
          <a:ln w="12700">
            <a:solidFill>
              <a:srgbClr val="E8F3EF"/>
            </a:solidFill>
            <a:prstDash val="solid"/>
          </a:ln>
        </p:spPr>
      </p:sp>
      <p:sp>
        <p:nvSpPr>
          <p:cNvPr id="28" name="Text 26"/>
          <p:cNvSpPr txBox="1"/>
          <p:nvPr/>
        </p:nvSpPr>
        <p:spPr>
          <a:xfrm>
            <a:off x="4279392" y="1371600"/>
            <a:ext cx="2185416" cy="658368"/>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Basket at a new lock-in rung?</a:t>
            </a:r>
            <a:endParaRPr lang="en-US" sz="1000" dirty="0"/>
          </a:p>
          <a:p>
            <a:pPr algn="ctr" indent="0" marL="0">
              <a:buNone/>
            </a:pPr>
            <a:r>
              <a:rPr lang="en-US" sz="1000" b="1" dirty="0">
                <a:solidFill>
                  <a:srgbClr val="0E2238"/>
                </a:solidFill>
                <a:latin typeface="Calibri" pitchFamily="34" charset="0"/>
                <a:ea typeface="Calibri" pitchFamily="34" charset="-122"/>
                <a:cs typeface="Calibri" pitchFamily="34" charset="-120"/>
              </a:rPr>
              <a:t>(≥130%, ≥160%, ≥200%)</a:t>
            </a:r>
            <a:endParaRPr lang="en-US" sz="1000" dirty="0"/>
          </a:p>
        </p:txBody>
      </p:sp>
      <p:sp>
        <p:nvSpPr>
          <p:cNvPr id="29" name="Shape 27"/>
          <p:cNvSpPr/>
          <p:nvPr/>
        </p:nvSpPr>
        <p:spPr>
          <a:xfrm>
            <a:off x="6949440" y="1371600"/>
            <a:ext cx="1783080" cy="658368"/>
          </a:xfrm>
          <a:prstGeom prst="roundRect">
            <a:avLst>
              <a:gd name="adj" fmla="val 8333"/>
            </a:avLst>
          </a:prstGeom>
          <a:solidFill>
            <a:srgbClr val="F6ECD3"/>
          </a:solidFill>
          <a:ln w="12700">
            <a:solidFill>
              <a:srgbClr val="F6ECD3"/>
            </a:solidFill>
            <a:prstDash val="solid"/>
          </a:ln>
        </p:spPr>
      </p:sp>
      <p:sp>
        <p:nvSpPr>
          <p:cNvPr id="30" name="Text 28"/>
          <p:cNvSpPr txBox="1"/>
          <p:nvPr/>
        </p:nvSpPr>
        <p:spPr>
          <a:xfrm>
            <a:off x="7022592" y="1371600"/>
            <a:ext cx="1636776" cy="658368"/>
          </a:xfrm>
          <a:prstGeom prst="rect">
            <a:avLst/>
          </a:prstGeom>
          <a:noFill/>
          <a:ln/>
        </p:spPr>
        <p:txBody>
          <a:bodyPr wrap="square" lIns="0" tIns="0" rIns="0" bIns="0" rtlCol="0" anchor="ctr"/>
          <a:lstStyle/>
          <a:p>
            <a:pPr algn="ctr" indent="0" marL="0">
              <a:buNone/>
            </a:pPr>
            <a:r>
              <a:rPr lang="en-US" sz="1000" b="1" dirty="0">
                <a:solidFill>
                  <a:srgbClr val="6E5417"/>
                </a:solidFill>
                <a:latin typeface="Calibri" pitchFamily="34" charset="0"/>
                <a:ea typeface="Calibri" pitchFamily="34" charset="-122"/>
                <a:cs typeface="Calibri" pitchFamily="34" charset="-120"/>
              </a:rPr>
              <a:t>Floor ratchets up to 115 / 130 / 150%, permanently</a:t>
            </a:r>
            <a:endParaRPr lang="en-US" sz="1000" dirty="0"/>
          </a:p>
        </p:txBody>
      </p:sp>
      <p:sp>
        <p:nvSpPr>
          <p:cNvPr id="31" name="Shape 29"/>
          <p:cNvSpPr/>
          <p:nvPr/>
        </p:nvSpPr>
        <p:spPr>
          <a:xfrm>
            <a:off x="6537960" y="1700784"/>
            <a:ext cx="411480" cy="914"/>
          </a:xfrm>
          <a:prstGeom prst="line">
            <a:avLst/>
          </a:prstGeom>
          <a:noFill/>
          <a:ln w="15875">
            <a:solidFill>
              <a:srgbClr val="5E6B78"/>
            </a:solidFill>
            <a:prstDash val="solid"/>
            <a:tailEnd type="triangle"/>
          </a:ln>
        </p:spPr>
      </p:sp>
      <p:sp>
        <p:nvSpPr>
          <p:cNvPr id="32" name="Text 30"/>
          <p:cNvSpPr txBox="1"/>
          <p:nvPr/>
        </p:nvSpPr>
        <p:spPr>
          <a:xfrm>
            <a:off x="6583680" y="1463040"/>
            <a:ext cx="457200" cy="201168"/>
          </a:xfrm>
          <a:prstGeom prst="rect">
            <a:avLst/>
          </a:prstGeom>
          <a:noFill/>
          <a:ln/>
        </p:spPr>
        <p:txBody>
          <a:bodyPr wrap="square" lIns="0" tIns="0" rIns="0" bIns="0" rtlCol="0" anchor="ctr"/>
          <a:lstStyle/>
          <a:p>
            <a:pPr indent="0" marL="0">
              <a:buNone/>
            </a:pPr>
            <a:r>
              <a:rPr lang="en-US" sz="900" b="1" dirty="0">
                <a:solidFill>
                  <a:srgbClr val="5E6B78"/>
                </a:solidFill>
                <a:latin typeface="Calibri" pitchFamily="34" charset="0"/>
                <a:ea typeface="Calibri" pitchFamily="34" charset="-122"/>
                <a:cs typeface="Calibri" pitchFamily="34" charset="-120"/>
              </a:rPr>
              <a:t>Yes</a:t>
            </a:r>
            <a:endParaRPr lang="en-US" sz="900" dirty="0"/>
          </a:p>
        </p:txBody>
      </p:sp>
      <p:sp>
        <p:nvSpPr>
          <p:cNvPr id="33" name="Shape 31"/>
          <p:cNvSpPr/>
          <p:nvPr/>
        </p:nvSpPr>
        <p:spPr>
          <a:xfrm>
            <a:off x="4206240" y="2423160"/>
            <a:ext cx="2331720" cy="566928"/>
          </a:xfrm>
          <a:prstGeom prst="roundRect">
            <a:avLst>
              <a:gd name="adj" fmla="val 9677"/>
            </a:avLst>
          </a:prstGeom>
          <a:solidFill>
            <a:srgbClr val="E8F3EF"/>
          </a:solidFill>
          <a:ln w="12700">
            <a:solidFill>
              <a:srgbClr val="E8F3EF"/>
            </a:solidFill>
            <a:prstDash val="solid"/>
          </a:ln>
        </p:spPr>
      </p:sp>
      <p:sp>
        <p:nvSpPr>
          <p:cNvPr id="34" name="Text 32"/>
          <p:cNvSpPr txBox="1"/>
          <p:nvPr/>
        </p:nvSpPr>
        <p:spPr>
          <a:xfrm>
            <a:off x="4279392" y="2423160"/>
            <a:ext cx="2185416" cy="566928"/>
          </a:xfrm>
          <a:prstGeom prst="rect">
            <a:avLst/>
          </a:prstGeom>
          <a:noFill/>
          <a:ln/>
        </p:spPr>
        <p:txBody>
          <a:bodyPr wrap="square" lIns="0" tIns="0" rIns="0" bIns="0" rtlCol="0" anchor="ctr"/>
          <a:lstStyle/>
          <a:p>
            <a:pPr algn="ctr" indent="0" marL="0">
              <a:buNone/>
            </a:pPr>
            <a:r>
              <a:rPr lang="en-US" sz="1000" dirty="0">
                <a:solidFill>
                  <a:srgbClr val="0E2238"/>
                </a:solidFill>
                <a:latin typeface="Calibri" pitchFamily="34" charset="0"/>
                <a:ea typeface="Calibri" pitchFamily="34" charset="-122"/>
                <a:cs typeface="Calibri" pitchFamily="34" charset="-120"/>
              </a:rPr>
              <a:t>Keep current floor (starts at 100%)</a:t>
            </a:r>
            <a:endParaRPr lang="en-US" sz="1000" dirty="0"/>
          </a:p>
        </p:txBody>
      </p:sp>
      <p:sp>
        <p:nvSpPr>
          <p:cNvPr id="35" name="Shape 33"/>
          <p:cNvSpPr/>
          <p:nvPr/>
        </p:nvSpPr>
        <p:spPr>
          <a:xfrm>
            <a:off x="5372100" y="2029968"/>
            <a:ext cx="914" cy="393192"/>
          </a:xfrm>
          <a:prstGeom prst="line">
            <a:avLst/>
          </a:prstGeom>
          <a:noFill/>
          <a:ln w="15875">
            <a:solidFill>
              <a:srgbClr val="5E6B78"/>
            </a:solidFill>
            <a:prstDash val="solid"/>
            <a:tailEnd type="triangle"/>
          </a:ln>
        </p:spPr>
      </p:sp>
      <p:sp>
        <p:nvSpPr>
          <p:cNvPr id="36" name="Text 34"/>
          <p:cNvSpPr txBox="1"/>
          <p:nvPr/>
        </p:nvSpPr>
        <p:spPr>
          <a:xfrm>
            <a:off x="5440680" y="2121408"/>
            <a:ext cx="457200" cy="201168"/>
          </a:xfrm>
          <a:prstGeom prst="rect">
            <a:avLst/>
          </a:prstGeom>
          <a:noFill/>
          <a:ln/>
        </p:spPr>
        <p:txBody>
          <a:bodyPr wrap="square" lIns="0" tIns="0" rIns="0" bIns="0" rtlCol="0" anchor="ctr"/>
          <a:lstStyle/>
          <a:p>
            <a:pPr indent="0" marL="0">
              <a:buNone/>
            </a:pPr>
            <a:r>
              <a:rPr lang="en-US" sz="900" b="1" dirty="0">
                <a:solidFill>
                  <a:srgbClr val="5E6B78"/>
                </a:solidFill>
                <a:latin typeface="Calibri" pitchFamily="34" charset="0"/>
                <a:ea typeface="Calibri" pitchFamily="34" charset="-122"/>
                <a:cs typeface="Calibri" pitchFamily="34" charset="-120"/>
              </a:rPr>
              <a:t>No</a:t>
            </a:r>
            <a:endParaRPr lang="en-US" sz="900" dirty="0"/>
          </a:p>
        </p:txBody>
      </p:sp>
      <p:sp>
        <p:nvSpPr>
          <p:cNvPr id="37" name="Text 35"/>
          <p:cNvSpPr txBox="1"/>
          <p:nvPr/>
        </p:nvSpPr>
        <p:spPr>
          <a:xfrm>
            <a:off x="4206240" y="3127248"/>
            <a:ext cx="1097280" cy="256032"/>
          </a:xfrm>
          <a:prstGeom prst="rect">
            <a:avLst/>
          </a:prstGeom>
          <a:noFill/>
          <a:ln/>
        </p:spPr>
        <p:txBody>
          <a:bodyPr wrap="square" lIns="0" tIns="0" rIns="0" bIns="0" rtlCol="0" anchor="ctr"/>
          <a:lstStyle/>
          <a:p>
            <a:pPr indent="0" marL="0">
              <a:buNone/>
            </a:pPr>
            <a:r>
              <a:rPr lang="en-US" sz="1000" b="1" dirty="0">
                <a:solidFill>
                  <a:srgbClr val="1F8A70"/>
                </a:solidFill>
                <a:latin typeface="Calibri" pitchFamily="34" charset="0"/>
                <a:ea typeface="Calibri" pitchFamily="34" charset="-122"/>
                <a:cs typeface="Calibri" pitchFamily="34" charset="-120"/>
              </a:rPr>
              <a:t>At maturity (2033)</a:t>
            </a:r>
            <a:endParaRPr lang="en-US" sz="1000" dirty="0"/>
          </a:p>
        </p:txBody>
      </p:sp>
      <p:sp>
        <p:nvSpPr>
          <p:cNvPr id="38" name="Shape 36"/>
          <p:cNvSpPr/>
          <p:nvPr/>
        </p:nvSpPr>
        <p:spPr>
          <a:xfrm>
            <a:off x="4206240" y="3401568"/>
            <a:ext cx="2331720" cy="658368"/>
          </a:xfrm>
          <a:prstGeom prst="roundRect">
            <a:avLst>
              <a:gd name="adj" fmla="val 8333"/>
            </a:avLst>
          </a:prstGeom>
          <a:solidFill>
            <a:srgbClr val="E8F3EF"/>
          </a:solidFill>
          <a:ln w="12700">
            <a:solidFill>
              <a:srgbClr val="E8F3EF"/>
            </a:solidFill>
            <a:prstDash val="solid"/>
          </a:ln>
        </p:spPr>
      </p:sp>
      <p:sp>
        <p:nvSpPr>
          <p:cNvPr id="39" name="Text 37"/>
          <p:cNvSpPr txBox="1"/>
          <p:nvPr/>
        </p:nvSpPr>
        <p:spPr>
          <a:xfrm>
            <a:off x="4279392" y="3401568"/>
            <a:ext cx="2185416" cy="658368"/>
          </a:xfrm>
          <a:prstGeom prst="rect">
            <a:avLst/>
          </a:prstGeom>
          <a:noFill/>
          <a:ln/>
        </p:spPr>
        <p:txBody>
          <a:bodyPr wrap="square" lIns="0" tIns="0" rIns="0" bIns="0" rtlCol="0" anchor="ctr"/>
          <a:lstStyle/>
          <a:p>
            <a:pPr algn="ctr" indent="0" marL="0">
              <a:buNone/>
            </a:pPr>
            <a:r>
              <a:rPr lang="en-US" sz="1000" b="1" dirty="0">
                <a:solidFill>
                  <a:srgbClr val="0E2238"/>
                </a:solidFill>
                <a:latin typeface="Calibri" pitchFamily="34" charset="0"/>
                <a:ea typeface="Calibri" pitchFamily="34" charset="-122"/>
                <a:cs typeface="Calibri" pitchFamily="34" charset="-120"/>
              </a:rPr>
              <a:t>Basket final above 100%?</a:t>
            </a:r>
            <a:endParaRPr lang="en-US" sz="1000" dirty="0"/>
          </a:p>
        </p:txBody>
      </p:sp>
      <p:sp>
        <p:nvSpPr>
          <p:cNvPr id="40" name="Shape 38"/>
          <p:cNvSpPr/>
          <p:nvPr/>
        </p:nvSpPr>
        <p:spPr>
          <a:xfrm>
            <a:off x="5372100" y="2990088"/>
            <a:ext cx="914" cy="411480"/>
          </a:xfrm>
          <a:prstGeom prst="line">
            <a:avLst/>
          </a:prstGeom>
          <a:noFill/>
          <a:ln w="15875">
            <a:solidFill>
              <a:srgbClr val="5E6B78"/>
            </a:solidFill>
            <a:prstDash val="solid"/>
            <a:tailEnd type="triangle"/>
          </a:ln>
        </p:spPr>
      </p:sp>
      <p:sp>
        <p:nvSpPr>
          <p:cNvPr id="41" name="Shape 39"/>
          <p:cNvSpPr/>
          <p:nvPr/>
        </p:nvSpPr>
        <p:spPr>
          <a:xfrm>
            <a:off x="6949440" y="3310128"/>
            <a:ext cx="1783080" cy="566928"/>
          </a:xfrm>
          <a:prstGeom prst="roundRect">
            <a:avLst>
              <a:gd name="adj" fmla="val 9677"/>
            </a:avLst>
          </a:prstGeom>
          <a:solidFill>
            <a:srgbClr val="1F8A70"/>
          </a:solidFill>
          <a:ln w="12700">
            <a:solidFill>
              <a:srgbClr val="1F8A70"/>
            </a:solidFill>
            <a:prstDash val="solid"/>
          </a:ln>
        </p:spPr>
      </p:sp>
      <p:sp>
        <p:nvSpPr>
          <p:cNvPr id="42" name="Text 40"/>
          <p:cNvSpPr txBox="1"/>
          <p:nvPr/>
        </p:nvSpPr>
        <p:spPr>
          <a:xfrm>
            <a:off x="7022592" y="3310128"/>
            <a:ext cx="1636776"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max(Floor; 100% + 125% × gain)</a:t>
            </a:r>
            <a:endParaRPr lang="en-US" sz="1000" dirty="0"/>
          </a:p>
        </p:txBody>
      </p:sp>
      <p:sp>
        <p:nvSpPr>
          <p:cNvPr id="43" name="Shape 41"/>
          <p:cNvSpPr/>
          <p:nvPr/>
        </p:nvSpPr>
        <p:spPr>
          <a:xfrm>
            <a:off x="6537960" y="3593592"/>
            <a:ext cx="411480" cy="914"/>
          </a:xfrm>
          <a:prstGeom prst="line">
            <a:avLst/>
          </a:prstGeom>
          <a:noFill/>
          <a:ln w="15875">
            <a:solidFill>
              <a:srgbClr val="5E6B78"/>
            </a:solidFill>
            <a:prstDash val="solid"/>
            <a:tailEnd type="triangle"/>
          </a:ln>
        </p:spPr>
      </p:sp>
      <p:sp>
        <p:nvSpPr>
          <p:cNvPr id="44" name="Text 42"/>
          <p:cNvSpPr txBox="1"/>
          <p:nvPr/>
        </p:nvSpPr>
        <p:spPr>
          <a:xfrm>
            <a:off x="6583680" y="3355848"/>
            <a:ext cx="457200" cy="201168"/>
          </a:xfrm>
          <a:prstGeom prst="rect">
            <a:avLst/>
          </a:prstGeom>
          <a:noFill/>
          <a:ln/>
        </p:spPr>
        <p:txBody>
          <a:bodyPr wrap="square" lIns="0" tIns="0" rIns="0" bIns="0" rtlCol="0" anchor="ctr"/>
          <a:lstStyle/>
          <a:p>
            <a:pPr indent="0" marL="0">
              <a:buNone/>
            </a:pPr>
            <a:r>
              <a:rPr lang="en-US" sz="900" b="1" dirty="0">
                <a:solidFill>
                  <a:srgbClr val="5E6B78"/>
                </a:solidFill>
                <a:latin typeface="Calibri" pitchFamily="34" charset="0"/>
                <a:ea typeface="Calibri" pitchFamily="34" charset="-122"/>
                <a:cs typeface="Calibri" pitchFamily="34" charset="-120"/>
              </a:rPr>
              <a:t>Yes</a:t>
            </a:r>
            <a:endParaRPr lang="en-US" sz="900" dirty="0"/>
          </a:p>
        </p:txBody>
      </p:sp>
      <p:sp>
        <p:nvSpPr>
          <p:cNvPr id="45" name="Shape 43"/>
          <p:cNvSpPr/>
          <p:nvPr/>
        </p:nvSpPr>
        <p:spPr>
          <a:xfrm>
            <a:off x="6949440" y="4069080"/>
            <a:ext cx="1783080" cy="548640"/>
          </a:xfrm>
          <a:prstGeom prst="roundRect">
            <a:avLst>
              <a:gd name="adj" fmla="val 10000"/>
            </a:avLst>
          </a:prstGeom>
          <a:solidFill>
            <a:srgbClr val="0E2238"/>
          </a:solidFill>
          <a:ln w="12700">
            <a:solidFill>
              <a:srgbClr val="0E2238"/>
            </a:solidFill>
            <a:prstDash val="solid"/>
          </a:ln>
        </p:spPr>
      </p:sp>
      <p:sp>
        <p:nvSpPr>
          <p:cNvPr id="46" name="Text 44"/>
          <p:cNvSpPr txBox="1"/>
          <p:nvPr/>
        </p:nvSpPr>
        <p:spPr>
          <a:xfrm>
            <a:off x="7022592" y="4069080"/>
            <a:ext cx="1636776"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Locked floor (never &lt; 100%)</a:t>
            </a:r>
            <a:endParaRPr lang="en-US" sz="1000" dirty="0"/>
          </a:p>
        </p:txBody>
      </p:sp>
      <p:sp>
        <p:nvSpPr>
          <p:cNvPr id="47" name="Shape 45"/>
          <p:cNvSpPr/>
          <p:nvPr/>
        </p:nvSpPr>
        <p:spPr>
          <a:xfrm>
            <a:off x="5372100" y="4059936"/>
            <a:ext cx="914" cy="283464"/>
          </a:xfrm>
          <a:prstGeom prst="line">
            <a:avLst/>
          </a:prstGeom>
          <a:noFill/>
          <a:ln w="15875">
            <a:solidFill>
              <a:srgbClr val="5E6B78"/>
            </a:solidFill>
            <a:prstDash val="solid"/>
          </a:ln>
        </p:spPr>
      </p:sp>
      <p:sp>
        <p:nvSpPr>
          <p:cNvPr id="48" name="Shape 46"/>
          <p:cNvSpPr/>
          <p:nvPr/>
        </p:nvSpPr>
        <p:spPr>
          <a:xfrm>
            <a:off x="5372100" y="4343400"/>
            <a:ext cx="1577340" cy="914"/>
          </a:xfrm>
          <a:prstGeom prst="line">
            <a:avLst/>
          </a:prstGeom>
          <a:noFill/>
          <a:ln w="15875">
            <a:solidFill>
              <a:srgbClr val="5E6B78"/>
            </a:solidFill>
            <a:prstDash val="solid"/>
            <a:tailEnd type="triangle"/>
          </a:ln>
        </p:spPr>
      </p:sp>
      <p:sp>
        <p:nvSpPr>
          <p:cNvPr id="49" name="Text 47"/>
          <p:cNvSpPr txBox="1"/>
          <p:nvPr/>
        </p:nvSpPr>
        <p:spPr>
          <a:xfrm>
            <a:off x="5486400" y="4114800"/>
            <a:ext cx="457200" cy="201168"/>
          </a:xfrm>
          <a:prstGeom prst="rect">
            <a:avLst/>
          </a:prstGeom>
          <a:noFill/>
          <a:ln/>
        </p:spPr>
        <p:txBody>
          <a:bodyPr wrap="square" lIns="0" tIns="0" rIns="0" bIns="0" rtlCol="0" anchor="ctr"/>
          <a:lstStyle/>
          <a:p>
            <a:pPr indent="0" marL="0">
              <a:buNone/>
            </a:pPr>
            <a:r>
              <a:rPr lang="en-US" sz="900" b="1" dirty="0">
                <a:solidFill>
                  <a:srgbClr val="5E6B78"/>
                </a:solidFill>
                <a:latin typeface="Calibri" pitchFamily="34" charset="0"/>
                <a:ea typeface="Calibri" pitchFamily="34" charset="-122"/>
                <a:cs typeface="Calibri" pitchFamily="34" charset="-120"/>
              </a:rPr>
              <a:t>No</a:t>
            </a:r>
            <a:endParaRPr lang="en-US" sz="900" dirty="0"/>
          </a:p>
        </p:txBody>
      </p:sp>
      <p:sp>
        <p:nvSpPr>
          <p:cNvPr id="50" name="Shape 48"/>
          <p:cNvSpPr/>
          <p:nvPr/>
        </p:nvSpPr>
        <p:spPr>
          <a:xfrm>
            <a:off x="8229600" y="2029968"/>
            <a:ext cx="914" cy="1280160"/>
          </a:xfrm>
          <a:prstGeom prst="line">
            <a:avLst/>
          </a:prstGeom>
          <a:noFill/>
          <a:ln w="15875">
            <a:solidFill>
              <a:srgbClr val="C99A2E"/>
            </a:solidFill>
            <a:prstDash val="dash"/>
            <a:tailEnd type="triangle"/>
          </a:ln>
        </p:spPr>
      </p:sp>
      <p:sp>
        <p:nvSpPr>
          <p:cNvPr id="51" name="Text 49"/>
          <p:cNvSpPr txBox="1"/>
          <p:nvPr/>
        </p:nvSpPr>
        <p:spPr>
          <a:xfrm>
            <a:off x="7360920" y="2514600"/>
            <a:ext cx="822960" cy="457200"/>
          </a:xfrm>
          <a:prstGeom prst="rect">
            <a:avLst/>
          </a:prstGeom>
          <a:noFill/>
          <a:ln/>
        </p:spPr>
        <p:txBody>
          <a:bodyPr wrap="square" lIns="0" tIns="0" rIns="0" bIns="0" rtlCol="0" anchor="ctr"/>
          <a:lstStyle/>
          <a:p>
            <a:pPr algn="r" indent="0" marL="0">
              <a:buNone/>
            </a:pPr>
            <a:r>
              <a:rPr lang="en-US" sz="850" i="1" dirty="0">
                <a:solidFill>
                  <a:srgbClr val="8A6A1E"/>
                </a:solidFill>
                <a:latin typeface="Calibri" pitchFamily="34" charset="0"/>
                <a:ea typeface="Calibri" pitchFamily="34" charset="-122"/>
                <a:cs typeface="Calibri" pitchFamily="34" charset="-120"/>
              </a:rPr>
              <a:t>floor carried to maturity</a:t>
            </a:r>
            <a:endParaRPr lang="en-US" sz="850" dirty="0"/>
          </a:p>
        </p:txBody>
      </p:sp>
      <p:sp>
        <p:nvSpPr>
          <p:cNvPr id="52" name="Text 50"/>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Payoff and scenario analysis</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Upside is uncapped; every outcome ends at or above 100%, and a boom that later busts still banks gains</a:t>
            </a:r>
            <a:endParaRPr lang="en-US" sz="1200" dirty="0"/>
          </a:p>
        </p:txBody>
      </p:sp>
      <p:graphicFrame>
        <p:nvGraphicFramePr>
          <p:cNvPr id="4" name="Chart 0" descr=""/>
          <p:cNvGraphicFramePr/>
          <p:nvPr/>
        </p:nvGraphicFramePr>
        <p:xfrm>
          <a:off x="320040" y="1097280"/>
          <a:ext cx="420624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709160" y="1143000"/>
          <a:ext cx="4023360" cy="914400"/>
        </p:xfrm>
        <a:graphic>
          <a:graphicData uri="http://schemas.openxmlformats.org/drawingml/2006/table">
            <a:tbl>
              <a:tblPr/>
              <a:tblGrid>
                <a:gridCol w="1737360"/>
                <a:gridCol w="621792"/>
                <a:gridCol w="502920"/>
                <a:gridCol w="566928"/>
                <a:gridCol w="594360"/>
              </a:tblGrid>
              <a:tr h="36576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Scenario (7 years)</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Basket end</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Peak</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Note</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Direct*</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36576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Steady AI build-out (+7% p.a. each)</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161%</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b="1" dirty="0">
                          <a:solidFill>
                            <a:srgbClr val="0E2238"/>
                          </a:solidFill>
                          <a:latin typeface="Calibri" pitchFamily="34" charset="0"/>
                          <a:ea typeface="Calibri" pitchFamily="34" charset="-122"/>
                          <a:cs typeface="Calibri" pitchFamily="34" charset="-120"/>
                        </a:rPr>
                        <a:t>176%</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182%</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36576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AI boom then bust (2000-style)</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92%</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168%</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F8A70"/>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104%</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Lost decade (Japan 1990s-style)</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b="1" dirty="0">
                          <a:solidFill>
                            <a:srgbClr val="0E2238"/>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102%</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36576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Early crash, slow recovery (2008-style)</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122%</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E2238"/>
                          </a:solidFill>
                          <a:latin typeface="Calibri" pitchFamily="34" charset="0"/>
                          <a:ea typeface="Calibri" pitchFamily="34" charset="-122"/>
                          <a:cs typeface="Calibri" pitchFamily="34" charset="-120"/>
                        </a:rPr>
                        <a:t>138%</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147%</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China tech decoupling</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125%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b="1" dirty="0">
                          <a:solidFill>
                            <a:srgbClr val="0E2238"/>
                          </a:solidFill>
                          <a:latin typeface="Calibri" pitchFamily="34" charset="0"/>
                          <a:ea typeface="Calibri" pitchFamily="34" charset="-122"/>
                          <a:cs typeface="Calibri" pitchFamily="34" charset="-120"/>
                        </a:rPr>
                        <a:t>131%</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141%</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365760">
                <a:tc>
                  <a:txBody>
                    <a:bodyPr/>
                    <a:lstStyle/>
                    <a:p>
                      <a:pPr indent="0" marL="0">
                        <a:buNone/>
                      </a:pPr>
                      <a:r>
                        <a:rPr lang="en-US" sz="900" b="1" dirty="0">
                          <a:solidFill>
                            <a:srgbClr val="1A2230"/>
                          </a:solidFill>
                          <a:latin typeface="Calibri" pitchFamily="34" charset="0"/>
                          <a:ea typeface="Calibri" pitchFamily="34" charset="-122"/>
                          <a:cs typeface="Calibri" pitchFamily="34" charset="-120"/>
                        </a:rPr>
                        <a:t>Taiwan Strait shock in year 2</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88%</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105%</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F8A7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B5473A"/>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6" name="Shape 2"/>
          <p:cNvSpPr/>
          <p:nvPr/>
        </p:nvSpPr>
        <p:spPr>
          <a:xfrm>
            <a:off x="4709160" y="3840480"/>
            <a:ext cx="4023360" cy="868680"/>
          </a:xfrm>
          <a:prstGeom prst="roundRect">
            <a:avLst>
              <a:gd name="adj" fmla="val 6316"/>
            </a:avLst>
          </a:prstGeom>
          <a:solidFill>
            <a:srgbClr val="F6ECD3"/>
          </a:solidFill>
          <a:ln w="6350">
            <a:solidFill>
              <a:srgbClr val="F6ECD3"/>
            </a:solidFill>
            <a:prstDash val="solid"/>
          </a:ln>
        </p:spPr>
      </p:sp>
      <p:sp>
        <p:nvSpPr>
          <p:cNvPr id="7" name="Text 3"/>
          <p:cNvSpPr txBox="1"/>
          <p:nvPr/>
        </p:nvSpPr>
        <p:spPr>
          <a:xfrm>
            <a:off x="4828032" y="3858768"/>
            <a:ext cx="3794760" cy="832104"/>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Read-across: </a:t>
            </a:r>
            <a:pPr indent="0" marL="0">
              <a:buNone/>
            </a:pPr>
            <a:r>
              <a:rPr lang="en-US" sz="950" dirty="0">
                <a:solidFill>
                  <a:srgbClr val="1A2230"/>
                </a:solidFill>
                <a:latin typeface="Calibri" pitchFamily="34" charset="0"/>
                <a:ea typeface="Calibri" pitchFamily="34" charset="-122"/>
                <a:cs typeface="Calibri" pitchFamily="34" charset="-120"/>
              </a:rPr>
              <a:t>the note gives up some upside in steady growth (no dividends) in exchange for a 130% exit in a boom-and-bust and 100% in a crisis. That is the trade-off a legacy portfolio should make.</a:t>
            </a:r>
            <a:endParaRPr lang="en-US" sz="950" dirty="0"/>
          </a:p>
        </p:txBody>
      </p:sp>
      <p:sp>
        <p:nvSpPr>
          <p:cNvPr id="8" name="Text 4"/>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*Direct = equal-weight basket bought outright, including ~1.8% p.a. dividends. Scenarios are stylised annual paths (pricing/scenario2/analysis.py).</a:t>
            </a:r>
            <a:endParaRPr lang="en-US" sz="750" dirty="0"/>
          </a:p>
        </p:txBody>
      </p:sp>
      <p:sp>
        <p:nvSpPr>
          <p:cNvPr id="9" name="Text 5"/>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Pricing: high USD rates fund an option budget of about 30%</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Where the USD 100 goes, and the dials the family can turn</a:t>
            </a:r>
            <a:endParaRPr lang="en-US" sz="1200" dirty="0"/>
          </a:p>
        </p:txBody>
      </p:sp>
      <p:graphicFrame>
        <p:nvGraphicFramePr>
          <p:cNvPr id="4" name="Chart 0" descr=""/>
          <p:cNvGraphicFramePr/>
          <p:nvPr/>
        </p:nvGraphicFramePr>
        <p:xfrm>
          <a:off x="320040" y="1097280"/>
          <a:ext cx="2743200" cy="3611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3246120" y="1115568"/>
            <a:ext cx="2926080" cy="274320"/>
          </a:xfrm>
          <a:prstGeom prst="rect">
            <a:avLst/>
          </a:prstGeom>
          <a:noFill/>
          <a:ln/>
        </p:spPr>
        <p:txBody>
          <a:bodyPr wrap="square" lIns="0" tIns="0" rIns="0" bIns="0" rtlCol="0" anchor="ctr"/>
          <a:lstStyle/>
          <a:p>
            <a:pPr indent="0" marL="0">
              <a:buNone/>
            </a:pPr>
            <a:r>
              <a:rPr lang="en-US" sz="1200" b="1" dirty="0">
                <a:solidFill>
                  <a:srgbClr val="0E2238"/>
                </a:solidFill>
                <a:latin typeface="Cambria" pitchFamily="34" charset="0"/>
                <a:ea typeface="Cambria" pitchFamily="34" charset="-122"/>
                <a:cs typeface="Cambria" pitchFamily="34" charset="-120"/>
              </a:rPr>
              <a:t>Structuring dials (fair participation)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46120" y="1435608"/>
          <a:ext cx="2834640" cy="914400"/>
        </p:xfrm>
        <a:graphic>
          <a:graphicData uri="http://schemas.openxmlformats.org/drawingml/2006/table">
            <a:tbl>
              <a:tblPr/>
              <a:tblGrid>
                <a:gridCol w="548640"/>
                <a:gridCol w="731520"/>
                <a:gridCol w="731520"/>
                <a:gridCol w="822960"/>
              </a:tblGrid>
              <a:tr h="24688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Tenor</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Funding</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Budget</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Particip.</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246888">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3Y</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5.52%</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13.8%</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86%</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246888">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5Y</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5.69%</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22.4%</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111%</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246888">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7Y</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5.75%</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29.9%</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132%</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r>
              <a:tr h="246888">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10Y</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5.82%</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39.7%</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160%</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3246120" y="2807208"/>
          <a:ext cx="2834640" cy="914400"/>
        </p:xfrm>
        <a:graphic>
          <a:graphicData uri="http://schemas.openxmlformats.org/drawingml/2006/table">
            <a:tbl>
              <a:tblPr/>
              <a:tblGrid>
                <a:gridCol w="1005840"/>
                <a:gridCol w="914400"/>
                <a:gridCol w="914400"/>
              </a:tblGrid>
              <a:tr h="24688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Protection</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Budget</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Particip.</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246888">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29.9%</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c>
                  <a:txBody>
                    <a:bodyPr/>
                    <a:lstStyle/>
                    <a:p>
                      <a:pPr algn="ctr" indent="0" marL="0">
                        <a:buNone/>
                      </a:pPr>
                      <a:r>
                        <a:rPr lang="en-US" sz="900" b="1" dirty="0">
                          <a:solidFill>
                            <a:srgbClr val="1A2230"/>
                          </a:solidFill>
                          <a:latin typeface="Calibri" pitchFamily="34" charset="0"/>
                          <a:ea typeface="Calibri" pitchFamily="34" charset="-122"/>
                          <a:cs typeface="Calibri" pitchFamily="34" charset="-120"/>
                        </a:rPr>
                        <a:t>132%</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6ECD3"/>
                    </a:solidFill>
                  </a:tcPr>
                </a:tc>
              </a:tr>
              <a:tr h="246888">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33.3%</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146%</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246888">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36.7%</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2230"/>
                          </a:solidFill>
                          <a:latin typeface="Calibri" pitchFamily="34" charset="0"/>
                          <a:ea typeface="Calibri" pitchFamily="34" charset="-122"/>
                          <a:cs typeface="Calibri" pitchFamily="34" charset="-120"/>
                        </a:rPr>
                        <a:t>159%</a:t>
                      </a:r>
                      <a:endParaRPr lang="en-US" sz="900" dirty="0">
                        <a:latin typeface="Calibri" charset="0"/>
                        <a:ea typeface="Calibri" charset="0"/>
                        <a:cs typeface="Calibri" charset="0"/>
                      </a:endParaRPr>
                    </a:p>
                  </a:txBody>
                  <a:tcPr marL="27432" marR="27432" marT="27432" marB="27432"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3246120" y="3886200"/>
            <a:ext cx="2834640" cy="822960"/>
          </a:xfrm>
          <a:prstGeom prst="rect">
            <a:avLst/>
          </a:prstGeom>
          <a:noFill/>
          <a:ln/>
        </p:spPr>
        <p:txBody>
          <a:bodyPr wrap="square" lIns="0" tIns="0" rIns="0" bIns="0" rtlCol="0" anchor="t"/>
          <a:lstStyle/>
          <a:p>
            <a:pPr indent="0" marL="0">
              <a:buNone/>
            </a:pPr>
            <a:r>
              <a:rPr lang="en-US" sz="900" b="1" dirty="0">
                <a:solidFill>
                  <a:srgbClr val="0E2238"/>
                </a:solidFill>
                <a:latin typeface="Calibri" pitchFamily="34" charset="0"/>
                <a:ea typeface="Calibri" pitchFamily="34" charset="-122"/>
                <a:cs typeface="Calibri" pitchFamily="34" charset="-120"/>
              </a:rPr>
              <a:t>Why 7Y and 100%: </a:t>
            </a:r>
            <a:pPr indent="0" marL="0">
              <a:buNone/>
            </a:pPr>
            <a:r>
              <a:rPr lang="en-US" sz="900" dirty="0">
                <a:solidFill>
                  <a:srgbClr val="1A2230"/>
                </a:solidFill>
                <a:latin typeface="Calibri" pitchFamily="34" charset="0"/>
                <a:ea typeface="Calibri" pitchFamily="34" charset="-122"/>
                <a:cs typeface="Calibri" pitchFamily="34" charset="-120"/>
              </a:rPr>
              <a:t>5Y buys only 111%; 10Y locks capital beyond one succession cycle. A 90% floor adds 27% participation but breaks the preservation mandate.</a:t>
            </a:r>
            <a:endParaRPr lang="en-US" sz="900" dirty="0"/>
          </a:p>
        </p:txBody>
      </p:sp>
      <p:graphicFrame>
        <p:nvGraphicFramePr>
          <p:cNvPr id="9" name="Chart 1" descr=""/>
          <p:cNvGraphicFramePr/>
          <p:nvPr/>
        </p:nvGraphicFramePr>
        <p:xfrm>
          <a:off x="6217920" y="1097280"/>
          <a:ext cx="2606040" cy="2606040"/>
        </p:xfrm>
        <a:graphic xmlns:a="http://schemas.openxmlformats.org/drawingml/2006/main">
          <a:graphicData uri="http://schemas.openxmlformats.org/drawingml/2006/chart">
            <c:chart xmlns:c="http://schemas.openxmlformats.org/drawingml/2006/chart" r:id="rId2"/>
          </a:graphicData>
        </a:graphic>
      </p:graphicFrame>
      <p:sp>
        <p:nvSpPr>
          <p:cNvPr id="10" name="Shape 4"/>
          <p:cNvSpPr/>
          <p:nvPr/>
        </p:nvSpPr>
        <p:spPr>
          <a:xfrm>
            <a:off x="6263640" y="3794760"/>
            <a:ext cx="2468880" cy="914400"/>
          </a:xfrm>
          <a:prstGeom prst="roundRect">
            <a:avLst>
              <a:gd name="adj" fmla="val 6000"/>
            </a:avLst>
          </a:prstGeom>
          <a:solidFill>
            <a:srgbClr val="E8F3EF"/>
          </a:solidFill>
          <a:ln w="6350">
            <a:solidFill>
              <a:srgbClr val="E8F3EF"/>
            </a:solidFill>
            <a:prstDash val="solid"/>
          </a:ln>
        </p:spPr>
      </p:sp>
      <p:sp>
        <p:nvSpPr>
          <p:cNvPr id="11" name="Text 5"/>
          <p:cNvSpPr txBox="1"/>
          <p:nvPr/>
        </p:nvSpPr>
        <p:spPr>
          <a:xfrm>
            <a:off x="6355080" y="3813048"/>
            <a:ext cx="2286000" cy="877824"/>
          </a:xfrm>
          <a:prstGeom prst="rect">
            <a:avLst/>
          </a:prstGeom>
          <a:noFill/>
          <a:ln/>
        </p:spPr>
        <p:txBody>
          <a:bodyPr wrap="square" lIns="0" tIns="0" rIns="0" bIns="0" rtlCol="0" anchor="ctr"/>
          <a:lstStyle/>
          <a:p>
            <a:pPr indent="0" marL="0">
              <a:buNone/>
            </a:pPr>
            <a:r>
              <a:rPr lang="en-US" sz="850" b="1" dirty="0">
                <a:solidFill>
                  <a:srgbClr val="0E2238"/>
                </a:solidFill>
                <a:latin typeface="Calibri" pitchFamily="34" charset="0"/>
                <a:ea typeface="Calibri" pitchFamily="34" charset="-122"/>
                <a:cs typeface="Calibri" pitchFamily="34" charset="-120"/>
              </a:rPr>
              <a:t>Design choices tested: </a:t>
            </a:r>
            <a:pPr indent="0" marL="0">
              <a:buNone/>
            </a:pPr>
            <a:r>
              <a:rPr lang="en-US" sz="850" dirty="0">
                <a:solidFill>
                  <a:srgbClr val="1A2230"/>
                </a:solidFill>
                <a:latin typeface="Calibri" pitchFamily="34" charset="0"/>
                <a:ea typeface="Calibri" pitchFamily="34" charset="-122"/>
                <a:cs typeface="Calibri" pitchFamily="34" charset="-120"/>
              </a:rPr>
              <a:t>no lock-in 140%; best-of rainbow 40/30/20/10 only 86%. We quote 125% vs 132% fair; the gap is a model reserve.</a:t>
            </a:r>
            <a:endParaRPr lang="en-US" sz="850" dirty="0"/>
          </a:p>
        </p:txBody>
      </p:sp>
      <p:sp>
        <p:nvSpPr>
          <p:cNvPr id="12" name="Text 6"/>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ZCB at the USD funding grid (linear interpolation, annual comp.). Options: correlated quanto GBM, 200k paths, OIS = funding − 45bp. Inputs in Appendix A1.</a:t>
            </a:r>
            <a:endParaRPr lang="en-US" sz="750" dirty="0"/>
          </a:p>
        </p:txBody>
      </p:sp>
      <p:sp>
        <p:nvSpPr>
          <p:cNvPr id="13" name="Text 7"/>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Back-testing: 100,000 fat-tailed paths over 7 years</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Same median as owning the basket directly, without the left tail</a:t>
            </a:r>
            <a:endParaRPr lang="en-US" sz="1200" dirty="0"/>
          </a:p>
        </p:txBody>
      </p:sp>
      <p:graphicFrame>
        <p:nvGraphicFramePr>
          <p:cNvPr id="4" name="Chart 0" descr=""/>
          <p:cNvGraphicFramePr/>
          <p:nvPr/>
        </p:nvGraphicFramePr>
        <p:xfrm>
          <a:off x="320040" y="1097280"/>
          <a:ext cx="402336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434840" y="1097280"/>
          <a:ext cx="4389120" cy="26517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411480" y="3840480"/>
            <a:ext cx="1572768" cy="868680"/>
          </a:xfrm>
          <a:prstGeom prst="roundRect">
            <a:avLst>
              <a:gd name="adj" fmla="val 6316"/>
            </a:avLst>
          </a:prstGeom>
          <a:solidFill>
            <a:srgbClr val="E8F3EF"/>
          </a:solidFill>
          <a:ln w="6350">
            <a:solidFill>
              <a:srgbClr val="E8F3EF"/>
            </a:solidFill>
            <a:prstDash val="solid"/>
          </a:ln>
        </p:spPr>
      </p:sp>
      <p:sp>
        <p:nvSpPr>
          <p:cNvPr id="7" name="Text 3"/>
          <p:cNvSpPr txBox="1"/>
          <p:nvPr/>
        </p:nvSpPr>
        <p:spPr>
          <a:xfrm>
            <a:off x="484632" y="3877056"/>
            <a:ext cx="1426464" cy="411480"/>
          </a:xfrm>
          <a:prstGeom prst="rect">
            <a:avLst/>
          </a:prstGeom>
          <a:noFill/>
          <a:ln/>
        </p:spPr>
        <p:txBody>
          <a:bodyPr wrap="square" lIns="0" tIns="0" rIns="0" bIns="0" rtlCol="0" anchor="ctr"/>
          <a:lstStyle/>
          <a:p>
            <a:pPr algn="ctr" indent="0" marL="0">
              <a:buNone/>
            </a:pPr>
            <a:r>
              <a:rPr lang="en-US" sz="1700" b="1" dirty="0">
                <a:solidFill>
                  <a:srgbClr val="0E2238"/>
                </a:solidFill>
                <a:latin typeface="Cambria" pitchFamily="34" charset="0"/>
                <a:ea typeface="Cambria" pitchFamily="34" charset="-122"/>
                <a:cs typeface="Cambria" pitchFamily="34" charset="-120"/>
              </a:rPr>
              <a:t>130%</a:t>
            </a:r>
            <a:endParaRPr lang="en-US" sz="1700" dirty="0"/>
          </a:p>
        </p:txBody>
      </p:sp>
      <p:sp>
        <p:nvSpPr>
          <p:cNvPr id="8" name="Text 4"/>
          <p:cNvSpPr txBox="1"/>
          <p:nvPr/>
        </p:nvSpPr>
        <p:spPr>
          <a:xfrm>
            <a:off x="484632" y="4279392"/>
            <a:ext cx="1426464" cy="384048"/>
          </a:xfrm>
          <a:prstGeom prst="rect">
            <a:avLst/>
          </a:prstGeom>
          <a:noFill/>
          <a:ln/>
        </p:spPr>
        <p:txBody>
          <a:bodyPr wrap="square" lIns="0" tIns="0" rIns="0" bIns="0" rtlCol="0" anchor="t"/>
          <a:lstStyle/>
          <a:p>
            <a:pPr algn="ctr" indent="0" marL="0">
              <a:buNone/>
            </a:pPr>
            <a:r>
              <a:rPr lang="en-US" sz="900" dirty="0">
                <a:solidFill>
                  <a:srgbClr val="1A2230"/>
                </a:solidFill>
                <a:latin typeface="Calibri" pitchFamily="34" charset="0"/>
                <a:ea typeface="Calibri" pitchFamily="34" charset="-122"/>
                <a:cs typeface="Calibri" pitchFamily="34" charset="-120"/>
              </a:rPr>
              <a:t>Median redemption</a:t>
            </a:r>
            <a:endParaRPr lang="en-US" sz="900" dirty="0"/>
          </a:p>
        </p:txBody>
      </p:sp>
      <p:sp>
        <p:nvSpPr>
          <p:cNvPr id="9" name="Shape 5"/>
          <p:cNvSpPr/>
          <p:nvPr/>
        </p:nvSpPr>
        <p:spPr>
          <a:xfrm>
            <a:off x="2093976" y="3840480"/>
            <a:ext cx="1572768" cy="868680"/>
          </a:xfrm>
          <a:prstGeom prst="roundRect">
            <a:avLst>
              <a:gd name="adj" fmla="val 6316"/>
            </a:avLst>
          </a:prstGeom>
          <a:solidFill>
            <a:srgbClr val="E8F3EF"/>
          </a:solidFill>
          <a:ln w="6350">
            <a:solidFill>
              <a:srgbClr val="E8F3EF"/>
            </a:solidFill>
            <a:prstDash val="solid"/>
          </a:ln>
        </p:spPr>
      </p:sp>
      <p:sp>
        <p:nvSpPr>
          <p:cNvPr id="10" name="Text 6"/>
          <p:cNvSpPr txBox="1"/>
          <p:nvPr/>
        </p:nvSpPr>
        <p:spPr>
          <a:xfrm>
            <a:off x="2167128" y="3877056"/>
            <a:ext cx="1426464" cy="411480"/>
          </a:xfrm>
          <a:prstGeom prst="rect">
            <a:avLst/>
          </a:prstGeom>
          <a:noFill/>
          <a:ln/>
        </p:spPr>
        <p:txBody>
          <a:bodyPr wrap="square" lIns="0" tIns="0" rIns="0" bIns="0" rtlCol="0" anchor="ctr"/>
          <a:lstStyle/>
          <a:p>
            <a:pPr algn="ctr" indent="0" marL="0">
              <a:buNone/>
            </a:pPr>
            <a:r>
              <a:rPr lang="en-US" sz="1700" b="1" dirty="0">
                <a:solidFill>
                  <a:srgbClr val="1F8A70"/>
                </a:solidFill>
                <a:latin typeface="Cambria" pitchFamily="34" charset="0"/>
                <a:ea typeface="Cambria" pitchFamily="34" charset="-122"/>
                <a:cs typeface="Cambria" pitchFamily="34" charset="-120"/>
              </a:rPr>
              <a:t>6.5%</a:t>
            </a:r>
            <a:endParaRPr lang="en-US" sz="1700" dirty="0"/>
          </a:p>
        </p:txBody>
      </p:sp>
      <p:sp>
        <p:nvSpPr>
          <p:cNvPr id="11" name="Text 7"/>
          <p:cNvSpPr txBox="1"/>
          <p:nvPr/>
        </p:nvSpPr>
        <p:spPr>
          <a:xfrm>
            <a:off x="2167128" y="4279392"/>
            <a:ext cx="1426464" cy="384048"/>
          </a:xfrm>
          <a:prstGeom prst="rect">
            <a:avLst/>
          </a:prstGeom>
          <a:noFill/>
          <a:ln/>
        </p:spPr>
        <p:txBody>
          <a:bodyPr wrap="square" lIns="0" tIns="0" rIns="0" bIns="0" rtlCol="0" anchor="t"/>
          <a:lstStyle/>
          <a:p>
            <a:pPr algn="ctr" indent="0" marL="0">
              <a:buNone/>
            </a:pPr>
            <a:r>
              <a:rPr lang="en-US" sz="900" dirty="0">
                <a:solidFill>
                  <a:srgbClr val="1A2230"/>
                </a:solidFill>
                <a:latin typeface="Calibri" pitchFamily="34" charset="0"/>
                <a:ea typeface="Calibri" pitchFamily="34" charset="-122"/>
                <a:cs typeface="Calibri" pitchFamily="34" charset="-120"/>
              </a:rPr>
              <a:t>Mean IRR p.a.</a:t>
            </a:r>
            <a:endParaRPr lang="en-US" sz="900" dirty="0"/>
          </a:p>
        </p:txBody>
      </p:sp>
      <p:sp>
        <p:nvSpPr>
          <p:cNvPr id="12" name="Shape 8"/>
          <p:cNvSpPr/>
          <p:nvPr/>
        </p:nvSpPr>
        <p:spPr>
          <a:xfrm>
            <a:off x="3776472" y="3840480"/>
            <a:ext cx="1572768" cy="868680"/>
          </a:xfrm>
          <a:prstGeom prst="roundRect">
            <a:avLst>
              <a:gd name="adj" fmla="val 6316"/>
            </a:avLst>
          </a:prstGeom>
          <a:solidFill>
            <a:srgbClr val="E8F3EF"/>
          </a:solidFill>
          <a:ln w="6350">
            <a:solidFill>
              <a:srgbClr val="E8F3EF"/>
            </a:solidFill>
            <a:prstDash val="solid"/>
          </a:ln>
        </p:spPr>
      </p:sp>
      <p:sp>
        <p:nvSpPr>
          <p:cNvPr id="13" name="Text 9"/>
          <p:cNvSpPr txBox="1"/>
          <p:nvPr/>
        </p:nvSpPr>
        <p:spPr>
          <a:xfrm>
            <a:off x="3849624" y="3877056"/>
            <a:ext cx="1426464" cy="411480"/>
          </a:xfrm>
          <a:prstGeom prst="rect">
            <a:avLst/>
          </a:prstGeom>
          <a:noFill/>
          <a:ln/>
        </p:spPr>
        <p:txBody>
          <a:bodyPr wrap="square" lIns="0" tIns="0" rIns="0" bIns="0" rtlCol="0" anchor="ctr"/>
          <a:lstStyle/>
          <a:p>
            <a:pPr algn="ctr" indent="0" marL="0">
              <a:buNone/>
            </a:pPr>
            <a:r>
              <a:rPr lang="en-US" sz="1700" b="1" dirty="0">
                <a:solidFill>
                  <a:srgbClr val="C99A2E"/>
                </a:solidFill>
                <a:latin typeface="Cambria" pitchFamily="34" charset="0"/>
                <a:ea typeface="Cambria" pitchFamily="34" charset="-122"/>
                <a:cs typeface="Cambria" pitchFamily="34" charset="-120"/>
              </a:rPr>
              <a:t>59%</a:t>
            </a:r>
            <a:endParaRPr lang="en-US" sz="1700" dirty="0"/>
          </a:p>
        </p:txBody>
      </p:sp>
      <p:sp>
        <p:nvSpPr>
          <p:cNvPr id="14" name="Text 10"/>
          <p:cNvSpPr txBox="1"/>
          <p:nvPr/>
        </p:nvSpPr>
        <p:spPr>
          <a:xfrm>
            <a:off x="3849624" y="4279392"/>
            <a:ext cx="1426464" cy="384048"/>
          </a:xfrm>
          <a:prstGeom prst="rect">
            <a:avLst/>
          </a:prstGeom>
          <a:noFill/>
          <a:ln/>
        </p:spPr>
        <p:txBody>
          <a:bodyPr wrap="square" lIns="0" tIns="0" rIns="0" bIns="0" rtlCol="0" anchor="t"/>
          <a:lstStyle/>
          <a:p>
            <a:pPr algn="ctr" indent="0" marL="0">
              <a:buNone/>
            </a:pPr>
            <a:r>
              <a:rPr lang="en-US" sz="900" dirty="0">
                <a:solidFill>
                  <a:srgbClr val="1A2230"/>
                </a:solidFill>
                <a:latin typeface="Calibri" pitchFamily="34" charset="0"/>
                <a:ea typeface="Calibri" pitchFamily="34" charset="-122"/>
                <a:cs typeface="Calibri" pitchFamily="34" charset="-120"/>
              </a:rPr>
              <a:t>Paths locking ≥115%</a:t>
            </a:r>
            <a:endParaRPr lang="en-US" sz="900" dirty="0"/>
          </a:p>
        </p:txBody>
      </p:sp>
      <p:sp>
        <p:nvSpPr>
          <p:cNvPr id="15" name="Shape 11"/>
          <p:cNvSpPr/>
          <p:nvPr/>
        </p:nvSpPr>
        <p:spPr>
          <a:xfrm>
            <a:off x="5458968" y="3840480"/>
            <a:ext cx="1572768" cy="868680"/>
          </a:xfrm>
          <a:prstGeom prst="roundRect">
            <a:avLst>
              <a:gd name="adj" fmla="val 6316"/>
            </a:avLst>
          </a:prstGeom>
          <a:solidFill>
            <a:srgbClr val="E8F3EF"/>
          </a:solidFill>
          <a:ln w="6350">
            <a:solidFill>
              <a:srgbClr val="E8F3EF"/>
            </a:solidFill>
            <a:prstDash val="solid"/>
          </a:ln>
        </p:spPr>
      </p:sp>
      <p:sp>
        <p:nvSpPr>
          <p:cNvPr id="16" name="Text 12"/>
          <p:cNvSpPr txBox="1"/>
          <p:nvPr/>
        </p:nvSpPr>
        <p:spPr>
          <a:xfrm>
            <a:off x="5532120" y="3877056"/>
            <a:ext cx="1426464" cy="411480"/>
          </a:xfrm>
          <a:prstGeom prst="rect">
            <a:avLst/>
          </a:prstGeom>
          <a:noFill/>
          <a:ln/>
        </p:spPr>
        <p:txBody>
          <a:bodyPr wrap="square" lIns="0" tIns="0" rIns="0" bIns="0" rtlCol="0" anchor="ctr"/>
          <a:lstStyle/>
          <a:p>
            <a:pPr algn="ctr" indent="0" marL="0">
              <a:buNone/>
            </a:pPr>
            <a:r>
              <a:rPr lang="en-US" sz="1700" b="1" dirty="0">
                <a:solidFill>
                  <a:srgbClr val="0E2238"/>
                </a:solidFill>
                <a:latin typeface="Cambria" pitchFamily="34" charset="0"/>
                <a:ea typeface="Cambria" pitchFamily="34" charset="-122"/>
                <a:cs typeface="Cambria" pitchFamily="34" charset="-120"/>
              </a:rPr>
              <a:t>100% vs 53%</a:t>
            </a:r>
            <a:endParaRPr lang="en-US" sz="1700" dirty="0"/>
          </a:p>
        </p:txBody>
      </p:sp>
      <p:sp>
        <p:nvSpPr>
          <p:cNvPr id="17" name="Text 13"/>
          <p:cNvSpPr txBox="1"/>
          <p:nvPr/>
        </p:nvSpPr>
        <p:spPr>
          <a:xfrm>
            <a:off x="5532120" y="4279392"/>
            <a:ext cx="1426464" cy="384048"/>
          </a:xfrm>
          <a:prstGeom prst="rect">
            <a:avLst/>
          </a:prstGeom>
          <a:noFill/>
          <a:ln/>
        </p:spPr>
        <p:txBody>
          <a:bodyPr wrap="square" lIns="0" tIns="0" rIns="0" bIns="0" rtlCol="0" anchor="t"/>
          <a:lstStyle/>
          <a:p>
            <a:pPr algn="ctr" indent="0" marL="0">
              <a:buNone/>
            </a:pPr>
            <a:r>
              <a:rPr lang="en-US" sz="900" dirty="0">
                <a:solidFill>
                  <a:srgbClr val="1A2230"/>
                </a:solidFill>
                <a:latin typeface="Calibri" pitchFamily="34" charset="0"/>
                <a:ea typeface="Calibri" pitchFamily="34" charset="-122"/>
                <a:cs typeface="Calibri" pitchFamily="34" charset="-120"/>
              </a:rPr>
              <a:t>5th pct: note vs direct</a:t>
            </a:r>
            <a:endParaRPr lang="en-US" sz="900" dirty="0"/>
          </a:p>
        </p:txBody>
      </p:sp>
      <p:sp>
        <p:nvSpPr>
          <p:cNvPr id="18" name="Shape 14"/>
          <p:cNvSpPr/>
          <p:nvPr/>
        </p:nvSpPr>
        <p:spPr>
          <a:xfrm>
            <a:off x="7141464" y="3840480"/>
            <a:ext cx="1572768" cy="868680"/>
          </a:xfrm>
          <a:prstGeom prst="roundRect">
            <a:avLst>
              <a:gd name="adj" fmla="val 6316"/>
            </a:avLst>
          </a:prstGeom>
          <a:solidFill>
            <a:srgbClr val="E8F3EF"/>
          </a:solidFill>
          <a:ln w="6350">
            <a:solidFill>
              <a:srgbClr val="E8F3EF"/>
            </a:solidFill>
            <a:prstDash val="solid"/>
          </a:ln>
        </p:spPr>
      </p:sp>
      <p:sp>
        <p:nvSpPr>
          <p:cNvPr id="19" name="Text 15"/>
          <p:cNvSpPr txBox="1"/>
          <p:nvPr/>
        </p:nvSpPr>
        <p:spPr>
          <a:xfrm>
            <a:off x="7214616" y="3877056"/>
            <a:ext cx="1426464" cy="411480"/>
          </a:xfrm>
          <a:prstGeom prst="rect">
            <a:avLst/>
          </a:prstGeom>
          <a:noFill/>
          <a:ln/>
        </p:spPr>
        <p:txBody>
          <a:bodyPr wrap="square" lIns="0" tIns="0" rIns="0" bIns="0" rtlCol="0" anchor="ctr"/>
          <a:lstStyle/>
          <a:p>
            <a:pPr algn="ctr" indent="0" marL="0">
              <a:buNone/>
            </a:pPr>
            <a:r>
              <a:rPr lang="en-US" sz="1700" b="1" dirty="0">
                <a:solidFill>
                  <a:srgbClr val="C99A2E"/>
                </a:solidFill>
                <a:latin typeface="Cambria" pitchFamily="34" charset="0"/>
                <a:ea typeface="Cambria" pitchFamily="34" charset="-122"/>
                <a:cs typeface="Cambria" pitchFamily="34" charset="-120"/>
              </a:rPr>
              <a:t>13%</a:t>
            </a:r>
            <a:endParaRPr lang="en-US" sz="1700" dirty="0"/>
          </a:p>
        </p:txBody>
      </p:sp>
      <p:sp>
        <p:nvSpPr>
          <p:cNvPr id="20" name="Text 16"/>
          <p:cNvSpPr txBox="1"/>
          <p:nvPr/>
        </p:nvSpPr>
        <p:spPr>
          <a:xfrm>
            <a:off x="7214616" y="4279392"/>
            <a:ext cx="1426464" cy="384048"/>
          </a:xfrm>
          <a:prstGeom prst="rect">
            <a:avLst/>
          </a:prstGeom>
          <a:noFill/>
          <a:ln/>
        </p:spPr>
        <p:txBody>
          <a:bodyPr wrap="square" lIns="0" tIns="0" rIns="0" bIns="0" rtlCol="0" anchor="t"/>
          <a:lstStyle/>
          <a:p>
            <a:pPr algn="ctr" indent="0" marL="0">
              <a:buNone/>
            </a:pPr>
            <a:r>
              <a:rPr lang="en-US" sz="900" dirty="0">
                <a:solidFill>
                  <a:srgbClr val="1A2230"/>
                </a:solidFill>
                <a:latin typeface="Calibri" pitchFamily="34" charset="0"/>
                <a:ea typeface="Calibri" pitchFamily="34" charset="-122"/>
                <a:cs typeface="Calibri" pitchFamily="34" charset="-120"/>
              </a:rPr>
              <a:t>Paths where lock-in beat final</a:t>
            </a:r>
            <a:endParaRPr lang="en-US" sz="900" dirty="0"/>
          </a:p>
        </p:txBody>
      </p:sp>
      <p:sp>
        <p:nvSpPr>
          <p:cNvPr id="21" name="Text 17"/>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Real-world MC: monthly multivariate-t (df=5, joint crashes), drifts 5–6% p.a. price return, vols 23–33%, correlations 0.40–0.65. Historical rolling and block-bootstrap back-test on Bloomberg data: backtest_bloomberg.py.</a:t>
            </a:r>
            <a:endParaRPr lang="en-US" sz="750" dirty="0"/>
          </a:p>
        </p:txBody>
      </p:sp>
      <p:sp>
        <p:nvSpPr>
          <p:cNvPr id="22" name="Text 18"/>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Risk analysis: what can go wrong, and what we do about it</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Investor risks, risk metrics and issuer hedging</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4937760" cy="914400"/>
        </p:xfrm>
        <a:graphic>
          <a:graphicData uri="http://schemas.openxmlformats.org/drawingml/2006/table">
            <a:tbl>
              <a:tblPr/>
              <a:tblGrid>
                <a:gridCol w="1051560"/>
                <a:gridCol w="1965960"/>
                <a:gridCol w="1920240"/>
              </a:tblGrid>
              <a:tr h="402336">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Risk</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What it means for the family</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Mitigant</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402336">
                <a:tc>
                  <a:txBody>
                    <a:bodyPr/>
                    <a:lstStyle/>
                    <a:p>
                      <a:pPr indent="0" marL="0">
                        <a:buNone/>
                      </a:pPr>
                      <a:r>
                        <a:rPr lang="en-US" sz="850" b="1" dirty="0">
                          <a:solidFill>
                            <a:srgbClr val="0E2238"/>
                          </a:solidFill>
                          <a:latin typeface="Calibri" pitchFamily="34" charset="0"/>
                          <a:ea typeface="Calibri" pitchFamily="34" charset="-122"/>
                          <a:cs typeface="Calibri" pitchFamily="34" charset="-120"/>
                        </a:rPr>
                        <a:t>Issuer credit</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Natixis default would remove the floor</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Size capped by credit budget; track Natixis 5Y CDS</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402336">
                <a:tc>
                  <a:txBody>
                    <a:bodyPr/>
                    <a:lstStyle/>
                    <a:p>
                      <a:pPr indent="0" marL="0">
                        <a:buNone/>
                      </a:pPr>
                      <a:r>
                        <a:rPr lang="en-US" sz="850" b="1" dirty="0">
                          <a:solidFill>
                            <a:srgbClr val="0E2238"/>
                          </a:solidFill>
                          <a:latin typeface="Calibri" pitchFamily="34" charset="0"/>
                          <a:ea typeface="Calibri" pitchFamily="34" charset="-122"/>
                          <a:cs typeface="Calibri" pitchFamily="34" charset="-120"/>
                        </a:rPr>
                        <a:t>Opportunity cost</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29% of paths return only principal</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Lock-in banks gains; bonds elsewhere carry income</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0E2238"/>
                          </a:solidFill>
                          <a:latin typeface="Calibri" pitchFamily="34" charset="0"/>
                          <a:ea typeface="Calibri" pitchFamily="34" charset="-122"/>
                          <a:cs typeface="Calibri" pitchFamily="34" charset="-120"/>
                        </a:rPr>
                        <a:t>Mark-to-market</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Value can dip before 2033; secondary bid/offer</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Hold-to-maturity mandate; daily Natixis bid</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402336">
                <a:tc>
                  <a:txBody>
                    <a:bodyPr/>
                    <a:lstStyle/>
                    <a:p>
                      <a:pPr indent="0" marL="0">
                        <a:buNone/>
                      </a:pPr>
                      <a:r>
                        <a:rPr lang="en-US" sz="850" b="1" dirty="0">
                          <a:solidFill>
                            <a:srgbClr val="0E2238"/>
                          </a:solidFill>
                          <a:latin typeface="Calibri" pitchFamily="34" charset="0"/>
                          <a:ea typeface="Calibri" pitchFamily="34" charset="-122"/>
                          <a:cs typeface="Calibri" pitchFamily="34" charset="-120"/>
                        </a:rPr>
                        <a:t>Geopolitics</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Taiwan Strait, China tech regulation</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25% cap per market; floor absorbs the tail</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402336">
                <a:tc>
                  <a:txBody>
                    <a:bodyPr/>
                    <a:lstStyle/>
                    <a:p>
                      <a:pPr indent="0" marL="0">
                        <a:buNone/>
                      </a:pPr>
                      <a:r>
                        <a:rPr lang="en-US" sz="850" b="1" dirty="0">
                          <a:solidFill>
                            <a:srgbClr val="0E2238"/>
                          </a:solidFill>
                          <a:latin typeface="Calibri" pitchFamily="34" charset="0"/>
                          <a:ea typeface="Calibri" pitchFamily="34" charset="-122"/>
                          <a:cs typeface="Calibri" pitchFamily="34" charset="-120"/>
                        </a:rPr>
                        <a:t>Model / pricing</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Vol, correlation, skew on the lock-in</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1.45% reserve; sensitivities on p.7</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402336">
                <a:tc>
                  <a:txBody>
                    <a:bodyPr/>
                    <a:lstStyle/>
                    <a:p>
                      <a:pPr indent="0" marL="0">
                        <a:buNone/>
                      </a:pPr>
                      <a:r>
                        <a:rPr lang="en-US" sz="850" b="1" dirty="0">
                          <a:solidFill>
                            <a:srgbClr val="0E2238"/>
                          </a:solidFill>
                          <a:latin typeface="Calibri" pitchFamily="34" charset="0"/>
                          <a:ea typeface="Calibri" pitchFamily="34" charset="-122"/>
                          <a:cs typeface="Calibri" pitchFamily="34" charset="-120"/>
                        </a:rPr>
                        <a:t>Dividends / FX</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No dividends; no local-FX upside</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850" dirty="0">
                          <a:solidFill>
                            <a:srgbClr val="1A2230"/>
                          </a:solidFill>
                          <a:latin typeface="Calibri" pitchFamily="34" charset="0"/>
                          <a:ea typeface="Calibri" pitchFamily="34" charset="-122"/>
                          <a:cs typeface="Calibri" pitchFamily="34" charset="-120"/>
                        </a:rPr>
                        <a:t>Priced into 125%; USD matches reporting</a:t>
                      </a:r>
                      <a:endParaRPr lang="en-US" sz="850" dirty="0">
                        <a:latin typeface="Calibri" charset="0"/>
                        <a:ea typeface="Calibri" charset="0"/>
                        <a:cs typeface="Calibri" charset="0"/>
                      </a:endParaRPr>
                    </a:p>
                  </a:txBody>
                  <a:tcPr marL="36576" marR="36576" marT="36576" marB="36576"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5" name="Shape 2"/>
          <p:cNvSpPr/>
          <p:nvPr/>
        </p:nvSpPr>
        <p:spPr>
          <a:xfrm>
            <a:off x="5532120" y="1097280"/>
            <a:ext cx="3200400" cy="1783080"/>
          </a:xfrm>
          <a:prstGeom prst="roundRect">
            <a:avLst>
              <a:gd name="adj" fmla="val 3077"/>
            </a:avLst>
          </a:prstGeom>
          <a:solidFill>
            <a:srgbClr val="0E2238"/>
          </a:solidFill>
          <a:ln w="6350">
            <a:solidFill>
              <a:srgbClr val="0E2238"/>
            </a:solidFill>
            <a:prstDash val="solid"/>
          </a:ln>
        </p:spPr>
      </p:sp>
      <p:sp>
        <p:nvSpPr>
          <p:cNvPr id="6" name="Text 3"/>
          <p:cNvSpPr txBox="1"/>
          <p:nvPr/>
        </p:nvSpPr>
        <p:spPr>
          <a:xfrm>
            <a:off x="5669280" y="1143000"/>
            <a:ext cx="2926080" cy="274320"/>
          </a:xfrm>
          <a:prstGeom prst="rect">
            <a:avLst/>
          </a:prstGeom>
          <a:noFill/>
          <a:ln/>
        </p:spPr>
        <p:txBody>
          <a:bodyPr wrap="square" lIns="0" tIns="0" rIns="0" bIns="0" rtlCol="0" anchor="ctr"/>
          <a:lstStyle/>
          <a:p>
            <a:pPr indent="0" marL="0">
              <a:buNone/>
            </a:pPr>
            <a:r>
              <a:rPr lang="en-US" sz="1200" b="1" dirty="0">
                <a:solidFill>
                  <a:srgbClr val="C99A2E"/>
                </a:solidFill>
                <a:latin typeface="Cambria" pitchFamily="34" charset="0"/>
                <a:ea typeface="Cambria" pitchFamily="34" charset="-122"/>
                <a:cs typeface="Cambria" pitchFamily="34" charset="-120"/>
              </a:rPr>
              <a:t>Risk metrics (Unit 15)</a:t>
            </a:r>
            <a:endParaRPr lang="en-US" sz="1200" dirty="0"/>
          </a:p>
        </p:txBody>
      </p:sp>
      <p:sp>
        <p:nvSpPr>
          <p:cNvPr id="7" name="Text 4"/>
          <p:cNvSpPr txBox="1"/>
          <p:nvPr/>
        </p:nvSpPr>
        <p:spPr>
          <a:xfrm>
            <a:off x="5669280" y="1463040"/>
            <a:ext cx="2971800" cy="1645920"/>
          </a:xfrm>
          <a:prstGeom prst="rect">
            <a:avLst/>
          </a:prstGeom>
          <a:noFill/>
          <a:ln/>
        </p:spPr>
        <p:txBody>
          <a:bodyPr wrap="square" lIns="0" tIns="0" rIns="0" bIns="0" rtlCol="0" anchor="t"/>
          <a:lstStyle/>
          <a:p>
            <a:pPr indent="0" marL="0">
              <a:spcAft>
                <a:spcPts val="500"/>
              </a:spcAft>
              <a:buNone/>
            </a:pPr>
            <a:r>
              <a:rPr lang="en-US" sz="1000" b="1" dirty="0">
                <a:solidFill>
                  <a:srgbClr val="C99A2E"/>
                </a:solidFill>
                <a:latin typeface="Calibri" pitchFamily="34" charset="0"/>
                <a:ea typeface="Calibri" pitchFamily="34" charset="-122"/>
                <a:cs typeface="Calibri" pitchFamily="34" charset="-120"/>
              </a:rPr>
              <a:t>Sizing: </a:t>
            </a:r>
            <a:pPr indent="0" marL="0">
              <a:spcAft>
                <a:spcPts val="500"/>
              </a:spcAft>
              <a:buNone/>
            </a:pPr>
            <a:r>
              <a:rPr lang="en-US" sz="1000" dirty="0">
                <a:solidFill>
                  <a:srgbClr val="FFFFFF"/>
                </a:solidFill>
                <a:latin typeface="Calibri" pitchFamily="34" charset="0"/>
                <a:ea typeface="Calibri" pitchFamily="34" charset="-122"/>
                <a:cs typeface="Calibri" pitchFamily="34" charset="-120"/>
              </a:rPr>
              <a:t>credit budget 3% of USD 2Bn = USD 60Mn ÷ 60% loss if Natixis defaults (40% recovery) = USD 100Mn max</a:t>
            </a:r>
            <a:endParaRPr lang="en-US" sz="1000" dirty="0"/>
          </a:p>
          <a:p>
            <a:pPr indent="0" marL="0">
              <a:spcAft>
                <a:spcPts val="500"/>
              </a:spcAft>
              <a:buNone/>
            </a:pPr>
            <a:r>
              <a:rPr lang="en-US" sz="1000" b="1" dirty="0">
                <a:solidFill>
                  <a:srgbClr val="C99A2E"/>
                </a:solidFill>
                <a:latin typeface="Calibri" pitchFamily="34" charset="0"/>
                <a:ea typeface="Calibri" pitchFamily="34" charset="-122"/>
                <a:cs typeface="Calibri" pitchFamily="34" charset="-120"/>
              </a:rPr>
              <a:t>10-day 99% VaR (MTM): </a:t>
            </a:r>
            <a:pPr indent="0" marL="0">
              <a:spcAft>
                <a:spcPts val="500"/>
              </a:spcAft>
              <a:buNone/>
            </a:pPr>
            <a:r>
              <a:rPr lang="en-US" sz="1000" dirty="0">
                <a:solidFill>
                  <a:srgbClr val="FFFFFF"/>
                </a:solidFill>
                <a:latin typeface="Calibri" pitchFamily="34" charset="0"/>
                <a:ea typeface="Calibri" pitchFamily="34" charset="-122"/>
                <a:cs typeface="Calibri" pitchFamily="34" charset="-120"/>
              </a:rPr>
              <a:t>7.9%; ES 9.1%</a:t>
            </a:r>
            <a:endParaRPr lang="en-US" sz="1000" dirty="0"/>
          </a:p>
          <a:p>
            <a:pPr indent="0" marL="0">
              <a:spcAft>
                <a:spcPts val="500"/>
              </a:spcAft>
              <a:buNone/>
            </a:pPr>
            <a:r>
              <a:rPr lang="en-US" sz="1000" b="1" dirty="0">
                <a:solidFill>
                  <a:srgbClr val="C99A2E"/>
                </a:solidFill>
                <a:latin typeface="Calibri" pitchFamily="34" charset="0"/>
                <a:ea typeface="Calibri" pitchFamily="34" charset="-122"/>
                <a:cs typeface="Calibri" pitchFamily="34" charset="-120"/>
              </a:rPr>
              <a:t>Joint stress: </a:t>
            </a:r>
            <a:pPr indent="0" marL="0">
              <a:spcAft>
                <a:spcPts val="500"/>
              </a:spcAft>
              <a:buNone/>
            </a:pPr>
            <a:r>
              <a:rPr lang="en-US" sz="1000" dirty="0">
                <a:solidFill>
                  <a:srgbClr val="FFFFFF"/>
                </a:solidFill>
                <a:latin typeface="Calibri" pitchFamily="34" charset="0"/>
                <a:ea typeface="Calibri" pitchFamily="34" charset="-122"/>
                <a:cs typeface="Calibri" pitchFamily="34" charset="-120"/>
              </a:rPr>
              <a:t>equities −30%, vol +10pts, USD rates +100bp: -16.7% MTM. With rates −50bp: -8.4%</a:t>
            </a:r>
            <a:endParaRPr lang="en-US" sz="1000" dirty="0"/>
          </a:p>
          <a:p>
            <a:pPr indent="0" marL="0">
              <a:spcAft>
                <a:spcPts val="500"/>
              </a:spcAft>
              <a:buNone/>
            </a:pPr>
            <a:r>
              <a:rPr lang="en-US" sz="1000" b="1" dirty="0">
                <a:solidFill>
                  <a:srgbClr val="C99A2E"/>
                </a:solidFill>
                <a:latin typeface="Calibri" pitchFamily="34" charset="0"/>
                <a:ea typeface="Calibri" pitchFamily="34" charset="-122"/>
                <a:cs typeface="Calibri" pitchFamily="34" charset="-120"/>
              </a:rPr>
              <a:t>At maturity: </a:t>
            </a:r>
            <a:pPr indent="0" marL="0">
              <a:spcAft>
                <a:spcPts val="500"/>
              </a:spcAft>
              <a:buNone/>
            </a:pPr>
            <a:r>
              <a:rPr lang="en-US" sz="1000" dirty="0">
                <a:solidFill>
                  <a:srgbClr val="FFFFFF"/>
                </a:solidFill>
                <a:latin typeface="Calibri" pitchFamily="34" charset="0"/>
                <a:ea typeface="Calibri" pitchFamily="34" charset="-122"/>
                <a:cs typeface="Calibri" pitchFamily="34" charset="-120"/>
              </a:rPr>
              <a:t>loss is 0% by contract (ex-credit)</a:t>
            </a:r>
            <a:endParaRPr lang="en-US" sz="1000" dirty="0"/>
          </a:p>
        </p:txBody>
      </p:sp>
      <p:sp>
        <p:nvSpPr>
          <p:cNvPr id="8" name="Shape 5"/>
          <p:cNvSpPr/>
          <p:nvPr/>
        </p:nvSpPr>
        <p:spPr>
          <a:xfrm>
            <a:off x="5532120" y="2971800"/>
            <a:ext cx="3200400" cy="1737360"/>
          </a:xfrm>
          <a:prstGeom prst="roundRect">
            <a:avLst>
              <a:gd name="adj" fmla="val 3158"/>
            </a:avLst>
          </a:prstGeom>
          <a:solidFill>
            <a:srgbClr val="E8F3EF"/>
          </a:solidFill>
          <a:ln w="6350">
            <a:solidFill>
              <a:srgbClr val="E8F3EF"/>
            </a:solidFill>
            <a:prstDash val="solid"/>
          </a:ln>
        </p:spPr>
      </p:sp>
      <p:sp>
        <p:nvSpPr>
          <p:cNvPr id="9" name="Text 6"/>
          <p:cNvSpPr txBox="1"/>
          <p:nvPr/>
        </p:nvSpPr>
        <p:spPr>
          <a:xfrm>
            <a:off x="5669280" y="3044952"/>
            <a:ext cx="2926080" cy="274320"/>
          </a:xfrm>
          <a:prstGeom prst="rect">
            <a:avLst/>
          </a:prstGeom>
          <a:noFill/>
          <a:ln/>
        </p:spPr>
        <p:txBody>
          <a:bodyPr wrap="square" lIns="0" tIns="0" rIns="0" bIns="0" rtlCol="0" anchor="ctr"/>
          <a:lstStyle/>
          <a:p>
            <a:pPr indent="0" marL="0">
              <a:buNone/>
            </a:pPr>
            <a:r>
              <a:rPr lang="en-US" sz="1200" b="1" dirty="0">
                <a:solidFill>
                  <a:srgbClr val="0E2238"/>
                </a:solidFill>
                <a:latin typeface="Cambria" pitchFamily="34" charset="0"/>
                <a:ea typeface="Cambria" pitchFamily="34" charset="-122"/>
                <a:cs typeface="Cambria" pitchFamily="34" charset="-120"/>
              </a:rPr>
              <a:t>How Natixis hedges</a:t>
            </a:r>
            <a:endParaRPr lang="en-US" sz="1200" dirty="0"/>
          </a:p>
        </p:txBody>
      </p:sp>
      <p:sp>
        <p:nvSpPr>
          <p:cNvPr id="10" name="Text 7"/>
          <p:cNvSpPr txBox="1"/>
          <p:nvPr/>
        </p:nvSpPr>
        <p:spPr>
          <a:xfrm>
            <a:off x="5669280" y="3364992"/>
            <a:ext cx="2971800" cy="12984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A2230"/>
                </a:solidFill>
                <a:latin typeface="Calibri" pitchFamily="34" charset="0"/>
                <a:ea typeface="Calibri" pitchFamily="34" charset="-122"/>
                <a:cs typeface="Calibri" pitchFamily="34" charset="-120"/>
              </a:rPr>
              <a:t>Delta: OSE/CME Nikkei, TAIFEX, KRX KOSPI 200 and HKEX HSTECH futures</a:t>
            </a:r>
            <a:endParaRPr lang="en-US" sz="950" dirty="0"/>
          </a:p>
          <a:p>
            <a:pPr marL="342900" indent="-342900">
              <a:spcAft>
                <a:spcPts val="300"/>
              </a:spcAft>
              <a:buSzPct val="100000"/>
              <a:buChar char="•"/>
            </a:pPr>
            <a:r>
              <a:rPr lang="en-US" sz="950" dirty="0">
                <a:solidFill>
                  <a:srgbClr val="1A2230"/>
                </a:solidFill>
                <a:latin typeface="Calibri" pitchFamily="34" charset="0"/>
                <a:ea typeface="Calibri" pitchFamily="34" charset="-122"/>
                <a:cs typeface="Calibri" pitchFamily="34" charset="-120"/>
              </a:rPr>
              <a:t>Vega: long-dated listed options and variance swaps</a:t>
            </a:r>
            <a:endParaRPr lang="en-US" sz="950" dirty="0"/>
          </a:p>
          <a:p>
            <a:pPr marL="342900" indent="-342900">
              <a:spcAft>
                <a:spcPts val="300"/>
              </a:spcAft>
              <a:buSzPct val="100000"/>
              <a:buChar char="•"/>
            </a:pPr>
            <a:r>
              <a:rPr lang="en-US" sz="950" dirty="0">
                <a:solidFill>
                  <a:srgbClr val="1A2230"/>
                </a:solidFill>
                <a:latin typeface="Calibri" pitchFamily="34" charset="0"/>
                <a:ea typeface="Calibri" pitchFamily="34" charset="-122"/>
                <a:cs typeface="Calibri" pitchFamily="34" charset="-120"/>
              </a:rPr>
              <a:t>Quanto: dynamic FX forwards and NDFs (TWD, KRW)</a:t>
            </a:r>
            <a:endParaRPr lang="en-US" sz="950" dirty="0"/>
          </a:p>
          <a:p>
            <a:pPr marL="342900" indent="-342900">
              <a:spcAft>
                <a:spcPts val="300"/>
              </a:spcAft>
              <a:buSzPct val="100000"/>
              <a:buChar char="•"/>
            </a:pPr>
            <a:r>
              <a:rPr lang="en-US" sz="950" dirty="0">
                <a:solidFill>
                  <a:srgbClr val="1A2230"/>
                </a:solidFill>
                <a:latin typeface="Calibri" pitchFamily="34" charset="0"/>
                <a:ea typeface="Calibri" pitchFamily="34" charset="-122"/>
                <a:cs typeface="Calibri" pitchFamily="34" charset="-120"/>
              </a:rPr>
              <a:t>Correlation / forward skew: kept as residual, covered by the reserve</a:t>
            </a:r>
            <a:endParaRPr lang="en-US" sz="950" dirty="0"/>
          </a:p>
        </p:txBody>
      </p:sp>
      <p:sp>
        <p:nvSpPr>
          <p:cNvPr id="11" name="Text 8"/>
          <p:cNvSpPr txBox="1"/>
          <p:nvPr/>
        </p:nvSpPr>
        <p:spPr>
          <a:xfrm>
            <a:off x="411480" y="4023360"/>
            <a:ext cx="4937760" cy="685800"/>
          </a:xfrm>
          <a:prstGeom prst="rect">
            <a:avLst/>
          </a:prstGeom>
          <a:noFill/>
          <a:ln/>
        </p:spPr>
        <p:txBody>
          <a:bodyPr wrap="square" lIns="0" tIns="0" rIns="0" bIns="0" rtlCol="0" anchor="ctr"/>
          <a:lstStyle/>
          <a:p>
            <a:pPr indent="0" marL="0">
              <a:buNone/>
            </a:pPr>
            <a:r>
              <a:rPr lang="en-US" sz="900" i="1" dirty="0">
                <a:solidFill>
                  <a:srgbClr val="5E6B78"/>
                </a:solidFill>
                <a:latin typeface="Calibri" pitchFamily="34" charset="0"/>
                <a:ea typeface="Calibri" pitchFamily="34" charset="-122"/>
                <a:cs typeface="Calibri" pitchFamily="34" charset="-120"/>
              </a:rPr>
              <a:t>Greeks at issue (per USD 100 notional): delta USD 0.71 per 1% basket move · vega USD 0.88 per vol pt · DV01 USD -0.065 per bp. MTM risk before maturity is mostly rates: the 7Y bond floor has a duration of about 6.6.</a:t>
            </a:r>
            <a:endParaRPr lang="en-US" sz="900" dirty="0"/>
          </a:p>
        </p:txBody>
      </p:sp>
      <p:sp>
        <p:nvSpPr>
          <p:cNvPr id="12" name="Text 9"/>
          <p:cNvSpPr txBox="1"/>
          <p:nvPr/>
        </p:nvSpPr>
        <p:spPr>
          <a:xfrm>
            <a:off x="411480" y="4828032"/>
            <a:ext cx="7863840" cy="228600"/>
          </a:xfrm>
          <a:prstGeom prst="rect">
            <a:avLst/>
          </a:prstGeom>
          <a:noFill/>
          <a:ln/>
        </p:spPr>
        <p:txBody>
          <a:bodyPr wrap="square" lIns="0" tIns="0" rIns="0" bIns="0" rtlCol="0" anchor="ctr"/>
          <a:lstStyle/>
          <a:p>
            <a:pPr indent="0" marL="0">
              <a:buNone/>
            </a:pPr>
            <a:r>
              <a:rPr lang="en-US" sz="750" i="1" dirty="0">
                <a:solidFill>
                  <a:srgbClr val="5E6B78"/>
                </a:solidFill>
                <a:latin typeface="Calibri" pitchFamily="34" charset="0"/>
                <a:ea typeface="Calibri" pitchFamily="34" charset="-122"/>
                <a:cs typeface="Calibri" pitchFamily="34" charset="-120"/>
              </a:rPr>
              <a:t>VaR: delta-normal, basket vol 22.2%, 100bp p.a. rate vol, zero equity–rate correlation. Stress: full Monte Carlo revaluation with spot, vol and rates shocked together.</a:t>
            </a:r>
            <a:endParaRPr lang="en-US" sz="750" dirty="0"/>
          </a:p>
        </p:txBody>
      </p:sp>
      <p:sp>
        <p:nvSpPr>
          <p:cNvPr id="13" name="Text 10"/>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238"/>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Recommendation: invest USD 100Mn in the Legacy Note</a:t>
            </a:r>
            <a:endParaRPr lang="en-US" sz="2100" dirty="0"/>
          </a:p>
        </p:txBody>
      </p:sp>
      <p:sp>
        <p:nvSpPr>
          <p:cNvPr id="3" name="Text 1"/>
          <p:cNvSpPr txBox="1"/>
          <p:nvPr/>
        </p:nvSpPr>
        <p:spPr>
          <a:xfrm>
            <a:off x="411480" y="868680"/>
            <a:ext cx="4069080" cy="292608"/>
          </a:xfrm>
          <a:prstGeom prst="rect">
            <a:avLst/>
          </a:prstGeom>
          <a:noFill/>
          <a:ln/>
        </p:spPr>
        <p:txBody>
          <a:bodyPr wrap="square" lIns="0" tIns="0" rIns="0" bIns="0" rtlCol="0" anchor="ctr"/>
          <a:lstStyle/>
          <a:p>
            <a:pPr indent="0" marL="0">
              <a:buNone/>
            </a:pPr>
            <a:r>
              <a:rPr lang="en-US" sz="1300" b="1" dirty="0">
                <a:solidFill>
                  <a:srgbClr val="1F8A70"/>
                </a:solidFill>
                <a:latin typeface="Cambria" pitchFamily="34" charset="0"/>
                <a:ea typeface="Cambria" pitchFamily="34" charset="-122"/>
                <a:cs typeface="Cambria" pitchFamily="34" charset="-120"/>
              </a:rPr>
              <a:t>For the Chak family</a:t>
            </a:r>
            <a:endParaRPr lang="en-US" sz="1300" dirty="0"/>
          </a:p>
        </p:txBody>
      </p:sp>
      <p:sp>
        <p:nvSpPr>
          <p:cNvPr id="4" name="Shape 2"/>
          <p:cNvSpPr/>
          <p:nvPr/>
        </p:nvSpPr>
        <p:spPr>
          <a:xfrm>
            <a:off x="411480" y="1207008"/>
            <a:ext cx="4069080" cy="548640"/>
          </a:xfrm>
          <a:prstGeom prst="roundRect">
            <a:avLst>
              <a:gd name="adj" fmla="val 10000"/>
            </a:avLst>
          </a:prstGeom>
          <a:solidFill>
            <a:srgbClr val="1C3A5A"/>
          </a:solidFill>
          <a:ln w="6350">
            <a:solidFill>
              <a:srgbClr val="1C3A5A"/>
            </a:solidFill>
            <a:prstDash val="solid"/>
          </a:ln>
        </p:spPr>
      </p:sp>
      <p:sp>
        <p:nvSpPr>
          <p:cNvPr id="5" name="Text 3"/>
          <p:cNvSpPr txBox="1"/>
          <p:nvPr/>
        </p:nvSpPr>
        <p:spPr>
          <a:xfrm>
            <a:off x="521208" y="1207008"/>
            <a:ext cx="3849624" cy="548640"/>
          </a:xfrm>
          <a:prstGeom prst="rect">
            <a:avLst/>
          </a:prstGeom>
          <a:noFill/>
          <a:ln/>
        </p:spPr>
        <p:txBody>
          <a:bodyPr wrap="square" lIns="0" tIns="0" rIns="0" bIns="0" rtlCol="0" anchor="ctr"/>
          <a:lstStyle/>
          <a:p>
            <a:pPr indent="0" marL="0">
              <a:buNone/>
            </a:pPr>
            <a:r>
              <a:rPr lang="en-US" sz="950" b="1" dirty="0">
                <a:solidFill>
                  <a:srgbClr val="1F8A70"/>
                </a:solidFill>
                <a:latin typeface="Calibri" pitchFamily="34" charset="0"/>
                <a:ea typeface="Calibri" pitchFamily="34" charset="-122"/>
                <a:cs typeface="Calibri" pitchFamily="34" charset="-120"/>
              </a:rPr>
              <a:t>Objectives met: </a:t>
            </a:r>
            <a:pPr indent="0" marL="0">
              <a:buNone/>
            </a:pPr>
            <a:r>
              <a:rPr lang="en-US" sz="950" dirty="0">
                <a:solidFill>
                  <a:srgbClr val="FFFFFF"/>
                </a:solidFill>
                <a:latin typeface="Calibri" pitchFamily="34" charset="0"/>
                <a:ea typeface="Calibri" pitchFamily="34" charset="-122"/>
                <a:cs typeface="Calibri" pitchFamily="34" charset="-120"/>
              </a:rPr>
              <a:t>Growth (uncapped 125%), Asia digital exposure, a traditional-to-tech bridge, 100% floor</a:t>
            </a:r>
            <a:endParaRPr lang="en-US" sz="950" dirty="0"/>
          </a:p>
        </p:txBody>
      </p:sp>
      <p:sp>
        <p:nvSpPr>
          <p:cNvPr id="6" name="Shape 4"/>
          <p:cNvSpPr/>
          <p:nvPr/>
        </p:nvSpPr>
        <p:spPr>
          <a:xfrm>
            <a:off x="411480" y="1828800"/>
            <a:ext cx="4069080" cy="548640"/>
          </a:xfrm>
          <a:prstGeom prst="roundRect">
            <a:avLst>
              <a:gd name="adj" fmla="val 10000"/>
            </a:avLst>
          </a:prstGeom>
          <a:solidFill>
            <a:srgbClr val="1C3A5A"/>
          </a:solidFill>
          <a:ln w="6350">
            <a:solidFill>
              <a:srgbClr val="1C3A5A"/>
            </a:solidFill>
            <a:prstDash val="solid"/>
          </a:ln>
        </p:spPr>
      </p:sp>
      <p:sp>
        <p:nvSpPr>
          <p:cNvPr id="7" name="Text 5"/>
          <p:cNvSpPr txBox="1"/>
          <p:nvPr/>
        </p:nvSpPr>
        <p:spPr>
          <a:xfrm>
            <a:off x="521208" y="1828800"/>
            <a:ext cx="3849624" cy="548640"/>
          </a:xfrm>
          <a:prstGeom prst="rect">
            <a:avLst/>
          </a:prstGeom>
          <a:noFill/>
          <a:ln/>
        </p:spPr>
        <p:txBody>
          <a:bodyPr wrap="square" lIns="0" tIns="0" rIns="0" bIns="0" rtlCol="0" anchor="ctr"/>
          <a:lstStyle/>
          <a:p>
            <a:pPr indent="0" marL="0">
              <a:buNone/>
            </a:pPr>
            <a:r>
              <a:rPr lang="en-US" sz="950" b="1" dirty="0">
                <a:solidFill>
                  <a:srgbClr val="1F8A70"/>
                </a:solidFill>
                <a:latin typeface="Calibri" pitchFamily="34" charset="0"/>
                <a:ea typeface="Calibri" pitchFamily="34" charset="-122"/>
                <a:cs typeface="Calibri" pitchFamily="34" charset="-120"/>
              </a:rPr>
              <a:t>Complements, not duplicates: </a:t>
            </a:r>
            <a:pPr indent="0" marL="0">
              <a:buNone/>
            </a:pPr>
            <a:r>
              <a:rPr lang="en-US" sz="950" dirty="0">
                <a:solidFill>
                  <a:srgbClr val="FFFFFF"/>
                </a:solidFill>
                <a:latin typeface="Calibri" pitchFamily="34" charset="0"/>
                <a:ea typeface="Calibri" pitchFamily="34" charset="-122"/>
                <a:cs typeface="Calibri" pitchFamily="34" charset="-120"/>
              </a:rPr>
              <a:t>Adds the chips-and-platforms layer and USD; avoids property, power and local FX</a:t>
            </a:r>
            <a:endParaRPr lang="en-US" sz="950" dirty="0"/>
          </a:p>
        </p:txBody>
      </p:sp>
      <p:sp>
        <p:nvSpPr>
          <p:cNvPr id="8" name="Shape 6"/>
          <p:cNvSpPr/>
          <p:nvPr/>
        </p:nvSpPr>
        <p:spPr>
          <a:xfrm>
            <a:off x="411480" y="2450592"/>
            <a:ext cx="4069080" cy="548640"/>
          </a:xfrm>
          <a:prstGeom prst="roundRect">
            <a:avLst>
              <a:gd name="adj" fmla="val 10000"/>
            </a:avLst>
          </a:prstGeom>
          <a:solidFill>
            <a:srgbClr val="1C3A5A"/>
          </a:solidFill>
          <a:ln w="6350">
            <a:solidFill>
              <a:srgbClr val="1C3A5A"/>
            </a:solidFill>
            <a:prstDash val="solid"/>
          </a:ln>
        </p:spPr>
      </p:sp>
      <p:sp>
        <p:nvSpPr>
          <p:cNvPr id="9" name="Text 7"/>
          <p:cNvSpPr txBox="1"/>
          <p:nvPr/>
        </p:nvSpPr>
        <p:spPr>
          <a:xfrm>
            <a:off x="521208" y="2450592"/>
            <a:ext cx="3849624" cy="548640"/>
          </a:xfrm>
          <a:prstGeom prst="rect">
            <a:avLst/>
          </a:prstGeom>
          <a:noFill/>
          <a:ln/>
        </p:spPr>
        <p:txBody>
          <a:bodyPr wrap="square" lIns="0" tIns="0" rIns="0" bIns="0" rtlCol="0" anchor="ctr"/>
          <a:lstStyle/>
          <a:p>
            <a:pPr indent="0" marL="0">
              <a:buNone/>
            </a:pPr>
            <a:r>
              <a:rPr lang="en-US" sz="950" b="1" dirty="0">
                <a:solidFill>
                  <a:srgbClr val="1F8A70"/>
                </a:solidFill>
                <a:latin typeface="Calibri" pitchFamily="34" charset="0"/>
                <a:ea typeface="Calibri" pitchFamily="34" charset="-122"/>
                <a:cs typeface="Calibri" pitchFamily="34" charset="-120"/>
              </a:rPr>
              <a:t>Gains banked for heirs: </a:t>
            </a:r>
            <a:pPr indent="0" marL="0">
              <a:buNone/>
            </a:pPr>
            <a:r>
              <a:rPr lang="en-US" sz="950" dirty="0">
                <a:solidFill>
                  <a:srgbClr val="FFFFFF"/>
                </a:solidFill>
                <a:latin typeface="Calibri" pitchFamily="34" charset="0"/>
                <a:ea typeface="Calibri" pitchFamily="34" charset="-122"/>
                <a:cs typeface="Calibri" pitchFamily="34" charset="-120"/>
              </a:rPr>
              <a:t>The Legacy Lock-in turns a boom that later busts into a 130% exit</a:t>
            </a:r>
            <a:endParaRPr lang="en-US" sz="950" dirty="0"/>
          </a:p>
        </p:txBody>
      </p:sp>
      <p:sp>
        <p:nvSpPr>
          <p:cNvPr id="10" name="Text 8"/>
          <p:cNvSpPr txBox="1"/>
          <p:nvPr/>
        </p:nvSpPr>
        <p:spPr>
          <a:xfrm>
            <a:off x="4663440" y="868680"/>
            <a:ext cx="4069080" cy="292608"/>
          </a:xfrm>
          <a:prstGeom prst="rect">
            <a:avLst/>
          </a:prstGeom>
          <a:noFill/>
          <a:ln/>
        </p:spPr>
        <p:txBody>
          <a:bodyPr wrap="square" lIns="0" tIns="0" rIns="0" bIns="0" rtlCol="0" anchor="ctr"/>
          <a:lstStyle/>
          <a:p>
            <a:pPr indent="0" marL="0">
              <a:buNone/>
            </a:pPr>
            <a:r>
              <a:rPr lang="en-US" sz="1300" b="1" dirty="0">
                <a:solidFill>
                  <a:srgbClr val="C99A2E"/>
                </a:solidFill>
                <a:latin typeface="Cambria" pitchFamily="34" charset="0"/>
                <a:ea typeface="Cambria" pitchFamily="34" charset="-122"/>
                <a:cs typeface="Cambria" pitchFamily="34" charset="-120"/>
              </a:rPr>
              <a:t>For Natixis</a:t>
            </a:r>
            <a:endParaRPr lang="en-US" sz="1300" dirty="0"/>
          </a:p>
        </p:txBody>
      </p:sp>
      <p:sp>
        <p:nvSpPr>
          <p:cNvPr id="11" name="Shape 9"/>
          <p:cNvSpPr/>
          <p:nvPr/>
        </p:nvSpPr>
        <p:spPr>
          <a:xfrm>
            <a:off x="4663440" y="1207008"/>
            <a:ext cx="4069080" cy="548640"/>
          </a:xfrm>
          <a:prstGeom prst="roundRect">
            <a:avLst>
              <a:gd name="adj" fmla="val 10000"/>
            </a:avLst>
          </a:prstGeom>
          <a:solidFill>
            <a:srgbClr val="1C3A5A"/>
          </a:solidFill>
          <a:ln w="6350">
            <a:solidFill>
              <a:srgbClr val="1C3A5A"/>
            </a:solidFill>
            <a:prstDash val="solid"/>
          </a:ln>
        </p:spPr>
      </p:sp>
      <p:sp>
        <p:nvSpPr>
          <p:cNvPr id="12" name="Text 10"/>
          <p:cNvSpPr txBox="1"/>
          <p:nvPr/>
        </p:nvSpPr>
        <p:spPr>
          <a:xfrm>
            <a:off x="4773168" y="1207008"/>
            <a:ext cx="3849624" cy="548640"/>
          </a:xfrm>
          <a:prstGeom prst="rect">
            <a:avLst/>
          </a:prstGeom>
          <a:noFill/>
          <a:ln/>
        </p:spPr>
        <p:txBody>
          <a:bodyPr wrap="square" lIns="0" tIns="0" rIns="0" bIns="0" rtlCol="0" anchor="ctr"/>
          <a:lstStyle/>
          <a:p>
            <a:pPr indent="0" marL="0">
              <a:buNone/>
            </a:pPr>
            <a:r>
              <a:rPr lang="en-US" sz="950" b="1" dirty="0">
                <a:solidFill>
                  <a:srgbClr val="C99A2E"/>
                </a:solidFill>
                <a:latin typeface="Calibri" pitchFamily="34" charset="0"/>
                <a:ea typeface="Calibri" pitchFamily="34" charset="-122"/>
                <a:cs typeface="Calibri" pitchFamily="34" charset="-120"/>
              </a:rPr>
              <a:t>Hedgeable with listed instruments: </a:t>
            </a:r>
            <a:pPr indent="0" marL="0">
              <a:buNone/>
            </a:pPr>
            <a:r>
              <a:rPr lang="en-US" sz="950" dirty="0">
                <a:solidFill>
                  <a:srgbClr val="FFFFFF"/>
                </a:solidFill>
                <a:latin typeface="Calibri" pitchFamily="34" charset="0"/>
                <a:ea typeface="Calibri" pitchFamily="34" charset="-122"/>
                <a:cs typeface="Calibri" pitchFamily="34" charset="-120"/>
              </a:rPr>
              <a:t>Four of Asia's most liquid futures and options markets</a:t>
            </a:r>
            <a:endParaRPr lang="en-US" sz="950" dirty="0"/>
          </a:p>
        </p:txBody>
      </p:sp>
      <p:sp>
        <p:nvSpPr>
          <p:cNvPr id="13" name="Shape 11"/>
          <p:cNvSpPr/>
          <p:nvPr/>
        </p:nvSpPr>
        <p:spPr>
          <a:xfrm>
            <a:off x="4663440" y="1828800"/>
            <a:ext cx="4069080" cy="548640"/>
          </a:xfrm>
          <a:prstGeom prst="roundRect">
            <a:avLst>
              <a:gd name="adj" fmla="val 10000"/>
            </a:avLst>
          </a:prstGeom>
          <a:solidFill>
            <a:srgbClr val="1C3A5A"/>
          </a:solidFill>
          <a:ln w="6350">
            <a:solidFill>
              <a:srgbClr val="1C3A5A"/>
            </a:solidFill>
            <a:prstDash val="solid"/>
          </a:ln>
        </p:spPr>
      </p:sp>
      <p:sp>
        <p:nvSpPr>
          <p:cNvPr id="14" name="Text 12"/>
          <p:cNvSpPr txBox="1"/>
          <p:nvPr/>
        </p:nvSpPr>
        <p:spPr>
          <a:xfrm>
            <a:off x="4773168" y="1828800"/>
            <a:ext cx="3849624" cy="548640"/>
          </a:xfrm>
          <a:prstGeom prst="rect">
            <a:avLst/>
          </a:prstGeom>
          <a:noFill/>
          <a:ln/>
        </p:spPr>
        <p:txBody>
          <a:bodyPr wrap="square" lIns="0" tIns="0" rIns="0" bIns="0" rtlCol="0" anchor="ctr"/>
          <a:lstStyle/>
          <a:p>
            <a:pPr indent="0" marL="0">
              <a:buNone/>
            </a:pPr>
            <a:r>
              <a:rPr lang="en-US" sz="950" b="1" dirty="0">
                <a:solidFill>
                  <a:srgbClr val="C99A2E"/>
                </a:solidFill>
                <a:latin typeface="Calibri" pitchFamily="34" charset="0"/>
                <a:ea typeface="Calibri" pitchFamily="34" charset="-122"/>
                <a:cs typeface="Calibri" pitchFamily="34" charset="-120"/>
              </a:rPr>
              <a:t>Efficient funding: </a:t>
            </a:r>
            <a:pPr indent="0" marL="0">
              <a:buNone/>
            </a:pPr>
            <a:r>
              <a:rPr lang="en-US" sz="950" dirty="0">
                <a:solidFill>
                  <a:srgbClr val="FFFFFF"/>
                </a:solidFill>
                <a:latin typeface="Calibri" pitchFamily="34" charset="0"/>
                <a:ea typeface="Calibri" pitchFamily="34" charset="-122"/>
                <a:cs typeface="Calibri" pitchFamily="34" charset="-120"/>
              </a:rPr>
              <a:t>7Y USD funding at the grid rate; 35 bp p.a. fee on a USD 100Mn ticket</a:t>
            </a:r>
            <a:endParaRPr lang="en-US" sz="950" dirty="0"/>
          </a:p>
        </p:txBody>
      </p:sp>
      <p:sp>
        <p:nvSpPr>
          <p:cNvPr id="15" name="Shape 13"/>
          <p:cNvSpPr/>
          <p:nvPr/>
        </p:nvSpPr>
        <p:spPr>
          <a:xfrm>
            <a:off x="4663440" y="2450592"/>
            <a:ext cx="4069080" cy="548640"/>
          </a:xfrm>
          <a:prstGeom prst="roundRect">
            <a:avLst>
              <a:gd name="adj" fmla="val 10000"/>
            </a:avLst>
          </a:prstGeom>
          <a:solidFill>
            <a:srgbClr val="1C3A5A"/>
          </a:solidFill>
          <a:ln w="6350">
            <a:solidFill>
              <a:srgbClr val="1C3A5A"/>
            </a:solidFill>
            <a:prstDash val="solid"/>
          </a:ln>
        </p:spPr>
      </p:sp>
      <p:sp>
        <p:nvSpPr>
          <p:cNvPr id="16" name="Text 14"/>
          <p:cNvSpPr txBox="1"/>
          <p:nvPr/>
        </p:nvSpPr>
        <p:spPr>
          <a:xfrm>
            <a:off x="4773168" y="2450592"/>
            <a:ext cx="3849624" cy="548640"/>
          </a:xfrm>
          <a:prstGeom prst="rect">
            <a:avLst/>
          </a:prstGeom>
          <a:noFill/>
          <a:ln/>
        </p:spPr>
        <p:txBody>
          <a:bodyPr wrap="square" lIns="0" tIns="0" rIns="0" bIns="0" rtlCol="0" anchor="ctr"/>
          <a:lstStyle/>
          <a:p>
            <a:pPr indent="0" marL="0">
              <a:buNone/>
            </a:pPr>
            <a:r>
              <a:rPr lang="en-US" sz="950" b="1" dirty="0">
                <a:solidFill>
                  <a:srgbClr val="C99A2E"/>
                </a:solidFill>
                <a:latin typeface="Calibri" pitchFamily="34" charset="0"/>
                <a:ea typeface="Calibri" pitchFamily="34" charset="-122"/>
                <a:cs typeface="Calibri" pitchFamily="34" charset="-120"/>
              </a:rPr>
              <a:t>Relationship: </a:t>
            </a:r>
            <a:pPr indent="0" marL="0">
              <a:buNone/>
            </a:pPr>
            <a:r>
              <a:rPr lang="en-US" sz="950" dirty="0">
                <a:solidFill>
                  <a:srgbClr val="FFFFFF"/>
                </a:solidFill>
                <a:latin typeface="Calibri" pitchFamily="34" charset="0"/>
                <a:ea typeface="Calibri" pitchFamily="34" charset="-122"/>
                <a:cs typeface="Calibri" pitchFamily="34" charset="-120"/>
              </a:rPr>
              <a:t>A long-term partnership with the next generation of a USD 2Bn family</a:t>
            </a:r>
            <a:endParaRPr lang="en-US" sz="950" dirty="0"/>
          </a:p>
        </p:txBody>
      </p:sp>
      <p:sp>
        <p:nvSpPr>
          <p:cNvPr id="17" name="Text 15"/>
          <p:cNvSpPr txBox="1"/>
          <p:nvPr/>
        </p:nvSpPr>
        <p:spPr>
          <a:xfrm>
            <a:off x="411480" y="3136392"/>
            <a:ext cx="832104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Exit plan: all four exits defined</a:t>
            </a:r>
            <a:endParaRPr lang="en-US" sz="1300" dirty="0"/>
          </a:p>
        </p:txBody>
      </p:sp>
      <p:sp>
        <p:nvSpPr>
          <p:cNvPr id="18" name="Shape 16"/>
          <p:cNvSpPr/>
          <p:nvPr/>
        </p:nvSpPr>
        <p:spPr>
          <a:xfrm>
            <a:off x="411480" y="3456432"/>
            <a:ext cx="1993392" cy="1188720"/>
          </a:xfrm>
          <a:prstGeom prst="roundRect">
            <a:avLst>
              <a:gd name="adj" fmla="val 4615"/>
            </a:avLst>
          </a:prstGeom>
          <a:solidFill>
            <a:srgbClr val="FFFFFF"/>
          </a:solidFill>
          <a:ln w="6350">
            <a:solidFill>
              <a:srgbClr val="FFFFFF"/>
            </a:solidFill>
            <a:prstDash val="solid"/>
          </a:ln>
        </p:spPr>
      </p:sp>
      <p:sp>
        <p:nvSpPr>
          <p:cNvPr id="19" name="Shape 17"/>
          <p:cNvSpPr/>
          <p:nvPr/>
        </p:nvSpPr>
        <p:spPr>
          <a:xfrm>
            <a:off x="502920" y="3529584"/>
            <a:ext cx="329184" cy="329184"/>
          </a:xfrm>
          <a:prstGeom prst="ellipse">
            <a:avLst/>
          </a:prstGeom>
          <a:solidFill>
            <a:srgbClr val="C99A2E"/>
          </a:solidFill>
          <a:ln/>
        </p:spPr>
      </p:sp>
      <p:pic>
        <p:nvPicPr>
          <p:cNvPr id="20" name="Image 0" descr="preencoded.png">    </p:cNvPr>
          <p:cNvPicPr>
            <a:picLocks noChangeAspect="1"/>
          </p:cNvPicPr>
          <p:nvPr/>
        </p:nvPicPr>
        <p:blipFill>
          <a:blip r:embed="rId1"/>
          <a:stretch>
            <a:fillRect/>
          </a:stretch>
        </p:blipFill>
        <p:spPr>
          <a:xfrm>
            <a:off x="585216" y="3611880"/>
            <a:ext cx="164592" cy="164592"/>
          </a:xfrm>
          <a:prstGeom prst="rect">
            <a:avLst/>
          </a:prstGeom>
        </p:spPr>
      </p:pic>
      <p:sp>
        <p:nvSpPr>
          <p:cNvPr id="21" name="Text 18"/>
          <p:cNvSpPr txBox="1"/>
          <p:nvPr/>
        </p:nvSpPr>
        <p:spPr>
          <a:xfrm>
            <a:off x="886968" y="3529584"/>
            <a:ext cx="1463040" cy="329184"/>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Profit target</a:t>
            </a:r>
            <a:endParaRPr lang="en-US" sz="1050" dirty="0"/>
          </a:p>
        </p:txBody>
      </p:sp>
      <p:sp>
        <p:nvSpPr>
          <p:cNvPr id="22" name="Text 19"/>
          <p:cNvSpPr txBox="1"/>
          <p:nvPr/>
        </p:nvSpPr>
        <p:spPr>
          <a:xfrm>
            <a:off x="502920" y="3895344"/>
            <a:ext cx="1810512" cy="713232"/>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Lock-in rungs bank gains automatically. The investment committee reviews selling back if MTM ≥ 150%</a:t>
            </a:r>
            <a:endParaRPr lang="en-US" sz="950" dirty="0"/>
          </a:p>
        </p:txBody>
      </p:sp>
      <p:sp>
        <p:nvSpPr>
          <p:cNvPr id="23" name="Shape 20"/>
          <p:cNvSpPr/>
          <p:nvPr/>
        </p:nvSpPr>
        <p:spPr>
          <a:xfrm>
            <a:off x="2514600" y="3456432"/>
            <a:ext cx="1993392" cy="1188720"/>
          </a:xfrm>
          <a:prstGeom prst="roundRect">
            <a:avLst>
              <a:gd name="adj" fmla="val 4615"/>
            </a:avLst>
          </a:prstGeom>
          <a:solidFill>
            <a:srgbClr val="FFFFFF"/>
          </a:solidFill>
          <a:ln w="6350">
            <a:solidFill>
              <a:srgbClr val="FFFFFF"/>
            </a:solidFill>
            <a:prstDash val="solid"/>
          </a:ln>
        </p:spPr>
      </p:sp>
      <p:sp>
        <p:nvSpPr>
          <p:cNvPr id="24" name="Shape 21"/>
          <p:cNvSpPr/>
          <p:nvPr/>
        </p:nvSpPr>
        <p:spPr>
          <a:xfrm>
            <a:off x="2606040" y="3529584"/>
            <a:ext cx="329184" cy="329184"/>
          </a:xfrm>
          <a:prstGeom prst="ellipse">
            <a:avLst/>
          </a:prstGeom>
          <a:solidFill>
            <a:srgbClr val="0E2238"/>
          </a:solidFill>
          <a:ln/>
        </p:spPr>
      </p:sp>
      <p:pic>
        <p:nvPicPr>
          <p:cNvPr id="25" name="Image 1" descr="preencoded.png">    </p:cNvPr>
          <p:cNvPicPr>
            <a:picLocks noChangeAspect="1"/>
          </p:cNvPicPr>
          <p:nvPr/>
        </p:nvPicPr>
        <p:blipFill>
          <a:blip r:embed="rId2"/>
          <a:stretch>
            <a:fillRect/>
          </a:stretch>
        </p:blipFill>
        <p:spPr>
          <a:xfrm>
            <a:off x="2688336" y="3611880"/>
            <a:ext cx="164592" cy="164592"/>
          </a:xfrm>
          <a:prstGeom prst="rect">
            <a:avLst/>
          </a:prstGeom>
        </p:spPr>
      </p:pic>
      <p:sp>
        <p:nvSpPr>
          <p:cNvPr id="26" name="Text 22"/>
          <p:cNvSpPr txBox="1"/>
          <p:nvPr/>
        </p:nvSpPr>
        <p:spPr>
          <a:xfrm>
            <a:off x="2990088" y="3529584"/>
            <a:ext cx="1463040" cy="329184"/>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Stop-loss</a:t>
            </a:r>
            <a:endParaRPr lang="en-US" sz="1050" dirty="0"/>
          </a:p>
        </p:txBody>
      </p:sp>
      <p:sp>
        <p:nvSpPr>
          <p:cNvPr id="27" name="Text 23"/>
          <p:cNvSpPr txBox="1"/>
          <p:nvPr/>
        </p:nvSpPr>
        <p:spPr>
          <a:xfrm>
            <a:off x="2606040" y="3895344"/>
            <a:ext cx="1810512" cy="713232"/>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Not needed for market risk (contractual floor). Trigger on credit: Natixis 5Y CDS &gt; 250bp; gap risk acknowledged</a:t>
            </a:r>
            <a:endParaRPr lang="en-US" sz="950" dirty="0"/>
          </a:p>
        </p:txBody>
      </p:sp>
      <p:sp>
        <p:nvSpPr>
          <p:cNvPr id="28" name="Shape 24"/>
          <p:cNvSpPr/>
          <p:nvPr/>
        </p:nvSpPr>
        <p:spPr>
          <a:xfrm>
            <a:off x="4617720" y="3456432"/>
            <a:ext cx="1993392" cy="1188720"/>
          </a:xfrm>
          <a:prstGeom prst="roundRect">
            <a:avLst>
              <a:gd name="adj" fmla="val 4615"/>
            </a:avLst>
          </a:prstGeom>
          <a:solidFill>
            <a:srgbClr val="FFFFFF"/>
          </a:solidFill>
          <a:ln w="6350">
            <a:solidFill>
              <a:srgbClr val="FFFFFF"/>
            </a:solidFill>
            <a:prstDash val="solid"/>
          </a:ln>
        </p:spPr>
      </p:sp>
      <p:sp>
        <p:nvSpPr>
          <p:cNvPr id="29" name="Shape 25"/>
          <p:cNvSpPr/>
          <p:nvPr/>
        </p:nvSpPr>
        <p:spPr>
          <a:xfrm>
            <a:off x="4709160" y="3529584"/>
            <a:ext cx="329184" cy="329184"/>
          </a:xfrm>
          <a:prstGeom prst="ellipse">
            <a:avLst/>
          </a:prstGeom>
          <a:solidFill>
            <a:srgbClr val="0E2238"/>
          </a:solidFill>
          <a:ln/>
        </p:spPr>
      </p:sp>
      <p:pic>
        <p:nvPicPr>
          <p:cNvPr id="30" name="Image 2" descr="preencoded.png">    </p:cNvPr>
          <p:cNvPicPr>
            <a:picLocks noChangeAspect="1"/>
          </p:cNvPicPr>
          <p:nvPr/>
        </p:nvPicPr>
        <p:blipFill>
          <a:blip r:embed="rId3"/>
          <a:stretch>
            <a:fillRect/>
          </a:stretch>
        </p:blipFill>
        <p:spPr>
          <a:xfrm>
            <a:off x="4791456" y="3611880"/>
            <a:ext cx="164592" cy="164592"/>
          </a:xfrm>
          <a:prstGeom prst="rect">
            <a:avLst/>
          </a:prstGeom>
        </p:spPr>
      </p:pic>
      <p:sp>
        <p:nvSpPr>
          <p:cNvPr id="31" name="Text 26"/>
          <p:cNvSpPr txBox="1"/>
          <p:nvPr/>
        </p:nvSpPr>
        <p:spPr>
          <a:xfrm>
            <a:off x="5093208" y="3529584"/>
            <a:ext cx="1463040" cy="329184"/>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Thesis invalidation</a:t>
            </a:r>
            <a:endParaRPr lang="en-US" sz="1050" dirty="0"/>
          </a:p>
        </p:txBody>
      </p:sp>
      <p:sp>
        <p:nvSpPr>
          <p:cNvPr id="32" name="Text 27"/>
          <p:cNvSpPr txBox="1"/>
          <p:nvPr/>
        </p:nvSpPr>
        <p:spPr>
          <a:xfrm>
            <a:off x="4709160" y="3895344"/>
            <a:ext cx="1810512" cy="713232"/>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Hyperscaler capex guided down for two straight quarters, or a Taiwan Strait blockade: review the position</a:t>
            </a:r>
            <a:endParaRPr lang="en-US" sz="950" dirty="0"/>
          </a:p>
        </p:txBody>
      </p:sp>
      <p:sp>
        <p:nvSpPr>
          <p:cNvPr id="33" name="Shape 28"/>
          <p:cNvSpPr/>
          <p:nvPr/>
        </p:nvSpPr>
        <p:spPr>
          <a:xfrm>
            <a:off x="6720840" y="3456432"/>
            <a:ext cx="1993392" cy="1188720"/>
          </a:xfrm>
          <a:prstGeom prst="roundRect">
            <a:avLst>
              <a:gd name="adj" fmla="val 4615"/>
            </a:avLst>
          </a:prstGeom>
          <a:solidFill>
            <a:srgbClr val="FFFFFF"/>
          </a:solidFill>
          <a:ln w="6350">
            <a:solidFill>
              <a:srgbClr val="FFFFFF"/>
            </a:solidFill>
            <a:prstDash val="solid"/>
          </a:ln>
        </p:spPr>
      </p:sp>
      <p:sp>
        <p:nvSpPr>
          <p:cNvPr id="34" name="Shape 29"/>
          <p:cNvSpPr/>
          <p:nvPr/>
        </p:nvSpPr>
        <p:spPr>
          <a:xfrm>
            <a:off x="6812280" y="3529584"/>
            <a:ext cx="329184" cy="329184"/>
          </a:xfrm>
          <a:prstGeom prst="ellipse">
            <a:avLst/>
          </a:prstGeom>
          <a:solidFill>
            <a:srgbClr val="1F8A70"/>
          </a:solidFill>
          <a:ln/>
        </p:spPr>
      </p:sp>
      <p:pic>
        <p:nvPicPr>
          <p:cNvPr id="35" name="Image 3" descr="preencoded.png">    </p:cNvPr>
          <p:cNvPicPr>
            <a:picLocks noChangeAspect="1"/>
          </p:cNvPicPr>
          <p:nvPr/>
        </p:nvPicPr>
        <p:blipFill>
          <a:blip r:embed="rId4"/>
          <a:stretch>
            <a:fillRect/>
          </a:stretch>
        </p:blipFill>
        <p:spPr>
          <a:xfrm>
            <a:off x="6894576" y="3611880"/>
            <a:ext cx="164592" cy="164592"/>
          </a:xfrm>
          <a:prstGeom prst="rect">
            <a:avLst/>
          </a:prstGeom>
        </p:spPr>
      </p:pic>
      <p:sp>
        <p:nvSpPr>
          <p:cNvPr id="36" name="Text 30"/>
          <p:cNvSpPr txBox="1"/>
          <p:nvPr/>
        </p:nvSpPr>
        <p:spPr>
          <a:xfrm>
            <a:off x="7196328" y="3529584"/>
            <a:ext cx="1463040" cy="329184"/>
          </a:xfrm>
          <a:prstGeom prst="rect">
            <a:avLst/>
          </a:prstGeom>
          <a:noFill/>
          <a:ln/>
        </p:spPr>
        <p:txBody>
          <a:bodyPr wrap="square" lIns="0" tIns="0" rIns="0" bIns="0" rtlCol="0" anchor="ctr"/>
          <a:lstStyle/>
          <a:p>
            <a:pPr indent="0" marL="0">
              <a:buNone/>
            </a:pPr>
            <a:r>
              <a:rPr lang="en-US" sz="1050" b="1" dirty="0">
                <a:solidFill>
                  <a:srgbClr val="0E2238"/>
                </a:solidFill>
                <a:latin typeface="Calibri" pitchFamily="34" charset="0"/>
                <a:ea typeface="Calibri" pitchFamily="34" charset="-122"/>
                <a:cs typeface="Calibri" pitchFamily="34" charset="-120"/>
              </a:rPr>
              <a:t>Time stop</a:t>
            </a:r>
            <a:endParaRPr lang="en-US" sz="1050" dirty="0"/>
          </a:p>
        </p:txBody>
      </p:sp>
      <p:sp>
        <p:nvSpPr>
          <p:cNvPr id="37" name="Text 31"/>
          <p:cNvSpPr txBox="1"/>
          <p:nvPr/>
        </p:nvSpPr>
        <p:spPr>
          <a:xfrm>
            <a:off x="6812280" y="3895344"/>
            <a:ext cx="1810512" cy="713232"/>
          </a:xfrm>
          <a:prstGeom prst="rect">
            <a:avLst/>
          </a:prstGeom>
          <a:noFill/>
          <a:ln/>
        </p:spPr>
        <p:txBody>
          <a:bodyPr wrap="square" lIns="0" tIns="0" rIns="0" bIns="0" rtlCol="0" anchor="t"/>
          <a:lstStyle/>
          <a:p>
            <a:pPr indent="0" marL="0">
              <a:buNone/>
            </a:pPr>
            <a:r>
              <a:rPr lang="en-US" sz="950" dirty="0">
                <a:solidFill>
                  <a:srgbClr val="1A2230"/>
                </a:solidFill>
                <a:latin typeface="Calibri" pitchFamily="34" charset="0"/>
                <a:ea typeface="Calibri" pitchFamily="34" charset="-122"/>
                <a:cs typeface="Calibri" pitchFamily="34" charset="-120"/>
              </a:rPr>
              <a:t>Maturity 17 Sep 2033, aligned with the family's next succession review</a:t>
            </a:r>
            <a:endParaRPr lang="en-US" sz="950" dirty="0"/>
          </a:p>
        </p:txBody>
      </p:sp>
      <p:sp>
        <p:nvSpPr>
          <p:cNvPr id="38" name="Text 32"/>
          <p:cNvSpPr txBox="1"/>
          <p:nvPr/>
        </p:nvSpPr>
        <p:spPr>
          <a:xfrm>
            <a:off x="411480" y="4800600"/>
            <a:ext cx="7863840" cy="256032"/>
          </a:xfrm>
          <a:prstGeom prst="rect">
            <a:avLst/>
          </a:prstGeom>
          <a:noFill/>
          <a:ln/>
        </p:spPr>
        <p:txBody>
          <a:bodyPr wrap="square" lIns="0" tIns="0" rIns="0" bIns="0" rtlCol="0" anchor="ctr"/>
          <a:lstStyle/>
          <a:p>
            <a:pPr indent="0" marL="0">
              <a:buNone/>
            </a:pPr>
            <a:r>
              <a:rPr lang="en-US" sz="900" i="1" dirty="0">
                <a:solidFill>
                  <a:srgbClr val="C99A2E"/>
                </a:solidFill>
                <a:latin typeface="Calibri" pitchFamily="34" charset="0"/>
                <a:ea typeface="Calibri" pitchFamily="34" charset="-122"/>
                <a:cs typeface="Calibri" pitchFamily="34" charset="-120"/>
              </a:rPr>
              <a:t>Next steps: confirm assumptions with the investment committee  ·  refresh pricing on Bloomberg  ·  term sheet and KID  ·  strike on 17 Sep 2026</a:t>
            </a:r>
            <a:endParaRPr lang="en-US" sz="900" dirty="0"/>
          </a:p>
        </p:txBody>
      </p:sp>
      <p:sp>
        <p:nvSpPr>
          <p:cNvPr id="39" name="Text 33"/>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B9C7D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Appendix A1: market inputs and assumptions</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Placeholders calibrated to typical levels; every one is a Bloomberg field to refresh at the trade date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1143000"/>
                <a:gridCol w="1005840"/>
                <a:gridCol w="868680"/>
                <a:gridCol w="1280160"/>
                <a:gridCol w="868680"/>
                <a:gridCol w="960120"/>
                <a:gridCol w="822960"/>
                <a:gridCol w="1371600"/>
              </a:tblGrid>
              <a:tr h="329184">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Index</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BBG ticker</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Implied vol</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Local rate</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Div. yield</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Quanto adj.</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Q drift</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Real-world drift</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329184">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Nikkei 225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NKY Index</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3.23% (JPY grid)</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1.7%</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329184">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TAIEX</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TWSE Index</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1.75%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−0.2%</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5.5%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KOSPI 200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KOSPI2 Index</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29%</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2.75%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−0.3%</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0.6%</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329184">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Hang Seng TECH</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HSTECH Index</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5.00% (HKD)</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0.9%</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4.1%</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11480" y="2926080"/>
            <a:ext cx="3657600" cy="274320"/>
          </a:xfrm>
          <a:prstGeom prst="rect">
            <a:avLst/>
          </a:prstGeom>
          <a:noFill/>
          <a:ln/>
        </p:spPr>
        <p:txBody>
          <a:bodyPr wrap="square" lIns="0" tIns="0" rIns="0" bIns="0" rtlCol="0" anchor="ctr"/>
          <a:lstStyle/>
          <a:p>
            <a:pPr indent="0" marL="0">
              <a:buNone/>
            </a:pPr>
            <a:r>
              <a:rPr lang="en-US" sz="1200" b="1" dirty="0">
                <a:solidFill>
                  <a:srgbClr val="0E2238"/>
                </a:solidFill>
                <a:latin typeface="Cambria" pitchFamily="34" charset="0"/>
                <a:ea typeface="Cambria" pitchFamily="34" charset="-122"/>
                <a:cs typeface="Cambria" pitchFamily="34" charset="-120"/>
              </a:rPr>
              <a:t>Correlation matrix</a:t>
            </a:r>
            <a:endParaRPr lang="en-US" sz="12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11480" y="3218688"/>
          <a:ext cx="3840480" cy="914400"/>
        </p:xfrm>
        <a:graphic>
          <a:graphicData uri="http://schemas.openxmlformats.org/drawingml/2006/table">
            <a:tbl>
              <a:tblPr/>
              <a:tblGrid>
                <a:gridCol w="822960"/>
                <a:gridCol w="731520"/>
                <a:gridCol w="731520"/>
                <a:gridCol w="777240"/>
                <a:gridCol w="777240"/>
              </a:tblGrid>
              <a:tr h="274320">
                <a:tc>
                  <a:txBody>
                    <a:bodyPr/>
                    <a:lstStyle/>
                    <a:p>
                      <a:pPr algn="ct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NKY</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TWSE</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KOSPI2</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HSTECH</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274320">
                <a:tc>
                  <a:txBody>
                    <a:bodyPr/>
                    <a:lstStyle/>
                    <a:p>
                      <a:pPr algn="ctr" indent="0" marL="0">
                        <a:buNone/>
                      </a:pPr>
                      <a:r>
                        <a:rPr lang="en-US" sz="950" b="1" dirty="0">
                          <a:solidFill>
                            <a:srgbClr val="1A2230"/>
                          </a:solidFill>
                          <a:latin typeface="Calibri" pitchFamily="34" charset="0"/>
                          <a:ea typeface="Calibri" pitchFamily="34" charset="-122"/>
                          <a:cs typeface="Calibri" pitchFamily="34" charset="-120"/>
                        </a:rPr>
                        <a:t>NKY</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0.55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0.60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0.40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1A2230"/>
                          </a:solidFill>
                          <a:latin typeface="Calibri" pitchFamily="34" charset="0"/>
                          <a:ea typeface="Calibri" pitchFamily="34" charset="-122"/>
                          <a:cs typeface="Calibri" pitchFamily="34" charset="-120"/>
                        </a:rPr>
                        <a:t>TWSE</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0.55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0.65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0.45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1A2230"/>
                          </a:solidFill>
                          <a:latin typeface="Calibri" pitchFamily="34" charset="0"/>
                          <a:ea typeface="Calibri" pitchFamily="34" charset="-122"/>
                          <a:cs typeface="Calibri" pitchFamily="34" charset="-120"/>
                        </a:rPr>
                        <a:t>KOSPI2</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0.60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0.65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274320">
                <a:tc>
                  <a:txBody>
                    <a:bodyPr/>
                    <a:lstStyle/>
                    <a:p>
                      <a:pPr algn="ctr" indent="0" marL="0">
                        <a:buNone/>
                      </a:pPr>
                      <a:r>
                        <a:rPr lang="en-US" sz="950" b="1" dirty="0">
                          <a:solidFill>
                            <a:srgbClr val="1A2230"/>
                          </a:solidFill>
                          <a:latin typeface="Calibri" pitchFamily="34" charset="0"/>
                          <a:ea typeface="Calibri" pitchFamily="34" charset="-122"/>
                          <a:cs typeface="Calibri" pitchFamily="34" charset="-120"/>
                        </a:rPr>
                        <a:t>HSTECH</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0.40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0.45</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0.50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230"/>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480560" y="2926080"/>
            <a:ext cx="4251960" cy="1783080"/>
          </a:xfrm>
          <a:prstGeom prst="rect">
            <a:avLst/>
          </a:prstGeom>
          <a:noFill/>
          <a:ln/>
        </p:spPr>
        <p:txBody>
          <a:bodyPr wrap="square" lIns="0" tIns="0" rIns="0" bIns="0" rtlCol="0" anchor="t"/>
          <a:lstStyle/>
          <a:p>
            <a:pPr indent="0" marL="0">
              <a:spcAft>
                <a:spcPts val="600"/>
              </a:spcAft>
              <a:buNone/>
            </a:pPr>
            <a:r>
              <a:rPr lang="en-US" sz="950" b="1" dirty="0">
                <a:solidFill>
                  <a:srgbClr val="0E2238"/>
                </a:solidFill>
                <a:latin typeface="Calibri" pitchFamily="34" charset="0"/>
                <a:ea typeface="Calibri" pitchFamily="34" charset="-122"/>
                <a:cs typeface="Calibri" pitchFamily="34" charset="-120"/>
              </a:rPr>
              <a:t>Funding: </a:t>
            </a:r>
            <a:pPr indent="0" marL="0">
              <a:spcAft>
                <a:spcPts val="600"/>
              </a:spcAft>
              <a:buNone/>
            </a:pPr>
            <a:r>
              <a:rPr lang="en-US" sz="950" dirty="0">
                <a:solidFill>
                  <a:srgbClr val="1A2230"/>
                </a:solidFill>
                <a:latin typeface="Calibri" pitchFamily="34" charset="0"/>
                <a:ea typeface="Calibri" pitchFamily="34" charset="-122"/>
                <a:cs typeface="Calibri" pitchFamily="34" charset="-120"/>
              </a:rPr>
              <a:t>USD grid from the rules (7Y 5.75%); tenors interpolated linearly. Derivatives discounted at OIS ≈ funding − 45bp.</a:t>
            </a:r>
            <a:endParaRPr lang="en-US" sz="950" dirty="0"/>
          </a:p>
          <a:p>
            <a:pPr indent="0" marL="0">
              <a:spcAft>
                <a:spcPts val="600"/>
              </a:spcAft>
              <a:buNone/>
            </a:pPr>
            <a:r>
              <a:rPr lang="en-US" sz="950" b="1" dirty="0">
                <a:solidFill>
                  <a:srgbClr val="0E2238"/>
                </a:solidFill>
                <a:latin typeface="Calibri" pitchFamily="34" charset="0"/>
                <a:ea typeface="Calibri" pitchFamily="34" charset="-122"/>
                <a:cs typeface="Calibri" pitchFamily="34" charset="-120"/>
              </a:rPr>
              <a:t>Fees: </a:t>
            </a:r>
            <a:pPr indent="0" marL="0">
              <a:spcAft>
                <a:spcPts val="600"/>
              </a:spcAft>
              <a:buNone/>
            </a:pPr>
            <a:r>
              <a:rPr lang="en-US" sz="950" dirty="0">
                <a:solidFill>
                  <a:srgbClr val="1A2230"/>
                </a:solidFill>
                <a:latin typeface="Calibri" pitchFamily="34" charset="0"/>
                <a:ea typeface="Calibri" pitchFamily="34" charset="-122"/>
                <a:cs typeface="Calibri" pitchFamily="34" charset="-120"/>
              </a:rPr>
              <a:t>35 bp p.a. (2.45% upfront equivalent).</a:t>
            </a:r>
            <a:endParaRPr lang="en-US" sz="950" dirty="0"/>
          </a:p>
          <a:p>
            <a:pPr indent="0" marL="0">
              <a:spcAft>
                <a:spcPts val="600"/>
              </a:spcAft>
              <a:buNone/>
            </a:pPr>
            <a:r>
              <a:rPr lang="en-US" sz="950" b="1" dirty="0">
                <a:solidFill>
                  <a:srgbClr val="0E2238"/>
                </a:solidFill>
                <a:latin typeface="Calibri" pitchFamily="34" charset="0"/>
                <a:ea typeface="Calibri" pitchFamily="34" charset="-122"/>
                <a:cs typeface="Calibri" pitchFamily="34" charset="-120"/>
              </a:rPr>
              <a:t>Bloomberg to pull: </a:t>
            </a:r>
            <a:pPr indent="0" marL="0">
              <a:spcAft>
                <a:spcPts val="600"/>
              </a:spcAft>
              <a:buNone/>
            </a:pPr>
            <a:r>
              <a:rPr lang="en-US" sz="950" dirty="0">
                <a:solidFill>
                  <a:srgbClr val="1A2230"/>
                </a:solidFill>
                <a:latin typeface="Calibri" pitchFamily="34" charset="0"/>
                <a:ea typeface="Calibri" pitchFamily="34" charset="-122"/>
                <a:cs typeface="Calibri" pitchFamily="34" charset="-120"/>
              </a:rPr>
              <a:t>OVDV (vol surfaces), CORR / HS (1Y and 3Y correlation), BDVD (dividends), SWPM (local curves), MEMB (constituents), CDSW (Natixis CDS).</a:t>
            </a:r>
            <a:endParaRPr lang="en-US" sz="950" dirty="0"/>
          </a:p>
        </p:txBody>
      </p:sp>
      <p:sp>
        <p:nvSpPr>
          <p:cNvPr id="8" name="Text 4"/>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A1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Appendix A2: pricing and back-test methodology</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Reproducible: every number in this deck comes from pricing/scenario2/analysis.py</a:t>
            </a:r>
            <a:endParaRPr lang="en-US" sz="1200" dirty="0"/>
          </a:p>
        </p:txBody>
      </p:sp>
      <p:sp>
        <p:nvSpPr>
          <p:cNvPr id="4" name="Shape 2"/>
          <p:cNvSpPr/>
          <p:nvPr/>
        </p:nvSpPr>
        <p:spPr>
          <a:xfrm>
            <a:off x="411480" y="1335024"/>
            <a:ext cx="384048" cy="384048"/>
          </a:xfrm>
          <a:prstGeom prst="ellipse">
            <a:avLst/>
          </a:prstGeom>
          <a:solidFill>
            <a:srgbClr val="0E2238"/>
          </a:solidFill>
          <a:ln/>
        </p:spPr>
      </p:sp>
      <p:sp>
        <p:nvSpPr>
          <p:cNvPr id="5" name="Text 3"/>
          <p:cNvSpPr txBox="1"/>
          <p:nvPr/>
        </p:nvSpPr>
        <p:spPr>
          <a:xfrm>
            <a:off x="411480" y="1335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914400" y="1143000"/>
            <a:ext cx="3566160" cy="777240"/>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Budget: </a:t>
            </a:r>
            <a:pPr indent="0" marL="0">
              <a:buNone/>
            </a:pPr>
            <a:r>
              <a:rPr lang="en-US" sz="950" dirty="0">
                <a:solidFill>
                  <a:srgbClr val="1A2230"/>
                </a:solidFill>
                <a:latin typeface="Calibri" pitchFamily="34" charset="0"/>
                <a:ea typeface="Calibri" pitchFamily="34" charset="-122"/>
                <a:cs typeface="Calibri" pitchFamily="34" charset="-120"/>
              </a:rPr>
              <a:t>Option budget = 100% − ZCB(7Y, USD funding) − fees. ZCB = 1 / 1.0575^7 = 67.6%.</a:t>
            </a:r>
            <a:endParaRPr lang="en-US" sz="950" dirty="0"/>
          </a:p>
        </p:txBody>
      </p:sp>
      <p:sp>
        <p:nvSpPr>
          <p:cNvPr id="7" name="Shape 5"/>
          <p:cNvSpPr/>
          <p:nvPr/>
        </p:nvSpPr>
        <p:spPr>
          <a:xfrm>
            <a:off x="4617720" y="1335024"/>
            <a:ext cx="384048" cy="384048"/>
          </a:xfrm>
          <a:prstGeom prst="ellipse">
            <a:avLst/>
          </a:prstGeom>
          <a:solidFill>
            <a:srgbClr val="1F8A70"/>
          </a:solidFill>
          <a:ln/>
        </p:spPr>
      </p:sp>
      <p:sp>
        <p:nvSpPr>
          <p:cNvPr id="8" name="Text 6"/>
          <p:cNvSpPr txBox="1"/>
          <p:nvPr/>
        </p:nvSpPr>
        <p:spPr>
          <a:xfrm>
            <a:off x="4617720" y="1335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5120640" y="1143000"/>
            <a:ext cx="3566160" cy="777240"/>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Price: </a:t>
            </a:r>
            <a:pPr indent="0" marL="0">
              <a:buNone/>
            </a:pPr>
            <a:r>
              <a:rPr lang="en-US" sz="950" dirty="0">
                <a:solidFill>
                  <a:srgbClr val="1A2230"/>
                </a:solidFill>
                <a:latin typeface="Calibri" pitchFamily="34" charset="0"/>
                <a:ea typeface="Calibri" pitchFamily="34" charset="-122"/>
                <a:cs typeface="Calibri" pitchFamily="34" charset="-120"/>
              </a:rPr>
              <a:t>Risk-neutral quanto GBM, 4 correlated indices, annual steps (lock-in dates), 200,000 paths, common random numbers across bumps.</a:t>
            </a:r>
            <a:endParaRPr lang="en-US" sz="950" dirty="0"/>
          </a:p>
        </p:txBody>
      </p:sp>
      <p:sp>
        <p:nvSpPr>
          <p:cNvPr id="10" name="Shape 8"/>
          <p:cNvSpPr/>
          <p:nvPr/>
        </p:nvSpPr>
        <p:spPr>
          <a:xfrm>
            <a:off x="411480" y="2249424"/>
            <a:ext cx="384048" cy="384048"/>
          </a:xfrm>
          <a:prstGeom prst="ellipse">
            <a:avLst/>
          </a:prstGeom>
          <a:solidFill>
            <a:srgbClr val="0E2238"/>
          </a:solidFill>
          <a:ln/>
        </p:spPr>
      </p:sp>
      <p:sp>
        <p:nvSpPr>
          <p:cNvPr id="11" name="Text 9"/>
          <p:cNvSpPr txBox="1"/>
          <p:nvPr/>
        </p:nvSpPr>
        <p:spPr>
          <a:xfrm>
            <a:off x="41148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914400" y="2057400"/>
            <a:ext cx="3566160" cy="777240"/>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Solve: </a:t>
            </a:r>
            <a:pPr indent="0" marL="0">
              <a:buNone/>
            </a:pPr>
            <a:r>
              <a:rPr lang="en-US" sz="950" dirty="0">
                <a:solidFill>
                  <a:srgbClr val="1A2230"/>
                </a:solidFill>
                <a:latin typeface="Calibri" pitchFamily="34" charset="0"/>
                <a:ea typeface="Calibri" pitchFamily="34" charset="-122"/>
                <a:cs typeface="Calibri" pitchFamily="34" charset="-120"/>
              </a:rPr>
              <a:t>Bisection on participation so the PV of the payoff above 100% equals the budget. Quote below fair to hold a model reserve.</a:t>
            </a:r>
            <a:endParaRPr lang="en-US" sz="950" dirty="0"/>
          </a:p>
        </p:txBody>
      </p:sp>
      <p:sp>
        <p:nvSpPr>
          <p:cNvPr id="13" name="Shape 11"/>
          <p:cNvSpPr/>
          <p:nvPr/>
        </p:nvSpPr>
        <p:spPr>
          <a:xfrm>
            <a:off x="4617720" y="2249424"/>
            <a:ext cx="384048" cy="384048"/>
          </a:xfrm>
          <a:prstGeom prst="ellipse">
            <a:avLst/>
          </a:prstGeom>
          <a:solidFill>
            <a:srgbClr val="1F8A70"/>
          </a:solidFill>
          <a:ln/>
        </p:spPr>
      </p:sp>
      <p:sp>
        <p:nvSpPr>
          <p:cNvPr id="14" name="Text 12"/>
          <p:cNvSpPr txBox="1"/>
          <p:nvPr/>
        </p:nvSpPr>
        <p:spPr>
          <a:xfrm>
            <a:off x="461772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txBox="1"/>
          <p:nvPr/>
        </p:nvSpPr>
        <p:spPr>
          <a:xfrm>
            <a:off x="5120640" y="2057400"/>
            <a:ext cx="3566160" cy="777240"/>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Simulate: </a:t>
            </a:r>
            <a:pPr indent="0" marL="0">
              <a:buNone/>
            </a:pPr>
            <a:r>
              <a:rPr lang="en-US" sz="950" dirty="0">
                <a:solidFill>
                  <a:srgbClr val="1A2230"/>
                </a:solidFill>
                <a:latin typeface="Calibri" pitchFamily="34" charset="0"/>
                <a:ea typeface="Calibri" pitchFamily="34" charset="-122"/>
                <a:cs typeface="Calibri" pitchFamily="34" charset="-120"/>
              </a:rPr>
              <a:t>Real-world monthly multivariate-t (df = 5) paths for fat tails and joint crashes, 100,000 paths, equity risk premium drifts.</a:t>
            </a:r>
            <a:endParaRPr lang="en-US" sz="950" dirty="0"/>
          </a:p>
        </p:txBody>
      </p:sp>
      <p:sp>
        <p:nvSpPr>
          <p:cNvPr id="16" name="Shape 14"/>
          <p:cNvSpPr/>
          <p:nvPr/>
        </p:nvSpPr>
        <p:spPr>
          <a:xfrm>
            <a:off x="411480" y="3163824"/>
            <a:ext cx="384048" cy="384048"/>
          </a:xfrm>
          <a:prstGeom prst="ellipse">
            <a:avLst/>
          </a:prstGeom>
          <a:solidFill>
            <a:srgbClr val="0E2238"/>
          </a:solidFill>
          <a:ln/>
        </p:spPr>
      </p:sp>
      <p:sp>
        <p:nvSpPr>
          <p:cNvPr id="17" name="Text 15"/>
          <p:cNvSpPr txBox="1"/>
          <p:nvPr/>
        </p:nvSpPr>
        <p:spPr>
          <a:xfrm>
            <a:off x="411480" y="3163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txBox="1"/>
          <p:nvPr/>
        </p:nvSpPr>
        <p:spPr>
          <a:xfrm>
            <a:off x="914400" y="2971800"/>
            <a:ext cx="3566160" cy="777240"/>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Stress: </a:t>
            </a:r>
            <a:pPr indent="0" marL="0">
              <a:buNone/>
            </a:pPr>
            <a:r>
              <a:rPr lang="en-US" sz="950" dirty="0">
                <a:solidFill>
                  <a:srgbClr val="1A2230"/>
                </a:solidFill>
                <a:latin typeface="Calibri" pitchFamily="34" charset="0"/>
                <a:ea typeface="Calibri" pitchFamily="34" charset="-122"/>
                <a:cs typeface="Calibri" pitchFamily="34" charset="-120"/>
              </a:rPr>
              <a:t>Six stylised 7Y paths (boom-bust, lost decade, 2008-style, China tech decoupling, Taiwan shock, steady build-out).</a:t>
            </a:r>
            <a:endParaRPr lang="en-US" sz="950" dirty="0"/>
          </a:p>
        </p:txBody>
      </p:sp>
      <p:sp>
        <p:nvSpPr>
          <p:cNvPr id="19" name="Shape 17"/>
          <p:cNvSpPr/>
          <p:nvPr/>
        </p:nvSpPr>
        <p:spPr>
          <a:xfrm>
            <a:off x="4617720" y="3163824"/>
            <a:ext cx="384048" cy="384048"/>
          </a:xfrm>
          <a:prstGeom prst="ellipse">
            <a:avLst/>
          </a:prstGeom>
          <a:solidFill>
            <a:srgbClr val="1F8A70"/>
          </a:solidFill>
          <a:ln/>
        </p:spPr>
      </p:sp>
      <p:sp>
        <p:nvSpPr>
          <p:cNvPr id="20" name="Text 18"/>
          <p:cNvSpPr txBox="1"/>
          <p:nvPr/>
        </p:nvSpPr>
        <p:spPr>
          <a:xfrm>
            <a:off x="4617720" y="3163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1" name="Text 19"/>
          <p:cNvSpPr txBox="1"/>
          <p:nvPr/>
        </p:nvSpPr>
        <p:spPr>
          <a:xfrm>
            <a:off x="5120640" y="2971800"/>
            <a:ext cx="3566160" cy="777240"/>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Risk: </a:t>
            </a:r>
            <a:pPr indent="0" marL="0">
              <a:buNone/>
            </a:pPr>
            <a:r>
              <a:rPr lang="en-US" sz="950" dirty="0">
                <a:solidFill>
                  <a:srgbClr val="1A2230"/>
                </a:solidFill>
                <a:latin typeface="Calibri" pitchFamily="34" charset="0"/>
                <a:ea typeface="Calibri" pitchFamily="34" charset="-122"/>
                <a:cs typeface="Calibri" pitchFamily="34" charset="-120"/>
              </a:rPr>
              <a:t>Bump-and-revalue Greeks; delta-normal 10-day VaR/ES; full revaluation joint stress (spot, vol and rates together).</a:t>
            </a:r>
            <a:endParaRPr lang="en-US" sz="950" dirty="0"/>
          </a:p>
        </p:txBody>
      </p:sp>
      <p:sp>
        <p:nvSpPr>
          <p:cNvPr id="22" name="Shape 20"/>
          <p:cNvSpPr/>
          <p:nvPr/>
        </p:nvSpPr>
        <p:spPr>
          <a:xfrm>
            <a:off x="411480" y="3931920"/>
            <a:ext cx="8321040" cy="777240"/>
          </a:xfrm>
          <a:prstGeom prst="roundRect">
            <a:avLst>
              <a:gd name="adj" fmla="val 7059"/>
            </a:avLst>
          </a:prstGeom>
          <a:solidFill>
            <a:srgbClr val="F6ECD3"/>
          </a:solidFill>
          <a:ln w="6350">
            <a:solidFill>
              <a:srgbClr val="F6ECD3"/>
            </a:solidFill>
            <a:prstDash val="solid"/>
          </a:ln>
        </p:spPr>
      </p:sp>
      <p:sp>
        <p:nvSpPr>
          <p:cNvPr id="23" name="Text 21"/>
          <p:cNvSpPr txBox="1"/>
          <p:nvPr/>
        </p:nvSpPr>
        <p:spPr>
          <a:xfrm>
            <a:off x="548640" y="3950208"/>
            <a:ext cx="8046720" cy="740664"/>
          </a:xfrm>
          <a:prstGeom prst="rect">
            <a:avLst/>
          </a:prstGeom>
          <a:noFill/>
          <a:ln/>
        </p:spPr>
        <p:txBody>
          <a:bodyPr wrap="square" lIns="0" tIns="0" rIns="0" bIns="0" rtlCol="0" anchor="ctr"/>
          <a:lstStyle/>
          <a:p>
            <a:pPr indent="0" marL="0">
              <a:buNone/>
            </a:pPr>
            <a:r>
              <a:rPr lang="en-US" sz="950" b="1" dirty="0">
                <a:solidFill>
                  <a:srgbClr val="0E2238"/>
                </a:solidFill>
                <a:latin typeface="Calibri" pitchFamily="34" charset="0"/>
                <a:ea typeface="Calibri" pitchFamily="34" charset="-122"/>
                <a:cs typeface="Calibri" pitchFamily="34" charset="-120"/>
              </a:rPr>
              <a:t>Historical back-test on Bloomberg data: </a:t>
            </a:r>
            <a:pPr indent="0" marL="0">
              <a:buNone/>
            </a:pPr>
            <a:r>
              <a:rPr lang="en-US" sz="950" dirty="0">
                <a:solidFill>
                  <a:srgbClr val="1A2230"/>
                </a:solidFill>
                <a:latin typeface="Calibri" pitchFamily="34" charset="0"/>
                <a:ea typeface="Calibri" pitchFamily="34" charset="-122"/>
                <a:cs typeface="Calibri" pitchFamily="34" charset="-120"/>
              </a:rPr>
              <a:t>export month-end PX_LAST for NKY, TWSE, KOSPI2, HSTECH (HSI spliced before 2015) and run backtest_bloomberg.py. It produces (a) a note struck every month with a full 7Y history and (b) a 12-month block bootstrap that keeps the cross-market correlation and crisis clustering that i.i.d. resampling destroys.</a:t>
            </a:r>
            <a:endParaRPr lang="en-US" sz="950" dirty="0"/>
          </a:p>
        </p:txBody>
      </p:sp>
      <p:sp>
        <p:nvSpPr>
          <p:cNvPr id="24" name="Text 22"/>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A2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Appendix A3: alternatives we considered and rejected</a:t>
            </a:r>
            <a:endParaRPr lang="en-US" sz="2100" dirty="0"/>
          </a:p>
        </p:txBody>
      </p:sp>
      <p:sp>
        <p:nvSpPr>
          <p:cNvPr id="3" name="Text 1"/>
          <p:cNvSpPr txBox="1"/>
          <p:nvPr/>
        </p:nvSpPr>
        <p:spPr>
          <a:xfrm>
            <a:off x="411480" y="731520"/>
            <a:ext cx="8321040" cy="292608"/>
          </a:xfrm>
          <a:prstGeom prst="rect">
            <a:avLst/>
          </a:prstGeom>
          <a:noFill/>
          <a:ln/>
        </p:spPr>
        <p:txBody>
          <a:bodyPr wrap="square" lIns="0" tIns="0" rIns="0" bIns="0" rtlCol="0" anchor="ctr"/>
          <a:lstStyle/>
          <a:p>
            <a:pPr indent="0" marL="0">
              <a:buNone/>
            </a:pPr>
            <a:r>
              <a:rPr lang="en-US" sz="1200" i="1" dirty="0">
                <a:solidFill>
                  <a:srgbClr val="1F8A70"/>
                </a:solidFill>
                <a:latin typeface="Calibri" pitchFamily="34" charset="0"/>
                <a:ea typeface="Calibri" pitchFamily="34" charset="-122"/>
                <a:cs typeface="Calibri" pitchFamily="34" charset="-120"/>
              </a:rPr>
              <a:t>Each fails at least one of the family's constraints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2286000"/>
                <a:gridCol w="1645920"/>
                <a:gridCol w="4389120"/>
              </a:tblGrid>
              <a:tr h="5029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Alternative</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Appeal</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Why not for the Chak family</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0E2238"/>
                    </a:solidFill>
                  </a:tcPr>
                </a:tc>
              </a:tr>
              <a:tr h="502920">
                <a:tc>
                  <a:txBody>
                    <a:bodyPr/>
                    <a:lstStyle/>
                    <a:p>
                      <a:pPr indent="0" marL="0">
                        <a:buNone/>
                      </a:pPr>
                      <a:r>
                        <a:rPr lang="en-US" sz="950" b="1" dirty="0">
                          <a:solidFill>
                            <a:srgbClr val="0E2238"/>
                          </a:solidFill>
                          <a:latin typeface="Calibri" pitchFamily="34" charset="0"/>
                          <a:ea typeface="Calibri" pitchFamily="34" charset="-122"/>
                          <a:cs typeface="Calibri" pitchFamily="34" charset="-120"/>
                        </a:rPr>
                        <a:t>Worst-of autocallable on the same 4 indices</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High fixed coupon</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Barrier exposes principal to the single worst market (Taiwan or China tail); the family needs growth, not income</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502920">
                <a:tc>
                  <a:txBody>
                    <a:bodyPr/>
                    <a:lstStyle/>
                    <a:p>
                      <a:pPr indent="0" marL="0">
                        <a:buNone/>
                      </a:pPr>
                      <a:r>
                        <a:rPr lang="en-US" sz="950" b="1" dirty="0">
                          <a:solidFill>
                            <a:srgbClr val="0E2238"/>
                          </a:solidFill>
                          <a:latin typeface="Calibri" pitchFamily="34" charset="0"/>
                          <a:ea typeface="Calibri" pitchFamily="34" charset="-122"/>
                          <a:cs typeface="Calibri" pitchFamily="34" charset="-120"/>
                        </a:rPr>
                        <a:t>Best-of rainbow (40/30/20/10 by rank)</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Weights the winning market</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Participation falls to 86%: paying for dispersion the family does not need</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0E2238"/>
                          </a:solidFill>
                          <a:latin typeface="Calibri" pitchFamily="34" charset="0"/>
                          <a:ea typeface="Calibri" pitchFamily="34" charset="-122"/>
                          <a:cs typeface="Calibri" pitchFamily="34" charset="-120"/>
                        </a:rPr>
                        <a:t>10-year tenor</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160% participation</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Locks capital beyond one succession cycle; more credit exposure to one issuer</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502920">
                <a:tc>
                  <a:txBody>
                    <a:bodyPr/>
                    <a:lstStyle/>
                    <a:p>
                      <a:pPr indent="0" marL="0">
                        <a:buNone/>
                      </a:pPr>
                      <a:r>
                        <a:rPr lang="en-US" sz="950" b="1" dirty="0">
                          <a:solidFill>
                            <a:srgbClr val="0E2238"/>
                          </a:solidFill>
                          <a:latin typeface="Calibri" pitchFamily="34" charset="0"/>
                          <a:ea typeface="Calibri" pitchFamily="34" charset="-122"/>
                          <a:cs typeface="Calibri" pitchFamily="34" charset="-120"/>
                        </a:rPr>
                        <a:t>90% protection</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159% participation</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A 10% loss of generational capital is outside the mandate</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0E2238"/>
                          </a:solidFill>
                          <a:latin typeface="Calibri" pitchFamily="34" charset="0"/>
                          <a:ea typeface="Calibri" pitchFamily="34" charset="-122"/>
                          <a:cs typeface="Calibri" pitchFamily="34" charset="-120"/>
                        </a:rPr>
                        <a:t>Digital-asset (Bitcoin) sleeve</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Direct crypto-tech exposure</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50%+ vol would consume the option budget; reputational and custody questions for a legacy portfolio</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E8F3EF"/>
                    </a:solidFill>
                  </a:tcPr>
                </a:tc>
              </a:tr>
              <a:tr h="502920">
                <a:tc>
                  <a:txBody>
                    <a:bodyPr/>
                    <a:lstStyle/>
                    <a:p>
                      <a:pPr indent="0" marL="0">
                        <a:buNone/>
                      </a:pPr>
                      <a:r>
                        <a:rPr lang="en-US" sz="950" b="1" dirty="0">
                          <a:solidFill>
                            <a:srgbClr val="0E2238"/>
                          </a:solidFill>
                          <a:latin typeface="Calibri" pitchFamily="34" charset="0"/>
                          <a:ea typeface="Calibri" pitchFamily="34" charset="-122"/>
                          <a:cs typeface="Calibri" pitchFamily="34" charset="-120"/>
                        </a:rPr>
                        <a:t>Asia data-centre REITs / utilities</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Close to family expertise</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c>
                  <a:txBody>
                    <a:bodyPr/>
                    <a:lstStyle/>
                    <a:p>
                      <a:pPr indent="0" marL="0">
                        <a:buNone/>
                      </a:pPr>
                      <a:r>
                        <a:rPr lang="en-US" sz="950" dirty="0">
                          <a:solidFill>
                            <a:srgbClr val="1A2230"/>
                          </a:solidFill>
                          <a:latin typeface="Calibri" pitchFamily="34" charset="0"/>
                          <a:ea typeface="Calibri" pitchFamily="34" charset="-122"/>
                          <a:cs typeface="Calibri" pitchFamily="34" charset="-120"/>
                        </a:rPr>
                        <a:t>Duplicates the physical layer the family already owns through its businesses</a:t>
                      </a:r>
                      <a:endParaRPr lang="en-US" sz="950" dirty="0">
                        <a:latin typeface="Calibri" charset="0"/>
                        <a:ea typeface="Calibri" charset="0"/>
                        <a:cs typeface="Calibri" charset="0"/>
                      </a:endParaRPr>
                    </a:p>
                  </a:txBody>
                  <a:tcPr marL="45720" marR="45720" marT="45720" marB="45720" anchor="ctr">
                    <a:lnL w="6350" cap="flat" cmpd="sng" algn="ctr">
                      <a:solidFill>
                        <a:srgbClr val="D3E0DB"/>
                      </a:solidFill>
                      <a:prstDash val="solid"/>
                      <a:round/>
                      <a:headEnd type="none" w="med" len="med"/>
                      <a:tailEnd type="none" w="med" len="med"/>
                    </a:lnL>
                    <a:lnR w="6350" cap="flat" cmpd="sng" algn="ctr">
                      <a:solidFill>
                        <a:srgbClr val="D3E0DB"/>
                      </a:solidFill>
                      <a:prstDash val="solid"/>
                      <a:round/>
                      <a:headEnd type="none" w="med" len="med"/>
                      <a:tailEnd type="none" w="med" len="med"/>
                    </a:lnR>
                    <a:lnT w="6350" cap="flat" cmpd="sng" algn="ctr">
                      <a:solidFill>
                        <a:srgbClr val="D3E0DB"/>
                      </a:solidFill>
                      <a:prstDash val="solid"/>
                      <a:round/>
                      <a:headEnd type="none" w="med" len="med"/>
                      <a:tailEnd type="none" w="med" len="med"/>
                    </a:lnT>
                    <a:lnB w="6350" cap="flat" cmpd="sng" algn="ctr">
                      <a:solidFill>
                        <a:srgbClr val="D3E0D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A3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28600"/>
            <a:ext cx="8321040" cy="502920"/>
          </a:xfrm>
          <a:prstGeom prst="rect">
            <a:avLst/>
          </a:prstGeom>
          <a:noFill/>
          <a:ln/>
        </p:spPr>
        <p:txBody>
          <a:bodyPr wrap="square" lIns="0" tIns="0" rIns="0" bIns="0" rtlCol="0" anchor="ctr">
            <a:normAutofit/>
          </a:bodyPr>
          <a:lstStyle/>
          <a:p>
            <a:pPr indent="0" marL="0">
              <a:buNone/>
            </a:pPr>
            <a:r>
              <a:rPr lang="en-US" sz="2100" b="1" dirty="0">
                <a:solidFill>
                  <a:srgbClr val="0E2238"/>
                </a:solidFill>
                <a:latin typeface="Cambria" pitchFamily="34" charset="0"/>
                <a:ea typeface="Cambria" pitchFamily="34" charset="-122"/>
                <a:cs typeface="Cambria" pitchFamily="34" charset="-120"/>
              </a:rPr>
              <a:t>Appendix A4: sources</a:t>
            </a:r>
            <a:endParaRPr lang="en-US" sz="2100" dirty="0"/>
          </a:p>
        </p:txBody>
      </p:sp>
      <p:sp>
        <p:nvSpPr>
          <p:cNvPr id="3" name="Text 1"/>
          <p:cNvSpPr txBox="1"/>
          <p:nvPr/>
        </p:nvSpPr>
        <p:spPr>
          <a:xfrm>
            <a:off x="411480" y="914400"/>
            <a:ext cx="8321040" cy="3749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A2230"/>
                </a:solidFill>
                <a:latin typeface="Calibri" pitchFamily="34" charset="0"/>
                <a:ea typeface="Calibri" pitchFamily="34" charset="-122"/>
                <a:cs typeface="Calibri" pitchFamily="34" charset="-120"/>
              </a:rPr>
              <a:t>Natixis GMI, Investment Strategy Challenge 2026: game rules and USD funding grid</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Goldman Sachs: Global AI investment forecast to exceed USD 1 trillion in 2026</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CreditSights: Hyperscaler capex 2026 estimates</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TechTimes: South Korea chips hit 47% of exports (11 Sep 2026)</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Seoul Economic Daily: KOSPI cedes global lead to Taiwan (1 Oct 2026)</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Advisor Perspectives: World markets watchlist (21 Sep 2026)</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CNBC: Fed rate decision, September 2026</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Allianz Research: AI capex cycle, war-proof for now (Mar 2026)</a:t>
            </a:r>
            <a:endParaRPr lang="en-US" sz="1100" dirty="0"/>
          </a:p>
          <a:p>
            <a:pPr marL="342900" indent="-342900">
              <a:spcAft>
                <a:spcPts val="600"/>
              </a:spcAft>
              <a:buSzPct val="100000"/>
              <a:buChar char="•"/>
            </a:pPr>
            <a:r>
              <a:rPr lang="en-US" sz="1100" u="sng" dirty="0">
                <a:solidFill>
                  <a:srgbClr val="1F8A70"/>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Hang Seng Indexes: Hang Seng TECH Index factsheet</a:t>
            </a:r>
            <a:endParaRPr lang="en-US" sz="1100" dirty="0"/>
          </a:p>
          <a:p>
            <a:pPr marL="342900" indent="-342900">
              <a:spcAft>
                <a:spcPts val="600"/>
              </a:spcAft>
              <a:buSzPct val="100000"/>
              <a:buChar char="•"/>
            </a:pPr>
            <a:r>
              <a:rPr lang="en-US" sz="1100" dirty="0">
                <a:solidFill>
                  <a:srgbClr val="1A2230"/>
                </a:solidFill>
                <a:latin typeface="Calibri" pitchFamily="34" charset="0"/>
                <a:ea typeface="Calibri" pitchFamily="34" charset="-122"/>
                <a:cs typeface="Calibri" pitchFamily="34" charset="-120"/>
              </a:rPr>
              <a:t>CUHK FINA4370A Unit 4 (volatility surface) and Unit 15 (trading proposal framework)</a:t>
            </a:r>
            <a:endParaRPr lang="en-US" sz="1100" dirty="0"/>
          </a:p>
        </p:txBody>
      </p:sp>
      <p:sp>
        <p:nvSpPr>
          <p:cNvPr id="4" name="Text 2"/>
          <p:cNvSpPr txBox="1"/>
          <p:nvPr/>
        </p:nvSpPr>
        <p:spPr>
          <a:xfrm>
            <a:off x="8366760" y="4828032"/>
            <a:ext cx="365760" cy="228600"/>
          </a:xfrm>
          <a:prstGeom prst="rect">
            <a:avLst/>
          </a:prstGeom>
          <a:noFill/>
          <a:ln/>
        </p:spPr>
        <p:txBody>
          <a:bodyPr wrap="square" lIns="0" tIns="0" rIns="0" bIns="0" rtlCol="0" anchor="ctr"/>
          <a:lstStyle/>
          <a:p>
            <a:pPr algn="r" indent="0" marL="0">
              <a:buNone/>
            </a:pPr>
            <a:r>
              <a:rPr lang="en-US" sz="900" dirty="0">
                <a:solidFill>
                  <a:srgbClr val="5E6B78"/>
                </a:solidFill>
                <a:latin typeface="Calibri" pitchFamily="34" charset="0"/>
                <a:ea typeface="Calibri" pitchFamily="34" charset="-122"/>
                <a:cs typeface="Calibri" pitchFamily="34" charset="-120"/>
              </a:rPr>
              <a:t>A4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Asia Digital Bridge Legacy Note</dc:title>
  <dc:subject>PptxGenJS Presentation</dc:subject>
  <dc:creator>PptxGenJS</dc:creator>
  <cp:lastModifiedBy>PptxGenJS</cp:lastModifiedBy>
  <cp:revision>1</cp:revision>
  <dcterms:created xsi:type="dcterms:W3CDTF">2026-10-01T05:50:08Z</dcterms:created>
  <dcterms:modified xsi:type="dcterms:W3CDTF">2026-10-01T05:50:08Z</dcterms:modified>
</cp:coreProperties>
</file>