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First call</c:v>
                </c:pt>
              </c:strCache>
            </c:strRef>
          </c:tx>
          <c:spPr>
            <a:solidFill>
              <a:srgbClr val="2C5F82"/>
            </a:solidFill>
            <a:effectLst/>
          </c:spPr>
          <c:invertIfNegative val="0"/>
          <c:dLbls>
            <c:numFmt formatCode="0.0&quot;%&quot;" sourceLinked="0"/>
            <c:txPr>
              <a:bodyPr/>
              <a:lstStyle/>
              <a:p>
                <a:pPr>
                  <a:defRPr b="0" i="0" strike="noStrike" sz="1000" u="none">
                    <a:solidFill>
                      <a:srgbClr val="262626"/>
                    </a:solidFill>
                    <a:latin typeface="Arial"/>
                  </a:defRPr>
                </a:pPr>
              </a:p>
            </c:txPr>
            <c:showLegendKey val="0"/>
            <c:showVal val="1"/>
            <c:showCatName val="0"/>
            <c:showSerName val="0"/>
            <c:showPercent val="0"/>
            <c:showBubbleSize val="0"/>
            <c:showLeaderLines val="0"/>
          </c:dLbls>
          <c:dPt>
            <c:idx val="0"/>
            <c:invertIfNegative val="0"/>
            <c:bubble3D val="0"/>
            <c:spPr>
              <a:solidFill>
                <a:srgbClr val="2C5F82"/>
              </a:solidFill>
              <a:effectLst/>
            </c:spPr>
          </c:dPt>
          <c:dPt>
            <c:idx val="1"/>
            <c:invertIfNegative val="0"/>
            <c:bubble3D val="0"/>
            <c:spPr>
              <a:solidFill>
                <a:srgbClr val="2C5F82"/>
              </a:solidFill>
              <a:effectLst/>
            </c:spPr>
          </c:dPt>
          <c:dPt>
            <c:idx val="2"/>
            <c:invertIfNegative val="0"/>
            <c:bubble3D val="0"/>
            <c:spPr>
              <a:solidFill>
                <a:srgbClr val="2C5F82"/>
              </a:solidFill>
              <a:effectLst/>
            </c:spPr>
          </c:dPt>
          <c:dPt>
            <c:idx val="3"/>
            <c:invertIfNegative val="0"/>
            <c:bubble3D val="0"/>
            <c:spPr>
              <a:solidFill>
                <a:srgbClr val="2C5F82"/>
              </a:solidFill>
              <a:effectLst/>
            </c:spPr>
          </c:dPt>
          <c:dPt>
            <c:idx val="4"/>
            <c:invertIfNegative val="0"/>
            <c:bubble3D val="0"/>
            <c:spPr>
              <a:solidFill>
                <a:srgbClr val="2C5F82"/>
              </a:solidFill>
              <a:effectLst/>
            </c:spPr>
          </c:dPt>
          <c:dPt>
            <c:idx val="5"/>
            <c:invertIfNegative val="0"/>
            <c:bubble3D val="0"/>
            <c:spPr>
              <a:solidFill>
                <a:srgbClr val="B23B3B"/>
              </a:solidFill>
              <a:effectLst/>
            </c:spPr>
          </c:dPt>
          <c:cat>
            <c:multiLvlStrRef>
              <c:f>Sheet1!$A$2:$A$7</c:f>
              <c:multiLvlStrCache>
                <c:ptCount val="6"/>
                <c:lvl>
                  <c:pt idx="0">
                    <c:v>Year 1</c:v>
                  </c:pt>
                  <c:pt idx="1">
                    <c:v>Year 2</c:v>
                  </c:pt>
                  <c:pt idx="2">
                    <c:v>Year 3</c:v>
                  </c:pt>
                  <c:pt idx="3">
                    <c:v>Year 4</c:v>
                  </c:pt>
                  <c:pt idx="4">
                    <c:v>Year 5</c:v>
                  </c:pt>
                  <c:pt idx="5">
                    <c:v>Never called</c:v>
                  </c:pt>
                </c:lvl>
              </c:multiLvlStrCache>
            </c:multiLvlStrRef>
          </c:cat>
          <c:val>
            <c:numRef>
              <c:f>Sheet1!$B$2:$B$7</c:f>
              <c:numCache>
                <c:formatCode>General</c:formatCode>
                <c:ptCount val="6"/>
                <c:pt idx="0">
                  <c:v>49.5</c:v>
                </c:pt>
                <c:pt idx="1">
                  <c:v>15.9</c:v>
                </c:pt>
                <c:pt idx="2">
                  <c:v>7.9</c:v>
                </c:pt>
                <c:pt idx="3">
                  <c:v>4.8</c:v>
                </c:pt>
                <c:pt idx="4">
                  <c:v>3.1</c:v>
                </c:pt>
                <c:pt idx="5">
                  <c:v>18.8</c:v>
                </c:pt>
              </c:numCache>
            </c:numRef>
          </c:val>
        </c:ser>
        <c:dLbls>
          <c:numFmt formatCode="0.0&quot;%&quot;" sourceLinked="0"/>
          <c:txPr>
            <a:bodyPr/>
            <a:lstStyle/>
            <a:p>
              <a:pPr>
                <a:defRPr b="0" i="0" strike="noStrike" sz="1000" u="none">
                  <a:solidFill>
                    <a:srgbClr val="2626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6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Family</c:v>
                </c:pt>
              </c:strCache>
            </c:strRef>
          </c:tx>
          <c:spPr>
            <a:solidFill>
              <a:srgbClr val="2C5F82"/>
            </a:solidFill>
            <a:effectLst/>
          </c:spPr>
          <c:invertIfNegative val="0"/>
          <c:dLbls>
            <c:numFmt formatCode="0.00&quot;%&quot;" sourceLinked="0"/>
            <c:txPr>
              <a:bodyPr/>
              <a:lstStyle/>
              <a:p>
                <a:pPr>
                  <a:defRPr b="1"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Sheet1!$A$2:$A$2</c:f>
              <c:multiLvlStrCache>
                <c:ptCount val="1"/>
                <c:lvl>
                  <c:pt idx="0">
                    <c:v>Fair yield</c:v>
                  </c:pt>
                </c:lvl>
              </c:multiLvlStrCache>
            </c:multiLvlStrRef>
          </c:cat>
          <c:val>
            <c:numRef>
              <c:f>Sheet1!$B$2:$B$2</c:f>
              <c:numCache>
                <c:formatCode>General</c:formatCode>
                <c:ptCount val="1"/>
                <c:pt idx="0">
                  <c:v>10</c:v>
                </c:pt>
              </c:numCache>
            </c:numRef>
          </c:val>
        </c:ser>
        <c:ser>
          <c:idx val="1"/>
          <c:order val="1"/>
          <c:tx>
            <c:strRef>
              <c:f>Sheet1!$C$1</c:f>
              <c:strCache>
                <c:ptCount val="1"/>
                <c:pt idx="0">
                  <c:v>Natixis</c:v>
                </c:pt>
              </c:strCache>
            </c:strRef>
          </c:tx>
          <c:spPr>
            <a:solidFill>
              <a:srgbClr val="8DB3D1"/>
            </a:solidFill>
            <a:effectLst/>
          </c:spPr>
          <c:invertIfNegative val="0"/>
          <c:dLbls>
            <c:numFmt formatCode="0.00&quot;%&quot;" sourceLinked="0"/>
            <c:txPr>
              <a:bodyPr/>
              <a:lstStyle/>
              <a:p>
                <a:pPr>
                  <a:defRPr b="1"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Sheet1!$A$2:$A$2</c:f>
              <c:multiLvlStrCache>
                <c:ptCount val="1"/>
                <c:lvl>
                  <c:pt idx="0">
                    <c:v>Fair yield</c:v>
                  </c:pt>
                </c:lvl>
              </c:multiLvlStrCache>
            </c:multiLvlStrRef>
          </c:cat>
          <c:val>
            <c:numRef>
              <c:f>Sheet1!$C$2:$C$2</c:f>
              <c:numCache>
                <c:formatCode>General</c:formatCode>
                <c:ptCount val="1"/>
                <c:pt idx="0">
                  <c:v>3.81</c:v>
                </c:pt>
              </c:numCache>
            </c:numRef>
          </c:val>
        </c:ser>
        <c:dLbls>
          <c:numFmt formatCode="0.00&quot;%&quot;" sourceLinked="0"/>
          <c:txPr>
            <a:bodyPr/>
            <a:lstStyle/>
            <a:p>
              <a:pPr>
                <a:defRPr b="1" i="0" strike="noStrike" sz="12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what the team's pricing model does. The note is a step-down autocall: each year the basket is compared with a trigger that starts at 102.5% and falls by 2.5 points a year. If it is called in year k the family receives 100 plus k times the yield. If it is never called, the family gets 100% back unless the basket has fallen below 70% at Year 5, in which case it gets the basket level. We simulate one million market paths using implied volatilities and correlations, value the cash flows on each path, and solve for the yield that makes the note worth exactly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gives 13.85% as its central estimate, with a statistical uncertainty of about 2 basis points. We use 13.81%, the bottom of the 95% confidence interval, so we never quote a yield the model cannot support. About half of paths are called at Year 1; 18.8% are never called, and in 13.7% the basket ends below the 70% barrier, which is the risk that funds the high yield.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fair yield of 13.81% is split: the family is offered 10% a year, accruing and paid when the note is called, and Natixis keeps the difference. Because the coupon is only paid while the note is alive, the 3.81% is not an annual fee; its value today is 4.7% of notional, about USD 4.7mn on the USD 100mn mandate, which has to cover hedging costs and Natixis's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200" dirty="0">
                <a:solidFill>
                  <a:srgbClr val="262626"/>
                </a:solidFill>
                <a:latin typeface="Arial" pitchFamily="34" charset="0"/>
                <a:ea typeface="Arial" pitchFamily="34" charset="-122"/>
                <a:cs typeface="Arial" pitchFamily="34" charset="-120"/>
              </a:rPr>
              <a:t>Pricing: a Monte Carlo search for the fair yield</a:t>
            </a:r>
            <a:endParaRPr lang="en-US" sz="2200" dirty="0"/>
          </a:p>
        </p:txBody>
      </p:sp>
      <p:sp>
        <p:nvSpPr>
          <p:cNvPr id="3" name="Shape 1"/>
          <p:cNvSpPr/>
          <p:nvPr/>
        </p:nvSpPr>
        <p:spPr>
          <a:xfrm>
            <a:off x="457200" y="896112"/>
            <a:ext cx="11274552" cy="0"/>
          </a:xfrm>
          <a:prstGeom prst="line">
            <a:avLst/>
          </a:prstGeom>
          <a:noFill/>
          <a:ln w="12700">
            <a:solidFill>
              <a:srgbClr val="2C5F82"/>
            </a:solidFill>
            <a:prstDash val="solid"/>
          </a:ln>
        </p:spPr>
      </p:sp>
      <p:sp>
        <p:nvSpPr>
          <p:cNvPr id="4" name="Text 2"/>
          <p:cNvSpPr txBox="1"/>
          <p:nvPr/>
        </p:nvSpPr>
        <p:spPr>
          <a:xfrm>
            <a:off x="457200" y="969264"/>
            <a:ext cx="11274552" cy="274320"/>
          </a:xfrm>
          <a:prstGeom prst="rect">
            <a:avLst/>
          </a:prstGeom>
          <a:noFill/>
          <a:ln/>
        </p:spPr>
        <p:txBody>
          <a:bodyPr wrap="square" lIns="0" tIns="0" rIns="0" bIns="0" rtlCol="0" anchor="t"/>
          <a:lstStyle/>
          <a:p>
            <a:pPr indent="0" marL="0">
              <a:buNone/>
            </a:pPr>
            <a:r>
              <a:rPr lang="en-US" sz="1100" i="1" dirty="0">
                <a:solidFill>
                  <a:srgbClr val="595959"/>
                </a:solidFill>
                <a:latin typeface="Arial" pitchFamily="34" charset="0"/>
                <a:ea typeface="Arial" pitchFamily="34" charset="-122"/>
                <a:cs typeface="Arial" pitchFamily="34" charset="-120"/>
              </a:rPr>
              <a:t>The fair yield is the annual coupon that makes the note worth exactly USD 100 today, using market volatilities and correlations</a:t>
            </a:r>
            <a:endParaRPr lang="en-US" sz="1100" dirty="0"/>
          </a:p>
        </p:txBody>
      </p:sp>
      <p:sp>
        <p:nvSpPr>
          <p:cNvPr id="5" name="Shape 3"/>
          <p:cNvSpPr/>
          <p:nvPr/>
        </p:nvSpPr>
        <p:spPr>
          <a:xfrm>
            <a:off x="457200" y="6382512"/>
            <a:ext cx="11274552" cy="0"/>
          </a:xfrm>
          <a:prstGeom prst="line">
            <a:avLst/>
          </a:prstGeom>
          <a:noFill/>
          <a:ln w="9525">
            <a:solidFill>
              <a:srgbClr val="BFBFBF"/>
            </a:solidFill>
            <a:prstDash val="solid"/>
          </a:ln>
        </p:spPr>
      </p:sp>
      <p:sp>
        <p:nvSpPr>
          <p:cNvPr id="6" name="Text 4"/>
          <p:cNvSpPr txBox="1"/>
          <p:nvPr/>
        </p:nvSpPr>
        <p:spPr>
          <a:xfrm>
            <a:off x="457200"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ANALYSIS</a:t>
            </a:r>
            <a:endParaRPr lang="en-US" sz="1200" dirty="0"/>
          </a:p>
        </p:txBody>
      </p:sp>
      <p:sp>
        <p:nvSpPr>
          <p:cNvPr id="7" name="Shape 5"/>
          <p:cNvSpPr/>
          <p:nvPr/>
        </p:nvSpPr>
        <p:spPr>
          <a:xfrm>
            <a:off x="4837176" y="6364224"/>
            <a:ext cx="2514600" cy="45720"/>
          </a:xfrm>
          <a:prstGeom prst="rect">
            <a:avLst/>
          </a:prstGeom>
          <a:solidFill>
            <a:srgbClr val="2C5F82"/>
          </a:solidFill>
          <a:ln w="12700">
            <a:solidFill>
              <a:srgbClr val="2C5F82"/>
            </a:solidFill>
            <a:prstDash val="solid"/>
          </a:ln>
        </p:spPr>
      </p:sp>
      <p:sp>
        <p:nvSpPr>
          <p:cNvPr id="8" name="Text 6"/>
          <p:cNvSpPr txBox="1"/>
          <p:nvPr/>
        </p:nvSpPr>
        <p:spPr>
          <a:xfrm>
            <a:off x="4288536" y="6446520"/>
            <a:ext cx="3611880" cy="274320"/>
          </a:xfrm>
          <a:prstGeom prst="rect">
            <a:avLst/>
          </a:prstGeom>
          <a:noFill/>
          <a:ln/>
        </p:spPr>
        <p:txBody>
          <a:bodyPr wrap="square" lIns="0" tIns="0" rIns="0" bIns="0" rtlCol="0" anchor="t"/>
          <a:lstStyle/>
          <a:p>
            <a:pPr algn="ctr" indent="0" marL="0">
              <a:buNone/>
            </a:pPr>
            <a:r>
              <a:rPr lang="en-US" sz="1200" b="1" spc="100" kern="0" dirty="0">
                <a:solidFill>
                  <a:srgbClr val="2C5F82"/>
                </a:solidFill>
                <a:latin typeface="Arial" pitchFamily="34" charset="0"/>
                <a:ea typeface="Arial" pitchFamily="34" charset="-122"/>
                <a:cs typeface="Arial" pitchFamily="34" charset="-120"/>
              </a:rPr>
              <a:t>STRATEGY</a:t>
            </a:r>
            <a:endParaRPr lang="en-US" sz="1200" dirty="0"/>
          </a:p>
        </p:txBody>
      </p:sp>
      <p:sp>
        <p:nvSpPr>
          <p:cNvPr id="9" name="Text 7"/>
          <p:cNvSpPr txBox="1"/>
          <p:nvPr/>
        </p:nvSpPr>
        <p:spPr>
          <a:xfrm>
            <a:off x="8129016"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APPENDIX</a:t>
            </a:r>
            <a:endParaRPr lang="en-US" sz="1200" dirty="0"/>
          </a:p>
        </p:txBody>
      </p:sp>
      <p:sp>
        <p:nvSpPr>
          <p:cNvPr id="10" name="Shape 8"/>
          <p:cNvSpPr/>
          <p:nvPr/>
        </p:nvSpPr>
        <p:spPr>
          <a:xfrm>
            <a:off x="457200" y="1325880"/>
            <a:ext cx="3566160" cy="347472"/>
          </a:xfrm>
          <a:prstGeom prst="rect">
            <a:avLst/>
          </a:prstGeom>
          <a:solidFill>
            <a:srgbClr val="2C5F82"/>
          </a:solidFill>
          <a:ln w="12700">
            <a:solidFill>
              <a:srgbClr val="2C5F82"/>
            </a:solidFill>
            <a:prstDash val="solid"/>
          </a:ln>
        </p:spPr>
      </p:sp>
      <p:sp>
        <p:nvSpPr>
          <p:cNvPr id="11" name="Text 9"/>
          <p:cNvSpPr txBox="1"/>
          <p:nvPr/>
        </p:nvSpPr>
        <p:spPr>
          <a:xfrm>
            <a:off x="457200" y="1325880"/>
            <a:ext cx="356616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1  The note we price</a:t>
            </a:r>
            <a:endParaRPr lang="en-US" sz="11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1719072"/>
          <a:ext cx="3566160" cy="914400"/>
        </p:xfrm>
        <a:graphic>
          <a:graphicData uri="http://schemas.openxmlformats.org/drawingml/2006/table">
            <a:tbl>
              <a:tblPr/>
              <a:tblGrid>
                <a:gridCol w="1143000"/>
                <a:gridCol w="2423160"/>
              </a:tblGrid>
              <a:tr h="566928">
                <a:tc>
                  <a:txBody>
                    <a:bodyPr/>
                    <a:lstStyle/>
                    <a:p>
                      <a:pPr indent="0" marL="0">
                        <a:buNone/>
                      </a:pPr>
                      <a:r>
                        <a:rPr lang="en-US" sz="900" b="1" dirty="0">
                          <a:solidFill>
                            <a:srgbClr val="2C5F82"/>
                          </a:solidFill>
                          <a:latin typeface="Arial" pitchFamily="34" charset="0"/>
                          <a:ea typeface="Arial" pitchFamily="34" charset="-122"/>
                          <a:cs typeface="Arial" pitchFamily="34" charset="-120"/>
                        </a:rPr>
                        <a:t>Observation</a:t>
                      </a:r>
                      <a:endParaRPr lang="en-US" sz="900" dirty="0">
                        <a:latin typeface="Arial" charset="0"/>
                        <a:ea typeface="Arial" charset="0"/>
                        <a:cs typeface="Arial"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Annual, Years 1–5</a:t>
                      </a:r>
                      <a:endParaRPr lang="en-US" sz="900" dirty="0">
                        <a:latin typeface="Arial" charset="0"/>
                        <a:ea typeface="Arial" charset="0"/>
                        <a:cs typeface="Arial"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r>
              <a:tr h="566928">
                <a:tc>
                  <a:txBody>
                    <a:bodyPr/>
                    <a:lstStyle/>
                    <a:p>
                      <a:pPr indent="0" marL="0">
                        <a:buNone/>
                      </a:pPr>
                      <a:r>
                        <a:rPr lang="en-US" sz="900" b="1" dirty="0">
                          <a:solidFill>
                            <a:srgbClr val="2C5F82"/>
                          </a:solidFill>
                          <a:latin typeface="Arial" pitchFamily="34" charset="0"/>
                          <a:ea typeface="Arial" pitchFamily="34" charset="-122"/>
                          <a:cs typeface="Arial" pitchFamily="34" charset="-120"/>
                        </a:rPr>
                        <a:t>Autocall trigger</a:t>
                      </a:r>
                      <a:endParaRPr lang="en-US" sz="900" dirty="0">
                        <a:latin typeface="Arial" charset="0"/>
                        <a:ea typeface="Arial" charset="0"/>
                        <a:cs typeface="Arial"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102.5% → 100% → 97.5% → 95% → 92.5% (steps down 2.5% a year)</a:t>
                      </a:r>
                      <a:endParaRPr lang="en-US" sz="900" dirty="0">
                        <a:latin typeface="Arial" charset="0"/>
                        <a:ea typeface="Arial" charset="0"/>
                        <a:cs typeface="Arial"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r>
              <a:tr h="566928">
                <a:tc>
                  <a:txBody>
                    <a:bodyPr/>
                    <a:lstStyle/>
                    <a:p>
                      <a:pPr indent="0" marL="0">
                        <a:buNone/>
                      </a:pPr>
                      <a:r>
                        <a:rPr lang="en-US" sz="900" b="1" dirty="0">
                          <a:solidFill>
                            <a:srgbClr val="2C5F82"/>
                          </a:solidFill>
                          <a:latin typeface="Arial" pitchFamily="34" charset="0"/>
                          <a:ea typeface="Arial" pitchFamily="34" charset="-122"/>
                          <a:cs typeface="Arial" pitchFamily="34" charset="-120"/>
                        </a:rPr>
                        <a:t>If called in year k</a:t>
                      </a:r>
                      <a:endParaRPr lang="en-US" sz="900" dirty="0">
                        <a:latin typeface="Arial" charset="0"/>
                        <a:ea typeface="Arial" charset="0"/>
                        <a:cs typeface="Arial"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USD 100 × (1 + k × yield): the coupon accrues, paid at the call</a:t>
                      </a:r>
                      <a:endParaRPr lang="en-US" sz="900" dirty="0">
                        <a:latin typeface="Arial" charset="0"/>
                        <a:ea typeface="Arial" charset="0"/>
                        <a:cs typeface="Arial"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r>
              <a:tr h="566928">
                <a:tc>
                  <a:txBody>
                    <a:bodyPr/>
                    <a:lstStyle/>
                    <a:p>
                      <a:pPr indent="0" marL="0">
                        <a:buNone/>
                      </a:pPr>
                      <a:r>
                        <a:rPr lang="en-US" sz="900" b="1" dirty="0">
                          <a:solidFill>
                            <a:srgbClr val="2C5F82"/>
                          </a:solidFill>
                          <a:latin typeface="Arial" pitchFamily="34" charset="0"/>
                          <a:ea typeface="Arial" pitchFamily="34" charset="-122"/>
                          <a:cs typeface="Arial" pitchFamily="34" charset="-120"/>
                        </a:rPr>
                        <a:t>Never called</a:t>
                      </a:r>
                      <a:endParaRPr lang="en-US" sz="900" dirty="0">
                        <a:latin typeface="Arial" charset="0"/>
                        <a:ea typeface="Arial" charset="0"/>
                        <a:cs typeface="Arial"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Year 5: 100% back if basket ≥ 70%; below 70%, the basket level</a:t>
                      </a:r>
                      <a:endParaRPr lang="en-US" sz="900" dirty="0">
                        <a:latin typeface="Arial" charset="0"/>
                        <a:ea typeface="Arial" charset="0"/>
                        <a:cs typeface="Arial"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r>
              <a:tr h="566928">
                <a:tc>
                  <a:txBody>
                    <a:bodyPr/>
                    <a:lstStyle/>
                    <a:p>
                      <a:pPr indent="0" marL="0">
                        <a:buNone/>
                      </a:pPr>
                      <a:r>
                        <a:rPr lang="en-US" sz="900" b="1" dirty="0">
                          <a:solidFill>
                            <a:srgbClr val="2C5F82"/>
                          </a:solidFill>
                          <a:latin typeface="Arial" pitchFamily="34" charset="0"/>
                          <a:ea typeface="Arial" pitchFamily="34" charset="-122"/>
                          <a:cs typeface="Arial" pitchFamily="34" charset="-120"/>
                        </a:rPr>
                        <a:t>Basket</a:t>
                      </a:r>
                      <a:endParaRPr lang="en-US" sz="900" dirty="0">
                        <a:latin typeface="Arial" charset="0"/>
                        <a:ea typeface="Arial" charset="0"/>
                        <a:cs typeface="Arial"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3119 HK 35%, EWY 20%, EWT 15%, 2644 JP 15%, 00878 TT 15% (USD)</a:t>
                      </a:r>
                      <a:endParaRPr lang="en-US" sz="900" dirty="0">
                        <a:latin typeface="Arial" charset="0"/>
                        <a:ea typeface="Arial" charset="0"/>
                        <a:cs typeface="Arial"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r>
              <a:tr h="566928">
                <a:tc>
                  <a:txBody>
                    <a:bodyPr/>
                    <a:lstStyle/>
                    <a:p>
                      <a:pPr indent="0" marL="0">
                        <a:buNone/>
                      </a:pPr>
                      <a:r>
                        <a:rPr lang="en-US" sz="900" b="1" dirty="0">
                          <a:solidFill>
                            <a:srgbClr val="2C5F82"/>
                          </a:solidFill>
                          <a:latin typeface="Arial" pitchFamily="34" charset="0"/>
                          <a:ea typeface="Arial" pitchFamily="34" charset="-122"/>
                          <a:cs typeface="Arial" pitchFamily="34" charset="-120"/>
                        </a:rPr>
                        <a:t>Discounting</a:t>
                      </a:r>
                      <a:endParaRPr lang="en-US" sz="900" dirty="0">
                        <a:latin typeface="Arial" charset="0"/>
                        <a:ea typeface="Arial" charset="0"/>
                        <a:cs typeface="Arial"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8EFF5"/>
                    </a:solidFill>
                  </a:tcPr>
                </a:tc>
                <a:tc>
                  <a:txBody>
                    <a:bodyPr/>
                    <a:lstStyle/>
                    <a:p>
                      <a:pPr indent="0" marL="0">
                        <a:buNone/>
                      </a:pPr>
                      <a:r>
                        <a:rPr lang="en-US" sz="900" dirty="0">
                          <a:solidFill>
                            <a:srgbClr val="262626"/>
                          </a:solidFill>
                          <a:latin typeface="Arial" pitchFamily="34" charset="0"/>
                          <a:ea typeface="Arial" pitchFamily="34" charset="-122"/>
                          <a:cs typeface="Arial" pitchFamily="34" charset="-120"/>
                        </a:rPr>
                        <a:t>5.69% a year (case USD rate), flat</a:t>
                      </a:r>
                      <a:endParaRPr lang="en-US" sz="900" dirty="0">
                        <a:latin typeface="Arial" charset="0"/>
                        <a:ea typeface="Arial" charset="0"/>
                        <a:cs typeface="Arial" charset="0"/>
                      </a:endParaRPr>
                    </a:p>
                  </a:txBody>
                  <a:tcPr marL="63500" marR="63500" marT="25400" marB="254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2F2F2"/>
                    </a:solidFill>
                  </a:tcPr>
                </a:tc>
              </a:tr>
            </a:tbl>
          </a:graphicData>
        </a:graphic>
      </p:graphicFrame>
      <p:sp>
        <p:nvSpPr>
          <p:cNvPr id="13" name="Shape 10"/>
          <p:cNvSpPr/>
          <p:nvPr/>
        </p:nvSpPr>
        <p:spPr>
          <a:xfrm>
            <a:off x="4206240" y="1325880"/>
            <a:ext cx="3749040" cy="347472"/>
          </a:xfrm>
          <a:prstGeom prst="rect">
            <a:avLst/>
          </a:prstGeom>
          <a:solidFill>
            <a:srgbClr val="2C5F82"/>
          </a:solidFill>
          <a:ln w="12700">
            <a:solidFill>
              <a:srgbClr val="2C5F82"/>
            </a:solidFill>
            <a:prstDash val="solid"/>
          </a:ln>
        </p:spPr>
      </p:sp>
      <p:sp>
        <p:nvSpPr>
          <p:cNvPr id="14" name="Text 11"/>
          <p:cNvSpPr txBox="1"/>
          <p:nvPr/>
        </p:nvSpPr>
        <p:spPr>
          <a:xfrm>
            <a:off x="4206240" y="1325880"/>
            <a:ext cx="374904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2  Market inputs</a:t>
            </a:r>
            <a:endParaRPr lang="en-US" sz="11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4206240" y="1719072"/>
          <a:ext cx="3749040" cy="914400"/>
        </p:xfrm>
        <a:graphic>
          <a:graphicData uri="http://schemas.openxmlformats.org/drawingml/2006/table">
            <a:tbl>
              <a:tblPr/>
              <a:tblGrid>
                <a:gridCol w="1005840"/>
                <a:gridCol w="548640"/>
                <a:gridCol w="548640"/>
                <a:gridCol w="548640"/>
                <a:gridCol w="548640"/>
                <a:gridCol w="54864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Implied vol</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1Y</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2Y</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3Y</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4Y</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5Y</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r>
              <a:tr h="274320">
                <a:tc>
                  <a:txBody>
                    <a:bodyPr/>
                    <a:lstStyle/>
                    <a:p>
                      <a:pPr indent="0" marL="0">
                        <a:buNone/>
                      </a:pPr>
                      <a:r>
                        <a:rPr lang="en-US" sz="900" b="1" dirty="0">
                          <a:solidFill>
                            <a:srgbClr val="262626"/>
                          </a:solidFill>
                          <a:latin typeface="Arial" pitchFamily="34" charset="0"/>
                          <a:ea typeface="Arial" pitchFamily="34" charset="-122"/>
                          <a:cs typeface="Arial" pitchFamily="34" charset="-120"/>
                        </a:rPr>
                        <a:t>3119 HK</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30%</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32%</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34%</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37%</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38%</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262626"/>
                          </a:solidFill>
                          <a:latin typeface="Arial" pitchFamily="34" charset="0"/>
                          <a:ea typeface="Arial" pitchFamily="34" charset="-122"/>
                          <a:cs typeface="Arial" pitchFamily="34" charset="-120"/>
                        </a:rPr>
                        <a:t>EWY</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42%</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43%</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45%</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45%</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45%</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262626"/>
                          </a:solidFill>
                          <a:latin typeface="Arial" pitchFamily="34" charset="0"/>
                          <a:ea typeface="Arial" pitchFamily="34" charset="-122"/>
                          <a:cs typeface="Arial" pitchFamily="34" charset="-120"/>
                        </a:rPr>
                        <a:t>EWT</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32%</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36%</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36%</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36%</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36%</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262626"/>
                          </a:solidFill>
                          <a:latin typeface="Arial" pitchFamily="34" charset="0"/>
                          <a:ea typeface="Arial" pitchFamily="34" charset="-122"/>
                          <a:cs typeface="Arial" pitchFamily="34" charset="-120"/>
                        </a:rPr>
                        <a:t>2644 JP</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23%</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25%</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26%</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26%</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26%</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262626"/>
                          </a:solidFill>
                          <a:latin typeface="Arial" pitchFamily="34" charset="0"/>
                          <a:ea typeface="Arial" pitchFamily="34" charset="-122"/>
                          <a:cs typeface="Arial" pitchFamily="34" charset="-120"/>
                        </a:rPr>
                        <a:t>00878 TT</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12%</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12%</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62626"/>
                          </a:solidFill>
                          <a:latin typeface="Arial" pitchFamily="34" charset="0"/>
                          <a:ea typeface="Arial" pitchFamily="34" charset="-122"/>
                          <a:cs typeface="Arial" pitchFamily="34" charset="-120"/>
                        </a:rPr>
                        <a:t>12%</a:t>
                      </a:r>
                      <a:endParaRPr lang="en-US" sz="90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6" name="Text 12"/>
          <p:cNvSpPr txBox="1"/>
          <p:nvPr/>
        </p:nvSpPr>
        <p:spPr>
          <a:xfrm>
            <a:off x="4206240" y="3493008"/>
            <a:ext cx="3749040" cy="1828800"/>
          </a:xfrm>
          <a:prstGeom prst="rect">
            <a:avLst/>
          </a:prstGeom>
          <a:noFill/>
          <a:ln/>
        </p:spPr>
        <p:txBody>
          <a:bodyPr wrap="square" lIns="0" tIns="0" rIns="0" bIns="0" rtlCol="0" anchor="t"/>
          <a:lstStyle/>
          <a:p>
            <a:pPr indent="0" marL="0">
              <a:spcAft>
                <a:spcPts val="400"/>
              </a:spcAft>
              <a:buNone/>
            </a:pPr>
            <a:r>
              <a:rPr lang="en-US" sz="950" b="1" dirty="0">
                <a:solidFill>
                  <a:srgbClr val="2C5F82"/>
                </a:solidFill>
                <a:latin typeface="Arial" pitchFamily="34" charset="0"/>
                <a:ea typeface="Arial" pitchFamily="34" charset="-122"/>
                <a:cs typeface="Arial" pitchFamily="34" charset="-120"/>
              </a:rPr>
              <a:t>Term structure used properly: </a:t>
            </a:r>
            <a:pPr indent="0" marL="0">
              <a:spcAft>
                <a:spcPts val="400"/>
              </a:spcAft>
              <a:buNone/>
            </a:pPr>
            <a:r>
              <a:rPr lang="en-US" sz="950" dirty="0">
                <a:solidFill>
                  <a:srgbClr val="262626"/>
                </a:solidFill>
                <a:latin typeface="Arial" pitchFamily="34" charset="0"/>
                <a:ea typeface="Arial" pitchFamily="34" charset="-122"/>
                <a:cs typeface="Arial" pitchFamily="34" charset="-120"/>
              </a:rPr>
              <a:t>each year's variance is the increase in total variance (t × σ²), not the quoted vol itself.</a:t>
            </a:r>
            <a:endParaRPr lang="en-US" sz="950" dirty="0"/>
          </a:p>
          <a:p>
            <a:pPr indent="0" marL="0">
              <a:spcAft>
                <a:spcPts val="400"/>
              </a:spcAft>
              <a:buNone/>
            </a:pPr>
            <a:r>
              <a:rPr lang="en-US" sz="950" b="1" dirty="0">
                <a:solidFill>
                  <a:srgbClr val="2C5F82"/>
                </a:solidFill>
                <a:latin typeface="Arial" pitchFamily="34" charset="0"/>
                <a:ea typeface="Arial" pitchFamily="34" charset="-122"/>
                <a:cs typeface="Arial" pitchFamily="34" charset="-120"/>
              </a:rPr>
              <a:t>Correlations: </a:t>
            </a:r>
            <a:pPr indent="0" marL="0">
              <a:spcAft>
                <a:spcPts val="400"/>
              </a:spcAft>
              <a:buNone/>
            </a:pPr>
            <a:r>
              <a:rPr lang="en-US" sz="950" dirty="0">
                <a:solidFill>
                  <a:srgbClr val="262626"/>
                </a:solidFill>
                <a:latin typeface="Arial" pitchFamily="34" charset="0"/>
                <a:ea typeface="Arial" pitchFamily="34" charset="-122"/>
                <a:cs typeface="Arial" pitchFamily="34" charset="-120"/>
              </a:rPr>
              <a:t>supplied 5×5 matrix (0.44–0.86), checked positive definite (smallest eigenvalue 0.11).</a:t>
            </a:r>
            <a:endParaRPr lang="en-US" sz="950" dirty="0"/>
          </a:p>
          <a:p>
            <a:pPr indent="0" marL="0">
              <a:spcAft>
                <a:spcPts val="400"/>
              </a:spcAft>
              <a:buNone/>
            </a:pPr>
            <a:r>
              <a:rPr lang="en-US" sz="950" b="1" dirty="0">
                <a:solidFill>
                  <a:srgbClr val="2C5F82"/>
                </a:solidFill>
                <a:latin typeface="Arial" pitchFamily="34" charset="0"/>
                <a:ea typeface="Arial" pitchFamily="34" charset="-122"/>
                <a:cs typeface="Arial" pitchFamily="34" charset="-120"/>
              </a:rPr>
              <a:t>Rate: </a:t>
            </a:r>
            <a:pPr indent="0" marL="0">
              <a:spcAft>
                <a:spcPts val="400"/>
              </a:spcAft>
              <a:buNone/>
            </a:pPr>
            <a:r>
              <a:rPr lang="en-US" sz="950" dirty="0">
                <a:solidFill>
                  <a:srgbClr val="262626"/>
                </a:solidFill>
                <a:latin typeface="Arial" pitchFamily="34" charset="0"/>
                <a:ea typeface="Arial" pitchFamily="34" charset="-122"/>
                <a:cs typeface="Arial" pitchFamily="34" charset="-120"/>
              </a:rPr>
              <a:t>5.69% case rate, annually compounded; no dividends (USD performance assumed).</a:t>
            </a:r>
            <a:endParaRPr lang="en-US" sz="950" dirty="0"/>
          </a:p>
        </p:txBody>
      </p:sp>
      <p:sp>
        <p:nvSpPr>
          <p:cNvPr id="17" name="Shape 13"/>
          <p:cNvSpPr/>
          <p:nvPr/>
        </p:nvSpPr>
        <p:spPr>
          <a:xfrm>
            <a:off x="8138160" y="1325880"/>
            <a:ext cx="3593592" cy="347472"/>
          </a:xfrm>
          <a:prstGeom prst="rect">
            <a:avLst/>
          </a:prstGeom>
          <a:solidFill>
            <a:srgbClr val="2C5F82"/>
          </a:solidFill>
          <a:ln w="12700">
            <a:solidFill>
              <a:srgbClr val="2C5F82"/>
            </a:solidFill>
            <a:prstDash val="solid"/>
          </a:ln>
        </p:spPr>
      </p:sp>
      <p:sp>
        <p:nvSpPr>
          <p:cNvPr id="18" name="Text 14"/>
          <p:cNvSpPr txBox="1"/>
          <p:nvPr/>
        </p:nvSpPr>
        <p:spPr>
          <a:xfrm>
            <a:off x="8138160" y="1325880"/>
            <a:ext cx="359359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3  Method</a:t>
            </a:r>
            <a:endParaRPr lang="en-US" sz="1150" dirty="0"/>
          </a:p>
        </p:txBody>
      </p:sp>
      <p:sp>
        <p:nvSpPr>
          <p:cNvPr id="19" name="Shape 15"/>
          <p:cNvSpPr/>
          <p:nvPr/>
        </p:nvSpPr>
        <p:spPr>
          <a:xfrm>
            <a:off x="8138160" y="1755648"/>
            <a:ext cx="3593592" cy="804672"/>
          </a:xfrm>
          <a:prstGeom prst="rect">
            <a:avLst/>
          </a:prstGeom>
          <a:solidFill>
            <a:srgbClr val="F2F2F2"/>
          </a:solidFill>
          <a:ln w="12700">
            <a:solidFill>
              <a:srgbClr val="F2F2F2"/>
            </a:solidFill>
            <a:prstDash val="solid"/>
          </a:ln>
        </p:spPr>
      </p:sp>
      <p:sp>
        <p:nvSpPr>
          <p:cNvPr id="20" name="Shape 16"/>
          <p:cNvSpPr/>
          <p:nvPr/>
        </p:nvSpPr>
        <p:spPr>
          <a:xfrm>
            <a:off x="8229600" y="1956816"/>
            <a:ext cx="402336" cy="402336"/>
          </a:xfrm>
          <a:prstGeom prst="ellipse">
            <a:avLst/>
          </a:prstGeom>
          <a:solidFill>
            <a:srgbClr val="2C5F82"/>
          </a:solidFill>
          <a:ln w="12700">
            <a:solidFill>
              <a:srgbClr val="2C5F82"/>
            </a:solidFill>
            <a:prstDash val="solid"/>
          </a:ln>
        </p:spPr>
      </p:sp>
      <p:sp>
        <p:nvSpPr>
          <p:cNvPr id="21" name="Text 17"/>
          <p:cNvSpPr txBox="1"/>
          <p:nvPr/>
        </p:nvSpPr>
        <p:spPr>
          <a:xfrm>
            <a:off x="8229600" y="195681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22" name="Text 18"/>
          <p:cNvSpPr txBox="1"/>
          <p:nvPr/>
        </p:nvSpPr>
        <p:spPr>
          <a:xfrm>
            <a:off x="8732520" y="1792224"/>
            <a:ext cx="2926080" cy="731520"/>
          </a:xfrm>
          <a:prstGeom prst="rect">
            <a:avLst/>
          </a:prstGeom>
          <a:noFill/>
          <a:ln/>
        </p:spPr>
        <p:txBody>
          <a:bodyPr wrap="square" lIns="0" tIns="0" rIns="0" bIns="0" rtlCol="0" anchor="ctr"/>
          <a:lstStyle/>
          <a:p>
            <a:pPr indent="0" marL="0">
              <a:buNone/>
            </a:pPr>
            <a:r>
              <a:rPr lang="en-US" sz="950" b="1" dirty="0">
                <a:solidFill>
                  <a:srgbClr val="262626"/>
                </a:solidFill>
                <a:latin typeface="Arial" pitchFamily="34" charset="0"/>
                <a:ea typeface="Arial" pitchFamily="34" charset="-122"/>
                <a:cs typeface="Arial" pitchFamily="34" charset="-120"/>
              </a:rPr>
              <a:t>Simulate: </a:t>
            </a:r>
            <a:pPr indent="0" marL="0">
              <a:buNone/>
            </a:pPr>
            <a:r>
              <a:rPr lang="en-US" sz="950" dirty="0">
                <a:solidFill>
                  <a:srgbClr val="595959"/>
                </a:solidFill>
                <a:latin typeface="Arial" pitchFamily="34" charset="0"/>
                <a:ea typeface="Arial" pitchFamily="34" charset="-122"/>
                <a:cs typeface="Arial" pitchFamily="34" charset="-120"/>
              </a:rPr>
              <a:t>1,000,000 correlated lognormal basket paths (seed 12345), risk-neutral drift = 5.69%</a:t>
            </a:r>
            <a:endParaRPr lang="en-US" sz="950" dirty="0"/>
          </a:p>
        </p:txBody>
      </p:sp>
      <p:sp>
        <p:nvSpPr>
          <p:cNvPr id="23" name="Shape 19"/>
          <p:cNvSpPr/>
          <p:nvPr/>
        </p:nvSpPr>
        <p:spPr>
          <a:xfrm>
            <a:off x="8138160" y="2651760"/>
            <a:ext cx="3593592" cy="804672"/>
          </a:xfrm>
          <a:prstGeom prst="rect">
            <a:avLst/>
          </a:prstGeom>
          <a:solidFill>
            <a:srgbClr val="FFFFFF"/>
          </a:solidFill>
          <a:ln w="12700">
            <a:solidFill>
              <a:srgbClr val="F2F2F2"/>
            </a:solidFill>
            <a:prstDash val="solid"/>
          </a:ln>
        </p:spPr>
      </p:sp>
      <p:sp>
        <p:nvSpPr>
          <p:cNvPr id="24" name="Shape 20"/>
          <p:cNvSpPr/>
          <p:nvPr/>
        </p:nvSpPr>
        <p:spPr>
          <a:xfrm>
            <a:off x="8229600" y="2852928"/>
            <a:ext cx="402336" cy="402336"/>
          </a:xfrm>
          <a:prstGeom prst="ellipse">
            <a:avLst/>
          </a:prstGeom>
          <a:solidFill>
            <a:srgbClr val="2C5F82"/>
          </a:solidFill>
          <a:ln w="12700">
            <a:solidFill>
              <a:srgbClr val="2C5F82"/>
            </a:solidFill>
            <a:prstDash val="solid"/>
          </a:ln>
        </p:spPr>
      </p:sp>
      <p:sp>
        <p:nvSpPr>
          <p:cNvPr id="25" name="Text 21"/>
          <p:cNvSpPr txBox="1"/>
          <p:nvPr/>
        </p:nvSpPr>
        <p:spPr>
          <a:xfrm>
            <a:off x="8229600" y="2852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6" name="Text 22"/>
          <p:cNvSpPr txBox="1"/>
          <p:nvPr/>
        </p:nvSpPr>
        <p:spPr>
          <a:xfrm>
            <a:off x="8732520" y="2688336"/>
            <a:ext cx="2926080" cy="731520"/>
          </a:xfrm>
          <a:prstGeom prst="rect">
            <a:avLst/>
          </a:prstGeom>
          <a:noFill/>
          <a:ln/>
        </p:spPr>
        <p:txBody>
          <a:bodyPr wrap="square" lIns="0" tIns="0" rIns="0" bIns="0" rtlCol="0" anchor="ctr"/>
          <a:lstStyle/>
          <a:p>
            <a:pPr indent="0" marL="0">
              <a:buNone/>
            </a:pPr>
            <a:r>
              <a:rPr lang="en-US" sz="950" b="1" dirty="0">
                <a:solidFill>
                  <a:srgbClr val="262626"/>
                </a:solidFill>
                <a:latin typeface="Arial" pitchFamily="34" charset="0"/>
                <a:ea typeface="Arial" pitchFamily="34" charset="-122"/>
                <a:cs typeface="Arial" pitchFamily="34" charset="-120"/>
              </a:rPr>
              <a:t>Record: </a:t>
            </a:r>
            <a:pPr indent="0" marL="0">
              <a:buNone/>
            </a:pPr>
            <a:r>
              <a:rPr lang="en-US" sz="950" dirty="0">
                <a:solidFill>
                  <a:srgbClr val="595959"/>
                </a:solidFill>
                <a:latin typeface="Arial" pitchFamily="34" charset="0"/>
                <a:ea typeface="Arial" pitchFamily="34" charset="-122"/>
                <a:cs typeface="Arial" pitchFamily="34" charset="-120"/>
              </a:rPr>
              <a:t>the first year the basket is at or above that year's trigger, or 'never called'</a:t>
            </a:r>
            <a:endParaRPr lang="en-US" sz="950" dirty="0"/>
          </a:p>
        </p:txBody>
      </p:sp>
      <p:sp>
        <p:nvSpPr>
          <p:cNvPr id="27" name="Shape 23"/>
          <p:cNvSpPr/>
          <p:nvPr/>
        </p:nvSpPr>
        <p:spPr>
          <a:xfrm>
            <a:off x="8138160" y="3547872"/>
            <a:ext cx="3593592" cy="804672"/>
          </a:xfrm>
          <a:prstGeom prst="rect">
            <a:avLst/>
          </a:prstGeom>
          <a:solidFill>
            <a:srgbClr val="F2F2F2"/>
          </a:solidFill>
          <a:ln w="12700">
            <a:solidFill>
              <a:srgbClr val="F2F2F2"/>
            </a:solidFill>
            <a:prstDash val="solid"/>
          </a:ln>
        </p:spPr>
      </p:sp>
      <p:sp>
        <p:nvSpPr>
          <p:cNvPr id="28" name="Shape 24"/>
          <p:cNvSpPr/>
          <p:nvPr/>
        </p:nvSpPr>
        <p:spPr>
          <a:xfrm>
            <a:off x="8229600" y="3749040"/>
            <a:ext cx="402336" cy="402336"/>
          </a:xfrm>
          <a:prstGeom prst="ellipse">
            <a:avLst/>
          </a:prstGeom>
          <a:solidFill>
            <a:srgbClr val="2C5F82"/>
          </a:solidFill>
          <a:ln w="12700">
            <a:solidFill>
              <a:srgbClr val="2C5F82"/>
            </a:solidFill>
            <a:prstDash val="solid"/>
          </a:ln>
        </p:spPr>
      </p:sp>
      <p:sp>
        <p:nvSpPr>
          <p:cNvPr id="29" name="Text 25"/>
          <p:cNvSpPr txBox="1"/>
          <p:nvPr/>
        </p:nvSpPr>
        <p:spPr>
          <a:xfrm>
            <a:off x="8229600" y="37490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30" name="Text 26"/>
          <p:cNvSpPr txBox="1"/>
          <p:nvPr/>
        </p:nvSpPr>
        <p:spPr>
          <a:xfrm>
            <a:off x="8732520" y="3584448"/>
            <a:ext cx="2926080" cy="731520"/>
          </a:xfrm>
          <a:prstGeom prst="rect">
            <a:avLst/>
          </a:prstGeom>
          <a:noFill/>
          <a:ln/>
        </p:spPr>
        <p:txBody>
          <a:bodyPr wrap="square" lIns="0" tIns="0" rIns="0" bIns="0" rtlCol="0" anchor="ctr"/>
          <a:lstStyle/>
          <a:p>
            <a:pPr indent="0" marL="0">
              <a:buNone/>
            </a:pPr>
            <a:r>
              <a:rPr lang="en-US" sz="950" b="1" dirty="0">
                <a:solidFill>
                  <a:srgbClr val="262626"/>
                </a:solidFill>
                <a:latin typeface="Arial" pitchFamily="34" charset="0"/>
                <a:ea typeface="Arial" pitchFamily="34" charset="-122"/>
                <a:cs typeface="Arial" pitchFamily="34" charset="-120"/>
              </a:rPr>
              <a:t>Value: </a:t>
            </a:r>
            <a:pPr indent="0" marL="0">
              <a:buNone/>
            </a:pPr>
            <a:r>
              <a:rPr lang="en-US" sz="950" dirty="0">
                <a:solidFill>
                  <a:srgbClr val="595959"/>
                </a:solidFill>
                <a:latin typeface="Arial" pitchFamily="34" charset="0"/>
                <a:ea typeface="Arial" pitchFamily="34" charset="-122"/>
                <a:cs typeface="Arial" pitchFamily="34" charset="-120"/>
              </a:rPr>
              <a:t>every path's cash flows, discounted: PV = E[a] + yield × E[b]</a:t>
            </a:r>
            <a:endParaRPr lang="en-US" sz="950" dirty="0"/>
          </a:p>
        </p:txBody>
      </p:sp>
      <p:sp>
        <p:nvSpPr>
          <p:cNvPr id="31" name="Shape 27"/>
          <p:cNvSpPr/>
          <p:nvPr/>
        </p:nvSpPr>
        <p:spPr>
          <a:xfrm>
            <a:off x="8138160" y="4443984"/>
            <a:ext cx="3593592" cy="804672"/>
          </a:xfrm>
          <a:prstGeom prst="rect">
            <a:avLst/>
          </a:prstGeom>
          <a:solidFill>
            <a:srgbClr val="FFFFFF"/>
          </a:solidFill>
          <a:ln w="12700">
            <a:solidFill>
              <a:srgbClr val="F2F2F2"/>
            </a:solidFill>
            <a:prstDash val="solid"/>
          </a:ln>
        </p:spPr>
      </p:sp>
      <p:sp>
        <p:nvSpPr>
          <p:cNvPr id="32" name="Shape 28"/>
          <p:cNvSpPr/>
          <p:nvPr/>
        </p:nvSpPr>
        <p:spPr>
          <a:xfrm>
            <a:off x="8229600" y="4645152"/>
            <a:ext cx="402336" cy="402336"/>
          </a:xfrm>
          <a:prstGeom prst="ellipse">
            <a:avLst/>
          </a:prstGeom>
          <a:solidFill>
            <a:srgbClr val="2C5F82"/>
          </a:solidFill>
          <a:ln w="12700">
            <a:solidFill>
              <a:srgbClr val="2C5F82"/>
            </a:solidFill>
            <a:prstDash val="solid"/>
          </a:ln>
        </p:spPr>
      </p:sp>
      <p:sp>
        <p:nvSpPr>
          <p:cNvPr id="33" name="Text 29"/>
          <p:cNvSpPr txBox="1"/>
          <p:nvPr/>
        </p:nvSpPr>
        <p:spPr>
          <a:xfrm>
            <a:off x="8229600" y="46451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4" name="Text 30"/>
          <p:cNvSpPr txBox="1"/>
          <p:nvPr/>
        </p:nvSpPr>
        <p:spPr>
          <a:xfrm>
            <a:off x="8732520" y="4480560"/>
            <a:ext cx="2926080" cy="731520"/>
          </a:xfrm>
          <a:prstGeom prst="rect">
            <a:avLst/>
          </a:prstGeom>
          <a:noFill/>
          <a:ln/>
        </p:spPr>
        <p:txBody>
          <a:bodyPr wrap="square" lIns="0" tIns="0" rIns="0" bIns="0" rtlCol="0" anchor="ctr"/>
          <a:lstStyle/>
          <a:p>
            <a:pPr indent="0" marL="0">
              <a:buNone/>
            </a:pPr>
            <a:r>
              <a:rPr lang="en-US" sz="950" b="1" dirty="0">
                <a:solidFill>
                  <a:srgbClr val="262626"/>
                </a:solidFill>
                <a:latin typeface="Arial" pitchFamily="34" charset="0"/>
                <a:ea typeface="Arial" pitchFamily="34" charset="-122"/>
                <a:cs typeface="Arial" pitchFamily="34" charset="-120"/>
              </a:rPr>
              <a:t>Solve: </a:t>
            </a:r>
            <a:pPr indent="0" marL="0">
              <a:buNone/>
            </a:pPr>
            <a:r>
              <a:rPr lang="en-US" sz="950" dirty="0">
                <a:solidFill>
                  <a:srgbClr val="595959"/>
                </a:solidFill>
                <a:latin typeface="Arial" pitchFamily="34" charset="0"/>
                <a:ea typeface="Arial" pitchFamily="34" charset="-122"/>
                <a:cs typeface="Arial" pitchFamily="34" charset="-120"/>
              </a:rPr>
              <a:t>yield = (1 − E[a]) / E[b], so the note is worth exactly 100%</a:t>
            </a:r>
            <a:endParaRPr lang="en-US" sz="950" dirty="0"/>
          </a:p>
        </p:txBody>
      </p:sp>
      <p:sp>
        <p:nvSpPr>
          <p:cNvPr id="35" name="Shape 31"/>
          <p:cNvSpPr/>
          <p:nvPr/>
        </p:nvSpPr>
        <p:spPr>
          <a:xfrm>
            <a:off x="457200" y="5577840"/>
            <a:ext cx="11274552" cy="457200"/>
          </a:xfrm>
          <a:prstGeom prst="rect">
            <a:avLst/>
          </a:prstGeom>
          <a:solidFill>
            <a:srgbClr val="2C5F82"/>
          </a:solidFill>
          <a:ln w="12700">
            <a:solidFill>
              <a:srgbClr val="2C5F82"/>
            </a:solidFill>
            <a:prstDash val="solid"/>
          </a:ln>
        </p:spPr>
      </p:sp>
      <p:sp>
        <p:nvSpPr>
          <p:cNvPr id="36" name="Text 32"/>
          <p:cNvSpPr txBox="1"/>
          <p:nvPr/>
        </p:nvSpPr>
        <p:spPr>
          <a:xfrm>
            <a:off x="594360" y="5577840"/>
            <a:ext cx="11000232"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 = discounted principal repaid, b = discounted years of coupon earned: the fair yield balances the two at USD 100</a:t>
            </a:r>
            <a:endParaRPr lang="en-US" sz="1200" dirty="0"/>
          </a:p>
        </p:txBody>
      </p:sp>
      <p:sp>
        <p:nvSpPr>
          <p:cNvPr id="37" name="Text 33"/>
          <p:cNvSpPr txBox="1"/>
          <p:nvPr/>
        </p:nvSpPr>
        <p:spPr>
          <a:xfrm>
            <a:off x="457200" y="6089904"/>
            <a:ext cx="11274552" cy="256032"/>
          </a:xfrm>
          <a:prstGeom prst="rect">
            <a:avLst/>
          </a:prstGeom>
          <a:noFill/>
          <a:ln/>
        </p:spPr>
        <p:txBody>
          <a:bodyPr wrap="square" lIns="0" tIns="0" rIns="0" bIns="0" rtlCol="0" anchor="t"/>
          <a:lstStyle/>
          <a:p>
            <a:pPr indent="0" marL="0">
              <a:buNone/>
            </a:pPr>
            <a:r>
              <a:rPr lang="en-US" sz="800" i="1" dirty="0">
                <a:solidFill>
                  <a:srgbClr val="595959"/>
                </a:solidFill>
                <a:latin typeface="Arial" pitchFamily="34" charset="0"/>
                <a:ea typeface="Arial" pitchFamily="34" charset="-122"/>
                <a:cs typeface="Arial" pitchFamily="34" charset="-120"/>
              </a:rPr>
              <a:t>Source: team pricing brief and stochastic_cal_for_natixis.py. Excludes issuer credit, fees and hedging costs. Vol inputs: USD vs local-currency basis to confirm; 2644 JP row to confirm (originally labelled 2664).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200" dirty="0">
                <a:solidFill>
                  <a:srgbClr val="262626"/>
                </a:solidFill>
                <a:latin typeface="Arial" pitchFamily="34" charset="0"/>
                <a:ea typeface="Arial" pitchFamily="34" charset="-122"/>
                <a:cs typeface="Arial" pitchFamily="34" charset="-120"/>
              </a:rPr>
              <a:t>Result: the fair yield is 13.81% a year</a:t>
            </a:r>
            <a:endParaRPr lang="en-US" sz="2200" dirty="0"/>
          </a:p>
        </p:txBody>
      </p:sp>
      <p:sp>
        <p:nvSpPr>
          <p:cNvPr id="3" name="Shape 1"/>
          <p:cNvSpPr/>
          <p:nvPr/>
        </p:nvSpPr>
        <p:spPr>
          <a:xfrm>
            <a:off x="457200" y="896112"/>
            <a:ext cx="11274552" cy="0"/>
          </a:xfrm>
          <a:prstGeom prst="line">
            <a:avLst/>
          </a:prstGeom>
          <a:noFill/>
          <a:ln w="12700">
            <a:solidFill>
              <a:srgbClr val="2C5F82"/>
            </a:solidFill>
            <a:prstDash val="solid"/>
          </a:ln>
        </p:spPr>
      </p:sp>
      <p:sp>
        <p:nvSpPr>
          <p:cNvPr id="4" name="Text 2"/>
          <p:cNvSpPr txBox="1"/>
          <p:nvPr/>
        </p:nvSpPr>
        <p:spPr>
          <a:xfrm>
            <a:off x="457200" y="969264"/>
            <a:ext cx="11274552" cy="274320"/>
          </a:xfrm>
          <a:prstGeom prst="rect">
            <a:avLst/>
          </a:prstGeom>
          <a:noFill/>
          <a:ln/>
        </p:spPr>
        <p:txBody>
          <a:bodyPr wrap="square" lIns="0" tIns="0" rIns="0" bIns="0" rtlCol="0" anchor="t"/>
          <a:lstStyle/>
          <a:p>
            <a:pPr indent="0" marL="0">
              <a:buNone/>
            </a:pPr>
            <a:r>
              <a:rPr lang="en-US" sz="1100" i="1" dirty="0">
                <a:solidFill>
                  <a:srgbClr val="595959"/>
                </a:solidFill>
                <a:latin typeface="Arial" pitchFamily="34" charset="0"/>
                <a:ea typeface="Arial" pitchFamily="34" charset="-122"/>
                <a:cs typeface="Arial" pitchFamily="34" charset="-120"/>
              </a:rPr>
              <a:t>1,000,000 simulated paths; we take the bottom of the 95% confidence interval so the yield is never overstated</a:t>
            </a:r>
            <a:endParaRPr lang="en-US" sz="1100" dirty="0"/>
          </a:p>
        </p:txBody>
      </p:sp>
      <p:sp>
        <p:nvSpPr>
          <p:cNvPr id="5" name="Shape 3"/>
          <p:cNvSpPr/>
          <p:nvPr/>
        </p:nvSpPr>
        <p:spPr>
          <a:xfrm>
            <a:off x="457200" y="6382512"/>
            <a:ext cx="11274552" cy="0"/>
          </a:xfrm>
          <a:prstGeom prst="line">
            <a:avLst/>
          </a:prstGeom>
          <a:noFill/>
          <a:ln w="9525">
            <a:solidFill>
              <a:srgbClr val="BFBFBF"/>
            </a:solidFill>
            <a:prstDash val="solid"/>
          </a:ln>
        </p:spPr>
      </p:sp>
      <p:sp>
        <p:nvSpPr>
          <p:cNvPr id="6" name="Text 4"/>
          <p:cNvSpPr txBox="1"/>
          <p:nvPr/>
        </p:nvSpPr>
        <p:spPr>
          <a:xfrm>
            <a:off x="457200"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ANALYSIS</a:t>
            </a:r>
            <a:endParaRPr lang="en-US" sz="1200" dirty="0"/>
          </a:p>
        </p:txBody>
      </p:sp>
      <p:sp>
        <p:nvSpPr>
          <p:cNvPr id="7" name="Shape 5"/>
          <p:cNvSpPr/>
          <p:nvPr/>
        </p:nvSpPr>
        <p:spPr>
          <a:xfrm>
            <a:off x="4837176" y="6364224"/>
            <a:ext cx="2514600" cy="45720"/>
          </a:xfrm>
          <a:prstGeom prst="rect">
            <a:avLst/>
          </a:prstGeom>
          <a:solidFill>
            <a:srgbClr val="2C5F82"/>
          </a:solidFill>
          <a:ln w="12700">
            <a:solidFill>
              <a:srgbClr val="2C5F82"/>
            </a:solidFill>
            <a:prstDash val="solid"/>
          </a:ln>
        </p:spPr>
      </p:sp>
      <p:sp>
        <p:nvSpPr>
          <p:cNvPr id="8" name="Text 6"/>
          <p:cNvSpPr txBox="1"/>
          <p:nvPr/>
        </p:nvSpPr>
        <p:spPr>
          <a:xfrm>
            <a:off x="4288536" y="6446520"/>
            <a:ext cx="3611880" cy="274320"/>
          </a:xfrm>
          <a:prstGeom prst="rect">
            <a:avLst/>
          </a:prstGeom>
          <a:noFill/>
          <a:ln/>
        </p:spPr>
        <p:txBody>
          <a:bodyPr wrap="square" lIns="0" tIns="0" rIns="0" bIns="0" rtlCol="0" anchor="t"/>
          <a:lstStyle/>
          <a:p>
            <a:pPr algn="ctr" indent="0" marL="0">
              <a:buNone/>
            </a:pPr>
            <a:r>
              <a:rPr lang="en-US" sz="1200" b="1" spc="100" kern="0" dirty="0">
                <a:solidFill>
                  <a:srgbClr val="2C5F82"/>
                </a:solidFill>
                <a:latin typeface="Arial" pitchFamily="34" charset="0"/>
                <a:ea typeface="Arial" pitchFamily="34" charset="-122"/>
                <a:cs typeface="Arial" pitchFamily="34" charset="-120"/>
              </a:rPr>
              <a:t>STRATEGY</a:t>
            </a:r>
            <a:endParaRPr lang="en-US" sz="1200" dirty="0"/>
          </a:p>
        </p:txBody>
      </p:sp>
      <p:sp>
        <p:nvSpPr>
          <p:cNvPr id="9" name="Text 7"/>
          <p:cNvSpPr txBox="1"/>
          <p:nvPr/>
        </p:nvSpPr>
        <p:spPr>
          <a:xfrm>
            <a:off x="8129016"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APPENDIX</a:t>
            </a:r>
            <a:endParaRPr lang="en-US" sz="1200" dirty="0"/>
          </a:p>
        </p:txBody>
      </p:sp>
      <p:sp>
        <p:nvSpPr>
          <p:cNvPr id="10" name="Shape 8"/>
          <p:cNvSpPr/>
          <p:nvPr/>
        </p:nvSpPr>
        <p:spPr>
          <a:xfrm>
            <a:off x="457200" y="1325880"/>
            <a:ext cx="5486400" cy="347472"/>
          </a:xfrm>
          <a:prstGeom prst="rect">
            <a:avLst/>
          </a:prstGeom>
          <a:solidFill>
            <a:srgbClr val="2C5F82"/>
          </a:solidFill>
          <a:ln w="12700">
            <a:solidFill>
              <a:srgbClr val="2C5F82"/>
            </a:solidFill>
            <a:prstDash val="solid"/>
          </a:ln>
        </p:spPr>
      </p:sp>
      <p:sp>
        <p:nvSpPr>
          <p:cNvPr id="11" name="Text 9"/>
          <p:cNvSpPr txBox="1"/>
          <p:nvPr/>
        </p:nvSpPr>
        <p:spPr>
          <a:xfrm>
            <a:off x="457200" y="1325880"/>
            <a:ext cx="548640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When does the note end? (risk-neutral, % of paths)</a:t>
            </a:r>
            <a:endParaRPr lang="en-US" sz="1150" dirty="0"/>
          </a:p>
        </p:txBody>
      </p:sp>
      <p:graphicFrame>
        <p:nvGraphicFramePr>
          <p:cNvPr id="12" name="Chart 0" descr=""/>
          <p:cNvGraphicFramePr/>
          <p:nvPr/>
        </p:nvGraphicFramePr>
        <p:xfrm>
          <a:off x="457200" y="1737360"/>
          <a:ext cx="5486400" cy="2743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4572000"/>
            <a:ext cx="5486400" cy="822960"/>
          </a:xfrm>
          <a:prstGeom prst="rect">
            <a:avLst/>
          </a:prstGeom>
          <a:noFill/>
          <a:ln/>
        </p:spPr>
        <p:txBody>
          <a:bodyPr wrap="square" lIns="0" tIns="0" rIns="0" bIns="0" rtlCol="0" anchor="t"/>
          <a:lstStyle/>
          <a:p>
            <a:pPr indent="0" marL="0">
              <a:buNone/>
            </a:pPr>
            <a:r>
              <a:rPr lang="en-US" sz="950" dirty="0">
                <a:solidFill>
                  <a:srgbClr val="262626"/>
                </a:solidFill>
                <a:latin typeface="Arial" pitchFamily="34" charset="0"/>
                <a:ea typeface="Arial" pitchFamily="34" charset="-122"/>
                <a:cs typeface="Arial" pitchFamily="34" charset="-120"/>
              </a:rPr>
              <a:t>Never called (</a:t>
            </a:r>
            <a:pPr indent="0" marL="0">
              <a:buNone/>
            </a:pPr>
            <a:r>
              <a:rPr lang="en-US" sz="950" b="1" dirty="0">
                <a:solidFill>
                  <a:srgbClr val="262626"/>
                </a:solidFill>
                <a:latin typeface="Arial" pitchFamily="34" charset="0"/>
                <a:ea typeface="Arial" pitchFamily="34" charset="-122"/>
                <a:cs typeface="Arial" pitchFamily="34" charset="-120"/>
              </a:rPr>
              <a:t>18.8%</a:t>
            </a:r>
            <a:pPr indent="0" marL="0">
              <a:buNone/>
            </a:pPr>
            <a:r>
              <a:rPr lang="en-US" sz="950" dirty="0">
                <a:solidFill>
                  <a:srgbClr val="262626"/>
                </a:solidFill>
                <a:latin typeface="Arial" pitchFamily="34" charset="0"/>
                <a:ea typeface="Arial" pitchFamily="34" charset="-122"/>
                <a:cs typeface="Arial" pitchFamily="34" charset="-120"/>
              </a:rPr>
              <a:t>): 5.0% end above 70% and get 100% back; 13.7% end below 70% and get the basket level. Average repayment when never called: 63%. Expected life 2.3 years.</a:t>
            </a:r>
            <a:endParaRPr lang="en-US" sz="950" dirty="0"/>
          </a:p>
        </p:txBody>
      </p:sp>
      <p:sp>
        <p:nvSpPr>
          <p:cNvPr id="14" name="Shape 11"/>
          <p:cNvSpPr/>
          <p:nvPr/>
        </p:nvSpPr>
        <p:spPr>
          <a:xfrm>
            <a:off x="6245352" y="1325880"/>
            <a:ext cx="5486400" cy="347472"/>
          </a:xfrm>
          <a:prstGeom prst="rect">
            <a:avLst/>
          </a:prstGeom>
          <a:solidFill>
            <a:srgbClr val="2C5F82"/>
          </a:solidFill>
          <a:ln w="12700">
            <a:solidFill>
              <a:srgbClr val="2C5F82"/>
            </a:solidFill>
            <a:prstDash val="solid"/>
          </a:ln>
        </p:spPr>
      </p:sp>
      <p:sp>
        <p:nvSpPr>
          <p:cNvPr id="15" name="Text 12"/>
          <p:cNvSpPr txBox="1"/>
          <p:nvPr/>
        </p:nvSpPr>
        <p:spPr>
          <a:xfrm>
            <a:off x="6245352" y="1325880"/>
            <a:ext cx="548640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Fair yield</a:t>
            </a:r>
            <a:endParaRPr lang="en-US" sz="1150" dirty="0"/>
          </a:p>
        </p:txBody>
      </p:sp>
      <p:sp>
        <p:nvSpPr>
          <p:cNvPr id="16" name="Shape 13"/>
          <p:cNvSpPr/>
          <p:nvPr/>
        </p:nvSpPr>
        <p:spPr>
          <a:xfrm>
            <a:off x="6245352" y="1755648"/>
            <a:ext cx="5486400" cy="804672"/>
          </a:xfrm>
          <a:prstGeom prst="rect">
            <a:avLst/>
          </a:prstGeom>
          <a:solidFill>
            <a:srgbClr val="F2F2F2"/>
          </a:solidFill>
          <a:ln w="6350">
            <a:solidFill>
              <a:srgbClr val="F2F2F2"/>
            </a:solidFill>
            <a:prstDash val="solid"/>
          </a:ln>
        </p:spPr>
      </p:sp>
      <p:sp>
        <p:nvSpPr>
          <p:cNvPr id="17" name="Shape 14"/>
          <p:cNvSpPr/>
          <p:nvPr/>
        </p:nvSpPr>
        <p:spPr>
          <a:xfrm>
            <a:off x="6245352" y="1755648"/>
            <a:ext cx="64008" cy="804672"/>
          </a:xfrm>
          <a:prstGeom prst="rect">
            <a:avLst/>
          </a:prstGeom>
          <a:solidFill>
            <a:srgbClr val="2C5F82"/>
          </a:solidFill>
          <a:ln w="12700">
            <a:solidFill>
              <a:srgbClr val="2C5F82"/>
            </a:solidFill>
            <a:prstDash val="solid"/>
          </a:ln>
        </p:spPr>
      </p:sp>
      <p:sp>
        <p:nvSpPr>
          <p:cNvPr id="18" name="Text 15"/>
          <p:cNvSpPr txBox="1"/>
          <p:nvPr/>
        </p:nvSpPr>
        <p:spPr>
          <a:xfrm>
            <a:off x="6446520" y="1755648"/>
            <a:ext cx="2377440" cy="804672"/>
          </a:xfrm>
          <a:prstGeom prst="rect">
            <a:avLst/>
          </a:prstGeom>
          <a:noFill/>
          <a:ln/>
        </p:spPr>
        <p:txBody>
          <a:bodyPr wrap="square" lIns="0" tIns="0" rIns="0" bIns="0" rtlCol="0" anchor="ctr"/>
          <a:lstStyle/>
          <a:p>
            <a:pPr indent="0" marL="0">
              <a:buNone/>
            </a:pPr>
            <a:r>
              <a:rPr lang="en-US" sz="2000" b="1" dirty="0">
                <a:solidFill>
                  <a:srgbClr val="2C5F82"/>
                </a:solidFill>
                <a:latin typeface="Arial" pitchFamily="34" charset="0"/>
                <a:ea typeface="Arial" pitchFamily="34" charset="-122"/>
                <a:cs typeface="Arial" pitchFamily="34" charset="-120"/>
              </a:rPr>
              <a:t>13.85%</a:t>
            </a:r>
            <a:endParaRPr lang="en-US" sz="2000" dirty="0"/>
          </a:p>
        </p:txBody>
      </p:sp>
      <p:sp>
        <p:nvSpPr>
          <p:cNvPr id="19" name="Text 16"/>
          <p:cNvSpPr txBox="1"/>
          <p:nvPr/>
        </p:nvSpPr>
        <p:spPr>
          <a:xfrm>
            <a:off x="8869680" y="1755648"/>
            <a:ext cx="2788920" cy="804672"/>
          </a:xfrm>
          <a:prstGeom prst="rect">
            <a:avLst/>
          </a:prstGeom>
          <a:noFill/>
          <a:ln/>
        </p:spPr>
        <p:txBody>
          <a:bodyPr wrap="square" lIns="0" tIns="0" rIns="0" bIns="0" rtlCol="0" anchor="ctr"/>
          <a:lstStyle/>
          <a:p>
            <a:pPr indent="0" marL="0">
              <a:buNone/>
            </a:pPr>
            <a:r>
              <a:rPr lang="en-US" sz="1000" dirty="0">
                <a:solidFill>
                  <a:srgbClr val="595959"/>
                </a:solidFill>
                <a:latin typeface="Arial" pitchFamily="34" charset="0"/>
                <a:ea typeface="Arial" pitchFamily="34" charset="-122"/>
                <a:cs typeface="Arial" pitchFamily="34" charset="-120"/>
              </a:rPr>
              <a:t>Monte Carlo point estimate (standard error 0.02%)</a:t>
            </a:r>
            <a:endParaRPr lang="en-US" sz="1000" dirty="0"/>
          </a:p>
        </p:txBody>
      </p:sp>
      <p:sp>
        <p:nvSpPr>
          <p:cNvPr id="20" name="Shape 17"/>
          <p:cNvSpPr/>
          <p:nvPr/>
        </p:nvSpPr>
        <p:spPr>
          <a:xfrm>
            <a:off x="6245352" y="2651760"/>
            <a:ext cx="5486400" cy="804672"/>
          </a:xfrm>
          <a:prstGeom prst="rect">
            <a:avLst/>
          </a:prstGeom>
          <a:solidFill>
            <a:srgbClr val="F2F2F2"/>
          </a:solidFill>
          <a:ln w="6350">
            <a:solidFill>
              <a:srgbClr val="F2F2F2"/>
            </a:solidFill>
            <a:prstDash val="solid"/>
          </a:ln>
        </p:spPr>
      </p:sp>
      <p:sp>
        <p:nvSpPr>
          <p:cNvPr id="21" name="Shape 18"/>
          <p:cNvSpPr/>
          <p:nvPr/>
        </p:nvSpPr>
        <p:spPr>
          <a:xfrm>
            <a:off x="6245352" y="2651760"/>
            <a:ext cx="64008" cy="804672"/>
          </a:xfrm>
          <a:prstGeom prst="rect">
            <a:avLst/>
          </a:prstGeom>
          <a:solidFill>
            <a:srgbClr val="4F86AE"/>
          </a:solidFill>
          <a:ln w="12700">
            <a:solidFill>
              <a:srgbClr val="4F86AE"/>
            </a:solidFill>
            <a:prstDash val="solid"/>
          </a:ln>
        </p:spPr>
      </p:sp>
      <p:sp>
        <p:nvSpPr>
          <p:cNvPr id="22" name="Text 19"/>
          <p:cNvSpPr txBox="1"/>
          <p:nvPr/>
        </p:nvSpPr>
        <p:spPr>
          <a:xfrm>
            <a:off x="6446520" y="2651760"/>
            <a:ext cx="2377440" cy="804672"/>
          </a:xfrm>
          <a:prstGeom prst="rect">
            <a:avLst/>
          </a:prstGeom>
          <a:noFill/>
          <a:ln/>
        </p:spPr>
        <p:txBody>
          <a:bodyPr wrap="square" lIns="0" tIns="0" rIns="0" bIns="0" rtlCol="0" anchor="ctr"/>
          <a:lstStyle/>
          <a:p>
            <a:pPr indent="0" marL="0">
              <a:buNone/>
            </a:pPr>
            <a:r>
              <a:rPr lang="en-US" sz="2000" b="1" dirty="0">
                <a:solidFill>
                  <a:srgbClr val="4F86AE"/>
                </a:solidFill>
                <a:latin typeface="Arial" pitchFamily="34" charset="0"/>
                <a:ea typeface="Arial" pitchFamily="34" charset="-122"/>
                <a:cs typeface="Arial" pitchFamily="34" charset="-120"/>
              </a:rPr>
              <a:t>13.81% – 13.90%</a:t>
            </a:r>
            <a:endParaRPr lang="en-US" sz="2000" dirty="0"/>
          </a:p>
        </p:txBody>
      </p:sp>
      <p:sp>
        <p:nvSpPr>
          <p:cNvPr id="23" name="Text 20"/>
          <p:cNvSpPr txBox="1"/>
          <p:nvPr/>
        </p:nvSpPr>
        <p:spPr>
          <a:xfrm>
            <a:off x="8869680" y="2651760"/>
            <a:ext cx="2788920" cy="804672"/>
          </a:xfrm>
          <a:prstGeom prst="rect">
            <a:avLst/>
          </a:prstGeom>
          <a:noFill/>
          <a:ln/>
        </p:spPr>
        <p:txBody>
          <a:bodyPr wrap="square" lIns="0" tIns="0" rIns="0" bIns="0" rtlCol="0" anchor="ctr"/>
          <a:lstStyle/>
          <a:p>
            <a:pPr indent="0" marL="0">
              <a:buNone/>
            </a:pPr>
            <a:r>
              <a:rPr lang="en-US" sz="1000" dirty="0">
                <a:solidFill>
                  <a:srgbClr val="595959"/>
                </a:solidFill>
                <a:latin typeface="Arial" pitchFamily="34" charset="0"/>
                <a:ea typeface="Arial" pitchFamily="34" charset="-122"/>
                <a:cs typeface="Arial" pitchFamily="34" charset="-120"/>
              </a:rPr>
              <a:t>95% confidence interval</a:t>
            </a:r>
            <a:endParaRPr lang="en-US" sz="1000" dirty="0"/>
          </a:p>
        </p:txBody>
      </p:sp>
      <p:sp>
        <p:nvSpPr>
          <p:cNvPr id="24" name="Shape 21"/>
          <p:cNvSpPr/>
          <p:nvPr/>
        </p:nvSpPr>
        <p:spPr>
          <a:xfrm>
            <a:off x="6245352" y="3547872"/>
            <a:ext cx="5486400" cy="804672"/>
          </a:xfrm>
          <a:prstGeom prst="rect">
            <a:avLst/>
          </a:prstGeom>
          <a:solidFill>
            <a:srgbClr val="E8EFF5"/>
          </a:solidFill>
          <a:ln w="19050">
            <a:solidFill>
              <a:srgbClr val="2C5F82"/>
            </a:solidFill>
            <a:prstDash val="solid"/>
          </a:ln>
        </p:spPr>
      </p:sp>
      <p:sp>
        <p:nvSpPr>
          <p:cNvPr id="25" name="Shape 22"/>
          <p:cNvSpPr/>
          <p:nvPr/>
        </p:nvSpPr>
        <p:spPr>
          <a:xfrm>
            <a:off x="6245352" y="3547872"/>
            <a:ext cx="64008" cy="804672"/>
          </a:xfrm>
          <a:prstGeom prst="rect">
            <a:avLst/>
          </a:prstGeom>
          <a:solidFill>
            <a:srgbClr val="2C5F82"/>
          </a:solidFill>
          <a:ln w="12700">
            <a:solidFill>
              <a:srgbClr val="2C5F82"/>
            </a:solidFill>
            <a:prstDash val="solid"/>
          </a:ln>
        </p:spPr>
      </p:sp>
      <p:sp>
        <p:nvSpPr>
          <p:cNvPr id="26" name="Text 23"/>
          <p:cNvSpPr txBox="1"/>
          <p:nvPr/>
        </p:nvSpPr>
        <p:spPr>
          <a:xfrm>
            <a:off x="6446520" y="3547872"/>
            <a:ext cx="2377440" cy="804672"/>
          </a:xfrm>
          <a:prstGeom prst="rect">
            <a:avLst/>
          </a:prstGeom>
          <a:noFill/>
          <a:ln/>
        </p:spPr>
        <p:txBody>
          <a:bodyPr wrap="square" lIns="0" tIns="0" rIns="0" bIns="0" rtlCol="0" anchor="ctr"/>
          <a:lstStyle/>
          <a:p>
            <a:pPr indent="0" marL="0">
              <a:buNone/>
            </a:pPr>
            <a:r>
              <a:rPr lang="en-US" sz="2000" b="1" dirty="0">
                <a:solidFill>
                  <a:srgbClr val="2C5F82"/>
                </a:solidFill>
                <a:latin typeface="Arial" pitchFamily="34" charset="0"/>
                <a:ea typeface="Arial" pitchFamily="34" charset="-122"/>
                <a:cs typeface="Arial" pitchFamily="34" charset="-120"/>
              </a:rPr>
              <a:t>13.81%</a:t>
            </a:r>
            <a:endParaRPr lang="en-US" sz="2000" dirty="0"/>
          </a:p>
        </p:txBody>
      </p:sp>
      <p:sp>
        <p:nvSpPr>
          <p:cNvPr id="27" name="Text 24"/>
          <p:cNvSpPr txBox="1"/>
          <p:nvPr/>
        </p:nvSpPr>
        <p:spPr>
          <a:xfrm>
            <a:off x="8869680" y="3547872"/>
            <a:ext cx="2788920" cy="804672"/>
          </a:xfrm>
          <a:prstGeom prst="rect">
            <a:avLst/>
          </a:prstGeom>
          <a:noFill/>
          <a:ln/>
        </p:spPr>
        <p:txBody>
          <a:bodyPr wrap="square" lIns="0" tIns="0" rIns="0" bIns="0" rtlCol="0" anchor="ctr"/>
          <a:lstStyle/>
          <a:p>
            <a:pPr indent="0" marL="0">
              <a:buNone/>
            </a:pPr>
            <a:r>
              <a:rPr lang="en-US" sz="1000" dirty="0">
                <a:solidFill>
                  <a:srgbClr val="595959"/>
                </a:solidFill>
                <a:latin typeface="Arial" pitchFamily="34" charset="0"/>
                <a:ea typeface="Arial" pitchFamily="34" charset="-122"/>
                <a:cs typeface="Arial" pitchFamily="34" charset="-120"/>
              </a:rPr>
              <a:t>Fair yield we use: the lower bound, conservative</a:t>
            </a:r>
            <a:endParaRPr lang="en-US" sz="1000" dirty="0"/>
          </a:p>
        </p:txBody>
      </p:sp>
      <p:sp>
        <p:nvSpPr>
          <p:cNvPr id="28" name="Shape 25"/>
          <p:cNvSpPr/>
          <p:nvPr/>
        </p:nvSpPr>
        <p:spPr>
          <a:xfrm>
            <a:off x="6245352" y="4443984"/>
            <a:ext cx="5486400" cy="804672"/>
          </a:xfrm>
          <a:prstGeom prst="rect">
            <a:avLst/>
          </a:prstGeom>
          <a:solidFill>
            <a:srgbClr val="F2F2F2"/>
          </a:solidFill>
          <a:ln w="6350">
            <a:solidFill>
              <a:srgbClr val="F2F2F2"/>
            </a:solidFill>
            <a:prstDash val="solid"/>
          </a:ln>
        </p:spPr>
      </p:sp>
      <p:sp>
        <p:nvSpPr>
          <p:cNvPr id="29" name="Shape 26"/>
          <p:cNvSpPr/>
          <p:nvPr/>
        </p:nvSpPr>
        <p:spPr>
          <a:xfrm>
            <a:off x="6245352" y="4443984"/>
            <a:ext cx="64008" cy="804672"/>
          </a:xfrm>
          <a:prstGeom prst="rect">
            <a:avLst/>
          </a:prstGeom>
          <a:solidFill>
            <a:srgbClr val="7F7F7F"/>
          </a:solidFill>
          <a:ln w="12700">
            <a:solidFill>
              <a:srgbClr val="7F7F7F"/>
            </a:solidFill>
            <a:prstDash val="solid"/>
          </a:ln>
        </p:spPr>
      </p:sp>
      <p:sp>
        <p:nvSpPr>
          <p:cNvPr id="30" name="Text 27"/>
          <p:cNvSpPr txBox="1"/>
          <p:nvPr/>
        </p:nvSpPr>
        <p:spPr>
          <a:xfrm>
            <a:off x="6446520" y="4443984"/>
            <a:ext cx="2377440" cy="804672"/>
          </a:xfrm>
          <a:prstGeom prst="rect">
            <a:avLst/>
          </a:prstGeom>
          <a:noFill/>
          <a:ln/>
        </p:spPr>
        <p:txBody>
          <a:bodyPr wrap="square" lIns="0" tIns="0" rIns="0" bIns="0" rtlCol="0" anchor="ctr"/>
          <a:lstStyle/>
          <a:p>
            <a:pPr indent="0" marL="0">
              <a:buNone/>
            </a:pPr>
            <a:r>
              <a:rPr lang="en-US" sz="2000" b="1" dirty="0">
                <a:solidFill>
                  <a:srgbClr val="7F7F7F"/>
                </a:solidFill>
                <a:latin typeface="Arial" pitchFamily="34" charset="0"/>
                <a:ea typeface="Arial" pitchFamily="34" charset="-122"/>
                <a:cs typeface="Arial" pitchFamily="34" charset="-120"/>
              </a:rPr>
              <a:t>8.77%</a:t>
            </a:r>
            <a:endParaRPr lang="en-US" sz="2000" dirty="0"/>
          </a:p>
        </p:txBody>
      </p:sp>
      <p:sp>
        <p:nvSpPr>
          <p:cNvPr id="31" name="Text 28"/>
          <p:cNvSpPr txBox="1"/>
          <p:nvPr/>
        </p:nvSpPr>
        <p:spPr>
          <a:xfrm>
            <a:off x="8869680" y="4443984"/>
            <a:ext cx="2788920" cy="804672"/>
          </a:xfrm>
          <a:prstGeom prst="rect">
            <a:avLst/>
          </a:prstGeom>
          <a:noFill/>
          <a:ln/>
        </p:spPr>
        <p:txBody>
          <a:bodyPr wrap="square" lIns="0" tIns="0" rIns="0" bIns="0" rtlCol="0" anchor="ctr"/>
          <a:lstStyle/>
          <a:p>
            <a:pPr indent="0" marL="0">
              <a:buNone/>
            </a:pPr>
            <a:r>
              <a:rPr lang="en-US" sz="1000" dirty="0">
                <a:solidFill>
                  <a:srgbClr val="595959"/>
                </a:solidFill>
                <a:latin typeface="Arial" pitchFamily="34" charset="0"/>
                <a:ea typeface="Arial" pitchFamily="34" charset="-122"/>
                <a:cs typeface="Arial" pitchFamily="34" charset="-120"/>
              </a:rPr>
              <a:t>If never-called paths also earned the coupon (alternative Case B)</a:t>
            </a:r>
            <a:endParaRPr lang="en-US" sz="1000" dirty="0"/>
          </a:p>
        </p:txBody>
      </p:sp>
      <p:sp>
        <p:nvSpPr>
          <p:cNvPr id="32" name="Shape 29"/>
          <p:cNvSpPr/>
          <p:nvPr/>
        </p:nvSpPr>
        <p:spPr>
          <a:xfrm>
            <a:off x="457200" y="5577840"/>
            <a:ext cx="11274552" cy="457200"/>
          </a:xfrm>
          <a:prstGeom prst="rect">
            <a:avLst/>
          </a:prstGeom>
          <a:solidFill>
            <a:srgbClr val="2C5F82"/>
          </a:solidFill>
          <a:ln w="12700">
            <a:solidFill>
              <a:srgbClr val="2C5F82"/>
            </a:solidFill>
            <a:prstDash val="solid"/>
          </a:ln>
        </p:spPr>
      </p:sp>
      <p:sp>
        <p:nvSpPr>
          <p:cNvPr id="33" name="Text 30"/>
          <p:cNvSpPr txBox="1"/>
          <p:nvPr/>
        </p:nvSpPr>
        <p:spPr>
          <a:xfrm>
            <a:off x="594360" y="5577840"/>
            <a:ext cx="11000232"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About half the paths end at Year 1; the coupon is paid for by the 13.7% of paths that end below the 70% barrier</a:t>
            </a:r>
            <a:endParaRPr lang="en-US" sz="1200" dirty="0"/>
          </a:p>
        </p:txBody>
      </p:sp>
      <p:sp>
        <p:nvSpPr>
          <p:cNvPr id="34" name="Text 31"/>
          <p:cNvSpPr txBox="1"/>
          <p:nvPr/>
        </p:nvSpPr>
        <p:spPr>
          <a:xfrm>
            <a:off x="457200" y="6089904"/>
            <a:ext cx="11274552" cy="256032"/>
          </a:xfrm>
          <a:prstGeom prst="rect">
            <a:avLst/>
          </a:prstGeom>
          <a:noFill/>
          <a:ln/>
        </p:spPr>
        <p:txBody>
          <a:bodyPr wrap="square" lIns="0" tIns="0" rIns="0" bIns="0" rtlCol="0" anchor="t"/>
          <a:lstStyle/>
          <a:p>
            <a:pPr indent="0" marL="0">
              <a:buNone/>
            </a:pPr>
            <a:r>
              <a:rPr lang="en-US" sz="800" i="1" dirty="0">
                <a:solidFill>
                  <a:srgbClr val="595959"/>
                </a:solidFill>
                <a:latin typeface="Arial" pitchFamily="34" charset="0"/>
                <a:ea typeface="Arial" pitchFamily="34" charset="-122"/>
                <a:cs typeface="Arial" pitchFamily="34" charset="-120"/>
              </a:rPr>
              <a:t>Case A (base): no coupon on never-called paths. Probabilities are risk-neutral (drift = 5.69%), not forecasts. Model: correlated lognormal, deterministic vol term structure, zero dividends.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200" dirty="0">
                <a:solidFill>
                  <a:srgbClr val="262626"/>
                </a:solidFill>
                <a:latin typeface="Arial" pitchFamily="34" charset="0"/>
                <a:ea typeface="Arial" pitchFamily="34" charset="-122"/>
                <a:cs typeface="Arial" pitchFamily="34" charset="-120"/>
              </a:rPr>
              <a:t>Splitting 13.81%: 10% a year to the family, 3.81% to Natixis</a:t>
            </a:r>
            <a:endParaRPr lang="en-US" sz="2200" dirty="0"/>
          </a:p>
        </p:txBody>
      </p:sp>
      <p:sp>
        <p:nvSpPr>
          <p:cNvPr id="3" name="Shape 1"/>
          <p:cNvSpPr/>
          <p:nvPr/>
        </p:nvSpPr>
        <p:spPr>
          <a:xfrm>
            <a:off x="457200" y="896112"/>
            <a:ext cx="11274552" cy="0"/>
          </a:xfrm>
          <a:prstGeom prst="line">
            <a:avLst/>
          </a:prstGeom>
          <a:noFill/>
          <a:ln w="12700">
            <a:solidFill>
              <a:srgbClr val="2C5F82"/>
            </a:solidFill>
            <a:prstDash val="solid"/>
          </a:ln>
        </p:spPr>
      </p:sp>
      <p:sp>
        <p:nvSpPr>
          <p:cNvPr id="4" name="Text 2"/>
          <p:cNvSpPr txBox="1"/>
          <p:nvPr/>
        </p:nvSpPr>
        <p:spPr>
          <a:xfrm>
            <a:off x="457200" y="969264"/>
            <a:ext cx="11274552" cy="274320"/>
          </a:xfrm>
          <a:prstGeom prst="rect">
            <a:avLst/>
          </a:prstGeom>
          <a:noFill/>
          <a:ln/>
        </p:spPr>
        <p:txBody>
          <a:bodyPr wrap="square" lIns="0" tIns="0" rIns="0" bIns="0" rtlCol="0" anchor="t"/>
          <a:lstStyle/>
          <a:p>
            <a:pPr indent="0" marL="0">
              <a:buNone/>
            </a:pPr>
            <a:r>
              <a:rPr lang="en-US" sz="1100" i="1" dirty="0">
                <a:solidFill>
                  <a:srgbClr val="595959"/>
                </a:solidFill>
                <a:latin typeface="Arial" pitchFamily="34" charset="0"/>
                <a:ea typeface="Arial" pitchFamily="34" charset="-122"/>
                <a:cs typeface="Arial" pitchFamily="34" charset="-120"/>
              </a:rPr>
              <a:t>The family is offered a 10% yield; the gap to the fair yield is Natixis's hedging cost and profit</a:t>
            </a:r>
            <a:endParaRPr lang="en-US" sz="1100" dirty="0"/>
          </a:p>
        </p:txBody>
      </p:sp>
      <p:sp>
        <p:nvSpPr>
          <p:cNvPr id="5" name="Shape 3"/>
          <p:cNvSpPr/>
          <p:nvPr/>
        </p:nvSpPr>
        <p:spPr>
          <a:xfrm>
            <a:off x="457200" y="6382512"/>
            <a:ext cx="11274552" cy="0"/>
          </a:xfrm>
          <a:prstGeom prst="line">
            <a:avLst/>
          </a:prstGeom>
          <a:noFill/>
          <a:ln w="9525">
            <a:solidFill>
              <a:srgbClr val="BFBFBF"/>
            </a:solidFill>
            <a:prstDash val="solid"/>
          </a:ln>
        </p:spPr>
      </p:sp>
      <p:sp>
        <p:nvSpPr>
          <p:cNvPr id="6" name="Text 4"/>
          <p:cNvSpPr txBox="1"/>
          <p:nvPr/>
        </p:nvSpPr>
        <p:spPr>
          <a:xfrm>
            <a:off x="457200"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ANALYSIS</a:t>
            </a:r>
            <a:endParaRPr lang="en-US" sz="1200" dirty="0"/>
          </a:p>
        </p:txBody>
      </p:sp>
      <p:sp>
        <p:nvSpPr>
          <p:cNvPr id="7" name="Shape 5"/>
          <p:cNvSpPr/>
          <p:nvPr/>
        </p:nvSpPr>
        <p:spPr>
          <a:xfrm>
            <a:off x="4837176" y="6364224"/>
            <a:ext cx="2514600" cy="45720"/>
          </a:xfrm>
          <a:prstGeom prst="rect">
            <a:avLst/>
          </a:prstGeom>
          <a:solidFill>
            <a:srgbClr val="2C5F82"/>
          </a:solidFill>
          <a:ln w="12700">
            <a:solidFill>
              <a:srgbClr val="2C5F82"/>
            </a:solidFill>
            <a:prstDash val="solid"/>
          </a:ln>
        </p:spPr>
      </p:sp>
      <p:sp>
        <p:nvSpPr>
          <p:cNvPr id="8" name="Text 6"/>
          <p:cNvSpPr txBox="1"/>
          <p:nvPr/>
        </p:nvSpPr>
        <p:spPr>
          <a:xfrm>
            <a:off x="4288536" y="6446520"/>
            <a:ext cx="3611880" cy="274320"/>
          </a:xfrm>
          <a:prstGeom prst="rect">
            <a:avLst/>
          </a:prstGeom>
          <a:noFill/>
          <a:ln/>
        </p:spPr>
        <p:txBody>
          <a:bodyPr wrap="square" lIns="0" tIns="0" rIns="0" bIns="0" rtlCol="0" anchor="t"/>
          <a:lstStyle/>
          <a:p>
            <a:pPr algn="ctr" indent="0" marL="0">
              <a:buNone/>
            </a:pPr>
            <a:r>
              <a:rPr lang="en-US" sz="1200" b="1" spc="100" kern="0" dirty="0">
                <a:solidFill>
                  <a:srgbClr val="2C5F82"/>
                </a:solidFill>
                <a:latin typeface="Arial" pitchFamily="34" charset="0"/>
                <a:ea typeface="Arial" pitchFamily="34" charset="-122"/>
                <a:cs typeface="Arial" pitchFamily="34" charset="-120"/>
              </a:rPr>
              <a:t>STRATEGY</a:t>
            </a:r>
            <a:endParaRPr lang="en-US" sz="1200" dirty="0"/>
          </a:p>
        </p:txBody>
      </p:sp>
      <p:sp>
        <p:nvSpPr>
          <p:cNvPr id="9" name="Text 7"/>
          <p:cNvSpPr txBox="1"/>
          <p:nvPr/>
        </p:nvSpPr>
        <p:spPr>
          <a:xfrm>
            <a:off x="8129016" y="6446520"/>
            <a:ext cx="3611880" cy="274320"/>
          </a:xfrm>
          <a:prstGeom prst="rect">
            <a:avLst/>
          </a:prstGeom>
          <a:noFill/>
          <a:ln/>
        </p:spPr>
        <p:txBody>
          <a:bodyPr wrap="square" lIns="0" tIns="0" rIns="0" bIns="0" rtlCol="0" anchor="t"/>
          <a:lstStyle/>
          <a:p>
            <a:pPr algn="ctr" indent="0" marL="0">
              <a:buNone/>
            </a:pPr>
            <a:r>
              <a:rPr lang="en-US" sz="1200" spc="100" kern="0" dirty="0">
                <a:solidFill>
                  <a:srgbClr val="595959"/>
                </a:solidFill>
                <a:latin typeface="Arial" pitchFamily="34" charset="0"/>
                <a:ea typeface="Arial" pitchFamily="34" charset="-122"/>
                <a:cs typeface="Arial" pitchFamily="34" charset="-120"/>
              </a:rPr>
              <a:t>APPENDIX</a:t>
            </a:r>
            <a:endParaRPr lang="en-US" sz="1200" dirty="0"/>
          </a:p>
        </p:txBody>
      </p:sp>
      <p:sp>
        <p:nvSpPr>
          <p:cNvPr id="10" name="Shape 8"/>
          <p:cNvSpPr/>
          <p:nvPr/>
        </p:nvSpPr>
        <p:spPr>
          <a:xfrm>
            <a:off x="457200" y="1325880"/>
            <a:ext cx="3291840" cy="347472"/>
          </a:xfrm>
          <a:prstGeom prst="rect">
            <a:avLst/>
          </a:prstGeom>
          <a:solidFill>
            <a:srgbClr val="2C5F82"/>
          </a:solidFill>
          <a:ln w="12700">
            <a:solidFill>
              <a:srgbClr val="2C5F82"/>
            </a:solidFill>
            <a:prstDash val="solid"/>
          </a:ln>
        </p:spPr>
      </p:sp>
      <p:sp>
        <p:nvSpPr>
          <p:cNvPr id="11" name="Text 9"/>
          <p:cNvSpPr txBox="1"/>
          <p:nvPr/>
        </p:nvSpPr>
        <p:spPr>
          <a:xfrm>
            <a:off x="457200" y="1325880"/>
            <a:ext cx="329184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How the fair yield is shared</a:t>
            </a:r>
            <a:endParaRPr lang="en-US" sz="1150" dirty="0"/>
          </a:p>
        </p:txBody>
      </p:sp>
      <p:graphicFrame>
        <p:nvGraphicFramePr>
          <p:cNvPr id="12" name="Chart 0" descr=""/>
          <p:cNvGraphicFramePr/>
          <p:nvPr/>
        </p:nvGraphicFramePr>
        <p:xfrm>
          <a:off x="457200" y="1737360"/>
          <a:ext cx="3291840" cy="356616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3977640" y="1325880"/>
            <a:ext cx="3931920" cy="347472"/>
          </a:xfrm>
          <a:prstGeom prst="rect">
            <a:avLst/>
          </a:prstGeom>
          <a:solidFill>
            <a:srgbClr val="2C5F82"/>
          </a:solidFill>
          <a:ln w="12700">
            <a:solidFill>
              <a:srgbClr val="2C5F82"/>
            </a:solidFill>
            <a:prstDash val="solid"/>
          </a:ln>
        </p:spPr>
      </p:sp>
      <p:sp>
        <p:nvSpPr>
          <p:cNvPr id="14" name="Text 11"/>
          <p:cNvSpPr txBox="1"/>
          <p:nvPr/>
        </p:nvSpPr>
        <p:spPr>
          <a:xfrm>
            <a:off x="3977640" y="1325880"/>
            <a:ext cx="39319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What the family receives (USD 100mn)</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977640" y="1719072"/>
          <a:ext cx="3931920" cy="914400"/>
        </p:xfrm>
        <a:graphic>
          <a:graphicData uri="http://schemas.openxmlformats.org/drawingml/2006/table">
            <a:tbl>
              <a:tblPr/>
              <a:tblGrid>
                <a:gridCol w="1325880"/>
                <a:gridCol w="914400"/>
                <a:gridCol w="868680"/>
                <a:gridCol w="822960"/>
              </a:tblGrid>
              <a:tr h="384048">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If called at</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Repaid</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Return a year</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Probability</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C5F82"/>
                    </a:solidFill>
                  </a:tcPr>
                </a:tc>
              </a:tr>
              <a:tr h="384048">
                <a:tc>
                  <a:txBody>
                    <a:bodyPr/>
                    <a:lstStyle/>
                    <a:p>
                      <a:pPr indent="0" marL="0">
                        <a:buNone/>
                      </a:pPr>
                      <a:r>
                        <a:rPr lang="en-US" sz="950" b="1" dirty="0">
                          <a:solidFill>
                            <a:srgbClr val="262626"/>
                          </a:solidFill>
                          <a:latin typeface="Arial" pitchFamily="34" charset="0"/>
                          <a:ea typeface="Arial" pitchFamily="34" charset="-122"/>
                          <a:cs typeface="Arial" pitchFamily="34" charset="-120"/>
                        </a:rPr>
                        <a:t>Year 1 (≥ 102.5%)</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USD 110mn</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10.0%</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49.5%</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262626"/>
                          </a:solidFill>
                          <a:latin typeface="Arial" pitchFamily="34" charset="0"/>
                          <a:ea typeface="Arial" pitchFamily="34" charset="-122"/>
                          <a:cs typeface="Arial" pitchFamily="34" charset="-120"/>
                        </a:rPr>
                        <a:t>Year 2 (≥ 100.0%)</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USD 120mn</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9.5%</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15.9%</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262626"/>
                          </a:solidFill>
                          <a:latin typeface="Arial" pitchFamily="34" charset="0"/>
                          <a:ea typeface="Arial" pitchFamily="34" charset="-122"/>
                          <a:cs typeface="Arial" pitchFamily="34" charset="-120"/>
                        </a:rPr>
                        <a:t>Year 3 (≥ 97.5%)</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USD 130mn</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9.1%</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7.9%</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262626"/>
                          </a:solidFill>
                          <a:latin typeface="Arial" pitchFamily="34" charset="0"/>
                          <a:ea typeface="Arial" pitchFamily="34" charset="-122"/>
                          <a:cs typeface="Arial" pitchFamily="34" charset="-120"/>
                        </a:rPr>
                        <a:t>Year 4 (≥ 95.0%)</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USD 140mn</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8.8%</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4.8%</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262626"/>
                          </a:solidFill>
                          <a:latin typeface="Arial" pitchFamily="34" charset="0"/>
                          <a:ea typeface="Arial" pitchFamily="34" charset="-122"/>
                          <a:cs typeface="Arial" pitchFamily="34" charset="-120"/>
                        </a:rPr>
                        <a:t>Year 5 (≥ 92.5%)</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USD 150mn</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8.4%</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3.1%</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262626"/>
                          </a:solidFill>
                          <a:latin typeface="Arial" pitchFamily="34" charset="0"/>
                          <a:ea typeface="Arial" pitchFamily="34" charset="-122"/>
                          <a:cs typeface="Arial" pitchFamily="34" charset="-120"/>
                        </a:rPr>
                        <a:t>Never, basket ≥ 70%</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USD 100mn</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0.0%</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62626"/>
                          </a:solidFill>
                          <a:latin typeface="Arial" pitchFamily="34" charset="0"/>
                          <a:ea typeface="Arial" pitchFamily="34" charset="-122"/>
                          <a:cs typeface="Arial" pitchFamily="34" charset="-120"/>
                        </a:rPr>
                        <a:t>5.0%</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B23B3B"/>
                          </a:solidFill>
                          <a:latin typeface="Arial" pitchFamily="34" charset="0"/>
                          <a:ea typeface="Arial" pitchFamily="34" charset="-122"/>
                          <a:cs typeface="Arial" pitchFamily="34" charset="-120"/>
                        </a:rPr>
                        <a:t>Never, basket &lt; 70%</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23B3B"/>
                          </a:solidFill>
                          <a:latin typeface="Arial" pitchFamily="34" charset="0"/>
                          <a:ea typeface="Arial" pitchFamily="34" charset="-122"/>
                          <a:cs typeface="Arial" pitchFamily="34" charset="-120"/>
                        </a:rPr>
                        <a:t>Basket level</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23B3B"/>
                          </a:solidFill>
                          <a:latin typeface="Arial" pitchFamily="34" charset="0"/>
                          <a:ea typeface="Arial" pitchFamily="34" charset="-122"/>
                          <a:cs typeface="Arial" pitchFamily="34" charset="-120"/>
                        </a:rPr>
                        <a:t>Loss</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B23B3B"/>
                          </a:solidFill>
                          <a:latin typeface="Arial" pitchFamily="34" charset="0"/>
                          <a:ea typeface="Arial" pitchFamily="34" charset="-122"/>
                          <a:cs typeface="Arial" pitchFamily="34" charset="-120"/>
                        </a:rPr>
                        <a:t>13.7%</a:t>
                      </a:r>
                      <a:endParaRPr lang="en-US" sz="950" dirty="0">
                        <a:latin typeface="Arial" charset="0"/>
                        <a:ea typeface="Arial" charset="0"/>
                        <a:cs typeface="Arial" charset="0"/>
                      </a:endParaRPr>
                    </a:p>
                  </a:txBody>
                  <a:tcPr marL="50800" marR="50800" marT="12700" marB="127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6" name="Text 12"/>
          <p:cNvSpPr txBox="1"/>
          <p:nvPr/>
        </p:nvSpPr>
        <p:spPr>
          <a:xfrm>
            <a:off x="3977640" y="4892040"/>
            <a:ext cx="3931920" cy="457200"/>
          </a:xfrm>
          <a:prstGeom prst="rect">
            <a:avLst/>
          </a:prstGeom>
          <a:noFill/>
          <a:ln/>
        </p:spPr>
        <p:txBody>
          <a:bodyPr wrap="square" lIns="0" tIns="0" rIns="0" bIns="0" rtlCol="0" anchor="t"/>
          <a:lstStyle/>
          <a:p>
            <a:pPr indent="0" marL="0">
              <a:buNone/>
            </a:pPr>
            <a:r>
              <a:rPr lang="en-US" sz="950" i="1" dirty="0">
                <a:solidFill>
                  <a:srgbClr val="595959"/>
                </a:solidFill>
                <a:latin typeface="Arial" pitchFamily="34" charset="0"/>
                <a:ea typeface="Arial" pitchFamily="34" charset="-122"/>
                <a:cs typeface="Arial" pitchFamily="34" charset="-120"/>
              </a:rPr>
              <a:t>Median return 9.5% a year; chance of a capital loss 13.7% (risk-neutral).</a:t>
            </a:r>
            <a:endParaRPr lang="en-US" sz="950" dirty="0"/>
          </a:p>
        </p:txBody>
      </p:sp>
      <p:sp>
        <p:nvSpPr>
          <p:cNvPr id="17" name="Shape 13"/>
          <p:cNvSpPr/>
          <p:nvPr/>
        </p:nvSpPr>
        <p:spPr>
          <a:xfrm>
            <a:off x="8138160" y="1325880"/>
            <a:ext cx="3593592" cy="347472"/>
          </a:xfrm>
          <a:prstGeom prst="rect">
            <a:avLst/>
          </a:prstGeom>
          <a:solidFill>
            <a:srgbClr val="2C5F82"/>
          </a:solidFill>
          <a:ln w="12700">
            <a:solidFill>
              <a:srgbClr val="2C5F82"/>
            </a:solidFill>
            <a:prstDash val="solid"/>
          </a:ln>
        </p:spPr>
      </p:sp>
      <p:sp>
        <p:nvSpPr>
          <p:cNvPr id="18" name="Text 14"/>
          <p:cNvSpPr txBox="1"/>
          <p:nvPr/>
        </p:nvSpPr>
        <p:spPr>
          <a:xfrm>
            <a:off x="8138160" y="1325880"/>
            <a:ext cx="359359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What Natixis earns</a:t>
            </a:r>
            <a:endParaRPr lang="en-US" sz="1150" dirty="0"/>
          </a:p>
        </p:txBody>
      </p:sp>
      <p:sp>
        <p:nvSpPr>
          <p:cNvPr id="19" name="Shape 15"/>
          <p:cNvSpPr/>
          <p:nvPr/>
        </p:nvSpPr>
        <p:spPr>
          <a:xfrm>
            <a:off x="8138160" y="1755648"/>
            <a:ext cx="3593592" cy="1097280"/>
          </a:xfrm>
          <a:prstGeom prst="rect">
            <a:avLst/>
          </a:prstGeom>
          <a:solidFill>
            <a:srgbClr val="F2F2F2"/>
          </a:solidFill>
          <a:ln w="12700">
            <a:solidFill>
              <a:srgbClr val="F2F2F2"/>
            </a:solidFill>
            <a:prstDash val="solid"/>
          </a:ln>
        </p:spPr>
      </p:sp>
      <p:sp>
        <p:nvSpPr>
          <p:cNvPr id="20" name="Text 16"/>
          <p:cNvSpPr txBox="1"/>
          <p:nvPr/>
        </p:nvSpPr>
        <p:spPr>
          <a:xfrm>
            <a:off x="8275320" y="1828800"/>
            <a:ext cx="3383280" cy="457200"/>
          </a:xfrm>
          <a:prstGeom prst="rect">
            <a:avLst/>
          </a:prstGeom>
          <a:noFill/>
          <a:ln/>
        </p:spPr>
        <p:txBody>
          <a:bodyPr wrap="square" lIns="0" tIns="0" rIns="0" bIns="0" rtlCol="0" anchor="t"/>
          <a:lstStyle/>
          <a:p>
            <a:pPr indent="0" marL="0">
              <a:buNone/>
            </a:pPr>
            <a:r>
              <a:rPr lang="en-US" sz="2000" b="1" dirty="0">
                <a:solidFill>
                  <a:srgbClr val="2C5F82"/>
                </a:solidFill>
                <a:latin typeface="Arial" pitchFamily="34" charset="0"/>
                <a:ea typeface="Arial" pitchFamily="34" charset="-122"/>
                <a:cs typeface="Arial" pitchFamily="34" charset="-120"/>
              </a:rPr>
              <a:t>4.7%</a:t>
            </a:r>
            <a:endParaRPr lang="en-US" sz="2000" dirty="0"/>
          </a:p>
        </p:txBody>
      </p:sp>
      <p:sp>
        <p:nvSpPr>
          <p:cNvPr id="21" name="Text 17"/>
          <p:cNvSpPr txBox="1"/>
          <p:nvPr/>
        </p:nvSpPr>
        <p:spPr>
          <a:xfrm>
            <a:off x="8275320" y="2304288"/>
            <a:ext cx="3383280" cy="502920"/>
          </a:xfrm>
          <a:prstGeom prst="rect">
            <a:avLst/>
          </a:prstGeom>
          <a:noFill/>
          <a:ln/>
        </p:spPr>
        <p:txBody>
          <a:bodyPr wrap="square" lIns="0" tIns="0" rIns="0" bIns="0" rtlCol="0" anchor="t"/>
          <a:lstStyle/>
          <a:p>
            <a:pPr indent="0" marL="0">
              <a:buNone/>
            </a:pPr>
            <a:r>
              <a:rPr lang="en-US" sz="950" dirty="0">
                <a:solidFill>
                  <a:srgbClr val="595959"/>
                </a:solidFill>
                <a:latin typeface="Arial" pitchFamily="34" charset="0"/>
                <a:ea typeface="Arial" pitchFamily="34" charset="-122"/>
                <a:cs typeface="Arial" pitchFamily="34" charset="-120"/>
              </a:rPr>
              <a:t>of notional, upfront: at a 10% yield the note is worth 95.3 but sells at 100</a:t>
            </a:r>
            <a:endParaRPr lang="en-US" sz="950" dirty="0"/>
          </a:p>
        </p:txBody>
      </p:sp>
      <p:sp>
        <p:nvSpPr>
          <p:cNvPr id="22" name="Shape 18"/>
          <p:cNvSpPr/>
          <p:nvPr/>
        </p:nvSpPr>
        <p:spPr>
          <a:xfrm>
            <a:off x="8138160" y="2944368"/>
            <a:ext cx="3593592" cy="1097280"/>
          </a:xfrm>
          <a:prstGeom prst="rect">
            <a:avLst/>
          </a:prstGeom>
          <a:solidFill>
            <a:srgbClr val="FFFFFF"/>
          </a:solidFill>
          <a:ln w="12700">
            <a:solidFill>
              <a:srgbClr val="F2F2F2"/>
            </a:solidFill>
            <a:prstDash val="solid"/>
          </a:ln>
        </p:spPr>
      </p:sp>
      <p:sp>
        <p:nvSpPr>
          <p:cNvPr id="23" name="Text 19"/>
          <p:cNvSpPr txBox="1"/>
          <p:nvPr/>
        </p:nvSpPr>
        <p:spPr>
          <a:xfrm>
            <a:off x="8275320" y="3017520"/>
            <a:ext cx="3383280" cy="457200"/>
          </a:xfrm>
          <a:prstGeom prst="rect">
            <a:avLst/>
          </a:prstGeom>
          <a:noFill/>
          <a:ln/>
        </p:spPr>
        <p:txBody>
          <a:bodyPr wrap="square" lIns="0" tIns="0" rIns="0" bIns="0" rtlCol="0" anchor="t"/>
          <a:lstStyle/>
          <a:p>
            <a:pPr indent="0" marL="0">
              <a:buNone/>
            </a:pPr>
            <a:r>
              <a:rPr lang="en-US" sz="2000" b="1" dirty="0">
                <a:solidFill>
                  <a:srgbClr val="2C5F82"/>
                </a:solidFill>
                <a:latin typeface="Arial" pitchFamily="34" charset="0"/>
                <a:ea typeface="Arial" pitchFamily="34" charset="-122"/>
                <a:cs typeface="Arial" pitchFamily="34" charset="-120"/>
              </a:rPr>
              <a:t>USD 4.7mn</a:t>
            </a:r>
            <a:endParaRPr lang="en-US" sz="2000" dirty="0"/>
          </a:p>
        </p:txBody>
      </p:sp>
      <p:sp>
        <p:nvSpPr>
          <p:cNvPr id="24" name="Text 20"/>
          <p:cNvSpPr txBox="1"/>
          <p:nvPr/>
        </p:nvSpPr>
        <p:spPr>
          <a:xfrm>
            <a:off x="8275320" y="3493008"/>
            <a:ext cx="3383280" cy="502920"/>
          </a:xfrm>
          <a:prstGeom prst="rect">
            <a:avLst/>
          </a:prstGeom>
          <a:noFill/>
          <a:ln/>
        </p:spPr>
        <p:txBody>
          <a:bodyPr wrap="square" lIns="0" tIns="0" rIns="0" bIns="0" rtlCol="0" anchor="t"/>
          <a:lstStyle/>
          <a:p>
            <a:pPr indent="0" marL="0">
              <a:buNone/>
            </a:pPr>
            <a:r>
              <a:rPr lang="en-US" sz="950" dirty="0">
                <a:solidFill>
                  <a:srgbClr val="595959"/>
                </a:solidFill>
                <a:latin typeface="Arial" pitchFamily="34" charset="0"/>
                <a:ea typeface="Arial" pitchFamily="34" charset="-122"/>
                <a:cs typeface="Arial" pitchFamily="34" charset="-120"/>
              </a:rPr>
              <a:t>on the USD 100mn mandate, before hedging costs</a:t>
            </a:r>
            <a:endParaRPr lang="en-US" sz="950" dirty="0"/>
          </a:p>
        </p:txBody>
      </p:sp>
      <p:sp>
        <p:nvSpPr>
          <p:cNvPr id="25" name="Shape 21"/>
          <p:cNvSpPr/>
          <p:nvPr/>
        </p:nvSpPr>
        <p:spPr>
          <a:xfrm>
            <a:off x="8138160" y="4133088"/>
            <a:ext cx="3593592" cy="1097280"/>
          </a:xfrm>
          <a:prstGeom prst="rect">
            <a:avLst/>
          </a:prstGeom>
          <a:solidFill>
            <a:srgbClr val="F2F2F2"/>
          </a:solidFill>
          <a:ln w="12700">
            <a:solidFill>
              <a:srgbClr val="F2F2F2"/>
            </a:solidFill>
            <a:prstDash val="solid"/>
          </a:ln>
        </p:spPr>
      </p:sp>
      <p:sp>
        <p:nvSpPr>
          <p:cNvPr id="26" name="Text 22"/>
          <p:cNvSpPr txBox="1"/>
          <p:nvPr/>
        </p:nvSpPr>
        <p:spPr>
          <a:xfrm>
            <a:off x="8275320" y="4206240"/>
            <a:ext cx="3383280" cy="457200"/>
          </a:xfrm>
          <a:prstGeom prst="rect">
            <a:avLst/>
          </a:prstGeom>
          <a:noFill/>
          <a:ln/>
        </p:spPr>
        <p:txBody>
          <a:bodyPr wrap="square" lIns="0" tIns="0" rIns="0" bIns="0" rtlCol="0" anchor="t"/>
          <a:lstStyle/>
          <a:p>
            <a:pPr indent="0" marL="0">
              <a:buNone/>
            </a:pPr>
            <a:r>
              <a:rPr lang="en-US" sz="2000" b="1" dirty="0">
                <a:solidFill>
                  <a:srgbClr val="2C5F82"/>
                </a:solidFill>
                <a:latin typeface="Arial" pitchFamily="34" charset="0"/>
                <a:ea typeface="Arial" pitchFamily="34" charset="-122"/>
                <a:cs typeface="Arial" pitchFamily="34" charset="-120"/>
              </a:rPr>
              <a:t>3.81%</a:t>
            </a:r>
            <a:endParaRPr lang="en-US" sz="2000" dirty="0"/>
          </a:p>
        </p:txBody>
      </p:sp>
      <p:sp>
        <p:nvSpPr>
          <p:cNvPr id="27" name="Text 23"/>
          <p:cNvSpPr txBox="1"/>
          <p:nvPr/>
        </p:nvSpPr>
        <p:spPr>
          <a:xfrm>
            <a:off x="8275320" y="4681728"/>
            <a:ext cx="3383280" cy="502920"/>
          </a:xfrm>
          <a:prstGeom prst="rect">
            <a:avLst/>
          </a:prstGeom>
          <a:noFill/>
          <a:ln/>
        </p:spPr>
        <p:txBody>
          <a:bodyPr wrap="square" lIns="0" tIns="0" rIns="0" bIns="0" rtlCol="0" anchor="t"/>
          <a:lstStyle/>
          <a:p>
            <a:pPr indent="0" marL="0">
              <a:buNone/>
            </a:pPr>
            <a:r>
              <a:rPr lang="en-US" sz="950" dirty="0">
                <a:solidFill>
                  <a:srgbClr val="595959"/>
                </a:solidFill>
                <a:latin typeface="Arial" pitchFamily="34" charset="0"/>
                <a:ea typeface="Arial" pitchFamily="34" charset="-122"/>
                <a:cs typeface="Arial" pitchFamily="34" charset="-120"/>
              </a:rPr>
              <a:t>of yield a year, earned only while the note is alive (expected life 2.3 years)</a:t>
            </a:r>
            <a:endParaRPr lang="en-US" sz="950" dirty="0"/>
          </a:p>
        </p:txBody>
      </p:sp>
      <p:sp>
        <p:nvSpPr>
          <p:cNvPr id="28" name="Shape 24"/>
          <p:cNvSpPr/>
          <p:nvPr/>
        </p:nvSpPr>
        <p:spPr>
          <a:xfrm>
            <a:off x="457200" y="5577840"/>
            <a:ext cx="11274552" cy="457200"/>
          </a:xfrm>
          <a:prstGeom prst="rect">
            <a:avLst/>
          </a:prstGeom>
          <a:solidFill>
            <a:srgbClr val="2C5F82"/>
          </a:solidFill>
          <a:ln w="12700">
            <a:solidFill>
              <a:srgbClr val="2C5F82"/>
            </a:solidFill>
            <a:prstDash val="solid"/>
          </a:ln>
        </p:spPr>
      </p:sp>
      <p:sp>
        <p:nvSpPr>
          <p:cNvPr id="29" name="Text 25"/>
          <p:cNvSpPr txBox="1"/>
          <p:nvPr/>
        </p:nvSpPr>
        <p:spPr>
          <a:xfrm>
            <a:off x="594360" y="5577840"/>
            <a:ext cx="11000232"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The family earns 10% a year in the 81.2% of paths that are called; Natixis keeps 4.7% of notional for hedging and margin</a:t>
            </a:r>
            <a:endParaRPr lang="en-US" sz="1200" dirty="0"/>
          </a:p>
        </p:txBody>
      </p:sp>
      <p:sp>
        <p:nvSpPr>
          <p:cNvPr id="30" name="Text 26"/>
          <p:cNvSpPr txBox="1"/>
          <p:nvPr/>
        </p:nvSpPr>
        <p:spPr>
          <a:xfrm>
            <a:off x="457200" y="6089904"/>
            <a:ext cx="11274552" cy="256032"/>
          </a:xfrm>
          <a:prstGeom prst="rect">
            <a:avLst/>
          </a:prstGeom>
          <a:noFill/>
          <a:ln/>
        </p:spPr>
        <p:txBody>
          <a:bodyPr wrap="square" lIns="0" tIns="0" rIns="0" bIns="0" rtlCol="0" anchor="t"/>
          <a:lstStyle/>
          <a:p>
            <a:pPr indent="0" marL="0">
              <a:buNone/>
            </a:pPr>
            <a:r>
              <a:rPr lang="en-US" sz="800" i="1" dirty="0">
                <a:solidFill>
                  <a:srgbClr val="595959"/>
                </a:solidFill>
                <a:latin typeface="Arial" pitchFamily="34" charset="0"/>
                <a:ea typeface="Arial" pitchFamily="34" charset="-122"/>
                <a:cs typeface="Arial" pitchFamily="34" charset="-120"/>
              </a:rPr>
              <a:t>Natixis value = fair value at 13.81% (100%) minus fair value at 10% (95.3%). Return a year = (1 + 10% × k)^(1/k) − 1. Excludes issuer credit and hedging costs, which come out of Natixis's share.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Pricing: fair yield of the autocallable</dc:title>
  <dc:subject>PptxGenJS Presentation</dc:subject>
  <dc:creator>PptxGenJS</dc:creator>
  <cp:lastModifiedBy>PptxGenJS</cp:lastModifiedBy>
  <cp:revision>1</cp:revision>
  <dcterms:created xsi:type="dcterms:W3CDTF">2026-10-08T17:45:42Z</dcterms:created>
  <dcterms:modified xsi:type="dcterms:W3CDTF">2026-10-08T17:45:42Z</dcterms:modified>
</cp:coreProperties>
</file>