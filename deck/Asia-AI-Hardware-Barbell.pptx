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B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B33"/>
                </a:solidFill>
                <a:latin typeface="Calibri"/>
              </a:rPr>
              <a:t>Multiple of capital after 7 years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0.00&quot;x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Direct equity</c:v>
                  </c:pt>
                  <c:pt idx="1">
                    <c:v>7Y Treasury</c:v>
                  </c:pt>
                  <c:pt idx="2">
                    <c:v>Growth note only</c:v>
                  </c:pt>
                  <c:pt idx="3">
                    <c:v>Our barbell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</c:v>
                </c:pt>
                <c:pt idx="1">
                  <c:v>1.38</c:v>
                </c:pt>
                <c:pt idx="2">
                  <c:v>1.35</c:v>
                </c:pt>
                <c:pt idx="3">
                  <c:v>1.35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Worst 5%</c:v>
                </c:pt>
              </c:strCache>
            </c:strRef>
          </c:tx>
          <c:spPr>
            <a:solidFill>
              <a:srgbClr val="D9482B"/>
            </a:solidFill>
            <a:effectLst/>
          </c:spPr>
          <c:invertIfNegative val="0"/>
          <c:dLbls>
            <c:numFmt formatCode="0.00&quot;x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Direct equity</c:v>
                  </c:pt>
                  <c:pt idx="1">
                    <c:v>7Y Treasury</c:v>
                  </c:pt>
                  <c:pt idx="2">
                    <c:v>Growth note only</c:v>
                  </c:pt>
                  <c:pt idx="3">
                    <c:v>Our barbell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0.27</c:v>
                </c:pt>
                <c:pt idx="1">
                  <c:v>1.38</c:v>
                </c:pt>
                <c:pt idx="2">
                  <c:v>1</c:v>
                </c:pt>
                <c:pt idx="3">
                  <c:v>0.9</c:v>
                </c:pt>
              </c:numCache>
            </c:numRef>
          </c:val>
        </c:ser>
        <c:dLbls>
          <c:numFmt formatCode="0.00&quot;x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E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E3E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B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B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B33"/>
                </a:solidFill>
                <a:latin typeface="Calibri"/>
              </a:rPr>
              <a:t>Sleeve A payoff (% of notional)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Sleeve A redemption</c:v>
                </c:pt>
              </c:strCache>
            </c:strRef>
          </c:tx>
          <c:spPr>
            <a:solidFill>
              <a:srgbClr val="1F8A70"/>
            </a:solidFill>
            <a:ln w="38100" cap="flat">
              <a:solidFill>
                <a:srgbClr val="1F8A7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8A70"/>
              </a:solidFill>
              <a:ln w="9525" cap="flat">
                <a:solidFill>
                  <a:srgbClr val="1F8A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-40%</c:v>
                  </c:pt>
                  <c:pt idx="1">
                    <c:v>-20%</c:v>
                  </c:pt>
                  <c:pt idx="2">
                    <c:v>0%</c:v>
                  </c:pt>
                  <c:pt idx="3">
                    <c:v>20%</c:v>
                  </c:pt>
                  <c:pt idx="4">
                    <c:v>40%</c:v>
                  </c:pt>
                  <c:pt idx="5">
                    <c:v>60%</c:v>
                  </c:pt>
                  <c:pt idx="6">
                    <c:v>80%</c:v>
                  </c:pt>
                  <c:pt idx="7">
                    <c:v>100%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133.3</c:v>
                </c:pt>
                <c:pt idx="4">
                  <c:v>166.6</c:v>
                </c:pt>
                <c:pt idx="5">
                  <c:v>199.9</c:v>
                </c:pt>
                <c:pt idx="6">
                  <c:v>233.3</c:v>
                </c:pt>
                <c:pt idx="7">
                  <c:v>266.6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Holding the index</c:v>
                </c:pt>
              </c:strCache>
            </c:strRef>
          </c:tx>
          <c:spPr>
            <a:solidFill>
              <a:srgbClr val="9AA8AF"/>
            </a:solidFill>
            <a:ln w="38100" cap="flat">
              <a:solidFill>
                <a:srgbClr val="9AA8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8AF"/>
              </a:solidFill>
              <a:ln w="9525" cap="flat">
                <a:solidFill>
                  <a:srgbClr val="9AA8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-40%</c:v>
                  </c:pt>
                  <c:pt idx="1">
                    <c:v>-20%</c:v>
                  </c:pt>
                  <c:pt idx="2">
                    <c:v>0%</c:v>
                  </c:pt>
                  <c:pt idx="3">
                    <c:v>20%</c:v>
                  </c:pt>
                  <c:pt idx="4">
                    <c:v>40%</c:v>
                  </c:pt>
                  <c:pt idx="5">
                    <c:v>60%</c:v>
                  </c:pt>
                  <c:pt idx="6">
                    <c:v>80%</c:v>
                  </c:pt>
                  <c:pt idx="7">
                    <c:v>100%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120</c:v>
                </c:pt>
                <c:pt idx="4">
                  <c:v>140</c:v>
                </c:pt>
                <c:pt idx="5">
                  <c:v>160</c:v>
                </c:pt>
                <c:pt idx="6">
                  <c:v>180</c:v>
                </c:pt>
                <c:pt idx="7">
                  <c:v>200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2717A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2717A"/>
                    </a:solidFill>
                    <a:latin typeface="Arial"/>
                  </a:rPr>
                  <a:t>VT index performance at maturity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50"/>
        </c:scaling>
        <c:delete val="0"/>
        <c:axPos val="l"/>
        <c:majorGridlines>
          <c:spPr>
            <a:ln w="9525" cap="flat">
              <a:solidFill>
                <a:srgbClr val="E3E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B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B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B33"/>
                </a:solidFill>
                <a:latin typeface="Calibri"/>
              </a:rPr>
              <a:t>Chance of ending below 100 after 7 years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Barbell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Bear (3%)</c:v>
                  </c:pt>
                  <c:pt idx="1">
                    <c:v>Base (6%)</c:v>
                  </c:pt>
                  <c:pt idx="2">
                    <c:v>Bull (9%)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6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Direct equity</c:v>
                </c:pt>
              </c:strCache>
            </c:strRef>
          </c:tx>
          <c:spPr>
            <a:solidFill>
              <a:srgbClr val="9AA8A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Bear (3%)</c:v>
                  </c:pt>
                  <c:pt idx="1">
                    <c:v>Base (6%)</c:v>
                  </c:pt>
                  <c:pt idx="2">
                    <c:v>Bull (9%)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</c:v>
                </c:pt>
                <c:pt idx="1">
                  <c:v>51</c:v>
                </c:pt>
                <c:pt idx="2">
                  <c:v>39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E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E3E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B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B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B33"/>
                </a:solidFill>
                <a:latin typeface="Calibri"/>
              </a:rPr>
              <a:t>Equity exposure (%) vs basket volatility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 exposure</c:v>
                </c:pt>
              </c:strCache>
            </c:strRef>
          </c:tx>
          <c:spPr>
            <a:solidFill>
              <a:srgbClr val="1F8A70"/>
            </a:solidFill>
            <a:ln w="38100" cap="flat">
              <a:solidFill>
                <a:srgbClr val="1F8A7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F8A70"/>
              </a:solidFill>
              <a:ln w="9525" cap="flat">
                <a:solidFill>
                  <a:srgbClr val="1F8A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8%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35%</c:v>
                  </c:pt>
                  <c:pt idx="7">
                    <c:v>40%</c:v>
                  </c:pt>
                  <c:pt idx="8">
                    <c:v>45%</c:v>
                  </c:pt>
                  <c:pt idx="9">
                    <c:v>50%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125</c:v>
                </c:pt>
                <c:pt idx="1">
                  <c:v>100</c:v>
                </c:pt>
                <c:pt idx="2">
                  <c:v>67</c:v>
                </c:pt>
                <c:pt idx="3">
                  <c:v>50</c:v>
                </c:pt>
                <c:pt idx="4">
                  <c:v>40</c:v>
                </c:pt>
                <c:pt idx="5">
                  <c:v>33</c:v>
                </c:pt>
                <c:pt idx="6">
                  <c:v>29</c:v>
                </c:pt>
                <c:pt idx="7">
                  <c:v>25</c:v>
                </c:pt>
                <c:pt idx="8">
                  <c:v>22</c:v>
                </c:pt>
                <c:pt idx="9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0"/>
        </c:scaling>
        <c:delete val="0"/>
        <c:axPos val="l"/>
        <c:majorGridlines>
          <c:spPr>
            <a:ln w="9525" cap="flat">
              <a:solidFill>
                <a:srgbClr val="E3E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B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B33"/>
                </a:solidFill>
                <a:latin typeface="Calibri"/>
              </a:rPr>
              <a:t>Chance of only 100 back (9% return)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P(only 100 back)</c:v>
                </c:pt>
              </c:strCache>
            </c:strRef>
          </c:tx>
          <c:spPr>
            <a:solidFill>
              <a:srgbClr val="D948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8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48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48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8A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12%/4%</c:v>
                  </c:pt>
                  <c:pt idx="1">
                    <c:v>10%/2%</c:v>
                  </c:pt>
                  <c:pt idx="2">
                    <c:v>10%/1% (ours)</c:v>
                  </c:pt>
                  <c:pt idx="3">
                    <c:v>10%/0%</c:v>
                  </c:pt>
                  <c:pt idx="4">
                    <c:v>Raw basket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20</c:v>
                </c:pt>
                <c:pt idx="2">
                  <c:v>14</c:v>
                </c:pt>
                <c:pt idx="3">
                  <c:v>9</c:v>
                </c:pt>
                <c:pt idx="4">
                  <c:v>34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E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E3E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Two Natixis notes on Asian AI hardware: one protects and grows, one pays income.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 (does not count toward the 10-slide limit). Unit 15: thesis, instruments, expected return, maximum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client profile, goals, risk tolerance, key assumptions. The cash-flow assumption justifies the income sleeve; confirm it with the investment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investment outlook. Add sourced data points: long-end UST yield level, Natixis strategist survey on inflation risk, hyperscaler capex, TSMC/HBM market shares. Note: the 2026 midterms, not a 2027 election.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traditional strategies fall short, then implications. The growth note alone has the best floor; the barbell trades a little floor for regular income.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product overview. The barbell answers both objectives: Sleeve A preserves and grows, Sleeve B funds distributions to the next generation.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key terms. Live formulas in pricing/Asia-Digital-Bridge-Pricer.xlsx (Pricer tab). Constituents: TSMC, MediaTek, SK Hynix, Samsung, Tokyo Electron, Advantest, Disco, Shin-Etsu, ASE, Ibiden, Hon Hai, Quanta, Delta.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rejected worst-of structures: at 10% they needed 30–45% barriers and still had 9–41% loss probabilities. An equal-weight basket of three gets 10% at a 50% barrier with ~9% loss probability. Phoenix tab in the Excel pricer.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scenario analysis and payoff diagram. Sleeve A example with the Lock: index hits +60% in year 4 and ends +20% -&gt; 200%.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back-testing. Run pricing/scenario2_backtest.py on the Bloomberg export for historical rolling 7Y windows. Rolling the Phoenix into a new issue after each call would raise income versus the cash assumption.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key risk factors with hedging. Phoenix stress MTM: crash 74.3%; Sleeve A crash 87.5.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summary with client and issuer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(not counted).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(not counted).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(not counted).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(not counted). We turned down a 351% headline because it returns only 100 in 40% of paths.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188720"/>
            <a:ext cx="4754880" cy="4754880"/>
          </a:xfrm>
          <a:prstGeom prst="ellipse">
            <a:avLst/>
          </a:prstGeom>
          <a:solidFill>
            <a:srgbClr val="1C4460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017520"/>
            <a:ext cx="2377440" cy="2377440"/>
          </a:xfrm>
          <a:prstGeom prst="ellipse">
            <a:avLst/>
          </a:prstGeom>
          <a:solidFill>
            <a:srgbClr val="1F8A70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949440" y="2743200"/>
            <a:ext cx="640080" cy="640080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F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 Challenge 2026 · Proposal for NKE Private Wealth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Asia AI Hardware Barbell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legacy, earn 10% income, own the hardware of Asia's AI era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2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100Mn · USD 60Mn protected growth note + USD 40Mn 10% Phoenix note · Trade date 17 Sep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barbell: one note protects and grows, one note pays income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protected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786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60Mn back in 2033 whatever markets do (issuer credit)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94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on USD 40Mn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5786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quarterly while the basket is above 60%; USD 4Mn a year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8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participation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5786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Uncapped, on a 10% vol-target index of 13 Asian AI-hardware leaders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recommend </a:t>
            </a:r>
            <a:pPr indent="0" marL="0">
              <a:buNone/>
            </a:pPr>
            <a:r>
              <a:rPr lang="en-US" sz="125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60Mn in a 7Y 100%-protected growth note and USD 40Mn in a 5Y 10% Phoenix autocall</a:t>
            </a:r>
            <a:pPr indent="0" marL="0">
              <a:buNone/>
            </a:pPr>
            <a:r>
              <a:rPr lang="en-US" sz="12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both issued by Natixis on Asian AI hardware, to express our view that AI investment is shifting to physical hardware while geopolitics and inflation argue for protection. </a:t>
            </a:r>
            <a:pPr indent="0" marL="0">
              <a:buNone/>
            </a:pPr>
            <a:r>
              <a:rPr lang="en-US" sz="1250" b="1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7Y median 1.35x (6% basket return) with a 6% chance of ending below 100. Contractual floor: 60% of capital.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pricing: Monte Carlo with placeholder market inputs; funding from the 2026 rules grid. To be refreshed with Bloomberg data as of 17 Sep 2026.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profile: protect the legacy, then grow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NKE Private Wealth, single-family office of the Chak family (third generation)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2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Single-family office, Chak family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&gt; USD 2Bn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Businesses: tech infrastructure, renewables, real estate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and Greater China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Patriarch now focused on allocation and legacy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1234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365760" cy="365760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375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1627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appreciation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892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wealth for future generations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2423160"/>
            <a:ext cx="365760" cy="365760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94760" y="24048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Asia's digital transformation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26700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to the sectors driving it, bridging traditional and new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37560" y="3200400"/>
            <a:ext cx="365760" cy="365760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375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31821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managed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34472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for generational wealth preservation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1234440"/>
            <a:ext cx="2468880" cy="2743200"/>
          </a:xfrm>
          <a:prstGeom prst="roundRect">
            <a:avLst>
              <a:gd name="adj" fmla="val 2963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8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tolerance: Moderate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17373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205740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Mandate: USD 100Mn (5% of net worth)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 year horizon; limited early exit accepted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cash flow welcome for next-generation distributions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base; open to Natixis structured notes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BEDE9"/>
          </a:solidFill>
          <a:ln w="12700">
            <a:solidFill>
              <a:srgbClr val="FBED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13308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risk: </a:t>
            </a:r>
            <a:pPr indent="0" marL="0">
              <a:buNone/>
            </a:pPr>
            <a:r>
              <a:rPr lang="en-US" sz="11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already owns Asian infrastructure, renewables and property. We give them the AI hardware layer and exclude what they already own.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Outlook: volatile macro, AI shifts to hardware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Macro, geopolitical and sector view (figures to be sourced on Bloomberg / Natixis research as of 17 Sep 2026)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389888"/>
            <a:ext cx="274320" cy="274320"/>
          </a:xfrm>
          <a:prstGeom prst="ellipse">
            <a:avLst/>
          </a:prstGeom>
          <a:solidFill>
            <a:srgbClr val="1C446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134416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Geopolitics and elections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47088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midterms (Nov 2026) and the 2028 race keep trade policy uncertain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US–China tech restrictions and tariffs hit cross-border families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rotates to supply-chain security and reshoring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23444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10712" y="1389888"/>
            <a:ext cx="274320" cy="274320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76472" y="134416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East, oil, inflation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10712" y="1847088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US–Iran conflict and Strait of Hormuz risk drive oil volatility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Sticky core inflation keeps long-end yields high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 real pricing power; penalises cash-burning growth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23444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9632" y="1389888"/>
            <a:ext cx="274320" cy="274320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65392" y="134416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pivots to hardware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1847088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High-multiple AI software de-rates on higher discount rates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shifts decisively to chips, HBM memory, equipment, servers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(Taiwan, Korea, Japan) supplies that hardware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0690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Therefore: own Asia's AI hardware, with protection for the legacy and income while we wait.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thesis: traditional strategies fall short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7-year outcomes at a 6% p.a. basket return: median and worst 5%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29768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937760" y="1234440"/>
            <a:ext cx="329184" cy="329184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9377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207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Equities alone: no floor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47218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51% chance of losing money; worst 5% keep 0.27x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937760" y="2084832"/>
            <a:ext cx="329184" cy="329184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937760" y="2084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205740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alone: no growth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394960" y="23225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7Y Treasury locks ~1.38x with no link to the AI build-out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937760" y="2935224"/>
            <a:ext cx="329184" cy="329184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37760" y="2935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394960" y="290779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autocall alone: capped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317296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coupons, but capital at risk and no upside beyond the coupon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846320" y="3712464"/>
            <a:ext cx="3886200" cy="822960"/>
          </a:xfrm>
          <a:prstGeom prst="roundRect">
            <a:avLst>
              <a:gd name="adj" fmla="val 8889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937760" y="3785616"/>
            <a:ext cx="329184" cy="329184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937760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394960" y="3758184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a barbell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394960" y="40233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floor + 167% upside, with 40% earning 10% income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simulation (12k paths, one-factor two-regime model), not a historical backtest. Treasury proxy = funding less ~100bp.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Asia AI Hardware Barbell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Natixis notes, one theme: protect and grow with 60%, earn income with 40%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420624" cy="420624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7160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Preserve and grow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60Mn · Asia Digital Bridge Note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12848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years, 100% capital protected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167% uncapped participation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vol-target index of 13 AI-hardware names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Lock banks gains at +30/60/90%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BEDE9"/>
          </a:solidFill>
          <a:ln w="12700">
            <a:solidFill>
              <a:srgbClr val="FBED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371600"/>
            <a:ext cx="420624" cy="420624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74720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137160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Earn income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4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40Mn · AI Hardware Phoenix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212848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years, autocallable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p.a. coupon, paid quarterly (60% barrier, memory)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Basket: TSMC · SK Hynix · Tokyo Electron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at risk only below 50% at maturity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72200" y="123444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55080" y="13533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2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17373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17373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 floor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4Mn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a year if paid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8346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1.35x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28346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at 7Y (6% case)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3832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33832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below 100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sleeves are USD quanto (no FX risk) and exclude data centres, telecom towers, renewables and property, which the family already owns.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pricing: Monte Carlo with placeholder market inputs; funding from the 2026 rules grid. To be refreshed with Bloomberg data as of 17 Sep 2026.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Sleeve A: Asia Digital Bridge growth note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60Mn · 7Y · 100% protected · 167% participation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5720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4290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Underlying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vol-target index on 13 equal-weight AI-hardware stocks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rule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 = 10% ÷ max(20d, 60d) vol, cap 150%; 1% p.a. decrement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Redemption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+ 167% × max(0, index perf, locked gain)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level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of the last 12 monthly closes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Gains floored at +30/60/90% once hit on an annual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Sep 2026 to Sep 2033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303520" y="1188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build-up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303520" y="1536192"/>
            <a:ext cx="3429000" cy="365760"/>
          </a:xfrm>
          <a:prstGeom prst="roundRect">
            <a:avLst>
              <a:gd name="adj" fmla="val 20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40680" y="15361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7Y USD funding (rules grid)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15361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5.75%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303520" y="1965960"/>
            <a:ext cx="3429000" cy="365760"/>
          </a:xfrm>
          <a:prstGeom prst="roundRect">
            <a:avLst>
              <a:gd name="adj" fmla="val 20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4068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Zero-coupon bond (floor)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1965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67.6%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03520" y="2395728"/>
            <a:ext cx="3429000" cy="365760"/>
          </a:xfrm>
          <a:prstGeom prst="roundRect">
            <a:avLst>
              <a:gd name="adj" fmla="val 20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40680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fee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2395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825496"/>
            <a:ext cx="3429000" cy="365760"/>
          </a:xfrm>
          <a:prstGeom prst="roundRect">
            <a:avLst>
              <a:gd name="adj" fmla="val 20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8254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budget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726680" y="28254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303520" y="3255264"/>
            <a:ext cx="3429000" cy="365760"/>
          </a:xfrm>
          <a:prstGeom prst="roundRect">
            <a:avLst>
              <a:gd name="adj" fmla="val 20000"/>
            </a:avLst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40680" y="325526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726680" y="3255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167%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413308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vol-target index: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volatility is fixed at 10%, so Natixis hedges with delta only and the option is cheap. Exposure falls from ~37% to ~20% in a crash (appendix D).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pricing: Monte Carlo with placeholder market inputs; funding from the 2026 rules grid. To be refreshed with Bloomberg data as of 17 Sep 2026.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Sleeve B: how the Phoenix pays 10%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40Mn · 5Y autocall on TSMC, SK Hynix and Tokyo Electron (equal weight, USD quanto)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480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a quarter if basket ≥ 60%; missed coupons paid later (memory)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 if basket ≥ 100%, trigger steps down 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back unless basket &lt; 50% at maturity; then basket level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life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 years (71% called in year 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P(capital loss)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9%; expected loss 6.2%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212080" y="1188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coupon comes from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212080" y="1572768"/>
            <a:ext cx="329184" cy="329184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21208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650992" y="15544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50992" y="177393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pays its 5.69% USD funding rate on the cash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212080" y="2121408"/>
            <a:ext cx="329184" cy="329184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21208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650992" y="210312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sold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50992" y="232257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sells a 50% barrier put on the basket (worth 4.7% of notional)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212080" y="2670048"/>
            <a:ext cx="329184" cy="329184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2120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265176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given up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650992" y="287121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is capped at the coupons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212080" y="3218688"/>
            <a:ext cx="329184" cy="329184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212080" y="3218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650992" y="320040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call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650992" y="341985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in good markets shorten the life, so fewer coupons are owed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" y="385876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check: </a:t>
            </a:r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coupons 9.0% + principal 93.6% − put 4.7% = 97.8%; Natixis keeps 2.2%. </a:t>
            </a:r>
            <a:pPr indent="0" marL="0">
              <a:buNone/>
            </a:pPr>
            <a:r>
              <a:rPr lang="en-US" sz="1050" b="1" dirty="0">
                <a:solidFill>
                  <a:srgbClr val="D94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 covered call? </a:t>
            </a:r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Economically close: bond + short put = stock + short call. The barrier gives conditional protection.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Carlo, 40k paths, cash flows discounted at the Natixis 5Y USD funding rate. Indicative pricing: Monte Carlo with placeholder market inputs.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Payoffs and scenarios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Sleeve A redemption vs index; Sleeve B cash flows in four scenarios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6908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3152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Sleeve B scenario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at Q1 (basket ≥ 100%)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in year 2 (basket 96%, trigger 95%)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called; basket 70% at maturity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45% at maturity; coupons stop after year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663440" y="361188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BEDE9"/>
          </a:solidFill>
          <a:ln w="12700">
            <a:solidFill>
              <a:srgbClr val="FBEDE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4800600" y="3657600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worst case: </a:t>
            </a:r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Sleeve A returns USD 60Mn in 2033; Sleeve B only loses if the basket is below 50% at maturity (9% chance), after any coupons already paid.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Sleeve A participation 167% (with Legacy Lock and 12M averaging). Coupons: 2.5% per quarter.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Back-testing: how the barbell behaves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12,000 simulated 7-year paths per regime; historical windows to be added from Bloomberg (2005–2026)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1148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7Y multiple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Barbell median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Barbell worst 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note median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equity median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709160" y="32004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Phoenix: 71% called in year 1, 88% by year 5; cash reinvested at 3.75%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barbell's worst 5% stays near or above 0.84x; direct equity's falls to 0.22x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simulated paths drive both sleeves, so correlation between them is captured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One-factor model: market vol 26%/48% (calm/stress), idiosyncratic 28%. Forward simulation, not a historical backtest.</a:t>
            </a:r>
            <a:endParaRPr lang="en-US" sz="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 factors and hedging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15 checklist: stress, sizing and exits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057400"/>
                <a:gridCol w="1965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could happen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hedge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default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BPCE guarantee; 5% of net worth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Phoenix barrier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 chance basket &lt; 50% at maturity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of 3, European barrier, coupons kept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(MTM)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 stress: −USD 15.7Mn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Sleeve A floor; vol target cuts exposure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Reinvestment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 of Phoenix calls in year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into a new Phoenix at prevailing terms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Concentration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6 of 13 names; chip cycle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weights; three layers of the chain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FX / inflation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FX moves; real value of floor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quanto; Lock and coupons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188720"/>
            <a:ext cx="2926080" cy="1554480"/>
          </a:xfrm>
          <a:prstGeom prst="roundRect">
            <a:avLst>
              <a:gd name="adj" fmla="val 4706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0" y="1243584"/>
            <a:ext cx="2697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
</a:t>
            </a:r>
            <a:pPr indent="0" marL="0">
              <a:buNone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100Mn ÷ USD 2Bn = 5.0% of net worth. Contractual max loss: USD 40Mn (Phoenix basket to zero) = 2.0% of net worth. Combined stress MTM: USD 15.7Mn = 0.78%.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06440" y="28529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exits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806440" y="315468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Profit: Phoenix autocalls; Sleeve A Lock banks gains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Stop-loss: none on A (floor); B exits on the issuer bid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broken: Taiwan blockade or chip export bans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B by 2031, A by Sep 2033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Stress: AI hardware crash (stocks −30%, vol up) on both sleeves at once. Sleeve A: 10-day 99% VaR 5.5%; details in appendix B.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Summary: value for the client and for Natixis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Advantages, risks and how each side is protected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783080" y="1188720"/>
            <a:ext cx="3291840" cy="411480"/>
          </a:xfrm>
          <a:prstGeom prst="roundRect">
            <a:avLst>
              <a:gd name="adj" fmla="val 17778"/>
            </a:avLst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78308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Chak family (client)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257800" y="1188720"/>
            <a:ext cx="3291840" cy="411480"/>
          </a:xfrm>
          <a:prstGeom prst="roundRect">
            <a:avLst>
              <a:gd name="adj" fmla="val 17778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25780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Natixis (issuer)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9751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83080" y="17373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2808" y="17830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floor for the heirs · 10% income on 40% · 167% uncapped upside in Asia's AI hardware · no doubling-up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57800" y="17373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67528" y="17830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issues at 5.69–5.75% USD funding · proprietary index · recurring Phoenix rolls · family-office relationship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384048" cy="384048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28895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783080" y="26517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92808" y="26974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capital at risk below 50% · Natixis credit · lock-up · reinvestment after calls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257800" y="26517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67528" y="26974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Vol-target gap risk · Phoenix correlation and dividend risk · long-dated rates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49040"/>
            <a:ext cx="384048" cy="384048"/>
          </a:xfrm>
          <a:prstGeom prst="ellipse">
            <a:avLst/>
          </a:prstGeom>
          <a:solidFill>
            <a:srgbClr val="1C446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8039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783080" y="35661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92808" y="36118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Barbell split · equal weights · USD quanto · Legacy Lock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257800" y="35661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67528" y="36118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Delta-hedge both notes · correlation reserve · swap fixed-rate funding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4988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8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the legacy. Earn while you wait. Own the hardware of Asia's AI era.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A: adding a digital-asset sleeve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considered if the family wants direct exposure to digital assets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1188720"/>
                <a:gridCol w="2651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(Sleeve 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Underlying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(recommended)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 Digital Bridge VT index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 for a legacy mandate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80/20 static sleeve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VT index + 20% spot Bitcoin ETF (IBIT 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 add-on: crypto adds ~11pt of vol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Best-of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of VT index or Bitcoin ETF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~40–45%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Rejected: Bitcoin vol (50–60%) makes it too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IBIT US is a US-listed spot Bitcoin ETF with daily volume well above the USD 5M rule (confirm on Bloomberg)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in the core: drawdowns of 70%+ in past cycles and no earnings anchor; hard to defend for generational wealth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included, keep it in the 80/20 form so protection and most of the participation are preserved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Monte Carlo: Bitcoin vol 50–60%, correlation 0.2–0.4 with the VT index, same option budget, base participation shown.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B: methodology and assumptions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are placeholders to be refreshed with Bloomberg data as of 17 Sep 2026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463040"/>
                <a:gridCol w="1920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used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to refresh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funding 5Y / 7Y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5.69% / 5.75%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rules funding grid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OIS (option drift)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Assumption: Bloomberg USSO curve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factor vol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 calm / 48% stress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Assumption: calibrate to history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Idiosyncratic vol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Assumption: single-name vols ~38–55%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Dividends / quanto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 / −0.2% p.a.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 (A) / 2.2%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output / assumption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0" y="1188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554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Sleeve A: daily Monte Carlo, VT index rebuilt each day with lag and cap; Lock and averaging on the same paths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Sleeve B: quarterly-observed autocall, coupons with memory, cash flows discounted at Natixis funding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Portfolio: both sleeves on the same paths; Phoenix cash reinvested at cash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Stress: spot and vol shocked together; VaR 10-day 99% delta-normal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pricing/scenario2_vt_note.py · scenario2_barbell.py · scenario2_backtest.py · Asia-Digital-Bridge-Pricer.xlsx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C: sources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frameworks behind this proposal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Natixis, Investment Strategy Challenge 2026 game rules: client brief (Scenario 2), eligibility rules, USD funding grid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Lam, FINA4370A Unit 15, CUHK Business School (Aug 2026): trading proposal framework, sizing, exits, liquidity evidence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research and strategist surveys (to cite for the outlook data points)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Bloomberg (to be pulled as of 17 Sep 2026): constituent prices, market caps, volumes, USD OIS curve, implied volatility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filings of the constituents (AI revenue exposure, capacity plans)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models: pricing/scenario2_vt_note.py, scenario2_barbell.py, scenario2_backtest.py, Asia-Digital-Bridge-Pricer.xlsx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D: the vol-target index and its design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falls as volatility rises; a high decrement inflates the headline but hurts heirs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663440" y="1188720"/>
          <a:ext cx="4114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Participation: 12%/4% 351% · 10%/2% 214% · 10%/1% 160% · 10%/0% 123% · Raw basket 89%. Labels: target vol / decrement.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Asia AI Hardware Barbell</dc:title>
  <dc:subject>PptxGenJS Presentation</dc:subject>
  <dc:creator>PptxGenJS</dc:creator>
  <cp:lastModifiedBy>PptxGenJS</cp:lastModifiedBy>
  <cp:revision>1</cp:revision>
  <dcterms:created xsi:type="dcterms:W3CDTF">2026-10-01T04:50:47Z</dcterms:created>
  <dcterms:modified xsi:type="dcterms:W3CDTF">2026-10-01T04:50:47Z</dcterms:modified>
</cp:coreProperties>
</file>