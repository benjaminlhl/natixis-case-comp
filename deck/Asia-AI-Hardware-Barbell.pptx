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E2B33"/>
                </a:solidFill>
                <a:latin typeface="Calibri"/>
              </a:rPr>
              <a:t>Mandate vs net worth (&gt; USD 2Bn)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worth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8A70"/>
              </a:solidFill>
              <a:effectLst/>
            </c:spPr>
          </c:dPt>
          <c:dPt>
            <c:idx val="1"/>
            <c:bubble3D val="0"/>
            <c:spPr>
              <a:solidFill>
                <a:srgbClr val="DCE6E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B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B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This mandate (USD 100Mn)</c:v>
                </c:pt>
                <c:pt idx="1">
                  <c:v>Rest of family wealth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1900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E2B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Natixis funding (%): USD makes protection cheapest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1F8A70"/>
            </a:solidFill>
            <a:ln w="25400" cap="flat">
              <a:solidFill>
                <a:srgbClr val="1F8A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8A70"/>
              </a:solidFill>
              <a:ln w="9525" cap="flat">
                <a:solidFill>
                  <a:srgbClr val="1F8A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1Y</c:v>
                  </c:pt>
                  <c:pt idx="1">
                    <c:v>2Y</c:v>
                  </c:pt>
                  <c:pt idx="2">
                    <c:v>3Y</c:v>
                  </c:pt>
                  <c:pt idx="3">
                    <c:v>5Y</c:v>
                  </c:pt>
                  <c:pt idx="4">
                    <c:v>7Y</c:v>
                  </c:pt>
                  <c:pt idx="5">
                    <c:v>10Y</c:v>
                  </c:pt>
                  <c:pt idx="6">
                    <c:v>20Y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4.78</c:v>
                </c:pt>
                <c:pt idx="1">
                  <c:v>5.3</c:v>
                </c:pt>
                <c:pt idx="2">
                  <c:v>5.52</c:v>
                </c:pt>
                <c:pt idx="3">
                  <c:v>5.69</c:v>
                </c:pt>
                <c:pt idx="4">
                  <c:v>5.75</c:v>
                </c:pt>
                <c:pt idx="5">
                  <c:v>5.82</c:v>
                </c:pt>
                <c:pt idx="6">
                  <c:v>6.04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</c:v>
                </c:pt>
              </c:strCache>
            </c:strRef>
          </c:tx>
          <c:spPr>
            <a:solidFill>
              <a:srgbClr val="2F6FB0"/>
            </a:solidFill>
            <a:ln w="25400" cap="flat">
              <a:solidFill>
                <a:srgbClr val="2F6F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6FB0"/>
              </a:solidFill>
              <a:ln w="9525" cap="flat">
                <a:solidFill>
                  <a:srgbClr val="2F6F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1Y</c:v>
                  </c:pt>
                  <c:pt idx="1">
                    <c:v>2Y</c:v>
                  </c:pt>
                  <c:pt idx="2">
                    <c:v>3Y</c:v>
                  </c:pt>
                  <c:pt idx="3">
                    <c:v>5Y</c:v>
                  </c:pt>
                  <c:pt idx="4">
                    <c:v>7Y</c:v>
                  </c:pt>
                  <c:pt idx="5">
                    <c:v>10Y</c:v>
                  </c:pt>
                  <c:pt idx="6">
                    <c:v>20Y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3.13</c:v>
                </c:pt>
                <c:pt idx="1">
                  <c:v>3.52</c:v>
                </c:pt>
                <c:pt idx="2">
                  <c:v>3.69</c:v>
                </c:pt>
                <c:pt idx="3">
                  <c:v>3.89</c:v>
                </c:pt>
                <c:pt idx="4">
                  <c:v>3.95</c:v>
                </c:pt>
                <c:pt idx="5">
                  <c:v>4.06</c:v>
                </c:pt>
                <c:pt idx="6">
                  <c:v>4.24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JPY</c:v>
                </c:pt>
              </c:strCache>
            </c:strRef>
          </c:tx>
          <c:spPr>
            <a:solidFill>
              <a:srgbClr val="B7841C"/>
            </a:solidFill>
            <a:ln w="25400" cap="flat">
              <a:solidFill>
                <a:srgbClr val="B784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841C"/>
              </a:solidFill>
              <a:ln w="9525" cap="flat">
                <a:solidFill>
                  <a:srgbClr val="B784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1Y</c:v>
                  </c:pt>
                  <c:pt idx="1">
                    <c:v>2Y</c:v>
                  </c:pt>
                  <c:pt idx="2">
                    <c:v>3Y</c:v>
                  </c:pt>
                  <c:pt idx="3">
                    <c:v>5Y</c:v>
                  </c:pt>
                  <c:pt idx="4">
                    <c:v>7Y</c:v>
                  </c:pt>
                  <c:pt idx="5">
                    <c:v>10Y</c:v>
                  </c:pt>
                  <c:pt idx="6">
                    <c:v>20Y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1.7</c:v>
                </c:pt>
                <c:pt idx="1">
                  <c:v>2.12</c:v>
                </c:pt>
                <c:pt idx="2">
                  <c:v>2.4</c:v>
                </c:pt>
                <c:pt idx="3">
                  <c:v>2.82</c:v>
                </c:pt>
                <c:pt idx="4">
                  <c:v>3.23</c:v>
                </c:pt>
                <c:pt idx="5">
                  <c:v>3.52</c:v>
                </c:pt>
                <c:pt idx="6">
                  <c:v>4.21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B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Multiple of capital after 7 years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 equity</c:v>
                  </c:pt>
                  <c:pt idx="1">
                    <c:v>7Y Treasury</c:v>
                  </c:pt>
                  <c:pt idx="2">
                    <c:v>Growth note only</c:v>
                  </c:pt>
                  <c:pt idx="3">
                    <c:v>Our barbell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1.38</c:v>
                </c:pt>
                <c:pt idx="2">
                  <c:v>1.35</c:v>
                </c:pt>
                <c:pt idx="3">
                  <c:v>1.35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Worst 5%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 equity</c:v>
                  </c:pt>
                  <c:pt idx="1">
                    <c:v>7Y Treasury</c:v>
                  </c:pt>
                  <c:pt idx="2">
                    <c:v>Growth note only</c:v>
                  </c:pt>
                  <c:pt idx="3">
                    <c:v>Our barbell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0.27</c:v>
                </c:pt>
                <c:pt idx="1">
                  <c:v>1.38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B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8A70"/>
              </a:solidFill>
              <a:effectLst/>
            </c:spPr>
          </c:dPt>
          <c:dPt>
            <c:idx val="1"/>
            <c:bubble3D val="0"/>
            <c:spPr>
              <a:solidFill>
                <a:srgbClr val="D948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Sleeve A: growth note</c:v>
                </c:pt>
                <c:pt idx="1">
                  <c:v>Sleeve B: Phoenix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E2B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Where each USD 100 goes (7Y funding 5.75%)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notional</c:v>
                </c:pt>
              </c:strCache>
            </c:strRef>
          </c:tx>
          <c:spPr>
            <a:solidFill>
              <a:srgbClr val="2F6F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F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841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Bond floor</c:v>
                  </c:pt>
                  <c:pt idx="1">
                    <c:v>Option budget</c:v>
                  </c:pt>
                  <c:pt idx="2">
                    <c:v>Issuer fee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67.6</c:v>
                </c:pt>
                <c:pt idx="1">
                  <c:v>30.4</c:v>
                </c:pt>
                <c:pt idx="2">
                  <c:v>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b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Base participation by tenor (7Y chosen)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Participation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5Y</c:v>
                  </c:pt>
                  <c:pt idx="1">
                    <c:v>6Y</c:v>
                  </c:pt>
                  <c:pt idx="2">
                    <c:v>7Y</c:v>
                  </c:pt>
                  <c:pt idx="3">
                    <c:v>10Y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143</c:v>
                </c:pt>
                <c:pt idx="1">
                  <c:v>151</c:v>
                </c:pt>
                <c:pt idx="2">
                  <c:v>157</c:v>
                </c:pt>
                <c:pt idx="3">
                  <c:v>169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1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Chance the note has been called (cumulative)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Called by end of year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80</c:v>
                </c:pt>
                <c:pt idx="2">
                  <c:v>84</c:v>
                </c:pt>
                <c:pt idx="3">
                  <c:v>86</c:v>
                </c:pt>
                <c:pt idx="4">
                  <c:v>88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Value of USD 100 to the client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notional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F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48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7841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PV of coupons</c:v>
                  </c:pt>
                  <c:pt idx="1">
                    <c:v>PV of principal</c:v>
                  </c:pt>
                  <c:pt idx="2">
                    <c:v>Short put (loss)</c:v>
                  </c:pt>
                  <c:pt idx="3">
                    <c:v>Natixis margin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93.6</c:v>
                </c:pt>
                <c:pt idx="2">
                  <c:v>-4.7</c:v>
                </c:pt>
                <c:pt idx="3">
                  <c:v>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-20"/>
        </c:scaling>
        <c:delete val="1"/>
        <c:axPos val="b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Sleeve A vs VT index performance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Sleeve A redemption</c:v>
                </c:pt>
              </c:strCache>
            </c:strRef>
          </c:tx>
          <c:spPr>
            <a:solidFill>
              <a:srgbClr val="1F8A70"/>
            </a:solidFill>
            <a:ln w="25400" cap="flat">
              <a:solidFill>
                <a:srgbClr val="1F8A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8A70"/>
              </a:solidFill>
              <a:ln w="9525" cap="flat">
                <a:solidFill>
                  <a:srgbClr val="1F8A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-40%</c:v>
                  </c:pt>
                  <c:pt idx="1">
                    <c:v>-20%</c:v>
                  </c:pt>
                  <c:pt idx="2">
                    <c:v>0%</c:v>
                  </c:pt>
                  <c:pt idx="3">
                    <c:v>20%</c:v>
                  </c:pt>
                  <c:pt idx="4">
                    <c:v>40%</c:v>
                  </c:pt>
                  <c:pt idx="5">
                    <c:v>60%</c:v>
                  </c:pt>
                  <c:pt idx="6">
                    <c:v>80%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133.3</c:v>
                </c:pt>
                <c:pt idx="4">
                  <c:v>166.6</c:v>
                </c:pt>
                <c:pt idx="5">
                  <c:v>199.9</c:v>
                </c:pt>
                <c:pt idx="6">
                  <c:v>233.3</c:v>
                </c:pt>
                <c:pt idx="7">
                  <c:v>266.6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Holding the index</c:v>
                </c:pt>
              </c:strCache>
            </c:strRef>
          </c:tx>
          <c:spPr>
            <a:solidFill>
              <a:srgbClr val="9AA8AF"/>
            </a:solidFill>
            <a:ln w="25400" cap="flat">
              <a:solidFill>
                <a:srgbClr val="9AA8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8AF"/>
              </a:solidFill>
              <a:ln w="9525" cap="flat">
                <a:solidFill>
                  <a:srgbClr val="9AA8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-40%</c:v>
                  </c:pt>
                  <c:pt idx="1">
                    <c:v>-20%</c:v>
                  </c:pt>
                  <c:pt idx="2">
                    <c:v>0%</c:v>
                  </c:pt>
                  <c:pt idx="3">
                    <c:v>20%</c:v>
                  </c:pt>
                  <c:pt idx="4">
                    <c:v>40%</c:v>
                  </c:pt>
                  <c:pt idx="5">
                    <c:v>60%</c:v>
                  </c:pt>
                  <c:pt idx="6">
                    <c:v>80%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60</c:v>
                </c:pt>
                <c:pt idx="1">
                  <c:v>80</c:v>
                </c:pt>
                <c:pt idx="2">
                  <c:v>100</c:v>
                </c:pt>
                <c:pt idx="3">
                  <c:v>120</c:v>
                </c:pt>
                <c:pt idx="4">
                  <c:v>140</c:v>
                </c:pt>
                <c:pt idx="5">
                  <c:v>160</c:v>
                </c:pt>
                <c:pt idx="6">
                  <c:v>180</c:v>
                </c:pt>
                <c:pt idx="7">
                  <c:v>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"/>
        </c:scaling>
        <c:delete val="0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E2B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Sleeve B capital vs basket level at maturity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returned (not called)</c:v>
                </c:pt>
              </c:strCache>
            </c:strRef>
          </c:tx>
          <c:spPr>
            <a:solidFill>
              <a:srgbClr val="D9482B"/>
            </a:solidFill>
            <a:ln w="25400" cap="flat">
              <a:solidFill>
                <a:srgbClr val="D948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482B"/>
              </a:solidFill>
              <a:ln w="9525" cap="flat">
                <a:solidFill>
                  <a:srgbClr val="D948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30%</c:v>
                  </c:pt>
                  <c:pt idx="2">
                    <c:v>40%</c:v>
                  </c:pt>
                  <c:pt idx="3">
                    <c:v>49%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49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Holding the basket</c:v>
                </c:pt>
              </c:strCache>
            </c:strRef>
          </c:tx>
          <c:spPr>
            <a:solidFill>
              <a:srgbClr val="9AA8AF"/>
            </a:solidFill>
            <a:ln w="25400" cap="flat">
              <a:solidFill>
                <a:srgbClr val="9AA8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8AF"/>
              </a:solidFill>
              <a:ln w="9525" cap="flat">
                <a:solidFill>
                  <a:srgbClr val="9AA8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30%</c:v>
                  </c:pt>
                  <c:pt idx="2">
                    <c:v>40%</c:v>
                  </c:pt>
                  <c:pt idx="3">
                    <c:v>49%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49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E2B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Distribution of 7Y outcomes, base case (6% basket return)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Barbell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0.0x</c:v>
                  </c:pt>
                  <c:pt idx="1">
                    <c:v>0.1x</c:v>
                  </c:pt>
                  <c:pt idx="2">
                    <c:v>0.2x</c:v>
                  </c:pt>
                  <c:pt idx="3">
                    <c:v>0.3x</c:v>
                  </c:pt>
                  <c:pt idx="4">
                    <c:v>0.4x</c:v>
                  </c:pt>
                  <c:pt idx="5">
                    <c:v>0.5x</c:v>
                  </c:pt>
                  <c:pt idx="6">
                    <c:v>0.6x</c:v>
                  </c:pt>
                  <c:pt idx="7">
                    <c:v>0.7x</c:v>
                  </c:pt>
                  <c:pt idx="8">
                    <c:v>0.8x</c:v>
                  </c:pt>
                  <c:pt idx="9">
                    <c:v>0.9x</c:v>
                  </c:pt>
                  <c:pt idx="10">
                    <c:v>1.0x</c:v>
                  </c:pt>
                  <c:pt idx="11">
                    <c:v>1.1x</c:v>
                  </c:pt>
                  <c:pt idx="12">
                    <c:v>1.2x</c:v>
                  </c:pt>
                  <c:pt idx="13">
                    <c:v>1.3x</c:v>
                  </c:pt>
                  <c:pt idx="14">
                    <c:v>1.4x</c:v>
                  </c:pt>
                  <c:pt idx="15">
                    <c:v>1.5x</c:v>
                  </c:pt>
                  <c:pt idx="16">
                    <c:v>1.6x</c:v>
                  </c:pt>
                  <c:pt idx="17">
                    <c:v>1.7x</c:v>
                  </c:pt>
                  <c:pt idx="18">
                    <c:v>1.8x</c:v>
                  </c:pt>
                  <c:pt idx="19">
                    <c:v>1.9x</c:v>
                  </c:pt>
                  <c:pt idx="20">
                    <c:v>2.0x</c:v>
                  </c:pt>
                  <c:pt idx="21">
                    <c:v>2.1x</c:v>
                  </c:pt>
                  <c:pt idx="22">
                    <c:v>2.2x</c:v>
                  </c:pt>
                  <c:pt idx="23">
                    <c:v>2.3x</c:v>
                  </c:pt>
                  <c:pt idx="24">
                    <c:v>2.4x</c:v>
                  </c:pt>
                  <c:pt idx="25">
                    <c:v>2.5x</c:v>
                  </c:pt>
                  <c:pt idx="26">
                    <c:v>2.6x</c:v>
                  </c:pt>
                  <c:pt idx="27">
                    <c:v>2.7x</c:v>
                  </c:pt>
                  <c:pt idx="28">
                    <c:v>2.8x</c:v>
                  </c:pt>
                  <c:pt idx="29">
                    <c:v>2.9x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0.4</c:v>
                </c:pt>
                <c:pt idx="7">
                  <c:v>2.2</c:v>
                </c:pt>
                <c:pt idx="8">
                  <c:v>2.4</c:v>
                </c:pt>
                <c:pt idx="9">
                  <c:v>1.4</c:v>
                </c:pt>
                <c:pt idx="10">
                  <c:v>0.6</c:v>
                </c:pt>
                <c:pt idx="11">
                  <c:v>23.6</c:v>
                </c:pt>
                <c:pt idx="12">
                  <c:v>13.5</c:v>
                </c:pt>
                <c:pt idx="13">
                  <c:v>9.7</c:v>
                </c:pt>
                <c:pt idx="14">
                  <c:v>17</c:v>
                </c:pt>
                <c:pt idx="15">
                  <c:v>8.6</c:v>
                </c:pt>
                <c:pt idx="16">
                  <c:v>5.5</c:v>
                </c:pt>
                <c:pt idx="17">
                  <c:v>6.5</c:v>
                </c:pt>
                <c:pt idx="18">
                  <c:v>3.3</c:v>
                </c:pt>
                <c:pt idx="19">
                  <c:v>1.8</c:v>
                </c:pt>
                <c:pt idx="20">
                  <c:v>1.6</c:v>
                </c:pt>
                <c:pt idx="21">
                  <c:v>0.9</c:v>
                </c:pt>
                <c:pt idx="22">
                  <c:v>0.5</c:v>
                </c:pt>
                <c:pt idx="23">
                  <c:v>0.2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Direct equity</c:v>
                </c:pt>
              </c:strCache>
            </c:strRef>
          </c:tx>
          <c:spPr>
            <a:solidFill>
              <a:srgbClr val="9AA8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0.0x</c:v>
                  </c:pt>
                  <c:pt idx="1">
                    <c:v>0.1x</c:v>
                  </c:pt>
                  <c:pt idx="2">
                    <c:v>0.2x</c:v>
                  </c:pt>
                  <c:pt idx="3">
                    <c:v>0.3x</c:v>
                  </c:pt>
                  <c:pt idx="4">
                    <c:v>0.4x</c:v>
                  </c:pt>
                  <c:pt idx="5">
                    <c:v>0.5x</c:v>
                  </c:pt>
                  <c:pt idx="6">
                    <c:v>0.6x</c:v>
                  </c:pt>
                  <c:pt idx="7">
                    <c:v>0.7x</c:v>
                  </c:pt>
                  <c:pt idx="8">
                    <c:v>0.8x</c:v>
                  </c:pt>
                  <c:pt idx="9">
                    <c:v>0.9x</c:v>
                  </c:pt>
                  <c:pt idx="10">
                    <c:v>1.0x</c:v>
                  </c:pt>
                  <c:pt idx="11">
                    <c:v>1.1x</c:v>
                  </c:pt>
                  <c:pt idx="12">
                    <c:v>1.2x</c:v>
                  </c:pt>
                  <c:pt idx="13">
                    <c:v>1.3x</c:v>
                  </c:pt>
                  <c:pt idx="14">
                    <c:v>1.4x</c:v>
                  </c:pt>
                  <c:pt idx="15">
                    <c:v>1.5x</c:v>
                  </c:pt>
                  <c:pt idx="16">
                    <c:v>1.6x</c:v>
                  </c:pt>
                  <c:pt idx="17">
                    <c:v>1.7x</c:v>
                  </c:pt>
                  <c:pt idx="18">
                    <c:v>1.8x</c:v>
                  </c:pt>
                  <c:pt idx="19">
                    <c:v>1.9x</c:v>
                  </c:pt>
                  <c:pt idx="20">
                    <c:v>2.0x</c:v>
                  </c:pt>
                  <c:pt idx="21">
                    <c:v>2.1x</c:v>
                  </c:pt>
                  <c:pt idx="22">
                    <c:v>2.2x</c:v>
                  </c:pt>
                  <c:pt idx="23">
                    <c:v>2.3x</c:v>
                  </c:pt>
                  <c:pt idx="24">
                    <c:v>2.4x</c:v>
                  </c:pt>
                  <c:pt idx="25">
                    <c:v>2.5x</c:v>
                  </c:pt>
                  <c:pt idx="26">
                    <c:v>2.6x</c:v>
                  </c:pt>
                  <c:pt idx="27">
                    <c:v>2.7x</c:v>
                  </c:pt>
                  <c:pt idx="28">
                    <c:v>2.8x</c:v>
                  </c:pt>
                  <c:pt idx="29">
                    <c:v>2.9x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0.2</c:v>
                </c:pt>
                <c:pt idx="1">
                  <c:v>2.1</c:v>
                </c:pt>
                <c:pt idx="2">
                  <c:v>4.3</c:v>
                </c:pt>
                <c:pt idx="3">
                  <c:v>5.9</c:v>
                </c:pt>
                <c:pt idx="4">
                  <c:v>6.9</c:v>
                </c:pt>
                <c:pt idx="5">
                  <c:v>7.2</c:v>
                </c:pt>
                <c:pt idx="6">
                  <c:v>6.4</c:v>
                </c:pt>
                <c:pt idx="7">
                  <c:v>6.3</c:v>
                </c:pt>
                <c:pt idx="8">
                  <c:v>5.8</c:v>
                </c:pt>
                <c:pt idx="9">
                  <c:v>5.5</c:v>
                </c:pt>
                <c:pt idx="10">
                  <c:v>4.4</c:v>
                </c:pt>
                <c:pt idx="11">
                  <c:v>4.5</c:v>
                </c:pt>
                <c:pt idx="12">
                  <c:v>3.7</c:v>
                </c:pt>
                <c:pt idx="13">
                  <c:v>3.5</c:v>
                </c:pt>
                <c:pt idx="14">
                  <c:v>3</c:v>
                </c:pt>
                <c:pt idx="15">
                  <c:v>2.7</c:v>
                </c:pt>
                <c:pt idx="16">
                  <c:v>2.3</c:v>
                </c:pt>
                <c:pt idx="17">
                  <c:v>2.2</c:v>
                </c:pt>
                <c:pt idx="18">
                  <c:v>1.9</c:v>
                </c:pt>
                <c:pt idx="19">
                  <c:v>1.8</c:v>
                </c:pt>
                <c:pt idx="20">
                  <c:v>1.7</c:v>
                </c:pt>
                <c:pt idx="21">
                  <c:v>1.4</c:v>
                </c:pt>
                <c:pt idx="22">
                  <c:v>1.3</c:v>
                </c:pt>
                <c:pt idx="23">
                  <c:v>1.1</c:v>
                </c:pt>
                <c:pt idx="24">
                  <c:v>1.1</c:v>
                </c:pt>
                <c:pt idx="25">
                  <c:v>0.9</c:v>
                </c:pt>
                <c:pt idx="26">
                  <c:v>0.8</c:v>
                </c:pt>
                <c:pt idx="27">
                  <c:v>0.9</c:v>
                </c:pt>
                <c:pt idx="28">
                  <c:v>0.8</c:v>
                </c:pt>
                <c:pt idx="29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B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Stress mark-to-market P&amp;L (USD Mn)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Sleeve A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Chip crash</c:v>
                  </c:pt>
                  <c:pt idx="1">
                    <c:v>Taiwan gap</c:v>
                  </c:pt>
                  <c:pt idx="2">
                    <c:v>Rates/stagflation</c:v>
                  </c:pt>
                  <c:pt idx="3">
                    <c:v>Rally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-6.3</c:v>
                </c:pt>
                <c:pt idx="1">
                  <c:v>-5</c:v>
                </c:pt>
                <c:pt idx="2">
                  <c:v>-3</c:v>
                </c:pt>
                <c:pt idx="3">
                  <c:v>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Sleeve B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Chip crash</c:v>
                  </c:pt>
                  <c:pt idx="1">
                    <c:v>Taiwan gap</c:v>
                  </c:pt>
                  <c:pt idx="2">
                    <c:v>Rates/stagflation</c:v>
                  </c:pt>
                  <c:pt idx="3">
                    <c:v>Rally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-9.4</c:v>
                </c:pt>
                <c:pt idx="1">
                  <c:v>-5.5</c:v>
                </c:pt>
                <c:pt idx="2">
                  <c:v>-0.4</c:v>
                </c:pt>
                <c:pt idx="3">
                  <c:v>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E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E2B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Equity exposure (%) vs basket volatility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 exposure</c:v>
                </c:pt>
              </c:strCache>
            </c:strRef>
          </c:tx>
          <c:spPr>
            <a:solidFill>
              <a:srgbClr val="1F8A70"/>
            </a:solidFill>
            <a:ln w="38100" cap="flat">
              <a:solidFill>
                <a:srgbClr val="1F8A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8A70"/>
              </a:solidFill>
              <a:ln w="9525" cap="flat">
                <a:solidFill>
                  <a:srgbClr val="1F8A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8%</c:v>
                  </c:pt>
                  <c:pt idx="1">
                    <c:v>10%</c:v>
                  </c:pt>
                  <c:pt idx="2">
                    <c:v>15%</c:v>
                  </c:pt>
                  <c:pt idx="3">
                    <c:v>20%</c:v>
                  </c:pt>
                  <c:pt idx="4">
                    <c:v>25%</c:v>
                  </c:pt>
                  <c:pt idx="5">
                    <c:v>30%</c:v>
                  </c:pt>
                  <c:pt idx="6">
                    <c:v>35%</c:v>
                  </c:pt>
                  <c:pt idx="7">
                    <c:v>40%</c:v>
                  </c:pt>
                  <c:pt idx="8">
                    <c:v>45%</c:v>
                  </c:pt>
                  <c:pt idx="9">
                    <c:v>50%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</c:v>
                </c:pt>
                <c:pt idx="1">
                  <c:v>100</c:v>
                </c:pt>
                <c:pt idx="2">
                  <c:v>67</c:v>
                </c:pt>
                <c:pt idx="3">
                  <c:v>50</c:v>
                </c:pt>
                <c:pt idx="4">
                  <c:v>40</c:v>
                </c:pt>
                <c:pt idx="5">
                  <c:v>33</c:v>
                </c:pt>
                <c:pt idx="6">
                  <c:v>29</c:v>
                </c:pt>
                <c:pt idx="7">
                  <c:v>25</c:v>
                </c:pt>
                <c:pt idx="8">
                  <c:v>22</c:v>
                </c:pt>
                <c:pt idx="9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B33"/>
                </a:solidFill>
                <a:latin typeface="Calibri"/>
              </a:rPr>
              <a:t>Chance of only 100 back (9% return)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P(only 100 back)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8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48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48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8A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12%/4%</c:v>
                  </c:pt>
                  <c:pt idx="1">
                    <c:v>10%/2%</c:v>
                  </c:pt>
                  <c:pt idx="2">
                    <c:v>10%/1% (ours)</c:v>
                  </c:pt>
                  <c:pt idx="3">
                    <c:v>10%/0%</c:v>
                  </c:pt>
                  <c:pt idx="4">
                    <c:v>Raw basket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20</c:v>
                </c:pt>
                <c:pt idx="2">
                  <c:v>14</c:v>
                </c:pt>
                <c:pt idx="3">
                  <c:v>9</c:v>
                </c:pt>
                <c:pt idx="4">
                  <c:v>34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3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Two Natixis notes on Asian AI hardware: one protects and grows, one pays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 (does not count toward the 10-slide limit). Unit 15: thesis, instruments, expected return, maximum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client profile, goals, risk tolerance, key assumptions. The cash-flow assumption justifies the income sleeve; confirm it with the investment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investment outlook. Chart: the rules' funding grid. At 5.75% USD 7Y, the bond floor costs 67.6 vs ~80 in JPY. Add sourced data points for the three themes (UST yields, Natixis strategist survey, hyperscaler capex). Note: the 2026 midterms, not a 2027 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traditional strategies fall short, then implications. The growth note alone has the best floor; the barbell trades a little floor for regular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product overview. Both sleeves are USD quanto and exclude data centres, telecom towers, renewables and property. Indicative pricing: Monte Carlo with placeholder market inputs; funding from the 2026 rules grid. To be refreshed with Bloomberg data as of 17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key terms. Tenor chart shows base participation (Black-Scholes); with Legacy Lock and 12M averaging the 7Y figure is 167%. Constituents: TSMC, MediaTek, SK Hynix, Samsung, Tokyo Electron, Advantest, Disco, Shin-Etsu, ASE, Ibiden, Hon Hai, Quanta, Delta.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check: coupons 9.0% + principal 93.6% − put 4.7% = 97.8% fair value; Natixis keeps 2.2%. Worst-of structures were rejected: at 10% they needed 30–45% barriers and had 9–41% loss probabilities.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scenario analysis and payoff diagrams. Sleeve A with the Lock: index hits +60% in year 4 and ends +20% -&gt; 200%. Sleeve B has a cliff at the 50% barrier: below it the client receives the basket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back-testing. Run pricing/scenario2_backtest.py on the Bloomberg export for historical rolling 7Y windows. Outcomes above 3.0x are grouped in the last 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key risk factors with hedging. Phoenix crash MTM 74.3%; Sleeve A crash 87.5.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summary with client and issuer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(not counted).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(not counted).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(not counted).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(not counted). We turned down a 351% headline because it returns only 100 in 40% of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188720"/>
            <a:ext cx="4754880" cy="4754880"/>
          </a:xfrm>
          <a:prstGeom prst="ellipse">
            <a:avLst/>
          </a:prstGeom>
          <a:solidFill>
            <a:srgbClr val="1C4460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017520"/>
            <a:ext cx="2377440" cy="2377440"/>
          </a:xfrm>
          <a:prstGeom prst="ellipse">
            <a:avLst/>
          </a:prstGeom>
          <a:solidFill>
            <a:srgbClr val="1F8A70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2743200"/>
            <a:ext cx="640080" cy="64008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Challenge 2026 · Proposal for NKE Private Wealth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Asia AI Hardware Barbell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E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legacy, earn 10% income, own the hardware of Asia's AI era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100Mn · USD 60Mn protected growth note + USD 40Mn 10% Phoenix note · Trade date 17 Sep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barbell: one note protects and grows, one note pays income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protected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786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60Mn back in 2033 whatever markets do (issuer credit)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on USD 40Mn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786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quarterly while the basket is above 60%; USD 4Mn a year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participation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5786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Uncapped, on a 10% vol-target index of 13 Asian AI-hardware leaders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</a:t>
            </a:r>
            <a:pPr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60Mn in a 7Y 100%-protected growth note and USD 40Mn in a 5Y 10% Phoenix autocall</a:t>
            </a:r>
            <a:pPr indent="0" marL="0">
              <a:buNone/>
            </a:pPr>
            <a:r>
              <a:rPr lang="en-US" sz="12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both issued by Natixis on Asian AI hardware, to express our view that AI investment is shifting to physical hardware while geopolitics and inflation argue for protection. </a:t>
            </a:r>
            <a:pPr indent="0" marL="0">
              <a:buNone/>
            </a:pPr>
            <a:r>
              <a:rPr lang="en-US" sz="1250" b="1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7Y median 1.35x (6% basket return) with a 6% chance of ending below 100. Contractual floor: 60% of capital.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pricing: Monte Carlo with placeholder market inputs; funding from the 2026 rules grid. To be refreshed with Bloomberg data as of 17 Sep 2026.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profile: protect the legacy, then grow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NKE Private Wealth, single-family office of the Chak family (third generation)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2651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9728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46120" y="1645920"/>
            <a:ext cx="365760" cy="3657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46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70332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appreciation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wealth for future generations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2423160"/>
            <a:ext cx="365760" cy="3657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2461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2404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Asia's digital transformation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the sectors driving it, bridging traditional and new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3200400"/>
            <a:ext cx="365760" cy="36576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461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703320" y="3182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managed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03320" y="3447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for generational wealth preservation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17920" y="123444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080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tolerance: Moderate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0574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Businesses: tech infrastructure, renewables, real estate (Japan, Greater China)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year horizon; limited early exit accepted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cash flow welcome for next-generation distributions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base; open to Natixis notes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1330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risk: </a:t>
            </a:r>
            <a:pPr indent="0" marL="0">
              <a:buNone/>
            </a:pPr>
            <a:r>
              <a:rPr lang="en-US" sz="11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already owns Asian infrastructure, renewables and property. We give them the AI hardware layer and exclude what they already own.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Outlook: volatile macro, AI shifts to hardware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Macro, geopolitical and sector view (figures to be sourced on Bloomberg / Natixis research as of 17 Sep 2026)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44168"/>
            <a:ext cx="237744" cy="237744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2984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Geopolitics and elections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midterms (Nov 2026) and the 2028 race keep trade policy uncertain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US–China tech curbs and tariffs hit cross-border families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276856"/>
            <a:ext cx="237744" cy="237744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32688" y="22311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East, oil, inflation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5328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US–Iran conflict and Hormuz risk drive oil volatility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inflation keeps long-end yields high; pricing power wins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209544"/>
            <a:ext cx="237744" cy="237744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" y="31638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pivots to hardware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4655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software de-rates on higher discount rates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shifts to chips, HBM, equipment and servers made in Asia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846320" y="1143000"/>
          <a:ext cx="39319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Therefore: own Asia's AI hardware, with protection for the legacy and income while we wait.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thesis: traditional strategies fall short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7-year outcomes at a 6% p.a. basket return: median and worst 5%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297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234440"/>
            <a:ext cx="329184" cy="329184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9377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2070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 alone: no floor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4721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chance of losing money; worst 5% keep 0.27x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937760" y="2084832"/>
            <a:ext cx="329184" cy="329184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3776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0574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alone: no growth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23225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7Y Treasury locks ~1.38x with no link to the AI build-out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37760" y="2935224"/>
            <a:ext cx="329184" cy="329184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3776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29077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autocall alone: capped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1729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coupons, but capital at risk and no upside beyond the coupon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3712464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37760" y="3785616"/>
            <a:ext cx="329184" cy="329184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93776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37581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a barbell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4023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floor + 167% upside, with 40% earning 10% income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simulation (12k paths, one-factor two-regime model), not a historical backtest. Treasury proxy = funding less ~100bp.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Asia AI Hardware Barbell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Natixis notes, one theme: protect and grow with 60%, earn income with 40%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88720"/>
          <a:ext cx="2468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14400" y="21762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100Mn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926080" y="1234440"/>
            <a:ext cx="2788920" cy="2697480"/>
          </a:xfrm>
          <a:prstGeom prst="roundRect">
            <a:avLst>
              <a:gd name="adj" fmla="val 2712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108960" y="1371600"/>
            <a:ext cx="420624" cy="420624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10896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137160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and grow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60Mn · Asia Digital Bridge Note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2212848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years, 100% capital protected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167% uncapped participation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Vol-target index of 13 AI-hardware names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Lock at +30/60/90%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52160" y="1234440"/>
            <a:ext cx="2788920" cy="2697480"/>
          </a:xfrm>
          <a:prstGeom prst="roundRect">
            <a:avLst>
              <a:gd name="adj" fmla="val 2712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371600"/>
            <a:ext cx="420624" cy="420624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3504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137160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 income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40Mn · AI Hardware Phoenix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212848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years, autocallable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p.a., paid quarterly (60% barrier)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· SK Hynix · Tokyo Electron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at risk only below 50%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4069080"/>
            <a:ext cx="1938528" cy="594360"/>
          </a:xfrm>
          <a:prstGeom prst="roundRect">
            <a:avLst>
              <a:gd name="adj" fmla="val 12308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40690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069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floor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32888" y="4069080"/>
            <a:ext cx="1938528" cy="594360"/>
          </a:xfrm>
          <a:prstGeom prst="roundRect">
            <a:avLst>
              <a:gd name="adj" fmla="val 12308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42616" y="40690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4Mn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493008" y="4069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 year if paid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08576" y="4069080"/>
            <a:ext cx="1938528" cy="594360"/>
          </a:xfrm>
          <a:prstGeom prst="roundRect">
            <a:avLst>
              <a:gd name="adj" fmla="val 12308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18304" y="40690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1.35x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568696" y="4069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at 7Y (6% case)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684264" y="4069080"/>
            <a:ext cx="1938528" cy="594360"/>
          </a:xfrm>
          <a:prstGeom prst="roundRect">
            <a:avLst>
              <a:gd name="adj" fmla="val 12308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93992" y="40690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644384" y="4069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below 100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Sleeve A: Asia Digital Bridge growth note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60Mn · 7Y · 100% protected · 167% participation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vol-target index on 13 equal-weight AI-hardware stocks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 = 10% ÷ max(20d, 60d) vol, cap 150%; 1% p.a. decrement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+ 167% × max(0, index perf, locked gain)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the last 12 monthly closes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 floored at +30/60/90% once hit on an annual 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Sep 2026 to Sep 2033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846320" y="1143000"/>
          <a:ext cx="393192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846320" y="2651760"/>
          <a:ext cx="39319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vol-target index: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fixed at 10%, so Natixis hedges with delta only and the option is cheap. Exposure falls from ~37% to ~20% in a crash (appendix D).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pricing: Monte Carlo with placeholder market inputs; funding from the 2026 rules grid. To be refreshed with Bloomberg data as of 17 Sep 2026.</a:t>
            </a:r>
            <a:endParaRPr lang="en-US" sz="800" dirty="0"/>
          </a:p>
        </p:txBody>
      </p:sp>
      <p:sp>
        <p:nvSpPr>
          <p:cNvPr id="10" name="Text 5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Sleeve B: how the Phoenix pays 10%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40Mn · 5Y autocall on TSMC, SK Hynix and Tokyo Electron (equal weight, USD quanto)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 a quarter if basket ≥ 60%; missed coupons paid later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if basket ≥ 100%; trigger steps down 5% a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back unless basket &lt; 50% at maturity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 chance of loss; expected loss 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846320" y="114300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65760" y="3337560"/>
          <a:ext cx="43891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2"/>
          <p:cNvSpPr/>
          <p:nvPr/>
        </p:nvSpPr>
        <p:spPr>
          <a:xfrm>
            <a:off x="4846320" y="3154680"/>
            <a:ext cx="1892808" cy="694944"/>
          </a:xfrm>
          <a:prstGeom prst="roundRect">
            <a:avLst>
              <a:gd name="adj" fmla="val 10526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937760" y="3246120"/>
            <a:ext cx="274320" cy="27432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493776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285232" y="3227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5285232" y="34838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Natixis' 5.69% USD funding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830568" y="3154680"/>
            <a:ext cx="1892808" cy="694944"/>
          </a:xfrm>
          <a:prstGeom prst="roundRect">
            <a:avLst>
              <a:gd name="adj" fmla="val 10526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922008" y="3246120"/>
            <a:ext cx="274320" cy="27432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92200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3227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sold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7269480" y="34838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barrier, worth 4.7%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846320" y="3941064"/>
            <a:ext cx="1892808" cy="694944"/>
          </a:xfrm>
          <a:prstGeom prst="roundRect">
            <a:avLst>
              <a:gd name="adj" fmla="val 10526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937760" y="4032504"/>
            <a:ext cx="274320" cy="27432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93776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285232" y="4014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given up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285232" y="42702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capped at coupons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830568" y="3941064"/>
            <a:ext cx="1892808" cy="694944"/>
          </a:xfrm>
          <a:prstGeom prst="roundRect">
            <a:avLst>
              <a:gd name="adj" fmla="val 10526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22008" y="4032504"/>
            <a:ext cx="274320" cy="27432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922008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7269480" y="4014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calls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7269480" y="42702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coupons owed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covered call? Economically close: bond + short put = stock + short call; the barrier makes protection conditional. MC, 40k paths.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Payoffs and scenarios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sleeve returns at maturity, % of notional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206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143000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88620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6928" y="3913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102.5%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279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B: Called at Q1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532888" y="388620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642616" y="3913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120.0%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642616" y="4279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B: Called in year 2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08576" y="388620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18304" y="3913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150.0%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718304" y="4279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B: Never called, basket 70%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684264" y="388620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793992" y="3913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65.0%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793992" y="4279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B: Basket 45%, coupons stop yr 2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A 167% participation (Lock + averaging). Sleeve B totals include coupons at 2.5% a quarter; coupons already paid are never clawed back.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Back-testing: how the barbell behaves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simulated 7-year paths per regime; historical windows to be added from Bloomberg (2005–2026)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5720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88720"/>
          <a:ext cx="36118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3152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7Y multiple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Barbell median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Barbell worst 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equity median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worst 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Barbell P(&lt;100)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P(&lt;100)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120640" y="36576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Barbell outcomes bunch between 1.0x and 2.0x; direct equity spreads from 0.2x to 3x+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Phoenix: 71% called in year 1; cash reinvested at 3.75%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One-factor model: market vol 26%/48% (calm/stress), idiosyncratic 28%; same paths drive both sleeves. Not a historical backtest.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 factors and hedging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15 checklist: stress, sizing and exits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could happen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/ hedge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Natixis default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BPCE guarantee; 5% of net worth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Phoenix barrier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 chance basket &lt; 50% at maturity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 of 3; coupons already paid are kept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Reinvestment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 of Phoenix calls in year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into a new Phoenix at prevailing terms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6 of 13 names; chip cycle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weights; three layers of the chain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/ inflation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 FX; real value of the floor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quanto; Lock and coupons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166360" y="1143000"/>
          <a:ext cx="36118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166360" y="361188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303520" y="363931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Sizing: </a:t>
            </a:r>
            <a:pPr indent="0" marL="0">
              <a:buNone/>
            </a:pPr>
            <a:r>
              <a:rPr lang="en-US" sz="9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100Mn = 5.0% of net worth. Contractual max loss USD 40Mn (2.0% of net worth). Combined crash MTM −USD 15.7Mn (0.78%). Sleeve A 10-day 99% VaR 5.5%.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66674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5720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630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831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Autocall; Lock banks gains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88920" y="366674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78892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154680" y="3630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Stop-loss: 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154680" y="3831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on A; B on issuer bid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4215384"/>
            <a:ext cx="292608" cy="292608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5720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22960" y="4178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broken: 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22960" y="4379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blockade / chip bans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788920" y="421538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78892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3154680" y="4178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3154680" y="4379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by 2031, A by 2033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pairs: Sleeve A crash/Taiwan/stagflation/bull vs Sleeve B crash/Taiwan/rates +100bp/rally; spot and vol shocked together. Four exits shown bottom left.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value for the client and for Natixis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risks and how each side is protected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83080" y="118872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8308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Chak family (client)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57800" y="118872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5780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Natixis (issuer)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84048" cy="38404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9751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173736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92808" y="178308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floor for the heirs · 10% income on 40% · 167% uncapped upside in Asia's AI hardware · no doubling-up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173736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67528" y="178308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issues at 5.69–5.75% USD funding · proprietary index · recurring Phoenix rolls · family-office relationship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889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3080" y="265176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92808" y="269748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capital at risk below 50% · Natixis credit · lock-up · reinvestment after calls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57800" y="265176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67528" y="269748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Vol-target gap risk · Phoenix correlation and dividend risk · long-dated rates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1C4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8039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83080" y="356616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92808" y="361188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Barbell split · equal weights · USD quanto · Legacy Lock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57800" y="356616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67528" y="361188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Delta-hedge both notes · correlation reserve · swap fixed-rate funding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4988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legacy. Earn while you wait. Own the hardware of Asia's AI era.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773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A: adding a digital-asset sleeve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considered if the family wants direct exposure to digital assets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118872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 (Sleeve 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(recommended)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 Digital Bridge VT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 for a legacy mandate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80/20 static sleeve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VT index + 20% spot Bitcoin ETF (IBIT 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add-on: crypto adds ~11pt of vol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of VT index or Bitcoin ETF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~40–45%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Bitcoin vol (50–60%) makes it too expensive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IBIT US is a US-listed spot Bitcoin ETF with daily volume well above the USD 5M rule (confirm on Bloomberg)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in the core: drawdowns of 70%+ in past cycles and no earnings anchor; hard to defend for generational wealth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included, keep it in the 80/20 form so protection and most of the participation are preserved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Monte Carlo: Bitcoin vol 50–60%, correlation 0.2–0.4 with the VT index, same option budget, base participation shown.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B: methodology and assumptions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placeholders to be refreshed with Bloomberg data as of 17 Sep 2026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to refresh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funding 5Y / 7Y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5.69% / 5.75%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rules funding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OIS (option drift)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Assumption: Bloomberg USSO curve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factor vol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 calm / 48% stress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Assumption: calibrate to 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Idiosyncratic vol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Assumption: single-name vols ~38–55%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Dividends / quanto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 / −0.2% p.a.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 (A) / 2.2%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 / assumption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55448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A: daily Monte Carlo, VT index rebuilt each day with lag and cap; Lock and averaging on the same paths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B: quarterly-observed autocall, coupons with memory, cash flows discounted at Natixis funding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both sleeves on the same paths; Phoenix cash reinvested at cash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Stress: spot and vol shocked together; VaR 10-day 99% delta-normal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pricing/scenario2_vt_note.py · scenario2_barbell.py · scenario2_backtest.py · Asia-Digital-Bridge-Pricer.xlsx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C: 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frameworks behind this proposal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Natixis, Investment Strategy Challenge 2026 game rules: client brief (Scenario 2), eligibility rules, USD funding grid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Lam, FINA4370A Unit 15, CUHK Business School (Aug 2026): trading proposal framework, sizing, exits, liquidity evidence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Natixis research and strategist surveys (to cite for the outlook data points)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(to be pulled as of 17 Sep 2026): constituent prices, market caps, volumes, USD OIS curve, implied volatility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filings of the constituents (AI revenue exposure, capacity plans)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models: pricing/scenario2_vt_note.py, scenario2_barbell.py, scenario2_backtest.py, Asia-Digital-Bridge-Pricer.xlsx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D: the vol-target index and its design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falls as volatility rises; a high decrement inflates the headline but hurts heirs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18872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2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Participation: 12%/4% 351% · 10%/2% 214% · 10%/1% 160% · 10%/0% 123% · Raw basket 89%. Labels: target vol / decrement.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Asia AI Hardware Barbell</dc:title>
  <dc:subject>PptxGenJS Presentation</dc:subject>
  <dc:creator>PptxGenJS</dc:creator>
  <cp:lastModifiedBy>PptxGenJS</cp:lastModifiedBy>
  <cp:revision>1</cp:revision>
  <dcterms:created xsi:type="dcterms:W3CDTF">2026-10-01T06:29:28Z</dcterms:created>
  <dcterms:modified xsi:type="dcterms:W3CDTF">2026-10-01T06:29:28Z</dcterms:modified>
</cp:coreProperties>
</file>