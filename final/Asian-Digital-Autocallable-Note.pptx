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10" b="0" i="0" u="none" strike="noStrike">
                <a:solidFill>
                  <a:srgbClr val="262626"/>
                </a:solidFill>
                <a:latin typeface="Arial"/>
              </a:defRPr>
            </a:pPr>
            <a:r>
              <a:rPr sz="1010" b="0" i="0" u="none" strike="noStrike">
                <a:solidFill>
                  <a:srgbClr val="262626"/>
                </a:solidFill>
                <a:latin typeface="Arial"/>
              </a:rPr>
              <a:t>USD funding curve (case grid, %)</a:t>
            </a:r>
          </a:p>
        </c:rich>
      </c:tx>
      <c:layout/>
      <c:overlay val="0"/>
    </c:title>
    <c:autoTitleDeleted val="0"/>
    <c:plotArea>
      <c:layout/>
      <c:lineChart>
        <c:varyColors val="0"/>
        <c:ser>
          <c:idx val="0"/>
          <c:order val="0"/>
          <c:tx>
            <c:strRef>
              <c:f>Sheet1!$B$1</c:f>
              <c:strCache>
                <c:ptCount val="1"/>
                <c:pt idx="0">
                  <c:v>USD funding</c:v>
                </c:pt>
              </c:strCache>
            </c:strRef>
          </c:tx>
          <c:spPr>
            <a:solidFill>
              <a:srgbClr val="2C5F82"/>
            </a:solidFill>
            <a:ln w="25400" cap="flat">
              <a:solidFill>
                <a:srgbClr val="2C5F82"/>
              </a:solidFill>
              <a:prstDash val="solid"/>
              <a:round/>
            </a:ln>
            <a:effectLst/>
          </c:spPr>
          <c:invertIfNegative val="0"/>
          <c:dLbls>
            <c:numFmt formatCode="0.00" sourceLinked="0"/>
            <c:txPr>
              <a:bodyPr/>
              <a:lstStyle/>
              <a:p>
                <a:pPr>
                  <a:defRPr b="0" i="0" strike="noStrike" sz="690" u="none">
                    <a:solidFill>
                      <a:srgbClr val="595959"/>
                    </a:solidFill>
                    <a:latin typeface="Arial"/>
                  </a:defRPr>
                </a:pPr>
              </a:p>
            </c:txPr>
            <c:dLblPos val="t"/>
            <c:showLegendKey val="0"/>
            <c:showVal val="1"/>
            <c:showCatName val="0"/>
            <c:showSerName val="0"/>
            <c:showPercent val="0"/>
            <c:showBubbleSize val="0"/>
            <c:showLeaderLines val="0"/>
          </c:dLbls>
          <c:marker>
            <c:symbol val="circle"/>
            <c:size val="5"/>
            <c:spPr>
              <a:solidFill>
                <a:srgbClr val="2C5F82"/>
              </a:solidFill>
              <a:ln w="9525" cap="flat">
                <a:solidFill>
                  <a:srgbClr val="2C5F82"/>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00" sourceLinked="0"/>
          <c:txPr>
            <a:bodyPr/>
            <a:lstStyle/>
            <a:p>
              <a:pPr>
                <a:defRPr b="0" i="0" strike="noStrike" sz="690" u="none">
                  <a:solidFill>
                    <a:srgbClr val="595959"/>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E3E3E3"/>
              </a:solidFill>
              <a:prstDash val="solid"/>
              <a:round/>
            </a:ln>
          </c:spPr>
        </c:majorGridlines>
        <c:numFmt formatCode="0.0" sourceLinked="0"/>
        <c:majorTickMark val="out"/>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710" b="0" i="0" u="none" strike="noStrike">
                <a:solidFill>
                  <a:srgbClr val="262626"/>
                </a:solidFill>
                <a:latin typeface="Arial"/>
              </a:defRPr>
            </a:pPr>
            <a:r>
              <a:rPr sz="710" b="0" i="0" u="none" strike="noStrike">
                <a:solidFill>
                  <a:srgbClr val="262626"/>
                </a:solidFill>
                <a:latin typeface="Arial"/>
              </a:rPr>
              <a:t>Global 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6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6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2C5F82"/>
              </a:solidFill>
              <a:effectLst/>
            </c:spPr>
          </c:dPt>
          <c:dPt>
            <c:idx val="1"/>
            <c:bubble3D val="0"/>
            <c:spPr>
              <a:solidFill>
                <a:srgbClr val="4F86AE"/>
              </a:solidFill>
              <a:effectLst/>
            </c:spPr>
          </c:dPt>
          <c:dPt>
            <c:idx val="2"/>
            <c:bubble3D val="0"/>
            <c:spPr>
              <a:solidFill>
                <a:srgbClr val="8DB3D1"/>
              </a:solidFill>
              <a:effectLst/>
            </c:spPr>
          </c:dPt>
          <c:dPt>
            <c:idx val="3"/>
            <c:bubble3D val="0"/>
            <c:spPr>
              <a:solidFill>
                <a:srgbClr val="A6A6A6"/>
              </a:solidFill>
              <a:effectLst/>
            </c:spPr>
          </c:dPt>
          <c:dPt>
            <c:idx val="4"/>
            <c:bubble3D val="0"/>
            <c:spPr>
              <a:solidFill>
                <a:srgbClr val="2E9E44"/>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3119 HK</c:v>
                </c:pt>
                <c:pt idx="1">
                  <c:v>EWY US</c:v>
                </c:pt>
                <c:pt idx="2">
                  <c:v>EWT US</c:v>
                </c:pt>
                <c:pt idx="3">
                  <c:v>2644 JP</c:v>
                </c:pt>
                <c:pt idx="4">
                  <c:v>00878 TT</c:v>
                </c:pt>
              </c:strCache>
            </c:strRef>
          </c:cat>
          <c:val>
            <c:numRef>
              <c:f>Sheet1!$B$2:$B$6</c:f>
              <c:numCache>
                <c:ptCount val="5"/>
                <c:pt idx="0">
                  <c:v>35</c:v>
                </c:pt>
                <c:pt idx="1">
                  <c:v>20</c:v>
                </c:pt>
                <c:pt idx="2">
                  <c:v>15</c:v>
                </c:pt>
                <c:pt idx="3">
                  <c:v>15</c:v>
                </c:pt>
                <c:pt idx="4">
                  <c:v>15</c:v>
                </c:pt>
              </c:numCache>
            </c:numRef>
          </c:val>
        </c:ser>
        <c:firstSliceAng val="0"/>
        <c:holeSize val="52"/>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2C5F82"/>
              </a:solidFill>
              <a:effectLst/>
            </c:spPr>
          </c:dPt>
          <c:dPt>
            <c:idx val="1"/>
            <c:bubble3D val="0"/>
            <c:spPr>
              <a:solidFill>
                <a:srgbClr val="A6A6A6"/>
              </a:solidFill>
              <a:effectLst/>
            </c:spPr>
          </c:dPt>
          <c:dPt>
            <c:idx val="2"/>
            <c:bubble3D val="0"/>
            <c:spPr>
              <a:solidFill>
                <a:srgbClr val="8DB3D1"/>
              </a:solidFill>
              <a:effectLst/>
            </c:spPr>
          </c:dPt>
          <c:dPt>
            <c:idx val="3"/>
            <c:bubble3D val="0"/>
            <c:spPr>
              <a:solidFill>
                <a:srgbClr val="4F86AE"/>
              </a:solidFill>
              <a:effectLst/>
            </c:spPr>
          </c:dPt>
          <c:dPt>
            <c:idx val="4"/>
            <c:bubble3D val="0"/>
            <c:spPr>
              <a:solidFill>
                <a:srgbClr val="2E9E44"/>
              </a:solidFill>
              <a:effectLst/>
            </c:spPr>
          </c:dPt>
          <c:dLbls>
            <c:dLbl>
              <c:idx val="0"/>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3"/>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dLbl>
              <c:idx val="4"/>
              <c:numFmt formatCode="0&quot;%&quot;" sourceLinked="0"/>
              <c:spPr/>
              <c:txPr>
                <a:bodyPr/>
                <a:lstStyle/>
                <a:p>
                  <a:pPr>
                    <a:defRPr sz="92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Asia Semiconductor (3119 HK)</c:v>
                </c:pt>
                <c:pt idx="1">
                  <c:v>Japan Semiconductor (2644 JP)</c:v>
                </c:pt>
                <c:pt idx="2">
                  <c:v>iShares MSCI Taiwan (EWT)</c:v>
                </c:pt>
                <c:pt idx="3">
                  <c:v>iShares MSCI South Korea (EWY)</c:v>
                </c:pt>
                <c:pt idx="4">
                  <c:v>Taiwan ESG High Dividend (00878 TT)</c:v>
                </c:pt>
              </c:strCache>
            </c:strRef>
          </c:cat>
          <c:val>
            <c:numRef>
              <c:f>Sheet1!$B$2:$B$6</c:f>
              <c:numCache>
                <c:ptCount val="5"/>
                <c:pt idx="0">
                  <c:v>35</c:v>
                </c:pt>
                <c:pt idx="1">
                  <c:v>15</c:v>
                </c:pt>
                <c:pt idx="2">
                  <c:v>15</c:v>
                </c:pt>
                <c:pt idx="3">
                  <c:v>20</c:v>
                </c:pt>
                <c:pt idx="4">
                  <c:v>15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Total received at Y5 if never called</a:t>
            </a:r>
          </a:p>
        </c:rich>
      </c:tx>
      <c:layout/>
      <c:overlay val="0"/>
    </c:title>
    <c:autoTitleDeleted val="0"/>
    <c:plotArea>
      <c:layout/>
      <c:scatterChart>
        <c:scatterStyle val="lineMarker"/>
        <c:varyColors val="0"/>
        <c:ser>
          <c:idx val="0"/>
          <c:order val="0"/>
          <c:tx>
            <c:strRef>
              <c:f>Sheet1!$B$1</c:f>
              <c:strCache>
                <c:ptCount val="1"/>
                <c:pt idx="0">
                  <c:v>Autocallable note</c:v>
                </c:pt>
              </c:strCache>
            </c:strRef>
          </c:tx>
          <c:spPr>
            <a:solidFill>
              <a:srgbClr val="2C5F82"/>
            </a:solidFill>
            <a:ln w="28575"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Sheet1!$B$2:$B$262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163.75</c:v>
                </c:pt>
                <c:pt idx="141">
                  <c:v>163.75</c:v>
                </c:pt>
                <c:pt idx="142">
                  <c:v>163.75</c:v>
                </c:pt>
                <c:pt idx="143">
                  <c:v>163.75</c:v>
                </c:pt>
                <c:pt idx="144">
                  <c:v>163.75</c:v>
                </c:pt>
                <c:pt idx="145">
                  <c:v>163.75</c:v>
                </c:pt>
                <c:pt idx="146">
                  <c:v>163.75</c:v>
                </c:pt>
                <c:pt idx="147">
                  <c:v>163.75</c:v>
                </c:pt>
                <c:pt idx="148">
                  <c:v>163.75</c:v>
                </c:pt>
                <c:pt idx="149">
                  <c:v>163.75</c:v>
                </c:pt>
                <c:pt idx="150">
                  <c:v>163.75</c:v>
                </c:pt>
                <c:pt idx="151">
                  <c:v>163.75</c:v>
                </c:pt>
                <c:pt idx="152">
                  <c:v>163.75</c:v>
                </c:pt>
                <c:pt idx="153">
                  <c:v>163.75</c:v>
                </c:pt>
                <c:pt idx="154">
                  <c:v>163.75</c:v>
                </c:pt>
                <c:pt idx="155">
                  <c:v>163.75</c:v>
                </c:pt>
                <c:pt idx="156">
                  <c:v>163.75</c:v>
                </c:pt>
                <c:pt idx="157">
                  <c:v>163.75</c:v>
                </c:pt>
                <c:pt idx="158">
                  <c:v>163.75</c:v>
                </c:pt>
                <c:pt idx="159">
                  <c:v>163.75</c:v>
                </c:pt>
                <c:pt idx="160">
                  <c:v>163.75</c:v>
                </c:pt>
                <c:pt idx="161">
                  <c:v>163.75</c:v>
                </c:pt>
                <c:pt idx="162">
                  <c:v>163.75</c:v>
                </c:pt>
                <c:pt idx="163">
                  <c:v>163.75</c:v>
                </c:pt>
                <c:pt idx="164">
                  <c:v>163.75</c:v>
                </c:pt>
                <c:pt idx="165">
                  <c:v>163.75</c:v>
                </c:pt>
                <c:pt idx="166">
                  <c:v>163.75</c:v>
                </c:pt>
                <c:pt idx="167">
                  <c:v>163.75</c:v>
                </c:pt>
                <c:pt idx="168">
                  <c:v>163.75</c:v>
                </c:pt>
                <c:pt idx="169">
                  <c:v>163.75</c:v>
                </c:pt>
                <c:pt idx="170">
                  <c:v>163.75</c:v>
                </c:pt>
                <c:pt idx="171">
                  <c:v>163.75</c:v>
                </c:pt>
                <c:pt idx="172">
                  <c:v>163.75</c:v>
                </c:pt>
                <c:pt idx="173">
                  <c:v>163.75</c:v>
                </c:pt>
                <c:pt idx="174">
                  <c:v>163.75</c:v>
                </c:pt>
                <c:pt idx="175">
                  <c:v>163.75</c:v>
                </c:pt>
                <c:pt idx="176">
                  <c:v>163.75</c:v>
                </c:pt>
                <c:pt idx="177">
                  <c:v>163.75</c:v>
                </c:pt>
                <c:pt idx="178">
                  <c:v>163.75</c:v>
                </c:pt>
                <c:pt idx="179">
                  <c:v>163.75</c:v>
                </c:pt>
                <c:pt idx="180">
                  <c:v>163.75</c:v>
                </c:pt>
                <c:pt idx="181">
                  <c:v>163.75</c:v>
                </c:pt>
                <c:pt idx="182">
                  <c:v>163.75</c:v>
                </c:pt>
                <c:pt idx="183">
                  <c:v>163.75</c:v>
                </c:pt>
                <c:pt idx="184">
                  <c:v>163.75</c:v>
                </c:pt>
                <c:pt idx="185">
                  <c:v>163.75</c:v>
                </c:pt>
                <c:pt idx="186">
                  <c:v>163.75</c:v>
                </c:pt>
                <c:pt idx="187">
                  <c:v>163.75</c:v>
                </c:pt>
                <c:pt idx="188">
                  <c:v>163.75</c:v>
                </c:pt>
                <c:pt idx="189">
                  <c:v>163.75</c:v>
                </c:pt>
                <c:pt idx="190">
                  <c:v>163.75</c:v>
                </c:pt>
                <c:pt idx="191">
                  <c:v>163.75</c:v>
                </c:pt>
                <c:pt idx="192">
                  <c:v>163.75</c:v>
                </c:pt>
                <c:pt idx="193">
                  <c:v>163.75</c:v>
                </c:pt>
                <c:pt idx="194">
                  <c:v>163.75</c:v>
                </c:pt>
                <c:pt idx="195">
                  <c:v>163.75</c:v>
                </c:pt>
                <c:pt idx="196">
                  <c:v>163.75</c:v>
                </c:pt>
                <c:pt idx="197">
                  <c:v>163.75</c:v>
                </c:pt>
                <c:pt idx="198">
                  <c:v>163.75</c:v>
                </c:pt>
                <c:pt idx="199">
                  <c:v>163.75</c:v>
                </c:pt>
                <c:pt idx="200">
                  <c:v>163.75</c:v>
                </c:pt>
                <c:pt idx="201">
                  <c:v>163.75</c:v>
                </c:pt>
                <c:pt idx="202">
                  <c:v>163.75</c:v>
                </c:pt>
                <c:pt idx="203">
                  <c:v>163.75</c:v>
                </c:pt>
                <c:pt idx="204">
                  <c:v>163.75</c:v>
                </c:pt>
                <c:pt idx="205">
                  <c:v>163.75</c:v>
                </c:pt>
                <c:pt idx="206">
                  <c:v>163.75</c:v>
                </c:pt>
                <c:pt idx="207">
                  <c:v>163.75</c:v>
                </c:pt>
                <c:pt idx="208">
                  <c:v>163.75</c:v>
                </c:pt>
                <c:pt idx="209">
                  <c:v>163.75</c:v>
                </c:pt>
                <c:pt idx="210">
                  <c:v>163.75</c:v>
                </c:pt>
                <c:pt idx="211">
                  <c:v>163.75</c:v>
                </c:pt>
                <c:pt idx="212">
                  <c:v>163.75</c:v>
                </c:pt>
                <c:pt idx="213">
                  <c:v>163.75</c:v>
                </c:pt>
                <c:pt idx="214">
                  <c:v>163.75</c:v>
                </c:pt>
                <c:pt idx="215">
                  <c:v>163.75</c:v>
                </c:pt>
                <c:pt idx="216">
                  <c:v>163.75</c:v>
                </c:pt>
                <c:pt idx="217">
                  <c:v>163.75</c:v>
                </c:pt>
                <c:pt idx="218">
                  <c:v>163.75</c:v>
                </c:pt>
                <c:pt idx="219">
                  <c:v>163.75</c:v>
                </c:pt>
                <c:pt idx="220">
                  <c:v>163.75</c:v>
                </c:pt>
                <c:pt idx="221">
                  <c:v>163.75</c:v>
                </c:pt>
                <c:pt idx="222">
                  <c:v>163.75</c:v>
                </c:pt>
                <c:pt idx="223">
                  <c:v>163.75</c:v>
                </c:pt>
                <c:pt idx="224">
                  <c:v>163.75</c:v>
                </c:pt>
                <c:pt idx="225">
                  <c:v>163.75</c:v>
                </c:pt>
                <c:pt idx="226">
                  <c:v>163.75</c:v>
                </c:pt>
                <c:pt idx="227">
                  <c:v>163.75</c:v>
                </c:pt>
                <c:pt idx="228">
                  <c:v>163.75</c:v>
                </c:pt>
                <c:pt idx="229">
                  <c:v>163.75</c:v>
                </c:pt>
                <c:pt idx="230">
                  <c:v>163.75</c:v>
                </c:pt>
                <c:pt idx="231">
                  <c:v>163.75</c:v>
                </c:pt>
                <c:pt idx="232">
                  <c:v>163.75</c:v>
                </c:pt>
                <c:pt idx="233">
                  <c:v>163.75</c:v>
                </c:pt>
                <c:pt idx="234">
                  <c:v>163.75</c:v>
                </c:pt>
                <c:pt idx="235">
                  <c:v>163.75</c:v>
                </c:pt>
                <c:pt idx="236">
                  <c:v>163.75</c:v>
                </c:pt>
                <c:pt idx="237">
                  <c:v>163.75</c:v>
                </c:pt>
                <c:pt idx="238">
                  <c:v>163.75</c:v>
                </c:pt>
                <c:pt idx="239">
                  <c:v>163.75</c:v>
                </c:pt>
                <c:pt idx="240">
                  <c:v>163.75</c:v>
                </c:pt>
                <c:pt idx="241">
                  <c:v>163.75</c:v>
                </c:pt>
                <c:pt idx="242">
                  <c:v>163.75</c:v>
                </c:pt>
                <c:pt idx="243">
                  <c:v>163.75</c:v>
                </c:pt>
                <c:pt idx="244">
                  <c:v>163.75</c:v>
                </c:pt>
                <c:pt idx="245">
                  <c:v>163.75</c:v>
                </c:pt>
                <c:pt idx="246">
                  <c:v>163.75</c:v>
                </c:pt>
                <c:pt idx="247">
                  <c:v>163.75</c:v>
                </c:pt>
                <c:pt idx="248">
                  <c:v>163.75</c:v>
                </c:pt>
                <c:pt idx="249">
                  <c:v>163.75</c:v>
                </c:pt>
                <c:pt idx="250">
                  <c:v>163.75</c:v>
                </c:pt>
                <c:pt idx="251">
                  <c:v>163.75</c:v>
                </c:pt>
                <c:pt idx="252">
                  <c:v>163.75</c:v>
                </c:pt>
                <c:pt idx="253">
                  <c:v>163.75</c:v>
                </c:pt>
                <c:pt idx="254">
                  <c:v>163.75</c:v>
                </c:pt>
                <c:pt idx="255">
                  <c:v>163.75</c:v>
                </c:pt>
                <c:pt idx="256">
                  <c:v>163.75</c:v>
                </c:pt>
                <c:pt idx="257">
                  <c:v>163.75</c:v>
                </c:pt>
                <c:pt idx="258">
                  <c:v>163.75</c:v>
                </c:pt>
                <c:pt idx="259">
                  <c:v>163.75</c:v>
                </c:pt>
                <c:pt idx="260">
                  <c:v>163.75</c:v>
                </c:pt>
              </c:numCache>
            </c:numRef>
          </c:yVal>
          <c:smooth val="0"/>
        </c:ser>
        <c:ser>
          <c:idx val="1"/>
          <c:order val="1"/>
          <c:tx>
            <c:strRef>
              <c:f>Sheet1!$C$1</c:f>
              <c:strCache>
                <c:ptCount val="1"/>
                <c:pt idx="0">
                  <c:v>Basket directly</c:v>
                </c:pt>
              </c:strCache>
            </c:strRef>
          </c:tx>
          <c:spPr>
            <a:solidFill>
              <a:srgbClr val="A6A6A6"/>
            </a:solidFill>
            <a:ln w="28575" cap="flat">
              <a:solidFill>
                <a:srgbClr val="A6A6A6"/>
              </a:solidFill>
              <a:prstDash val="solid"/>
              <a:round/>
            </a:ln>
            <a:effectLst/>
          </c:spPr>
          <c:marker>
            <c:symbol val="none"/>
            <c:size val="6"/>
            <c:spPr>
              <a:solidFill>
                <a:srgbClr val="A6A6A6"/>
              </a:solidFill>
              <a:ln w="9525" cap="flat">
                <a:solidFill>
                  <a:srgbClr val="A6A6A6"/>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Sheet1!$C$2:$C$262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30"/>
        </c:scaling>
        <c:delete val="0"/>
        <c:axPos val="b"/>
        <c:title>
          <c:tx>
            <c:rich>
              <a:bodyPr/>
              <a:lstStyle/>
              <a:p>
                <a:pPr>
                  <a:defRPr sz="780" b="0" i="0" u="none" strike="noStrike">
                    <a:solidFill>
                      <a:srgbClr val="595959"/>
                    </a:solidFill>
                    <a:latin typeface="Arial"/>
                  </a:defRPr>
                </a:pPr>
                <a:r>
                  <a:rPr sz="780" b="0" i="0" u="none" strike="noStrike">
                    <a:solidFill>
                      <a:srgbClr val="595959"/>
                    </a:solidFill>
                    <a:latin typeface="Arial"/>
                  </a:rPr>
                  <a:t>Final basket level (% of initial)</a:t>
                </a:r>
              </a:p>
            </c:rich>
          </c:tx>
          <c:layout/>
          <c:overlay val="0"/>
        </c:title>
        <c:numFmt formatCode="0&quot;%&quot;" sourceLinked="1"/>
        <c:majorTickMark val="none"/>
        <c:minorTickMark val="none"/>
        <c:tickLblPos val="nextTo"/>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majorUnit val="20"/>
      </c:valAx>
      <c:valAx>
        <c:axId val="2094734552"/>
        <c:scaling>
          <c:orientation val="minMax"/>
          <c:max val="170"/>
          <c:min val="20"/>
        </c:scaling>
        <c:delete val="0"/>
        <c:axPos val="l"/>
        <c:majorGridlines>
          <c:spPr>
            <a:ln w="6350" cap="flat">
              <a:solidFill>
                <a:srgbClr val="E3E3E3"/>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780">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Cumulative autocall probability (risk-neutral)</a:t>
            </a:r>
          </a:p>
        </c:rich>
      </c:tx>
      <c:layout/>
      <c:overlay val="0"/>
    </c:title>
    <c:autoTitleDeleted val="0"/>
    <c:plotArea>
      <c:layout/>
      <c:barChart>
        <c:barDir val="col"/>
        <c:grouping val="clustered"/>
        <c:varyColors val="0"/>
        <c:ser>
          <c:idx val="0"/>
          <c:order val="0"/>
          <c:tx>
            <c:strRef>
              <c:f>Sheet1!$B$1</c:f>
              <c:strCache>
                <c:ptCount val="1"/>
                <c:pt idx="0">
                  <c:v>Cumulative call probability</c:v>
                </c:pt>
              </c:strCache>
            </c:strRef>
          </c:tx>
          <c:spPr>
            <a:solidFill>
              <a:srgbClr val="2C5F82"/>
            </a:solidFill>
            <a:effectLst/>
          </c:spPr>
          <c:invertIfNegative val="0"/>
          <c:dLbls>
            <c:numFmt formatCode="0&quot;%&quot;" sourceLinked="0"/>
            <c:txPr>
              <a:bodyPr/>
              <a:lstStyle/>
              <a:p>
                <a:pPr>
                  <a:defRPr b="0" i="0" strike="noStrike" sz="83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48.6</c:v>
                </c:pt>
                <c:pt idx="1">
                  <c:v>66.3</c:v>
                </c:pt>
                <c:pt idx="2">
                  <c:v>72.8</c:v>
                </c:pt>
                <c:pt idx="3">
                  <c:v>76.5</c:v>
                </c:pt>
                <c:pt idx="4">
                  <c:v>79</c:v>
                </c:pt>
              </c:numCache>
            </c:numRef>
          </c:val>
        </c:ser>
        <c:dLbls>
          <c:numFmt formatCode="0&quot;%&quot;" sourceLinked="0"/>
          <c:txPr>
            <a:bodyPr/>
            <a:lstStyle/>
            <a:p>
              <a:pPr>
                <a:defRPr b="0" i="0" strike="noStrike" sz="83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Basket level (% of initial); coupon and autocall level 100%</a:t>
            </a:r>
          </a:p>
        </c:rich>
      </c:tx>
      <c:layout/>
      <c:overlay val="0"/>
    </c:title>
    <c:autoTitleDeleted val="0"/>
    <c:plotArea>
      <c:layout/>
      <c:lineChart>
        <c:varyColors val="0"/>
        <c:ser>
          <c:idx val="0"/>
          <c:order val="0"/>
          <c:tx>
            <c:strRef>
              <c:f>Sheet1!$B$1</c:f>
              <c:strCache>
                <c:ptCount val="1"/>
                <c:pt idx="0">
                  <c:v>AI capex boom</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Sheet1!$B$2:$B$22</c:f>
              <c:numCache>
                <c:formatCode>General</c:formatCode>
                <c:ptCount val="21"/>
                <c:pt idx="0">
                  <c:v>100</c:v>
                </c:pt>
                <c:pt idx="1">
                  <c:v>104.5</c:v>
                </c:pt>
                <c:pt idx="2">
                  <c:v>109</c:v>
                </c:pt>
                <c:pt idx="3">
                  <c:v>113.5</c:v>
                </c:pt>
                <c:pt idx="4">
                  <c:v>118</c:v>
                </c:pt>
                <c:pt idx="5">
                  <c:v>121.9</c:v>
                </c:pt>
                <c:pt idx="6">
                  <c:v>125.7</c:v>
                </c:pt>
                <c:pt idx="7">
                  <c:v>129.6</c:v>
                </c:pt>
                <c:pt idx="8">
                  <c:v>133.5</c:v>
                </c:pt>
                <c:pt idx="9">
                  <c:v>137.4</c:v>
                </c:pt>
                <c:pt idx="10">
                  <c:v>141.3</c:v>
                </c:pt>
                <c:pt idx="11">
                  <c:v>145.1</c:v>
                </c:pt>
                <c:pt idx="12">
                  <c:v>149</c:v>
                </c:pt>
                <c:pt idx="13">
                  <c:v>152.9</c:v>
                </c:pt>
                <c:pt idx="14">
                  <c:v>156.7</c:v>
                </c:pt>
                <c:pt idx="15">
                  <c:v>160.6</c:v>
                </c:pt>
                <c:pt idx="16">
                  <c:v>164.5</c:v>
                </c:pt>
                <c:pt idx="17">
                  <c:v>168.4</c:v>
                </c:pt>
                <c:pt idx="18">
                  <c:v>172.3</c:v>
                </c:pt>
                <c:pt idx="19">
                  <c:v>176.1</c:v>
                </c:pt>
                <c:pt idx="20">
                  <c:v>180</c:v>
                </c:pt>
              </c:numCache>
            </c:numRef>
          </c:val>
          <c:smooth val="0"/>
        </c:ser>
        <c:ser>
          <c:idx val="1"/>
          <c:order val="1"/>
          <c:tx>
            <c:strRef>
              <c:f>Sheet1!$C$1</c:f>
              <c:strCache>
                <c:ptCount val="1"/>
                <c:pt idx="0">
                  <c:v>Range-bound Asia</c:v>
                </c:pt>
              </c:strCache>
            </c:strRef>
          </c:tx>
          <c:spPr>
            <a:solidFill>
              <a:srgbClr val="E67E22"/>
            </a:solidFill>
            <a:ln w="25400" cap="flat">
              <a:solidFill>
                <a:srgbClr val="E67E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7E22"/>
              </a:solidFill>
              <a:ln w="9525" cap="flat">
                <a:solidFill>
                  <a:srgbClr val="E67E22"/>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Sheet1!$C$2:$C$22</c:f>
              <c:numCache>
                <c:formatCode>General</c:formatCode>
                <c:ptCount val="21"/>
                <c:pt idx="0">
                  <c:v>100</c:v>
                </c:pt>
                <c:pt idx="1">
                  <c:v>99</c:v>
                </c:pt>
                <c:pt idx="2">
                  <c:v>98</c:v>
                </c:pt>
                <c:pt idx="3">
                  <c:v>97</c:v>
                </c:pt>
                <c:pt idx="4">
                  <c:v>96</c:v>
                </c:pt>
                <c:pt idx="5">
                  <c:v>98.5</c:v>
                </c:pt>
                <c:pt idx="6">
                  <c:v>101</c:v>
                </c:pt>
                <c:pt idx="7">
                  <c:v>101.1</c:v>
                </c:pt>
                <c:pt idx="8">
                  <c:v>101.3</c:v>
                </c:pt>
                <c:pt idx="9">
                  <c:v>101.4</c:v>
                </c:pt>
                <c:pt idx="10">
                  <c:v>101.6</c:v>
                </c:pt>
                <c:pt idx="11">
                  <c:v>101.7</c:v>
                </c:pt>
                <c:pt idx="12">
                  <c:v>101.9</c:v>
                </c:pt>
                <c:pt idx="13">
                  <c:v>102</c:v>
                </c:pt>
                <c:pt idx="14">
                  <c:v>102.1</c:v>
                </c:pt>
                <c:pt idx="15">
                  <c:v>102.3</c:v>
                </c:pt>
                <c:pt idx="16">
                  <c:v>102.4</c:v>
                </c:pt>
                <c:pt idx="17">
                  <c:v>102.6</c:v>
                </c:pt>
                <c:pt idx="18">
                  <c:v>102.7</c:v>
                </c:pt>
                <c:pt idx="19">
                  <c:v>102.9</c:v>
                </c:pt>
                <c:pt idx="20">
                  <c:v>103</c:v>
                </c:pt>
              </c:numCache>
            </c:numRef>
          </c:val>
          <c:smooth val="0"/>
        </c:ser>
        <c:ser>
          <c:idx val="2"/>
          <c:order val="2"/>
          <c:tx>
            <c:strRef>
              <c:f>Sheet1!$D$1</c:f>
              <c:strCache>
                <c:ptCount val="1"/>
                <c:pt idx="0">
                  <c:v>2022-style tech drawdown, slow recovery</c:v>
                </c:pt>
              </c:strCache>
            </c:strRef>
          </c:tx>
          <c:spPr>
            <a:solidFill>
              <a:srgbClr val="1F3B57"/>
            </a:solidFill>
            <a:ln w="25400" cap="flat">
              <a:solidFill>
                <a:srgbClr val="1F3B5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3B57"/>
              </a:solidFill>
              <a:ln w="9525" cap="flat">
                <a:solidFill>
                  <a:srgbClr val="1F3B57"/>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Sheet1!$D$2:$D$22</c:f>
              <c:numCache>
                <c:formatCode>General</c:formatCode>
                <c:ptCount val="21"/>
                <c:pt idx="0">
                  <c:v>100</c:v>
                </c:pt>
                <c:pt idx="1">
                  <c:v>90</c:v>
                </c:pt>
                <c:pt idx="2">
                  <c:v>80</c:v>
                </c:pt>
                <c:pt idx="3">
                  <c:v>70</c:v>
                </c:pt>
                <c:pt idx="4">
                  <c:v>71.6</c:v>
                </c:pt>
                <c:pt idx="5">
                  <c:v>73.2</c:v>
                </c:pt>
                <c:pt idx="6">
                  <c:v>74.8</c:v>
                </c:pt>
                <c:pt idx="7">
                  <c:v>76.4</c:v>
                </c:pt>
                <c:pt idx="8">
                  <c:v>78</c:v>
                </c:pt>
                <c:pt idx="9">
                  <c:v>80.8</c:v>
                </c:pt>
                <c:pt idx="10">
                  <c:v>83.7</c:v>
                </c:pt>
                <c:pt idx="11">
                  <c:v>86.5</c:v>
                </c:pt>
                <c:pt idx="12">
                  <c:v>89.3</c:v>
                </c:pt>
                <c:pt idx="13">
                  <c:v>92.2</c:v>
                </c:pt>
                <c:pt idx="14">
                  <c:v>95</c:v>
                </c:pt>
                <c:pt idx="15">
                  <c:v>102</c:v>
                </c:pt>
                <c:pt idx="16">
                  <c:v>103.6</c:v>
                </c:pt>
                <c:pt idx="17">
                  <c:v>105.2</c:v>
                </c:pt>
                <c:pt idx="18">
                  <c:v>106.8</c:v>
                </c:pt>
                <c:pt idx="19">
                  <c:v>108.4</c:v>
                </c:pt>
                <c:pt idx="20">
                  <c:v>110</c:v>
                </c:pt>
              </c:numCache>
            </c:numRef>
          </c:val>
          <c:smooth val="0"/>
        </c:ser>
        <c:ser>
          <c:idx val="3"/>
          <c:order val="3"/>
          <c:tx>
            <c:strRef>
              <c:f>Sheet1!$E$1</c:f>
              <c:strCache>
                <c:ptCount val="1"/>
                <c:pt idx="0">
                  <c:v>Lost decade (sideways below par)</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Sheet1!$E$2:$E$22</c:f>
              <c:numCache>
                <c:formatCode>General</c:formatCode>
                <c:ptCount val="21"/>
                <c:pt idx="0">
                  <c:v>100</c:v>
                </c:pt>
                <c:pt idx="1">
                  <c:v>96.3</c:v>
                </c:pt>
                <c:pt idx="2">
                  <c:v>92.5</c:v>
                </c:pt>
                <c:pt idx="3">
                  <c:v>88.7</c:v>
                </c:pt>
                <c:pt idx="4">
                  <c:v>85</c:v>
                </c:pt>
                <c:pt idx="5">
                  <c:v>84.2</c:v>
                </c:pt>
                <c:pt idx="6">
                  <c:v>83.3</c:v>
                </c:pt>
                <c:pt idx="7">
                  <c:v>82.5</c:v>
                </c:pt>
                <c:pt idx="8">
                  <c:v>81.7</c:v>
                </c:pt>
                <c:pt idx="9">
                  <c:v>80.8</c:v>
                </c:pt>
                <c:pt idx="10">
                  <c:v>80</c:v>
                </c:pt>
                <c:pt idx="11">
                  <c:v>80.8</c:v>
                </c:pt>
                <c:pt idx="12">
                  <c:v>81.6</c:v>
                </c:pt>
                <c:pt idx="13">
                  <c:v>82.4</c:v>
                </c:pt>
                <c:pt idx="14">
                  <c:v>83.2</c:v>
                </c:pt>
                <c:pt idx="15">
                  <c:v>84</c:v>
                </c:pt>
                <c:pt idx="16">
                  <c:v>84.8</c:v>
                </c:pt>
                <c:pt idx="17">
                  <c:v>85.6</c:v>
                </c:pt>
                <c:pt idx="18">
                  <c:v>86.4</c:v>
                </c:pt>
                <c:pt idx="19">
                  <c:v>87.2</c:v>
                </c:pt>
                <c:pt idx="20">
                  <c:v>88</c:v>
                </c:pt>
              </c:numCache>
            </c:numRef>
          </c:val>
          <c:smooth val="0"/>
        </c:ser>
        <c:ser>
          <c:idx val="4"/>
          <c:order val="4"/>
          <c:tx>
            <c:strRef>
              <c:f>Sheet1!$F$1</c:f>
              <c:strCache>
                <c:ptCount val="1"/>
                <c:pt idx="0">
                  <c:v>Geopolitical shock, no recovery</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B3B"/>
              </a:solidFill>
              <a:ln w="9525" cap="flat">
                <a:solidFill>
                  <a:srgbClr val="B23B3B"/>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Sheet1!$F$2:$F$22</c:f>
              <c:numCache>
                <c:formatCode>General</c:formatCode>
                <c:ptCount val="21"/>
                <c:pt idx="0">
                  <c:v>100</c:v>
                </c:pt>
                <c:pt idx="1">
                  <c:v>80</c:v>
                </c:pt>
                <c:pt idx="2">
                  <c:v>60</c:v>
                </c:pt>
                <c:pt idx="3">
                  <c:v>58.3</c:v>
                </c:pt>
                <c:pt idx="4">
                  <c:v>56.7</c:v>
                </c:pt>
                <c:pt idx="5">
                  <c:v>55</c:v>
                </c:pt>
                <c:pt idx="6">
                  <c:v>53.3</c:v>
                </c:pt>
                <c:pt idx="7">
                  <c:v>51.7</c:v>
                </c:pt>
                <c:pt idx="8">
                  <c:v>50</c:v>
                </c:pt>
                <c:pt idx="9">
                  <c:v>50.4</c:v>
                </c:pt>
                <c:pt idx="10">
                  <c:v>50.8</c:v>
                </c:pt>
                <c:pt idx="11">
                  <c:v>51.2</c:v>
                </c:pt>
                <c:pt idx="12">
                  <c:v>51.7</c:v>
                </c:pt>
                <c:pt idx="13">
                  <c:v>52.1</c:v>
                </c:pt>
                <c:pt idx="14">
                  <c:v>52.5</c:v>
                </c:pt>
                <c:pt idx="15">
                  <c:v>52.9</c:v>
                </c:pt>
                <c:pt idx="16">
                  <c:v>53.3</c:v>
                </c:pt>
                <c:pt idx="17">
                  <c:v>53.8</c:v>
                </c:pt>
                <c:pt idx="18">
                  <c:v>54.2</c:v>
                </c:pt>
                <c:pt idx="19">
                  <c:v>54.6</c:v>
                </c:pt>
                <c:pt idx="20">
                  <c:v>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80"/>
          <c:min val="4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Principal</c:v>
                </c:pt>
              </c:strCache>
            </c:strRef>
          </c:tx>
          <c:spPr>
            <a:solidFill>
              <a:srgbClr val="2C5F82"/>
            </a:solidFill>
            <a:ln w="25400"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on any date</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120"/>
          <c:min val="0"/>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Coupon digitals</c:v>
                </c:pt>
              </c:strCache>
            </c:strRef>
          </c:tx>
          <c:spPr>
            <a:solidFill>
              <a:srgbClr val="2C5F82"/>
            </a:solidFill>
            <a:ln w="25400"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3.1875</c:v>
                </c:pt>
                <c:pt idx="61">
                  <c:v>3.1875</c:v>
                </c:pt>
                <c:pt idx="62">
                  <c:v>3.1875</c:v>
                </c:pt>
                <c:pt idx="63">
                  <c:v>3.1875</c:v>
                </c:pt>
                <c:pt idx="64">
                  <c:v>3.1875</c:v>
                </c:pt>
                <c:pt idx="65">
                  <c:v>3.1875</c:v>
                </c:pt>
                <c:pt idx="66">
                  <c:v>3.1875</c:v>
                </c:pt>
                <c:pt idx="67">
                  <c:v>3.1875</c:v>
                </c:pt>
                <c:pt idx="68">
                  <c:v>3.1875</c:v>
                </c:pt>
                <c:pt idx="69">
                  <c:v>3.1875</c:v>
                </c:pt>
                <c:pt idx="70">
                  <c:v>3.1875</c:v>
                </c:pt>
                <c:pt idx="71">
                  <c:v>3.1875</c:v>
                </c:pt>
                <c:pt idx="72">
                  <c:v>3.1875</c:v>
                </c:pt>
                <c:pt idx="73">
                  <c:v>3.1875</c:v>
                </c:pt>
                <c:pt idx="74">
                  <c:v>3.1875</c:v>
                </c:pt>
                <c:pt idx="75">
                  <c:v>3.1875</c:v>
                </c:pt>
                <c:pt idx="76">
                  <c:v>3.1875</c:v>
                </c:pt>
                <c:pt idx="77">
                  <c:v>3.1875</c:v>
                </c:pt>
                <c:pt idx="78">
                  <c:v>3.1875</c:v>
                </c:pt>
                <c:pt idx="79">
                  <c:v>3.1875</c:v>
                </c:pt>
                <c:pt idx="80">
                  <c:v>3.1875</c:v>
                </c:pt>
                <c:pt idx="81">
                  <c:v>3.1875</c:v>
                </c:pt>
                <c:pt idx="82">
                  <c:v>3.1875</c:v>
                </c:pt>
                <c:pt idx="83">
                  <c:v>3.1875</c:v>
                </c:pt>
                <c:pt idx="84">
                  <c:v>3.1875</c:v>
                </c:pt>
                <c:pt idx="85">
                  <c:v>3.1875</c:v>
                </c:pt>
                <c:pt idx="86">
                  <c:v>3.1875</c:v>
                </c:pt>
                <c:pt idx="87">
                  <c:v>3.1875</c:v>
                </c:pt>
                <c:pt idx="88">
                  <c:v>3.1875</c:v>
                </c:pt>
                <c:pt idx="89">
                  <c:v>3.1875</c:v>
                </c:pt>
                <c:pt idx="90">
                  <c:v>3.1875</c:v>
                </c:pt>
                <c:pt idx="91">
                  <c:v>3.1875</c:v>
                </c:pt>
                <c:pt idx="92">
                  <c:v>3.1875</c:v>
                </c:pt>
                <c:pt idx="93">
                  <c:v>3.1875</c:v>
                </c:pt>
                <c:pt idx="94">
                  <c:v>3.1875</c:v>
                </c:pt>
                <c:pt idx="95">
                  <c:v>3.1875</c:v>
                </c:pt>
                <c:pt idx="96">
                  <c:v>3.1875</c:v>
                </c:pt>
                <c:pt idx="97">
                  <c:v>3.1875</c:v>
                </c:pt>
                <c:pt idx="98">
                  <c:v>3.1875</c:v>
                </c:pt>
                <c:pt idx="99">
                  <c:v>3.1875</c:v>
                </c:pt>
                <c:pt idx="100">
                  <c:v>3.1875</c:v>
                </c:pt>
                <c:pt idx="101">
                  <c:v>3.1875</c:v>
                </c:pt>
                <c:pt idx="102">
                  <c:v>3.1875</c:v>
                </c:pt>
                <c:pt idx="103">
                  <c:v>3.1875</c:v>
                </c:pt>
                <c:pt idx="104">
                  <c:v>3.1875</c:v>
                </c:pt>
                <c:pt idx="105">
                  <c:v>3.1875</c:v>
                </c:pt>
                <c:pt idx="106">
                  <c:v>3.1875</c:v>
                </c:pt>
                <c:pt idx="107">
                  <c:v>3.1875</c:v>
                </c:pt>
                <c:pt idx="108">
                  <c:v>3.1875</c:v>
                </c:pt>
                <c:pt idx="109">
                  <c:v>3.1875</c:v>
                </c:pt>
                <c:pt idx="110">
                  <c:v>3.1875</c:v>
                </c:pt>
                <c:pt idx="111">
                  <c:v>3.1875</c:v>
                </c:pt>
                <c:pt idx="112">
                  <c:v>3.1875</c:v>
                </c:pt>
                <c:pt idx="113">
                  <c:v>3.1875</c:v>
                </c:pt>
                <c:pt idx="114">
                  <c:v>3.1875</c:v>
                </c:pt>
                <c:pt idx="115">
                  <c:v>3.1875</c:v>
                </c:pt>
                <c:pt idx="116">
                  <c:v>3.1875</c:v>
                </c:pt>
                <c:pt idx="117">
                  <c:v>3.1875</c:v>
                </c:pt>
                <c:pt idx="118">
                  <c:v>3.1875</c:v>
                </c:pt>
                <c:pt idx="119">
                  <c:v>3.1875</c:v>
                </c:pt>
                <c:pt idx="120">
                  <c:v>3.1875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on any date</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3.2"/>
          <c:min val="-0.5"/>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Autocall (Natixis)</c:v>
                </c:pt>
              </c:strCache>
            </c:strRef>
          </c:tx>
          <c:spPr>
            <a:solidFill>
              <a:srgbClr val="A6A6A6"/>
            </a:solidFill>
            <a:ln w="25400" cap="flat">
              <a:solidFill>
                <a:srgbClr val="A6A6A6"/>
              </a:solidFill>
              <a:prstDash val="solid"/>
              <a:round/>
            </a:ln>
            <a:effectLst/>
          </c:spPr>
          <c:marker>
            <c:symbol val="none"/>
            <c:size val="6"/>
            <c:spPr>
              <a:solidFill>
                <a:srgbClr val="A6A6A6"/>
              </a:solidFill>
              <a:ln w="9525" cap="flat">
                <a:solidFill>
                  <a:srgbClr val="A6A6A6"/>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on any date</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1.4"/>
          <c:min val="-0.3"/>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Short put (client)</c:v>
                </c:pt>
              </c:strCache>
            </c:strRef>
          </c:tx>
          <c:spPr>
            <a:solidFill>
              <a:srgbClr val="B23B3B"/>
            </a:solidFill>
            <a:ln w="25400" cap="flat">
              <a:solidFill>
                <a:srgbClr val="B23B3B"/>
              </a:solidFill>
              <a:prstDash val="solid"/>
              <a:round/>
            </a:ln>
            <a:effectLst/>
          </c:spPr>
          <c:marker>
            <c:symbol val="none"/>
            <c:size val="6"/>
            <c:spPr>
              <a:solidFill>
                <a:srgbClr val="B23B3B"/>
              </a:solidFill>
              <a:ln w="9525" cap="flat">
                <a:solidFill>
                  <a:srgbClr val="B23B3B"/>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-60</c:v>
                </c:pt>
                <c:pt idx="1">
                  <c:v>-59</c:v>
                </c:pt>
                <c:pt idx="2">
                  <c:v>-58</c:v>
                </c:pt>
                <c:pt idx="3">
                  <c:v>-57</c:v>
                </c:pt>
                <c:pt idx="4">
                  <c:v>-56</c:v>
                </c:pt>
                <c:pt idx="5">
                  <c:v>-55</c:v>
                </c:pt>
                <c:pt idx="6">
                  <c:v>-54</c:v>
                </c:pt>
                <c:pt idx="7">
                  <c:v>-53</c:v>
                </c:pt>
                <c:pt idx="8">
                  <c:v>-52</c:v>
                </c:pt>
                <c:pt idx="9">
                  <c:v>-51</c:v>
                </c:pt>
                <c:pt idx="10">
                  <c:v>-50</c:v>
                </c:pt>
                <c:pt idx="11">
                  <c:v>-49</c:v>
                </c:pt>
                <c:pt idx="12">
                  <c:v>-48</c:v>
                </c:pt>
                <c:pt idx="13">
                  <c:v>-47</c:v>
                </c:pt>
                <c:pt idx="14">
                  <c:v>-46</c:v>
                </c:pt>
                <c:pt idx="15">
                  <c:v>-45</c:v>
                </c:pt>
                <c:pt idx="16">
                  <c:v>-44</c:v>
                </c:pt>
                <c:pt idx="17">
                  <c:v>-43</c:v>
                </c:pt>
                <c:pt idx="18">
                  <c:v>-42</c:v>
                </c:pt>
                <c:pt idx="19">
                  <c:v>-41</c:v>
                </c:pt>
                <c:pt idx="20">
                  <c:v>-40</c:v>
                </c:pt>
                <c:pt idx="21">
                  <c:v>-39</c:v>
                </c:pt>
                <c:pt idx="22">
                  <c:v>-38</c:v>
                </c:pt>
                <c:pt idx="23">
                  <c:v>-37</c:v>
                </c:pt>
                <c:pt idx="24">
                  <c:v>-36</c:v>
                </c:pt>
                <c:pt idx="25">
                  <c:v>-35</c:v>
                </c:pt>
                <c:pt idx="26">
                  <c:v>-34</c:v>
                </c:pt>
                <c:pt idx="27">
                  <c:v>-33</c:v>
                </c:pt>
                <c:pt idx="28">
                  <c:v>-32</c:v>
                </c:pt>
                <c:pt idx="29">
                  <c:v>-31</c:v>
                </c:pt>
                <c:pt idx="30">
                  <c:v>-30</c:v>
                </c:pt>
                <c:pt idx="31">
                  <c:v>-29</c:v>
                </c:pt>
                <c:pt idx="32">
                  <c:v>-28</c:v>
                </c:pt>
                <c:pt idx="33">
                  <c:v>-27</c:v>
                </c:pt>
                <c:pt idx="34">
                  <c:v>-26</c:v>
                </c:pt>
                <c:pt idx="35">
                  <c:v>-25</c:v>
                </c:pt>
                <c:pt idx="36">
                  <c:v>-24</c:v>
                </c:pt>
                <c:pt idx="37">
                  <c:v>-23</c:v>
                </c:pt>
                <c:pt idx="38">
                  <c:v>-22</c:v>
                </c:pt>
                <c:pt idx="39">
                  <c:v>-21</c:v>
                </c:pt>
                <c:pt idx="40">
                  <c:v>-20</c:v>
                </c:pt>
                <c:pt idx="41">
                  <c:v>-19</c:v>
                </c:pt>
                <c:pt idx="42">
                  <c:v>-18</c:v>
                </c:pt>
                <c:pt idx="43">
                  <c:v>-17</c:v>
                </c:pt>
                <c:pt idx="44">
                  <c:v>-16</c:v>
                </c:pt>
                <c:pt idx="45">
                  <c:v>-15</c:v>
                </c:pt>
                <c:pt idx="46">
                  <c:v>-14</c:v>
                </c:pt>
                <c:pt idx="47">
                  <c:v>-13</c:v>
                </c:pt>
                <c:pt idx="48">
                  <c:v>-12</c:v>
                </c:pt>
                <c:pt idx="49">
                  <c:v>-11</c:v>
                </c:pt>
                <c:pt idx="50">
                  <c:v>-10</c:v>
                </c:pt>
                <c:pt idx="51">
                  <c:v>-9</c:v>
                </c:pt>
                <c:pt idx="52">
                  <c:v>-8</c:v>
                </c:pt>
                <c:pt idx="53">
                  <c:v>-7</c:v>
                </c:pt>
                <c:pt idx="54">
                  <c:v>-6</c:v>
                </c:pt>
                <c:pt idx="55">
                  <c:v>-5</c:v>
                </c:pt>
                <c:pt idx="56">
                  <c:v>-4</c:v>
                </c:pt>
                <c:pt idx="57">
                  <c:v>-3</c:v>
                </c:pt>
                <c:pt idx="58">
                  <c:v>-2</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640" b="0" i="0" u="none" strike="noStrike">
                    <a:solidFill>
                      <a:srgbClr val="595959"/>
                    </a:solidFill>
                    <a:latin typeface="Arial"/>
                  </a:defRPr>
                </a:pPr>
                <a:r>
                  <a:rPr sz="640" b="0" i="0" u="none" strike="noStrike">
                    <a:solidFill>
                      <a:srgbClr val="595959"/>
                    </a:solidFill>
                    <a:latin typeface="Arial"/>
                  </a:rPr>
                  <a:t>Basket at Y5</a:t>
                </a:r>
              </a:p>
            </c:rich>
          </c:tx>
          <c:layout/>
          <c:overlay val="0"/>
        </c:title>
        <c:numFmt formatCode="General" sourceLinked="1"/>
        <c:majorTickMark val="none"/>
        <c:minorTickMark val="none"/>
        <c:tickLblPos val="nextTo"/>
        <c:spPr>
          <a:ln w="12700" cap="flat">
            <a:solidFill>
              <a:srgbClr val="A6A6A6"/>
            </a:solidFill>
            <a:prstDash val="solid"/>
            <a:round/>
          </a:ln>
        </c:spPr>
        <c:txPr>
          <a:bodyPr/>
          <a:lstStyle/>
          <a:p>
            <a:pPr>
              <a:defRPr sz="640" b="0" i="0" u="none" strike="noStrike">
                <a:solidFill>
                  <a:srgbClr val="595959"/>
                </a:solidFill>
                <a:latin typeface="Arial"/>
              </a:defRPr>
            </a:pPr>
            <a:endParaRPr lang="en-US"/>
          </a:p>
        </c:txPr>
        <c:crossAx val="2094734552"/>
        <c:crosses val="autoZero"/>
        <c:auto val="1"/>
        <c:lblAlgn val="ctr"/>
        <c:noMultiLvlLbl val="1"/>
        <c:majorUnit val="40"/>
      </c:valAx>
      <c:valAx>
        <c:axId val="2094734552"/>
        <c:scaling>
          <c:orientation val="minMax"/>
          <c:max val="6"/>
          <c:min val="-66"/>
        </c:scaling>
        <c:delete val="1"/>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70" b="0" i="0" u="none" strike="noStrike">
                <a:solidFill>
                  <a:srgbClr val="262626"/>
                </a:solidFill>
                <a:latin typeface="Arial"/>
              </a:defRPr>
            </a:pPr>
            <a:r>
              <a:rPr sz="870" b="0" i="0" u="none" strike="noStrike">
                <a:solidFill>
                  <a:srgbClr val="262626"/>
                </a:solidFill>
                <a:latin typeface="Arial"/>
              </a:rPr>
              <a:t>Total received at Y5 (not called earlier) vs final basket level</a:t>
            </a:r>
          </a:p>
        </c:rich>
      </c:tx>
      <c:layout/>
      <c:overlay val="0"/>
    </c:title>
    <c:autoTitleDeleted val="0"/>
    <c:plotArea>
      <c:layout/>
      <c:scatterChart>
        <c:scatterStyle val="lineMarker"/>
        <c:varyColors val="0"/>
        <c:ser>
          <c:idx val="0"/>
          <c:order val="0"/>
          <c:tx>
            <c:strRef>
              <c:f>Sheet1!$B$1</c:f>
              <c:strCache>
                <c:ptCount val="1"/>
                <c:pt idx="0">
                  <c:v>Our note (12.75%)</c:v>
                </c:pt>
              </c:strCache>
            </c:strRef>
          </c:tx>
          <c:spPr>
            <a:solidFill>
              <a:srgbClr val="2C5F82"/>
            </a:solidFill>
            <a:ln w="25400" cap="flat">
              <a:solidFill>
                <a:srgbClr val="2C5F82"/>
              </a:solidFill>
              <a:prstDash val="solid"/>
              <a:round/>
            </a:ln>
            <a:effectLst/>
          </c:spPr>
          <c:marker>
            <c:symbol val="none"/>
            <c:size val="6"/>
            <c:spPr>
              <a:solidFill>
                <a:srgbClr val="2C5F82"/>
              </a:solidFill>
              <a:ln w="9525" cap="flat">
                <a:solidFill>
                  <a:srgbClr val="2C5F82"/>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Sheet1!$B$2:$B$142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163.75</c:v>
                </c:pt>
                <c:pt idx="61">
                  <c:v>163.75</c:v>
                </c:pt>
                <c:pt idx="62">
                  <c:v>163.75</c:v>
                </c:pt>
                <c:pt idx="63">
                  <c:v>163.75</c:v>
                </c:pt>
                <c:pt idx="64">
                  <c:v>163.75</c:v>
                </c:pt>
                <c:pt idx="65">
                  <c:v>163.75</c:v>
                </c:pt>
                <c:pt idx="66">
                  <c:v>163.75</c:v>
                </c:pt>
                <c:pt idx="67">
                  <c:v>163.75</c:v>
                </c:pt>
                <c:pt idx="68">
                  <c:v>163.75</c:v>
                </c:pt>
                <c:pt idx="69">
                  <c:v>163.75</c:v>
                </c:pt>
                <c:pt idx="70">
                  <c:v>163.75</c:v>
                </c:pt>
                <c:pt idx="71">
                  <c:v>163.75</c:v>
                </c:pt>
                <c:pt idx="72">
                  <c:v>163.75</c:v>
                </c:pt>
                <c:pt idx="73">
                  <c:v>163.75</c:v>
                </c:pt>
                <c:pt idx="74">
                  <c:v>163.75</c:v>
                </c:pt>
                <c:pt idx="75">
                  <c:v>163.75</c:v>
                </c:pt>
                <c:pt idx="76">
                  <c:v>163.75</c:v>
                </c:pt>
                <c:pt idx="77">
                  <c:v>163.75</c:v>
                </c:pt>
                <c:pt idx="78">
                  <c:v>163.75</c:v>
                </c:pt>
                <c:pt idx="79">
                  <c:v>163.75</c:v>
                </c:pt>
                <c:pt idx="80">
                  <c:v>163.75</c:v>
                </c:pt>
                <c:pt idx="81">
                  <c:v>163.75</c:v>
                </c:pt>
                <c:pt idx="82">
                  <c:v>163.75</c:v>
                </c:pt>
                <c:pt idx="83">
                  <c:v>163.75</c:v>
                </c:pt>
                <c:pt idx="84">
                  <c:v>163.75</c:v>
                </c:pt>
                <c:pt idx="85">
                  <c:v>163.75</c:v>
                </c:pt>
                <c:pt idx="86">
                  <c:v>163.75</c:v>
                </c:pt>
                <c:pt idx="87">
                  <c:v>163.75</c:v>
                </c:pt>
                <c:pt idx="88">
                  <c:v>163.75</c:v>
                </c:pt>
                <c:pt idx="89">
                  <c:v>163.75</c:v>
                </c:pt>
                <c:pt idx="90">
                  <c:v>163.75</c:v>
                </c:pt>
                <c:pt idx="91">
                  <c:v>163.75</c:v>
                </c:pt>
                <c:pt idx="92">
                  <c:v>163.75</c:v>
                </c:pt>
                <c:pt idx="93">
                  <c:v>163.75</c:v>
                </c:pt>
                <c:pt idx="94">
                  <c:v>163.75</c:v>
                </c:pt>
                <c:pt idx="95">
                  <c:v>163.75</c:v>
                </c:pt>
                <c:pt idx="96">
                  <c:v>163.75</c:v>
                </c:pt>
                <c:pt idx="97">
                  <c:v>163.75</c:v>
                </c:pt>
                <c:pt idx="98">
                  <c:v>163.75</c:v>
                </c:pt>
                <c:pt idx="99">
                  <c:v>163.75</c:v>
                </c:pt>
                <c:pt idx="100">
                  <c:v>163.75</c:v>
                </c:pt>
                <c:pt idx="101">
                  <c:v>163.75</c:v>
                </c:pt>
                <c:pt idx="102">
                  <c:v>163.75</c:v>
                </c:pt>
                <c:pt idx="103">
                  <c:v>163.75</c:v>
                </c:pt>
                <c:pt idx="104">
                  <c:v>163.75</c:v>
                </c:pt>
                <c:pt idx="105">
                  <c:v>163.75</c:v>
                </c:pt>
                <c:pt idx="106">
                  <c:v>163.75</c:v>
                </c:pt>
                <c:pt idx="107">
                  <c:v>163.75</c:v>
                </c:pt>
                <c:pt idx="108">
                  <c:v>163.75</c:v>
                </c:pt>
                <c:pt idx="109">
                  <c:v>163.75</c:v>
                </c:pt>
                <c:pt idx="110">
                  <c:v>163.75</c:v>
                </c:pt>
                <c:pt idx="111">
                  <c:v>163.75</c:v>
                </c:pt>
                <c:pt idx="112">
                  <c:v>163.75</c:v>
                </c:pt>
                <c:pt idx="113">
                  <c:v>163.75</c:v>
                </c:pt>
                <c:pt idx="114">
                  <c:v>163.75</c:v>
                </c:pt>
                <c:pt idx="115">
                  <c:v>163.75</c:v>
                </c:pt>
                <c:pt idx="116">
                  <c:v>163.75</c:v>
                </c:pt>
                <c:pt idx="117">
                  <c:v>163.75</c:v>
                </c:pt>
                <c:pt idx="118">
                  <c:v>163.75</c:v>
                </c:pt>
                <c:pt idx="119">
                  <c:v>163.75</c:v>
                </c:pt>
                <c:pt idx="120">
                  <c:v>163.75</c:v>
                </c:pt>
                <c:pt idx="121">
                  <c:v>163.75</c:v>
                </c:pt>
                <c:pt idx="122">
                  <c:v>163.75</c:v>
                </c:pt>
                <c:pt idx="123">
                  <c:v>163.75</c:v>
                </c:pt>
                <c:pt idx="124">
                  <c:v>163.75</c:v>
                </c:pt>
                <c:pt idx="125">
                  <c:v>163.75</c:v>
                </c:pt>
                <c:pt idx="126">
                  <c:v>163.75</c:v>
                </c:pt>
                <c:pt idx="127">
                  <c:v>163.75</c:v>
                </c:pt>
                <c:pt idx="128">
                  <c:v>163.75</c:v>
                </c:pt>
                <c:pt idx="129">
                  <c:v>163.75</c:v>
                </c:pt>
                <c:pt idx="130">
                  <c:v>163.75</c:v>
                </c:pt>
                <c:pt idx="131">
                  <c:v>163.75</c:v>
                </c:pt>
                <c:pt idx="132">
                  <c:v>163.75</c:v>
                </c:pt>
                <c:pt idx="133">
                  <c:v>163.75</c:v>
                </c:pt>
                <c:pt idx="134">
                  <c:v>163.75</c:v>
                </c:pt>
                <c:pt idx="135">
                  <c:v>163.75</c:v>
                </c:pt>
                <c:pt idx="136">
                  <c:v>163.75</c:v>
                </c:pt>
                <c:pt idx="137">
                  <c:v>163.75</c:v>
                </c:pt>
                <c:pt idx="138">
                  <c:v>163.75</c:v>
                </c:pt>
                <c:pt idx="139">
                  <c:v>163.75</c:v>
                </c:pt>
                <c:pt idx="140">
                  <c:v>163.75</c:v>
                </c:pt>
              </c:numCache>
            </c:numRef>
          </c:yVal>
          <c:smooth val="0"/>
        </c:ser>
        <c:ser>
          <c:idx val="1"/>
          <c:order val="1"/>
          <c:tx>
            <c:strRef>
              <c:f>Sheet1!$C$1</c:f>
              <c:strCache>
                <c:ptCount val="1"/>
                <c:pt idx="0">
                  <c:v>Snowball 9%, 65% barrier</c:v>
                </c:pt>
              </c:strCache>
            </c:strRef>
          </c:tx>
          <c:spPr>
            <a:solidFill>
              <a:srgbClr val="B23B3B"/>
            </a:solidFill>
            <a:ln w="25400" cap="flat">
              <a:solidFill>
                <a:srgbClr val="B23B3B"/>
              </a:solidFill>
              <a:prstDash val="solid"/>
              <a:round/>
            </a:ln>
            <a:effectLst/>
          </c:spPr>
          <c:marker>
            <c:symbol val="none"/>
            <c:size val="6"/>
            <c:spPr>
              <a:solidFill>
                <a:srgbClr val="B23B3B"/>
              </a:solidFill>
              <a:ln w="9525" cap="flat">
                <a:solidFill>
                  <a:srgbClr val="B23B3B"/>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Sheet1!$C$2:$C$142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145</c:v>
                </c:pt>
                <c:pt idx="61">
                  <c:v>145</c:v>
                </c:pt>
                <c:pt idx="62">
                  <c:v>145</c:v>
                </c:pt>
                <c:pt idx="63">
                  <c:v>145</c:v>
                </c:pt>
                <c:pt idx="64">
                  <c:v>145</c:v>
                </c:pt>
                <c:pt idx="65">
                  <c:v>145</c:v>
                </c:pt>
                <c:pt idx="66">
                  <c:v>145</c:v>
                </c:pt>
                <c:pt idx="67">
                  <c:v>145</c:v>
                </c:pt>
                <c:pt idx="68">
                  <c:v>145</c:v>
                </c:pt>
                <c:pt idx="69">
                  <c:v>145</c:v>
                </c:pt>
                <c:pt idx="70">
                  <c:v>145</c:v>
                </c:pt>
                <c:pt idx="71">
                  <c:v>145</c:v>
                </c:pt>
                <c:pt idx="72">
                  <c:v>145</c:v>
                </c:pt>
                <c:pt idx="73">
                  <c:v>145</c:v>
                </c:pt>
                <c:pt idx="74">
                  <c:v>145</c:v>
                </c:pt>
                <c:pt idx="75">
                  <c:v>145</c:v>
                </c:pt>
                <c:pt idx="76">
                  <c:v>145</c:v>
                </c:pt>
                <c:pt idx="77">
                  <c:v>145</c:v>
                </c:pt>
                <c:pt idx="78">
                  <c:v>145</c:v>
                </c:pt>
                <c:pt idx="79">
                  <c:v>145</c:v>
                </c:pt>
                <c:pt idx="80">
                  <c:v>145</c:v>
                </c:pt>
                <c:pt idx="81">
                  <c:v>145</c:v>
                </c:pt>
                <c:pt idx="82">
                  <c:v>145</c:v>
                </c:pt>
                <c:pt idx="83">
                  <c:v>145</c:v>
                </c:pt>
                <c:pt idx="84">
                  <c:v>145</c:v>
                </c:pt>
                <c:pt idx="85">
                  <c:v>145</c:v>
                </c:pt>
                <c:pt idx="86">
                  <c:v>145</c:v>
                </c:pt>
                <c:pt idx="87">
                  <c:v>145</c:v>
                </c:pt>
                <c:pt idx="88">
                  <c:v>145</c:v>
                </c:pt>
                <c:pt idx="89">
                  <c:v>145</c:v>
                </c:pt>
                <c:pt idx="90">
                  <c:v>145</c:v>
                </c:pt>
                <c:pt idx="91">
                  <c:v>145</c:v>
                </c:pt>
                <c:pt idx="92">
                  <c:v>145</c:v>
                </c:pt>
                <c:pt idx="93">
                  <c:v>145</c:v>
                </c:pt>
                <c:pt idx="94">
                  <c:v>145</c:v>
                </c:pt>
                <c:pt idx="95">
                  <c:v>145</c:v>
                </c:pt>
                <c:pt idx="96">
                  <c:v>145</c:v>
                </c:pt>
                <c:pt idx="97">
                  <c:v>145</c:v>
                </c:pt>
                <c:pt idx="98">
                  <c:v>145</c:v>
                </c:pt>
                <c:pt idx="99">
                  <c:v>145</c:v>
                </c:pt>
                <c:pt idx="100">
                  <c:v>145</c:v>
                </c:pt>
                <c:pt idx="101">
                  <c:v>145</c:v>
                </c:pt>
                <c:pt idx="102">
                  <c:v>145</c:v>
                </c:pt>
                <c:pt idx="103">
                  <c:v>145</c:v>
                </c:pt>
                <c:pt idx="104">
                  <c:v>145</c:v>
                </c:pt>
                <c:pt idx="105">
                  <c:v>145</c:v>
                </c:pt>
                <c:pt idx="106">
                  <c:v>145</c:v>
                </c:pt>
                <c:pt idx="107">
                  <c:v>145</c:v>
                </c:pt>
                <c:pt idx="108">
                  <c:v>145</c:v>
                </c:pt>
                <c:pt idx="109">
                  <c:v>145</c:v>
                </c:pt>
                <c:pt idx="110">
                  <c:v>145</c:v>
                </c:pt>
                <c:pt idx="111">
                  <c:v>145</c:v>
                </c:pt>
                <c:pt idx="112">
                  <c:v>145</c:v>
                </c:pt>
                <c:pt idx="113">
                  <c:v>145</c:v>
                </c:pt>
                <c:pt idx="114">
                  <c:v>145</c:v>
                </c:pt>
                <c:pt idx="115">
                  <c:v>145</c:v>
                </c:pt>
                <c:pt idx="116">
                  <c:v>145</c:v>
                </c:pt>
                <c:pt idx="117">
                  <c:v>145</c:v>
                </c:pt>
                <c:pt idx="118">
                  <c:v>145</c:v>
                </c:pt>
                <c:pt idx="119">
                  <c:v>145</c:v>
                </c:pt>
                <c:pt idx="120">
                  <c:v>145</c:v>
                </c:pt>
                <c:pt idx="121">
                  <c:v>145</c:v>
                </c:pt>
                <c:pt idx="122">
                  <c:v>145</c:v>
                </c:pt>
                <c:pt idx="123">
                  <c:v>145</c:v>
                </c:pt>
                <c:pt idx="124">
                  <c:v>145</c:v>
                </c:pt>
                <c:pt idx="125">
                  <c:v>145</c:v>
                </c:pt>
                <c:pt idx="126">
                  <c:v>145</c:v>
                </c:pt>
                <c:pt idx="127">
                  <c:v>145</c:v>
                </c:pt>
                <c:pt idx="128">
                  <c:v>145</c:v>
                </c:pt>
                <c:pt idx="129">
                  <c:v>145</c:v>
                </c:pt>
                <c:pt idx="130">
                  <c:v>145</c:v>
                </c:pt>
                <c:pt idx="131">
                  <c:v>145</c:v>
                </c:pt>
                <c:pt idx="132">
                  <c:v>145</c:v>
                </c:pt>
                <c:pt idx="133">
                  <c:v>145</c:v>
                </c:pt>
                <c:pt idx="134">
                  <c:v>145</c:v>
                </c:pt>
                <c:pt idx="135">
                  <c:v>145</c:v>
                </c:pt>
                <c:pt idx="136">
                  <c:v>145</c:v>
                </c:pt>
                <c:pt idx="137">
                  <c:v>145</c:v>
                </c:pt>
                <c:pt idx="138">
                  <c:v>145</c:v>
                </c:pt>
                <c:pt idx="139">
                  <c:v>145</c:v>
                </c:pt>
                <c:pt idx="140">
                  <c:v>145</c:v>
                </c:pt>
              </c:numCache>
            </c:numRef>
          </c:yVal>
          <c:smooth val="0"/>
        </c:ser>
        <c:ser>
          <c:idx val="2"/>
          <c:order val="2"/>
          <c:tx>
            <c:strRef>
              <c:f>Sheet1!$D$1</c:f>
              <c:strCache>
                <c:ptCount val="1"/>
                <c:pt idx="0">
                  <c:v>PPN</c:v>
                </c:pt>
              </c:strCache>
            </c:strRef>
          </c:tx>
          <c:spPr>
            <a:solidFill>
              <a:srgbClr val="E67E22"/>
            </a:solidFill>
            <a:ln w="25400" cap="flat">
              <a:solidFill>
                <a:srgbClr val="E67E22"/>
              </a:solidFill>
              <a:prstDash val="solid"/>
              <a:round/>
            </a:ln>
            <a:effectLst/>
          </c:spPr>
          <c:marker>
            <c:symbol val="none"/>
            <c:size val="6"/>
            <c:spPr>
              <a:solidFill>
                <a:srgbClr val="E67E22"/>
              </a:solidFill>
              <a:ln w="9525" cap="flat">
                <a:solidFill>
                  <a:srgbClr val="E67E22"/>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Sheet1!$D$2:$D$142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100.837</c:v>
                </c:pt>
                <c:pt idx="62">
                  <c:v>101.674</c:v>
                </c:pt>
                <c:pt idx="63">
                  <c:v>102.511</c:v>
                </c:pt>
                <c:pt idx="64">
                  <c:v>103.348</c:v>
                </c:pt>
                <c:pt idx="65">
                  <c:v>104.185</c:v>
                </c:pt>
                <c:pt idx="66">
                  <c:v>105.022</c:v>
                </c:pt>
                <c:pt idx="67">
                  <c:v>105.859</c:v>
                </c:pt>
                <c:pt idx="68">
                  <c:v>106.696</c:v>
                </c:pt>
                <c:pt idx="69">
                  <c:v>107.533</c:v>
                </c:pt>
                <c:pt idx="70">
                  <c:v>108.37</c:v>
                </c:pt>
                <c:pt idx="71">
                  <c:v>109.207</c:v>
                </c:pt>
                <c:pt idx="72">
                  <c:v>110.044</c:v>
                </c:pt>
                <c:pt idx="73">
                  <c:v>110.881</c:v>
                </c:pt>
                <c:pt idx="74">
                  <c:v>111.718</c:v>
                </c:pt>
                <c:pt idx="75">
                  <c:v>112.555</c:v>
                </c:pt>
                <c:pt idx="76">
                  <c:v>113.392</c:v>
                </c:pt>
                <c:pt idx="77">
                  <c:v>114.229</c:v>
                </c:pt>
                <c:pt idx="78">
                  <c:v>115.066</c:v>
                </c:pt>
                <c:pt idx="79">
                  <c:v>115.90299999999999</c:v>
                </c:pt>
                <c:pt idx="80">
                  <c:v>116.74</c:v>
                </c:pt>
                <c:pt idx="81">
                  <c:v>117.577</c:v>
                </c:pt>
                <c:pt idx="82">
                  <c:v>118.414</c:v>
                </c:pt>
                <c:pt idx="83">
                  <c:v>119.251</c:v>
                </c:pt>
                <c:pt idx="84">
                  <c:v>120.088</c:v>
                </c:pt>
                <c:pt idx="85">
                  <c:v>120.925</c:v>
                </c:pt>
                <c:pt idx="86">
                  <c:v>121.762</c:v>
                </c:pt>
                <c:pt idx="87">
                  <c:v>122.599</c:v>
                </c:pt>
                <c:pt idx="88">
                  <c:v>123.436</c:v>
                </c:pt>
                <c:pt idx="89">
                  <c:v>124.273</c:v>
                </c:pt>
                <c:pt idx="90">
                  <c:v>125.11</c:v>
                </c:pt>
                <c:pt idx="91">
                  <c:v>125.947</c:v>
                </c:pt>
                <c:pt idx="92">
                  <c:v>126.78399999999999</c:v>
                </c:pt>
                <c:pt idx="93">
                  <c:v>127.621</c:v>
                </c:pt>
                <c:pt idx="94">
                  <c:v>128.458</c:v>
                </c:pt>
                <c:pt idx="95">
                  <c:v>129.295</c:v>
                </c:pt>
                <c:pt idx="96">
                  <c:v>130.132</c:v>
                </c:pt>
                <c:pt idx="97">
                  <c:v>130.969</c:v>
                </c:pt>
                <c:pt idx="98">
                  <c:v>131.80599999999998</c:v>
                </c:pt>
                <c:pt idx="99">
                  <c:v>132.643</c:v>
                </c:pt>
                <c:pt idx="100">
                  <c:v>133.48</c:v>
                </c:pt>
                <c:pt idx="101">
                  <c:v>134.317</c:v>
                </c:pt>
                <c:pt idx="102">
                  <c:v>135.154</c:v>
                </c:pt>
                <c:pt idx="103">
                  <c:v>135.99099999999999</c:v>
                </c:pt>
                <c:pt idx="104">
                  <c:v>136.828</c:v>
                </c:pt>
                <c:pt idx="105">
                  <c:v>137.665</c:v>
                </c:pt>
                <c:pt idx="106">
                  <c:v>138.502</c:v>
                </c:pt>
                <c:pt idx="107">
                  <c:v>139.339</c:v>
                </c:pt>
                <c:pt idx="108">
                  <c:v>140.176</c:v>
                </c:pt>
                <c:pt idx="109">
                  <c:v>141.013</c:v>
                </c:pt>
                <c:pt idx="110">
                  <c:v>141.85</c:v>
                </c:pt>
                <c:pt idx="111">
                  <c:v>142.687</c:v>
                </c:pt>
                <c:pt idx="112">
                  <c:v>143.524</c:v>
                </c:pt>
                <c:pt idx="113">
                  <c:v>144.361</c:v>
                </c:pt>
                <c:pt idx="114">
                  <c:v>145.198</c:v>
                </c:pt>
                <c:pt idx="115">
                  <c:v>146.035</c:v>
                </c:pt>
                <c:pt idx="116">
                  <c:v>146.872</c:v>
                </c:pt>
                <c:pt idx="117">
                  <c:v>147.709</c:v>
                </c:pt>
                <c:pt idx="118">
                  <c:v>148.546</c:v>
                </c:pt>
                <c:pt idx="119">
                  <c:v>149.38299999999998</c:v>
                </c:pt>
                <c:pt idx="120">
                  <c:v>150.22</c:v>
                </c:pt>
                <c:pt idx="121">
                  <c:v>151.057</c:v>
                </c:pt>
                <c:pt idx="122">
                  <c:v>151.894</c:v>
                </c:pt>
                <c:pt idx="123">
                  <c:v>152.731</c:v>
                </c:pt>
                <c:pt idx="124">
                  <c:v>153.56799999999998</c:v>
                </c:pt>
                <c:pt idx="125">
                  <c:v>154.405</c:v>
                </c:pt>
                <c:pt idx="126">
                  <c:v>155.242</c:v>
                </c:pt>
                <c:pt idx="127">
                  <c:v>156.079</c:v>
                </c:pt>
                <c:pt idx="128">
                  <c:v>156.916</c:v>
                </c:pt>
                <c:pt idx="129">
                  <c:v>157.753</c:v>
                </c:pt>
                <c:pt idx="130">
                  <c:v>158.59</c:v>
                </c:pt>
                <c:pt idx="131">
                  <c:v>159.427</c:v>
                </c:pt>
                <c:pt idx="132">
                  <c:v>160.264</c:v>
                </c:pt>
                <c:pt idx="133">
                  <c:v>161.101</c:v>
                </c:pt>
                <c:pt idx="134">
                  <c:v>161.938</c:v>
                </c:pt>
                <c:pt idx="135">
                  <c:v>162.775</c:v>
                </c:pt>
                <c:pt idx="136">
                  <c:v>163.612</c:v>
                </c:pt>
                <c:pt idx="137">
                  <c:v>164.449</c:v>
                </c:pt>
                <c:pt idx="138">
                  <c:v>165.286</c:v>
                </c:pt>
                <c:pt idx="139">
                  <c:v>166.123</c:v>
                </c:pt>
                <c:pt idx="140">
                  <c:v>166.95999999999998</c:v>
                </c:pt>
              </c:numCache>
            </c:numRef>
          </c:yVal>
          <c:smooth val="0"/>
        </c:ser>
        <c:ser>
          <c:idx val="3"/>
          <c:order val="3"/>
          <c:tx>
            <c:strRef>
              <c:f>Sheet1!$E$1</c:f>
              <c:strCache>
                <c:ptCount val="1"/>
                <c:pt idx="0">
                  <c:v>Basket</c:v>
                </c:pt>
              </c:strCache>
            </c:strRef>
          </c:tx>
          <c:spPr>
            <a:solidFill>
              <a:srgbClr val="A6A6A6"/>
            </a:solidFill>
            <a:ln w="25400" cap="flat">
              <a:solidFill>
                <a:srgbClr val="A6A6A6"/>
              </a:solidFill>
              <a:prstDash val="solid"/>
              <a:round/>
            </a:ln>
            <a:effectLst/>
          </c:spPr>
          <c:marker>
            <c:symbol val="none"/>
            <c:size val="6"/>
            <c:spPr>
              <a:solidFill>
                <a:srgbClr val="A6A6A6"/>
              </a:solidFill>
              <a:ln w="9525" cap="flat">
                <a:solidFill>
                  <a:srgbClr val="A6A6A6"/>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Sheet1!$E$2:$E$142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0"/>
          <c:min val="40"/>
        </c:scaling>
        <c:delete val="0"/>
        <c:axPos val="b"/>
        <c:numFmt formatCode="0&quot;%&quot;" sourceLinked="1"/>
        <c:majorTickMark val="none"/>
        <c:minorTickMark val="none"/>
        <c:tickLblPos val="nextTo"/>
        <c:spPr>
          <a:ln w="12700" cap="flat">
            <a:solidFill>
              <a:srgbClr val="A6A6A6"/>
            </a:solidFill>
            <a:prstDash val="solid"/>
            <a:round/>
          </a:ln>
        </c:spPr>
        <c:txPr>
          <a:bodyPr/>
          <a:lstStyle/>
          <a:p>
            <a:pPr>
              <a:defRPr sz="830" b="0" i="0" u="none" strike="noStrike">
                <a:solidFill>
                  <a:srgbClr val="595959"/>
                </a:solidFill>
                <a:latin typeface="Arial"/>
              </a:defRPr>
            </a:pPr>
            <a:endParaRPr lang="en-US"/>
          </a:p>
        </c:txPr>
        <c:crossAx val="2094734552"/>
        <c:crosses val="autoZero"/>
        <c:auto val="1"/>
        <c:lblAlgn val="ctr"/>
        <c:noMultiLvlLbl val="1"/>
        <c:majorUnit val="20"/>
      </c:valAx>
      <c:valAx>
        <c:axId val="2094734552"/>
        <c:scaling>
          <c:orientation val="minMax"/>
          <c:max val="190"/>
          <c:min val="30"/>
        </c:scaling>
        <c:delete val="0"/>
        <c:axPos val="l"/>
        <c:majorGridlines>
          <c:spPr>
            <a:ln w="6350" cap="flat">
              <a:solidFill>
                <a:srgbClr val="E3E3E3"/>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30" b="0" i="0" u="none" strike="noStrike">
                <a:solidFill>
                  <a:srgbClr val="595959"/>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78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a classic memory-coupon autocallable on five Asian ETFs covering the AI-hardware supply chain (pan-Asian and Japanese semiconductors, Taiwan, Korea) plus an ESG sleeve. It pays a coupon whenever the basket is at or above its starting level and catches up any missed coupons. If the basket never gets back to its start, the note repays the basket's level at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needs translate one-for-one into design features. The key insight: this is legacy money. The family wants growth and Asian tech exposure, and is willing to take equity risk on 5% of its wealth. That points us to a classic autocallable on a diversified basket: a double-digit coupon that rewards recovery and is never lost, thanks to memory, with capital usually back within about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(1) Structural: AI spending flows straight into Asian semiconductors: Taiwan makes the chips, Korea the memory, Japan the chip-making tools, plus an ESG-screened Taiwan sleeve. (2) Structuring: high USD rates and Asian volatility make option premium rich, and volatility makes the 100% coupon trigger likely to be hit, so we can pay a double-digit coupon.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thesis. Left: what we own. AI spending is a hardware boom and Asia holds the three bottlenecks: Taiwan's foundries, Korea's high-bandwidth memory, Japan's chip-making tools. Demand is structural, though the memory cycle is maturing. Right: why we hold it through an autocall now. The Fed's dot plot keeps rates high until 2028, so long bonds carry rate risk while an autocall redeems early; volatility is at records, so buy-and-hold must sit through violent swings while autocall coupons pay on recovery and are funded by option premium; the theme is concentrated and fully priced, so a diversified basket and a capped upside cost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Bloomberg-listed ETFs: 3119 HK (Asia semiconductors), 2644 JP (Japan semiconductors), EWT and EWY (US-listed Taiwan and Korea country funds) and 00878 TT (Taiwan ESG high dividend). EWT and EWY trade in USD, so no quanto is needed; the HKD, JPY and TWD lines are quantoed into USD. Check: 3119 trading value against the USD 5M/day rule, 2644 top holdings, and 00878 distributions (~7.6% a year), which reduce its price-return path and so the chance of the basket getting back to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design argument. Full protection is safe but pays under 8%. Removing all protection pays more but exposes the family to the whole drawdown in a crash. We choose the classic autocall: no barrier and no floor, so the family takes the basket's fall if the note is never called, in exchange for the highest coupon. Diversification and the memory coupon keep that outcome to about one path in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note as one question asked every quarter: is the basket at or above where it started? If yes, the family is paid 3.19% for that quarter plus any coupons missed before, and from Year 1 the note also ends with 100% back. If the note is never called, the payoff chart shows the two zones at Year 5: at or above 100% the family receives 163.8%; below 100% it is repaid at the basket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answers 'what if markets go nowhere?'. Even at 0% equity return the note is called in ~68% of paths, because volatility alone takes the basket back to 100% on some date. The honest cost of the higher coupon: in ~21% of paths (risk-neutral; 16% at 8% equity returns) the basket never gets back to its start and the family is repaid the basket's level, 56%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risks on the left, desk hedges on the right. The capital-loss line is explicit: if the note is never called, the family bears the basket's fall. The other honest risks are capped upside and Natixis credit. The 12.75% coupon sits below the 14.1% fair level in every sensitivity we ran, so the offer is robust to market moves before the trade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scenarios. The 2022-style path is the key one: a 30% drawdown in the first year that would scare a direct investor, yet the note pays all 15 quarterly coupons at once when the basket recovers at Q15. The two bad paths are the honest cost: if the basket never gets back to 100%, the family is repaid the basket's level (88% and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Mini-charts show each leg's payoff against the basket level (the autocall leg is illustrative: it shows the remaining coupon stream switching off). The short put is the key: the client sells Natixis a put on the basket at 100%, live only if the note is never called, and its premium funds the double-digit coupon.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7-1.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5F82"/>
        </a:solidFill>
      </p:bgPr>
    </p:bg>
    <p:spTree>
      <p:nvGrpSpPr>
        <p:cNvPr id="1" name=""/>
        <p:cNvGrpSpPr/>
        <p:nvPr/>
      </p:nvGrpSpPr>
      <p:grpSpPr>
        <a:xfrm>
          <a:off x="0" y="0"/>
          <a:ext cx="0" cy="0"/>
          <a:chOff x="0" y="0"/>
          <a:chExt cx="0" cy="0"/>
        </a:xfrm>
      </p:grpSpPr>
      <p:sp>
        <p:nvSpPr>
          <p:cNvPr id="2" name="Shape 0"/>
          <p:cNvSpPr/>
          <p:nvPr/>
        </p:nvSpPr>
        <p:spPr>
          <a:xfrm>
            <a:off x="5852160" y="-1280160"/>
            <a:ext cx="4937760" cy="4937760"/>
          </a:xfrm>
          <a:prstGeom prst="ellipse">
            <a:avLst/>
          </a:prstGeom>
          <a:solidFill>
            <a:srgbClr val="2C5F82">
              <a:alpha val="65000"/>
            </a:srgbClr>
          </a:solidFill>
          <a:ln/>
        </p:spPr>
      </p:sp>
      <p:sp>
        <p:nvSpPr>
          <p:cNvPr id="3" name="Shape 1"/>
          <p:cNvSpPr/>
          <p:nvPr/>
        </p:nvSpPr>
        <p:spPr>
          <a:xfrm>
            <a:off x="7589520" y="3200400"/>
            <a:ext cx="2194560" cy="2194560"/>
          </a:xfrm>
          <a:prstGeom prst="ellipse">
            <a:avLst/>
          </a:prstGeom>
          <a:solidFill>
            <a:srgbClr val="8DB3D1">
              <a:alpha val="75000"/>
            </a:srgbClr>
          </a:solidFill>
          <a:ln/>
        </p:spPr>
      </p:sp>
      <p:sp>
        <p:nvSpPr>
          <p:cNvPr id="4" name="Text 2"/>
          <p:cNvSpPr txBox="1"/>
          <p:nvPr/>
        </p:nvSpPr>
        <p:spPr>
          <a:xfrm>
            <a:off x="548640" y="548640"/>
            <a:ext cx="6858000" cy="320040"/>
          </a:xfrm>
          <a:prstGeom prst="rect">
            <a:avLst/>
          </a:prstGeom>
          <a:noFill/>
          <a:ln/>
        </p:spPr>
        <p:txBody>
          <a:bodyPr wrap="square" lIns="0" tIns="0" rIns="0" bIns="0" rtlCol="0" anchor="t"/>
          <a:lstStyle/>
          <a:p>
            <a:pPr indent="0" marL="0">
              <a:buNone/>
            </a:pPr>
            <a:r>
              <a:rPr lang="en-US" sz="1250" dirty="0">
                <a:solidFill>
                  <a:srgbClr val="BFDCD8"/>
                </a:solidFill>
                <a:latin typeface="Arial" pitchFamily="34" charset="0"/>
                <a:ea typeface="Arial" pitchFamily="34" charset="-122"/>
                <a:cs typeface="Arial" pitchFamily="34" charset="-120"/>
              </a:rPr>
              <a:t>Investment Strategy Challenge 2026 · Proposal for NKE Private Wealth (Chak family)</a:t>
            </a:r>
            <a:endParaRPr lang="en-US" sz="1250" dirty="0"/>
          </a:p>
        </p:txBody>
      </p:sp>
      <p:sp>
        <p:nvSpPr>
          <p:cNvPr id="5" name="Text 3"/>
          <p:cNvSpPr txBox="1"/>
          <p:nvPr/>
        </p:nvSpPr>
        <p:spPr>
          <a:xfrm>
            <a:off x="548640" y="960120"/>
            <a:ext cx="5669280" cy="160020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Asian Digital Transformation Autocallable Note</a:t>
            </a:r>
            <a:endParaRPr lang="en-US" sz="3400" dirty="0"/>
          </a:p>
        </p:txBody>
      </p:sp>
      <p:sp>
        <p:nvSpPr>
          <p:cNvPr id="6" name="Text 4"/>
          <p:cNvSpPr txBox="1"/>
          <p:nvPr/>
        </p:nvSpPr>
        <p:spPr>
          <a:xfrm>
            <a:off x="548640" y="2743200"/>
            <a:ext cx="5486400" cy="777240"/>
          </a:xfrm>
          <a:prstGeom prst="rect">
            <a:avLst/>
          </a:prstGeom>
          <a:noFill/>
          <a:ln/>
        </p:spPr>
        <p:txBody>
          <a:bodyPr wrap="square" lIns="0" tIns="0" rIns="0" bIns="0" rtlCol="0" anchor="t"/>
          <a:lstStyle/>
          <a:p>
            <a:pPr indent="0" marL="0">
              <a:buNone/>
            </a:pPr>
            <a:r>
              <a:rPr lang="en-US" sz="1500" i="1" dirty="0">
                <a:solidFill>
                  <a:srgbClr val="E3F1EF"/>
                </a:solidFill>
                <a:latin typeface="Arial" pitchFamily="34" charset="0"/>
                <a:ea typeface="Arial" pitchFamily="34" charset="-122"/>
                <a:cs typeface="Arial" pitchFamily="34" charset="-120"/>
              </a:rPr>
              <a:t>12.75% a year from Asia's semiconductor build-out, paid each quarter the basket is at or above its start</a:t>
            </a:r>
            <a:endParaRPr lang="en-US" sz="1500" dirty="0"/>
          </a:p>
        </p:txBody>
      </p:sp>
      <p:sp>
        <p:nvSpPr>
          <p:cNvPr id="7" name="Text 5"/>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150" b="1" dirty="0">
                <a:solidFill>
                  <a:srgbClr val="BFD7EA"/>
                </a:solidFill>
                <a:latin typeface="Arial" pitchFamily="34" charset="0"/>
                <a:ea typeface="Arial" pitchFamily="34" charset="-122"/>
                <a:cs typeface="Arial" pitchFamily="34" charset="-120"/>
              </a:rPr>
              <a:t>USD 100mn · 5-year note issued by Natixis · 12.75% p.a. memory coupon · autocall from Year 1 · Trade date 17 Sep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Agenda</a:t>
            </a:r>
            <a:endParaRPr lang="en-US" sz="1650" dirty="0"/>
          </a:p>
        </p:txBody>
      </p:sp>
      <p:sp>
        <p:nvSpPr>
          <p:cNvPr id="3" name="Shape 1"/>
          <p:cNvSpPr/>
          <p:nvPr/>
        </p:nvSpPr>
        <p:spPr>
          <a:xfrm>
            <a:off x="342900" y="672084"/>
            <a:ext cx="8458200" cy="0"/>
          </a:xfrm>
          <a:prstGeom prst="line">
            <a:avLst/>
          </a:prstGeom>
          <a:noFill/>
          <a:ln w="9525">
            <a:solidFill>
              <a:srgbClr val="2C5F82"/>
            </a:solidFill>
            <a:prstDash val="solid"/>
          </a:ln>
        </p:spPr>
      </p:sp>
      <p:sp>
        <p:nvSpPr>
          <p:cNvPr id="4" name="Shape 2"/>
          <p:cNvSpPr/>
          <p:nvPr/>
        </p:nvSpPr>
        <p:spPr>
          <a:xfrm>
            <a:off x="548640" y="915543"/>
            <a:ext cx="457200" cy="445770"/>
          </a:xfrm>
          <a:prstGeom prst="ellipse">
            <a:avLst/>
          </a:prstGeom>
          <a:solidFill>
            <a:srgbClr val="2C5F82"/>
          </a:solidFill>
          <a:ln/>
        </p:spPr>
      </p:sp>
      <p:sp>
        <p:nvSpPr>
          <p:cNvPr id="5" name="Text 3"/>
          <p:cNvSpPr txBox="1"/>
          <p:nvPr/>
        </p:nvSpPr>
        <p:spPr>
          <a:xfrm>
            <a:off x="548640" y="915543"/>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234440" y="870966"/>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Client &amp; market</a:t>
            </a:r>
            <a:endParaRPr lang="en-US" sz="1470" dirty="0"/>
          </a:p>
        </p:txBody>
      </p:sp>
      <p:sp>
        <p:nvSpPr>
          <p:cNvPr id="7" name="Text 5"/>
          <p:cNvSpPr txBox="1"/>
          <p:nvPr/>
        </p:nvSpPr>
        <p:spPr>
          <a:xfrm>
            <a:off x="1234440" y="1165174"/>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Who the Chak family is, what they need, and why Asia's digital build-out now</a:t>
            </a:r>
            <a:endParaRPr lang="en-US" sz="1060" dirty="0"/>
          </a:p>
        </p:txBody>
      </p:sp>
      <p:sp>
        <p:nvSpPr>
          <p:cNvPr id="8" name="Text 6"/>
          <p:cNvSpPr txBox="1"/>
          <p:nvPr/>
        </p:nvSpPr>
        <p:spPr>
          <a:xfrm>
            <a:off x="7315200" y="942289"/>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Slides 1–2</a:t>
            </a:r>
            <a:endParaRPr lang="en-US" sz="1010" dirty="0"/>
          </a:p>
        </p:txBody>
      </p:sp>
      <p:sp>
        <p:nvSpPr>
          <p:cNvPr id="9" name="Shape 7"/>
          <p:cNvSpPr/>
          <p:nvPr/>
        </p:nvSpPr>
        <p:spPr>
          <a:xfrm>
            <a:off x="548640" y="1539621"/>
            <a:ext cx="457200" cy="445770"/>
          </a:xfrm>
          <a:prstGeom prst="ellipse">
            <a:avLst/>
          </a:prstGeom>
          <a:solidFill>
            <a:srgbClr val="4F86AE"/>
          </a:solidFill>
          <a:ln/>
        </p:spPr>
      </p:sp>
      <p:sp>
        <p:nvSpPr>
          <p:cNvPr id="10" name="Text 8"/>
          <p:cNvSpPr txBox="1"/>
          <p:nvPr/>
        </p:nvSpPr>
        <p:spPr>
          <a:xfrm>
            <a:off x="548640" y="1539621"/>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9"/>
          <p:cNvSpPr txBox="1"/>
          <p:nvPr/>
        </p:nvSpPr>
        <p:spPr>
          <a:xfrm>
            <a:off x="1234440" y="1495044"/>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Investment thesis &amp; strategy</a:t>
            </a:r>
            <a:endParaRPr lang="en-US" sz="1470" dirty="0"/>
          </a:p>
        </p:txBody>
      </p:sp>
      <p:sp>
        <p:nvSpPr>
          <p:cNvPr id="12" name="Text 10"/>
          <p:cNvSpPr txBox="1"/>
          <p:nvPr/>
        </p:nvSpPr>
        <p:spPr>
          <a:xfrm>
            <a:off x="1234440" y="1789252"/>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Why Asian AI hardware, why an autocall now, our five-ETF weights and their 5-year simulation</a:t>
            </a:r>
            <a:endParaRPr lang="en-US" sz="1060" dirty="0"/>
          </a:p>
        </p:txBody>
      </p:sp>
      <p:sp>
        <p:nvSpPr>
          <p:cNvPr id="13" name="Text 11"/>
          <p:cNvSpPr txBox="1"/>
          <p:nvPr/>
        </p:nvSpPr>
        <p:spPr>
          <a:xfrm>
            <a:off x="7315200" y="1566367"/>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Slides 3–5</a:t>
            </a:r>
            <a:endParaRPr lang="en-US" sz="1010" dirty="0"/>
          </a:p>
        </p:txBody>
      </p:sp>
      <p:sp>
        <p:nvSpPr>
          <p:cNvPr id="14" name="Shape 12"/>
          <p:cNvSpPr/>
          <p:nvPr/>
        </p:nvSpPr>
        <p:spPr>
          <a:xfrm>
            <a:off x="548640" y="2163699"/>
            <a:ext cx="457200" cy="445770"/>
          </a:xfrm>
          <a:prstGeom prst="ellipse">
            <a:avLst/>
          </a:prstGeom>
          <a:solidFill>
            <a:srgbClr val="2C5F82"/>
          </a:solidFill>
          <a:ln/>
        </p:spPr>
      </p:sp>
      <p:sp>
        <p:nvSpPr>
          <p:cNvPr id="15" name="Text 13"/>
          <p:cNvSpPr txBox="1"/>
          <p:nvPr/>
        </p:nvSpPr>
        <p:spPr>
          <a:xfrm>
            <a:off x="548640" y="2163699"/>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6" name="Text 14"/>
          <p:cNvSpPr txBox="1"/>
          <p:nvPr/>
        </p:nvSpPr>
        <p:spPr>
          <a:xfrm>
            <a:off x="1234440" y="2119122"/>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Product design</a:t>
            </a:r>
            <a:endParaRPr lang="en-US" sz="1470" dirty="0"/>
          </a:p>
        </p:txBody>
      </p:sp>
      <p:sp>
        <p:nvSpPr>
          <p:cNvPr id="17" name="Text 15"/>
          <p:cNvSpPr txBox="1"/>
          <p:nvPr/>
        </p:nvSpPr>
        <p:spPr>
          <a:xfrm>
            <a:off x="1234440" y="2413330"/>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Underlying basket, term sheet, and why a classic memory-coupon autocallable</a:t>
            </a:r>
            <a:endParaRPr lang="en-US" sz="1060" dirty="0"/>
          </a:p>
        </p:txBody>
      </p:sp>
      <p:sp>
        <p:nvSpPr>
          <p:cNvPr id="18" name="Text 16"/>
          <p:cNvSpPr txBox="1"/>
          <p:nvPr/>
        </p:nvSpPr>
        <p:spPr>
          <a:xfrm>
            <a:off x="7315200" y="2190445"/>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Slides 6–7</a:t>
            </a:r>
            <a:endParaRPr lang="en-US" sz="1010" dirty="0"/>
          </a:p>
        </p:txBody>
      </p:sp>
      <p:sp>
        <p:nvSpPr>
          <p:cNvPr id="19" name="Shape 17"/>
          <p:cNvSpPr/>
          <p:nvPr/>
        </p:nvSpPr>
        <p:spPr>
          <a:xfrm>
            <a:off x="548640" y="2787777"/>
            <a:ext cx="457200" cy="445770"/>
          </a:xfrm>
          <a:prstGeom prst="ellipse">
            <a:avLst/>
          </a:prstGeom>
          <a:solidFill>
            <a:srgbClr val="4F86AE"/>
          </a:solidFill>
          <a:ln/>
        </p:spPr>
      </p:sp>
      <p:sp>
        <p:nvSpPr>
          <p:cNvPr id="20" name="Text 18"/>
          <p:cNvSpPr txBox="1"/>
          <p:nvPr/>
        </p:nvSpPr>
        <p:spPr>
          <a:xfrm>
            <a:off x="548640" y="2787777"/>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1" name="Text 19"/>
          <p:cNvSpPr txBox="1"/>
          <p:nvPr/>
        </p:nvSpPr>
        <p:spPr>
          <a:xfrm>
            <a:off x="1234440" y="2743200"/>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Payoffs explained</a:t>
            </a:r>
            <a:endParaRPr lang="en-US" sz="1470" dirty="0"/>
          </a:p>
        </p:txBody>
      </p:sp>
      <p:sp>
        <p:nvSpPr>
          <p:cNvPr id="22" name="Text 20"/>
          <p:cNvSpPr txBox="1"/>
          <p:nvPr/>
        </p:nvSpPr>
        <p:spPr>
          <a:xfrm>
            <a:off x="1234440" y="3037408"/>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Observation timeline and the three outcomes at maturity (building blocks in the appendix)</a:t>
            </a:r>
            <a:endParaRPr lang="en-US" sz="1060" dirty="0"/>
          </a:p>
        </p:txBody>
      </p:sp>
      <p:sp>
        <p:nvSpPr>
          <p:cNvPr id="23" name="Text 21"/>
          <p:cNvSpPr txBox="1"/>
          <p:nvPr/>
        </p:nvSpPr>
        <p:spPr>
          <a:xfrm>
            <a:off x="7315200" y="2814523"/>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 8</a:t>
            </a:r>
            <a:endParaRPr lang="en-US" sz="1010" dirty="0"/>
          </a:p>
        </p:txBody>
      </p:sp>
      <p:sp>
        <p:nvSpPr>
          <p:cNvPr id="24" name="Shape 22"/>
          <p:cNvSpPr/>
          <p:nvPr/>
        </p:nvSpPr>
        <p:spPr>
          <a:xfrm>
            <a:off x="548640" y="3411855"/>
            <a:ext cx="457200" cy="445770"/>
          </a:xfrm>
          <a:prstGeom prst="ellipse">
            <a:avLst/>
          </a:prstGeom>
          <a:solidFill>
            <a:srgbClr val="2C5F82"/>
          </a:solidFill>
          <a:ln/>
        </p:spPr>
      </p:sp>
      <p:sp>
        <p:nvSpPr>
          <p:cNvPr id="25" name="Text 23"/>
          <p:cNvSpPr txBox="1"/>
          <p:nvPr/>
        </p:nvSpPr>
        <p:spPr>
          <a:xfrm>
            <a:off x="548640" y="3411855"/>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6" name="Text 24"/>
          <p:cNvSpPr txBox="1"/>
          <p:nvPr/>
        </p:nvSpPr>
        <p:spPr>
          <a:xfrm>
            <a:off x="1234440" y="3367278"/>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Simulation</a:t>
            </a:r>
            <a:endParaRPr lang="en-US" sz="1470" dirty="0"/>
          </a:p>
        </p:txBody>
      </p:sp>
      <p:sp>
        <p:nvSpPr>
          <p:cNvPr id="27" name="Text 25"/>
          <p:cNvSpPr txBox="1"/>
          <p:nvPr/>
        </p:nvSpPr>
        <p:spPr>
          <a:xfrm>
            <a:off x="1234440" y="3661486"/>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Monte Carlo outcome distribution of the note (stress paths in the appendix)</a:t>
            </a:r>
            <a:endParaRPr lang="en-US" sz="1060" dirty="0"/>
          </a:p>
        </p:txBody>
      </p:sp>
      <p:sp>
        <p:nvSpPr>
          <p:cNvPr id="28" name="Text 26"/>
          <p:cNvSpPr txBox="1"/>
          <p:nvPr/>
        </p:nvSpPr>
        <p:spPr>
          <a:xfrm>
            <a:off x="7315200" y="3438601"/>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 9</a:t>
            </a:r>
            <a:endParaRPr lang="en-US" sz="1010" dirty="0"/>
          </a:p>
        </p:txBody>
      </p:sp>
      <p:sp>
        <p:nvSpPr>
          <p:cNvPr id="29" name="Shape 27"/>
          <p:cNvSpPr/>
          <p:nvPr/>
        </p:nvSpPr>
        <p:spPr>
          <a:xfrm>
            <a:off x="548640" y="4035933"/>
            <a:ext cx="457200" cy="445770"/>
          </a:xfrm>
          <a:prstGeom prst="ellipse">
            <a:avLst/>
          </a:prstGeom>
          <a:solidFill>
            <a:srgbClr val="4F86AE"/>
          </a:solidFill>
          <a:ln/>
        </p:spPr>
      </p:sp>
      <p:sp>
        <p:nvSpPr>
          <p:cNvPr id="30" name="Text 28"/>
          <p:cNvSpPr txBox="1"/>
          <p:nvPr/>
        </p:nvSpPr>
        <p:spPr>
          <a:xfrm>
            <a:off x="548640" y="4035933"/>
            <a:ext cx="457200" cy="44577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1234440" y="3991356"/>
            <a:ext cx="4572000" cy="285293"/>
          </a:xfrm>
          <a:prstGeom prst="rect">
            <a:avLst/>
          </a:prstGeom>
          <a:noFill/>
          <a:ln/>
        </p:spPr>
        <p:txBody>
          <a:bodyPr wrap="square" lIns="0" tIns="0" rIns="0" bIns="0" rtlCol="0" anchor="t"/>
          <a:lstStyle/>
          <a:p>
            <a:pPr indent="0" marL="0">
              <a:buNone/>
            </a:pPr>
            <a:r>
              <a:rPr lang="en-US" sz="1470" b="1" dirty="0">
                <a:solidFill>
                  <a:srgbClr val="2C5F82"/>
                </a:solidFill>
                <a:latin typeface="Arial" pitchFamily="34" charset="0"/>
                <a:ea typeface="Arial" pitchFamily="34" charset="-122"/>
                <a:cs typeface="Arial" pitchFamily="34" charset="-120"/>
              </a:rPr>
              <a:t>Risks &amp; hedging</a:t>
            </a:r>
            <a:endParaRPr lang="en-US" sz="1470" dirty="0"/>
          </a:p>
        </p:txBody>
      </p:sp>
      <p:sp>
        <p:nvSpPr>
          <p:cNvPr id="32" name="Text 30"/>
          <p:cNvSpPr txBox="1"/>
          <p:nvPr/>
        </p:nvSpPr>
        <p:spPr>
          <a:xfrm>
            <a:off x="1234440" y="4285564"/>
            <a:ext cx="6400800" cy="267462"/>
          </a:xfrm>
          <a:prstGeom prst="rect">
            <a:avLst/>
          </a:prstGeom>
          <a:noFill/>
          <a:ln/>
        </p:spPr>
        <p:txBody>
          <a:bodyPr wrap="square" lIns="0" tIns="0" rIns="0" bIns="0" rtlCol="0" anchor="t"/>
          <a:lstStyle/>
          <a:p>
            <a:pPr indent="0" marL="0">
              <a:buNone/>
            </a:pPr>
            <a:r>
              <a:rPr lang="en-US" sz="1060" dirty="0">
                <a:solidFill>
                  <a:srgbClr val="595959"/>
                </a:solidFill>
                <a:latin typeface="Arial" pitchFamily="34" charset="0"/>
                <a:ea typeface="Arial" pitchFamily="34" charset="-122"/>
                <a:cs typeface="Arial" pitchFamily="34" charset="-120"/>
              </a:rPr>
              <a:t>Investor risks, mitigants, and how the Natixis desk hedges</a:t>
            </a:r>
            <a:endParaRPr lang="en-US" sz="1060" dirty="0"/>
          </a:p>
        </p:txBody>
      </p:sp>
      <p:sp>
        <p:nvSpPr>
          <p:cNvPr id="33" name="Text 31"/>
          <p:cNvSpPr txBox="1"/>
          <p:nvPr/>
        </p:nvSpPr>
        <p:spPr>
          <a:xfrm>
            <a:off x="7315200" y="4062679"/>
            <a:ext cx="1371600" cy="267462"/>
          </a:xfrm>
          <a:prstGeom prst="rect">
            <a:avLst/>
          </a:prstGeom>
          <a:noFill/>
          <a:ln/>
        </p:spPr>
        <p:txBody>
          <a:bodyPr wrap="square" lIns="0" tIns="0" rIns="0" bIns="0" rtlCol="0" anchor="t"/>
          <a:lstStyle/>
          <a:p>
            <a:pPr algn="r" indent="0" marL="0">
              <a:buNone/>
            </a:pPr>
            <a:r>
              <a:rPr lang="en-US" sz="1010" dirty="0">
                <a:solidFill>
                  <a:srgbClr val="595959"/>
                </a:solidFill>
                <a:latin typeface="Arial" pitchFamily="34" charset="0"/>
                <a:ea typeface="Arial" pitchFamily="34" charset="-122"/>
                <a:cs typeface="Arial" pitchFamily="34" charset="-120"/>
              </a:rPr>
              <a:t>Slide 10</a:t>
            </a:r>
            <a:endParaRPr lang="en-US" sz="101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Executive summary</a:t>
            </a:r>
            <a:endParaRPr lang="en-US" sz="1650" dirty="0"/>
          </a:p>
        </p:txBody>
      </p:sp>
      <p:sp>
        <p:nvSpPr>
          <p:cNvPr id="3" name="Shape 1"/>
          <p:cNvSpPr/>
          <p:nvPr/>
        </p:nvSpPr>
        <p:spPr>
          <a:xfrm>
            <a:off x="342900" y="672084"/>
            <a:ext cx="8458200" cy="0"/>
          </a:xfrm>
          <a:prstGeom prst="line">
            <a:avLst/>
          </a:prstGeom>
          <a:noFill/>
          <a:ln w="9525">
            <a:solidFill>
              <a:srgbClr val="2C5F82"/>
            </a:solidFill>
            <a:prstDash val="solid"/>
          </a:ln>
        </p:spPr>
      </p:sp>
      <p:sp>
        <p:nvSpPr>
          <p:cNvPr id="4" name="Text 2"/>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One note that turns the family's view on Asian AI hardware into double-digit income</a:t>
            </a:r>
            <a:endParaRPr lang="en-US" sz="850" dirty="0"/>
          </a:p>
        </p:txBody>
      </p:sp>
      <p:sp>
        <p:nvSpPr>
          <p:cNvPr id="5" name="Shape 3"/>
          <p:cNvSpPr/>
          <p:nvPr/>
        </p:nvSpPr>
        <p:spPr>
          <a:xfrm>
            <a:off x="457200" y="1138428"/>
            <a:ext cx="2606040" cy="2050542"/>
          </a:xfrm>
          <a:prstGeom prst="rect">
            <a:avLst/>
          </a:prstGeom>
          <a:solidFill>
            <a:srgbClr val="E8EFF5"/>
          </a:solidFill>
          <a:ln w="12700">
            <a:solidFill>
              <a:srgbClr val="E8EFF5"/>
            </a:solidFill>
            <a:prstDash val="solid"/>
          </a:ln>
        </p:spPr>
      </p:sp>
      <p:sp>
        <p:nvSpPr>
          <p:cNvPr id="6" name="Text 4"/>
          <p:cNvSpPr txBox="1"/>
          <p:nvPr/>
        </p:nvSpPr>
        <p:spPr>
          <a:xfrm>
            <a:off x="658368" y="1254328"/>
            <a:ext cx="2240280" cy="713232"/>
          </a:xfrm>
          <a:prstGeom prst="rect">
            <a:avLst/>
          </a:prstGeom>
          <a:noFill/>
          <a:ln/>
        </p:spPr>
        <p:txBody>
          <a:bodyPr wrap="square" lIns="0" tIns="0" rIns="0" bIns="0" rtlCol="0" anchor="ctr"/>
          <a:lstStyle/>
          <a:p>
            <a:pPr indent="0" marL="0">
              <a:buNone/>
            </a:pPr>
            <a:r>
              <a:rPr lang="en-US" sz="3500" b="1" dirty="0">
                <a:solidFill>
                  <a:srgbClr val="2C5F82"/>
                </a:solidFill>
                <a:latin typeface="Arial" pitchFamily="34" charset="0"/>
                <a:ea typeface="Arial" pitchFamily="34" charset="-122"/>
                <a:cs typeface="Arial" pitchFamily="34" charset="-120"/>
              </a:rPr>
              <a:t>12.75%</a:t>
            </a:r>
            <a:endParaRPr lang="en-US" sz="3500" dirty="0"/>
          </a:p>
        </p:txBody>
      </p:sp>
      <p:sp>
        <p:nvSpPr>
          <p:cNvPr id="7" name="Text 5"/>
          <p:cNvSpPr txBox="1"/>
          <p:nvPr/>
        </p:nvSpPr>
        <p:spPr>
          <a:xfrm>
            <a:off x="658368" y="1985391"/>
            <a:ext cx="2240280" cy="285293"/>
          </a:xfrm>
          <a:prstGeom prst="rect">
            <a:avLst/>
          </a:prstGeom>
          <a:noFill/>
          <a:ln/>
        </p:spPr>
        <p:txBody>
          <a:bodyPr wrap="square" lIns="0" tIns="0" rIns="0" bIns="0" rtlCol="0" anchor="t"/>
          <a:lstStyle/>
          <a:p>
            <a:pPr indent="0" marL="0">
              <a:buNone/>
            </a:pPr>
            <a:r>
              <a:rPr lang="en-US" sz="1200" b="1" dirty="0">
                <a:solidFill>
                  <a:srgbClr val="2C5F82"/>
                </a:solidFill>
                <a:latin typeface="Arial" pitchFamily="34" charset="0"/>
                <a:ea typeface="Arial" pitchFamily="34" charset="-122"/>
                <a:cs typeface="Arial" pitchFamily="34" charset="-120"/>
              </a:rPr>
              <a:t>Memory coupon p.a.</a:t>
            </a:r>
            <a:endParaRPr lang="en-US" sz="1200" dirty="0"/>
          </a:p>
        </p:txBody>
      </p:sp>
      <p:sp>
        <p:nvSpPr>
          <p:cNvPr id="8" name="Text 6"/>
          <p:cNvSpPr txBox="1"/>
          <p:nvPr/>
        </p:nvSpPr>
        <p:spPr>
          <a:xfrm>
            <a:off x="658368" y="2297430"/>
            <a:ext cx="2240280" cy="846963"/>
          </a:xfrm>
          <a:prstGeom prst="rect">
            <a:avLst/>
          </a:prstGeom>
          <a:noFill/>
          <a:ln/>
        </p:spPr>
        <p:txBody>
          <a:bodyPr wrap="square" lIns="0" tIns="0" rIns="0" bIns="0" rtlCol="0" anchor="t"/>
          <a:lstStyle/>
          <a:p>
            <a:pPr indent="0" marL="0">
              <a:buNone/>
            </a:pPr>
            <a:r>
              <a:rPr lang="en-US" sz="970" dirty="0">
                <a:solidFill>
                  <a:srgbClr val="595959"/>
                </a:solidFill>
                <a:latin typeface="Arial" pitchFamily="34" charset="0"/>
                <a:ea typeface="Arial" pitchFamily="34" charset="-122"/>
                <a:cs typeface="Arial" pitchFamily="34" charset="-120"/>
              </a:rPr>
              <a:t>3.19% each quarter the basket is ≥ 100%; missed coupons are paid later when it recovers</a:t>
            </a:r>
            <a:endParaRPr lang="en-US" sz="970" dirty="0"/>
          </a:p>
        </p:txBody>
      </p:sp>
      <p:sp>
        <p:nvSpPr>
          <p:cNvPr id="9" name="Shape 7"/>
          <p:cNvSpPr/>
          <p:nvPr/>
        </p:nvSpPr>
        <p:spPr>
          <a:xfrm>
            <a:off x="3246120" y="1138428"/>
            <a:ext cx="2606040" cy="2050542"/>
          </a:xfrm>
          <a:prstGeom prst="rect">
            <a:avLst/>
          </a:prstGeom>
          <a:solidFill>
            <a:srgbClr val="E8EFF5"/>
          </a:solidFill>
          <a:ln w="12700">
            <a:solidFill>
              <a:srgbClr val="E8EFF5"/>
            </a:solidFill>
            <a:prstDash val="solid"/>
          </a:ln>
        </p:spPr>
      </p:sp>
      <p:sp>
        <p:nvSpPr>
          <p:cNvPr id="10" name="Text 8"/>
          <p:cNvSpPr txBox="1"/>
          <p:nvPr/>
        </p:nvSpPr>
        <p:spPr>
          <a:xfrm>
            <a:off x="3447288" y="1254328"/>
            <a:ext cx="2240280" cy="713232"/>
          </a:xfrm>
          <a:prstGeom prst="rect">
            <a:avLst/>
          </a:prstGeom>
          <a:noFill/>
          <a:ln/>
        </p:spPr>
        <p:txBody>
          <a:bodyPr wrap="square" lIns="0" tIns="0" rIns="0" bIns="0" rtlCol="0" anchor="ctr"/>
          <a:lstStyle/>
          <a:p>
            <a:pPr indent="0" marL="0">
              <a:buNone/>
            </a:pPr>
            <a:r>
              <a:rPr lang="en-US" sz="3500" b="1" dirty="0">
                <a:solidFill>
                  <a:srgbClr val="B23B3B"/>
                </a:solidFill>
                <a:latin typeface="Arial" pitchFamily="34" charset="0"/>
                <a:ea typeface="Arial" pitchFamily="34" charset="-122"/>
                <a:cs typeface="Arial" pitchFamily="34" charset="-120"/>
              </a:rPr>
              <a:t>21%</a:t>
            </a:r>
            <a:endParaRPr lang="en-US" sz="3500" dirty="0"/>
          </a:p>
        </p:txBody>
      </p:sp>
      <p:sp>
        <p:nvSpPr>
          <p:cNvPr id="11" name="Text 9"/>
          <p:cNvSpPr txBox="1"/>
          <p:nvPr/>
        </p:nvSpPr>
        <p:spPr>
          <a:xfrm>
            <a:off x="3447288" y="1985391"/>
            <a:ext cx="2240280" cy="285293"/>
          </a:xfrm>
          <a:prstGeom prst="rect">
            <a:avLst/>
          </a:prstGeom>
          <a:noFill/>
          <a:ln/>
        </p:spPr>
        <p:txBody>
          <a:bodyPr wrap="square" lIns="0" tIns="0" rIns="0" bIns="0" rtlCol="0" anchor="t"/>
          <a:lstStyle/>
          <a:p>
            <a:pPr indent="0" marL="0">
              <a:buNone/>
            </a:pPr>
            <a:r>
              <a:rPr lang="en-US" sz="1200" b="1" dirty="0">
                <a:solidFill>
                  <a:srgbClr val="2C5F82"/>
                </a:solidFill>
                <a:latin typeface="Arial" pitchFamily="34" charset="0"/>
                <a:ea typeface="Arial" pitchFamily="34" charset="-122"/>
                <a:cs typeface="Arial" pitchFamily="34" charset="-120"/>
              </a:rPr>
              <a:t>Chance of a loss</a:t>
            </a:r>
            <a:endParaRPr lang="en-US" sz="1200" dirty="0"/>
          </a:p>
        </p:txBody>
      </p:sp>
      <p:sp>
        <p:nvSpPr>
          <p:cNvPr id="12" name="Text 10"/>
          <p:cNvSpPr txBox="1"/>
          <p:nvPr/>
        </p:nvSpPr>
        <p:spPr>
          <a:xfrm>
            <a:off x="3447288" y="2297430"/>
            <a:ext cx="2240280" cy="846963"/>
          </a:xfrm>
          <a:prstGeom prst="rect">
            <a:avLst/>
          </a:prstGeom>
          <a:noFill/>
          <a:ln/>
        </p:spPr>
        <p:txBody>
          <a:bodyPr wrap="square" lIns="0" tIns="0" rIns="0" bIns="0" rtlCol="0" anchor="t"/>
          <a:lstStyle/>
          <a:p>
            <a:pPr indent="0" marL="0">
              <a:buNone/>
            </a:pPr>
            <a:r>
              <a:rPr lang="en-US" sz="970" dirty="0">
                <a:solidFill>
                  <a:srgbClr val="595959"/>
                </a:solidFill>
                <a:latin typeface="Arial" pitchFamily="34" charset="0"/>
                <a:ea typeface="Arial" pitchFamily="34" charset="-122"/>
                <a:cs typeface="Arial" pitchFamily="34" charset="-120"/>
              </a:rPr>
              <a:t>If never called, repaid at the basket level (on average 56% back): the price of the higher coupon</a:t>
            </a:r>
            <a:endParaRPr lang="en-US" sz="970" dirty="0"/>
          </a:p>
        </p:txBody>
      </p:sp>
      <p:sp>
        <p:nvSpPr>
          <p:cNvPr id="13" name="Shape 11"/>
          <p:cNvSpPr/>
          <p:nvPr/>
        </p:nvSpPr>
        <p:spPr>
          <a:xfrm>
            <a:off x="6035040" y="1138428"/>
            <a:ext cx="2606040" cy="2050542"/>
          </a:xfrm>
          <a:prstGeom prst="rect">
            <a:avLst/>
          </a:prstGeom>
          <a:solidFill>
            <a:srgbClr val="E8EFF5"/>
          </a:solidFill>
          <a:ln w="12700">
            <a:solidFill>
              <a:srgbClr val="E8EFF5"/>
            </a:solidFill>
            <a:prstDash val="solid"/>
          </a:ln>
        </p:spPr>
      </p:sp>
      <p:sp>
        <p:nvSpPr>
          <p:cNvPr id="14" name="Text 12"/>
          <p:cNvSpPr txBox="1"/>
          <p:nvPr/>
        </p:nvSpPr>
        <p:spPr>
          <a:xfrm>
            <a:off x="6236208" y="1254328"/>
            <a:ext cx="2240280" cy="713232"/>
          </a:xfrm>
          <a:prstGeom prst="rect">
            <a:avLst/>
          </a:prstGeom>
          <a:noFill/>
          <a:ln/>
        </p:spPr>
        <p:txBody>
          <a:bodyPr wrap="square" lIns="0" tIns="0" rIns="0" bIns="0" rtlCol="0" anchor="ctr"/>
          <a:lstStyle/>
          <a:p>
            <a:pPr indent="0" marL="0">
              <a:buNone/>
            </a:pPr>
            <a:r>
              <a:rPr lang="en-US" sz="3500" b="1" dirty="0">
                <a:solidFill>
                  <a:srgbClr val="2C5F82"/>
                </a:solidFill>
                <a:latin typeface="Arial" pitchFamily="34" charset="0"/>
                <a:ea typeface="Arial" pitchFamily="34" charset="-122"/>
                <a:cs typeface="Arial" pitchFamily="34" charset="-120"/>
              </a:rPr>
              <a:t>49%</a:t>
            </a:r>
            <a:endParaRPr lang="en-US" sz="3500" dirty="0"/>
          </a:p>
        </p:txBody>
      </p:sp>
      <p:sp>
        <p:nvSpPr>
          <p:cNvPr id="15" name="Text 13"/>
          <p:cNvSpPr txBox="1"/>
          <p:nvPr/>
        </p:nvSpPr>
        <p:spPr>
          <a:xfrm>
            <a:off x="6236208" y="1985391"/>
            <a:ext cx="2240280" cy="285293"/>
          </a:xfrm>
          <a:prstGeom prst="rect">
            <a:avLst/>
          </a:prstGeom>
          <a:noFill/>
          <a:ln/>
        </p:spPr>
        <p:txBody>
          <a:bodyPr wrap="square" lIns="0" tIns="0" rIns="0" bIns="0" rtlCol="0" anchor="t"/>
          <a:lstStyle/>
          <a:p>
            <a:pPr indent="0" marL="0">
              <a:buNone/>
            </a:pPr>
            <a:r>
              <a:rPr lang="en-US" sz="1200" b="1" dirty="0">
                <a:solidFill>
                  <a:srgbClr val="2C5F82"/>
                </a:solidFill>
                <a:latin typeface="Arial" pitchFamily="34" charset="0"/>
                <a:ea typeface="Arial" pitchFamily="34" charset="-122"/>
                <a:cs typeface="Arial" pitchFamily="34" charset="-120"/>
              </a:rPr>
              <a:t>Called at first review</a:t>
            </a:r>
            <a:endParaRPr lang="en-US" sz="1200" dirty="0"/>
          </a:p>
        </p:txBody>
      </p:sp>
      <p:sp>
        <p:nvSpPr>
          <p:cNvPr id="16" name="Text 14"/>
          <p:cNvSpPr txBox="1"/>
          <p:nvPr/>
        </p:nvSpPr>
        <p:spPr>
          <a:xfrm>
            <a:off x="6236208" y="2297430"/>
            <a:ext cx="2240280" cy="846963"/>
          </a:xfrm>
          <a:prstGeom prst="rect">
            <a:avLst/>
          </a:prstGeom>
          <a:noFill/>
          <a:ln/>
        </p:spPr>
        <p:txBody>
          <a:bodyPr wrap="square" lIns="0" tIns="0" rIns="0" bIns="0" rtlCol="0" anchor="t"/>
          <a:lstStyle/>
          <a:p>
            <a:pPr indent="0" marL="0">
              <a:buNone/>
            </a:pPr>
            <a:r>
              <a:rPr lang="en-US" sz="970" dirty="0">
                <a:solidFill>
                  <a:srgbClr val="595959"/>
                </a:solidFill>
                <a:latin typeface="Arial" pitchFamily="34" charset="0"/>
                <a:ea typeface="Arial" pitchFamily="34" charset="-122"/>
                <a:cs typeface="Arial" pitchFamily="34" charset="-120"/>
              </a:rPr>
              <a:t>Risk-neutral. 79% called within 5 years; expected life 2.22 years</a:t>
            </a:r>
            <a:endParaRPr lang="en-US" sz="970" dirty="0"/>
          </a:p>
        </p:txBody>
      </p:sp>
      <p:sp>
        <p:nvSpPr>
          <p:cNvPr id="17" name="Text 15"/>
          <p:cNvSpPr txBox="1"/>
          <p:nvPr/>
        </p:nvSpPr>
        <p:spPr>
          <a:xfrm>
            <a:off x="457200" y="3367278"/>
            <a:ext cx="8229600" cy="1159002"/>
          </a:xfrm>
          <a:prstGeom prst="rect">
            <a:avLst/>
          </a:prstGeom>
          <a:noFill/>
          <a:ln/>
        </p:spPr>
        <p:txBody>
          <a:bodyPr wrap="square" lIns="0" tIns="0" rIns="0" bIns="0" rtlCol="0" anchor="t"/>
          <a:lstStyle/>
          <a:p>
            <a:pPr indent="0" marL="0">
              <a:buNone/>
            </a:pPr>
            <a:r>
              <a:rPr lang="en-US" sz="1060" dirty="0">
                <a:solidFill>
                  <a:srgbClr val="262626"/>
                </a:solidFill>
                <a:latin typeface="Arial" pitchFamily="34" charset="0"/>
                <a:ea typeface="Arial" pitchFamily="34" charset="-122"/>
                <a:cs typeface="Arial" pitchFamily="34" charset="-120"/>
              </a:rPr>
              <a:t>We recommend </a:t>
            </a:r>
            <a:pPr indent="0" marL="0">
              <a:buNone/>
            </a:pPr>
            <a:r>
              <a:rPr lang="en-US" sz="1060" b="1" dirty="0">
                <a:solidFill>
                  <a:srgbClr val="2C5F82"/>
                </a:solidFill>
                <a:latin typeface="Arial" pitchFamily="34" charset="0"/>
                <a:ea typeface="Arial" pitchFamily="34" charset="-122"/>
                <a:cs typeface="Arial" pitchFamily="34" charset="-120"/>
              </a:rPr>
              <a:t>a USD 100mn, 5-year Natixis autocallable note</a:t>
            </a:r>
            <a:pPr indent="0" marL="0">
              <a:buNone/>
            </a:pPr>
            <a:r>
              <a:rPr lang="en-US" sz="1060" dirty="0">
                <a:solidFill>
                  <a:srgbClr val="262626"/>
                </a:solidFill>
                <a:latin typeface="Arial" pitchFamily="34" charset="0"/>
                <a:ea typeface="Arial" pitchFamily="34" charset="-122"/>
                <a:cs typeface="Arial" pitchFamily="34" charset="-120"/>
              </a:rPr>
              <a:t> on a basket of five Bloomberg-listed Asian ETFs: Global X Asia Semiconductor (3119 HK) 35%, iShares MSCI South Korea (EWY) 20%, iShares MSCI Taiwan (EWT) 15%, Global X Japan Semiconductor (2644 JP) 15% and Cathay Taiwan ESG High Dividend (00878 TT) 15%. It gives the family the AI hardware layer (chips, memory and chip-making equipment) that complements, rather than duplicates, the infrastructure, power and property they already own. </a:t>
            </a:r>
            <a:pPr indent="0" marL="0">
              <a:buNone/>
            </a:pPr>
            <a:r>
              <a:rPr lang="en-US" sz="1060" b="1" dirty="0">
                <a:solidFill>
                  <a:srgbClr val="262626"/>
                </a:solidFill>
                <a:latin typeface="Arial" pitchFamily="34" charset="0"/>
                <a:ea typeface="Arial" pitchFamily="34" charset="-122"/>
                <a:cs typeface="Arial" pitchFamily="34" charset="-120"/>
              </a:rPr>
              <a:t>The family earns 12.75% a year in the 79% of paths where the basket gets back to its starting level; if it never does (21% of paths, risk-neutral), the note repays the basket's level at Year 5. Fair value is 96.5%, so issuing at par leaves Natixis 3.5% for hedging and margin.</a:t>
            </a:r>
            <a:endParaRPr lang="en-US" sz="10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Shape 1"/>
          <p:cNvSpPr/>
          <p:nvPr/>
        </p:nvSpPr>
        <p:spPr>
          <a:xfrm>
            <a:off x="754380" y="4773168"/>
            <a:ext cx="1885950" cy="34290"/>
          </a:xfrm>
          <a:prstGeom prst="rect">
            <a:avLst/>
          </a:prstGeom>
          <a:solidFill>
            <a:srgbClr val="2C5F82"/>
          </a:solidFill>
          <a:ln w="12700">
            <a:solidFill>
              <a:srgbClr val="2C5F82"/>
            </a:solidFill>
            <a:prstDash val="solid"/>
          </a:ln>
        </p:spPr>
      </p:sp>
      <p:sp>
        <p:nvSpPr>
          <p:cNvPr id="4" name="Text 2"/>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ANALYSIS</a:t>
            </a:r>
            <a:endParaRPr lang="en-US" sz="900" dirty="0"/>
          </a:p>
        </p:txBody>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The family wants growth from Asia's AI build-out, on 5% of its wealth</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Client diagnosis: third-generation dynasty, succession done, now allocating for legacy</a:t>
            </a:r>
            <a:endParaRPr lang="en-US" sz="850" dirty="0"/>
          </a:p>
        </p:txBody>
      </p:sp>
      <p:sp>
        <p:nvSpPr>
          <p:cNvPr id="10" name="Shape 8"/>
          <p:cNvSpPr/>
          <p:nvPr/>
        </p:nvSpPr>
        <p:spPr>
          <a:xfrm>
            <a:off x="457200" y="1093851"/>
            <a:ext cx="2606040" cy="2005965"/>
          </a:xfrm>
          <a:prstGeom prst="rect">
            <a:avLst/>
          </a:prstGeom>
          <a:solidFill>
            <a:srgbClr val="E8EFF5"/>
          </a:solidFill>
          <a:ln w="12700">
            <a:solidFill>
              <a:srgbClr val="E8EFF5"/>
            </a:solidFill>
            <a:prstDash val="solid"/>
          </a:ln>
        </p:spPr>
      </p:sp>
      <p:sp>
        <p:nvSpPr>
          <p:cNvPr id="11" name="Text 9"/>
          <p:cNvSpPr txBox="1"/>
          <p:nvPr/>
        </p:nvSpPr>
        <p:spPr>
          <a:xfrm>
            <a:off x="640080" y="1200836"/>
            <a:ext cx="2286000" cy="285293"/>
          </a:xfrm>
          <a:prstGeom prst="rect">
            <a:avLst/>
          </a:prstGeom>
          <a:noFill/>
          <a:ln/>
        </p:spPr>
        <p:txBody>
          <a:bodyPr wrap="square" lIns="0" tIns="0" rIns="0" bIns="0" rtlCol="0" anchor="t"/>
          <a:lstStyle/>
          <a:p>
            <a:pPr indent="0" marL="0">
              <a:buNone/>
            </a:pPr>
            <a:r>
              <a:rPr lang="en-US" sz="1290" b="1" dirty="0">
                <a:solidFill>
                  <a:srgbClr val="2C5F82"/>
                </a:solidFill>
                <a:latin typeface="Arial" pitchFamily="34" charset="0"/>
                <a:ea typeface="Arial" pitchFamily="34" charset="-122"/>
                <a:cs typeface="Arial" pitchFamily="34" charset="-120"/>
              </a:rPr>
              <a:t>Who they are</a:t>
            </a:r>
            <a:endParaRPr lang="en-US" sz="1290" dirty="0"/>
          </a:p>
        </p:txBody>
      </p:sp>
      <p:sp>
        <p:nvSpPr>
          <p:cNvPr id="12" name="Text 10"/>
          <p:cNvSpPr txBox="1"/>
          <p:nvPr/>
        </p:nvSpPr>
        <p:spPr>
          <a:xfrm>
            <a:off x="640080" y="1539621"/>
            <a:ext cx="2286000" cy="1515618"/>
          </a:xfrm>
          <a:prstGeom prst="rect">
            <a:avLst/>
          </a:prstGeom>
          <a:noFill/>
          <a:ln/>
        </p:spPr>
        <p:txBody>
          <a:bodyPr wrap="square" lIns="0" tIns="0" rIns="0" bIns="0" rtlCol="0" anchor="t"/>
          <a:lstStyle/>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Single-family office: NKE Private Wealth</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Net worth &gt; USD 2bn; mandate USD 100mn (~5%)</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Businesses: tech infrastructure, renewable power plants, real estate in Japan and Greater China</a:t>
            </a:r>
            <a:endParaRPr lang="en-US" sz="970" dirty="0"/>
          </a:p>
        </p:txBody>
      </p:sp>
      <p:sp>
        <p:nvSpPr>
          <p:cNvPr id="13" name="Shape 11"/>
          <p:cNvSpPr/>
          <p:nvPr/>
        </p:nvSpPr>
        <p:spPr>
          <a:xfrm>
            <a:off x="3246120" y="1093851"/>
            <a:ext cx="2606040" cy="2005965"/>
          </a:xfrm>
          <a:prstGeom prst="rect">
            <a:avLst/>
          </a:prstGeom>
          <a:solidFill>
            <a:srgbClr val="E8EFF5"/>
          </a:solidFill>
          <a:ln w="12700">
            <a:solidFill>
              <a:srgbClr val="E8EFF5"/>
            </a:solidFill>
            <a:prstDash val="solid"/>
          </a:ln>
        </p:spPr>
      </p:sp>
      <p:sp>
        <p:nvSpPr>
          <p:cNvPr id="14" name="Text 12"/>
          <p:cNvSpPr txBox="1"/>
          <p:nvPr/>
        </p:nvSpPr>
        <p:spPr>
          <a:xfrm>
            <a:off x="3429000" y="1200836"/>
            <a:ext cx="2286000" cy="285293"/>
          </a:xfrm>
          <a:prstGeom prst="rect">
            <a:avLst/>
          </a:prstGeom>
          <a:noFill/>
          <a:ln/>
        </p:spPr>
        <p:txBody>
          <a:bodyPr wrap="square" lIns="0" tIns="0" rIns="0" bIns="0" rtlCol="0" anchor="t"/>
          <a:lstStyle/>
          <a:p>
            <a:pPr indent="0" marL="0">
              <a:buNone/>
            </a:pPr>
            <a:r>
              <a:rPr lang="en-US" sz="1290" b="1" dirty="0">
                <a:solidFill>
                  <a:srgbClr val="2C5F82"/>
                </a:solidFill>
                <a:latin typeface="Arial" pitchFamily="34" charset="0"/>
                <a:ea typeface="Arial" pitchFamily="34" charset="-122"/>
                <a:cs typeface="Arial" pitchFamily="34" charset="-120"/>
              </a:rPr>
              <a:t>What they want</a:t>
            </a:r>
            <a:endParaRPr lang="en-US" sz="1290" dirty="0"/>
          </a:p>
        </p:txBody>
      </p:sp>
      <p:sp>
        <p:nvSpPr>
          <p:cNvPr id="15" name="Text 13"/>
          <p:cNvSpPr txBox="1"/>
          <p:nvPr/>
        </p:nvSpPr>
        <p:spPr>
          <a:xfrm>
            <a:off x="3429000" y="1539621"/>
            <a:ext cx="2286000" cy="1515618"/>
          </a:xfrm>
          <a:prstGeom prst="rect">
            <a:avLst/>
          </a:prstGeom>
          <a:noFill/>
          <a:ln/>
        </p:spPr>
        <p:txBody>
          <a:bodyPr wrap="square" lIns="0" tIns="0" rIns="0" bIns="0" rtlCol="0" anchor="t"/>
          <a:lstStyle/>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Capital appreciation for future generations</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Meaningful exposure to Asia's digital transformation</a:t>
            </a:r>
            <a:endParaRPr lang="en-US" sz="970" dirty="0"/>
          </a:p>
          <a:p>
            <a:pPr marL="342900" indent="-342900">
              <a:spcAft>
                <a:spcPts val="300"/>
              </a:spcAft>
              <a:buSzPct val="100000"/>
              <a:buChar char="•"/>
            </a:pPr>
            <a:r>
              <a:rPr lang="en-US" sz="970" dirty="0">
                <a:solidFill>
                  <a:srgbClr val="262626"/>
                </a:solidFill>
                <a:latin typeface="Arial" pitchFamily="34" charset="0"/>
                <a:ea typeface="Arial" pitchFamily="34" charset="-122"/>
                <a:cs typeface="Arial" pitchFamily="34" charset="-120"/>
              </a:rPr>
              <a:t>To bridge traditional Asian sectors with emerging tech they know</a:t>
            </a:r>
            <a:endParaRPr lang="en-US" sz="970" dirty="0"/>
          </a:p>
        </p:txBody>
      </p:sp>
      <p:sp>
        <p:nvSpPr>
          <p:cNvPr id="16" name="Shape 14"/>
          <p:cNvSpPr/>
          <p:nvPr/>
        </p:nvSpPr>
        <p:spPr>
          <a:xfrm>
            <a:off x="6035040" y="1093851"/>
            <a:ext cx="2606040" cy="2005965"/>
          </a:xfrm>
          <a:prstGeom prst="rect">
            <a:avLst/>
          </a:prstGeom>
          <a:solidFill>
            <a:srgbClr val="2C5F82"/>
          </a:solidFill>
          <a:ln w="12700">
            <a:solidFill>
              <a:srgbClr val="2C5F82"/>
            </a:solidFill>
            <a:prstDash val="solid"/>
          </a:ln>
        </p:spPr>
      </p:sp>
      <p:sp>
        <p:nvSpPr>
          <p:cNvPr id="17" name="Text 15"/>
          <p:cNvSpPr txBox="1"/>
          <p:nvPr/>
        </p:nvSpPr>
        <p:spPr>
          <a:xfrm>
            <a:off x="6217920" y="1200836"/>
            <a:ext cx="2286000" cy="285293"/>
          </a:xfrm>
          <a:prstGeom prst="rect">
            <a:avLst/>
          </a:prstGeom>
          <a:noFill/>
          <a:ln/>
        </p:spPr>
        <p:txBody>
          <a:bodyPr wrap="square" lIns="0" tIns="0" rIns="0" bIns="0" rtlCol="0" anchor="t"/>
          <a:lstStyle/>
          <a:p>
            <a:pPr indent="0" marL="0">
              <a:buNone/>
            </a:pPr>
            <a:r>
              <a:rPr lang="en-US" sz="1290" b="1" dirty="0">
                <a:solidFill>
                  <a:srgbClr val="BFD7EA"/>
                </a:solidFill>
                <a:latin typeface="Arial" pitchFamily="34" charset="0"/>
                <a:ea typeface="Arial" pitchFamily="34" charset="-122"/>
                <a:cs typeface="Arial" pitchFamily="34" charset="-120"/>
              </a:rPr>
              <a:t>What they can bear</a:t>
            </a:r>
            <a:endParaRPr lang="en-US" sz="1290" dirty="0"/>
          </a:p>
        </p:txBody>
      </p:sp>
      <p:sp>
        <p:nvSpPr>
          <p:cNvPr id="18" name="Text 16"/>
          <p:cNvSpPr txBox="1"/>
          <p:nvPr/>
        </p:nvSpPr>
        <p:spPr>
          <a:xfrm>
            <a:off x="6217920" y="1539621"/>
            <a:ext cx="2286000" cy="1515618"/>
          </a:xfrm>
          <a:prstGeom prst="rect">
            <a:avLst/>
          </a:prstGeom>
          <a:noFill/>
          <a:ln/>
        </p:spPr>
        <p:txBody>
          <a:bodyPr wrap="square" lIns="0" tIns="0" rIns="0" bIns="0" rtlCol="0" anchor="t"/>
          <a:lstStyle/>
          <a:p>
            <a:pPr marL="342900" indent="-342900">
              <a:spcAft>
                <a:spcPts val="300"/>
              </a:spcAft>
              <a:buSzPct val="100000"/>
              <a:buChar char="•"/>
            </a:pPr>
            <a:r>
              <a:rPr lang="en-US" sz="970" dirty="0">
                <a:solidFill>
                  <a:srgbClr val="FFFFFF"/>
                </a:solidFill>
                <a:latin typeface="Arial" pitchFamily="34" charset="0"/>
                <a:ea typeface="Arial" pitchFamily="34" charset="-122"/>
                <a:cs typeface="Arial" pitchFamily="34" charset="-120"/>
              </a:rPr>
              <a:t>Moderate risk: income first, capital usually back early</a:t>
            </a:r>
            <a:endParaRPr lang="en-US" sz="970" dirty="0"/>
          </a:p>
          <a:p>
            <a:pPr marL="342900" indent="-342900">
              <a:spcAft>
                <a:spcPts val="300"/>
              </a:spcAft>
              <a:buSzPct val="100000"/>
              <a:buChar char="•"/>
            </a:pPr>
            <a:r>
              <a:rPr lang="en-US" sz="970" dirty="0">
                <a:solidFill>
                  <a:srgbClr val="FFFFFF"/>
                </a:solidFill>
                <a:latin typeface="Arial" pitchFamily="34" charset="0"/>
                <a:ea typeface="Arial" pitchFamily="34" charset="-122"/>
                <a:cs typeface="Arial" pitchFamily="34" charset="-120"/>
              </a:rPr>
              <a:t>5-year horizon; coupons can be reinvested</a:t>
            </a:r>
            <a:endParaRPr lang="en-US" sz="970" dirty="0"/>
          </a:p>
          <a:p>
            <a:pPr marL="342900" indent="-342900">
              <a:spcAft>
                <a:spcPts val="300"/>
              </a:spcAft>
              <a:buSzPct val="100000"/>
              <a:buChar char="•"/>
            </a:pPr>
            <a:r>
              <a:rPr lang="en-US" sz="970" dirty="0">
                <a:solidFill>
                  <a:srgbClr val="FFFFFF"/>
                </a:solidFill>
                <a:latin typeface="Arial" pitchFamily="34" charset="0"/>
                <a:ea typeface="Arial" pitchFamily="34" charset="-122"/>
                <a:cs typeface="Arial" pitchFamily="34" charset="-120"/>
              </a:rPr>
              <a:t>Accepts limited liquidity on 5% of wealth</a:t>
            </a:r>
            <a:endParaRPr lang="en-US" sz="970" dirty="0"/>
          </a:p>
          <a:p>
            <a:pPr marL="342900" indent="-342900">
              <a:spcAft>
                <a:spcPts val="300"/>
              </a:spcAft>
              <a:buSzPct val="100000"/>
              <a:buChar char="•"/>
            </a:pPr>
            <a:r>
              <a:rPr lang="en-US" sz="970" dirty="0">
                <a:solidFill>
                  <a:srgbClr val="FFFFFF"/>
                </a:solidFill>
                <a:latin typeface="Arial" pitchFamily="34" charset="0"/>
                <a:ea typeface="Arial" pitchFamily="34" charset="-122"/>
                <a:cs typeface="Arial" pitchFamily="34" charset="-120"/>
              </a:rPr>
              <a:t>Accepts equity risk on 5% of wealth</a:t>
            </a:r>
            <a:endParaRPr lang="en-US" sz="97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233547"/>
          <a:ext cx="8229600" cy="914400"/>
        </p:xfrm>
        <a:graphic>
          <a:graphicData uri="http://schemas.openxmlformats.org/drawingml/2006/table">
            <a:tbl>
              <a:tblPr/>
              <a:tblGrid>
                <a:gridCol w="2377440"/>
                <a:gridCol w="5852160"/>
              </a:tblGrid>
              <a:tr h="240716">
                <a:tc>
                  <a:txBody>
                    <a:bodyPr/>
                    <a:lstStyle/>
                    <a:p>
                      <a:pPr indent="0" marL="0">
                        <a:buNone/>
                      </a:pPr>
                      <a:r>
                        <a:rPr lang="en-US" sz="870" b="1" dirty="0">
                          <a:solidFill>
                            <a:srgbClr val="FFFFFF"/>
                          </a:solidFill>
                          <a:latin typeface="Arial" pitchFamily="34" charset="0"/>
                          <a:ea typeface="Arial" pitchFamily="34" charset="-122"/>
                          <a:cs typeface="Arial" pitchFamily="34" charset="-120"/>
                        </a:rPr>
                        <a:t>Client need</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70" b="1" dirty="0">
                          <a:solidFill>
                            <a:srgbClr val="FFFFFF"/>
                          </a:solidFill>
                          <a:latin typeface="Arial" pitchFamily="34" charset="0"/>
                          <a:ea typeface="Arial" pitchFamily="34" charset="-122"/>
                          <a:cs typeface="Arial" pitchFamily="34" charset="-120"/>
                        </a:rPr>
                        <a:t>Design answer in our note</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Capital appreciation</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12.75% p.a. coupon, above the 5.69% 5Y USD funding rate, in every path that autocalls; proceeds roll into the next note</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Exposure to Asian digital transformation</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Semiconductor-heavy basket: the AI hardware layer behind the family's tech-infrastructure business (slide 6)</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Generational preservation</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Diversified basket (not worst-of); capital back early in 79% of paths; BPCE-backed issuer</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0716">
                <a:tc>
                  <a:txBody>
                    <a:bodyPr/>
                    <a:lstStyle/>
                    <a:p>
                      <a:pPr indent="0" marL="0">
                        <a:buNone/>
                      </a:pPr>
                      <a:r>
                        <a:rPr lang="en-US" sz="870" dirty="0">
                          <a:solidFill>
                            <a:srgbClr val="262626"/>
                          </a:solidFill>
                          <a:latin typeface="Arial" pitchFamily="34" charset="0"/>
                          <a:ea typeface="Arial" pitchFamily="34" charset="-122"/>
                          <a:cs typeface="Arial" pitchFamily="34" charset="-120"/>
                        </a:rPr>
                        <a:t>Volatile markets</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Memory coupon: a missed coupon is paid when the basket recovers, so a temporary drawdown costs nothing</a:t>
                      </a:r>
                      <a:endParaRPr lang="en-US" sz="870" dirty="0">
                        <a:latin typeface="Arial" charset="0"/>
                        <a:ea typeface="Arial" charset="0"/>
                        <a:cs typeface="Arial" charset="0"/>
                      </a:endParaRPr>
                    </a:p>
                  </a:txBody>
                  <a:tcPr marL="63500" marR="63500" marT="25400" marB="25400">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20" name="Text 17"/>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1</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Shape 1"/>
          <p:cNvSpPr/>
          <p:nvPr/>
        </p:nvSpPr>
        <p:spPr>
          <a:xfrm>
            <a:off x="754380" y="4773168"/>
            <a:ext cx="1885950" cy="34290"/>
          </a:xfrm>
          <a:prstGeom prst="rect">
            <a:avLst/>
          </a:prstGeom>
          <a:solidFill>
            <a:srgbClr val="2C5F82"/>
          </a:solidFill>
          <a:ln w="12700">
            <a:solidFill>
              <a:srgbClr val="2C5F82"/>
            </a:solidFill>
            <a:prstDash val="solid"/>
          </a:ln>
        </p:spPr>
      </p:sp>
      <p:sp>
        <p:nvSpPr>
          <p:cNvPr id="4" name="Text 2"/>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ANALYSIS</a:t>
            </a:r>
            <a:endParaRPr lang="en-US" sz="900" dirty="0"/>
          </a:p>
        </p:txBody>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Why now: Asia builds the hardware of the AI economy</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Investment thesis: structural growth themes, and high rates and volatility that pay for a double-digit coupon</a:t>
            </a:r>
            <a:endParaRPr lang="en-US" sz="850" dirty="0"/>
          </a:p>
        </p:txBody>
      </p:sp>
      <p:sp>
        <p:nvSpPr>
          <p:cNvPr id="10" name="Shape 8"/>
          <p:cNvSpPr/>
          <p:nvPr/>
        </p:nvSpPr>
        <p:spPr>
          <a:xfrm>
            <a:off x="457200" y="1093851"/>
            <a:ext cx="2377440" cy="1248156"/>
          </a:xfrm>
          <a:prstGeom prst="rect">
            <a:avLst/>
          </a:prstGeom>
          <a:solidFill>
            <a:srgbClr val="E8EFF5"/>
          </a:solidFill>
          <a:ln w="12700">
            <a:solidFill>
              <a:srgbClr val="E8EFF5"/>
            </a:solidFill>
            <a:prstDash val="solid"/>
          </a:ln>
        </p:spPr>
      </p:sp>
      <p:sp>
        <p:nvSpPr>
          <p:cNvPr id="11" name="Shape 9"/>
          <p:cNvSpPr/>
          <p:nvPr/>
        </p:nvSpPr>
        <p:spPr>
          <a:xfrm>
            <a:off x="594360" y="1227582"/>
            <a:ext cx="347472" cy="338785"/>
          </a:xfrm>
          <a:prstGeom prst="ellipse">
            <a:avLst/>
          </a:prstGeom>
          <a:solidFill>
            <a:srgbClr val="2C5F82"/>
          </a:solidFill>
          <a:ln/>
        </p:spPr>
      </p:sp>
      <p:sp>
        <p:nvSpPr>
          <p:cNvPr id="12" name="Text 10"/>
          <p:cNvSpPr txBox="1"/>
          <p:nvPr/>
        </p:nvSpPr>
        <p:spPr>
          <a:xfrm>
            <a:off x="594360" y="1227582"/>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3" name="Text 11"/>
          <p:cNvSpPr txBox="1"/>
          <p:nvPr/>
        </p:nvSpPr>
        <p:spPr>
          <a:xfrm>
            <a:off x="1024128" y="1227582"/>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Taiwan: the AI foundry</a:t>
            </a:r>
            <a:endParaRPr lang="en-US" sz="1060" dirty="0"/>
          </a:p>
        </p:txBody>
      </p:sp>
      <p:sp>
        <p:nvSpPr>
          <p:cNvPr id="14" name="Text 12"/>
          <p:cNvSpPr txBox="1"/>
          <p:nvPr/>
        </p:nvSpPr>
        <p:spPr>
          <a:xfrm>
            <a:off x="594360" y="1646606"/>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TSMC and its supply chain make most of the world's advanced AI chips; Taiwan's index is dominated by semiconductors.</a:t>
            </a:r>
            <a:endParaRPr lang="en-US" sz="870" dirty="0"/>
          </a:p>
        </p:txBody>
      </p:sp>
      <p:sp>
        <p:nvSpPr>
          <p:cNvPr id="15" name="Shape 13"/>
          <p:cNvSpPr/>
          <p:nvPr/>
        </p:nvSpPr>
        <p:spPr>
          <a:xfrm>
            <a:off x="2971800" y="1093851"/>
            <a:ext cx="2377440" cy="1248156"/>
          </a:xfrm>
          <a:prstGeom prst="rect">
            <a:avLst/>
          </a:prstGeom>
          <a:solidFill>
            <a:srgbClr val="E8EFF5"/>
          </a:solidFill>
          <a:ln w="12700">
            <a:solidFill>
              <a:srgbClr val="E8EFF5"/>
            </a:solidFill>
            <a:prstDash val="solid"/>
          </a:ln>
        </p:spPr>
      </p:sp>
      <p:sp>
        <p:nvSpPr>
          <p:cNvPr id="16" name="Shape 14"/>
          <p:cNvSpPr/>
          <p:nvPr/>
        </p:nvSpPr>
        <p:spPr>
          <a:xfrm>
            <a:off x="3108960" y="1227582"/>
            <a:ext cx="347472" cy="338785"/>
          </a:xfrm>
          <a:prstGeom prst="ellipse">
            <a:avLst/>
          </a:prstGeom>
          <a:solidFill>
            <a:srgbClr val="2C5F82"/>
          </a:solidFill>
          <a:ln/>
        </p:spPr>
      </p:sp>
      <p:sp>
        <p:nvSpPr>
          <p:cNvPr id="17" name="Text 15"/>
          <p:cNvSpPr txBox="1"/>
          <p:nvPr/>
        </p:nvSpPr>
        <p:spPr>
          <a:xfrm>
            <a:off x="3108960" y="1227582"/>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Text 16"/>
          <p:cNvSpPr txBox="1"/>
          <p:nvPr/>
        </p:nvSpPr>
        <p:spPr>
          <a:xfrm>
            <a:off x="3538728" y="1227582"/>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Korea: memory for AI</a:t>
            </a:r>
            <a:endParaRPr lang="en-US" sz="1060" dirty="0"/>
          </a:p>
        </p:txBody>
      </p:sp>
      <p:sp>
        <p:nvSpPr>
          <p:cNvPr id="19" name="Text 17"/>
          <p:cNvSpPr txBox="1"/>
          <p:nvPr/>
        </p:nvSpPr>
        <p:spPr>
          <a:xfrm>
            <a:off x="3108960" y="1646606"/>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Samsung and SK hynix supply the high-bandwidth memory every AI accelerator needs; together ~44% of EWY.</a:t>
            </a:r>
            <a:endParaRPr lang="en-US" sz="870" dirty="0"/>
          </a:p>
        </p:txBody>
      </p:sp>
      <p:sp>
        <p:nvSpPr>
          <p:cNvPr id="20" name="Shape 18"/>
          <p:cNvSpPr/>
          <p:nvPr/>
        </p:nvSpPr>
        <p:spPr>
          <a:xfrm>
            <a:off x="457200" y="2475738"/>
            <a:ext cx="2377440" cy="1248156"/>
          </a:xfrm>
          <a:prstGeom prst="rect">
            <a:avLst/>
          </a:prstGeom>
          <a:solidFill>
            <a:srgbClr val="E8EFF5"/>
          </a:solidFill>
          <a:ln w="12700">
            <a:solidFill>
              <a:srgbClr val="E8EFF5"/>
            </a:solidFill>
            <a:prstDash val="solid"/>
          </a:ln>
        </p:spPr>
      </p:sp>
      <p:sp>
        <p:nvSpPr>
          <p:cNvPr id="21" name="Shape 19"/>
          <p:cNvSpPr/>
          <p:nvPr/>
        </p:nvSpPr>
        <p:spPr>
          <a:xfrm>
            <a:off x="594360" y="2609469"/>
            <a:ext cx="347472" cy="338785"/>
          </a:xfrm>
          <a:prstGeom prst="ellipse">
            <a:avLst/>
          </a:prstGeom>
          <a:solidFill>
            <a:srgbClr val="2C5F82"/>
          </a:solidFill>
          <a:ln/>
        </p:spPr>
      </p:sp>
      <p:sp>
        <p:nvSpPr>
          <p:cNvPr id="22" name="Text 20"/>
          <p:cNvSpPr txBox="1"/>
          <p:nvPr/>
        </p:nvSpPr>
        <p:spPr>
          <a:xfrm>
            <a:off x="594360" y="2609469"/>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21"/>
          <p:cNvSpPr txBox="1"/>
          <p:nvPr/>
        </p:nvSpPr>
        <p:spPr>
          <a:xfrm>
            <a:off x="1024128" y="2609469"/>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Japan: chip-making tools</a:t>
            </a:r>
            <a:endParaRPr lang="en-US" sz="1060" dirty="0"/>
          </a:p>
        </p:txBody>
      </p:sp>
      <p:sp>
        <p:nvSpPr>
          <p:cNvPr id="24" name="Text 22"/>
          <p:cNvSpPr txBox="1"/>
          <p:nvPr/>
        </p:nvSpPr>
        <p:spPr>
          <a:xfrm>
            <a:off x="594360" y="3028493"/>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Tokyo Electron, Advantest and peers make the equipment and testers chip factories need, alongside TSE governance reforms.</a:t>
            </a:r>
            <a:endParaRPr lang="en-US" sz="870" dirty="0"/>
          </a:p>
        </p:txBody>
      </p:sp>
      <p:sp>
        <p:nvSpPr>
          <p:cNvPr id="25" name="Shape 23"/>
          <p:cNvSpPr/>
          <p:nvPr/>
        </p:nvSpPr>
        <p:spPr>
          <a:xfrm>
            <a:off x="2971800" y="2475738"/>
            <a:ext cx="2377440" cy="1248156"/>
          </a:xfrm>
          <a:prstGeom prst="rect">
            <a:avLst/>
          </a:prstGeom>
          <a:solidFill>
            <a:srgbClr val="E8EFF5"/>
          </a:solidFill>
          <a:ln w="12700">
            <a:solidFill>
              <a:srgbClr val="E8EFF5"/>
            </a:solidFill>
            <a:prstDash val="solid"/>
          </a:ln>
        </p:spPr>
      </p:sp>
      <p:sp>
        <p:nvSpPr>
          <p:cNvPr id="26" name="Shape 24"/>
          <p:cNvSpPr/>
          <p:nvPr/>
        </p:nvSpPr>
        <p:spPr>
          <a:xfrm>
            <a:off x="3108960" y="2609469"/>
            <a:ext cx="347472" cy="338785"/>
          </a:xfrm>
          <a:prstGeom prst="ellipse">
            <a:avLst/>
          </a:prstGeom>
          <a:solidFill>
            <a:srgbClr val="2E9E44"/>
          </a:solidFill>
          <a:ln/>
        </p:spPr>
      </p:sp>
      <p:sp>
        <p:nvSpPr>
          <p:cNvPr id="27" name="Text 25"/>
          <p:cNvSpPr txBox="1"/>
          <p:nvPr/>
        </p:nvSpPr>
        <p:spPr>
          <a:xfrm>
            <a:off x="3108960" y="2609469"/>
            <a:ext cx="347472" cy="338785"/>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6"/>
          <p:cNvSpPr txBox="1"/>
          <p:nvPr/>
        </p:nvSpPr>
        <p:spPr>
          <a:xfrm>
            <a:off x="3538728" y="2609469"/>
            <a:ext cx="1737360" cy="374447"/>
          </a:xfrm>
          <a:prstGeom prst="rect">
            <a:avLst/>
          </a:prstGeom>
          <a:noFill/>
          <a:ln/>
        </p:spPr>
        <p:txBody>
          <a:bodyPr wrap="square" lIns="0" tIns="0" rIns="0" bIns="0" rtlCol="0" anchor="ctr"/>
          <a:lstStyle/>
          <a:p>
            <a:pPr indent="0" marL="0">
              <a:buNone/>
            </a:pPr>
            <a:r>
              <a:rPr lang="en-US" sz="1060" b="1" dirty="0">
                <a:solidFill>
                  <a:srgbClr val="2C5F82"/>
                </a:solidFill>
                <a:latin typeface="Arial" pitchFamily="34" charset="0"/>
                <a:ea typeface="Arial" pitchFamily="34" charset="-122"/>
                <a:cs typeface="Arial" pitchFamily="34" charset="-120"/>
              </a:rPr>
              <a:t>ESG sleeve</a:t>
            </a:r>
            <a:endParaRPr lang="en-US" sz="1060" dirty="0"/>
          </a:p>
        </p:txBody>
      </p:sp>
      <p:sp>
        <p:nvSpPr>
          <p:cNvPr id="29" name="Text 27"/>
          <p:cNvSpPr txBox="1"/>
          <p:nvPr/>
        </p:nvSpPr>
        <p:spPr>
          <a:xfrm>
            <a:off x="3108960" y="3028493"/>
            <a:ext cx="2148840" cy="668655"/>
          </a:xfrm>
          <a:prstGeom prst="rect">
            <a:avLst/>
          </a:prstGeom>
          <a:noFill/>
          <a:ln/>
        </p:spPr>
        <p:txBody>
          <a:bodyPr wrap="square" lIns="0" tIns="0" rIns="0" bIns="0" rtlCol="0" anchor="t"/>
          <a:lstStyle/>
          <a:p>
            <a:pPr indent="0" marL="0">
              <a:buNone/>
            </a:pPr>
            <a:r>
              <a:rPr lang="en-US" sz="870" dirty="0">
                <a:solidFill>
                  <a:srgbClr val="262626"/>
                </a:solidFill>
                <a:latin typeface="Arial" pitchFamily="34" charset="0"/>
                <a:ea typeface="Arial" pitchFamily="34" charset="-122"/>
                <a:cs typeface="Arial" pitchFamily="34" charset="-120"/>
              </a:rPr>
              <a:t>00878 adds ESG-screened Taiwan leaders (MSCI ESG methodology) and a lower-volatility, high-dividend anchor to the basket.</a:t>
            </a:r>
            <a:endParaRPr lang="en-US" sz="870" dirty="0"/>
          </a:p>
        </p:txBody>
      </p:sp>
      <p:graphicFrame>
        <p:nvGraphicFramePr>
          <p:cNvPr id="30" name="Chart 0" descr=""/>
          <p:cNvGraphicFramePr/>
          <p:nvPr/>
        </p:nvGraphicFramePr>
        <p:xfrm>
          <a:off x="5623560" y="1049274"/>
          <a:ext cx="3063240" cy="1961388"/>
        </p:xfrm>
        <a:graphic xmlns:a="http://schemas.openxmlformats.org/drawingml/2006/main">
          <a:graphicData uri="http://schemas.openxmlformats.org/drawingml/2006/chart">
            <c:chart xmlns:c="http://schemas.openxmlformats.org/drawingml/2006/chart" r:id="rId1"/>
          </a:graphicData>
        </a:graphic>
      </p:graphicFrame>
      <p:sp>
        <p:nvSpPr>
          <p:cNvPr id="31" name="Shape 28"/>
          <p:cNvSpPr/>
          <p:nvPr/>
        </p:nvSpPr>
        <p:spPr>
          <a:xfrm>
            <a:off x="5623560" y="3099816"/>
            <a:ext cx="3063240" cy="1381887"/>
          </a:xfrm>
          <a:prstGeom prst="rect">
            <a:avLst/>
          </a:prstGeom>
          <a:solidFill>
            <a:srgbClr val="2C5F82"/>
          </a:solidFill>
          <a:ln w="12700">
            <a:solidFill>
              <a:srgbClr val="2C5F82"/>
            </a:solidFill>
            <a:prstDash val="solid"/>
          </a:ln>
        </p:spPr>
      </p:sp>
      <p:sp>
        <p:nvSpPr>
          <p:cNvPr id="32" name="Text 29"/>
          <p:cNvSpPr txBox="1"/>
          <p:nvPr/>
        </p:nvSpPr>
        <p:spPr>
          <a:xfrm>
            <a:off x="5760720" y="3188970"/>
            <a:ext cx="2788920" cy="1248156"/>
          </a:xfrm>
          <a:prstGeom prst="rect">
            <a:avLst/>
          </a:prstGeom>
          <a:noFill/>
          <a:ln/>
        </p:spPr>
        <p:txBody>
          <a:bodyPr wrap="square" lIns="0" tIns="0" rIns="0" bIns="0" rtlCol="0" anchor="t"/>
          <a:lstStyle/>
          <a:p>
            <a:pPr indent="0" marL="0">
              <a:buNone/>
            </a:pPr>
            <a:r>
              <a:rPr lang="en-US" sz="920" b="1" dirty="0">
                <a:solidFill>
                  <a:srgbClr val="BFD7EA"/>
                </a:solidFill>
                <a:latin typeface="Arial" pitchFamily="34" charset="0"/>
                <a:ea typeface="Arial" pitchFamily="34" charset="-122"/>
                <a:cs typeface="Arial" pitchFamily="34" charset="-120"/>
              </a:rPr>
              <a:t>What the curve means for structuring</a:t>
            </a:r>
            <a:endParaRPr lang="en-US" sz="920" dirty="0"/>
          </a:p>
          <a:p>
            <a:pPr indent="0" marL="0">
              <a:buNone/>
            </a:pPr>
            <a:r>
              <a:rPr lang="en-US" sz="920" dirty="0">
                <a:solidFill>
                  <a:srgbClr val="FFFFFF"/>
                </a:solidFill>
                <a:latin typeface="Arial" pitchFamily="34" charset="0"/>
                <a:ea typeface="Arial" pitchFamily="34" charset="-122"/>
                <a:cs typeface="Arial" pitchFamily="34" charset="-120"/>
              </a:rPr>
              <a:t>High USD rates (5Y funding 5.69%) and Asian volatility (basket ~26%) make option premium rich, and the basket is likely to revisit 100%: together they pay the 12.75% coupon.</a:t>
            </a:r>
            <a:endParaRPr lang="en-US" sz="920" dirty="0"/>
          </a:p>
        </p:txBody>
      </p:sp>
      <p:sp>
        <p:nvSpPr>
          <p:cNvPr id="33" name="Text 3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Thesis is qualitative; index-level data to be refreshed on Bloomberg. Funding grid: Investment Strategy Challenge 2026 rules.</a:t>
            </a:r>
            <a:endParaRPr lang="en-US" sz="680" dirty="0"/>
          </a:p>
        </p:txBody>
      </p:sp>
      <p:sp>
        <p:nvSpPr>
          <p:cNvPr id="34" name="Text 3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Investment thesis: Monopolizing the AI Supply Chain via Structured Overlays</a:t>
            </a:r>
            <a:endParaRPr lang="en-US" sz="1650" dirty="0"/>
          </a:p>
        </p:txBody>
      </p:sp>
      <p:sp>
        <p:nvSpPr>
          <p:cNvPr id="3" name="Shape 1"/>
          <p:cNvSpPr/>
          <p:nvPr/>
        </p:nvSpPr>
        <p:spPr>
          <a:xfrm>
            <a:off x="342900" y="672084"/>
            <a:ext cx="8455914" cy="0"/>
          </a:xfrm>
          <a:prstGeom prst="line">
            <a:avLst/>
          </a:prstGeom>
          <a:noFill/>
          <a:ln w="9525">
            <a:solidFill>
              <a:srgbClr val="2C5F82"/>
            </a:solidFill>
            <a:prstDash val="solid"/>
          </a:ln>
        </p:spPr>
      </p:sp>
      <p:sp>
        <p:nvSpPr>
          <p:cNvPr id="4" name="Shape 2"/>
          <p:cNvSpPr/>
          <p:nvPr/>
        </p:nvSpPr>
        <p:spPr>
          <a:xfrm>
            <a:off x="342900" y="4786884"/>
            <a:ext cx="8455914" cy="0"/>
          </a:xfrm>
          <a:prstGeom prst="line">
            <a:avLst/>
          </a:prstGeom>
          <a:noFill/>
          <a:ln w="7144">
            <a:solidFill>
              <a:srgbClr val="BFBFBF"/>
            </a:solidFill>
            <a:prstDash val="solid"/>
          </a:ln>
        </p:spPr>
      </p:sp>
      <p:sp>
        <p:nvSpPr>
          <p:cNvPr id="5" name="Shape 3"/>
          <p:cNvSpPr/>
          <p:nvPr/>
        </p:nvSpPr>
        <p:spPr>
          <a:xfrm>
            <a:off x="754380"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342900" y="4834890"/>
            <a:ext cx="2708910" cy="205740"/>
          </a:xfrm>
          <a:prstGeom prst="rect">
            <a:avLst/>
          </a:prstGeom>
          <a:noFill/>
          <a:ln/>
        </p:spPr>
        <p:txBody>
          <a:bodyPr wrap="square" lIns="0" tIns="0" rIns="0" bIns="0" rtlCol="0" anchor="t"/>
          <a:lstStyle/>
          <a:p>
            <a:pPr algn="ctr" indent="0" marL="0">
              <a:buNone/>
            </a:pPr>
            <a:r>
              <a:rPr lang="en-US" sz="900" b="1" spc="100" kern="0" dirty="0">
                <a:solidFill>
                  <a:srgbClr val="2C5F82"/>
                </a:solidFill>
                <a:latin typeface="Arial" pitchFamily="34" charset="0"/>
                <a:ea typeface="Arial" pitchFamily="34" charset="-122"/>
                <a:cs typeface="Arial" pitchFamily="34" charset="-120"/>
              </a:rPr>
              <a:t>ANALYSIS</a:t>
            </a:r>
            <a:endParaRPr lang="en-US" sz="900" dirty="0"/>
          </a:p>
        </p:txBody>
      </p:sp>
      <p:sp>
        <p:nvSpPr>
          <p:cNvPr id="7" name="Text 5"/>
          <p:cNvSpPr txBox="1"/>
          <p:nvPr/>
        </p:nvSpPr>
        <p:spPr>
          <a:xfrm>
            <a:off x="321640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8" name="Text 6"/>
          <p:cNvSpPr txBox="1"/>
          <p:nvPr/>
        </p:nvSpPr>
        <p:spPr>
          <a:xfrm>
            <a:off x="609676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9" name="Text 7"/>
          <p:cNvSpPr txBox="1"/>
          <p:nvPr/>
        </p:nvSpPr>
        <p:spPr>
          <a:xfrm>
            <a:off x="342900" y="713232"/>
            <a:ext cx="8455914" cy="205740"/>
          </a:xfrm>
          <a:prstGeom prst="rect">
            <a:avLst/>
          </a:prstGeom>
          <a:noFill/>
          <a:ln/>
        </p:spPr>
        <p:txBody>
          <a:bodyPr wrap="square" lIns="0" tIns="0" rIns="0" bIns="0" rtlCol="0" anchor="t"/>
          <a:lstStyle/>
          <a:p>
            <a:pPr indent="0" marL="0">
              <a:buNone/>
            </a:pPr>
            <a:r>
              <a:rPr lang="en-US" sz="790" i="1" dirty="0">
                <a:solidFill>
                  <a:srgbClr val="595959"/>
                </a:solidFill>
                <a:latin typeface="Arial" pitchFamily="34" charset="0"/>
                <a:ea typeface="Arial" pitchFamily="34" charset="-122"/>
                <a:cs typeface="Arial" pitchFamily="34" charset="-120"/>
              </a:rPr>
              <a:t>What we own and why we wrap it: structural demand for Asian chips, memory and tools, held through a market of high rates, record volatility and concentrated, full prices</a:t>
            </a:r>
            <a:endParaRPr lang="en-US" sz="790" dirty="0"/>
          </a:p>
        </p:txBody>
      </p:sp>
      <p:sp>
        <p:nvSpPr>
          <p:cNvPr id="10" name="Shape 8"/>
          <p:cNvSpPr/>
          <p:nvPr/>
        </p:nvSpPr>
        <p:spPr>
          <a:xfrm>
            <a:off x="342900" y="973836"/>
            <a:ext cx="4114800" cy="288036"/>
          </a:xfrm>
          <a:prstGeom prst="rect">
            <a:avLst/>
          </a:prstGeom>
          <a:solidFill>
            <a:srgbClr val="2C5F82"/>
          </a:solidFill>
          <a:ln w="12700">
            <a:solidFill>
              <a:srgbClr val="2C5F82"/>
            </a:solidFill>
            <a:prstDash val="solid"/>
          </a:ln>
        </p:spPr>
      </p:sp>
      <p:sp>
        <p:nvSpPr>
          <p:cNvPr id="11" name="Text 9"/>
          <p:cNvSpPr txBox="1"/>
          <p:nvPr/>
        </p:nvSpPr>
        <p:spPr>
          <a:xfrm>
            <a:off x="445770" y="973836"/>
            <a:ext cx="3909060" cy="288036"/>
          </a:xfrm>
          <a:prstGeom prst="rect">
            <a:avLst/>
          </a:prstGeom>
          <a:noFill/>
          <a:ln/>
        </p:spPr>
        <p:txBody>
          <a:bodyPr wrap="square" lIns="0" tIns="0" rIns="0" bIns="0" rtlCol="0" anchor="ctr"/>
          <a:lstStyle/>
          <a:p>
            <a:pPr indent="0" marL="0">
              <a:buNone/>
            </a:pPr>
            <a:r>
              <a:rPr lang="en-US" sz="940" b="1" dirty="0">
                <a:solidFill>
                  <a:srgbClr val="8DB3D1"/>
                </a:solidFill>
                <a:latin typeface="Arial" pitchFamily="34" charset="0"/>
                <a:ea typeface="Arial" pitchFamily="34" charset="-122"/>
                <a:cs typeface="Arial" pitchFamily="34" charset="-120"/>
              </a:rPr>
              <a:t>1  </a:t>
            </a:r>
            <a:pPr indent="0" marL="0">
              <a:buNone/>
            </a:pPr>
            <a:r>
              <a:rPr lang="en-US" sz="940" b="1" dirty="0">
                <a:solidFill>
                  <a:srgbClr val="FFFFFF"/>
                </a:solidFill>
                <a:latin typeface="Arial" pitchFamily="34" charset="0"/>
                <a:ea typeface="Arial" pitchFamily="34" charset="-122"/>
                <a:cs typeface="Arial" pitchFamily="34" charset="-120"/>
              </a:rPr>
              <a:t>Asia controls AI's hardware bottlenecks</a:t>
            </a:r>
            <a:endParaRPr lang="en-US" sz="940" dirty="0"/>
          </a:p>
        </p:txBody>
      </p:sp>
      <p:graphicFrame>
        <p:nvGraphicFramePr>
          <p:cNvPr id="12" name="Chart 0" descr=""/>
          <p:cNvGraphicFramePr/>
          <p:nvPr/>
        </p:nvGraphicFramePr>
        <p:xfrm>
          <a:off x="342900" y="1316736"/>
          <a:ext cx="1851660" cy="140589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297430" y="1357884"/>
            <a:ext cx="2125980" cy="1371600"/>
          </a:xfrm>
          <a:prstGeom prst="rect">
            <a:avLst/>
          </a:prstGeom>
          <a:noFill/>
          <a:ln/>
        </p:spPr>
        <p:txBody>
          <a:bodyPr wrap="square" lIns="0" tIns="0" rIns="0" bIns="0" rtlCol="0" anchor="t"/>
          <a:lstStyle/>
          <a:p>
            <a:pPr indent="0" marL="0">
              <a:spcAft>
                <a:spcPts val="200"/>
              </a:spcAft>
              <a:buNone/>
            </a:pPr>
            <a:r>
              <a:rPr lang="en-US" sz="710" b="1" dirty="0">
                <a:solidFill>
                  <a:srgbClr val="2C5F82"/>
                </a:solidFill>
                <a:latin typeface="Arial" pitchFamily="34" charset="0"/>
                <a:ea typeface="Arial" pitchFamily="34" charset="-122"/>
                <a:cs typeface="Arial" pitchFamily="34" charset="-120"/>
              </a:rPr>
              <a:t>Demand is structural</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Hyperscaler capex ~US$725bn in 2026 (+77%); the chip market nearly doubles to ~US$1.5trn.</a:t>
            </a:r>
            <a:endParaRPr lang="en-US" sz="710" dirty="0"/>
          </a:p>
          <a:p>
            <a:pPr indent="0" marL="0">
              <a:spcAft>
                <a:spcPts val="200"/>
              </a:spcAft>
              <a:buNone/>
            </a:pPr>
            <a:r>
              <a:rPr lang="en-US" sz="710" b="1" dirty="0">
                <a:solidFill>
                  <a:srgbClr val="2C5F82"/>
                </a:solidFill>
                <a:latin typeface="Arial" pitchFamily="34" charset="0"/>
                <a:ea typeface="Arial" pitchFamily="34" charset="-122"/>
                <a:cs typeface="Arial" pitchFamily="34" charset="-120"/>
              </a:rPr>
              <a:t>The moat runs through Asia</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8 of the world's 10 largest companies depend on TSMC (J.P. Morgan).</a:t>
            </a:r>
            <a:endParaRPr lang="en-US" sz="710" dirty="0"/>
          </a:p>
          <a:p>
            <a:pPr indent="0" marL="0">
              <a:spcAft>
                <a:spcPts val="200"/>
              </a:spcAft>
              <a:buNone/>
            </a:pPr>
            <a:r>
              <a:rPr lang="en-US" sz="710" b="1" dirty="0">
                <a:solidFill>
                  <a:srgbClr val="B23B3B"/>
                </a:solidFill>
                <a:latin typeface="Arial" pitchFamily="34" charset="0"/>
                <a:ea typeface="Arial" pitchFamily="34" charset="-122"/>
                <a:cs typeface="Arial" pitchFamily="34" charset="-120"/>
              </a:rPr>
              <a:t>…but the cycle is maturing</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DRAM price gains slowing: +48% in Q2, ~+13% expected in Q4 2026.</a:t>
            </a:r>
            <a:endParaRPr lang="en-US" sz="710" dirty="0"/>
          </a:p>
        </p:txBody>
      </p:sp>
      <p:sp>
        <p:nvSpPr>
          <p:cNvPr id="14" name="Shape 11"/>
          <p:cNvSpPr/>
          <p:nvPr/>
        </p:nvSpPr>
        <p:spPr>
          <a:xfrm>
            <a:off x="342900" y="2798064"/>
            <a:ext cx="4114800" cy="411480"/>
          </a:xfrm>
          <a:prstGeom prst="rect">
            <a:avLst/>
          </a:prstGeom>
          <a:solidFill>
            <a:srgbClr val="F2F2F2"/>
          </a:solidFill>
          <a:ln w="12700">
            <a:solidFill>
              <a:srgbClr val="F2F2F2"/>
            </a:solidFill>
            <a:prstDash val="solid"/>
          </a:ln>
        </p:spPr>
      </p:sp>
      <p:sp>
        <p:nvSpPr>
          <p:cNvPr id="15" name="Shape 12"/>
          <p:cNvSpPr/>
          <p:nvPr/>
        </p:nvSpPr>
        <p:spPr>
          <a:xfrm>
            <a:off x="342900" y="2798064"/>
            <a:ext cx="48006" cy="411480"/>
          </a:xfrm>
          <a:prstGeom prst="rect">
            <a:avLst/>
          </a:prstGeom>
          <a:solidFill>
            <a:srgbClr val="2C5F82"/>
          </a:solidFill>
          <a:ln w="12700">
            <a:solidFill>
              <a:srgbClr val="2C5F82"/>
            </a:solidFill>
            <a:prstDash val="solid"/>
          </a:ln>
        </p:spPr>
      </p:sp>
      <p:sp>
        <p:nvSpPr>
          <p:cNvPr id="16" name="Text 13"/>
          <p:cNvSpPr txBox="1"/>
          <p:nvPr/>
        </p:nvSpPr>
        <p:spPr>
          <a:xfrm>
            <a:off x="425196" y="2798064"/>
            <a:ext cx="788670" cy="411480"/>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~70%</a:t>
            </a:r>
            <a:endParaRPr lang="en-US" sz="1350" dirty="0"/>
          </a:p>
        </p:txBody>
      </p:sp>
      <p:sp>
        <p:nvSpPr>
          <p:cNvPr id="17" name="Text 14"/>
          <p:cNvSpPr txBox="1"/>
          <p:nvPr/>
        </p:nvSpPr>
        <p:spPr>
          <a:xfrm>
            <a:off x="1268730" y="2798064"/>
            <a:ext cx="3120390" cy="411480"/>
          </a:xfrm>
          <a:prstGeom prst="rect">
            <a:avLst/>
          </a:prstGeom>
          <a:noFill/>
          <a:ln/>
        </p:spPr>
        <p:txBody>
          <a:bodyPr wrap="square" lIns="0" tIns="0" rIns="0" bIns="0" rtlCol="0" anchor="ctr"/>
          <a:lstStyle/>
          <a:p>
            <a:pPr indent="0" marL="0">
              <a:buNone/>
            </a:pPr>
            <a:r>
              <a:rPr lang="en-US" sz="710" b="1" dirty="0">
                <a:solidFill>
                  <a:srgbClr val="262626"/>
                </a:solidFill>
                <a:latin typeface="Arial" pitchFamily="34" charset="0"/>
                <a:ea typeface="Arial" pitchFamily="34" charset="-122"/>
                <a:cs typeface="Arial" pitchFamily="34" charset="-120"/>
              </a:rPr>
              <a:t>Taiwan makes the chips: </a:t>
            </a:r>
            <a:pPr indent="0" marL="0">
              <a:buNone/>
            </a:pPr>
            <a:r>
              <a:rPr lang="en-US" sz="710" dirty="0">
                <a:solidFill>
                  <a:srgbClr val="595959"/>
                </a:solidFill>
                <a:latin typeface="Arial" pitchFamily="34" charset="0"/>
                <a:ea typeface="Arial" pitchFamily="34" charset="-122"/>
                <a:cs typeface="Arial" pitchFamily="34" charset="-120"/>
              </a:rPr>
              <a:t>TSMC share of global foundry revenue; TSMC &gt;40% of TAIEX</a:t>
            </a:r>
            <a:endParaRPr lang="en-US" sz="710" dirty="0"/>
          </a:p>
        </p:txBody>
      </p:sp>
      <p:sp>
        <p:nvSpPr>
          <p:cNvPr id="18" name="Shape 15"/>
          <p:cNvSpPr/>
          <p:nvPr/>
        </p:nvSpPr>
        <p:spPr>
          <a:xfrm>
            <a:off x="342900" y="3250692"/>
            <a:ext cx="4114800" cy="411480"/>
          </a:xfrm>
          <a:prstGeom prst="rect">
            <a:avLst/>
          </a:prstGeom>
          <a:solidFill>
            <a:srgbClr val="FFFFFF"/>
          </a:solidFill>
          <a:ln w="12700">
            <a:solidFill>
              <a:srgbClr val="F2F2F2"/>
            </a:solidFill>
            <a:prstDash val="solid"/>
          </a:ln>
        </p:spPr>
      </p:sp>
      <p:sp>
        <p:nvSpPr>
          <p:cNvPr id="19" name="Shape 16"/>
          <p:cNvSpPr/>
          <p:nvPr/>
        </p:nvSpPr>
        <p:spPr>
          <a:xfrm>
            <a:off x="342900" y="3250692"/>
            <a:ext cx="48006" cy="411480"/>
          </a:xfrm>
          <a:prstGeom prst="rect">
            <a:avLst/>
          </a:prstGeom>
          <a:solidFill>
            <a:srgbClr val="2C5F82"/>
          </a:solidFill>
          <a:ln w="12700">
            <a:solidFill>
              <a:srgbClr val="2C5F82"/>
            </a:solidFill>
            <a:prstDash val="solid"/>
          </a:ln>
        </p:spPr>
      </p:sp>
      <p:sp>
        <p:nvSpPr>
          <p:cNvPr id="20" name="Text 17"/>
          <p:cNvSpPr txBox="1"/>
          <p:nvPr/>
        </p:nvSpPr>
        <p:spPr>
          <a:xfrm>
            <a:off x="425196" y="3250692"/>
            <a:ext cx="788670" cy="411480"/>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83%</a:t>
            </a:r>
            <a:endParaRPr lang="en-US" sz="1350" dirty="0"/>
          </a:p>
        </p:txBody>
      </p:sp>
      <p:sp>
        <p:nvSpPr>
          <p:cNvPr id="21" name="Text 18"/>
          <p:cNvSpPr txBox="1"/>
          <p:nvPr/>
        </p:nvSpPr>
        <p:spPr>
          <a:xfrm>
            <a:off x="1268730" y="3250692"/>
            <a:ext cx="3120390" cy="411480"/>
          </a:xfrm>
          <a:prstGeom prst="rect">
            <a:avLst/>
          </a:prstGeom>
          <a:noFill/>
          <a:ln/>
        </p:spPr>
        <p:txBody>
          <a:bodyPr wrap="square" lIns="0" tIns="0" rIns="0" bIns="0" rtlCol="0" anchor="ctr"/>
          <a:lstStyle/>
          <a:p>
            <a:pPr indent="0" marL="0">
              <a:buNone/>
            </a:pPr>
            <a:r>
              <a:rPr lang="en-US" sz="710" b="1" dirty="0">
                <a:solidFill>
                  <a:srgbClr val="262626"/>
                </a:solidFill>
                <a:latin typeface="Arial" pitchFamily="34" charset="0"/>
                <a:ea typeface="Arial" pitchFamily="34" charset="-122"/>
                <a:cs typeface="Arial" pitchFamily="34" charset="-120"/>
              </a:rPr>
              <a:t>Korea makes the memory: </a:t>
            </a:r>
            <a:pPr indent="0" marL="0">
              <a:buNone/>
            </a:pPr>
            <a:r>
              <a:rPr lang="en-US" sz="710" dirty="0">
                <a:solidFill>
                  <a:srgbClr val="595959"/>
                </a:solidFill>
                <a:latin typeface="Arial" pitchFamily="34" charset="0"/>
                <a:ea typeface="Arial" pitchFamily="34" charset="-122"/>
                <a:cs typeface="Arial" pitchFamily="34" charset="-120"/>
              </a:rPr>
              <a:t>SK hynix + Samsung share of HBM, the memory every AI accelerator needs</a:t>
            </a:r>
            <a:endParaRPr lang="en-US" sz="710" dirty="0"/>
          </a:p>
        </p:txBody>
      </p:sp>
      <p:sp>
        <p:nvSpPr>
          <p:cNvPr id="22" name="Shape 19"/>
          <p:cNvSpPr/>
          <p:nvPr/>
        </p:nvSpPr>
        <p:spPr>
          <a:xfrm>
            <a:off x="342900" y="3703320"/>
            <a:ext cx="4114800" cy="411480"/>
          </a:xfrm>
          <a:prstGeom prst="rect">
            <a:avLst/>
          </a:prstGeom>
          <a:solidFill>
            <a:srgbClr val="F2F2F2"/>
          </a:solidFill>
          <a:ln w="12700">
            <a:solidFill>
              <a:srgbClr val="F2F2F2"/>
            </a:solidFill>
            <a:prstDash val="solid"/>
          </a:ln>
        </p:spPr>
      </p:sp>
      <p:sp>
        <p:nvSpPr>
          <p:cNvPr id="23" name="Shape 20"/>
          <p:cNvSpPr/>
          <p:nvPr/>
        </p:nvSpPr>
        <p:spPr>
          <a:xfrm>
            <a:off x="342900" y="3703320"/>
            <a:ext cx="48006" cy="411480"/>
          </a:xfrm>
          <a:prstGeom prst="rect">
            <a:avLst/>
          </a:prstGeom>
          <a:solidFill>
            <a:srgbClr val="2C5F82"/>
          </a:solidFill>
          <a:ln w="12700">
            <a:solidFill>
              <a:srgbClr val="2C5F82"/>
            </a:solidFill>
            <a:prstDash val="solid"/>
          </a:ln>
        </p:spPr>
      </p:sp>
      <p:sp>
        <p:nvSpPr>
          <p:cNvPr id="24" name="Text 21"/>
          <p:cNvSpPr txBox="1"/>
          <p:nvPr/>
        </p:nvSpPr>
        <p:spPr>
          <a:xfrm>
            <a:off x="425196" y="3703320"/>
            <a:ext cx="788670" cy="411480"/>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~55%</a:t>
            </a:r>
            <a:endParaRPr lang="en-US" sz="1350" dirty="0"/>
          </a:p>
        </p:txBody>
      </p:sp>
      <p:sp>
        <p:nvSpPr>
          <p:cNvPr id="25" name="Text 22"/>
          <p:cNvSpPr txBox="1"/>
          <p:nvPr/>
        </p:nvSpPr>
        <p:spPr>
          <a:xfrm>
            <a:off x="1268730" y="3703320"/>
            <a:ext cx="3120390" cy="411480"/>
          </a:xfrm>
          <a:prstGeom prst="rect">
            <a:avLst/>
          </a:prstGeom>
          <a:noFill/>
          <a:ln/>
        </p:spPr>
        <p:txBody>
          <a:bodyPr wrap="square" lIns="0" tIns="0" rIns="0" bIns="0" rtlCol="0" anchor="ctr"/>
          <a:lstStyle/>
          <a:p>
            <a:pPr indent="0" marL="0">
              <a:buNone/>
            </a:pPr>
            <a:r>
              <a:rPr lang="en-US" sz="710" b="1" dirty="0">
                <a:solidFill>
                  <a:srgbClr val="262626"/>
                </a:solidFill>
                <a:latin typeface="Arial" pitchFamily="34" charset="0"/>
                <a:ea typeface="Arial" pitchFamily="34" charset="-122"/>
                <a:cs typeface="Arial" pitchFamily="34" charset="-120"/>
              </a:rPr>
              <a:t>Japan makes the tools: </a:t>
            </a:r>
            <a:pPr indent="0" marL="0">
              <a:buNone/>
            </a:pPr>
            <a:r>
              <a:rPr lang="en-US" sz="710" dirty="0">
                <a:solidFill>
                  <a:srgbClr val="595959"/>
                </a:solidFill>
                <a:latin typeface="Arial" pitchFamily="34" charset="0"/>
                <a:ea typeface="Arial" pitchFamily="34" charset="-122"/>
                <a:cs typeface="Arial" pitchFamily="34" charset="-120"/>
              </a:rPr>
              <a:t>Advantest share of chip test equipment; with Tokyo Electron ≈ 20% of the Nikkei</a:t>
            </a:r>
            <a:endParaRPr lang="en-US" sz="710" dirty="0"/>
          </a:p>
        </p:txBody>
      </p:sp>
      <p:sp>
        <p:nvSpPr>
          <p:cNvPr id="26" name="Shape 23"/>
          <p:cNvSpPr/>
          <p:nvPr/>
        </p:nvSpPr>
        <p:spPr>
          <a:xfrm>
            <a:off x="4684014" y="973836"/>
            <a:ext cx="4114800" cy="288036"/>
          </a:xfrm>
          <a:prstGeom prst="rect">
            <a:avLst/>
          </a:prstGeom>
          <a:solidFill>
            <a:srgbClr val="2C5F82"/>
          </a:solidFill>
          <a:ln w="12700">
            <a:solidFill>
              <a:srgbClr val="2C5F82"/>
            </a:solidFill>
            <a:prstDash val="solid"/>
          </a:ln>
        </p:spPr>
      </p:sp>
      <p:sp>
        <p:nvSpPr>
          <p:cNvPr id="27" name="Text 24"/>
          <p:cNvSpPr txBox="1"/>
          <p:nvPr/>
        </p:nvSpPr>
        <p:spPr>
          <a:xfrm>
            <a:off x="4786884" y="973836"/>
            <a:ext cx="3909060" cy="288036"/>
          </a:xfrm>
          <a:prstGeom prst="rect">
            <a:avLst/>
          </a:prstGeom>
          <a:noFill/>
          <a:ln/>
        </p:spPr>
        <p:txBody>
          <a:bodyPr wrap="square" lIns="0" tIns="0" rIns="0" bIns="0" rtlCol="0" anchor="ctr"/>
          <a:lstStyle/>
          <a:p>
            <a:pPr indent="0" marL="0">
              <a:buNone/>
            </a:pPr>
            <a:r>
              <a:rPr lang="en-US" sz="940" b="1" dirty="0">
                <a:solidFill>
                  <a:srgbClr val="8DB3D1"/>
                </a:solidFill>
                <a:latin typeface="Arial" pitchFamily="34" charset="0"/>
                <a:ea typeface="Arial" pitchFamily="34" charset="-122"/>
                <a:cs typeface="Arial" pitchFamily="34" charset="-120"/>
              </a:rPr>
              <a:t>2  </a:t>
            </a:r>
            <a:pPr indent="0" marL="0">
              <a:buNone/>
            </a:pPr>
            <a:r>
              <a:rPr lang="en-US" sz="940" b="1" dirty="0">
                <a:solidFill>
                  <a:srgbClr val="FFFFFF"/>
                </a:solidFill>
                <a:latin typeface="Arial" pitchFamily="34" charset="0"/>
                <a:ea typeface="Arial" pitchFamily="34" charset="-122"/>
                <a:cs typeface="Arial" pitchFamily="34" charset="-120"/>
              </a:rPr>
              <a:t>2026 punishes bonds and buy-and-hold</a:t>
            </a:r>
            <a:endParaRPr lang="en-US" sz="940" dirty="0"/>
          </a:p>
        </p:txBody>
      </p:sp>
      <p:pic>
        <p:nvPicPr>
          <p:cNvPr id="28" name="Image 0" descr="/home/user/natixis-case-comp/deck/fomc_dot_plot_compact.png">    </p:cNvPr>
          <p:cNvPicPr>
            <a:picLocks noChangeAspect="1"/>
          </p:cNvPicPr>
          <p:nvPr/>
        </p:nvPicPr>
        <p:blipFill>
          <a:blip r:embed="rId2"/>
          <a:stretch>
            <a:fillRect/>
          </a:stretch>
        </p:blipFill>
        <p:spPr>
          <a:xfrm>
            <a:off x="4684014" y="1337310"/>
            <a:ext cx="2468880" cy="873140"/>
          </a:xfrm>
          <a:prstGeom prst="rect">
            <a:avLst/>
          </a:prstGeom>
        </p:spPr>
      </p:pic>
      <p:sp>
        <p:nvSpPr>
          <p:cNvPr id="29" name="Text 25"/>
          <p:cNvSpPr txBox="1"/>
          <p:nvPr/>
        </p:nvSpPr>
        <p:spPr>
          <a:xfrm>
            <a:off x="4684014" y="2228850"/>
            <a:ext cx="2468880" cy="137160"/>
          </a:xfrm>
          <a:prstGeom prst="rect">
            <a:avLst/>
          </a:prstGeom>
          <a:noFill/>
          <a:ln/>
        </p:spPr>
        <p:txBody>
          <a:bodyPr wrap="square" lIns="0" tIns="0" rIns="0" bIns="0" rtlCol="0" anchor="t"/>
          <a:lstStyle/>
          <a:p>
            <a:pPr indent="0" marL="0">
              <a:buNone/>
            </a:pPr>
            <a:r>
              <a:rPr lang="en-US" sz="560" i="1" dirty="0">
                <a:solidFill>
                  <a:srgbClr val="595959"/>
                </a:solidFill>
                <a:latin typeface="Arial" pitchFamily="34" charset="0"/>
                <a:ea typeface="Arial" pitchFamily="34" charset="-122"/>
                <a:cs typeface="Arial" pitchFamily="34" charset="-120"/>
              </a:rPr>
              <a:t>FOMC dot plot, 16 Sep 2026 (shaded: today's 3.75–4.00%)</a:t>
            </a:r>
            <a:endParaRPr lang="en-US" sz="560" dirty="0"/>
          </a:p>
        </p:txBody>
      </p:sp>
      <p:sp>
        <p:nvSpPr>
          <p:cNvPr id="30" name="Text 26"/>
          <p:cNvSpPr txBox="1"/>
          <p:nvPr/>
        </p:nvSpPr>
        <p:spPr>
          <a:xfrm>
            <a:off x="7255764" y="1357884"/>
            <a:ext cx="1543050" cy="891540"/>
          </a:xfrm>
          <a:prstGeom prst="rect">
            <a:avLst/>
          </a:prstGeom>
          <a:noFill/>
          <a:ln/>
        </p:spPr>
        <p:txBody>
          <a:bodyPr wrap="square" lIns="0" tIns="0" rIns="0" bIns="0" rtlCol="0" anchor="t"/>
          <a:lstStyle/>
          <a:p>
            <a:pPr indent="0" marL="0">
              <a:spcAft>
                <a:spcPts val="200"/>
              </a:spcAft>
              <a:buNone/>
            </a:pPr>
            <a:r>
              <a:rPr lang="en-US" sz="710" b="1" dirty="0">
                <a:solidFill>
                  <a:srgbClr val="2C5F82"/>
                </a:solidFill>
                <a:latin typeface="Arial" pitchFamily="34" charset="0"/>
                <a:ea typeface="Arial" pitchFamily="34" charset="-122"/>
                <a:cs typeface="Arial" pitchFamily="34" charset="-120"/>
              </a:rPr>
              <a:t>Rates stay high</a:t>
            </a:r>
            <a:endParaRPr lang="en-US" sz="710" dirty="0"/>
          </a:p>
          <a:p>
            <a:pPr indent="0" marL="0">
              <a:spcAft>
                <a:spcPts val="200"/>
              </a:spcAft>
              <a:buNone/>
            </a:pPr>
            <a:r>
              <a:rPr lang="en-US" sz="710" dirty="0">
                <a:solidFill>
                  <a:srgbClr val="262626"/>
                </a:solidFill>
                <a:latin typeface="Arial" pitchFamily="34" charset="0"/>
                <a:ea typeface="Arial" pitchFamily="34" charset="-122"/>
                <a:cs typeface="Arial" pitchFamily="34" charset="-120"/>
              </a:rPr>
              <a:t>Fed median 4.125% to end-2027, cuts only from 2028; 12 dots see 4.375%.</a:t>
            </a:r>
            <a:endParaRPr lang="en-US" sz="710" dirty="0"/>
          </a:p>
        </p:txBody>
      </p:sp>
      <p:sp>
        <p:nvSpPr>
          <p:cNvPr id="31" name="Shape 27"/>
          <p:cNvSpPr/>
          <p:nvPr/>
        </p:nvSpPr>
        <p:spPr>
          <a:xfrm>
            <a:off x="4684014" y="2400300"/>
            <a:ext cx="4114800" cy="528066"/>
          </a:xfrm>
          <a:prstGeom prst="rect">
            <a:avLst/>
          </a:prstGeom>
          <a:solidFill>
            <a:srgbClr val="F2F2F2"/>
          </a:solidFill>
          <a:ln w="12700">
            <a:solidFill>
              <a:srgbClr val="F2F2F2"/>
            </a:solidFill>
            <a:prstDash val="solid"/>
          </a:ln>
        </p:spPr>
      </p:sp>
      <p:sp>
        <p:nvSpPr>
          <p:cNvPr id="32" name="Shape 28"/>
          <p:cNvSpPr/>
          <p:nvPr/>
        </p:nvSpPr>
        <p:spPr>
          <a:xfrm>
            <a:off x="4684014" y="2400300"/>
            <a:ext cx="48006" cy="528066"/>
          </a:xfrm>
          <a:prstGeom prst="rect">
            <a:avLst/>
          </a:prstGeom>
          <a:solidFill>
            <a:srgbClr val="2C5F82"/>
          </a:solidFill>
          <a:ln w="12700">
            <a:solidFill>
              <a:srgbClr val="2C5F82"/>
            </a:solidFill>
            <a:prstDash val="solid"/>
          </a:ln>
        </p:spPr>
      </p:sp>
      <p:sp>
        <p:nvSpPr>
          <p:cNvPr id="33" name="Text 29"/>
          <p:cNvSpPr txBox="1"/>
          <p:nvPr/>
        </p:nvSpPr>
        <p:spPr>
          <a:xfrm>
            <a:off x="4766310" y="2400300"/>
            <a:ext cx="788670" cy="528066"/>
          </a:xfrm>
          <a:prstGeom prst="rect">
            <a:avLst/>
          </a:prstGeom>
          <a:noFill/>
          <a:ln/>
        </p:spPr>
        <p:txBody>
          <a:bodyPr wrap="square" lIns="0" tIns="0" rIns="0" bIns="0" rtlCol="0" anchor="ctr"/>
          <a:lstStyle/>
          <a:p>
            <a:pPr algn="ctr" indent="0" marL="0">
              <a:buNone/>
            </a:pPr>
            <a:r>
              <a:rPr lang="en-US" sz="1350" b="1" dirty="0">
                <a:solidFill>
                  <a:srgbClr val="2C5F82"/>
                </a:solidFill>
                <a:latin typeface="Arial" pitchFamily="34" charset="0"/>
                <a:ea typeface="Arial" pitchFamily="34" charset="-122"/>
                <a:cs typeface="Arial" pitchFamily="34" charset="-120"/>
              </a:rPr>
              <a:t>−4.0%</a:t>
            </a:r>
            <a:endParaRPr lang="en-US" sz="1350" dirty="0"/>
          </a:p>
        </p:txBody>
      </p:sp>
      <p:sp>
        <p:nvSpPr>
          <p:cNvPr id="34" name="Text 30"/>
          <p:cNvSpPr txBox="1"/>
          <p:nvPr/>
        </p:nvSpPr>
        <p:spPr>
          <a:xfrm>
            <a:off x="5609844" y="2420874"/>
            <a:ext cx="3120390" cy="486918"/>
          </a:xfrm>
          <a:prstGeom prst="rect">
            <a:avLst/>
          </a:prstGeom>
          <a:noFill/>
          <a:ln/>
        </p:spPr>
        <p:txBody>
          <a:bodyPr wrap="square" lIns="0" tIns="0" rIns="0" bIns="0" rtlCol="0" anchor="ctr"/>
          <a:lstStyle/>
          <a:p>
            <a:pPr indent="0" marL="0">
              <a:spcAft>
                <a:spcPts val="100"/>
              </a:spcAft>
              <a:buNone/>
            </a:pPr>
            <a:r>
              <a:rPr lang="en-US" sz="6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680" dirty="0">
                <a:solidFill>
                  <a:srgbClr val="595959"/>
                </a:solidFill>
                <a:latin typeface="Arial" pitchFamily="34" charset="0"/>
                <a:ea typeface="Arial" pitchFamily="34" charset="-122"/>
                <a:cs typeface="Arial" pitchFamily="34" charset="-120"/>
              </a:rPr>
              <a:t>a 5-year bond loses ~4.0% per 1% rise.</a:t>
            </a:r>
            <a:endParaRPr lang="en-US" sz="680" dirty="0"/>
          </a:p>
          <a:p>
            <a:pPr indent="0" marL="0">
              <a:spcAft>
                <a:spcPts val="100"/>
              </a:spcAft>
              <a:buNone/>
            </a:pPr>
            <a:r>
              <a:rPr lang="en-US" sz="680" b="1" dirty="0">
                <a:solidFill>
                  <a:srgbClr val="2C5F82"/>
                </a:solidFill>
                <a:latin typeface="Arial" pitchFamily="34" charset="0"/>
                <a:ea typeface="Arial" pitchFamily="34" charset="-122"/>
                <a:cs typeface="Arial" pitchFamily="34" charset="-120"/>
              </a:rPr>
              <a:t>→ Redeems from year 1 (expected life ~2 years): short duration, cash back to reinvest</a:t>
            </a:r>
            <a:endParaRPr lang="en-US" sz="680" dirty="0"/>
          </a:p>
        </p:txBody>
      </p:sp>
      <p:sp>
        <p:nvSpPr>
          <p:cNvPr id="35" name="Shape 31"/>
          <p:cNvSpPr/>
          <p:nvPr/>
        </p:nvSpPr>
        <p:spPr>
          <a:xfrm>
            <a:off x="4684014" y="2969514"/>
            <a:ext cx="4114800" cy="528066"/>
          </a:xfrm>
          <a:prstGeom prst="rect">
            <a:avLst/>
          </a:prstGeom>
          <a:solidFill>
            <a:srgbClr val="FFFFFF"/>
          </a:solidFill>
          <a:ln w="12700">
            <a:solidFill>
              <a:srgbClr val="F2F2F2"/>
            </a:solidFill>
            <a:prstDash val="solid"/>
          </a:ln>
        </p:spPr>
      </p:sp>
      <p:sp>
        <p:nvSpPr>
          <p:cNvPr id="36" name="Shape 32"/>
          <p:cNvSpPr/>
          <p:nvPr/>
        </p:nvSpPr>
        <p:spPr>
          <a:xfrm>
            <a:off x="4684014" y="2969514"/>
            <a:ext cx="48006" cy="528066"/>
          </a:xfrm>
          <a:prstGeom prst="rect">
            <a:avLst/>
          </a:prstGeom>
          <a:solidFill>
            <a:srgbClr val="B23B3B"/>
          </a:solidFill>
          <a:ln w="12700">
            <a:solidFill>
              <a:srgbClr val="B23B3B"/>
            </a:solidFill>
            <a:prstDash val="solid"/>
          </a:ln>
        </p:spPr>
      </p:sp>
      <p:sp>
        <p:nvSpPr>
          <p:cNvPr id="37" name="Text 33"/>
          <p:cNvSpPr txBox="1"/>
          <p:nvPr/>
        </p:nvSpPr>
        <p:spPr>
          <a:xfrm>
            <a:off x="4766310" y="2969514"/>
            <a:ext cx="788670" cy="528066"/>
          </a:xfrm>
          <a:prstGeom prst="rect">
            <a:avLst/>
          </a:prstGeom>
          <a:noFill/>
          <a:ln/>
        </p:spPr>
        <p:txBody>
          <a:bodyPr wrap="square" lIns="0" tIns="0" rIns="0" bIns="0" rtlCol="0" anchor="ctr"/>
          <a:lstStyle/>
          <a:p>
            <a:pPr algn="ctr" indent="0" marL="0">
              <a:buNone/>
            </a:pPr>
            <a:r>
              <a:rPr lang="en-US" sz="1350" b="1" dirty="0">
                <a:solidFill>
                  <a:srgbClr val="B23B3B"/>
                </a:solidFill>
                <a:latin typeface="Arial" pitchFamily="34" charset="0"/>
                <a:ea typeface="Arial" pitchFamily="34" charset="-122"/>
                <a:cs typeface="Arial" pitchFamily="34" charset="-120"/>
              </a:rPr>
              <a:t>91.2</a:t>
            </a:r>
            <a:endParaRPr lang="en-US" sz="1350" dirty="0"/>
          </a:p>
        </p:txBody>
      </p:sp>
      <p:sp>
        <p:nvSpPr>
          <p:cNvPr id="38" name="Text 34"/>
          <p:cNvSpPr txBox="1"/>
          <p:nvPr/>
        </p:nvSpPr>
        <p:spPr>
          <a:xfrm>
            <a:off x="5609844" y="2990088"/>
            <a:ext cx="3120390" cy="486918"/>
          </a:xfrm>
          <a:prstGeom prst="rect">
            <a:avLst/>
          </a:prstGeom>
          <a:noFill/>
          <a:ln/>
        </p:spPr>
        <p:txBody>
          <a:bodyPr wrap="square" lIns="0" tIns="0" rIns="0" bIns="0" rtlCol="0" anchor="ctr"/>
          <a:lstStyle/>
          <a:p>
            <a:pPr indent="0" marL="0">
              <a:spcAft>
                <a:spcPts val="100"/>
              </a:spcAft>
              <a:buNone/>
            </a:pPr>
            <a:r>
              <a:rPr lang="en-US" sz="6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680" dirty="0">
                <a:solidFill>
                  <a:srgbClr val="595959"/>
                </a:solidFill>
                <a:latin typeface="Arial" pitchFamily="34" charset="0"/>
                <a:ea typeface="Arial" pitchFamily="34" charset="-122"/>
                <a:cs typeface="Arial" pitchFamily="34" charset="-120"/>
              </a:rPr>
              <a:t>VKOSPI's all-time high; KOSPI fell ~25% from June to August 2026.</a:t>
            </a:r>
            <a:endParaRPr lang="en-US" sz="680" dirty="0"/>
          </a:p>
          <a:p>
            <a:pPr indent="0" marL="0">
              <a:spcAft>
                <a:spcPts val="100"/>
              </a:spcAft>
              <a:buNone/>
            </a:pPr>
            <a:r>
              <a:rPr lang="en-US" sz="680" b="1" dirty="0">
                <a:solidFill>
                  <a:srgbClr val="2C5F82"/>
                </a:solidFill>
                <a:latin typeface="Arial" pitchFamily="34" charset="0"/>
                <a:ea typeface="Arial" pitchFamily="34" charset="-122"/>
                <a:cs typeface="Arial" pitchFamily="34" charset="-120"/>
              </a:rPr>
              <a:t>→ Coupons pay on recovery, no timing needed; rich option premium funds them</a:t>
            </a:r>
            <a:endParaRPr lang="en-US" sz="680" dirty="0"/>
          </a:p>
        </p:txBody>
      </p:sp>
      <p:sp>
        <p:nvSpPr>
          <p:cNvPr id="39" name="Shape 35"/>
          <p:cNvSpPr/>
          <p:nvPr/>
        </p:nvSpPr>
        <p:spPr>
          <a:xfrm>
            <a:off x="4684014" y="3538728"/>
            <a:ext cx="4114800" cy="528066"/>
          </a:xfrm>
          <a:prstGeom prst="rect">
            <a:avLst/>
          </a:prstGeom>
          <a:solidFill>
            <a:srgbClr val="F2F2F2"/>
          </a:solidFill>
          <a:ln w="12700">
            <a:solidFill>
              <a:srgbClr val="F2F2F2"/>
            </a:solidFill>
            <a:prstDash val="solid"/>
          </a:ln>
        </p:spPr>
      </p:sp>
      <p:sp>
        <p:nvSpPr>
          <p:cNvPr id="40" name="Shape 36"/>
          <p:cNvSpPr/>
          <p:nvPr/>
        </p:nvSpPr>
        <p:spPr>
          <a:xfrm>
            <a:off x="4684014" y="3538728"/>
            <a:ext cx="48006" cy="528066"/>
          </a:xfrm>
          <a:prstGeom prst="rect">
            <a:avLst/>
          </a:prstGeom>
          <a:solidFill>
            <a:srgbClr val="B23B3B"/>
          </a:solidFill>
          <a:ln w="12700">
            <a:solidFill>
              <a:srgbClr val="B23B3B"/>
            </a:solidFill>
            <a:prstDash val="solid"/>
          </a:ln>
        </p:spPr>
      </p:sp>
      <p:sp>
        <p:nvSpPr>
          <p:cNvPr id="41" name="Text 37"/>
          <p:cNvSpPr txBox="1"/>
          <p:nvPr/>
        </p:nvSpPr>
        <p:spPr>
          <a:xfrm>
            <a:off x="4766310" y="3538728"/>
            <a:ext cx="788670" cy="528066"/>
          </a:xfrm>
          <a:prstGeom prst="rect">
            <a:avLst/>
          </a:prstGeom>
          <a:noFill/>
          <a:ln/>
        </p:spPr>
        <p:txBody>
          <a:bodyPr wrap="square" lIns="0" tIns="0" rIns="0" bIns="0" rtlCol="0" anchor="ctr"/>
          <a:lstStyle/>
          <a:p>
            <a:pPr algn="ctr" indent="0" marL="0">
              <a:buNone/>
            </a:pPr>
            <a:r>
              <a:rPr lang="en-US" sz="1350" b="1" dirty="0">
                <a:solidFill>
                  <a:srgbClr val="B23B3B"/>
                </a:solidFill>
                <a:latin typeface="Arial" pitchFamily="34" charset="0"/>
                <a:ea typeface="Arial" pitchFamily="34" charset="-122"/>
                <a:cs typeface="Arial" pitchFamily="34" charset="-120"/>
              </a:rPr>
              <a:t>~92%</a:t>
            </a:r>
            <a:endParaRPr lang="en-US" sz="1350" dirty="0"/>
          </a:p>
        </p:txBody>
      </p:sp>
      <p:sp>
        <p:nvSpPr>
          <p:cNvPr id="42" name="Text 38"/>
          <p:cNvSpPr txBox="1"/>
          <p:nvPr/>
        </p:nvSpPr>
        <p:spPr>
          <a:xfrm>
            <a:off x="5609844" y="3559302"/>
            <a:ext cx="3120390" cy="486918"/>
          </a:xfrm>
          <a:prstGeom prst="rect">
            <a:avLst/>
          </a:prstGeom>
          <a:noFill/>
          <a:ln/>
        </p:spPr>
        <p:txBody>
          <a:bodyPr wrap="square" lIns="0" tIns="0" rIns="0" bIns="0" rtlCol="0" anchor="ctr"/>
          <a:lstStyle/>
          <a:p>
            <a:pPr indent="0" marL="0">
              <a:spcAft>
                <a:spcPts val="100"/>
              </a:spcAft>
              <a:buNone/>
            </a:pPr>
            <a:r>
              <a:rPr lang="en-US" sz="680" b="1" dirty="0">
                <a:solidFill>
                  <a:srgbClr val="262626"/>
                </a:solidFill>
                <a:latin typeface="Arial" pitchFamily="34" charset="0"/>
                <a:ea typeface="Arial" pitchFamily="34" charset="-122"/>
                <a:cs typeface="Arial" pitchFamily="34" charset="-120"/>
              </a:rPr>
              <a:t>Concentrated and fully priced: </a:t>
            </a:r>
            <a:pPr indent="0" marL="0">
              <a:spcAft>
                <a:spcPts val="100"/>
              </a:spcAft>
              <a:buNone/>
            </a:pPr>
            <a:r>
              <a:rPr lang="en-US" sz="680" dirty="0">
                <a:solidFill>
                  <a:srgbClr val="595959"/>
                </a:solidFill>
                <a:latin typeface="Arial" pitchFamily="34" charset="0"/>
                <a:ea typeface="Arial" pitchFamily="34" charset="-122"/>
                <a:cs typeface="Arial" pitchFamily="34" charset="-120"/>
              </a:rPr>
              <a:t>of advanced chips come from Taiwan; Nikkei CAPE 38.6×.</a:t>
            </a:r>
            <a:endParaRPr lang="en-US" sz="680" dirty="0"/>
          </a:p>
          <a:p>
            <a:pPr indent="0" marL="0">
              <a:spcAft>
                <a:spcPts val="100"/>
              </a:spcAft>
              <a:buNone/>
            </a:pPr>
            <a:r>
              <a:rPr lang="en-US" sz="680" b="1" dirty="0">
                <a:solidFill>
                  <a:srgbClr val="2C5F82"/>
                </a:solidFill>
                <a:latin typeface="Arial" pitchFamily="34" charset="0"/>
                <a:ea typeface="Arial" pitchFamily="34" charset="-122"/>
                <a:cs typeface="Arial" pitchFamily="34" charset="-120"/>
              </a:rPr>
              <a:t>→ Diversified five-ETF basket; capping upside at the coupon costs little</a:t>
            </a:r>
            <a:endParaRPr lang="en-US" sz="680" dirty="0"/>
          </a:p>
        </p:txBody>
      </p:sp>
      <p:sp>
        <p:nvSpPr>
          <p:cNvPr id="43" name="Shape 39"/>
          <p:cNvSpPr/>
          <p:nvPr/>
        </p:nvSpPr>
        <p:spPr>
          <a:xfrm>
            <a:off x="342900" y="4155948"/>
            <a:ext cx="8455914" cy="342900"/>
          </a:xfrm>
          <a:prstGeom prst="rect">
            <a:avLst/>
          </a:prstGeom>
          <a:solidFill>
            <a:srgbClr val="2C5F82"/>
          </a:solidFill>
          <a:ln w="12700">
            <a:solidFill>
              <a:srgbClr val="2C5F82"/>
            </a:solidFill>
            <a:prstDash val="solid"/>
          </a:ln>
        </p:spPr>
      </p:sp>
      <p:sp>
        <p:nvSpPr>
          <p:cNvPr id="44" name="Text 40"/>
          <p:cNvSpPr txBox="1"/>
          <p:nvPr/>
        </p:nvSpPr>
        <p:spPr>
          <a:xfrm>
            <a:off x="445770" y="4155948"/>
            <a:ext cx="8250174" cy="342900"/>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Whichever AI company wins, it needs Asia's chips, memory and tools; a memory-coupon autocall pays while the market swings.</a:t>
            </a:r>
            <a:endParaRPr lang="en-US" sz="860" dirty="0"/>
          </a:p>
        </p:txBody>
      </p:sp>
      <p:sp>
        <p:nvSpPr>
          <p:cNvPr id="45" name="Text 41"/>
          <p:cNvSpPr txBox="1"/>
          <p:nvPr/>
        </p:nvSpPr>
        <p:spPr>
          <a:xfrm>
            <a:off x="342900" y="4526280"/>
            <a:ext cx="8455914" cy="219456"/>
          </a:xfrm>
          <a:prstGeom prst="rect">
            <a:avLst/>
          </a:prstGeom>
          <a:noFill/>
          <a:ln/>
        </p:spPr>
        <p:txBody>
          <a:bodyPr wrap="square" lIns="0" tIns="0" rIns="0" bIns="0" rtlCol="0" anchor="t"/>
          <a:lstStyle/>
          <a:p>
            <a:pPr indent="0" marL="0">
              <a:buNone/>
            </a:pPr>
            <a:r>
              <a:rPr lang="en-US" sz="560" i="1" dirty="0">
                <a:solidFill>
                  <a:srgbClr val="595959"/>
                </a:solidFill>
                <a:latin typeface="Arial" pitchFamily="34" charset="0"/>
                <a:ea typeface="Arial" pitchFamily="34" charset="-122"/>
                <a:cs typeface="Arial" pitchFamily="34" charset="-120"/>
              </a:rPr>
              <a:t>Sources: WSTS; company capex guidance; Counterpoint (foundry, HBM); TrendForce (DRAM); industry research (test equipment); J.P. Morgan AWM 2026 Outlook; Federal Reserve SEP (16 Sep 2026, dots read from chart); Herald / SBS (VKOSPI); FN News, BIT Research (KOSPI); Siblis (CAPE); case USD funding grid. Full list: deck/thesis_sources.md.</a:t>
            </a:r>
            <a:endParaRPr lang="en-US" sz="560" dirty="0"/>
          </a:p>
        </p:txBody>
      </p:sp>
      <p:sp>
        <p:nvSpPr>
          <p:cNvPr id="47" name="Text 42"/>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Strategy: our five-ETF basket sits at the low-risk edge of every possible mix</a:t>
            </a:r>
            <a:endParaRPr lang="en-US" sz="1650" dirty="0"/>
          </a:p>
        </p:txBody>
      </p:sp>
      <p:sp>
        <p:nvSpPr>
          <p:cNvPr id="3" name="Shape 1"/>
          <p:cNvSpPr/>
          <p:nvPr/>
        </p:nvSpPr>
        <p:spPr>
          <a:xfrm>
            <a:off x="342900" y="672084"/>
            <a:ext cx="8455914" cy="0"/>
          </a:xfrm>
          <a:prstGeom prst="line">
            <a:avLst/>
          </a:prstGeom>
          <a:noFill/>
          <a:ln w="9525">
            <a:solidFill>
              <a:srgbClr val="2C5F82"/>
            </a:solidFill>
            <a:prstDash val="solid"/>
          </a:ln>
        </p:spPr>
      </p:sp>
      <p:sp>
        <p:nvSpPr>
          <p:cNvPr id="4" name="Shape 2"/>
          <p:cNvSpPr/>
          <p:nvPr/>
        </p:nvSpPr>
        <p:spPr>
          <a:xfrm>
            <a:off x="342900" y="4786884"/>
            <a:ext cx="8455914" cy="0"/>
          </a:xfrm>
          <a:prstGeom prst="line">
            <a:avLst/>
          </a:prstGeom>
          <a:noFill/>
          <a:ln w="7144">
            <a:solidFill>
              <a:srgbClr val="BFBFBF"/>
            </a:solidFill>
            <a:prstDash val="solid"/>
          </a:ln>
        </p:spPr>
      </p:sp>
      <p:sp>
        <p:nvSpPr>
          <p:cNvPr id="5" name="Text 3"/>
          <p:cNvSpPr txBox="1"/>
          <p:nvPr/>
        </p:nvSpPr>
        <p:spPr>
          <a:xfrm>
            <a:off x="342900"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6" name="Shape 4"/>
          <p:cNvSpPr/>
          <p:nvPr/>
        </p:nvSpPr>
        <p:spPr>
          <a:xfrm>
            <a:off x="3627882" y="4773168"/>
            <a:ext cx="1885950" cy="34290"/>
          </a:xfrm>
          <a:prstGeom prst="rect">
            <a:avLst/>
          </a:prstGeom>
          <a:solidFill>
            <a:srgbClr val="2C5F82"/>
          </a:solidFill>
          <a:ln w="12700">
            <a:solidFill>
              <a:srgbClr val="2C5F82"/>
            </a:solidFill>
            <a:prstDash val="solid"/>
          </a:ln>
        </p:spPr>
      </p:sp>
      <p:sp>
        <p:nvSpPr>
          <p:cNvPr id="7" name="Text 5"/>
          <p:cNvSpPr txBox="1"/>
          <p:nvPr/>
        </p:nvSpPr>
        <p:spPr>
          <a:xfrm>
            <a:off x="3216402" y="4834890"/>
            <a:ext cx="2708910" cy="205740"/>
          </a:xfrm>
          <a:prstGeom prst="rect">
            <a:avLst/>
          </a:prstGeom>
          <a:noFill/>
          <a:ln/>
        </p:spPr>
        <p:txBody>
          <a:bodyPr wrap="square" lIns="0" tIns="0" rIns="0" bIns="0" rtlCol="0" anchor="t"/>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8" name="Text 6"/>
          <p:cNvSpPr txBox="1"/>
          <p:nvPr/>
        </p:nvSpPr>
        <p:spPr>
          <a:xfrm>
            <a:off x="609676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9" name="Text 7"/>
          <p:cNvSpPr txBox="1"/>
          <p:nvPr/>
        </p:nvSpPr>
        <p:spPr>
          <a:xfrm>
            <a:off x="342900" y="726948"/>
            <a:ext cx="8455914" cy="205740"/>
          </a:xfrm>
          <a:prstGeom prst="rect">
            <a:avLst/>
          </a:prstGeom>
          <a:noFill/>
          <a:ln/>
        </p:spPr>
        <p:txBody>
          <a:bodyPr wrap="square" lIns="0" tIns="0" rIns="0" bIns="0" rtlCol="0" anchor="t"/>
          <a:lstStyle/>
          <a:p>
            <a:pPr indent="0" marL="0">
              <a:buNone/>
            </a:pPr>
            <a:r>
              <a:rPr lang="en-US" sz="830" i="1" dirty="0">
                <a:solidFill>
                  <a:srgbClr val="595959"/>
                </a:solidFill>
                <a:latin typeface="Arial" pitchFamily="34" charset="0"/>
                <a:ea typeface="Arial" pitchFamily="34" charset="-122"/>
                <a:cs typeface="Arial" pitchFamily="34" charset="-120"/>
              </a:rPr>
              <a:t>USD 100mn across five Bloomberg-listed ETFs; our weights (red star) deliver ~26% expected return for only ~17% volatility</a:t>
            </a:r>
            <a:endParaRPr lang="en-US" sz="830" dirty="0"/>
          </a:p>
        </p:txBody>
      </p:sp>
      <p:sp>
        <p:nvSpPr>
          <p:cNvPr id="10" name="Shape 8"/>
          <p:cNvSpPr/>
          <p:nvPr/>
        </p:nvSpPr>
        <p:spPr>
          <a:xfrm>
            <a:off x="342900" y="994410"/>
            <a:ext cx="2571750" cy="246888"/>
          </a:xfrm>
          <a:prstGeom prst="rect">
            <a:avLst/>
          </a:prstGeom>
          <a:solidFill>
            <a:srgbClr val="2C5F82"/>
          </a:solidFill>
          <a:ln w="12700">
            <a:solidFill>
              <a:srgbClr val="2C5F82"/>
            </a:solidFill>
            <a:prstDash val="solid"/>
          </a:ln>
        </p:spPr>
      </p:sp>
      <p:sp>
        <p:nvSpPr>
          <p:cNvPr id="11" name="Text 9"/>
          <p:cNvSpPr txBox="1"/>
          <p:nvPr/>
        </p:nvSpPr>
        <p:spPr>
          <a:xfrm>
            <a:off x="342900" y="994410"/>
            <a:ext cx="2571750" cy="246888"/>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Allocation</a:t>
            </a:r>
            <a:endParaRPr lang="en-US" sz="860" dirty="0"/>
          </a:p>
        </p:txBody>
      </p:sp>
      <p:graphicFrame>
        <p:nvGraphicFramePr>
          <p:cNvPr id="12" name="Chart 0" descr=""/>
          <p:cNvGraphicFramePr/>
          <p:nvPr/>
        </p:nvGraphicFramePr>
        <p:xfrm>
          <a:off x="582930" y="1268730"/>
          <a:ext cx="1405890" cy="140589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939546" y="1783080"/>
            <a:ext cx="685800" cy="377190"/>
          </a:xfrm>
          <a:prstGeom prst="rect">
            <a:avLst/>
          </a:prstGeom>
          <a:noFill/>
          <a:ln/>
        </p:spPr>
        <p:txBody>
          <a:bodyPr wrap="square" lIns="0" tIns="0" rIns="0" bIns="0" rtlCol="0" anchor="ctr"/>
          <a:lstStyle/>
          <a:p>
            <a:pPr algn="ctr" indent="0" marL="0">
              <a:buNone/>
            </a:pPr>
            <a:r>
              <a:rPr lang="en-US" sz="680" dirty="0">
                <a:solidFill>
                  <a:srgbClr val="595959"/>
                </a:solidFill>
                <a:latin typeface="Arial" pitchFamily="34" charset="0"/>
                <a:ea typeface="Arial" pitchFamily="34" charset="-122"/>
                <a:cs typeface="Arial" pitchFamily="34" charset="-120"/>
              </a:rPr>
              <a:t>USD</a:t>
            </a:r>
            <a:endParaRPr lang="en-US" sz="900" dirty="0"/>
          </a:p>
          <a:p>
            <a:pPr algn="ctr" indent="0" marL="0">
              <a:buNone/>
            </a:pPr>
            <a:r>
              <a:rPr lang="en-US" sz="980" b="1" dirty="0">
                <a:solidFill>
                  <a:srgbClr val="2C5F82"/>
                </a:solidFill>
                <a:latin typeface="Arial" pitchFamily="34" charset="0"/>
                <a:ea typeface="Arial" pitchFamily="34" charset="-122"/>
                <a:cs typeface="Arial" pitchFamily="34" charset="-120"/>
              </a:rPr>
              <a:t>100mn</a:t>
            </a:r>
            <a:endParaRPr lang="en-US" sz="900" dirty="0"/>
          </a:p>
        </p:txBody>
      </p:sp>
      <p:sp>
        <p:nvSpPr>
          <p:cNvPr id="14" name="Text 11"/>
          <p:cNvSpPr txBox="1"/>
          <p:nvPr/>
        </p:nvSpPr>
        <p:spPr>
          <a:xfrm>
            <a:off x="2057400" y="1405890"/>
            <a:ext cx="857250" cy="1165860"/>
          </a:xfrm>
          <a:prstGeom prst="rect">
            <a:avLst/>
          </a:prstGeom>
          <a:noFill/>
          <a:ln/>
        </p:spPr>
        <p:txBody>
          <a:bodyPr wrap="square" lIns="0" tIns="0" rIns="0" bIns="0" rtlCol="0" anchor="t"/>
          <a:lstStyle/>
          <a:p>
            <a:pPr indent="0" marL="0">
              <a:buNone/>
            </a:pPr>
            <a:r>
              <a:rPr lang="en-US" sz="640" b="1" dirty="0">
                <a:solidFill>
                  <a:srgbClr val="2C5F82"/>
                </a:solidFill>
                <a:latin typeface="Arial" pitchFamily="34" charset="0"/>
                <a:ea typeface="Arial" pitchFamily="34" charset="-122"/>
                <a:cs typeface="Arial" pitchFamily="34" charset="-120"/>
              </a:rPr>
              <a:t>Half in the semiconductor core</a:t>
            </a:r>
            <a:endParaRPr lang="en-US" sz="640" dirty="0"/>
          </a:p>
          <a:p>
            <a:pPr indent="0" marL="0">
              <a:buNone/>
            </a:pPr>
            <a:r>
              <a:rPr lang="en-US" sz="640" dirty="0">
                <a:solidFill>
                  <a:srgbClr val="262626"/>
                </a:solidFill>
                <a:latin typeface="Arial" pitchFamily="34" charset="0"/>
                <a:ea typeface="Arial" pitchFamily="34" charset="-122"/>
                <a:cs typeface="Arial" pitchFamily="34" charset="-120"/>
              </a:rPr>
              <a:t>3119 HK + 2644 JP = 50%; Korea adds memory, Taiwan the foundry, 00878 the ESG income.</a:t>
            </a:r>
            <a:endParaRPr lang="en-US" sz="64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42900" y="2777490"/>
          <a:ext cx="2571750" cy="914400"/>
        </p:xfrm>
        <a:graphic>
          <a:graphicData uri="http://schemas.openxmlformats.org/drawingml/2006/table">
            <a:tbl>
              <a:tblPr/>
              <a:tblGrid>
                <a:gridCol w="205740"/>
                <a:gridCol w="582930"/>
                <a:gridCol w="1371600"/>
                <a:gridCol w="411480"/>
              </a:tblGrid>
              <a:tr h="246888">
                <a:tc>
                  <a:txBody>
                    <a:bodyPr/>
                    <a:lstStyle/>
                    <a:p>
                      <a:pPr algn="ctr" indent="0" marL="0">
                        <a:buNone/>
                      </a:pPr>
                      <a:r>
                        <a:rPr lang="en-US" sz="900" dirty="0">
                          <a:solidFill>
                            <a:srgbClr val="2C5F82"/>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3119 HK</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Pan-Asian chip leaders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35%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4F86AE"/>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EWY US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Korea: memory for AI</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20%</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8DB3D1"/>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EWT US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Taiwan: the AI foundry</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15%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A6A6A6"/>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2644 JP</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Japan: chip-making tools</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15%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46888">
                <a:tc>
                  <a:txBody>
                    <a:bodyPr/>
                    <a:lstStyle/>
                    <a:p>
                      <a:pPr algn="ctr" indent="0" marL="0">
                        <a:buNone/>
                      </a:pPr>
                      <a:r>
                        <a:rPr lang="en-US" sz="900" dirty="0">
                          <a:solidFill>
                            <a:srgbClr val="2E9E44"/>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b="1" dirty="0">
                          <a:solidFill>
                            <a:srgbClr val="262626"/>
                          </a:solidFill>
                          <a:latin typeface="Arial" pitchFamily="34" charset="0"/>
                          <a:ea typeface="Arial" pitchFamily="34" charset="-122"/>
                          <a:cs typeface="Arial" pitchFamily="34" charset="-120"/>
                        </a:rPr>
                        <a:t>00878 TT</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10" dirty="0">
                          <a:solidFill>
                            <a:srgbClr val="262626"/>
                          </a:solidFill>
                          <a:latin typeface="Arial" pitchFamily="34" charset="0"/>
                          <a:ea typeface="Arial" pitchFamily="34" charset="-122"/>
                          <a:cs typeface="Arial" pitchFamily="34" charset="-120"/>
                        </a:rPr>
                        <a:t>ESG dividend anchor</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r" indent="0" marL="0">
                        <a:buNone/>
                      </a:pPr>
                      <a:r>
                        <a:rPr lang="en-US" sz="710" b="1" dirty="0">
                          <a:solidFill>
                            <a:srgbClr val="262626"/>
                          </a:solidFill>
                          <a:latin typeface="Arial" pitchFamily="34" charset="0"/>
                          <a:ea typeface="Arial" pitchFamily="34" charset="-122"/>
                          <a:cs typeface="Arial" pitchFamily="34" charset="-120"/>
                        </a:rPr>
                        <a:t>15%</a:t>
                      </a:r>
                      <a:endParaRPr lang="en-US" sz="710" dirty="0">
                        <a:latin typeface="Arial" charset="0"/>
                        <a:ea typeface="Arial" charset="0"/>
                        <a:cs typeface="Arial" charset="0"/>
                      </a:endParaRPr>
                    </a:p>
                  </a:txBody>
                  <a:tcPr marL="50800" marR="50800" marT="12700" marB="127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6" name="Shape 12"/>
          <p:cNvSpPr/>
          <p:nvPr/>
        </p:nvSpPr>
        <p:spPr>
          <a:xfrm>
            <a:off x="3051810" y="994410"/>
            <a:ext cx="3429000" cy="246888"/>
          </a:xfrm>
          <a:prstGeom prst="rect">
            <a:avLst/>
          </a:prstGeom>
          <a:solidFill>
            <a:srgbClr val="2C5F82"/>
          </a:solidFill>
          <a:ln w="12700">
            <a:solidFill>
              <a:srgbClr val="2C5F82"/>
            </a:solidFill>
            <a:prstDash val="solid"/>
          </a:ln>
        </p:spPr>
      </p:sp>
      <p:sp>
        <p:nvSpPr>
          <p:cNvPr id="17" name="Text 13"/>
          <p:cNvSpPr txBox="1"/>
          <p:nvPr/>
        </p:nvSpPr>
        <p:spPr>
          <a:xfrm>
            <a:off x="3051810" y="994410"/>
            <a:ext cx="3429000" cy="246888"/>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Risk vs return: single ETFs and random mixes</a:t>
            </a:r>
            <a:endParaRPr lang="en-US" sz="860" dirty="0"/>
          </a:p>
        </p:txBody>
      </p:sp>
      <p:pic>
        <p:nvPicPr>
          <p:cNvPr id="18" name="Image 0" descr="/home/user/natixis-case-comp/strategy/risk_return_cloud.jpg">    </p:cNvPr>
          <p:cNvPicPr>
            <a:picLocks noChangeAspect="1"/>
          </p:cNvPicPr>
          <p:nvPr/>
        </p:nvPicPr>
        <p:blipFill>
          <a:blip r:embed="rId2"/>
          <a:stretch>
            <a:fillRect/>
          </a:stretch>
        </p:blipFill>
        <p:spPr>
          <a:xfrm>
            <a:off x="3086100" y="1289304"/>
            <a:ext cx="3360420" cy="2640626"/>
          </a:xfrm>
          <a:prstGeom prst="rect">
            <a:avLst/>
          </a:prstGeom>
        </p:spPr>
      </p:pic>
      <p:sp>
        <p:nvSpPr>
          <p:cNvPr id="19" name="Shape 14"/>
          <p:cNvSpPr/>
          <p:nvPr/>
        </p:nvSpPr>
        <p:spPr>
          <a:xfrm>
            <a:off x="6617970" y="994410"/>
            <a:ext cx="2180844" cy="246888"/>
          </a:xfrm>
          <a:prstGeom prst="rect">
            <a:avLst/>
          </a:prstGeom>
          <a:solidFill>
            <a:srgbClr val="2C5F82"/>
          </a:solidFill>
          <a:ln w="12700">
            <a:solidFill>
              <a:srgbClr val="2C5F82"/>
            </a:solidFill>
            <a:prstDash val="solid"/>
          </a:ln>
        </p:spPr>
      </p:sp>
      <p:sp>
        <p:nvSpPr>
          <p:cNvPr id="20" name="Text 15"/>
          <p:cNvSpPr txBox="1"/>
          <p:nvPr/>
        </p:nvSpPr>
        <p:spPr>
          <a:xfrm>
            <a:off x="6617970" y="994410"/>
            <a:ext cx="2180844" cy="246888"/>
          </a:xfrm>
          <a:prstGeom prst="rect">
            <a:avLst/>
          </a:prstGeom>
          <a:noFill/>
          <a:ln/>
        </p:spPr>
        <p:txBody>
          <a:bodyPr wrap="square" lIns="0" tIns="0" rIns="0" bIns="0" rtlCol="0" anchor="ctr"/>
          <a:lstStyle/>
          <a:p>
            <a:pPr algn="ctr" indent="0" marL="0">
              <a:buNone/>
            </a:pPr>
            <a:r>
              <a:rPr lang="en-US" sz="860" b="1" dirty="0">
                <a:solidFill>
                  <a:srgbClr val="FFFFFF"/>
                </a:solidFill>
                <a:latin typeface="Arial" pitchFamily="34" charset="0"/>
                <a:ea typeface="Arial" pitchFamily="34" charset="-122"/>
                <a:cs typeface="Arial" pitchFamily="34" charset="-120"/>
              </a:rPr>
              <a:t>How to read it</a:t>
            </a:r>
            <a:endParaRPr lang="en-US" sz="860" dirty="0"/>
          </a:p>
        </p:txBody>
      </p:sp>
      <p:sp>
        <p:nvSpPr>
          <p:cNvPr id="21" name="Text 16"/>
          <p:cNvSpPr txBox="1"/>
          <p:nvPr/>
        </p:nvSpPr>
        <p:spPr>
          <a:xfrm>
            <a:off x="6652260" y="1289304"/>
            <a:ext cx="2125980" cy="994410"/>
          </a:xfrm>
          <a:prstGeom prst="rect">
            <a:avLst/>
          </a:prstGeom>
          <a:noFill/>
          <a:ln/>
        </p:spPr>
        <p:txBody>
          <a:bodyPr wrap="square" lIns="0" tIns="0" rIns="0" bIns="0" rtlCol="0" anchor="t"/>
          <a:lstStyle/>
          <a:p>
            <a:pPr indent="0" marL="0">
              <a:spcAft>
                <a:spcPts val="300"/>
              </a:spcAft>
              <a:buNone/>
            </a:pPr>
            <a:r>
              <a:rPr lang="en-US" sz="680" b="1" dirty="0">
                <a:solidFill>
                  <a:srgbClr val="E67E22"/>
                </a:solidFill>
                <a:latin typeface="Arial" pitchFamily="34" charset="0"/>
                <a:ea typeface="Arial" pitchFamily="34" charset="-122"/>
                <a:cs typeface="Arial" pitchFamily="34" charset="-120"/>
              </a:rPr>
              <a:t>Orange dots: </a:t>
            </a:r>
            <a:pPr indent="0" marL="0">
              <a:spcAft>
                <a:spcPts val="300"/>
              </a:spcAft>
              <a:buNone/>
            </a:pPr>
            <a:r>
              <a:rPr lang="en-US" sz="680" dirty="0">
                <a:solidFill>
                  <a:srgbClr val="262626"/>
                </a:solidFill>
                <a:latin typeface="Arial" pitchFamily="34" charset="0"/>
                <a:ea typeface="Arial" pitchFamily="34" charset="-122"/>
                <a:cs typeface="Arial" pitchFamily="34" charset="-120"/>
              </a:rPr>
              <a:t>each ETF on its own (2644 is the dot near 0.26, 0.25).</a:t>
            </a:r>
            <a:endParaRPr lang="en-US" sz="680" dirty="0"/>
          </a:p>
          <a:p>
            <a:pPr indent="0" marL="0">
              <a:spcAft>
                <a:spcPts val="300"/>
              </a:spcAft>
              <a:buNone/>
            </a:pPr>
            <a:r>
              <a:rPr lang="en-US" sz="680" b="1" dirty="0">
                <a:solidFill>
                  <a:srgbClr val="C0392B"/>
                </a:solidFill>
                <a:latin typeface="Arial" pitchFamily="34" charset="0"/>
                <a:ea typeface="Arial" pitchFamily="34" charset="-122"/>
                <a:cs typeface="Arial" pitchFamily="34" charset="-120"/>
              </a:rPr>
              <a:t>Red star: </a:t>
            </a:r>
            <a:pPr indent="0" marL="0">
              <a:spcAft>
                <a:spcPts val="300"/>
              </a:spcAft>
              <a:buNone/>
            </a:pPr>
            <a:r>
              <a:rPr lang="en-US" sz="680" dirty="0">
                <a:solidFill>
                  <a:srgbClr val="262626"/>
                </a:solidFill>
                <a:latin typeface="Arial" pitchFamily="34" charset="0"/>
                <a:ea typeface="Arial" pitchFamily="34" charset="-122"/>
                <a:cs typeface="Arial" pitchFamily="34" charset="-120"/>
              </a:rPr>
              <a:t>our basket (35 / 20 / 15 / 15 / 15).</a:t>
            </a:r>
            <a:endParaRPr lang="en-US" sz="680" dirty="0"/>
          </a:p>
          <a:p>
            <a:pPr indent="0" marL="0">
              <a:spcAft>
                <a:spcPts val="300"/>
              </a:spcAft>
              <a:buNone/>
            </a:pPr>
            <a:r>
              <a:rPr lang="en-US" sz="680" b="1" dirty="0">
                <a:solidFill>
                  <a:srgbClr val="2C5F82"/>
                </a:solidFill>
                <a:latin typeface="Arial" pitchFamily="34" charset="0"/>
                <a:ea typeface="Arial" pitchFamily="34" charset="-122"/>
                <a:cs typeface="Arial" pitchFamily="34" charset="-120"/>
              </a:rPr>
              <a:t>Small dots: </a:t>
            </a:r>
            <a:pPr indent="0" marL="0">
              <a:spcAft>
                <a:spcPts val="300"/>
              </a:spcAft>
              <a:buNone/>
            </a:pPr>
            <a:r>
              <a:rPr lang="en-US" sz="680" dirty="0">
                <a:solidFill>
                  <a:srgbClr val="262626"/>
                </a:solidFill>
                <a:latin typeface="Arial" pitchFamily="34" charset="0"/>
                <a:ea typeface="Arial" pitchFamily="34" charset="-122"/>
                <a:cs typeface="Arial" pitchFamily="34" charset="-120"/>
              </a:rPr>
              <a:t>thousands of random weightings of the five ETFs; lighter = more return per unit of risk.</a:t>
            </a:r>
            <a:endParaRPr lang="en-US" sz="680" dirty="0"/>
          </a:p>
          <a:p>
            <a:pPr indent="0" marL="0">
              <a:spcAft>
                <a:spcPts val="300"/>
              </a:spcAft>
              <a:buNone/>
            </a:pPr>
            <a:r>
              <a:rPr lang="en-US" sz="680" b="1" dirty="0">
                <a:solidFill>
                  <a:srgbClr val="262626"/>
                </a:solidFill>
                <a:latin typeface="Arial" pitchFamily="34" charset="0"/>
                <a:ea typeface="Arial" pitchFamily="34" charset="-122"/>
                <a:cs typeface="Arial" pitchFamily="34" charset="-120"/>
              </a:rPr>
              <a:t>Axes: </a:t>
            </a:r>
            <a:pPr indent="0" marL="0">
              <a:spcAft>
                <a:spcPts val="300"/>
              </a:spcAft>
              <a:buNone/>
            </a:pPr>
            <a:r>
              <a:rPr lang="en-US" sz="680" dirty="0">
                <a:solidFill>
                  <a:srgbClr val="262626"/>
                </a:solidFill>
                <a:latin typeface="Arial" pitchFamily="34" charset="0"/>
                <a:ea typeface="Arial" pitchFamily="34" charset="-122"/>
                <a:cs typeface="Arial" pitchFamily="34" charset="-120"/>
              </a:rPr>
              <a:t>annualised volatility (risk) and expected return.</a:t>
            </a:r>
            <a:endParaRPr lang="en-US" sz="680" dirty="0"/>
          </a:p>
        </p:txBody>
      </p:sp>
      <p:sp>
        <p:nvSpPr>
          <p:cNvPr id="22" name="Shape 17"/>
          <p:cNvSpPr/>
          <p:nvPr/>
        </p:nvSpPr>
        <p:spPr>
          <a:xfrm>
            <a:off x="6617970" y="2331720"/>
            <a:ext cx="2180844" cy="1748790"/>
          </a:xfrm>
          <a:prstGeom prst="rect">
            <a:avLst/>
          </a:prstGeom>
          <a:solidFill>
            <a:srgbClr val="E8EFF5"/>
          </a:solidFill>
          <a:ln w="12700">
            <a:solidFill>
              <a:srgbClr val="E8EFF5"/>
            </a:solidFill>
            <a:prstDash val="solid"/>
          </a:ln>
        </p:spPr>
      </p:sp>
      <p:sp>
        <p:nvSpPr>
          <p:cNvPr id="23" name="Text 18"/>
          <p:cNvSpPr txBox="1"/>
          <p:nvPr/>
        </p:nvSpPr>
        <p:spPr>
          <a:xfrm>
            <a:off x="6686550" y="2386584"/>
            <a:ext cx="2057400" cy="1659636"/>
          </a:xfrm>
          <a:prstGeom prst="rect">
            <a:avLst/>
          </a:prstGeom>
          <a:noFill/>
          <a:ln/>
        </p:spPr>
        <p:txBody>
          <a:bodyPr wrap="square" lIns="0" tIns="0" rIns="0" bIns="0" rtlCol="0" anchor="t"/>
          <a:lstStyle/>
          <a:p>
            <a:pPr indent="0" marL="0">
              <a:spcAft>
                <a:spcPts val="400"/>
              </a:spcAft>
              <a:buNone/>
            </a:pPr>
            <a:r>
              <a:rPr lang="en-US" sz="830" b="1" dirty="0">
                <a:solidFill>
                  <a:srgbClr val="2C5F82"/>
                </a:solidFill>
                <a:latin typeface="Arial" pitchFamily="34" charset="0"/>
                <a:ea typeface="Arial" pitchFamily="34" charset="-122"/>
                <a:cs typeface="Arial" pitchFamily="34" charset="-120"/>
              </a:rPr>
              <a:t>Takeaways</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Our basket (red star): ~26% return at ~17% volatility, the lowest risk of all the mixes shown.</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Most random mixes need 22–32% volatility for the same 25–28% return: our weights get it with less risk.</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Less risk than any single ETF, about a third of EWY's (~49%), while giving up only a few points versus EWT's ~31%.</a:t>
            </a:r>
            <a:endParaRPr lang="en-US" sz="710" dirty="0"/>
          </a:p>
          <a:p>
            <a:pPr marL="342900" indent="-342900">
              <a:spcAft>
                <a:spcPts val="400"/>
              </a:spcAft>
              <a:buSzPct val="100000"/>
              <a:buChar char="•"/>
            </a:pPr>
            <a:r>
              <a:rPr lang="en-US" sz="710" dirty="0">
                <a:solidFill>
                  <a:srgbClr val="262626"/>
                </a:solidFill>
                <a:latin typeface="Arial" pitchFamily="34" charset="0"/>
                <a:ea typeface="Arial" pitchFamily="34" charset="-122"/>
                <a:cs typeface="Arial" pitchFamily="34" charset="-120"/>
              </a:rPr>
              <a:t>Why: 3119 HK (35%) anchors the basket; the other four move differently enough to pull risk down.</a:t>
            </a:r>
            <a:endParaRPr lang="en-US" sz="710" dirty="0"/>
          </a:p>
        </p:txBody>
      </p:sp>
      <p:sp>
        <p:nvSpPr>
          <p:cNvPr id="24" name="Shape 19"/>
          <p:cNvSpPr/>
          <p:nvPr/>
        </p:nvSpPr>
        <p:spPr>
          <a:xfrm>
            <a:off x="342900" y="4183380"/>
            <a:ext cx="8455914" cy="342900"/>
          </a:xfrm>
          <a:prstGeom prst="rect">
            <a:avLst/>
          </a:prstGeom>
          <a:solidFill>
            <a:srgbClr val="2C5F82"/>
          </a:solidFill>
          <a:ln w="12700">
            <a:solidFill>
              <a:srgbClr val="2C5F82"/>
            </a:solidFill>
            <a:prstDash val="solid"/>
          </a:ln>
        </p:spPr>
      </p:sp>
      <p:sp>
        <p:nvSpPr>
          <p:cNvPr id="25" name="Text 20"/>
          <p:cNvSpPr txBox="1"/>
          <p:nvPr/>
        </p:nvSpPr>
        <p:spPr>
          <a:xfrm>
            <a:off x="445770" y="4183380"/>
            <a:ext cx="8250174" cy="3429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Our basket (red star): ~26% return for ~17% volatility, less risk than any single ETF or random mix</a:t>
            </a:r>
            <a:endParaRPr lang="en-US" sz="900" dirty="0"/>
          </a:p>
        </p:txBody>
      </p:sp>
      <p:sp>
        <p:nvSpPr>
          <p:cNvPr id="26" name="Text 21"/>
          <p:cNvSpPr txBox="1"/>
          <p:nvPr/>
        </p:nvSpPr>
        <p:spPr>
          <a:xfrm>
            <a:off x="342900" y="4567428"/>
            <a:ext cx="8455914" cy="192024"/>
          </a:xfrm>
          <a:prstGeom prst="rect">
            <a:avLst/>
          </a:prstGeom>
          <a:noFill/>
          <a:ln/>
        </p:spPr>
        <p:txBody>
          <a:bodyPr wrap="square" lIns="0" tIns="0" rIns="0" bIns="0" rtlCol="0" anchor="t"/>
          <a:lstStyle/>
          <a:p>
            <a:pPr indent="0" marL="0">
              <a:buNone/>
            </a:pPr>
            <a:r>
              <a:rPr lang="en-US" sz="600" i="1" dirty="0">
                <a:solidFill>
                  <a:srgbClr val="595959"/>
                </a:solidFill>
                <a:latin typeface="Arial" pitchFamily="34" charset="0"/>
                <a:ea typeface="Arial" pitchFamily="34" charset="-122"/>
                <a:cs typeface="Arial" pitchFamily="34" charset="-120"/>
              </a:rPr>
              <a:t>Risk/return chart: team analysis app (annualised from historical data; red star = our basket at 35/20/15/15/15; values read from the chart). Liquidity: 3119 HK is borderline against the USD 5M/day rule, verify on Bloomberg.</a:t>
            </a:r>
            <a:endParaRPr lang="en-US" sz="600" dirty="0"/>
          </a:p>
        </p:txBody>
      </p:sp>
      <p:sp>
        <p:nvSpPr>
          <p:cNvPr id="27" name="Text 22"/>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Monte Carlo: the median portfolio grows 2.8× in five years</a:t>
            </a:r>
            <a:endParaRPr lang="en-US" sz="1650" dirty="0"/>
          </a:p>
        </p:txBody>
      </p:sp>
      <p:sp>
        <p:nvSpPr>
          <p:cNvPr id="3" name="Shape 1"/>
          <p:cNvSpPr/>
          <p:nvPr/>
        </p:nvSpPr>
        <p:spPr>
          <a:xfrm>
            <a:off x="342900" y="672084"/>
            <a:ext cx="8455914" cy="0"/>
          </a:xfrm>
          <a:prstGeom prst="line">
            <a:avLst/>
          </a:prstGeom>
          <a:noFill/>
          <a:ln w="9525">
            <a:solidFill>
              <a:srgbClr val="2C5F82"/>
            </a:solidFill>
            <a:prstDash val="solid"/>
          </a:ln>
        </p:spPr>
      </p:sp>
      <p:sp>
        <p:nvSpPr>
          <p:cNvPr id="4" name="Shape 2"/>
          <p:cNvSpPr/>
          <p:nvPr/>
        </p:nvSpPr>
        <p:spPr>
          <a:xfrm>
            <a:off x="342900" y="4786884"/>
            <a:ext cx="8455914" cy="0"/>
          </a:xfrm>
          <a:prstGeom prst="line">
            <a:avLst/>
          </a:prstGeom>
          <a:noFill/>
          <a:ln w="7144">
            <a:solidFill>
              <a:srgbClr val="BFBFBF"/>
            </a:solidFill>
            <a:prstDash val="solid"/>
          </a:ln>
        </p:spPr>
      </p:sp>
      <p:sp>
        <p:nvSpPr>
          <p:cNvPr id="5" name="Text 3"/>
          <p:cNvSpPr txBox="1"/>
          <p:nvPr/>
        </p:nvSpPr>
        <p:spPr>
          <a:xfrm>
            <a:off x="342900"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6" name="Shape 4"/>
          <p:cNvSpPr/>
          <p:nvPr/>
        </p:nvSpPr>
        <p:spPr>
          <a:xfrm>
            <a:off x="3627882" y="4773168"/>
            <a:ext cx="1885950" cy="34290"/>
          </a:xfrm>
          <a:prstGeom prst="rect">
            <a:avLst/>
          </a:prstGeom>
          <a:solidFill>
            <a:srgbClr val="2C5F82"/>
          </a:solidFill>
          <a:ln w="12700">
            <a:solidFill>
              <a:srgbClr val="2C5F82"/>
            </a:solidFill>
            <a:prstDash val="solid"/>
          </a:ln>
        </p:spPr>
      </p:sp>
      <p:sp>
        <p:nvSpPr>
          <p:cNvPr id="7" name="Text 5"/>
          <p:cNvSpPr txBox="1"/>
          <p:nvPr/>
        </p:nvSpPr>
        <p:spPr>
          <a:xfrm>
            <a:off x="3216402" y="4834890"/>
            <a:ext cx="2708910" cy="205740"/>
          </a:xfrm>
          <a:prstGeom prst="rect">
            <a:avLst/>
          </a:prstGeom>
          <a:noFill/>
          <a:ln/>
        </p:spPr>
        <p:txBody>
          <a:bodyPr wrap="square" lIns="0" tIns="0" rIns="0" bIns="0" rtlCol="0" anchor="t"/>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8" name="Text 6"/>
          <p:cNvSpPr txBox="1"/>
          <p:nvPr/>
        </p:nvSpPr>
        <p:spPr>
          <a:xfrm>
            <a:off x="6096762" y="4834890"/>
            <a:ext cx="2708910" cy="205740"/>
          </a:xfrm>
          <a:prstGeom prst="rect">
            <a:avLst/>
          </a:prstGeom>
          <a:noFill/>
          <a:ln/>
        </p:spPr>
        <p:txBody>
          <a:bodyPr wrap="square" lIns="0" tIns="0" rIns="0" bIns="0" rtlCol="0" anchor="t"/>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9" name="Text 7"/>
          <p:cNvSpPr txBox="1"/>
          <p:nvPr/>
        </p:nvSpPr>
        <p:spPr>
          <a:xfrm>
            <a:off x="342900" y="726948"/>
            <a:ext cx="8455914" cy="205740"/>
          </a:xfrm>
          <a:prstGeom prst="rect">
            <a:avLst/>
          </a:prstGeom>
          <a:noFill/>
          <a:ln/>
        </p:spPr>
        <p:txBody>
          <a:bodyPr wrap="square" lIns="0" tIns="0" rIns="0" bIns="0" rtlCol="0" anchor="t"/>
          <a:lstStyle/>
          <a:p>
            <a:pPr indent="0" marL="0">
              <a:buNone/>
            </a:pPr>
            <a:r>
              <a:rPr lang="en-US" sz="830" i="1" dirty="0">
                <a:solidFill>
                  <a:srgbClr val="595959"/>
                </a:solidFill>
                <a:latin typeface="Arial" pitchFamily="34" charset="0"/>
                <a:ea typeface="Arial" pitchFamily="34" charset="-122"/>
                <a:cs typeface="Arial" pitchFamily="34" charset="-120"/>
              </a:rPr>
              <a:t>5-year simulation of the five-ETF portfolio, per USD 100,000 invested (×1,000 for the USD 100mn mandate)</a:t>
            </a:r>
            <a:endParaRPr lang="en-US" sz="830" dirty="0"/>
          </a:p>
        </p:txBody>
      </p:sp>
      <p:pic>
        <p:nvPicPr>
          <p:cNvPr id="10" name="Image 0" descr="/home/user/natixis-case-comp/strategy/mc_checkpoints.png">    </p:cNvPr>
          <p:cNvPicPr>
            <a:picLocks noChangeAspect="1"/>
          </p:cNvPicPr>
          <p:nvPr/>
        </p:nvPicPr>
        <p:blipFill>
          <a:blip r:embed="rId1"/>
          <a:stretch>
            <a:fillRect/>
          </a:stretch>
        </p:blipFill>
        <p:spPr>
          <a:xfrm>
            <a:off x="342900" y="973836"/>
            <a:ext cx="5623560" cy="3204121"/>
          </a:xfrm>
          <a:prstGeom prst="rect">
            <a:avLst/>
          </a:prstGeom>
        </p:spPr>
      </p:pic>
      <p:sp>
        <p:nvSpPr>
          <p:cNvPr id="11" name="Shape 8"/>
          <p:cNvSpPr/>
          <p:nvPr/>
        </p:nvSpPr>
        <p:spPr>
          <a:xfrm>
            <a:off x="6137910" y="994410"/>
            <a:ext cx="2660904" cy="685800"/>
          </a:xfrm>
          <a:prstGeom prst="rect">
            <a:avLst/>
          </a:prstGeom>
          <a:solidFill>
            <a:srgbClr val="F2F2F2"/>
          </a:solidFill>
          <a:ln w="12700">
            <a:solidFill>
              <a:srgbClr val="F2F2F2"/>
            </a:solidFill>
            <a:prstDash val="solid"/>
          </a:ln>
        </p:spPr>
      </p:sp>
      <p:sp>
        <p:nvSpPr>
          <p:cNvPr id="12" name="Shape 9"/>
          <p:cNvSpPr/>
          <p:nvPr/>
        </p:nvSpPr>
        <p:spPr>
          <a:xfrm>
            <a:off x="6137910" y="994410"/>
            <a:ext cx="48006" cy="685800"/>
          </a:xfrm>
          <a:prstGeom prst="rect">
            <a:avLst/>
          </a:prstGeom>
          <a:solidFill>
            <a:srgbClr val="2C5F82"/>
          </a:solidFill>
          <a:ln w="12700">
            <a:solidFill>
              <a:srgbClr val="2C5F82"/>
            </a:solidFill>
            <a:prstDash val="solid"/>
          </a:ln>
        </p:spPr>
      </p:sp>
      <p:sp>
        <p:nvSpPr>
          <p:cNvPr id="13" name="Text 10"/>
          <p:cNvSpPr txBox="1"/>
          <p:nvPr/>
        </p:nvSpPr>
        <p:spPr>
          <a:xfrm>
            <a:off x="6275070" y="1035558"/>
            <a:ext cx="2468880" cy="342900"/>
          </a:xfrm>
          <a:prstGeom prst="rect">
            <a:avLst/>
          </a:prstGeom>
          <a:noFill/>
          <a:ln/>
        </p:spPr>
        <p:txBody>
          <a:bodyPr wrap="square" lIns="0" tIns="0" rIns="0" bIns="0" rtlCol="0" anchor="t"/>
          <a:lstStyle/>
          <a:p>
            <a:pPr indent="0" marL="0">
              <a:buNone/>
            </a:pPr>
            <a:r>
              <a:rPr lang="en-US" sz="1650" b="1" dirty="0">
                <a:solidFill>
                  <a:srgbClr val="2C5F82"/>
                </a:solidFill>
                <a:latin typeface="Arial" pitchFamily="34" charset="0"/>
                <a:ea typeface="Arial" pitchFamily="34" charset="-122"/>
                <a:cs typeface="Arial" pitchFamily="34" charset="-120"/>
              </a:rPr>
              <a:t>$279.6k</a:t>
            </a:r>
            <a:endParaRPr lang="en-US" sz="1650" dirty="0"/>
          </a:p>
        </p:txBody>
      </p:sp>
      <p:sp>
        <p:nvSpPr>
          <p:cNvPr id="14" name="Text 11"/>
          <p:cNvSpPr txBox="1"/>
          <p:nvPr/>
        </p:nvSpPr>
        <p:spPr>
          <a:xfrm>
            <a:off x="6275070" y="1378458"/>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Median at Year 5: 2.8× the start, +22.8% a year</a:t>
            </a:r>
            <a:endParaRPr lang="en-US" sz="710" dirty="0"/>
          </a:p>
        </p:txBody>
      </p:sp>
      <p:sp>
        <p:nvSpPr>
          <p:cNvPr id="15" name="Shape 12"/>
          <p:cNvSpPr/>
          <p:nvPr/>
        </p:nvSpPr>
        <p:spPr>
          <a:xfrm>
            <a:off x="6137910" y="1762506"/>
            <a:ext cx="2660904" cy="685800"/>
          </a:xfrm>
          <a:prstGeom prst="rect">
            <a:avLst/>
          </a:prstGeom>
          <a:solidFill>
            <a:srgbClr val="F2F2F2"/>
          </a:solidFill>
          <a:ln w="12700">
            <a:solidFill>
              <a:srgbClr val="F2F2F2"/>
            </a:solidFill>
            <a:prstDash val="solid"/>
          </a:ln>
        </p:spPr>
      </p:sp>
      <p:sp>
        <p:nvSpPr>
          <p:cNvPr id="16" name="Shape 13"/>
          <p:cNvSpPr/>
          <p:nvPr/>
        </p:nvSpPr>
        <p:spPr>
          <a:xfrm>
            <a:off x="6137910" y="1762506"/>
            <a:ext cx="48006" cy="685800"/>
          </a:xfrm>
          <a:prstGeom prst="rect">
            <a:avLst/>
          </a:prstGeom>
          <a:solidFill>
            <a:srgbClr val="C0392B"/>
          </a:solidFill>
          <a:ln w="12700">
            <a:solidFill>
              <a:srgbClr val="C0392B"/>
            </a:solidFill>
            <a:prstDash val="solid"/>
          </a:ln>
        </p:spPr>
      </p:sp>
      <p:sp>
        <p:nvSpPr>
          <p:cNvPr id="17" name="Text 14"/>
          <p:cNvSpPr txBox="1"/>
          <p:nvPr/>
        </p:nvSpPr>
        <p:spPr>
          <a:xfrm>
            <a:off x="6275070" y="1803654"/>
            <a:ext cx="2468880" cy="342900"/>
          </a:xfrm>
          <a:prstGeom prst="rect">
            <a:avLst/>
          </a:prstGeom>
          <a:noFill/>
          <a:ln/>
        </p:spPr>
        <p:txBody>
          <a:bodyPr wrap="square" lIns="0" tIns="0" rIns="0" bIns="0" rtlCol="0" anchor="t"/>
          <a:lstStyle/>
          <a:p>
            <a:pPr indent="0" marL="0">
              <a:buNone/>
            </a:pPr>
            <a:r>
              <a:rPr lang="en-US" sz="1650" b="1" dirty="0">
                <a:solidFill>
                  <a:srgbClr val="C0392B"/>
                </a:solidFill>
                <a:latin typeface="Arial" pitchFamily="34" charset="0"/>
                <a:ea typeface="Arial" pitchFamily="34" charset="-122"/>
                <a:cs typeface="Arial" pitchFamily="34" charset="-120"/>
              </a:rPr>
              <a:t>$103.6k</a:t>
            </a:r>
            <a:endParaRPr lang="en-US" sz="1650" dirty="0"/>
          </a:p>
        </p:txBody>
      </p:sp>
      <p:sp>
        <p:nvSpPr>
          <p:cNvPr id="18" name="Text 15"/>
          <p:cNvSpPr txBox="1"/>
          <p:nvPr/>
        </p:nvSpPr>
        <p:spPr>
          <a:xfrm>
            <a:off x="6275070" y="2146554"/>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Bearish (5th percentile): still above the start, +0.7% a year</a:t>
            </a:r>
            <a:endParaRPr lang="en-US" sz="710" dirty="0"/>
          </a:p>
        </p:txBody>
      </p:sp>
      <p:sp>
        <p:nvSpPr>
          <p:cNvPr id="19" name="Shape 16"/>
          <p:cNvSpPr/>
          <p:nvPr/>
        </p:nvSpPr>
        <p:spPr>
          <a:xfrm>
            <a:off x="6137910" y="2530602"/>
            <a:ext cx="2660904" cy="685800"/>
          </a:xfrm>
          <a:prstGeom prst="rect">
            <a:avLst/>
          </a:prstGeom>
          <a:solidFill>
            <a:srgbClr val="F2F2F2"/>
          </a:solidFill>
          <a:ln w="12700">
            <a:solidFill>
              <a:srgbClr val="F2F2F2"/>
            </a:solidFill>
            <a:prstDash val="solid"/>
          </a:ln>
        </p:spPr>
      </p:sp>
      <p:sp>
        <p:nvSpPr>
          <p:cNvPr id="20" name="Shape 17"/>
          <p:cNvSpPr/>
          <p:nvPr/>
        </p:nvSpPr>
        <p:spPr>
          <a:xfrm>
            <a:off x="6137910" y="2530602"/>
            <a:ext cx="48006" cy="685800"/>
          </a:xfrm>
          <a:prstGeom prst="rect">
            <a:avLst/>
          </a:prstGeom>
          <a:solidFill>
            <a:srgbClr val="2E9E44"/>
          </a:solidFill>
          <a:ln w="12700">
            <a:solidFill>
              <a:srgbClr val="2E9E44"/>
            </a:solidFill>
            <a:prstDash val="solid"/>
          </a:ln>
        </p:spPr>
      </p:sp>
      <p:sp>
        <p:nvSpPr>
          <p:cNvPr id="21" name="Text 18"/>
          <p:cNvSpPr txBox="1"/>
          <p:nvPr/>
        </p:nvSpPr>
        <p:spPr>
          <a:xfrm>
            <a:off x="6275070" y="2571750"/>
            <a:ext cx="2468880" cy="342900"/>
          </a:xfrm>
          <a:prstGeom prst="rect">
            <a:avLst/>
          </a:prstGeom>
          <a:noFill/>
          <a:ln/>
        </p:spPr>
        <p:txBody>
          <a:bodyPr wrap="square" lIns="0" tIns="0" rIns="0" bIns="0" rtlCol="0" anchor="t"/>
          <a:lstStyle/>
          <a:p>
            <a:pPr indent="0" marL="0">
              <a:buNone/>
            </a:pPr>
            <a:r>
              <a:rPr lang="en-US" sz="1650" b="1" dirty="0">
                <a:solidFill>
                  <a:srgbClr val="2E9E44"/>
                </a:solidFill>
                <a:latin typeface="Arial" pitchFamily="34" charset="0"/>
                <a:ea typeface="Arial" pitchFamily="34" charset="-122"/>
                <a:cs typeface="Arial" pitchFamily="34" charset="-120"/>
              </a:rPr>
              <a:t>$770.5k</a:t>
            </a:r>
            <a:endParaRPr lang="en-US" sz="1650" dirty="0"/>
          </a:p>
        </p:txBody>
      </p:sp>
      <p:sp>
        <p:nvSpPr>
          <p:cNvPr id="22" name="Text 19"/>
          <p:cNvSpPr txBox="1"/>
          <p:nvPr/>
        </p:nvSpPr>
        <p:spPr>
          <a:xfrm>
            <a:off x="6275070" y="2914650"/>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Bullish (95th percentile): 7.7× the start</a:t>
            </a:r>
            <a:endParaRPr lang="en-US" sz="710" dirty="0"/>
          </a:p>
        </p:txBody>
      </p:sp>
      <p:sp>
        <p:nvSpPr>
          <p:cNvPr id="23" name="Shape 20"/>
          <p:cNvSpPr/>
          <p:nvPr/>
        </p:nvSpPr>
        <p:spPr>
          <a:xfrm>
            <a:off x="6137910" y="3298698"/>
            <a:ext cx="2660904" cy="685800"/>
          </a:xfrm>
          <a:prstGeom prst="rect">
            <a:avLst/>
          </a:prstGeom>
          <a:solidFill>
            <a:srgbClr val="F2F2F2"/>
          </a:solidFill>
          <a:ln w="12700">
            <a:solidFill>
              <a:srgbClr val="F2F2F2"/>
            </a:solidFill>
            <a:prstDash val="solid"/>
          </a:ln>
        </p:spPr>
      </p:sp>
      <p:sp>
        <p:nvSpPr>
          <p:cNvPr id="24" name="Shape 21"/>
          <p:cNvSpPr/>
          <p:nvPr/>
        </p:nvSpPr>
        <p:spPr>
          <a:xfrm>
            <a:off x="6137910" y="3298698"/>
            <a:ext cx="48006" cy="685800"/>
          </a:xfrm>
          <a:prstGeom prst="rect">
            <a:avLst/>
          </a:prstGeom>
          <a:solidFill>
            <a:srgbClr val="E67E22"/>
          </a:solidFill>
          <a:ln w="12700">
            <a:solidFill>
              <a:srgbClr val="E67E22"/>
            </a:solidFill>
            <a:prstDash val="solid"/>
          </a:ln>
        </p:spPr>
      </p:sp>
      <p:sp>
        <p:nvSpPr>
          <p:cNvPr id="25" name="Text 22"/>
          <p:cNvSpPr txBox="1"/>
          <p:nvPr/>
        </p:nvSpPr>
        <p:spPr>
          <a:xfrm>
            <a:off x="6275070" y="3339846"/>
            <a:ext cx="2468880" cy="342900"/>
          </a:xfrm>
          <a:prstGeom prst="rect">
            <a:avLst/>
          </a:prstGeom>
          <a:noFill/>
          <a:ln/>
        </p:spPr>
        <p:txBody>
          <a:bodyPr wrap="square" lIns="0" tIns="0" rIns="0" bIns="0" rtlCol="0" anchor="t"/>
          <a:lstStyle/>
          <a:p>
            <a:pPr indent="0" marL="0">
              <a:buNone/>
            </a:pPr>
            <a:r>
              <a:rPr lang="en-US" sz="1650" b="1" dirty="0">
                <a:solidFill>
                  <a:srgbClr val="E67E22"/>
                </a:solidFill>
                <a:latin typeface="Arial" pitchFamily="34" charset="0"/>
                <a:ea typeface="Arial" pitchFamily="34" charset="-122"/>
                <a:cs typeface="Arial" pitchFamily="34" charset="-120"/>
              </a:rPr>
              <a:t>99.0%</a:t>
            </a:r>
            <a:endParaRPr lang="en-US" sz="1650" dirty="0"/>
          </a:p>
        </p:txBody>
      </p:sp>
      <p:sp>
        <p:nvSpPr>
          <p:cNvPr id="26" name="Text 23"/>
          <p:cNvSpPr txBox="1"/>
          <p:nvPr/>
        </p:nvSpPr>
        <p:spPr>
          <a:xfrm>
            <a:off x="6275070" y="3682746"/>
            <a:ext cx="2468880" cy="274320"/>
          </a:xfrm>
          <a:prstGeom prst="rect">
            <a:avLst/>
          </a:prstGeom>
          <a:noFill/>
          <a:ln/>
        </p:spPr>
        <p:txBody>
          <a:bodyPr wrap="square" lIns="0" tIns="0" rIns="0" bIns="0" rtlCol="0" anchor="t"/>
          <a:lstStyle/>
          <a:p>
            <a:pPr indent="0" marL="0">
              <a:buNone/>
            </a:pPr>
            <a:r>
              <a:rPr lang="en-US" sz="710" dirty="0">
                <a:solidFill>
                  <a:srgbClr val="595959"/>
                </a:solidFill>
                <a:latin typeface="Arial" pitchFamily="34" charset="0"/>
                <a:ea typeface="Arial" pitchFamily="34" charset="-122"/>
                <a:cs typeface="Arial" pitchFamily="34" charset="-120"/>
              </a:rPr>
              <a:t>Chance of ending at or above the USD 70,000 target</a:t>
            </a:r>
            <a:endParaRPr lang="en-US" sz="710" dirty="0"/>
          </a:p>
        </p:txBody>
      </p:sp>
      <p:sp>
        <p:nvSpPr>
          <p:cNvPr id="27" name="Shape 24"/>
          <p:cNvSpPr/>
          <p:nvPr/>
        </p:nvSpPr>
        <p:spPr>
          <a:xfrm>
            <a:off x="342900" y="4183380"/>
            <a:ext cx="8455914" cy="342900"/>
          </a:xfrm>
          <a:prstGeom prst="rect">
            <a:avLst/>
          </a:prstGeom>
          <a:solidFill>
            <a:srgbClr val="2C5F82"/>
          </a:solidFill>
          <a:ln w="12700">
            <a:solidFill>
              <a:srgbClr val="2C5F82"/>
            </a:solidFill>
            <a:prstDash val="solid"/>
          </a:ln>
        </p:spPr>
      </p:sp>
      <p:sp>
        <p:nvSpPr>
          <p:cNvPr id="28" name="Text 25"/>
          <p:cNvSpPr txBox="1"/>
          <p:nvPr/>
        </p:nvSpPr>
        <p:spPr>
          <a:xfrm>
            <a:off x="445770" y="4183380"/>
            <a:ext cx="8250174" cy="3429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Even the bearish path ends above the start ($103.6k); the USD 70,000 target is the 1st percentile</a:t>
            </a:r>
            <a:endParaRPr lang="en-US" sz="900" dirty="0"/>
          </a:p>
        </p:txBody>
      </p:sp>
      <p:sp>
        <p:nvSpPr>
          <p:cNvPr id="29" name="Text 26"/>
          <p:cNvSpPr txBox="1"/>
          <p:nvPr/>
        </p:nvSpPr>
        <p:spPr>
          <a:xfrm>
            <a:off x="342900" y="4567428"/>
            <a:ext cx="8455914" cy="192024"/>
          </a:xfrm>
          <a:prstGeom prst="rect">
            <a:avLst/>
          </a:prstGeom>
          <a:noFill/>
          <a:ln/>
        </p:spPr>
        <p:txBody>
          <a:bodyPr wrap="square" lIns="0" tIns="0" rIns="0" bIns="0" rtlCol="0" anchor="t"/>
          <a:lstStyle/>
          <a:p>
            <a:pPr indent="0" marL="0">
              <a:buNone/>
            </a:pPr>
            <a:r>
              <a:rPr lang="en-US" sz="600" i="1" dirty="0">
                <a:solidFill>
                  <a:srgbClr val="595959"/>
                </a:solidFill>
                <a:latin typeface="Arial" pitchFamily="34" charset="0"/>
                <a:ea typeface="Arial" pitchFamily="34" charset="-122"/>
                <a:cs typeface="Arial" pitchFamily="34" charset="-120"/>
              </a:rPr>
              <a:t>Source: team Monte Carlo app (annual checkpoints of the simulated paths). Lines connect the yearly values. Results depend on the app's return and volatility inputs; refresh with Bloomberg data at the 17 Sep 2026 trade date.</a:t>
            </a:r>
            <a:endParaRPr lang="en-US" sz="600" dirty="0"/>
          </a:p>
        </p:txBody>
      </p:sp>
      <p:sp>
        <p:nvSpPr>
          <p:cNvPr id="30" name="Text 27"/>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Underlying: five Asian ETFs across the AI-hardware chain</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Bespoke weighted basket, USD payout (quanto on the HKD, JPY and TWD lines); all Bloomberg-listed</a:t>
            </a:r>
            <a:endParaRPr lang="en-US" sz="850" dirty="0"/>
          </a:p>
        </p:txBody>
      </p:sp>
      <p:graphicFrame>
        <p:nvGraphicFramePr>
          <p:cNvPr id="10" name="Chart 0" descr=""/>
          <p:cNvGraphicFramePr/>
          <p:nvPr/>
        </p:nvGraphicFramePr>
        <p:xfrm>
          <a:off x="320040" y="1004697"/>
          <a:ext cx="2560320" cy="2451735"/>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1143000" y="2012137"/>
            <a:ext cx="914400" cy="445770"/>
          </a:xfrm>
          <a:prstGeom prst="rect">
            <a:avLst/>
          </a:prstGeom>
          <a:noFill/>
          <a:ln/>
        </p:spPr>
        <p:txBody>
          <a:bodyPr wrap="square" lIns="0" tIns="0" rIns="0" bIns="0" rtlCol="0" anchor="ctr"/>
          <a:lstStyle/>
          <a:p>
            <a:pPr algn="ctr" indent="0" marL="0">
              <a:buNone/>
            </a:pPr>
            <a:r>
              <a:rPr lang="en-US" sz="1290" b="1" dirty="0">
                <a:solidFill>
                  <a:srgbClr val="2C5F82"/>
                </a:solidFill>
                <a:latin typeface="Arial" pitchFamily="34" charset="0"/>
                <a:ea typeface="Arial" pitchFamily="34" charset="-122"/>
                <a:cs typeface="Arial" pitchFamily="34" charset="-120"/>
              </a:rPr>
              <a:t>Basket</a:t>
            </a:r>
            <a:endParaRPr lang="en-US" sz="1290" dirty="0"/>
          </a:p>
        </p:txBody>
      </p:sp>
      <p:sp>
        <p:nvSpPr>
          <p:cNvPr id="12" name="Shape 9"/>
          <p:cNvSpPr/>
          <p:nvPr/>
        </p:nvSpPr>
        <p:spPr>
          <a:xfrm>
            <a:off x="457200" y="3572332"/>
            <a:ext cx="118872" cy="115900"/>
          </a:xfrm>
          <a:prstGeom prst="rect">
            <a:avLst/>
          </a:prstGeom>
          <a:solidFill>
            <a:srgbClr val="2C5F82"/>
          </a:solidFill>
          <a:ln w="12700">
            <a:solidFill>
              <a:srgbClr val="2C5F82"/>
            </a:solidFill>
            <a:prstDash val="solid"/>
          </a:ln>
        </p:spPr>
      </p:sp>
      <p:sp>
        <p:nvSpPr>
          <p:cNvPr id="13" name="Text 10"/>
          <p:cNvSpPr txBox="1"/>
          <p:nvPr/>
        </p:nvSpPr>
        <p:spPr>
          <a:xfrm>
            <a:off x="640080" y="3536671"/>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Asia Semiconductor (3119 HK)</a:t>
            </a:r>
            <a:endParaRPr lang="en-US" sz="780" dirty="0"/>
          </a:p>
        </p:txBody>
      </p:sp>
      <p:sp>
        <p:nvSpPr>
          <p:cNvPr id="14" name="Shape 11"/>
          <p:cNvSpPr/>
          <p:nvPr/>
        </p:nvSpPr>
        <p:spPr>
          <a:xfrm>
            <a:off x="457200" y="3759556"/>
            <a:ext cx="118872" cy="115900"/>
          </a:xfrm>
          <a:prstGeom prst="rect">
            <a:avLst/>
          </a:prstGeom>
          <a:solidFill>
            <a:srgbClr val="A6A6A6"/>
          </a:solidFill>
          <a:ln w="12700">
            <a:solidFill>
              <a:srgbClr val="A6A6A6"/>
            </a:solidFill>
            <a:prstDash val="solid"/>
          </a:ln>
        </p:spPr>
      </p:sp>
      <p:sp>
        <p:nvSpPr>
          <p:cNvPr id="15" name="Text 12"/>
          <p:cNvSpPr txBox="1"/>
          <p:nvPr/>
        </p:nvSpPr>
        <p:spPr>
          <a:xfrm>
            <a:off x="640080" y="3723894"/>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Japan Semiconductor (2644 JP)</a:t>
            </a:r>
            <a:endParaRPr lang="en-US" sz="780" dirty="0"/>
          </a:p>
        </p:txBody>
      </p:sp>
      <p:sp>
        <p:nvSpPr>
          <p:cNvPr id="16" name="Shape 13"/>
          <p:cNvSpPr/>
          <p:nvPr/>
        </p:nvSpPr>
        <p:spPr>
          <a:xfrm>
            <a:off x="457200" y="3946779"/>
            <a:ext cx="118872" cy="115900"/>
          </a:xfrm>
          <a:prstGeom prst="rect">
            <a:avLst/>
          </a:prstGeom>
          <a:solidFill>
            <a:srgbClr val="8DB3D1"/>
          </a:solidFill>
          <a:ln w="12700">
            <a:solidFill>
              <a:srgbClr val="8DB3D1"/>
            </a:solidFill>
            <a:prstDash val="solid"/>
          </a:ln>
        </p:spPr>
      </p:sp>
      <p:sp>
        <p:nvSpPr>
          <p:cNvPr id="17" name="Text 14"/>
          <p:cNvSpPr txBox="1"/>
          <p:nvPr/>
        </p:nvSpPr>
        <p:spPr>
          <a:xfrm>
            <a:off x="640080" y="3911117"/>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iShares MSCI Taiwan (EWT)</a:t>
            </a:r>
            <a:endParaRPr lang="en-US" sz="780" dirty="0"/>
          </a:p>
        </p:txBody>
      </p:sp>
      <p:sp>
        <p:nvSpPr>
          <p:cNvPr id="18" name="Shape 15"/>
          <p:cNvSpPr/>
          <p:nvPr/>
        </p:nvSpPr>
        <p:spPr>
          <a:xfrm>
            <a:off x="457200" y="4134002"/>
            <a:ext cx="118872" cy="115900"/>
          </a:xfrm>
          <a:prstGeom prst="rect">
            <a:avLst/>
          </a:prstGeom>
          <a:solidFill>
            <a:srgbClr val="4F86AE"/>
          </a:solidFill>
          <a:ln w="12700">
            <a:solidFill>
              <a:srgbClr val="4F86AE"/>
            </a:solidFill>
            <a:prstDash val="solid"/>
          </a:ln>
        </p:spPr>
      </p:sp>
      <p:sp>
        <p:nvSpPr>
          <p:cNvPr id="19" name="Text 16"/>
          <p:cNvSpPr txBox="1"/>
          <p:nvPr/>
        </p:nvSpPr>
        <p:spPr>
          <a:xfrm>
            <a:off x="640080" y="4098341"/>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iShares MSCI South Korea (EWY)</a:t>
            </a:r>
            <a:endParaRPr lang="en-US" sz="780" dirty="0"/>
          </a:p>
        </p:txBody>
      </p:sp>
      <p:sp>
        <p:nvSpPr>
          <p:cNvPr id="20" name="Shape 17"/>
          <p:cNvSpPr/>
          <p:nvPr/>
        </p:nvSpPr>
        <p:spPr>
          <a:xfrm>
            <a:off x="457200" y="4321226"/>
            <a:ext cx="118872" cy="115900"/>
          </a:xfrm>
          <a:prstGeom prst="rect">
            <a:avLst/>
          </a:prstGeom>
          <a:solidFill>
            <a:srgbClr val="2E9E44"/>
          </a:solidFill>
          <a:ln w="12700">
            <a:solidFill>
              <a:srgbClr val="2E9E44"/>
            </a:solidFill>
            <a:prstDash val="solid"/>
          </a:ln>
        </p:spPr>
      </p:sp>
      <p:sp>
        <p:nvSpPr>
          <p:cNvPr id="21" name="Text 18"/>
          <p:cNvSpPr txBox="1"/>
          <p:nvPr/>
        </p:nvSpPr>
        <p:spPr>
          <a:xfrm>
            <a:off x="640080" y="4285564"/>
            <a:ext cx="2560320" cy="178308"/>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Taiwan ESG High Dividend (00878 TT)</a:t>
            </a:r>
            <a:endParaRPr lang="en-US" sz="7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108960" y="1049274"/>
          <a:ext cx="5577840" cy="914400"/>
        </p:xfrm>
        <a:graphic>
          <a:graphicData uri="http://schemas.openxmlformats.org/drawingml/2006/table">
            <a:tbl>
              <a:tblPr/>
              <a:tblGrid>
                <a:gridCol w="1463040"/>
                <a:gridCol w="384048"/>
                <a:gridCol w="3246120"/>
                <a:gridCol w="484632"/>
              </a:tblGrid>
              <a:tr h="231800">
                <a:tc>
                  <a:txBody>
                    <a:bodyPr/>
                    <a:lstStyle/>
                    <a:p>
                      <a:pPr indent="0" marL="0">
                        <a:buNone/>
                      </a:pPr>
                      <a:r>
                        <a:rPr lang="en-US" sz="780" b="1" dirty="0">
                          <a:solidFill>
                            <a:srgbClr val="FFFFFF"/>
                          </a:solidFill>
                          <a:latin typeface="Arial" pitchFamily="34" charset="0"/>
                          <a:ea typeface="Arial" pitchFamily="34" charset="-122"/>
                          <a:cs typeface="Arial" pitchFamily="34" charset="-120"/>
                        </a:rPr>
                        <a:t>ETF (Bloomberg)</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Wt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Role in the basket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Vol*</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Asia Semiconductor (3119 HK)</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35%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Pan-Asian chip leaders (40 names; TSMC, Samsung, SK hynix the largest): the core AI-hardware exposure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32%</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Japan Semiconductor (2644 JP)</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Japanese semiconductor stocks (FactSet Japan Semiconductor Index, e.g. Tokyo Electron, Advantest): the family's home market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38%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iShares MSCI Taiwan (EWT)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Taiwan large caps (TSMC, MediaTek, Delta): AI foundry and server chain in the family's Greater China region</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26%</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iShares MSCI South Korea (EWY)</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20%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Korea large caps (Samsung + SK hynix ~44%): high-bandwidth memory for AI</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30%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63601">
                <a:tc>
                  <a:txBody>
                    <a:bodyPr/>
                    <a:lstStyle/>
                    <a:p>
                      <a:pPr indent="0" marL="0">
                        <a:buNone/>
                      </a:pPr>
                      <a:r>
                        <a:rPr lang="en-US" sz="780" b="1" dirty="0">
                          <a:solidFill>
                            <a:srgbClr val="262626"/>
                          </a:solidFill>
                          <a:latin typeface="Arial" pitchFamily="34" charset="0"/>
                          <a:ea typeface="Arial" pitchFamily="34" charset="-122"/>
                          <a:cs typeface="Arial" pitchFamily="34" charset="-120"/>
                        </a:rPr>
                        <a:t>Taiwan ESG High Dividend (00878 TT)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15%</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ESG-screened Taiwan high-dividend leaders (Quanta, UMC, MediaTek): ESG sleeve and lower-volatility anchor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108960" y="3679317"/>
            <a:ext cx="5577840" cy="534924"/>
          </a:xfrm>
          <a:prstGeom prst="rect">
            <a:avLst/>
          </a:prstGeom>
          <a:noFill/>
          <a:ln/>
        </p:spPr>
        <p:txBody>
          <a:bodyPr wrap="square" lIns="0" tIns="0" rIns="0" bIns="0" rtlCol="0" anchor="t"/>
          <a:lstStyle/>
          <a:p>
            <a:pPr indent="0" marL="0">
              <a:buNone/>
            </a:pPr>
            <a:r>
              <a:rPr lang="en-US" sz="870" b="1" dirty="0">
                <a:solidFill>
                  <a:srgbClr val="2C5F82"/>
                </a:solidFill>
                <a:latin typeface="Arial" pitchFamily="34" charset="0"/>
                <a:ea typeface="Arial" pitchFamily="34" charset="-122"/>
                <a:cs typeface="Arial" pitchFamily="34" charset="-120"/>
              </a:rPr>
              <a:t>Why a weighted basket, not worst-of: </a:t>
            </a:r>
            <a:pPr indent="0" marL="0">
              <a:buNone/>
            </a:pPr>
            <a:r>
              <a:rPr lang="en-US" sz="870" dirty="0">
                <a:solidFill>
                  <a:srgbClr val="262626"/>
                </a:solidFill>
                <a:latin typeface="Arial" pitchFamily="34" charset="0"/>
                <a:ea typeface="Arial" pitchFamily="34" charset="-122"/>
                <a:cs typeface="Arial" pitchFamily="34" charset="-120"/>
              </a:rPr>
              <a:t>a shock to one ETF is cushioned by the others: basket vol ~26% vs 18%–38% alone. Overlap (TSMC, Samsung, SK hynix sit in several ETFs) keeps correlations high (0.45–0.85).</a:t>
            </a:r>
            <a:endParaRPr lang="en-US" sz="870" dirty="0"/>
          </a:p>
        </p:txBody>
      </p:sp>
      <p:sp>
        <p:nvSpPr>
          <p:cNvPr id="24" name="Text 2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*Assumed 5Y vols. USD 5M/day ETF rule: EWY, EWT, 2644, 00878 pass; 3119 is borderline (~USD 4–5M/day), verify the 6-month average on Bloomberg. 00878 distributes ~7.6% a year, which lowers its price path.</a:t>
            </a:r>
            <a:endParaRPr lang="en-US" sz="680" dirty="0"/>
          </a:p>
        </p:txBody>
      </p:sp>
      <p:sp>
        <p:nvSpPr>
          <p:cNvPr id="25" name="Text 2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Term sheet: 5-year autocallable, 12.75% memory coupon</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Why this design: the highest coupon on the basket, with capital usually back early</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3851"/>
          <a:ext cx="4206240" cy="914400"/>
        </p:xfrm>
        <a:graphic>
          <a:graphicData uri="http://schemas.openxmlformats.org/drawingml/2006/table">
            <a:tbl>
              <a:tblPr/>
              <a:tblGrid>
                <a:gridCol w="1325880"/>
                <a:gridCol w="2880360"/>
              </a:tblGrid>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Issuer</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Natixis SA (BPCE Group)</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Notional / currency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USD 100,000,000 · quanto USD</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Trade / maturity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17 Sep 2026 / 17 Sep 2031 (5Y)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Underlying</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Weighted basket of 5 Asian ETFs (slide 6)</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Observation</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Quarterly, 20 dates; autocall from Q4 (Year 1)</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Coupon</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12.75% p.a. (3.19% per quarter), paid if basket ≥ 100%</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Memory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Missed coupons paid on the next date basket ≥ 100%</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Autocall</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Basket ≥ 100% from Q4: 100% + coupons due, note ends</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At maturity</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Not called: repaid at the basket level (no floor)</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03124">
                <a:tc>
                  <a:txBody>
                    <a:bodyPr/>
                    <a:lstStyle/>
                    <a:p>
                      <a:pPr indent="0" marL="0">
                        <a:buNone/>
                      </a:pPr>
                      <a:r>
                        <a:rPr lang="en-US" sz="870" b="1" dirty="0">
                          <a:solidFill>
                            <a:srgbClr val="2C5F82"/>
                          </a:solidFill>
                          <a:latin typeface="Arial" pitchFamily="34" charset="0"/>
                          <a:ea typeface="Arial" pitchFamily="34" charset="-122"/>
                          <a:cs typeface="Arial" pitchFamily="34" charset="-120"/>
                        </a:rPr>
                        <a:t>Issue price / fair value</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8EFF5"/>
                    </a:solidFill>
                  </a:tcPr>
                </a:tc>
                <a:tc>
                  <a:txBody>
                    <a:bodyPr/>
                    <a:lstStyle/>
                    <a:p>
                      <a:pPr indent="0" marL="0">
                        <a:buNone/>
                      </a:pPr>
                      <a:r>
                        <a:rPr lang="en-US" sz="870" dirty="0">
                          <a:solidFill>
                            <a:srgbClr val="262626"/>
                          </a:solidFill>
                          <a:latin typeface="Arial" pitchFamily="34" charset="0"/>
                          <a:ea typeface="Arial" pitchFamily="34" charset="-122"/>
                          <a:cs typeface="Arial" pitchFamily="34" charset="-120"/>
                        </a:rPr>
                        <a:t>100% / 96.5%</a:t>
                      </a:r>
                      <a:endParaRPr lang="en-US" sz="870" dirty="0">
                        <a:latin typeface="Arial" charset="0"/>
                        <a:ea typeface="Arial" charset="0"/>
                        <a:cs typeface="Arial"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892040" y="1093851"/>
          <a:ext cx="3840480" cy="914400"/>
        </p:xfrm>
        <a:graphic>
          <a:graphicData uri="http://schemas.openxmlformats.org/drawingml/2006/table">
            <a:tbl>
              <a:tblPr/>
              <a:tblGrid>
                <a:gridCol w="2011680"/>
                <a:gridCol w="566928"/>
                <a:gridCol w="603504"/>
                <a:gridCol w="658368"/>
              </a:tblGrid>
              <a:tr h="267462">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Autocall design (same basket, issued at 98%)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Fair cpn</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Loss risk</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l" indent="0" marL="0">
                        <a:buNone/>
                      </a:pPr>
                      <a:r>
                        <a:rPr lang="en-US" sz="780" b="1" dirty="0">
                          <a:solidFill>
                            <a:srgbClr val="FFFFFF"/>
                          </a:solidFill>
                          <a:latin typeface="Arial" pitchFamily="34" charset="0"/>
                          <a:ea typeface="Arial" pitchFamily="34" charset="-122"/>
                          <a:cs typeface="Arial" pitchFamily="34" charset="-120"/>
                        </a:rPr>
                        <a:t>Max loss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Classic fixed coupon, 70% barrier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7.4%</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15.9%</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Up to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Snowball, 65% barrier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13.7%</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14.3%</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Up to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Memory coupon, 70% barrier + 70% put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11.1%</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15.9%</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30%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Memory coupon, 100% protected</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7.8%</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l" indent="0" marL="0">
                        <a:buNone/>
                      </a:pPr>
                      <a:r>
                        <a:rPr lang="en-US" sz="780" dirty="0">
                          <a:solidFill>
                            <a:srgbClr val="262626"/>
                          </a:solidFill>
                          <a:latin typeface="Arial" pitchFamily="34" charset="0"/>
                          <a:ea typeface="Arial" pitchFamily="34" charset="-122"/>
                          <a:cs typeface="Arial" pitchFamily="34" charset="-120"/>
                        </a:rPr>
                        <a:t>None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94208">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Classic memory autocall, no barrier (ours)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14.1%</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21.0%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c>
                  <a:txBody>
                    <a:bodyPr/>
                    <a:lstStyle/>
                    <a:p>
                      <a:pPr algn="l" indent="0" marL="0">
                        <a:buNone/>
                      </a:pPr>
                      <a:r>
                        <a:rPr lang="en-US" sz="780" b="1" dirty="0">
                          <a:solidFill>
                            <a:srgbClr val="2C5F82"/>
                          </a:solidFill>
                          <a:latin typeface="Arial" pitchFamily="34" charset="0"/>
                          <a:ea typeface="Arial" pitchFamily="34" charset="-122"/>
                          <a:cs typeface="Arial" pitchFamily="34" charset="-120"/>
                        </a:rPr>
                        <a:t>Up to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E8EFF5"/>
                    </a:solidFill>
                  </a:tcPr>
                </a:tc>
              </a:tr>
            </a:tbl>
          </a:graphicData>
        </a:graphic>
      </p:graphicFrame>
      <p:sp>
        <p:nvSpPr>
          <p:cNvPr id="12" name="Shape 8"/>
          <p:cNvSpPr/>
          <p:nvPr/>
        </p:nvSpPr>
        <p:spPr>
          <a:xfrm>
            <a:off x="4892040" y="3010662"/>
            <a:ext cx="3840480" cy="1248156"/>
          </a:xfrm>
          <a:prstGeom prst="rect">
            <a:avLst/>
          </a:prstGeom>
          <a:solidFill>
            <a:srgbClr val="2C5F82"/>
          </a:solidFill>
          <a:ln w="12700">
            <a:solidFill>
              <a:srgbClr val="2C5F82"/>
            </a:solidFill>
            <a:prstDash val="solid"/>
          </a:ln>
        </p:spPr>
      </p:sp>
      <p:sp>
        <p:nvSpPr>
          <p:cNvPr id="13" name="Text 9"/>
          <p:cNvSpPr txBox="1"/>
          <p:nvPr/>
        </p:nvSpPr>
        <p:spPr>
          <a:xfrm>
            <a:off x="5029200" y="3081985"/>
            <a:ext cx="3566160" cy="1141171"/>
          </a:xfrm>
          <a:prstGeom prst="rect">
            <a:avLst/>
          </a:prstGeom>
          <a:noFill/>
          <a:ln/>
        </p:spPr>
        <p:txBody>
          <a:bodyPr wrap="square" lIns="0" tIns="0" rIns="0" bIns="0" rtlCol="0" anchor="t"/>
          <a:lstStyle/>
          <a:p>
            <a:pPr indent="0" marL="0">
              <a:buNone/>
            </a:pPr>
            <a:r>
              <a:rPr lang="en-US" sz="870" b="1" dirty="0">
                <a:solidFill>
                  <a:srgbClr val="BFD7EA"/>
                </a:solidFill>
                <a:latin typeface="Arial" pitchFamily="34" charset="0"/>
                <a:ea typeface="Arial" pitchFamily="34" charset="-122"/>
                <a:cs typeface="Arial" pitchFamily="34" charset="-120"/>
              </a:rPr>
              <a:t>Design call: </a:t>
            </a:r>
            <a:pPr indent="0" marL="0">
              <a:buNone/>
            </a:pPr>
            <a:r>
              <a:rPr lang="en-US" sz="870" dirty="0">
                <a:solidFill>
                  <a:srgbClr val="FFFFFF"/>
                </a:solidFill>
                <a:latin typeface="Arial" pitchFamily="34" charset="0"/>
                <a:ea typeface="Arial" pitchFamily="34" charset="-122"/>
                <a:cs typeface="Arial" pitchFamily="34" charset="-120"/>
              </a:rPr>
              <a:t>The draft's 8.5% fixed coupon is worth 100.3%, so Natixis cannot fund it. Full protection pays only 7.8%; a 70% floor pays 11.1%. Without barrier or floor the classic autocall is worth 14.1%: the family takes the basket's fall if the note is never called. We offer 12.75%.</a:t>
            </a:r>
            <a:endParaRPr lang="en-US" sz="870" dirty="0"/>
          </a:p>
        </p:txBody>
      </p:sp>
      <p:sp>
        <p:nvSpPr>
          <p:cNvPr id="14" name="Text 1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Monte Carlo, 200k paths. Vols, dividends and correlations are assumptions to refresh with Bloomberg data as of the 17 Sep 2026 trade date; discounting uses the USD funding grid. Loss risk = probability the note returns less than 100% at maturity (risk-neutral).</a:t>
            </a:r>
            <a:endParaRPr lang="en-US" sz="680" dirty="0"/>
          </a:p>
        </p:txBody>
      </p:sp>
      <p:sp>
        <p:nvSpPr>
          <p:cNvPr id="15" name="Text 1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How it pays: one question every quarter, three outcomes</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Is the basket at or above 100% of its starting level? (checked quarterly; one date per year shown)</a:t>
            </a:r>
            <a:endParaRPr lang="en-US" sz="850" dirty="0"/>
          </a:p>
        </p:txBody>
      </p:sp>
      <p:sp>
        <p:nvSpPr>
          <p:cNvPr id="10" name="Text 8"/>
          <p:cNvSpPr txBox="1"/>
          <p:nvPr/>
        </p:nvSpPr>
        <p:spPr>
          <a:xfrm>
            <a:off x="1280160" y="960120"/>
            <a:ext cx="7223760" cy="222885"/>
          </a:xfrm>
          <a:prstGeom prst="rect">
            <a:avLst/>
          </a:prstGeom>
          <a:noFill/>
          <a:ln/>
        </p:spPr>
        <p:txBody>
          <a:bodyPr wrap="square" lIns="0" tIns="0" rIns="0" bIns="0" rtlCol="0" anchor="t"/>
          <a:lstStyle/>
          <a:p>
            <a:pPr algn="ctr" indent="0" marL="0">
              <a:buNone/>
            </a:pPr>
            <a:r>
              <a:rPr lang="en-US" sz="830" i="1" dirty="0">
                <a:solidFill>
                  <a:srgbClr val="595959"/>
                </a:solidFill>
                <a:latin typeface="Arial" pitchFamily="34" charset="0"/>
                <a:ea typeface="Arial" pitchFamily="34" charset="-122"/>
                <a:cs typeface="Arial" pitchFamily="34" charset="-120"/>
              </a:rPr>
              <a:t>Q1–Q3: coupon only (3.19% if basket ≥ 100%). From Q4: coupon plus autocall. Missed coupons are always caught up.</a:t>
            </a:r>
            <a:endParaRPr lang="en-US" sz="830" dirty="0"/>
          </a:p>
        </p:txBody>
      </p:sp>
      <p:sp>
        <p:nvSpPr>
          <p:cNvPr id="11" name="Shape 9"/>
          <p:cNvSpPr/>
          <p:nvPr/>
        </p:nvSpPr>
        <p:spPr>
          <a:xfrm>
            <a:off x="731520" y="1450467"/>
            <a:ext cx="7680960" cy="0"/>
          </a:xfrm>
          <a:prstGeom prst="line">
            <a:avLst/>
          </a:prstGeom>
          <a:noFill/>
          <a:ln w="25400">
            <a:solidFill>
              <a:srgbClr val="A6A6A6"/>
            </a:solidFill>
            <a:prstDash val="solid"/>
          </a:ln>
        </p:spPr>
      </p:sp>
      <p:sp>
        <p:nvSpPr>
          <p:cNvPr id="12" name="Shape 10"/>
          <p:cNvSpPr/>
          <p:nvPr/>
        </p:nvSpPr>
        <p:spPr>
          <a:xfrm>
            <a:off x="502920" y="1263244"/>
            <a:ext cx="384048" cy="374447"/>
          </a:xfrm>
          <a:prstGeom prst="ellipse">
            <a:avLst/>
          </a:prstGeom>
          <a:solidFill>
            <a:srgbClr val="A6A6A6"/>
          </a:solidFill>
          <a:ln/>
        </p:spPr>
      </p:sp>
      <p:sp>
        <p:nvSpPr>
          <p:cNvPr id="13" name="Text 11"/>
          <p:cNvSpPr txBox="1"/>
          <p:nvPr/>
        </p:nvSpPr>
        <p:spPr>
          <a:xfrm>
            <a:off x="50292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a:t>
            </a:r>
            <a:endParaRPr lang="en-US" sz="1200" dirty="0"/>
          </a:p>
        </p:txBody>
      </p:sp>
      <p:sp>
        <p:nvSpPr>
          <p:cNvPr id="14" name="Text 12"/>
          <p:cNvSpPr txBox="1"/>
          <p:nvPr/>
        </p:nvSpPr>
        <p:spPr>
          <a:xfrm>
            <a:off x="137160" y="1673352"/>
            <a:ext cx="1143000" cy="356616"/>
          </a:xfrm>
          <a:prstGeom prst="rect">
            <a:avLst/>
          </a:prstGeom>
          <a:noFill/>
          <a:ln/>
        </p:spPr>
        <p:txBody>
          <a:bodyPr wrap="square" lIns="0" tIns="0" rIns="0" bIns="0" rtlCol="0" anchor="t"/>
          <a:lstStyle/>
          <a:p>
            <a:pPr algn="ctr" indent="0" marL="0">
              <a:buNone/>
            </a:pPr>
            <a:r>
              <a:rPr lang="en-US" sz="780" dirty="0">
                <a:solidFill>
                  <a:srgbClr val="595959"/>
                </a:solidFill>
                <a:latin typeface="Arial" pitchFamily="34" charset="0"/>
                <a:ea typeface="Arial" pitchFamily="34" charset="-122"/>
                <a:cs typeface="Arial" pitchFamily="34" charset="-120"/>
              </a:rPr>
              <a:t>Trade date</a:t>
            </a:r>
            <a:endParaRPr lang="en-US" sz="780" dirty="0"/>
          </a:p>
          <a:p>
            <a:pPr algn="ctr" indent="0" marL="0">
              <a:buNone/>
            </a:pPr>
            <a:r>
              <a:rPr lang="en-US" sz="780" dirty="0">
                <a:solidFill>
                  <a:srgbClr val="595959"/>
                </a:solidFill>
                <a:latin typeface="Arial" pitchFamily="34" charset="0"/>
                <a:ea typeface="Arial" pitchFamily="34" charset="-122"/>
                <a:cs typeface="Arial" pitchFamily="34" charset="-120"/>
              </a:rPr>
              <a:t>17 Sep 2026</a:t>
            </a:r>
            <a:endParaRPr lang="en-US" sz="780" dirty="0"/>
          </a:p>
        </p:txBody>
      </p:sp>
      <p:sp>
        <p:nvSpPr>
          <p:cNvPr id="15" name="Shape 13"/>
          <p:cNvSpPr/>
          <p:nvPr/>
        </p:nvSpPr>
        <p:spPr>
          <a:xfrm>
            <a:off x="1965960" y="1263244"/>
            <a:ext cx="384048" cy="374447"/>
          </a:xfrm>
          <a:prstGeom prst="ellipse">
            <a:avLst/>
          </a:prstGeom>
          <a:solidFill>
            <a:srgbClr val="2C5F82"/>
          </a:solidFill>
          <a:ln/>
        </p:spPr>
      </p:sp>
      <p:sp>
        <p:nvSpPr>
          <p:cNvPr id="16" name="Text 14"/>
          <p:cNvSpPr txBox="1"/>
          <p:nvPr/>
        </p:nvSpPr>
        <p:spPr>
          <a:xfrm>
            <a:off x="196596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Y1</a:t>
            </a:r>
            <a:endParaRPr lang="en-US" sz="1200" dirty="0"/>
          </a:p>
        </p:txBody>
      </p:sp>
      <p:sp>
        <p:nvSpPr>
          <p:cNvPr id="17" name="Text 15"/>
          <p:cNvSpPr txBox="1"/>
          <p:nvPr/>
        </p:nvSpPr>
        <p:spPr>
          <a:xfrm>
            <a:off x="150876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112.8% total</a:t>
            </a:r>
            <a:endParaRPr lang="en-US" sz="830" dirty="0"/>
          </a:p>
        </p:txBody>
      </p:sp>
      <p:sp>
        <p:nvSpPr>
          <p:cNvPr id="18" name="Text 16"/>
          <p:cNvSpPr txBox="1"/>
          <p:nvPr/>
        </p:nvSpPr>
        <p:spPr>
          <a:xfrm>
            <a:off x="150876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Y1) 49%</a:t>
            </a:r>
            <a:endParaRPr lang="en-US" sz="740" dirty="0"/>
          </a:p>
        </p:txBody>
      </p:sp>
      <p:sp>
        <p:nvSpPr>
          <p:cNvPr id="19" name="Shape 17"/>
          <p:cNvSpPr/>
          <p:nvPr/>
        </p:nvSpPr>
        <p:spPr>
          <a:xfrm>
            <a:off x="3429000" y="1263244"/>
            <a:ext cx="384048" cy="374447"/>
          </a:xfrm>
          <a:prstGeom prst="ellipse">
            <a:avLst/>
          </a:prstGeom>
          <a:solidFill>
            <a:srgbClr val="2C5F82"/>
          </a:solidFill>
          <a:ln/>
        </p:spPr>
      </p:sp>
      <p:sp>
        <p:nvSpPr>
          <p:cNvPr id="20" name="Text 18"/>
          <p:cNvSpPr txBox="1"/>
          <p:nvPr/>
        </p:nvSpPr>
        <p:spPr>
          <a:xfrm>
            <a:off x="342900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Y2</a:t>
            </a:r>
            <a:endParaRPr lang="en-US" sz="1200" dirty="0"/>
          </a:p>
        </p:txBody>
      </p:sp>
      <p:sp>
        <p:nvSpPr>
          <p:cNvPr id="21" name="Text 19"/>
          <p:cNvSpPr txBox="1"/>
          <p:nvPr/>
        </p:nvSpPr>
        <p:spPr>
          <a:xfrm>
            <a:off x="297180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125.5% total</a:t>
            </a:r>
            <a:endParaRPr lang="en-US" sz="830" dirty="0"/>
          </a:p>
        </p:txBody>
      </p:sp>
      <p:sp>
        <p:nvSpPr>
          <p:cNvPr id="22" name="Text 20"/>
          <p:cNvSpPr txBox="1"/>
          <p:nvPr/>
        </p:nvSpPr>
        <p:spPr>
          <a:xfrm>
            <a:off x="297180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Y2) 66%</a:t>
            </a:r>
            <a:endParaRPr lang="en-US" sz="740" dirty="0"/>
          </a:p>
        </p:txBody>
      </p:sp>
      <p:sp>
        <p:nvSpPr>
          <p:cNvPr id="23" name="Shape 21"/>
          <p:cNvSpPr/>
          <p:nvPr/>
        </p:nvSpPr>
        <p:spPr>
          <a:xfrm>
            <a:off x="4892040" y="1263244"/>
            <a:ext cx="384048" cy="374447"/>
          </a:xfrm>
          <a:prstGeom prst="ellipse">
            <a:avLst/>
          </a:prstGeom>
          <a:solidFill>
            <a:srgbClr val="2C5F82"/>
          </a:solidFill>
          <a:ln/>
        </p:spPr>
      </p:sp>
      <p:sp>
        <p:nvSpPr>
          <p:cNvPr id="24" name="Text 22"/>
          <p:cNvSpPr txBox="1"/>
          <p:nvPr/>
        </p:nvSpPr>
        <p:spPr>
          <a:xfrm>
            <a:off x="489204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Y3</a:t>
            </a:r>
            <a:endParaRPr lang="en-US" sz="1200" dirty="0"/>
          </a:p>
        </p:txBody>
      </p:sp>
      <p:sp>
        <p:nvSpPr>
          <p:cNvPr id="25" name="Text 23"/>
          <p:cNvSpPr txBox="1"/>
          <p:nvPr/>
        </p:nvSpPr>
        <p:spPr>
          <a:xfrm>
            <a:off x="443484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138.3% total</a:t>
            </a:r>
            <a:endParaRPr lang="en-US" sz="830" dirty="0"/>
          </a:p>
        </p:txBody>
      </p:sp>
      <p:sp>
        <p:nvSpPr>
          <p:cNvPr id="26" name="Text 24"/>
          <p:cNvSpPr txBox="1"/>
          <p:nvPr/>
        </p:nvSpPr>
        <p:spPr>
          <a:xfrm>
            <a:off x="443484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Y3) 73%</a:t>
            </a:r>
            <a:endParaRPr lang="en-US" sz="740" dirty="0"/>
          </a:p>
        </p:txBody>
      </p:sp>
      <p:sp>
        <p:nvSpPr>
          <p:cNvPr id="27" name="Shape 25"/>
          <p:cNvSpPr/>
          <p:nvPr/>
        </p:nvSpPr>
        <p:spPr>
          <a:xfrm>
            <a:off x="6355080" y="1263244"/>
            <a:ext cx="384048" cy="374447"/>
          </a:xfrm>
          <a:prstGeom prst="ellipse">
            <a:avLst/>
          </a:prstGeom>
          <a:solidFill>
            <a:srgbClr val="2C5F82"/>
          </a:solidFill>
          <a:ln/>
        </p:spPr>
      </p:sp>
      <p:sp>
        <p:nvSpPr>
          <p:cNvPr id="28" name="Text 26"/>
          <p:cNvSpPr txBox="1"/>
          <p:nvPr/>
        </p:nvSpPr>
        <p:spPr>
          <a:xfrm>
            <a:off x="635508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Y4</a:t>
            </a:r>
            <a:endParaRPr lang="en-US" sz="1200" dirty="0"/>
          </a:p>
        </p:txBody>
      </p:sp>
      <p:sp>
        <p:nvSpPr>
          <p:cNvPr id="29" name="Text 27"/>
          <p:cNvSpPr txBox="1"/>
          <p:nvPr/>
        </p:nvSpPr>
        <p:spPr>
          <a:xfrm>
            <a:off x="5897880" y="1673352"/>
            <a:ext cx="1298448" cy="374447"/>
          </a:xfrm>
          <a:prstGeom prst="rect">
            <a:avLst/>
          </a:prstGeom>
          <a:noFill/>
          <a:ln/>
        </p:spPr>
        <p:txBody>
          <a:bodyPr wrap="square" lIns="0" tIns="0" rIns="0" bIns="0" rtlCol="0" anchor="t"/>
          <a:lstStyle/>
          <a:p>
            <a:pPr algn="ctr" indent="0" marL="0">
              <a:buNone/>
            </a:pPr>
            <a:r>
              <a:rPr lang="en-US" sz="830" b="1" dirty="0">
                <a:solidFill>
                  <a:srgbClr val="2C5F82"/>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2C5F82"/>
                </a:solidFill>
                <a:latin typeface="Arial" pitchFamily="34" charset="0"/>
                <a:ea typeface="Arial" pitchFamily="34" charset="-122"/>
                <a:cs typeface="Arial" pitchFamily="34" charset="-120"/>
              </a:rPr>
              <a:t>151.0% total</a:t>
            </a:r>
            <a:endParaRPr lang="en-US" sz="830" dirty="0"/>
          </a:p>
        </p:txBody>
      </p:sp>
      <p:sp>
        <p:nvSpPr>
          <p:cNvPr id="30" name="Text 28"/>
          <p:cNvSpPr txBox="1"/>
          <p:nvPr/>
        </p:nvSpPr>
        <p:spPr>
          <a:xfrm>
            <a:off x="589788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Y4) 76%</a:t>
            </a:r>
            <a:endParaRPr lang="en-US" sz="740" dirty="0"/>
          </a:p>
        </p:txBody>
      </p:sp>
      <p:sp>
        <p:nvSpPr>
          <p:cNvPr id="31" name="Shape 29"/>
          <p:cNvSpPr/>
          <p:nvPr/>
        </p:nvSpPr>
        <p:spPr>
          <a:xfrm>
            <a:off x="7818120" y="1263244"/>
            <a:ext cx="384048" cy="374447"/>
          </a:xfrm>
          <a:prstGeom prst="ellipse">
            <a:avLst/>
          </a:prstGeom>
          <a:solidFill>
            <a:srgbClr val="4F86AE"/>
          </a:solidFill>
          <a:ln/>
        </p:spPr>
      </p:sp>
      <p:sp>
        <p:nvSpPr>
          <p:cNvPr id="32" name="Text 30"/>
          <p:cNvSpPr txBox="1"/>
          <p:nvPr/>
        </p:nvSpPr>
        <p:spPr>
          <a:xfrm>
            <a:off x="7818120" y="1263244"/>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Y5</a:t>
            </a:r>
            <a:endParaRPr lang="en-US" sz="1200" dirty="0"/>
          </a:p>
        </p:txBody>
      </p:sp>
      <p:sp>
        <p:nvSpPr>
          <p:cNvPr id="33" name="Text 31"/>
          <p:cNvSpPr txBox="1"/>
          <p:nvPr/>
        </p:nvSpPr>
        <p:spPr>
          <a:xfrm>
            <a:off x="7360920" y="1673352"/>
            <a:ext cx="1298448" cy="374447"/>
          </a:xfrm>
          <a:prstGeom prst="rect">
            <a:avLst/>
          </a:prstGeom>
          <a:noFill/>
          <a:ln/>
        </p:spPr>
        <p:txBody>
          <a:bodyPr wrap="square" lIns="0" tIns="0" rIns="0" bIns="0" rtlCol="0" anchor="t"/>
          <a:lstStyle/>
          <a:p>
            <a:pPr algn="ctr" indent="0" marL="0">
              <a:buNone/>
            </a:pPr>
            <a:r>
              <a:rPr lang="en-US" sz="830" b="1" dirty="0">
                <a:solidFill>
                  <a:srgbClr val="4F86AE"/>
                </a:solidFill>
                <a:latin typeface="Arial" pitchFamily="34" charset="0"/>
                <a:ea typeface="Arial" pitchFamily="34" charset="-122"/>
                <a:cs typeface="Arial" pitchFamily="34" charset="-120"/>
              </a:rPr>
              <a:t>If ≥ 100%: called,</a:t>
            </a:r>
            <a:endParaRPr lang="en-US" sz="830" dirty="0"/>
          </a:p>
          <a:p>
            <a:pPr algn="ctr" indent="0" marL="0">
              <a:buNone/>
            </a:pPr>
            <a:r>
              <a:rPr lang="en-US" sz="830" b="1" dirty="0">
                <a:solidFill>
                  <a:srgbClr val="4F86AE"/>
                </a:solidFill>
                <a:latin typeface="Arial" pitchFamily="34" charset="0"/>
                <a:ea typeface="Arial" pitchFamily="34" charset="-122"/>
                <a:cs typeface="Arial" pitchFamily="34" charset="-120"/>
              </a:rPr>
              <a:t>163.8% total</a:t>
            </a:r>
            <a:endParaRPr lang="en-US" sz="830" dirty="0"/>
          </a:p>
        </p:txBody>
      </p:sp>
      <p:sp>
        <p:nvSpPr>
          <p:cNvPr id="34" name="Text 32"/>
          <p:cNvSpPr txBox="1"/>
          <p:nvPr/>
        </p:nvSpPr>
        <p:spPr>
          <a:xfrm>
            <a:off x="7360920" y="2038883"/>
            <a:ext cx="1298448" cy="196139"/>
          </a:xfrm>
          <a:prstGeom prst="rect">
            <a:avLst/>
          </a:prstGeom>
          <a:noFill/>
          <a:ln/>
        </p:spPr>
        <p:txBody>
          <a:bodyPr wrap="square" lIns="0" tIns="0" rIns="0" bIns="0" rtlCol="0" anchor="t"/>
          <a:lstStyle/>
          <a:p>
            <a:pPr algn="ctr" indent="0" marL="0">
              <a:buNone/>
            </a:pPr>
            <a:r>
              <a:rPr lang="en-US" sz="740" dirty="0">
                <a:solidFill>
                  <a:srgbClr val="595959"/>
                </a:solidFill>
                <a:latin typeface="Arial" pitchFamily="34" charset="0"/>
                <a:ea typeface="Arial" pitchFamily="34" charset="-122"/>
                <a:cs typeface="Arial" pitchFamily="34" charset="-120"/>
              </a:rPr>
              <a:t>P(called by Y5) 79%</a:t>
            </a:r>
            <a:endParaRPr lang="en-US" sz="740" dirty="0"/>
          </a:p>
        </p:txBody>
      </p:sp>
      <p:graphicFrame>
        <p:nvGraphicFramePr>
          <p:cNvPr id="35" name="Chart 0" descr=""/>
          <p:cNvGraphicFramePr/>
          <p:nvPr/>
        </p:nvGraphicFramePr>
        <p:xfrm>
          <a:off x="320040" y="2342007"/>
          <a:ext cx="4206240" cy="2184273"/>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4709160" y="2386584"/>
            <a:ext cx="4023360" cy="641909"/>
          </a:xfrm>
          <a:prstGeom prst="rect">
            <a:avLst/>
          </a:prstGeom>
          <a:solidFill>
            <a:srgbClr val="E8EFF5"/>
          </a:solidFill>
          <a:ln w="12700">
            <a:solidFill>
              <a:srgbClr val="E8EFF5"/>
            </a:solidFill>
            <a:prstDash val="solid"/>
          </a:ln>
        </p:spPr>
      </p:sp>
      <p:sp>
        <p:nvSpPr>
          <p:cNvPr id="37" name="Shape 34"/>
          <p:cNvSpPr/>
          <p:nvPr/>
        </p:nvSpPr>
        <p:spPr>
          <a:xfrm>
            <a:off x="4818888" y="2520315"/>
            <a:ext cx="384048" cy="374447"/>
          </a:xfrm>
          <a:prstGeom prst="ellipse">
            <a:avLst/>
          </a:prstGeom>
          <a:solidFill>
            <a:srgbClr val="2C5F82"/>
          </a:solidFill>
          <a:ln/>
        </p:spPr>
      </p:sp>
      <p:sp>
        <p:nvSpPr>
          <p:cNvPr id="38" name="Text 35"/>
          <p:cNvSpPr txBox="1"/>
          <p:nvPr/>
        </p:nvSpPr>
        <p:spPr>
          <a:xfrm>
            <a:off x="4818888" y="2520315"/>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9" name="Text 36"/>
          <p:cNvSpPr txBox="1"/>
          <p:nvPr/>
        </p:nvSpPr>
        <p:spPr>
          <a:xfrm>
            <a:off x="5303520" y="2440076"/>
            <a:ext cx="2606040" cy="240716"/>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Autocalled</a:t>
            </a:r>
            <a:endParaRPr lang="en-US" sz="970" dirty="0"/>
          </a:p>
        </p:txBody>
      </p:sp>
      <p:sp>
        <p:nvSpPr>
          <p:cNvPr id="40" name="Text 37"/>
          <p:cNvSpPr txBox="1"/>
          <p:nvPr/>
        </p:nvSpPr>
        <p:spPr>
          <a:xfrm>
            <a:off x="5303520" y="2671877"/>
            <a:ext cx="2606040" cy="338785"/>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Basket ≥ 100% on any date from Q4: 100% plus every coupon to date. The note ends.</a:t>
            </a:r>
            <a:endParaRPr lang="en-US" sz="780" dirty="0"/>
          </a:p>
        </p:txBody>
      </p:sp>
      <p:sp>
        <p:nvSpPr>
          <p:cNvPr id="41" name="Text 38"/>
          <p:cNvSpPr txBox="1"/>
          <p:nvPr/>
        </p:nvSpPr>
        <p:spPr>
          <a:xfrm>
            <a:off x="7909560" y="2431161"/>
            <a:ext cx="777240" cy="552755"/>
          </a:xfrm>
          <a:prstGeom prst="rect">
            <a:avLst/>
          </a:prstGeom>
          <a:noFill/>
          <a:ln/>
        </p:spPr>
        <p:txBody>
          <a:bodyPr wrap="square" lIns="0" tIns="0" rIns="0" bIns="0" rtlCol="0" anchor="ctr"/>
          <a:lstStyle/>
          <a:p>
            <a:pPr algn="ctr" indent="0" marL="0">
              <a:buNone/>
            </a:pPr>
            <a:r>
              <a:rPr lang="en-US" sz="1470" b="1" dirty="0">
                <a:solidFill>
                  <a:srgbClr val="2C5F82"/>
                </a:solidFill>
                <a:latin typeface="Arial" pitchFamily="34" charset="0"/>
                <a:ea typeface="Arial" pitchFamily="34" charset="-122"/>
                <a:cs typeface="Arial" pitchFamily="34" charset="-120"/>
              </a:rPr>
              <a:t>79%</a:t>
            </a:r>
            <a:endParaRPr lang="en-US" sz="1010" dirty="0"/>
          </a:p>
          <a:p>
            <a:pPr algn="ctr" indent="0" marL="0">
              <a:buNone/>
            </a:pPr>
            <a:r>
              <a:rPr lang="en-US" sz="690" dirty="0">
                <a:solidFill>
                  <a:srgbClr val="595959"/>
                </a:solidFill>
                <a:latin typeface="Arial" pitchFamily="34" charset="0"/>
                <a:ea typeface="Arial" pitchFamily="34" charset="-122"/>
                <a:cs typeface="Arial" pitchFamily="34" charset="-120"/>
              </a:rPr>
              <a:t>risk-neutral</a:t>
            </a:r>
            <a:endParaRPr lang="en-US" sz="1010" dirty="0"/>
          </a:p>
        </p:txBody>
      </p:sp>
      <p:sp>
        <p:nvSpPr>
          <p:cNvPr id="42" name="Shape 39"/>
          <p:cNvSpPr/>
          <p:nvPr/>
        </p:nvSpPr>
        <p:spPr>
          <a:xfrm>
            <a:off x="4709160" y="3099816"/>
            <a:ext cx="4023360" cy="641909"/>
          </a:xfrm>
          <a:prstGeom prst="rect">
            <a:avLst/>
          </a:prstGeom>
          <a:solidFill>
            <a:srgbClr val="E8EFF5"/>
          </a:solidFill>
          <a:ln w="12700">
            <a:solidFill>
              <a:srgbClr val="E8EFF5"/>
            </a:solidFill>
            <a:prstDash val="solid"/>
          </a:ln>
        </p:spPr>
      </p:sp>
      <p:sp>
        <p:nvSpPr>
          <p:cNvPr id="43" name="Shape 40"/>
          <p:cNvSpPr/>
          <p:nvPr/>
        </p:nvSpPr>
        <p:spPr>
          <a:xfrm>
            <a:off x="4818888" y="3233547"/>
            <a:ext cx="384048" cy="374447"/>
          </a:xfrm>
          <a:prstGeom prst="ellipse">
            <a:avLst/>
          </a:prstGeom>
          <a:solidFill>
            <a:srgbClr val="A6A6A6"/>
          </a:solidFill>
          <a:ln/>
        </p:spPr>
      </p:sp>
      <p:sp>
        <p:nvSpPr>
          <p:cNvPr id="44" name="Text 41"/>
          <p:cNvSpPr txBox="1"/>
          <p:nvPr/>
        </p:nvSpPr>
        <p:spPr>
          <a:xfrm>
            <a:off x="4818888" y="3233547"/>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45" name="Text 42"/>
          <p:cNvSpPr txBox="1"/>
          <p:nvPr/>
        </p:nvSpPr>
        <p:spPr>
          <a:xfrm>
            <a:off x="5303520" y="3153308"/>
            <a:ext cx="2606040" cy="240716"/>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Not called, basket 70–100% at Y5</a:t>
            </a:r>
            <a:endParaRPr lang="en-US" sz="970" dirty="0"/>
          </a:p>
        </p:txBody>
      </p:sp>
      <p:sp>
        <p:nvSpPr>
          <p:cNvPr id="46" name="Text 43"/>
          <p:cNvSpPr txBox="1"/>
          <p:nvPr/>
        </p:nvSpPr>
        <p:spPr>
          <a:xfrm>
            <a:off x="5303520" y="3385109"/>
            <a:ext cx="2606040" cy="338785"/>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Repaid at the basket level (e.g. 85% back), plus any early coupons.</a:t>
            </a:r>
            <a:endParaRPr lang="en-US" sz="780" dirty="0"/>
          </a:p>
        </p:txBody>
      </p:sp>
      <p:sp>
        <p:nvSpPr>
          <p:cNvPr id="47" name="Text 44"/>
          <p:cNvSpPr txBox="1"/>
          <p:nvPr/>
        </p:nvSpPr>
        <p:spPr>
          <a:xfrm>
            <a:off x="7909560" y="3144393"/>
            <a:ext cx="777240" cy="552755"/>
          </a:xfrm>
          <a:prstGeom prst="rect">
            <a:avLst/>
          </a:prstGeom>
          <a:noFill/>
          <a:ln/>
        </p:spPr>
        <p:txBody>
          <a:bodyPr wrap="square" lIns="0" tIns="0" rIns="0" bIns="0" rtlCol="0" anchor="ctr"/>
          <a:lstStyle/>
          <a:p>
            <a:pPr algn="ctr" indent="0" marL="0">
              <a:buNone/>
            </a:pPr>
            <a:r>
              <a:rPr lang="en-US" sz="1470" b="1" dirty="0">
                <a:solidFill>
                  <a:srgbClr val="A6A6A6"/>
                </a:solidFill>
                <a:latin typeface="Arial" pitchFamily="34" charset="0"/>
                <a:ea typeface="Arial" pitchFamily="34" charset="-122"/>
                <a:cs typeface="Arial" pitchFamily="34" charset="-120"/>
              </a:rPr>
              <a:t>5%</a:t>
            </a:r>
            <a:endParaRPr lang="en-US" sz="1010" dirty="0"/>
          </a:p>
          <a:p>
            <a:pPr algn="ctr" indent="0" marL="0">
              <a:buNone/>
            </a:pPr>
            <a:r>
              <a:rPr lang="en-US" sz="690" dirty="0">
                <a:solidFill>
                  <a:srgbClr val="595959"/>
                </a:solidFill>
                <a:latin typeface="Arial" pitchFamily="34" charset="0"/>
                <a:ea typeface="Arial" pitchFamily="34" charset="-122"/>
                <a:cs typeface="Arial" pitchFamily="34" charset="-120"/>
              </a:rPr>
              <a:t>risk-neutral</a:t>
            </a:r>
            <a:endParaRPr lang="en-US" sz="1010" dirty="0"/>
          </a:p>
        </p:txBody>
      </p:sp>
      <p:sp>
        <p:nvSpPr>
          <p:cNvPr id="48" name="Shape 45"/>
          <p:cNvSpPr/>
          <p:nvPr/>
        </p:nvSpPr>
        <p:spPr>
          <a:xfrm>
            <a:off x="4709160" y="3813048"/>
            <a:ext cx="4023360" cy="641909"/>
          </a:xfrm>
          <a:prstGeom prst="rect">
            <a:avLst/>
          </a:prstGeom>
          <a:solidFill>
            <a:srgbClr val="E8EFF5"/>
          </a:solidFill>
          <a:ln w="12700">
            <a:solidFill>
              <a:srgbClr val="E8EFF5"/>
            </a:solidFill>
            <a:prstDash val="solid"/>
          </a:ln>
        </p:spPr>
      </p:sp>
      <p:sp>
        <p:nvSpPr>
          <p:cNvPr id="49" name="Shape 46"/>
          <p:cNvSpPr/>
          <p:nvPr/>
        </p:nvSpPr>
        <p:spPr>
          <a:xfrm>
            <a:off x="4818888" y="3946779"/>
            <a:ext cx="384048" cy="374447"/>
          </a:xfrm>
          <a:prstGeom prst="ellipse">
            <a:avLst/>
          </a:prstGeom>
          <a:solidFill>
            <a:srgbClr val="B23B3B"/>
          </a:solidFill>
          <a:ln/>
        </p:spPr>
      </p:sp>
      <p:sp>
        <p:nvSpPr>
          <p:cNvPr id="50" name="Text 47"/>
          <p:cNvSpPr txBox="1"/>
          <p:nvPr/>
        </p:nvSpPr>
        <p:spPr>
          <a:xfrm>
            <a:off x="4818888" y="3946779"/>
            <a:ext cx="384048" cy="374447"/>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51" name="Text 48"/>
          <p:cNvSpPr txBox="1"/>
          <p:nvPr/>
        </p:nvSpPr>
        <p:spPr>
          <a:xfrm>
            <a:off x="5303520" y="3866540"/>
            <a:ext cx="2606040" cy="240716"/>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Not called, basket &lt; 70% at Y5</a:t>
            </a:r>
            <a:endParaRPr lang="en-US" sz="970" dirty="0"/>
          </a:p>
        </p:txBody>
      </p:sp>
      <p:sp>
        <p:nvSpPr>
          <p:cNvPr id="52" name="Text 49"/>
          <p:cNvSpPr txBox="1"/>
          <p:nvPr/>
        </p:nvSpPr>
        <p:spPr>
          <a:xfrm>
            <a:off x="5303520" y="4098341"/>
            <a:ext cx="2606040" cy="338785"/>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Repaid at the basket level: the family bears the full fall.</a:t>
            </a:r>
            <a:endParaRPr lang="en-US" sz="780" dirty="0"/>
          </a:p>
        </p:txBody>
      </p:sp>
      <p:sp>
        <p:nvSpPr>
          <p:cNvPr id="53" name="Text 50"/>
          <p:cNvSpPr txBox="1"/>
          <p:nvPr/>
        </p:nvSpPr>
        <p:spPr>
          <a:xfrm>
            <a:off x="7909560" y="3857625"/>
            <a:ext cx="777240" cy="552755"/>
          </a:xfrm>
          <a:prstGeom prst="rect">
            <a:avLst/>
          </a:prstGeom>
          <a:noFill/>
          <a:ln/>
        </p:spPr>
        <p:txBody>
          <a:bodyPr wrap="square" lIns="0" tIns="0" rIns="0" bIns="0" rtlCol="0" anchor="ctr"/>
          <a:lstStyle/>
          <a:p>
            <a:pPr algn="ctr" indent="0" marL="0">
              <a:buNone/>
            </a:pPr>
            <a:r>
              <a:rPr lang="en-US" sz="1470" b="1" dirty="0">
                <a:solidFill>
                  <a:srgbClr val="B23B3B"/>
                </a:solidFill>
                <a:latin typeface="Arial" pitchFamily="34" charset="0"/>
                <a:ea typeface="Arial" pitchFamily="34" charset="-122"/>
                <a:cs typeface="Arial" pitchFamily="34" charset="-120"/>
              </a:rPr>
              <a:t>16%</a:t>
            </a:r>
            <a:endParaRPr lang="en-US" sz="1010" dirty="0"/>
          </a:p>
          <a:p>
            <a:pPr algn="ctr" indent="0" marL="0">
              <a:buNone/>
            </a:pPr>
            <a:r>
              <a:rPr lang="en-US" sz="690" dirty="0">
                <a:solidFill>
                  <a:srgbClr val="595959"/>
                </a:solidFill>
                <a:latin typeface="Arial" pitchFamily="34" charset="0"/>
                <a:ea typeface="Arial" pitchFamily="34" charset="-122"/>
                <a:cs typeface="Arial" pitchFamily="34" charset="-120"/>
              </a:rPr>
              <a:t>risk-neutral</a:t>
            </a:r>
            <a:endParaRPr lang="en-US" sz="1010" dirty="0"/>
          </a:p>
        </p:txBody>
      </p:sp>
      <p:sp>
        <p:nvSpPr>
          <p:cNvPr id="54" name="Text 51"/>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Probabilities are risk-neutral (drift = funding rate − dividends); real-world outcomes are on slide 9. The desk's replication (bond, coupon digitals, short put) is in Appendix C; stress paths in Appendix B.</a:t>
            </a:r>
            <a:endParaRPr lang="en-US" sz="680" dirty="0"/>
          </a:p>
        </p:txBody>
      </p:sp>
      <p:sp>
        <p:nvSpPr>
          <p:cNvPr id="55" name="Text 52"/>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Simulation back-test: most paths end early with full coupons</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Monte Carlo outcome distribution: risk-neutral and under three real-world equity return assumptions</a:t>
            </a:r>
            <a:endParaRPr lang="en-US" sz="850" dirty="0"/>
          </a:p>
        </p:txBody>
      </p:sp>
      <p:graphicFrame>
        <p:nvGraphicFramePr>
          <p:cNvPr id="10" name="Chart 0" descr=""/>
          <p:cNvGraphicFramePr/>
          <p:nvPr/>
        </p:nvGraphicFramePr>
        <p:xfrm>
          <a:off x="320040" y="1004697"/>
          <a:ext cx="3566160" cy="2318004"/>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69080" y="1049274"/>
          <a:ext cx="4663440" cy="914400"/>
        </p:xfrm>
        <a:graphic>
          <a:graphicData uri="http://schemas.openxmlformats.org/drawingml/2006/table">
            <a:tbl>
              <a:tblPr/>
              <a:tblGrid>
                <a:gridCol w="1298448"/>
                <a:gridCol w="841248"/>
                <a:gridCol w="841248"/>
                <a:gridCol w="841248"/>
                <a:gridCol w="841248"/>
              </a:tblGrid>
              <a:tr h="267462">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Metric</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Risk-neutral</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0% equity p.a.</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4% equity p.a.</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8% equity p.a.</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Called within 5Y</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68%</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77%</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84%</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Expected life (yrs)</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Mean IRR</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7.8%</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4.3%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9.1%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Median IRR</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13.0%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12.6%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12.9%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13.1%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Avg coupons received</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15.4%</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13.5%</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14.9%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Avg repayment if not called</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56%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50%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55%</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59%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Capital loss (not called)</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16%</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2" name="Shape 8"/>
          <p:cNvSpPr/>
          <p:nvPr/>
        </p:nvSpPr>
        <p:spPr>
          <a:xfrm>
            <a:off x="411480" y="3456432"/>
            <a:ext cx="2606040" cy="980694"/>
          </a:xfrm>
          <a:prstGeom prst="rect">
            <a:avLst/>
          </a:prstGeom>
          <a:solidFill>
            <a:srgbClr val="E8EFF5"/>
          </a:solidFill>
          <a:ln w="12700">
            <a:solidFill>
              <a:srgbClr val="E8EFF5"/>
            </a:solidFill>
            <a:prstDash val="solid"/>
          </a:ln>
        </p:spPr>
      </p:sp>
      <p:sp>
        <p:nvSpPr>
          <p:cNvPr id="13" name="Text 9"/>
          <p:cNvSpPr txBox="1"/>
          <p:nvPr/>
        </p:nvSpPr>
        <p:spPr>
          <a:xfrm>
            <a:off x="548640" y="3518840"/>
            <a:ext cx="1051560" cy="846963"/>
          </a:xfrm>
          <a:prstGeom prst="rect">
            <a:avLst/>
          </a:prstGeom>
          <a:noFill/>
          <a:ln/>
        </p:spPr>
        <p:txBody>
          <a:bodyPr wrap="square" lIns="0" tIns="0" rIns="0" bIns="0" rtlCol="0" anchor="ctr"/>
          <a:lstStyle/>
          <a:p>
            <a:pPr indent="0" marL="0">
              <a:buNone/>
            </a:pPr>
            <a:r>
              <a:rPr lang="en-US" sz="2210" b="1" dirty="0">
                <a:solidFill>
                  <a:srgbClr val="2C5F82"/>
                </a:solidFill>
                <a:latin typeface="Arial" pitchFamily="34" charset="0"/>
                <a:ea typeface="Arial" pitchFamily="34" charset="-122"/>
                <a:cs typeface="Arial" pitchFamily="34" charset="-120"/>
              </a:rPr>
              <a:t>49%</a:t>
            </a:r>
            <a:endParaRPr lang="en-US" sz="2210" dirty="0"/>
          </a:p>
        </p:txBody>
      </p:sp>
      <p:sp>
        <p:nvSpPr>
          <p:cNvPr id="14" name="Text 10"/>
          <p:cNvSpPr txBox="1"/>
          <p:nvPr/>
        </p:nvSpPr>
        <p:spPr>
          <a:xfrm>
            <a:off x="1600200" y="3518840"/>
            <a:ext cx="1325880" cy="846963"/>
          </a:xfrm>
          <a:prstGeom prst="rect">
            <a:avLst/>
          </a:prstGeom>
          <a:noFill/>
          <a:ln/>
        </p:spPr>
        <p:txBody>
          <a:bodyPr wrap="square" lIns="0" tIns="0" rIns="0" bIns="0" rtlCol="0" anchor="ctr"/>
          <a:lstStyle/>
          <a:p>
            <a:pPr indent="0" marL="0">
              <a:buNone/>
            </a:pPr>
            <a:r>
              <a:rPr lang="en-US" sz="920" dirty="0">
                <a:solidFill>
                  <a:srgbClr val="262626"/>
                </a:solidFill>
                <a:latin typeface="Arial" pitchFamily="34" charset="0"/>
                <a:ea typeface="Arial" pitchFamily="34" charset="-122"/>
                <a:cs typeface="Arial" pitchFamily="34" charset="-120"/>
              </a:rPr>
              <a:t>called at the first review (112.8% total)</a:t>
            </a:r>
            <a:endParaRPr lang="en-US" sz="920" dirty="0"/>
          </a:p>
        </p:txBody>
      </p:sp>
      <p:sp>
        <p:nvSpPr>
          <p:cNvPr id="15" name="Shape 11"/>
          <p:cNvSpPr/>
          <p:nvPr/>
        </p:nvSpPr>
        <p:spPr>
          <a:xfrm>
            <a:off x="3200400" y="3456432"/>
            <a:ext cx="2606040" cy="980694"/>
          </a:xfrm>
          <a:prstGeom prst="rect">
            <a:avLst/>
          </a:prstGeom>
          <a:solidFill>
            <a:srgbClr val="E8EFF5"/>
          </a:solidFill>
          <a:ln w="12700">
            <a:solidFill>
              <a:srgbClr val="E8EFF5"/>
            </a:solidFill>
            <a:prstDash val="solid"/>
          </a:ln>
        </p:spPr>
      </p:sp>
      <p:sp>
        <p:nvSpPr>
          <p:cNvPr id="16" name="Text 12"/>
          <p:cNvSpPr txBox="1"/>
          <p:nvPr/>
        </p:nvSpPr>
        <p:spPr>
          <a:xfrm>
            <a:off x="3337560" y="3518840"/>
            <a:ext cx="1051560" cy="846963"/>
          </a:xfrm>
          <a:prstGeom prst="rect">
            <a:avLst/>
          </a:prstGeom>
          <a:noFill/>
          <a:ln/>
        </p:spPr>
        <p:txBody>
          <a:bodyPr wrap="square" lIns="0" tIns="0" rIns="0" bIns="0" rtlCol="0" anchor="ctr"/>
          <a:lstStyle/>
          <a:p>
            <a:pPr indent="0" marL="0">
              <a:buNone/>
            </a:pPr>
            <a:r>
              <a:rPr lang="en-US" sz="2210" b="1" dirty="0">
                <a:solidFill>
                  <a:srgbClr val="2C5F82"/>
                </a:solidFill>
                <a:latin typeface="Arial" pitchFamily="34" charset="0"/>
                <a:ea typeface="Arial" pitchFamily="34" charset="-122"/>
                <a:cs typeface="Arial" pitchFamily="34" charset="-120"/>
              </a:rPr>
              <a:t>21%</a:t>
            </a:r>
            <a:endParaRPr lang="en-US" sz="2210" dirty="0"/>
          </a:p>
        </p:txBody>
      </p:sp>
      <p:sp>
        <p:nvSpPr>
          <p:cNvPr id="17" name="Text 13"/>
          <p:cNvSpPr txBox="1"/>
          <p:nvPr/>
        </p:nvSpPr>
        <p:spPr>
          <a:xfrm>
            <a:off x="4389120" y="3518840"/>
            <a:ext cx="1325880" cy="846963"/>
          </a:xfrm>
          <a:prstGeom prst="rect">
            <a:avLst/>
          </a:prstGeom>
          <a:noFill/>
          <a:ln/>
        </p:spPr>
        <p:txBody>
          <a:bodyPr wrap="square" lIns="0" tIns="0" rIns="0" bIns="0" rtlCol="0" anchor="ctr"/>
          <a:lstStyle/>
          <a:p>
            <a:pPr indent="0" marL="0">
              <a:buNone/>
            </a:pPr>
            <a:r>
              <a:rPr lang="en-US" sz="920" dirty="0">
                <a:solidFill>
                  <a:srgbClr val="262626"/>
                </a:solidFill>
                <a:latin typeface="Arial" pitchFamily="34" charset="0"/>
                <a:ea typeface="Arial" pitchFamily="34" charset="-122"/>
                <a:cs typeface="Arial" pitchFamily="34" charset="-120"/>
              </a:rPr>
              <a:t>chance of a loss: never called, repaid at the basket level</a:t>
            </a:r>
            <a:endParaRPr lang="en-US" sz="920" dirty="0"/>
          </a:p>
        </p:txBody>
      </p:sp>
      <p:sp>
        <p:nvSpPr>
          <p:cNvPr id="18" name="Shape 14"/>
          <p:cNvSpPr/>
          <p:nvPr/>
        </p:nvSpPr>
        <p:spPr>
          <a:xfrm>
            <a:off x="5989320" y="3456432"/>
            <a:ext cx="2606040" cy="980694"/>
          </a:xfrm>
          <a:prstGeom prst="rect">
            <a:avLst/>
          </a:prstGeom>
          <a:solidFill>
            <a:srgbClr val="2C5F82"/>
          </a:solidFill>
          <a:ln w="12700">
            <a:solidFill>
              <a:srgbClr val="2C5F82"/>
            </a:solidFill>
            <a:prstDash val="solid"/>
          </a:ln>
        </p:spPr>
      </p:sp>
      <p:sp>
        <p:nvSpPr>
          <p:cNvPr id="19" name="Text 15"/>
          <p:cNvSpPr txBox="1"/>
          <p:nvPr/>
        </p:nvSpPr>
        <p:spPr>
          <a:xfrm>
            <a:off x="6126480" y="3518840"/>
            <a:ext cx="1051560" cy="846963"/>
          </a:xfrm>
          <a:prstGeom prst="rect">
            <a:avLst/>
          </a:prstGeom>
          <a:noFill/>
          <a:ln/>
        </p:spPr>
        <p:txBody>
          <a:bodyPr wrap="square" lIns="0" tIns="0" rIns="0" bIns="0" rtlCol="0" anchor="ctr"/>
          <a:lstStyle/>
          <a:p>
            <a:pPr indent="0" marL="0">
              <a:buNone/>
            </a:pPr>
            <a:r>
              <a:rPr lang="en-US" sz="2210" b="1" dirty="0">
                <a:solidFill>
                  <a:srgbClr val="BFD7EA"/>
                </a:solidFill>
                <a:latin typeface="Arial" pitchFamily="34" charset="0"/>
                <a:ea typeface="Arial" pitchFamily="34" charset="-122"/>
                <a:cs typeface="Arial" pitchFamily="34" charset="-120"/>
              </a:rPr>
              <a:t>56%</a:t>
            </a:r>
            <a:endParaRPr lang="en-US" sz="2210" dirty="0"/>
          </a:p>
        </p:txBody>
      </p:sp>
      <p:sp>
        <p:nvSpPr>
          <p:cNvPr id="20" name="Text 16"/>
          <p:cNvSpPr txBox="1"/>
          <p:nvPr/>
        </p:nvSpPr>
        <p:spPr>
          <a:xfrm>
            <a:off x="7178040" y="3518840"/>
            <a:ext cx="1325880" cy="846963"/>
          </a:xfrm>
          <a:prstGeom prst="rect">
            <a:avLst/>
          </a:prstGeom>
          <a:noFill/>
          <a:ln/>
        </p:spPr>
        <p:txBody>
          <a:bodyPr wrap="square" lIns="0" tIns="0" rIns="0" bIns="0" rtlCol="0" anchor="ctr"/>
          <a:lstStyle/>
          <a:p>
            <a:pPr indent="0" marL="0">
              <a:buNone/>
            </a:pPr>
            <a:r>
              <a:rPr lang="en-US" sz="920" dirty="0">
                <a:solidFill>
                  <a:srgbClr val="FFFFFF"/>
                </a:solidFill>
                <a:latin typeface="Arial" pitchFamily="34" charset="0"/>
                <a:ea typeface="Arial" pitchFamily="34" charset="-122"/>
                <a:cs typeface="Arial" pitchFamily="34" charset="-120"/>
              </a:rPr>
              <a:t>average repayment in those paths</a:t>
            </a:r>
            <a:endParaRPr lang="en-US" sz="920" dirty="0"/>
          </a:p>
        </p:txBody>
      </p:sp>
      <p:sp>
        <p:nvSpPr>
          <p:cNvPr id="21" name="Text 17"/>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Monte Carlo, 200k paths. Vols, dividends and correlations are assumptions to refresh with Bloomberg data as of the 17 Sep 2026 trade date; discounting uses the USD funding grid. IRR uses actual quarterly coupon dates.</a:t>
            </a:r>
            <a:endParaRPr lang="en-US" sz="680" dirty="0"/>
          </a:p>
        </p:txBody>
      </p:sp>
      <p:sp>
        <p:nvSpPr>
          <p:cNvPr id="22" name="Text 18"/>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Shape 2"/>
          <p:cNvSpPr/>
          <p:nvPr/>
        </p:nvSpPr>
        <p:spPr>
          <a:xfrm>
            <a:off x="3627882" y="4773168"/>
            <a:ext cx="1885950" cy="34290"/>
          </a:xfrm>
          <a:prstGeom prst="rect">
            <a:avLst/>
          </a:prstGeom>
          <a:solidFill>
            <a:srgbClr val="2C5F82"/>
          </a:solidFill>
          <a:ln w="12700">
            <a:solidFill>
              <a:srgbClr val="2C5F82"/>
            </a:solidFill>
            <a:prstDash val="solid"/>
          </a:ln>
        </p:spPr>
      </p:sp>
      <p:sp>
        <p:nvSpPr>
          <p:cNvPr id="5" name="Text 3"/>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STRATEGY</a:t>
            </a:r>
            <a:endParaRPr lang="en-US" sz="900" dirty="0"/>
          </a:p>
        </p:txBody>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Risks for the family, and how Natixis hedges its side</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Transparent disclosure plus a desk hedging plan for every exposure</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049274"/>
          <a:ext cx="4937760" cy="914400"/>
        </p:xfrm>
        <a:graphic>
          <a:graphicData uri="http://schemas.openxmlformats.org/drawingml/2006/table">
            <a:tbl>
              <a:tblPr/>
              <a:tblGrid>
                <a:gridCol w="1051560"/>
                <a:gridCol w="1965960"/>
                <a:gridCol w="1920240"/>
              </a:tblGrid>
              <a:tr h="240716">
                <a:tc>
                  <a:txBody>
                    <a:bodyPr/>
                    <a:lstStyle/>
                    <a:p>
                      <a:pPr indent="0" marL="0">
                        <a:buNone/>
                      </a:pPr>
                      <a:r>
                        <a:rPr lang="en-US" sz="780" b="1" dirty="0">
                          <a:solidFill>
                            <a:srgbClr val="FFFFFF"/>
                          </a:solidFill>
                          <a:latin typeface="Arial" pitchFamily="34" charset="0"/>
                          <a:ea typeface="Arial" pitchFamily="34" charset="-122"/>
                          <a:cs typeface="Arial" pitchFamily="34" charset="-120"/>
                        </a:rPr>
                        <a:t>Risk</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What could happen</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Mitigant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499262">
                <a:tc>
                  <a:txBody>
                    <a:bodyPr/>
                    <a:lstStyle/>
                    <a:p>
                      <a:pPr indent="0" marL="0">
                        <a:buNone/>
                      </a:pPr>
                      <a:r>
                        <a:rPr lang="en-US" sz="780" b="1" dirty="0">
                          <a:solidFill>
                            <a:srgbClr val="2C5F82"/>
                          </a:solidFill>
                          <a:latin typeface="Arial" pitchFamily="34" charset="0"/>
                          <a:ea typeface="Arial" pitchFamily="34" charset="-122"/>
                          <a:cs typeface="Arial" pitchFamily="34" charset="-120"/>
                        </a:rPr>
                        <a:t>Capital loss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Never called: repaid at the basket level (~21% of paths, 56% back on average)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Diversified basket, memory coupon; only 5% of wealth</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45770">
                <a:tc>
                  <a:txBody>
                    <a:bodyPr/>
                    <a:lstStyle/>
                    <a:p>
                      <a:pPr indent="0" marL="0">
                        <a:buNone/>
                      </a:pPr>
                      <a:r>
                        <a:rPr lang="en-US" sz="780" b="1" dirty="0">
                          <a:solidFill>
                            <a:srgbClr val="2C5F82"/>
                          </a:solidFill>
                          <a:latin typeface="Arial" pitchFamily="34" charset="0"/>
                          <a:ea typeface="Arial" pitchFamily="34" charset="-122"/>
                          <a:cs typeface="Arial" pitchFamily="34" charset="-120"/>
                        </a:rPr>
                        <a:t>Capped upside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Basket +80% still pays 12.75% p.a. and is called at Y1</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Rest of family wealth keeps direct equity exposure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45770">
                <a:tc>
                  <a:txBody>
                    <a:bodyPr/>
                    <a:lstStyle/>
                    <a:p>
                      <a:pPr indent="0" marL="0">
                        <a:buNone/>
                      </a:pPr>
                      <a:r>
                        <a:rPr lang="en-US" sz="780" b="1" dirty="0">
                          <a:solidFill>
                            <a:srgbClr val="2C5F82"/>
                          </a:solidFill>
                          <a:latin typeface="Arial" pitchFamily="34" charset="0"/>
                          <a:ea typeface="Arial" pitchFamily="34" charset="-122"/>
                          <a:cs typeface="Arial" pitchFamily="34" charset="-120"/>
                        </a:rPr>
                        <a:t>ETF structure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00878 pays ~7.6% a year out, lowering its price path; 3119 trading is thin; ETF tracking error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00878 held at 15%; verify volumes; Natixis can reference total-return versions</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45770">
                <a:tc>
                  <a:txBody>
                    <a:bodyPr/>
                    <a:lstStyle/>
                    <a:p>
                      <a:pPr indent="0" marL="0">
                        <a:buNone/>
                      </a:pPr>
                      <a:r>
                        <a:rPr lang="en-US" sz="780" b="1" dirty="0">
                          <a:solidFill>
                            <a:srgbClr val="2C5F82"/>
                          </a:solidFill>
                          <a:latin typeface="Arial" pitchFamily="34" charset="0"/>
                          <a:ea typeface="Arial" pitchFamily="34" charset="-122"/>
                          <a:cs typeface="Arial" pitchFamily="34" charset="-120"/>
                        </a:rPr>
                        <a:t>Issuer credit</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Coupons and repayment depend on Natixis / BPCE</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BPCE senior rating; optional collateralised wrapper</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499262">
                <a:tc>
                  <a:txBody>
                    <a:bodyPr/>
                    <a:lstStyle/>
                    <a:p>
                      <a:pPr indent="0" marL="0">
                        <a:buNone/>
                      </a:pPr>
                      <a:r>
                        <a:rPr lang="en-US" sz="780" b="1" dirty="0">
                          <a:solidFill>
                            <a:srgbClr val="2C5F82"/>
                          </a:solidFill>
                          <a:latin typeface="Arial" pitchFamily="34" charset="0"/>
                          <a:ea typeface="Arial" pitchFamily="34" charset="-122"/>
                          <a:cs typeface="Arial" pitchFamily="34" charset="-120"/>
                        </a:rPr>
                        <a:t>Liquidity / MTM</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Sold before maturity, the price can be below 100%</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Natixis daily indicative price; hold to call or maturity</a:t>
                      </a:r>
                      <a:endParaRPr lang="en-US" sz="78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1" name="Shape 8"/>
          <p:cNvSpPr/>
          <p:nvPr/>
        </p:nvSpPr>
        <p:spPr>
          <a:xfrm>
            <a:off x="5532120" y="1049274"/>
            <a:ext cx="3200400" cy="775640"/>
          </a:xfrm>
          <a:prstGeom prst="rect">
            <a:avLst/>
          </a:prstGeom>
          <a:solidFill>
            <a:srgbClr val="F2F7F6"/>
          </a:solidFill>
          <a:ln w="12700">
            <a:solidFill>
              <a:srgbClr val="F2F7F6"/>
            </a:solidFill>
            <a:prstDash val="solid"/>
          </a:ln>
        </p:spPr>
      </p:sp>
      <p:sp>
        <p:nvSpPr>
          <p:cNvPr id="12" name="Text 9"/>
          <p:cNvSpPr txBox="1"/>
          <p:nvPr/>
        </p:nvSpPr>
        <p:spPr>
          <a:xfrm>
            <a:off x="5650992" y="1111682"/>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Coupon digitals</a:t>
            </a:r>
            <a:endParaRPr lang="en-US" sz="970" dirty="0"/>
          </a:p>
        </p:txBody>
      </p:sp>
      <p:sp>
        <p:nvSpPr>
          <p:cNvPr id="13" name="Text 10"/>
          <p:cNvSpPr txBox="1"/>
          <p:nvPr/>
        </p:nvSpPr>
        <p:spPr>
          <a:xfrm>
            <a:off x="5650992" y="1334567"/>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Natixis owes basket digitals struck at 100%: replicated with tight basket call spreads, delta-hedged with ETF units, constituent stocks and index futures as proxies; listed options on EWY/EWT</a:t>
            </a:r>
            <a:endParaRPr lang="en-US" sz="780" dirty="0"/>
          </a:p>
        </p:txBody>
      </p:sp>
      <p:sp>
        <p:nvSpPr>
          <p:cNvPr id="14" name="Shape 11"/>
          <p:cNvSpPr/>
          <p:nvPr/>
        </p:nvSpPr>
        <p:spPr>
          <a:xfrm>
            <a:off x="5532120" y="1914068"/>
            <a:ext cx="3200400" cy="775640"/>
          </a:xfrm>
          <a:prstGeom prst="rect">
            <a:avLst/>
          </a:prstGeom>
          <a:solidFill>
            <a:srgbClr val="E8EFF5"/>
          </a:solidFill>
          <a:ln w="12700">
            <a:solidFill>
              <a:srgbClr val="E8EFF5"/>
            </a:solidFill>
            <a:prstDash val="solid"/>
          </a:ln>
        </p:spPr>
      </p:sp>
      <p:sp>
        <p:nvSpPr>
          <p:cNvPr id="15" name="Text 12"/>
          <p:cNvSpPr txBox="1"/>
          <p:nvPr/>
        </p:nvSpPr>
        <p:spPr>
          <a:xfrm>
            <a:off x="5650992" y="1976476"/>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Vol &amp; correlation</a:t>
            </a:r>
            <a:endParaRPr lang="en-US" sz="970" dirty="0"/>
          </a:p>
        </p:txBody>
      </p:sp>
      <p:sp>
        <p:nvSpPr>
          <p:cNvPr id="16" name="Text 13"/>
          <p:cNvSpPr txBox="1"/>
          <p:nvPr/>
        </p:nvSpPr>
        <p:spPr>
          <a:xfrm>
            <a:off x="5650992" y="2199361"/>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Coupon value moves with basket vol and correlation (fair 12.9%–15.5% for vol ±3pts): managed with listed index options and correlation trades</a:t>
            </a:r>
            <a:endParaRPr lang="en-US" sz="780" dirty="0"/>
          </a:p>
        </p:txBody>
      </p:sp>
      <p:sp>
        <p:nvSpPr>
          <p:cNvPr id="17" name="Shape 14"/>
          <p:cNvSpPr/>
          <p:nvPr/>
        </p:nvSpPr>
        <p:spPr>
          <a:xfrm>
            <a:off x="5532120" y="2778862"/>
            <a:ext cx="3200400" cy="775640"/>
          </a:xfrm>
          <a:prstGeom prst="rect">
            <a:avLst/>
          </a:prstGeom>
          <a:solidFill>
            <a:srgbClr val="F2F7F6"/>
          </a:solidFill>
          <a:ln w="12700">
            <a:solidFill>
              <a:srgbClr val="F2F7F6"/>
            </a:solidFill>
            <a:prstDash val="solid"/>
          </a:ln>
        </p:spPr>
      </p:sp>
      <p:sp>
        <p:nvSpPr>
          <p:cNvPr id="18" name="Text 15"/>
          <p:cNvSpPr txBox="1"/>
          <p:nvPr/>
        </p:nvSpPr>
        <p:spPr>
          <a:xfrm>
            <a:off x="5650992" y="2841269"/>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Quanto FX</a:t>
            </a:r>
            <a:endParaRPr lang="en-US" sz="970" dirty="0"/>
          </a:p>
        </p:txBody>
      </p:sp>
      <p:sp>
        <p:nvSpPr>
          <p:cNvPr id="19" name="Text 16"/>
          <p:cNvSpPr txBox="1"/>
          <p:nvPr/>
        </p:nvSpPr>
        <p:spPr>
          <a:xfrm>
            <a:off x="5650992" y="3064154"/>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EWT and EWY already trade in USD; 3119 (HKD, pegged), 2644 (JPY) and 00878 (TWD) need FX forwards and a quanto adjustment</a:t>
            </a:r>
            <a:endParaRPr lang="en-US" sz="780" dirty="0"/>
          </a:p>
        </p:txBody>
      </p:sp>
      <p:sp>
        <p:nvSpPr>
          <p:cNvPr id="20" name="Shape 17"/>
          <p:cNvSpPr/>
          <p:nvPr/>
        </p:nvSpPr>
        <p:spPr>
          <a:xfrm>
            <a:off x="5532120" y="3643655"/>
            <a:ext cx="3200400" cy="775640"/>
          </a:xfrm>
          <a:prstGeom prst="rect">
            <a:avLst/>
          </a:prstGeom>
          <a:solidFill>
            <a:srgbClr val="E8EFF5"/>
          </a:solidFill>
          <a:ln w="12700">
            <a:solidFill>
              <a:srgbClr val="E8EFF5"/>
            </a:solidFill>
            <a:prstDash val="solid"/>
          </a:ln>
        </p:spPr>
      </p:sp>
      <p:sp>
        <p:nvSpPr>
          <p:cNvPr id="21" name="Text 18"/>
          <p:cNvSpPr txBox="1"/>
          <p:nvPr/>
        </p:nvSpPr>
        <p:spPr>
          <a:xfrm>
            <a:off x="5650992" y="3706063"/>
            <a:ext cx="2971800" cy="222885"/>
          </a:xfrm>
          <a:prstGeom prst="rect">
            <a:avLst/>
          </a:prstGeom>
          <a:noFill/>
          <a:ln/>
        </p:spPr>
        <p:txBody>
          <a:bodyPr wrap="square" lIns="0" tIns="0" rIns="0" bIns="0" rtlCol="0" anchor="t"/>
          <a:lstStyle/>
          <a:p>
            <a:pPr indent="0" marL="0">
              <a:buNone/>
            </a:pPr>
            <a:r>
              <a:rPr lang="en-US" sz="970" b="1" dirty="0">
                <a:solidFill>
                  <a:srgbClr val="2C5F82"/>
                </a:solidFill>
                <a:latin typeface="Arial" pitchFamily="34" charset="0"/>
                <a:ea typeface="Arial" pitchFamily="34" charset="-122"/>
                <a:cs typeface="Arial" pitchFamily="34" charset="-120"/>
              </a:rPr>
              <a:t>Short put &amp; funding</a:t>
            </a:r>
            <a:endParaRPr lang="en-US" sz="970" dirty="0"/>
          </a:p>
        </p:txBody>
      </p:sp>
      <p:sp>
        <p:nvSpPr>
          <p:cNvPr id="22" name="Text 19"/>
          <p:cNvSpPr txBox="1"/>
          <p:nvPr/>
        </p:nvSpPr>
        <p:spPr>
          <a:xfrm>
            <a:off x="5650992" y="3928948"/>
            <a:ext cx="2971800" cy="463601"/>
          </a:xfrm>
          <a:prstGeom prst="rect">
            <a:avLst/>
          </a:prstGeom>
          <a:noFill/>
          <a:ln/>
        </p:spPr>
        <p:txBody>
          <a:bodyPr wrap="square" lIns="0" tIns="0" rIns="0" bIns="0" rtlCol="0" anchor="t"/>
          <a:lstStyle/>
          <a:p>
            <a:pPr indent="0" marL="0">
              <a:buNone/>
            </a:pPr>
            <a:r>
              <a:rPr lang="en-US" sz="780" dirty="0">
                <a:solidFill>
                  <a:srgbClr val="262626"/>
                </a:solidFill>
                <a:latin typeface="Arial" pitchFamily="34" charset="0"/>
                <a:ea typeface="Arial" pitchFamily="34" charset="-122"/>
                <a:cs typeface="Arial" pitchFamily="34" charset="-120"/>
              </a:rPr>
              <a:t>Natixis is long the client's put at 100% (live only if never called), hedged with basket put spreads and delta. Principal funded at 5.69%</a:t>
            </a:r>
            <a:endParaRPr lang="en-US" sz="780" dirty="0"/>
          </a:p>
        </p:txBody>
      </p:sp>
      <p:sp>
        <p:nvSpPr>
          <p:cNvPr id="23" name="Text 20"/>
          <p:cNvSpPr txBox="1"/>
          <p:nvPr/>
        </p:nvSpPr>
        <p:spPr>
          <a:xfrm>
            <a:off x="411480" y="3902202"/>
            <a:ext cx="4937760" cy="624078"/>
          </a:xfrm>
          <a:prstGeom prst="rect">
            <a:avLst/>
          </a:prstGeom>
          <a:noFill/>
          <a:ln/>
        </p:spPr>
        <p:txBody>
          <a:bodyPr wrap="square" lIns="0" tIns="0" rIns="0" bIns="0" rtlCol="0" anchor="t"/>
          <a:lstStyle/>
          <a:p>
            <a:pPr indent="0" marL="0">
              <a:buNone/>
            </a:pPr>
            <a:r>
              <a:rPr lang="en-US" sz="830" b="1" dirty="0">
                <a:solidFill>
                  <a:srgbClr val="2C5F82"/>
                </a:solidFill>
                <a:latin typeface="Arial" pitchFamily="34" charset="0"/>
                <a:ea typeface="Arial" pitchFamily="34" charset="-122"/>
                <a:cs typeface="Arial" pitchFamily="34" charset="-120"/>
              </a:rPr>
              <a:t>Pricing sensitivity (fair coupon): </a:t>
            </a:r>
            <a:pPr indent="0" marL="0">
              <a:buNone/>
            </a:pPr>
            <a:r>
              <a:rPr lang="en-US" sz="830" dirty="0">
                <a:solidFill>
                  <a:srgbClr val="262626"/>
                </a:solidFill>
                <a:latin typeface="Arial" pitchFamily="34" charset="0"/>
                <a:ea typeface="Arial" pitchFamily="34" charset="-122"/>
                <a:cs typeface="Arial" pitchFamily="34" charset="-120"/>
              </a:rPr>
              <a:t>base 14.1% · vol ±3pts 12.9%–15.5% · corr ±0.15 13.2%–15.0% · equity drift −1/−2% 15.5%–17.3%. The 12.75% offer stays fundable in every case.</a:t>
            </a:r>
            <a:endParaRPr lang="en-US" sz="830" dirty="0"/>
          </a:p>
        </p:txBody>
      </p:sp>
      <p:sp>
        <p:nvSpPr>
          <p:cNvPr id="24" name="Text 21"/>
          <p:cNvSpPr txBox="1"/>
          <p:nvPr/>
        </p:nvSpPr>
        <p:spPr>
          <a:xfrm>
            <a:off x="8503920" y="4834890"/>
            <a:ext cx="292608" cy="205740"/>
          </a:xfrm>
          <a:prstGeom prst="rect">
            <a:avLst/>
          </a:prstGeom>
          <a:noFill/>
          <a:ln/>
        </p:spPr>
        <p:txBody>
          <a:bodyPr wrap="square" lIns="0" tIns="0" rIns="0" bIns="0" rtlCol="0" anchor="ctr"/>
          <a:lstStyle/>
          <a:p>
            <a:pPr algn="r" indent="0" marL="0">
              <a:buNone/>
            </a:pPr>
            <a:r>
              <a:rPr lang="en-US" sz="800" dirty="0">
                <a:solidFill>
                  <a:srgbClr val="595959"/>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A: pricing assumptions and methodology</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Inputs to refresh on Bloomberg at trade date (BVOL / OVDV for vols, CORR for correlations)</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093851"/>
          <a:ext cx="4754880" cy="914400"/>
        </p:xfrm>
        <a:graphic>
          <a:graphicData uri="http://schemas.openxmlformats.org/drawingml/2006/table">
            <a:tbl>
              <a:tblPr/>
              <a:tblGrid>
                <a:gridCol w="822960"/>
                <a:gridCol w="566928"/>
                <a:gridCol w="475488"/>
                <a:gridCol w="475488"/>
                <a:gridCol w="482803"/>
                <a:gridCol w="482803"/>
                <a:gridCol w="482803"/>
                <a:gridCol w="482803"/>
                <a:gridCol w="482803"/>
              </a:tblGrid>
              <a:tr h="267462">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ETF</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Weight</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Vol</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Div</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3119 HK</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2644 JP</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EWT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EWY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algn="ctr" indent="0" marL="0">
                        <a:buNone/>
                      </a:pPr>
                      <a:r>
                        <a:rPr lang="en-US" sz="830" b="1" dirty="0">
                          <a:solidFill>
                            <a:srgbClr val="FFFFFF"/>
                          </a:solidFill>
                          <a:latin typeface="Arial" pitchFamily="34" charset="0"/>
                          <a:ea typeface="Arial" pitchFamily="34" charset="-122"/>
                          <a:cs typeface="Arial" pitchFamily="34" charset="-120"/>
                        </a:rPr>
                        <a:t>00878 TT</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3119 HK</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32%</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2644 JP</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38%</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0.45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EWT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26%</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2.6%</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EWY US</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20%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30%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1.2%</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0.80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67462">
                <a:tc>
                  <a:txBody>
                    <a:bodyPr/>
                    <a:lstStyle/>
                    <a:p>
                      <a:pPr algn="ctr" indent="0" marL="0">
                        <a:buNone/>
                      </a:pPr>
                      <a:r>
                        <a:rPr lang="en-US" sz="830" b="1" dirty="0">
                          <a:solidFill>
                            <a:srgbClr val="262626"/>
                          </a:solidFill>
                          <a:latin typeface="Arial" pitchFamily="34" charset="0"/>
                          <a:ea typeface="Arial" pitchFamily="34" charset="-122"/>
                          <a:cs typeface="Arial" pitchFamily="34" charset="-120"/>
                        </a:rPr>
                        <a:t>00878 TT</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18%</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7.6%</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0.60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0.45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0.75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0.55</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algn="ctr" indent="0" marL="0">
                        <a:buNone/>
                      </a:pPr>
                      <a:r>
                        <a:rPr lang="en-US" sz="830" dirty="0">
                          <a:solidFill>
                            <a:srgbClr val="262626"/>
                          </a:solidFill>
                          <a:latin typeface="Arial" pitchFamily="34" charset="0"/>
                          <a:ea typeface="Arial" pitchFamily="34" charset="-122"/>
                          <a:cs typeface="Arial" pitchFamily="34" charset="-120"/>
                        </a:rPr>
                        <a:t>1.00</a:t>
                      </a:r>
                      <a:endParaRPr lang="en-US" sz="83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411480" y="2832354"/>
            <a:ext cx="4754880" cy="1783080"/>
          </a:xfrm>
          <a:prstGeom prst="rect">
            <a:avLst/>
          </a:prstGeom>
          <a:noFill/>
          <a:ln/>
        </p:spPr>
        <p:txBody>
          <a:bodyPr wrap="square" lIns="0" tIns="0" rIns="0" bIns="0" rtlCol="0" anchor="t"/>
          <a:lstStyle/>
          <a:p>
            <a:pPr indent="0" marL="0">
              <a:spcAft>
                <a:spcPts val="300"/>
              </a:spcAft>
              <a:buNone/>
            </a:pPr>
            <a:r>
              <a:rPr lang="en-US" sz="830" b="1" dirty="0">
                <a:solidFill>
                  <a:srgbClr val="2C5F82"/>
                </a:solidFill>
                <a:latin typeface="Arial" pitchFamily="34" charset="0"/>
                <a:ea typeface="Arial" pitchFamily="34" charset="-122"/>
                <a:cs typeface="Arial" pitchFamily="34" charset="-120"/>
              </a:rPr>
              <a:t>Model. </a:t>
            </a:r>
            <a:pPr indent="0" marL="0">
              <a:spcAft>
                <a:spcPts val="300"/>
              </a:spcAft>
              <a:buNone/>
            </a:pPr>
            <a:r>
              <a:rPr lang="en-US" sz="830" dirty="0">
                <a:solidFill>
                  <a:srgbClr val="262626"/>
                </a:solidFill>
                <a:latin typeface="Arial" pitchFamily="34" charset="0"/>
                <a:ea typeface="Arial" pitchFamily="34" charset="-122"/>
                <a:cs typeface="Arial" pitchFamily="34" charset="-120"/>
              </a:rPr>
              <a:t>Correlated GBM for each ETF, 200,000 paths, quarterly steps. Risk-neutral drift = USD funding (linear interpolation of case grid) − dividend yield. Quanto adjustment ignored (assumed hedged by the desk; to be added with FX-equity correlations).</a:t>
            </a:r>
            <a:endParaRPr lang="en-US" sz="830" dirty="0"/>
          </a:p>
          <a:p>
            <a:pPr indent="0" marL="0">
              <a:spcAft>
                <a:spcPts val="300"/>
              </a:spcAft>
              <a:buNone/>
            </a:pPr>
            <a:r>
              <a:rPr lang="en-US" sz="830" b="1" dirty="0">
                <a:solidFill>
                  <a:srgbClr val="2C5F82"/>
                </a:solidFill>
                <a:latin typeface="Arial" pitchFamily="34" charset="0"/>
                <a:ea typeface="Arial" pitchFamily="34" charset="-122"/>
                <a:cs typeface="Arial" pitchFamily="34" charset="-120"/>
              </a:rPr>
              <a:t>Discounting. </a:t>
            </a:r>
            <a:pPr indent="0" marL="0">
              <a:spcAft>
                <a:spcPts val="300"/>
              </a:spcAft>
              <a:buNone/>
            </a:pPr>
            <a:r>
              <a:rPr lang="en-US" sz="830" dirty="0">
                <a:solidFill>
                  <a:srgbClr val="262626"/>
                </a:solidFill>
                <a:latin typeface="Arial" pitchFamily="34" charset="0"/>
                <a:ea typeface="Arial" pitchFamily="34" charset="-122"/>
                <a:cs typeface="Arial" pitchFamily="34" charset="-120"/>
              </a:rPr>
              <a:t>USD funding grid from the case rules; 5Y discount factor 0.758.</a:t>
            </a:r>
            <a:endParaRPr lang="en-US" sz="830" dirty="0"/>
          </a:p>
          <a:p>
            <a:pPr indent="0" marL="0">
              <a:spcAft>
                <a:spcPts val="300"/>
              </a:spcAft>
              <a:buNone/>
            </a:pPr>
            <a:r>
              <a:rPr lang="en-US" sz="830" b="1" dirty="0">
                <a:solidFill>
                  <a:srgbClr val="2C5F82"/>
                </a:solidFill>
                <a:latin typeface="Arial" pitchFamily="34" charset="0"/>
                <a:ea typeface="Arial" pitchFamily="34" charset="-122"/>
                <a:cs typeface="Arial" pitchFamily="34" charset="-120"/>
              </a:rPr>
              <a:t>Coupon solve. </a:t>
            </a:r>
            <a:pPr indent="0" marL="0">
              <a:spcAft>
                <a:spcPts val="300"/>
              </a:spcAft>
              <a:buNone/>
            </a:pPr>
            <a:r>
              <a:rPr lang="en-US" sz="830" dirty="0">
                <a:solidFill>
                  <a:srgbClr val="262626"/>
                </a:solidFill>
                <a:latin typeface="Arial" pitchFamily="34" charset="0"/>
                <a:ea typeface="Arial" pitchFamily="34" charset="-122"/>
                <a:cs typeface="Arial" pitchFamily="34" charset="-120"/>
              </a:rPr>
              <a:t>Bisection on coupon so that PV = 98% (2% hedging cost and margin).</a:t>
            </a:r>
            <a:endParaRPr lang="en-US" sz="830" dirty="0"/>
          </a:p>
          <a:p>
            <a:pPr indent="0" marL="0">
              <a:spcAft>
                <a:spcPts val="300"/>
              </a:spcAft>
              <a:buNone/>
            </a:pPr>
            <a:r>
              <a:rPr lang="en-US" sz="830" b="1" dirty="0">
                <a:solidFill>
                  <a:srgbClr val="2C5F82"/>
                </a:solidFill>
                <a:latin typeface="Arial" pitchFamily="34" charset="0"/>
                <a:ea typeface="Arial" pitchFamily="34" charset="-122"/>
                <a:cs typeface="Arial" pitchFamily="34" charset="-120"/>
              </a:rPr>
              <a:t>Historical back-test (to run). </a:t>
            </a:r>
            <a:pPr indent="0" marL="0">
              <a:spcAft>
                <a:spcPts val="300"/>
              </a:spcAft>
              <a:buNone/>
            </a:pPr>
            <a:r>
              <a:rPr lang="en-US" sz="830" dirty="0">
                <a:solidFill>
                  <a:srgbClr val="262626"/>
                </a:solidFill>
                <a:latin typeface="Arial" pitchFamily="34" charset="0"/>
                <a:ea typeface="Arial" pitchFamily="34" charset="-122"/>
                <a:cs typeface="Arial" pitchFamily="34" charset="-120"/>
              </a:rPr>
              <a:t>Monthly Bloomberg history since 2021 for all five ETFs (00878 and 3119 launched in 2020–21). Launch a hypothetical note every month, apply the same coupon, memory and autocall rules, and record coupons, life and IRR by launch year.</a:t>
            </a:r>
            <a:endParaRPr lang="en-US" sz="8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40680" y="1093851"/>
          <a:ext cx="3291840" cy="914400"/>
        </p:xfrm>
        <a:graphic>
          <a:graphicData uri="http://schemas.openxmlformats.org/drawingml/2006/table">
            <a:tbl>
              <a:tblPr/>
              <a:tblGrid>
                <a:gridCol w="2286000"/>
                <a:gridCol w="1005840"/>
              </a:tblGrid>
              <a:tr h="258547">
                <a:tc>
                  <a:txBody>
                    <a:bodyPr/>
                    <a:lstStyle/>
                    <a:p>
                      <a:pPr indent="0" marL="0">
                        <a:buNone/>
                      </a:pPr>
                      <a:r>
                        <a:rPr lang="en-US" sz="830" b="1" dirty="0">
                          <a:solidFill>
                            <a:srgbClr val="FFFFFF"/>
                          </a:solidFill>
                          <a:latin typeface="Arial" pitchFamily="34" charset="0"/>
                          <a:ea typeface="Arial" pitchFamily="34" charset="-122"/>
                          <a:cs typeface="Arial" pitchFamily="34" charset="-120"/>
                        </a:rPr>
                        <a:t>Variant of our note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30" b="1" dirty="0">
                          <a:solidFill>
                            <a:srgbClr val="FFFFFF"/>
                          </a:solidFill>
                          <a:latin typeface="Arial" pitchFamily="34" charset="0"/>
                          <a:ea typeface="Arial" pitchFamily="34" charset="-122"/>
                          <a:cs typeface="Arial" pitchFamily="34" charset="-120"/>
                        </a:rPr>
                        <a:t>Fair cpn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Coupon barrier 100% (base)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14.1%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Coupon barrier 95%</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13.0%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Coupon barrier 90%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12.0%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First autocall at Y2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13.3%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Equity drift −1%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15.5%</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Equity drift −2%</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17.3%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258547">
                <a:tc>
                  <a:txBody>
                    <a:bodyPr/>
                    <a:lstStyle/>
                    <a:p>
                      <a:pPr indent="0" marL="0">
                        <a:buNone/>
                      </a:pPr>
                      <a:r>
                        <a:rPr lang="en-US" sz="830" dirty="0">
                          <a:solidFill>
                            <a:srgbClr val="262626"/>
                          </a:solidFill>
                          <a:latin typeface="Arial" pitchFamily="34" charset="0"/>
                          <a:ea typeface="Arial" pitchFamily="34" charset="-122"/>
                          <a:cs typeface="Arial" pitchFamily="34" charset="-120"/>
                        </a:rPr>
                        <a:t>Vol +3pts / −3pts</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15.5% / 12.9%</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40680" y="3233547"/>
            <a:ext cx="3291840" cy="401193"/>
          </a:xfrm>
          <a:prstGeom prst="rect">
            <a:avLst/>
          </a:prstGeom>
          <a:noFill/>
          <a:ln/>
        </p:spPr>
        <p:txBody>
          <a:bodyPr wrap="square" lIns="0" tIns="0" rIns="0" bIns="0" rtlCol="0" anchor="t"/>
          <a:lstStyle/>
          <a:p>
            <a:pPr indent="0" marL="0">
              <a:buNone/>
            </a:pPr>
            <a:r>
              <a:rPr lang="en-US" sz="780" i="1" dirty="0">
                <a:solidFill>
                  <a:srgbClr val="595959"/>
                </a:solidFill>
                <a:latin typeface="Arial" pitchFamily="34" charset="0"/>
                <a:ea typeface="Arial" pitchFamily="34" charset="-122"/>
                <a:cs typeface="Arial" pitchFamily="34" charset="-120"/>
              </a:rPr>
              <a:t>All variants priced at 98% with the same basket and inputs. Code: pricing/scenario2_autocall_mc.py</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B: scenario analysis, five paths for Asian markets</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Hypothetical quarterly basket paths and what the USD 100mn note returns in each</a:t>
            </a:r>
            <a:endParaRPr lang="en-US" sz="850" dirty="0"/>
          </a:p>
        </p:txBody>
      </p:sp>
      <p:graphicFrame>
        <p:nvGraphicFramePr>
          <p:cNvPr id="10" name="Chart 0" descr=""/>
          <p:cNvGraphicFramePr/>
          <p:nvPr/>
        </p:nvGraphicFramePr>
        <p:xfrm>
          <a:off x="320040" y="1004697"/>
          <a:ext cx="4206240" cy="3209544"/>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663440" y="1093851"/>
          <a:ext cx="4069080" cy="914400"/>
        </p:xfrm>
        <a:graphic>
          <a:graphicData uri="http://schemas.openxmlformats.org/drawingml/2006/table">
            <a:tbl>
              <a:tblPr/>
              <a:tblGrid>
                <a:gridCol w="1298448"/>
                <a:gridCol w="896112"/>
                <a:gridCol w="530352"/>
                <a:gridCol w="475488"/>
                <a:gridCol w="429768"/>
                <a:gridCol w="438912"/>
              </a:tblGrid>
              <a:tr h="374447">
                <a:tc>
                  <a:txBody>
                    <a:bodyPr/>
                    <a:lstStyle/>
                    <a:p>
                      <a:pPr indent="0" marL="0">
                        <a:buNone/>
                      </a:pPr>
                      <a:r>
                        <a:rPr lang="en-US" sz="780" b="1" dirty="0">
                          <a:solidFill>
                            <a:srgbClr val="FFFFFF"/>
                          </a:solidFill>
                          <a:latin typeface="Arial" pitchFamily="34" charset="0"/>
                          <a:ea typeface="Arial" pitchFamily="34" charset="-122"/>
                          <a:cs typeface="Arial" pitchFamily="34" charset="-120"/>
                        </a:rPr>
                        <a:t>Scenario</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Outcome</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Coupons</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USD mn</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IRR</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780" b="1" dirty="0">
                          <a:solidFill>
                            <a:srgbClr val="FFFFFF"/>
                          </a:solidFill>
                          <a:latin typeface="Arial" pitchFamily="34" charset="0"/>
                          <a:ea typeface="Arial" pitchFamily="34" charset="-122"/>
                          <a:cs typeface="Arial" pitchFamily="34" charset="-120"/>
                        </a:rPr>
                        <a:t>Basket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374447">
                <a:tc>
                  <a:txBody>
                    <a:bodyPr/>
                    <a:lstStyle/>
                    <a:p>
                      <a:pPr indent="0" marL="0">
                        <a:buNone/>
                      </a:pPr>
                      <a:r>
                        <a:rPr lang="en-US" sz="780" b="1" dirty="0">
                          <a:solidFill>
                            <a:srgbClr val="2C5F82"/>
                          </a:solidFill>
                          <a:latin typeface="Arial" pitchFamily="34" charset="0"/>
                          <a:ea typeface="Arial" pitchFamily="34" charset="-122"/>
                          <a:cs typeface="Arial" pitchFamily="34" charset="-120"/>
                        </a:rPr>
                        <a:t>AI capex boom</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Called Q4 (1y)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12.8%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112.8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13.4%</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E67E22"/>
                          </a:solidFill>
                          <a:latin typeface="Arial" pitchFamily="34" charset="0"/>
                          <a:ea typeface="Arial" pitchFamily="34" charset="-122"/>
                          <a:cs typeface="Arial" pitchFamily="34" charset="-120"/>
                        </a:rPr>
                        <a:t>Range-bound Asia</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Called Q6 (1.5y)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19.1%</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119.1</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12.4%</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1F3B57"/>
                          </a:solidFill>
                          <a:latin typeface="Arial" pitchFamily="34" charset="0"/>
                          <a:ea typeface="Arial" pitchFamily="34" charset="-122"/>
                          <a:cs typeface="Arial" pitchFamily="34" charset="-120"/>
                        </a:rPr>
                        <a:t>2022-style tech drawdown, slow recovery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Called Q15 (3.75y)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47.8%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147.8</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595959"/>
                          </a:solidFill>
                          <a:latin typeface="Arial" pitchFamily="34" charset="0"/>
                          <a:ea typeface="Arial" pitchFamily="34" charset="-122"/>
                          <a:cs typeface="Arial" pitchFamily="34" charset="-120"/>
                        </a:rPr>
                        <a:t>Lost decade (sideways below par)</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88% back at Y5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88.0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-2.5%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-12%</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74447">
                <a:tc>
                  <a:txBody>
                    <a:bodyPr/>
                    <a:lstStyle/>
                    <a:p>
                      <a:pPr indent="0" marL="0">
                        <a:buNone/>
                      </a:pPr>
                      <a:r>
                        <a:rPr lang="en-US" sz="780" b="1" dirty="0">
                          <a:solidFill>
                            <a:srgbClr val="B23B3B"/>
                          </a:solidFill>
                          <a:latin typeface="Arial" pitchFamily="34" charset="0"/>
                          <a:ea typeface="Arial" pitchFamily="34" charset="-122"/>
                          <a:cs typeface="Arial" pitchFamily="34" charset="-120"/>
                        </a:rPr>
                        <a:t>Geopolitical shock, no recovery</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55% back at Y5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0.0%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55.0</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-11.3%</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780" dirty="0">
                          <a:solidFill>
                            <a:srgbClr val="262626"/>
                          </a:solidFill>
                          <a:latin typeface="Arial" pitchFamily="34" charset="0"/>
                          <a:ea typeface="Arial" pitchFamily="34" charset="-122"/>
                          <a:cs typeface="Arial" pitchFamily="34" charset="-120"/>
                        </a:rPr>
                        <a:t>-45%</a:t>
                      </a:r>
                      <a:endParaRPr lang="en-US" sz="780" dirty="0">
                        <a:latin typeface="Arial" charset="0"/>
                        <a:ea typeface="Arial" charset="0"/>
                        <a:cs typeface="Arial" charset="0"/>
                      </a:endParaRPr>
                    </a:p>
                  </a:txBody>
                  <a:tcPr marL="38100" marR="381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2" name="Shape 8"/>
          <p:cNvSpPr/>
          <p:nvPr/>
        </p:nvSpPr>
        <p:spPr>
          <a:xfrm>
            <a:off x="4663440" y="3456432"/>
            <a:ext cx="4069080" cy="1025271"/>
          </a:xfrm>
          <a:prstGeom prst="rect">
            <a:avLst/>
          </a:prstGeom>
          <a:solidFill>
            <a:srgbClr val="E8EFF5"/>
          </a:solidFill>
          <a:ln w="12700">
            <a:solidFill>
              <a:srgbClr val="E8EFF5"/>
            </a:solidFill>
            <a:prstDash val="solid"/>
          </a:ln>
        </p:spPr>
      </p:sp>
      <p:sp>
        <p:nvSpPr>
          <p:cNvPr id="13" name="Text 9"/>
          <p:cNvSpPr txBox="1"/>
          <p:nvPr/>
        </p:nvSpPr>
        <p:spPr>
          <a:xfrm>
            <a:off x="4800600" y="3527755"/>
            <a:ext cx="3840480" cy="891540"/>
          </a:xfrm>
          <a:prstGeom prst="rect">
            <a:avLst/>
          </a:prstGeom>
          <a:noFill/>
          <a:ln/>
        </p:spPr>
        <p:txBody>
          <a:bodyPr wrap="square" lIns="0" tIns="0" rIns="0" bIns="0" rtlCol="0" anchor="t"/>
          <a:lstStyle/>
          <a:p>
            <a:pPr indent="0" marL="0">
              <a:buNone/>
            </a:pPr>
            <a:r>
              <a:rPr lang="en-US" sz="870" b="1" dirty="0">
                <a:solidFill>
                  <a:srgbClr val="2C5F82"/>
                </a:solidFill>
                <a:latin typeface="Arial" pitchFamily="34" charset="0"/>
                <a:ea typeface="Arial" pitchFamily="34" charset="-122"/>
                <a:cs typeface="Arial" pitchFamily="34" charset="-120"/>
              </a:rPr>
              <a:t>Reading: </a:t>
            </a:r>
            <a:pPr indent="0" marL="0">
              <a:buNone/>
            </a:pPr>
            <a:r>
              <a:rPr lang="en-US" sz="870" dirty="0">
                <a:solidFill>
                  <a:srgbClr val="262626"/>
                </a:solidFill>
                <a:latin typeface="Arial" pitchFamily="34" charset="0"/>
                <a:ea typeface="Arial" pitchFamily="34" charset="-122"/>
                <a:cs typeface="Arial" pitchFamily="34" charset="-120"/>
              </a:rPr>
              <a:t>the note earns ~11.0%–13.4% a year whenever the basket gets back to 100%, even after a 30% drawdown: memory pays all 15 missed coupons at Q15. If the basket never recovers (lost decade, lasting shock) the note repays the basket's level, 88% or 55%.</a:t>
            </a:r>
            <a:endParaRPr lang="en-US" sz="870" dirty="0"/>
          </a:p>
        </p:txBody>
      </p:sp>
      <p:sp>
        <p:nvSpPr>
          <p:cNvPr id="14" name="Text 1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Paths are illustrative and not forecasts. 'Basket' = direct basket return at Y5 when the note is not called. Historical back-test to run on Bloomberg history (appendix).</a:t>
            </a:r>
            <a:endParaRPr lang="en-US" sz="6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C: how Natixis replicates the note</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Replication used by the Natixis desk to price and hedge (values in % of notional, at trade date)</a:t>
            </a:r>
            <a:endParaRPr lang="en-US" sz="850" dirty="0"/>
          </a:p>
        </p:txBody>
      </p:sp>
      <p:sp>
        <p:nvSpPr>
          <p:cNvPr id="10" name="Shape 8"/>
          <p:cNvSpPr/>
          <p:nvPr/>
        </p:nvSpPr>
        <p:spPr>
          <a:xfrm>
            <a:off x="411480" y="1093851"/>
            <a:ext cx="1956816" cy="2719197"/>
          </a:xfrm>
          <a:prstGeom prst="rect">
            <a:avLst/>
          </a:prstGeom>
          <a:solidFill>
            <a:srgbClr val="E8EFF5"/>
          </a:solidFill>
          <a:ln w="12700">
            <a:solidFill>
              <a:srgbClr val="E8EFF5"/>
            </a:solidFill>
            <a:prstDash val="solid"/>
          </a:ln>
        </p:spPr>
      </p:sp>
      <p:sp>
        <p:nvSpPr>
          <p:cNvPr id="11" name="Text 9"/>
          <p:cNvSpPr txBox="1"/>
          <p:nvPr/>
        </p:nvSpPr>
        <p:spPr>
          <a:xfrm>
            <a:off x="521208" y="1165174"/>
            <a:ext cx="1783080" cy="267462"/>
          </a:xfrm>
          <a:prstGeom prst="rect">
            <a:avLst/>
          </a:prstGeom>
          <a:noFill/>
          <a:ln/>
        </p:spPr>
        <p:txBody>
          <a:bodyPr wrap="square" lIns="0" tIns="0" rIns="0" bIns="0" rtlCol="0" anchor="t"/>
          <a:lstStyle/>
          <a:p>
            <a:pPr indent="0" marL="0">
              <a:buNone/>
            </a:pPr>
            <a:r>
              <a:rPr lang="en-US" sz="1060" b="1" dirty="0">
                <a:solidFill>
                  <a:srgbClr val="2C5F82"/>
                </a:solidFill>
                <a:latin typeface="Arial" pitchFamily="34" charset="0"/>
                <a:ea typeface="Arial" pitchFamily="34" charset="-122"/>
                <a:cs typeface="Arial" pitchFamily="34" charset="-120"/>
              </a:rPr>
              <a:t>Principal</a:t>
            </a:r>
            <a:endParaRPr lang="en-US" sz="1060" dirty="0"/>
          </a:p>
        </p:txBody>
      </p:sp>
      <p:sp>
        <p:nvSpPr>
          <p:cNvPr id="12" name="Text 10"/>
          <p:cNvSpPr txBox="1"/>
          <p:nvPr/>
        </p:nvSpPr>
        <p:spPr>
          <a:xfrm>
            <a:off x="521208"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100% repaid at autocall or maturity. Worth 89.4%</a:t>
            </a:r>
            <a:endParaRPr lang="en-US" sz="780" dirty="0"/>
          </a:p>
        </p:txBody>
      </p:sp>
      <p:graphicFrame>
        <p:nvGraphicFramePr>
          <p:cNvPr id="13" name="Chart 0" descr=""/>
          <p:cNvGraphicFramePr/>
          <p:nvPr/>
        </p:nvGraphicFramePr>
        <p:xfrm>
          <a:off x="438912" y="2163699"/>
          <a:ext cx="1901952" cy="1586941"/>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350008" y="2564892"/>
            <a:ext cx="182880" cy="356616"/>
          </a:xfrm>
          <a:prstGeom prst="rect">
            <a:avLst/>
          </a:prstGeom>
          <a:noFill/>
          <a:ln/>
        </p:spPr>
        <p:txBody>
          <a:bodyPr wrap="square" lIns="0" tIns="0" rIns="0" bIns="0" rtlCol="0" anchor="t"/>
          <a:lstStyle/>
          <a:p>
            <a:pPr algn="ctr" indent="0" marL="0">
              <a:buNone/>
            </a:pPr>
            <a:r>
              <a:rPr lang="en-US" sz="1470" b="1" dirty="0">
                <a:solidFill>
                  <a:srgbClr val="2C5F82"/>
                </a:solidFill>
                <a:latin typeface="Arial" pitchFamily="34" charset="0"/>
                <a:ea typeface="Arial" pitchFamily="34" charset="-122"/>
                <a:cs typeface="Arial" pitchFamily="34" charset="-120"/>
              </a:rPr>
              <a:t>+</a:t>
            </a:r>
            <a:endParaRPr lang="en-US" sz="1470" dirty="0"/>
          </a:p>
        </p:txBody>
      </p:sp>
      <p:sp>
        <p:nvSpPr>
          <p:cNvPr id="15" name="Shape 12"/>
          <p:cNvSpPr/>
          <p:nvPr/>
        </p:nvSpPr>
        <p:spPr>
          <a:xfrm>
            <a:off x="2532888" y="1093851"/>
            <a:ext cx="1956816" cy="2719197"/>
          </a:xfrm>
          <a:prstGeom prst="rect">
            <a:avLst/>
          </a:prstGeom>
          <a:solidFill>
            <a:srgbClr val="E8EFF5"/>
          </a:solidFill>
          <a:ln w="12700">
            <a:solidFill>
              <a:srgbClr val="E8EFF5"/>
            </a:solidFill>
            <a:prstDash val="solid"/>
          </a:ln>
        </p:spPr>
      </p:sp>
      <p:sp>
        <p:nvSpPr>
          <p:cNvPr id="16" name="Text 13"/>
          <p:cNvSpPr txBox="1"/>
          <p:nvPr/>
        </p:nvSpPr>
        <p:spPr>
          <a:xfrm>
            <a:off x="2642616" y="1165174"/>
            <a:ext cx="1783080" cy="267462"/>
          </a:xfrm>
          <a:prstGeom prst="rect">
            <a:avLst/>
          </a:prstGeom>
          <a:noFill/>
          <a:ln/>
        </p:spPr>
        <p:txBody>
          <a:bodyPr wrap="square" lIns="0" tIns="0" rIns="0" bIns="0" rtlCol="0" anchor="t"/>
          <a:lstStyle/>
          <a:p>
            <a:pPr indent="0" marL="0">
              <a:buNone/>
            </a:pPr>
            <a:r>
              <a:rPr lang="en-US" sz="1060" b="1" dirty="0">
                <a:solidFill>
                  <a:srgbClr val="2C5F82"/>
                </a:solidFill>
                <a:latin typeface="Arial" pitchFamily="34" charset="0"/>
                <a:ea typeface="Arial" pitchFamily="34" charset="-122"/>
                <a:cs typeface="Arial" pitchFamily="34" charset="-120"/>
              </a:rPr>
              <a:t>Coupon digitals</a:t>
            </a:r>
            <a:endParaRPr lang="en-US" sz="1060" dirty="0"/>
          </a:p>
        </p:txBody>
      </p:sp>
      <p:sp>
        <p:nvSpPr>
          <p:cNvPr id="17" name="Text 14"/>
          <p:cNvSpPr txBox="1"/>
          <p:nvPr/>
        </p:nvSpPr>
        <p:spPr>
          <a:xfrm>
            <a:off x="2642616"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3.19% plus missed coupons on each date ≥ 100%. Worth 14.1% (net of autocall)</a:t>
            </a:r>
            <a:endParaRPr lang="en-US" sz="780" dirty="0"/>
          </a:p>
        </p:txBody>
      </p:sp>
      <p:graphicFrame>
        <p:nvGraphicFramePr>
          <p:cNvPr id="18" name="Chart 1" descr=""/>
          <p:cNvGraphicFramePr/>
          <p:nvPr/>
        </p:nvGraphicFramePr>
        <p:xfrm>
          <a:off x="2560320" y="2163699"/>
          <a:ext cx="1901952" cy="1586941"/>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4471416" y="2564892"/>
            <a:ext cx="182880" cy="356616"/>
          </a:xfrm>
          <a:prstGeom prst="rect">
            <a:avLst/>
          </a:prstGeom>
          <a:noFill/>
          <a:ln/>
        </p:spPr>
        <p:txBody>
          <a:bodyPr wrap="square" lIns="0" tIns="0" rIns="0" bIns="0" rtlCol="0" anchor="t"/>
          <a:lstStyle/>
          <a:p>
            <a:pPr algn="ctr" indent="0" marL="0">
              <a:buNone/>
            </a:pPr>
            <a:r>
              <a:rPr lang="en-US" sz="1470" b="1" dirty="0">
                <a:solidFill>
                  <a:srgbClr val="2C5F82"/>
                </a:solidFill>
                <a:latin typeface="Arial" pitchFamily="34" charset="0"/>
                <a:ea typeface="Arial" pitchFamily="34" charset="-122"/>
                <a:cs typeface="Arial" pitchFamily="34" charset="-120"/>
              </a:rPr>
              <a:t>−</a:t>
            </a:r>
            <a:endParaRPr lang="en-US" sz="1470" dirty="0"/>
          </a:p>
        </p:txBody>
      </p:sp>
      <p:sp>
        <p:nvSpPr>
          <p:cNvPr id="20" name="Shape 16"/>
          <p:cNvSpPr/>
          <p:nvPr/>
        </p:nvSpPr>
        <p:spPr>
          <a:xfrm>
            <a:off x="4654296" y="1093851"/>
            <a:ext cx="1956816" cy="2719197"/>
          </a:xfrm>
          <a:prstGeom prst="rect">
            <a:avLst/>
          </a:prstGeom>
          <a:solidFill>
            <a:srgbClr val="E8EFF5"/>
          </a:solidFill>
          <a:ln w="12700">
            <a:solidFill>
              <a:srgbClr val="E8EFF5"/>
            </a:solidFill>
            <a:prstDash val="solid"/>
          </a:ln>
        </p:spPr>
      </p:sp>
      <p:sp>
        <p:nvSpPr>
          <p:cNvPr id="21" name="Text 17"/>
          <p:cNvSpPr txBox="1"/>
          <p:nvPr/>
        </p:nvSpPr>
        <p:spPr>
          <a:xfrm>
            <a:off x="4764024" y="1165174"/>
            <a:ext cx="1783080" cy="267462"/>
          </a:xfrm>
          <a:prstGeom prst="rect">
            <a:avLst/>
          </a:prstGeom>
          <a:noFill/>
          <a:ln/>
        </p:spPr>
        <p:txBody>
          <a:bodyPr wrap="square" lIns="0" tIns="0" rIns="0" bIns="0" rtlCol="0" anchor="t"/>
          <a:lstStyle/>
          <a:p>
            <a:pPr indent="0" marL="0">
              <a:buNone/>
            </a:pPr>
            <a:r>
              <a:rPr lang="en-US" sz="1060" b="1" dirty="0">
                <a:solidFill>
                  <a:srgbClr val="2C5F82"/>
                </a:solidFill>
                <a:latin typeface="Arial" pitchFamily="34" charset="0"/>
                <a:ea typeface="Arial" pitchFamily="34" charset="-122"/>
                <a:cs typeface="Arial" pitchFamily="34" charset="-120"/>
              </a:rPr>
              <a:t>Autocall (Natixis)</a:t>
            </a:r>
            <a:endParaRPr lang="en-US" sz="1060" dirty="0"/>
          </a:p>
        </p:txBody>
      </p:sp>
      <p:sp>
        <p:nvSpPr>
          <p:cNvPr id="22" name="Text 18"/>
          <p:cNvSpPr txBox="1"/>
          <p:nvPr/>
        </p:nvSpPr>
        <p:spPr>
          <a:xfrm>
            <a:off x="4764024"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From Q4, basket ≥ 100%: remaining coupons cancelled, note ends. Keeps the coupon affordable</a:t>
            </a:r>
            <a:endParaRPr lang="en-US" sz="780" dirty="0"/>
          </a:p>
        </p:txBody>
      </p:sp>
      <p:graphicFrame>
        <p:nvGraphicFramePr>
          <p:cNvPr id="23" name="Chart 2" descr=""/>
          <p:cNvGraphicFramePr/>
          <p:nvPr/>
        </p:nvGraphicFramePr>
        <p:xfrm>
          <a:off x="4681728" y="2163699"/>
          <a:ext cx="1901952" cy="1586941"/>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6592824" y="2564892"/>
            <a:ext cx="182880" cy="356616"/>
          </a:xfrm>
          <a:prstGeom prst="rect">
            <a:avLst/>
          </a:prstGeom>
          <a:noFill/>
          <a:ln/>
        </p:spPr>
        <p:txBody>
          <a:bodyPr wrap="square" lIns="0" tIns="0" rIns="0" bIns="0" rtlCol="0" anchor="t"/>
          <a:lstStyle/>
          <a:p>
            <a:pPr algn="ctr" indent="0" marL="0">
              <a:buNone/>
            </a:pPr>
            <a:r>
              <a:rPr lang="en-US" sz="1470" b="1" dirty="0">
                <a:solidFill>
                  <a:srgbClr val="2C5F82"/>
                </a:solidFill>
                <a:latin typeface="Arial" pitchFamily="34" charset="0"/>
                <a:ea typeface="Arial" pitchFamily="34" charset="-122"/>
                <a:cs typeface="Arial" pitchFamily="34" charset="-120"/>
              </a:rPr>
              <a:t>−</a:t>
            </a:r>
            <a:endParaRPr lang="en-US" sz="1470" dirty="0"/>
          </a:p>
        </p:txBody>
      </p:sp>
      <p:sp>
        <p:nvSpPr>
          <p:cNvPr id="25" name="Shape 20"/>
          <p:cNvSpPr/>
          <p:nvPr/>
        </p:nvSpPr>
        <p:spPr>
          <a:xfrm>
            <a:off x="6775704" y="1093851"/>
            <a:ext cx="1956816" cy="2719197"/>
          </a:xfrm>
          <a:prstGeom prst="rect">
            <a:avLst/>
          </a:prstGeom>
          <a:solidFill>
            <a:srgbClr val="E8EFF5"/>
          </a:solidFill>
          <a:ln w="12700">
            <a:solidFill>
              <a:srgbClr val="E8EFF5"/>
            </a:solidFill>
            <a:prstDash val="solid"/>
          </a:ln>
        </p:spPr>
      </p:sp>
      <p:sp>
        <p:nvSpPr>
          <p:cNvPr id="26" name="Text 21"/>
          <p:cNvSpPr txBox="1"/>
          <p:nvPr/>
        </p:nvSpPr>
        <p:spPr>
          <a:xfrm>
            <a:off x="6885432" y="1165174"/>
            <a:ext cx="1783080" cy="267462"/>
          </a:xfrm>
          <a:prstGeom prst="rect">
            <a:avLst/>
          </a:prstGeom>
          <a:noFill/>
          <a:ln/>
        </p:spPr>
        <p:txBody>
          <a:bodyPr wrap="square" lIns="0" tIns="0" rIns="0" bIns="0" rtlCol="0" anchor="t"/>
          <a:lstStyle/>
          <a:p>
            <a:pPr indent="0" marL="0">
              <a:buNone/>
            </a:pPr>
            <a:r>
              <a:rPr lang="en-US" sz="1060" b="1" dirty="0">
                <a:solidFill>
                  <a:srgbClr val="B23B3B"/>
                </a:solidFill>
                <a:latin typeface="Arial" pitchFamily="34" charset="0"/>
                <a:ea typeface="Arial" pitchFamily="34" charset="-122"/>
                <a:cs typeface="Arial" pitchFamily="34" charset="-120"/>
              </a:rPr>
              <a:t>Short put (client)</a:t>
            </a:r>
            <a:endParaRPr lang="en-US" sz="1060" dirty="0"/>
          </a:p>
        </p:txBody>
      </p:sp>
      <p:sp>
        <p:nvSpPr>
          <p:cNvPr id="27" name="Text 22"/>
          <p:cNvSpPr txBox="1"/>
          <p:nvPr/>
        </p:nvSpPr>
        <p:spPr>
          <a:xfrm>
            <a:off x="6885432" y="1432636"/>
            <a:ext cx="1783080" cy="713232"/>
          </a:xfrm>
          <a:prstGeom prst="rect">
            <a:avLst/>
          </a:prstGeom>
          <a:noFill/>
          <a:ln/>
        </p:spPr>
        <p:txBody>
          <a:bodyPr wrap="square" lIns="0" tIns="0" rIns="0" bIns="0" rtlCol="0" anchor="t"/>
          <a:lstStyle/>
          <a:p>
            <a:pPr indent="0" marL="0">
              <a:buNone/>
            </a:pPr>
            <a:r>
              <a:rPr lang="en-US" sz="780" dirty="0">
                <a:solidFill>
                  <a:srgbClr val="595959"/>
                </a:solidFill>
                <a:latin typeface="Arial" pitchFamily="34" charset="0"/>
                <a:ea typeface="Arial" pitchFamily="34" charset="-122"/>
                <a:cs typeface="Arial" pitchFamily="34" charset="-120"/>
              </a:rPr>
              <a:t>If never called, the client bears the basket's fall below 100% at Y5. Worth −7.0%</a:t>
            </a:r>
            <a:endParaRPr lang="en-US" sz="780" dirty="0"/>
          </a:p>
        </p:txBody>
      </p:sp>
      <p:graphicFrame>
        <p:nvGraphicFramePr>
          <p:cNvPr id="28" name="Chart 3" descr=""/>
          <p:cNvGraphicFramePr/>
          <p:nvPr/>
        </p:nvGraphicFramePr>
        <p:xfrm>
          <a:off x="6803136" y="2163699"/>
          <a:ext cx="1901952" cy="1586941"/>
        </p:xfrm>
        <a:graphic xmlns:a="http://schemas.openxmlformats.org/drawingml/2006/main">
          <a:graphicData uri="http://schemas.openxmlformats.org/drawingml/2006/chart">
            <c:chart xmlns:c="http://schemas.openxmlformats.org/drawingml/2006/chart" r:id="rId4"/>
          </a:graphicData>
        </a:graphic>
      </p:graphicFrame>
      <p:sp>
        <p:nvSpPr>
          <p:cNvPr id="29" name="Shape 23"/>
          <p:cNvSpPr/>
          <p:nvPr/>
        </p:nvSpPr>
        <p:spPr>
          <a:xfrm>
            <a:off x="411480" y="3902202"/>
            <a:ext cx="8321040" cy="624078"/>
          </a:xfrm>
          <a:prstGeom prst="rect">
            <a:avLst/>
          </a:prstGeom>
          <a:solidFill>
            <a:srgbClr val="2C5F82"/>
          </a:solidFill>
          <a:ln w="12700">
            <a:solidFill>
              <a:srgbClr val="2C5F82"/>
            </a:solidFill>
            <a:prstDash val="solid"/>
          </a:ln>
        </p:spPr>
      </p:sp>
      <p:sp>
        <p:nvSpPr>
          <p:cNvPr id="30" name="Text 24"/>
          <p:cNvSpPr txBox="1"/>
          <p:nvPr/>
        </p:nvSpPr>
        <p:spPr>
          <a:xfrm>
            <a:off x="548640" y="3964610"/>
            <a:ext cx="8046720" cy="534924"/>
          </a:xfrm>
          <a:prstGeom prst="rect">
            <a:avLst/>
          </a:prstGeom>
          <a:noFill/>
          <a:ln/>
        </p:spPr>
        <p:txBody>
          <a:bodyPr wrap="square" lIns="0" tIns="0" rIns="0" bIns="0" rtlCol="0" anchor="ctr"/>
          <a:lstStyle/>
          <a:p>
            <a:pPr indent="0" marL="0">
              <a:buNone/>
            </a:pPr>
            <a:r>
              <a:rPr lang="en-US" sz="920" b="1" dirty="0">
                <a:solidFill>
                  <a:srgbClr val="BFD7EA"/>
                </a:solidFill>
                <a:latin typeface="Arial" pitchFamily="34" charset="0"/>
                <a:ea typeface="Arial" pitchFamily="34" charset="-122"/>
                <a:cs typeface="Arial" pitchFamily="34" charset="-120"/>
              </a:rPr>
              <a:t>Fair value 96.5% = principal 89.4% + coupons 14.1% − short put 7.0%.  </a:t>
            </a:r>
            <a:pPr indent="0" marL="0">
              <a:buNone/>
            </a:pPr>
            <a:r>
              <a:rPr lang="en-US" sz="920" dirty="0">
                <a:solidFill>
                  <a:srgbClr val="FFFFFF"/>
                </a:solidFill>
                <a:latin typeface="Arial" pitchFamily="34" charset="0"/>
                <a:ea typeface="Arial" pitchFamily="34" charset="-122"/>
                <a:cs typeface="Arial" pitchFamily="34" charset="-120"/>
              </a:rPr>
              <a:t>Issued at 100%, leaving 3.5% for hedging and margin. The short put funds the double-digit coupon.</a:t>
            </a:r>
            <a:endParaRPr lang="en-US" sz="9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42900" y="4786884"/>
            <a:ext cx="8458200" cy="0"/>
          </a:xfrm>
          <a:prstGeom prst="line">
            <a:avLst/>
          </a:prstGeom>
          <a:noFill/>
          <a:ln w="7112">
            <a:solidFill>
              <a:srgbClr val="BFBFBF"/>
            </a:solidFill>
            <a:prstDash val="solid"/>
          </a:ln>
        </p:spPr>
      </p:sp>
      <p:sp>
        <p:nvSpPr>
          <p:cNvPr id="3" name="Text 1"/>
          <p:cNvSpPr txBox="1"/>
          <p:nvPr/>
        </p:nvSpPr>
        <p:spPr>
          <a:xfrm>
            <a:off x="342900"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ANALYSIS</a:t>
            </a:r>
            <a:endParaRPr lang="en-US" sz="900" dirty="0"/>
          </a:p>
        </p:txBody>
      </p:sp>
      <p:sp>
        <p:nvSpPr>
          <p:cNvPr id="4" name="Text 2"/>
          <p:cNvSpPr txBox="1"/>
          <p:nvPr/>
        </p:nvSpPr>
        <p:spPr>
          <a:xfrm>
            <a:off x="3216402" y="4834890"/>
            <a:ext cx="2708910" cy="205740"/>
          </a:xfrm>
          <a:prstGeom prst="rect">
            <a:avLst/>
          </a:prstGeom>
          <a:noFill/>
          <a:ln/>
        </p:spPr>
        <p:txBody>
          <a:bodyPr wrap="square" lIns="0" tIns="0" rIns="0" bIns="0" rtlCol="0" anchor="ctr"/>
          <a:lstStyle/>
          <a:p>
            <a:pPr algn="ctr" indent="0" marL="0">
              <a:buNone/>
            </a:pPr>
            <a:r>
              <a:rPr lang="en-US" sz="900" spc="100" kern="0" dirty="0">
                <a:solidFill>
                  <a:srgbClr val="595959"/>
                </a:solidFill>
                <a:latin typeface="Arial" pitchFamily="34" charset="0"/>
                <a:ea typeface="Arial" pitchFamily="34" charset="-122"/>
                <a:cs typeface="Arial" pitchFamily="34" charset="-120"/>
              </a:rPr>
              <a:t>STRATEGY</a:t>
            </a:r>
            <a:endParaRPr lang="en-US" sz="900" dirty="0"/>
          </a:p>
        </p:txBody>
      </p:sp>
      <p:sp>
        <p:nvSpPr>
          <p:cNvPr id="5" name="Shape 3"/>
          <p:cNvSpPr/>
          <p:nvPr/>
        </p:nvSpPr>
        <p:spPr>
          <a:xfrm>
            <a:off x="6508242" y="4773168"/>
            <a:ext cx="1885950" cy="34290"/>
          </a:xfrm>
          <a:prstGeom prst="rect">
            <a:avLst/>
          </a:prstGeom>
          <a:solidFill>
            <a:srgbClr val="2C5F82"/>
          </a:solidFill>
          <a:ln w="12700">
            <a:solidFill>
              <a:srgbClr val="2C5F82"/>
            </a:solidFill>
            <a:prstDash val="solid"/>
          </a:ln>
        </p:spPr>
      </p:sp>
      <p:sp>
        <p:nvSpPr>
          <p:cNvPr id="6" name="Text 4"/>
          <p:cNvSpPr txBox="1"/>
          <p:nvPr/>
        </p:nvSpPr>
        <p:spPr>
          <a:xfrm>
            <a:off x="6096762" y="4834890"/>
            <a:ext cx="2708910" cy="205740"/>
          </a:xfrm>
          <a:prstGeom prst="rect">
            <a:avLst/>
          </a:prstGeom>
          <a:noFill/>
          <a:ln/>
        </p:spPr>
        <p:txBody>
          <a:bodyPr wrap="square" lIns="0" tIns="0" rIns="0" bIns="0" rtlCol="0" anchor="ctr"/>
          <a:lstStyle/>
          <a:p>
            <a:pPr algn="ctr" indent="0" marL="0">
              <a:buNone/>
            </a:pPr>
            <a:r>
              <a:rPr lang="en-US" sz="900" b="1" spc="100" kern="0" dirty="0">
                <a:solidFill>
                  <a:srgbClr val="2C5F82"/>
                </a:solidFill>
                <a:latin typeface="Arial" pitchFamily="34" charset="0"/>
                <a:ea typeface="Arial" pitchFamily="34" charset="-122"/>
                <a:cs typeface="Arial" pitchFamily="34" charset="-120"/>
              </a:rPr>
              <a:t>APPENDIX</a:t>
            </a:r>
            <a:endParaRPr lang="en-US" sz="900" dirty="0"/>
          </a:p>
        </p:txBody>
      </p:sp>
      <p:sp>
        <p:nvSpPr>
          <p:cNvPr id="7" name="Text 5"/>
          <p:cNvSpPr txBox="1"/>
          <p:nvPr/>
        </p:nvSpPr>
        <p:spPr>
          <a:xfrm>
            <a:off x="342900" y="205740"/>
            <a:ext cx="8435340" cy="411480"/>
          </a:xfrm>
          <a:prstGeom prst="rect">
            <a:avLst/>
          </a:prstGeom>
          <a:noFill/>
          <a:ln/>
        </p:spPr>
        <p:txBody>
          <a:bodyPr wrap="square" lIns="0" tIns="0" rIns="0" bIns="0" rtlCol="0" anchor="ctr"/>
          <a:lstStyle/>
          <a:p>
            <a:pPr indent="0" marL="0">
              <a:buNone/>
            </a:pPr>
            <a:r>
              <a:rPr lang="en-US" sz="1650" dirty="0">
                <a:solidFill>
                  <a:srgbClr val="262626"/>
                </a:solidFill>
                <a:latin typeface="Arial" pitchFamily="34" charset="0"/>
                <a:ea typeface="Arial" pitchFamily="34" charset="-122"/>
                <a:cs typeface="Arial" pitchFamily="34" charset="-120"/>
              </a:rPr>
              <a:t>Appendix D: alternatives for the investment committee</a:t>
            </a:r>
            <a:endParaRPr lang="en-US" sz="1650" dirty="0"/>
          </a:p>
        </p:txBody>
      </p:sp>
      <p:sp>
        <p:nvSpPr>
          <p:cNvPr id="8" name="Shape 6"/>
          <p:cNvSpPr/>
          <p:nvPr/>
        </p:nvSpPr>
        <p:spPr>
          <a:xfrm>
            <a:off x="342900" y="672084"/>
            <a:ext cx="8458200" cy="0"/>
          </a:xfrm>
          <a:prstGeom prst="line">
            <a:avLst/>
          </a:prstGeom>
          <a:noFill/>
          <a:ln w="9525">
            <a:solidFill>
              <a:srgbClr val="2C5F82"/>
            </a:solidFill>
            <a:prstDash val="solid"/>
          </a:ln>
        </p:spPr>
      </p:sp>
      <p:sp>
        <p:nvSpPr>
          <p:cNvPr id="9" name="Text 7"/>
          <p:cNvSpPr txBox="1"/>
          <p:nvPr/>
        </p:nvSpPr>
        <p:spPr>
          <a:xfrm>
            <a:off x="342900" y="717804"/>
            <a:ext cx="8458200" cy="210312"/>
          </a:xfrm>
          <a:prstGeom prst="rect">
            <a:avLst/>
          </a:prstGeom>
          <a:noFill/>
          <a:ln/>
        </p:spPr>
        <p:txBody>
          <a:bodyPr wrap="square" lIns="0" tIns="0" rIns="0" bIns="0" rtlCol="0" anchor="ctr"/>
          <a:lstStyle/>
          <a:p>
            <a:pPr indent="0" marL="0">
              <a:buNone/>
            </a:pPr>
            <a:r>
              <a:rPr lang="en-US" sz="850" i="1" dirty="0">
                <a:solidFill>
                  <a:srgbClr val="595959"/>
                </a:solidFill>
                <a:latin typeface="Arial" pitchFamily="34" charset="0"/>
                <a:ea typeface="Arial" pitchFamily="34" charset="-122"/>
                <a:cs typeface="Arial" pitchFamily="34" charset="-120"/>
              </a:rPr>
              <a:t>Same basket: full protection, a higher-risk snowball, and a pure participation note</a:t>
            </a:r>
            <a:endParaRPr lang="en-US" sz="850" dirty="0"/>
          </a:p>
        </p:txBody>
      </p:sp>
      <p:graphicFrame>
        <p:nvGraphicFramePr>
          <p:cNvPr id="10" name="Chart 0" descr=""/>
          <p:cNvGraphicFramePr/>
          <p:nvPr/>
        </p:nvGraphicFramePr>
        <p:xfrm>
          <a:off x="365760" y="1049274"/>
          <a:ext cx="4572000" cy="3209544"/>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212080" y="1093851"/>
          <a:ext cx="3520440" cy="914400"/>
        </p:xfrm>
        <a:graphic>
          <a:graphicData uri="http://schemas.openxmlformats.org/drawingml/2006/table">
            <a:tbl>
              <a:tblPr/>
              <a:tblGrid>
                <a:gridCol w="1463040"/>
                <a:gridCol w="1325880"/>
                <a:gridCol w="731520"/>
              </a:tblGrid>
              <a:tr h="320954">
                <a:tc>
                  <a:txBody>
                    <a:bodyPr/>
                    <a:lstStyle/>
                    <a:p>
                      <a:pPr indent="0" marL="0">
                        <a:buNone/>
                      </a:pPr>
                      <a:r>
                        <a:rPr lang="en-US" sz="830" b="1" dirty="0">
                          <a:solidFill>
                            <a:srgbClr val="FFFFFF"/>
                          </a:solidFill>
                          <a:latin typeface="Arial" pitchFamily="34" charset="0"/>
                          <a:ea typeface="Arial" pitchFamily="34" charset="-122"/>
                          <a:cs typeface="Arial" pitchFamily="34" charset="-120"/>
                        </a:rPr>
                        <a:t>Option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30" b="1" dirty="0">
                          <a:solidFill>
                            <a:srgbClr val="FFFFFF"/>
                          </a:solidFill>
                          <a:latin typeface="Arial" pitchFamily="34" charset="0"/>
                          <a:ea typeface="Arial" pitchFamily="34" charset="-122"/>
                          <a:cs typeface="Arial" pitchFamily="34" charset="-120"/>
                        </a:rPr>
                        <a:t>Return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c>
                  <a:txBody>
                    <a:bodyPr/>
                    <a:lstStyle/>
                    <a:p>
                      <a:pPr indent="0" marL="0">
                        <a:buNone/>
                      </a:pPr>
                      <a:r>
                        <a:rPr lang="en-US" sz="830" b="1" dirty="0">
                          <a:solidFill>
                            <a:srgbClr val="FFFFFF"/>
                          </a:solidFill>
                          <a:latin typeface="Arial" pitchFamily="34" charset="0"/>
                          <a:ea typeface="Arial" pitchFamily="34" charset="-122"/>
                          <a:cs typeface="Arial" pitchFamily="34" charset="-120"/>
                        </a:rPr>
                        <a:t>Loss risk</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2C5F82"/>
                    </a:solidFill>
                  </a:tcPr>
                </a:tc>
              </a:tr>
              <a:tr h="320954">
                <a:tc>
                  <a:txBody>
                    <a:bodyPr/>
                    <a:lstStyle/>
                    <a:p>
                      <a:pPr indent="0" marL="0">
                        <a:buNone/>
                      </a:pPr>
                      <a:r>
                        <a:rPr lang="en-US" sz="830" b="1" dirty="0">
                          <a:solidFill>
                            <a:srgbClr val="2C5F82"/>
                          </a:solidFill>
                          <a:latin typeface="Arial" pitchFamily="34" charset="0"/>
                          <a:ea typeface="Arial" pitchFamily="34" charset="-122"/>
                          <a:cs typeface="Arial" pitchFamily="34" charset="-120"/>
                        </a:rPr>
                        <a:t>Classic autocallable (ours)</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12.75% p.a. memory coupon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21%</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20954">
                <a:tc>
                  <a:txBody>
                    <a:bodyPr/>
                    <a:lstStyle/>
                    <a:p>
                      <a:pPr indent="0" marL="0">
                        <a:buNone/>
                      </a:pPr>
                      <a:r>
                        <a:rPr lang="en-US" sz="830" dirty="0">
                          <a:solidFill>
                            <a:srgbClr val="262626"/>
                          </a:solidFill>
                          <a:latin typeface="Arial" pitchFamily="34" charset="0"/>
                          <a:ea typeface="Arial" pitchFamily="34" charset="-122"/>
                          <a:cs typeface="Arial" pitchFamily="34" charset="-120"/>
                        </a:rPr>
                        <a:t>100% protected autocallable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~7.8% fair coupon</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20954">
                <a:tc>
                  <a:txBody>
                    <a:bodyPr/>
                    <a:lstStyle/>
                    <a:p>
                      <a:pPr indent="0" marL="0">
                        <a:buNone/>
                      </a:pPr>
                      <a:r>
                        <a:rPr lang="en-US" sz="830" dirty="0">
                          <a:solidFill>
                            <a:srgbClr val="262626"/>
                          </a:solidFill>
                          <a:latin typeface="Arial" pitchFamily="34" charset="0"/>
                          <a:ea typeface="Arial" pitchFamily="34" charset="-122"/>
                          <a:cs typeface="Arial" pitchFamily="34" charset="-120"/>
                        </a:rPr>
                        <a:t>Snowball, 65% barrier</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9% p.a., paid at call</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14.3%</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r h="320954">
                <a:tc>
                  <a:txBody>
                    <a:bodyPr/>
                    <a:lstStyle/>
                    <a:p>
                      <a:pPr indent="0" marL="0">
                        <a:buNone/>
                      </a:pPr>
                      <a:r>
                        <a:rPr lang="en-US" sz="830" dirty="0">
                          <a:solidFill>
                            <a:srgbClr val="262626"/>
                          </a:solidFill>
                          <a:latin typeface="Arial" pitchFamily="34" charset="0"/>
                          <a:ea typeface="Arial" pitchFamily="34" charset="-122"/>
                          <a:cs typeface="Arial" pitchFamily="34" charset="-120"/>
                        </a:rPr>
                        <a:t>Principal-protected note</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84% of basket gain at Y5</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indent="0" marL="0">
                        <a:buNone/>
                      </a:pPr>
                      <a:r>
                        <a:rPr lang="en-US" sz="830" dirty="0">
                          <a:solidFill>
                            <a:srgbClr val="262626"/>
                          </a:solidFill>
                          <a:latin typeface="Arial" pitchFamily="34" charset="0"/>
                          <a:ea typeface="Arial" pitchFamily="34" charset="-122"/>
                          <a:cs typeface="Arial" pitchFamily="34" charset="-120"/>
                        </a:rPr>
                        <a:t>0%</a:t>
                      </a:r>
                      <a:endParaRPr lang="en-US" sz="830" dirty="0">
                        <a:latin typeface="Arial" charset="0"/>
                        <a:ea typeface="Arial" charset="0"/>
                        <a:cs typeface="Arial" charset="0"/>
                      </a:endParaRPr>
                    </a:p>
                  </a:txBody>
                  <a:tcPr marL="50800" marR="50800" marT="25400" marB="25400"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r>
            </a:tbl>
          </a:graphicData>
        </a:graphic>
      </p:graphicFrame>
      <p:sp>
        <p:nvSpPr>
          <p:cNvPr id="12" name="Shape 8"/>
          <p:cNvSpPr/>
          <p:nvPr/>
        </p:nvSpPr>
        <p:spPr>
          <a:xfrm>
            <a:off x="5212080" y="2787777"/>
            <a:ext cx="3520440" cy="1114425"/>
          </a:xfrm>
          <a:prstGeom prst="rect">
            <a:avLst/>
          </a:prstGeom>
          <a:solidFill>
            <a:srgbClr val="E8EFF5"/>
          </a:solidFill>
          <a:ln w="12700">
            <a:solidFill>
              <a:srgbClr val="E8EFF5"/>
            </a:solidFill>
            <a:prstDash val="solid"/>
          </a:ln>
        </p:spPr>
      </p:sp>
      <p:sp>
        <p:nvSpPr>
          <p:cNvPr id="13" name="Text 9"/>
          <p:cNvSpPr txBox="1"/>
          <p:nvPr/>
        </p:nvSpPr>
        <p:spPr>
          <a:xfrm>
            <a:off x="5349240" y="2850185"/>
            <a:ext cx="3291840" cy="998525"/>
          </a:xfrm>
          <a:prstGeom prst="rect">
            <a:avLst/>
          </a:prstGeom>
          <a:noFill/>
          <a:ln/>
        </p:spPr>
        <p:txBody>
          <a:bodyPr wrap="square" lIns="0" tIns="0" rIns="0" bIns="0" rtlCol="0" anchor="t"/>
          <a:lstStyle/>
          <a:p>
            <a:pPr indent="0" marL="0">
              <a:buNone/>
            </a:pPr>
            <a:r>
              <a:rPr lang="en-US" sz="830" b="1" dirty="0">
                <a:solidFill>
                  <a:srgbClr val="2C5F82"/>
                </a:solidFill>
                <a:latin typeface="Arial" pitchFamily="34" charset="0"/>
                <a:ea typeface="Arial" pitchFamily="34" charset="-122"/>
                <a:cs typeface="Arial" pitchFamily="34" charset="-120"/>
              </a:rPr>
              <a:t>Trade-off: </a:t>
            </a:r>
            <a:pPr indent="0" marL="0">
              <a:buNone/>
            </a:pPr>
            <a:r>
              <a:rPr lang="en-US" sz="830" dirty="0">
                <a:solidFill>
                  <a:srgbClr val="262626"/>
                </a:solidFill>
                <a:latin typeface="Arial" pitchFamily="34" charset="0"/>
                <a:ea typeface="Arial" pitchFamily="34" charset="-122"/>
                <a:cs typeface="Arial" pitchFamily="34" charset="-120"/>
              </a:rPr>
              <a:t>The snowball pays 9% but loses capital in ~14% of paths. Full protection pays only ~8%. The PPN pays nothing unless the basket ends above 100% after 5 years. Our note pays 12.75%, with money usually back within ~2 years, but takes the basket's fall if never called.</a:t>
            </a:r>
            <a:endParaRPr lang="en-US" sz="830" dirty="0"/>
          </a:p>
        </p:txBody>
      </p:sp>
      <p:sp>
        <p:nvSpPr>
          <p:cNvPr id="14" name="Text 10"/>
          <p:cNvSpPr txBox="1"/>
          <p:nvPr/>
        </p:nvSpPr>
        <p:spPr>
          <a:xfrm>
            <a:off x="342900" y="4562856"/>
            <a:ext cx="8046720" cy="210312"/>
          </a:xfrm>
          <a:prstGeom prst="rect">
            <a:avLst/>
          </a:prstGeom>
          <a:noFill/>
          <a:ln/>
        </p:spPr>
        <p:txBody>
          <a:bodyPr wrap="square" lIns="0" tIns="0" rIns="0" bIns="0" rtlCol="0" anchor="t"/>
          <a:lstStyle/>
          <a:p>
            <a:pPr indent="0" marL="0">
              <a:buNone/>
            </a:pPr>
            <a:r>
              <a:rPr lang="en-US" sz="680" i="1" dirty="0">
                <a:solidFill>
                  <a:srgbClr val="595959"/>
                </a:solidFill>
                <a:latin typeface="Arial" pitchFamily="34" charset="0"/>
                <a:ea typeface="Arial" pitchFamily="34" charset="-122"/>
                <a:cs typeface="Arial" pitchFamily="34" charset="-120"/>
              </a:rPr>
              <a:t>Monte Carlo, 200k paths. Vols, dividends and correlations are assumptions to refresh with Bloomberg data as of the 17 Sep 2026 trade date; discounting uses the USD funding grid.</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Asian Digital Transformation Autocallable Note</dc:title>
  <dc:subject>PptxGenJS Presentation</dc:subject>
  <dc:creator>PptxGenJS</dc:creator>
  <cp:lastModifiedBy>PptxGenJS</cp:lastModifiedBy>
  <cp:revision>1</cp:revision>
  <dcterms:created xsi:type="dcterms:W3CDTF">2026-10-08T13:14:41Z</dcterms:created>
  <dcterms:modified xsi:type="dcterms:W3CDTF">2026-10-08T13:14:41Z</dcterms:modified>
</cp:coreProperties>
</file>