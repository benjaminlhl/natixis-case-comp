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jpg" ContentType="image/jpeg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media/image2.jpg" ContentType="image/jpg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7" r:id="rId3"/>
    <p:sldId id="256" r:id="rId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31" d="100"/>
          <a:sy n="131" d="100"/>
        </p:scale>
        <p:origin x="37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Arial"/>
              </a:defRPr>
            </a:pPr>
            <a:r>
              <a:rPr lang="en-HK" sz="950" b="0" i="0" u="none" strike="noStrike">
                <a:solidFill>
                  <a:srgbClr val="262626"/>
                </a:solidFill>
                <a:latin typeface="Arial"/>
              </a:rPr>
              <a:t>Global chip market, US$bn (WSTS)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Chip market</c:v>
                </c:pt>
              </c:strCache>
            </c:strRef>
          </c:tx>
          <c:spPr>
            <a:solidFill>
              <a:srgbClr val="2C5F82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8587-D140-A729-E8B4F24DA748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8587-D140-A729-E8B4F24DA748}"/>
              </c:ext>
            </c:extLst>
          </c:dPt>
          <c:dPt>
            <c:idx val="2"/>
            <c:invertIfNegative val="0"/>
            <c:bubble3D val="0"/>
            <c:spPr>
              <a:solidFill>
                <a:srgbClr val="8DB3D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587-D140-A729-E8B4F24DA748}"/>
              </c:ext>
            </c:extLst>
          </c:dPt>
          <c:dPt>
            <c:idx val="3"/>
            <c:invertIfNegative val="0"/>
            <c:bubble3D val="0"/>
            <c:spPr>
              <a:solidFill>
                <a:srgbClr val="8DB3D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8587-D140-A729-E8B4F24DA748}"/>
              </c:ext>
            </c:extLst>
          </c:dPt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262626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2024</c:v>
                </c:pt>
                <c:pt idx="1">
                  <c:v>2025</c:v>
                </c:pt>
                <c:pt idx="2">
                  <c:v>2026F</c:v>
                </c:pt>
                <c:pt idx="3">
                  <c:v>2027F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630</c:v>
                </c:pt>
                <c:pt idx="1">
                  <c:v>795.6</c:v>
                </c:pt>
                <c:pt idx="2">
                  <c:v>1510</c:v>
                </c:pt>
                <c:pt idx="3">
                  <c:v>1900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587-D140-A729-E8B4F24DA74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2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Weight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C5F8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28F6-CD4A-9B6B-437EE73CBEE7}"/>
              </c:ext>
            </c:extLst>
          </c:dPt>
          <c:dPt>
            <c:idx val="1"/>
            <c:bubble3D val="0"/>
            <c:spPr>
              <a:solidFill>
                <a:srgbClr val="4F86A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8F6-CD4A-9B6B-437EE73CBEE7}"/>
              </c:ext>
            </c:extLst>
          </c:dPt>
          <c:dPt>
            <c:idx val="2"/>
            <c:bubble3D val="0"/>
            <c:spPr>
              <a:solidFill>
                <a:srgbClr val="8DB3D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28F6-CD4A-9B6B-437EE73CBEE7}"/>
              </c:ext>
            </c:extLst>
          </c:dPt>
          <c:dPt>
            <c:idx val="3"/>
            <c:bubble3D val="0"/>
            <c:spPr>
              <a:solidFill>
                <a:srgbClr val="A6A6A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28F6-CD4A-9B6B-437EE73CBEE7}"/>
              </c:ext>
            </c:extLst>
          </c:dPt>
          <c:dPt>
            <c:idx val="4"/>
            <c:bubble3D val="0"/>
            <c:spPr>
              <a:solidFill>
                <a:srgbClr val="2E9E4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28F6-CD4A-9B6B-437EE73CBEE7}"/>
              </c:ext>
            </c:extLst>
          </c:dPt>
          <c:cat>
            <c:strRef>
              <c:f>Sheet1!$A$2:$A$6</c:f>
              <c:strCache>
                <c:ptCount val="5"/>
                <c:pt idx="0">
                  <c:v>3119 HK</c:v>
                </c:pt>
                <c:pt idx="1">
                  <c:v>EWY US</c:v>
                </c:pt>
                <c:pt idx="2">
                  <c:v>EWT US</c:v>
                </c:pt>
                <c:pt idx="3">
                  <c:v>2644 JP</c:v>
                </c:pt>
                <c:pt idx="4">
                  <c:v>00878 TT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35</c:v>
                </c:pt>
                <c:pt idx="1">
                  <c:v>20</c:v>
                </c:pt>
                <c:pt idx="2">
                  <c:v>15</c:v>
                </c:pt>
                <c:pt idx="3">
                  <c:v>15</c:v>
                </c:pt>
                <c:pt idx="4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28F6-CD4A-9B6B-437EE73CBE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252246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3EC5F-60AF-A1C3-E412-92DB15CC8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7878A8-3EFC-2090-69FC-841E85CE3B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34F4E5-B43A-12AB-CDC3-EEAAC9D7BC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One-page thesis. Left: what we own. AI spending is a hardware boom and Asia holds the three bottlenecks: Taiwan's foundries, Korea's high-bandwidth memory, Japan's chip-making tools. Demand is structural, though the memory cycle is maturing. Right: why we hold it through an autocall now. The Fed's dot plot keeps rates high until 2028, so long bonds carry rate risk and a capital floor is cheap; volatility is at records, so buy-and-hold must sit through violent swings while autocall coupons pay on recovery and are funded by option premium; the theme is concentrated and fully priced, so a diversified basket and a capped upside cost little.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B3E72F-6F3A-EF15-B200-C2E32584AA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5183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5.xml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6.xml"/><Relationship Id="rId4" Type="http://schemas.openxmlformats.org/officeDocument/2006/relationships/image" Target="../media/image2.jp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782608-E24A-B246-7332-A8FA65421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B5760A1-F1ED-1AE1-2961-3F8947979935}"/>
              </a:ext>
            </a:extLst>
          </p:cNvPr>
          <p:cNvSpPr txBox="1"/>
          <p:nvPr/>
        </p:nvSpPr>
        <p:spPr>
          <a:xfrm>
            <a:off x="457200" y="283464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thesis</a:t>
            </a:r>
            <a:r>
              <a:rPr lang="en-US" sz="220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Monopolizing the AI Supply Chain via Structured Overlays</a:t>
            </a:r>
            <a:endParaRPr lang="en-US" sz="22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5BBD873-84E3-40E3-41A3-CEB04B65EA10}"/>
              </a:ext>
            </a:extLst>
          </p:cNvPr>
          <p:cNvSpPr/>
          <p:nvPr/>
        </p:nvSpPr>
        <p:spPr>
          <a:xfrm>
            <a:off x="457200" y="896112"/>
            <a:ext cx="11274552" cy="0"/>
          </a:xfrm>
          <a:prstGeom prst="line">
            <a:avLst/>
          </a:prstGeom>
          <a:noFill/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16FF8FE-0DBD-BAD4-DC3D-D6D3C9C03ACC}"/>
              </a:ext>
            </a:extLst>
          </p:cNvPr>
          <p:cNvSpPr/>
          <p:nvPr/>
        </p:nvSpPr>
        <p:spPr>
          <a:xfrm>
            <a:off x="457200" y="6382512"/>
            <a:ext cx="1127455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45797499-E290-FA1A-4102-E7C125611F59}"/>
              </a:ext>
            </a:extLst>
          </p:cNvPr>
          <p:cNvSpPr/>
          <p:nvPr/>
        </p:nvSpPr>
        <p:spPr>
          <a:xfrm>
            <a:off x="1005840" y="6364224"/>
            <a:ext cx="2514600" cy="4572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B268003-C469-86F7-E113-DA8F0FCA7E1C}"/>
              </a:ext>
            </a:extLst>
          </p:cNvPr>
          <p:cNvSpPr txBox="1"/>
          <p:nvPr/>
        </p:nvSpPr>
        <p:spPr>
          <a:xfrm>
            <a:off x="457200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12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C2408AC-EA28-8460-9510-EB78B0CD4EA0}"/>
              </a:ext>
            </a:extLst>
          </p:cNvPr>
          <p:cNvSpPr txBox="1"/>
          <p:nvPr/>
        </p:nvSpPr>
        <p:spPr>
          <a:xfrm>
            <a:off x="4288536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kern="0" spc="1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2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BC14083-F661-7554-B5BB-7945EFB5A41E}"/>
              </a:ext>
            </a:extLst>
          </p:cNvPr>
          <p:cNvSpPr txBox="1"/>
          <p:nvPr/>
        </p:nvSpPr>
        <p:spPr>
          <a:xfrm>
            <a:off x="8129016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kern="0" spc="1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2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A9789B2B-BF31-6C4A-0778-5AE399E268E5}"/>
              </a:ext>
            </a:extLst>
          </p:cNvPr>
          <p:cNvSpPr txBox="1"/>
          <p:nvPr/>
        </p:nvSpPr>
        <p:spPr>
          <a:xfrm>
            <a:off x="457200" y="950976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own and why we wrap it: structural demand for Asian chips, memory and tools, held through a market of high rates, record volatility and concentrated, full prices</a:t>
            </a:r>
            <a:endParaRPr lang="en-US" sz="105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165954E5-92A7-6BF9-B6FC-41DEFDCBEBFA}"/>
              </a:ext>
            </a:extLst>
          </p:cNvPr>
          <p:cNvSpPr/>
          <p:nvPr/>
        </p:nvSpPr>
        <p:spPr>
          <a:xfrm>
            <a:off x="457200" y="1298448"/>
            <a:ext cx="5486400" cy="384048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F3EC684E-4779-855F-EE6A-C1692582B767}"/>
              </a:ext>
            </a:extLst>
          </p:cNvPr>
          <p:cNvSpPr txBox="1"/>
          <p:nvPr/>
        </p:nvSpPr>
        <p:spPr>
          <a:xfrm>
            <a:off x="594360" y="1298448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DB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</a:t>
            </a: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Asia controls AI's hardware bottlenecks</a:t>
            </a:r>
            <a:endParaRPr lang="en-US" sz="1250" dirty="0"/>
          </a:p>
        </p:txBody>
      </p:sp>
      <p:graphicFrame>
        <p:nvGraphicFramePr>
          <p:cNvPr id="12" name="Chart 0">
            <a:extLst>
              <a:ext uri="{FF2B5EF4-FFF2-40B4-BE49-F238E27FC236}">
                <a16:creationId xmlns:a16="http://schemas.microsoft.com/office/drawing/2014/main" id="{31683E42-963A-75A8-8AA5-814B52B50FFB}"/>
              </a:ext>
            </a:extLst>
          </p:cNvPr>
          <p:cNvGraphicFramePr/>
          <p:nvPr/>
        </p:nvGraphicFramePr>
        <p:xfrm>
          <a:off x="457200" y="1755648"/>
          <a:ext cx="2468880" cy="1874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Text 10">
            <a:extLst>
              <a:ext uri="{FF2B5EF4-FFF2-40B4-BE49-F238E27FC236}">
                <a16:creationId xmlns:a16="http://schemas.microsoft.com/office/drawing/2014/main" id="{6E3F8A12-FC26-CEAA-10C4-EB772E300D10}"/>
              </a:ext>
            </a:extLst>
          </p:cNvPr>
          <p:cNvSpPr txBox="1"/>
          <p:nvPr/>
        </p:nvSpPr>
        <p:spPr>
          <a:xfrm>
            <a:off x="3063240" y="1810512"/>
            <a:ext cx="2834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 is structural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 capex ~US$725bn in 2026 (+77%); the chip market nearly doubles to ~US$1.5trn.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moat runs through Asia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of the world's 10 largest companies depend on TSMC (J.P. Morgan).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B2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…but the cycle is maturing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DRAM price gains slowing: +48% in Q2, ~+13% expected in Q4 2026.</a:t>
            </a:r>
            <a:endParaRPr lang="en-US" sz="950" dirty="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15577C70-8371-E111-4CFA-7834BB805744}"/>
              </a:ext>
            </a:extLst>
          </p:cNvPr>
          <p:cNvSpPr/>
          <p:nvPr/>
        </p:nvSpPr>
        <p:spPr>
          <a:xfrm>
            <a:off x="457200" y="3730752"/>
            <a:ext cx="5486400" cy="54864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193CDD70-96DC-C844-6ED8-18AFE01B604F}"/>
              </a:ext>
            </a:extLst>
          </p:cNvPr>
          <p:cNvSpPr/>
          <p:nvPr/>
        </p:nvSpPr>
        <p:spPr>
          <a:xfrm>
            <a:off x="457200" y="3730752"/>
            <a:ext cx="64008" cy="54864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3EB26D06-FA7D-913F-75EE-DB5D11ADB686}"/>
              </a:ext>
            </a:extLst>
          </p:cNvPr>
          <p:cNvSpPr txBox="1"/>
          <p:nvPr/>
        </p:nvSpPr>
        <p:spPr>
          <a:xfrm>
            <a:off x="566928" y="3730752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~70%</a:t>
            </a:r>
            <a:endParaRPr lang="en-US" sz="1800" dirty="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D5BB6B6C-2748-91EE-37A9-509CE693D317}"/>
              </a:ext>
            </a:extLst>
          </p:cNvPr>
          <p:cNvSpPr txBox="1"/>
          <p:nvPr/>
        </p:nvSpPr>
        <p:spPr>
          <a:xfrm>
            <a:off x="1691640" y="3730752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Taiwan makes the chips: </a:t>
            </a:r>
            <a:r>
              <a:rPr lang="en-US" sz="9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share of global foundry revenue; TSMC &gt;40% of TAIEX</a:t>
            </a:r>
            <a:endParaRPr lang="en-US" sz="950" dirty="0"/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4F60AB61-2E1C-470B-CAA5-BF4EA6BFB020}"/>
              </a:ext>
            </a:extLst>
          </p:cNvPr>
          <p:cNvSpPr/>
          <p:nvPr/>
        </p:nvSpPr>
        <p:spPr>
          <a:xfrm>
            <a:off x="457200" y="4334256"/>
            <a:ext cx="54864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88C31187-D37C-340F-0E24-64D25FE3AD80}"/>
              </a:ext>
            </a:extLst>
          </p:cNvPr>
          <p:cNvSpPr/>
          <p:nvPr/>
        </p:nvSpPr>
        <p:spPr>
          <a:xfrm>
            <a:off x="457200" y="4334256"/>
            <a:ext cx="64008" cy="54864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CDC2C680-C19F-1609-38AF-15891D85A4C6}"/>
              </a:ext>
            </a:extLst>
          </p:cNvPr>
          <p:cNvSpPr txBox="1"/>
          <p:nvPr/>
        </p:nvSpPr>
        <p:spPr>
          <a:xfrm>
            <a:off x="566928" y="4334256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83%</a:t>
            </a:r>
            <a:endParaRPr lang="en-US" sz="1800" dirty="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B76ECF6B-2392-0850-7226-9EFCD3D7EBDF}"/>
              </a:ext>
            </a:extLst>
          </p:cNvPr>
          <p:cNvSpPr txBox="1"/>
          <p:nvPr/>
        </p:nvSpPr>
        <p:spPr>
          <a:xfrm>
            <a:off x="1691640" y="4334256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Korea makes the memory: </a:t>
            </a:r>
            <a:r>
              <a:rPr lang="en-US" sz="9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 + Samsung share of HBM, the memory every AI accelerator needs</a:t>
            </a:r>
            <a:endParaRPr lang="en-US" sz="950" dirty="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1839E072-6123-4C38-8786-F60F748ADAF0}"/>
              </a:ext>
            </a:extLst>
          </p:cNvPr>
          <p:cNvSpPr/>
          <p:nvPr/>
        </p:nvSpPr>
        <p:spPr>
          <a:xfrm>
            <a:off x="457200" y="4937760"/>
            <a:ext cx="5486400" cy="54864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796507B9-26CE-AE70-7834-C6B470921F22}"/>
              </a:ext>
            </a:extLst>
          </p:cNvPr>
          <p:cNvSpPr/>
          <p:nvPr/>
        </p:nvSpPr>
        <p:spPr>
          <a:xfrm>
            <a:off x="457200" y="4937760"/>
            <a:ext cx="64008" cy="54864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47795983-34D6-A6AE-C30A-BDAD0D901FDE}"/>
              </a:ext>
            </a:extLst>
          </p:cNvPr>
          <p:cNvSpPr txBox="1"/>
          <p:nvPr/>
        </p:nvSpPr>
        <p:spPr>
          <a:xfrm>
            <a:off x="566928" y="493776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~55%</a:t>
            </a:r>
            <a:endParaRPr lang="en-US" sz="1800" dirty="0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B0F62E1A-E605-7017-5D54-F60672A6F1A9}"/>
              </a:ext>
            </a:extLst>
          </p:cNvPr>
          <p:cNvSpPr txBox="1"/>
          <p:nvPr/>
        </p:nvSpPr>
        <p:spPr>
          <a:xfrm>
            <a:off x="1691640" y="493776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Japan makes the tools: </a:t>
            </a:r>
            <a:r>
              <a:rPr lang="en-US" sz="9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Advantest share of chip test equipment; with Tokyo Electron ≈ 20% of the Nikkei</a:t>
            </a:r>
            <a:endParaRPr lang="en-US" sz="950" dirty="0"/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6093CA6C-100F-E9ED-3F79-5C17B0ABB72C}"/>
              </a:ext>
            </a:extLst>
          </p:cNvPr>
          <p:cNvSpPr/>
          <p:nvPr/>
        </p:nvSpPr>
        <p:spPr>
          <a:xfrm>
            <a:off x="6245352" y="1298448"/>
            <a:ext cx="5486400" cy="384048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AA26E584-D958-9ABD-2E2D-2954BDE29621}"/>
              </a:ext>
            </a:extLst>
          </p:cNvPr>
          <p:cNvSpPr txBox="1"/>
          <p:nvPr/>
        </p:nvSpPr>
        <p:spPr>
          <a:xfrm>
            <a:off x="6382512" y="1298448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DB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punishes bonds and buy-and-hold</a:t>
            </a:r>
            <a:endParaRPr lang="en-US" sz="1250" dirty="0"/>
          </a:p>
        </p:txBody>
      </p:sp>
      <p:pic>
        <p:nvPicPr>
          <p:cNvPr id="28" name="Image 0" descr="/home/user/natixis-case-comp/deck/fomc_dot_plot_compact.png">
            <a:extLst>
              <a:ext uri="{FF2B5EF4-FFF2-40B4-BE49-F238E27FC236}">
                <a16:creationId xmlns:a16="http://schemas.microsoft.com/office/drawing/2014/main" id="{A8A02E7C-76BE-9ACE-2DD1-9519A06CA7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5352" y="1783080"/>
            <a:ext cx="3291840" cy="1164187"/>
          </a:xfrm>
          <a:prstGeom prst="rect">
            <a:avLst/>
          </a:prstGeom>
        </p:spPr>
      </p:pic>
      <p:sp>
        <p:nvSpPr>
          <p:cNvPr id="29" name="Text 25">
            <a:extLst>
              <a:ext uri="{FF2B5EF4-FFF2-40B4-BE49-F238E27FC236}">
                <a16:creationId xmlns:a16="http://schemas.microsoft.com/office/drawing/2014/main" id="{F582258B-5746-E833-EDCC-A1AD9019A2EA}"/>
              </a:ext>
            </a:extLst>
          </p:cNvPr>
          <p:cNvSpPr txBox="1"/>
          <p:nvPr/>
        </p:nvSpPr>
        <p:spPr>
          <a:xfrm>
            <a:off x="6245352" y="297180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FOMC dot plot, 16 Sep 2026 (shaded: today's 3.75–4.00%)</a:t>
            </a:r>
            <a:endParaRPr lang="en-US" sz="750" dirty="0"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D4509F30-D7E3-835C-D82B-D038BF1B09E9}"/>
              </a:ext>
            </a:extLst>
          </p:cNvPr>
          <p:cNvSpPr txBox="1"/>
          <p:nvPr/>
        </p:nvSpPr>
        <p:spPr>
          <a:xfrm>
            <a:off x="9674352" y="1810512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Rates stay high</a:t>
            </a:r>
            <a:endParaRPr lang="en-US" sz="9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 median 4.125% to end-2027, cuts only from 2028; 12 dots see 4.375%.</a:t>
            </a:r>
            <a:endParaRPr lang="en-US" sz="950" dirty="0"/>
          </a:p>
        </p:txBody>
      </p:sp>
      <p:sp>
        <p:nvSpPr>
          <p:cNvPr id="31" name="Shape 27">
            <a:extLst>
              <a:ext uri="{FF2B5EF4-FFF2-40B4-BE49-F238E27FC236}">
                <a16:creationId xmlns:a16="http://schemas.microsoft.com/office/drawing/2014/main" id="{FE96CFDA-FEF3-26C8-109C-5C90BF4161E3}"/>
              </a:ext>
            </a:extLst>
          </p:cNvPr>
          <p:cNvSpPr/>
          <p:nvPr/>
        </p:nvSpPr>
        <p:spPr>
          <a:xfrm>
            <a:off x="6245352" y="3200400"/>
            <a:ext cx="5486400" cy="70408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8">
            <a:extLst>
              <a:ext uri="{FF2B5EF4-FFF2-40B4-BE49-F238E27FC236}">
                <a16:creationId xmlns:a16="http://schemas.microsoft.com/office/drawing/2014/main" id="{3B06FCF5-A0E6-5AC6-17D6-B44C737F864A}"/>
              </a:ext>
            </a:extLst>
          </p:cNvPr>
          <p:cNvSpPr/>
          <p:nvPr/>
        </p:nvSpPr>
        <p:spPr>
          <a:xfrm>
            <a:off x="6245352" y="3200400"/>
            <a:ext cx="64008" cy="704088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418F4A5E-E0C9-1E56-FD70-7549F4B2FB13}"/>
              </a:ext>
            </a:extLst>
          </p:cNvPr>
          <p:cNvSpPr txBox="1"/>
          <p:nvPr/>
        </p:nvSpPr>
        <p:spPr>
          <a:xfrm>
            <a:off x="6355080" y="3200400"/>
            <a:ext cx="10515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−4.0%</a:t>
            </a:r>
            <a:endParaRPr lang="en-US" sz="1800" dirty="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95C6258F-209B-198B-F730-D42762D8C167}"/>
              </a:ext>
            </a:extLst>
          </p:cNvPr>
          <p:cNvSpPr txBox="1"/>
          <p:nvPr/>
        </p:nvSpPr>
        <p:spPr>
          <a:xfrm>
            <a:off x="7479792" y="3227832"/>
            <a:ext cx="416052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bonds carry rate risk: </a:t>
            </a: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5-year bond loses ~4.0% per 1% rise.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Redeems from year 1; USD 75.8 today buys USD 100 in 5 years, so a 70% floor fits</a:t>
            </a:r>
            <a:endParaRPr lang="en-US" sz="900" dirty="0"/>
          </a:p>
        </p:txBody>
      </p:sp>
      <p:sp>
        <p:nvSpPr>
          <p:cNvPr id="35" name="Shape 31">
            <a:extLst>
              <a:ext uri="{FF2B5EF4-FFF2-40B4-BE49-F238E27FC236}">
                <a16:creationId xmlns:a16="http://schemas.microsoft.com/office/drawing/2014/main" id="{992BC3DD-2182-0371-B36A-A10205DB86BE}"/>
              </a:ext>
            </a:extLst>
          </p:cNvPr>
          <p:cNvSpPr/>
          <p:nvPr/>
        </p:nvSpPr>
        <p:spPr>
          <a:xfrm>
            <a:off x="6245352" y="3959352"/>
            <a:ext cx="5486400" cy="704088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2">
            <a:extLst>
              <a:ext uri="{FF2B5EF4-FFF2-40B4-BE49-F238E27FC236}">
                <a16:creationId xmlns:a16="http://schemas.microsoft.com/office/drawing/2014/main" id="{AF1F36E7-DB9F-AC36-648E-55B5A13A5CCE}"/>
              </a:ext>
            </a:extLst>
          </p:cNvPr>
          <p:cNvSpPr/>
          <p:nvPr/>
        </p:nvSpPr>
        <p:spPr>
          <a:xfrm>
            <a:off x="6245352" y="3959352"/>
            <a:ext cx="64008" cy="704088"/>
          </a:xfrm>
          <a:prstGeom prst="rect">
            <a:avLst/>
          </a:prstGeom>
          <a:solidFill>
            <a:srgbClr val="B23B3B"/>
          </a:solidFill>
          <a:ln w="12700">
            <a:solidFill>
              <a:srgbClr val="B23B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033FEF39-F312-F656-BB2B-9DDF4062AE7A}"/>
              </a:ext>
            </a:extLst>
          </p:cNvPr>
          <p:cNvSpPr txBox="1"/>
          <p:nvPr/>
        </p:nvSpPr>
        <p:spPr>
          <a:xfrm>
            <a:off x="6355080" y="3959352"/>
            <a:ext cx="10515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B2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91.2</a:t>
            </a:r>
            <a:endParaRPr lang="en-US" sz="1800" dirty="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2AEADDCD-C7A0-8491-B54F-756E7B1E3508}"/>
              </a:ext>
            </a:extLst>
          </p:cNvPr>
          <p:cNvSpPr txBox="1"/>
          <p:nvPr/>
        </p:nvSpPr>
        <p:spPr>
          <a:xfrm>
            <a:off x="7479792" y="3986784"/>
            <a:ext cx="416052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Volatility is at records: </a:t>
            </a: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VKOSPI's all-time high; KOSPI fell ~25% from June to August 2026.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Coupons pay on recovery, no timing needed; rich option premium funds them</a:t>
            </a:r>
            <a:endParaRPr lang="en-US" sz="900" dirty="0"/>
          </a:p>
        </p:txBody>
      </p:sp>
      <p:sp>
        <p:nvSpPr>
          <p:cNvPr id="39" name="Shape 35">
            <a:extLst>
              <a:ext uri="{FF2B5EF4-FFF2-40B4-BE49-F238E27FC236}">
                <a16:creationId xmlns:a16="http://schemas.microsoft.com/office/drawing/2014/main" id="{D6C07D25-7154-417B-C387-4475E4BF8A16}"/>
              </a:ext>
            </a:extLst>
          </p:cNvPr>
          <p:cNvSpPr/>
          <p:nvPr/>
        </p:nvSpPr>
        <p:spPr>
          <a:xfrm>
            <a:off x="6245352" y="4718304"/>
            <a:ext cx="5486400" cy="70408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6">
            <a:extLst>
              <a:ext uri="{FF2B5EF4-FFF2-40B4-BE49-F238E27FC236}">
                <a16:creationId xmlns:a16="http://schemas.microsoft.com/office/drawing/2014/main" id="{3254915A-FBCB-BC6A-E487-04DADF0FE879}"/>
              </a:ext>
            </a:extLst>
          </p:cNvPr>
          <p:cNvSpPr/>
          <p:nvPr/>
        </p:nvSpPr>
        <p:spPr>
          <a:xfrm>
            <a:off x="6245352" y="4718304"/>
            <a:ext cx="64008" cy="704088"/>
          </a:xfrm>
          <a:prstGeom prst="rect">
            <a:avLst/>
          </a:prstGeom>
          <a:solidFill>
            <a:srgbClr val="B23B3B"/>
          </a:solidFill>
          <a:ln w="12700">
            <a:solidFill>
              <a:srgbClr val="B23B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7">
            <a:extLst>
              <a:ext uri="{FF2B5EF4-FFF2-40B4-BE49-F238E27FC236}">
                <a16:creationId xmlns:a16="http://schemas.microsoft.com/office/drawing/2014/main" id="{1212A6B6-1F09-2961-A66B-545079427185}"/>
              </a:ext>
            </a:extLst>
          </p:cNvPr>
          <p:cNvSpPr txBox="1"/>
          <p:nvPr/>
        </p:nvSpPr>
        <p:spPr>
          <a:xfrm>
            <a:off x="6355080" y="4718304"/>
            <a:ext cx="10515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B2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~92%</a:t>
            </a:r>
            <a:endParaRPr lang="en-US" sz="1800" dirty="0"/>
          </a:p>
        </p:txBody>
      </p:sp>
      <p:sp>
        <p:nvSpPr>
          <p:cNvPr id="42" name="Text 38">
            <a:extLst>
              <a:ext uri="{FF2B5EF4-FFF2-40B4-BE49-F238E27FC236}">
                <a16:creationId xmlns:a16="http://schemas.microsoft.com/office/drawing/2014/main" id="{E2EAA86C-20FF-6AC3-32D1-838597E72E3A}"/>
              </a:ext>
            </a:extLst>
          </p:cNvPr>
          <p:cNvSpPr txBox="1"/>
          <p:nvPr/>
        </p:nvSpPr>
        <p:spPr>
          <a:xfrm>
            <a:off x="7479792" y="4745736"/>
            <a:ext cx="416052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Concentrated and fully priced: </a:t>
            </a: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advanced chips come from Taiwan; Nikkei CAPE 38.6×.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Diversified five-ETF basket; capping upside at the coupon costs little</a:t>
            </a:r>
            <a:endParaRPr lang="en-US" sz="900" dirty="0"/>
          </a:p>
        </p:txBody>
      </p:sp>
      <p:sp>
        <p:nvSpPr>
          <p:cNvPr id="43" name="Shape 39">
            <a:extLst>
              <a:ext uri="{FF2B5EF4-FFF2-40B4-BE49-F238E27FC236}">
                <a16:creationId xmlns:a16="http://schemas.microsoft.com/office/drawing/2014/main" id="{8CFAAFE3-C473-5E57-0788-931559BFD21E}"/>
              </a:ext>
            </a:extLst>
          </p:cNvPr>
          <p:cNvSpPr/>
          <p:nvPr/>
        </p:nvSpPr>
        <p:spPr>
          <a:xfrm>
            <a:off x="457200" y="5541264"/>
            <a:ext cx="11274552" cy="45720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0">
            <a:extLst>
              <a:ext uri="{FF2B5EF4-FFF2-40B4-BE49-F238E27FC236}">
                <a16:creationId xmlns:a16="http://schemas.microsoft.com/office/drawing/2014/main" id="{00A703C6-DBBD-8716-3B33-2702199AE57E}"/>
              </a:ext>
            </a:extLst>
          </p:cNvPr>
          <p:cNvSpPr txBox="1"/>
          <p:nvPr/>
        </p:nvSpPr>
        <p:spPr>
          <a:xfrm>
            <a:off x="594360" y="5541264"/>
            <a:ext cx="11000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Whichever AI company wins, it needs Asia's chips, memory and tools. In 2026's market, the way to own them is an autocall with a 30% buffer and a 70% floor.</a:t>
            </a:r>
            <a:endParaRPr lang="en-US" sz="1150" dirty="0"/>
          </a:p>
        </p:txBody>
      </p:sp>
      <p:sp>
        <p:nvSpPr>
          <p:cNvPr id="45" name="Text 41">
            <a:extLst>
              <a:ext uri="{FF2B5EF4-FFF2-40B4-BE49-F238E27FC236}">
                <a16:creationId xmlns:a16="http://schemas.microsoft.com/office/drawing/2014/main" id="{E029A8A5-4DF0-1EF0-5CC5-1CF6EFD27C92}"/>
              </a:ext>
            </a:extLst>
          </p:cNvPr>
          <p:cNvSpPr txBox="1"/>
          <p:nvPr/>
        </p:nvSpPr>
        <p:spPr>
          <a:xfrm>
            <a:off x="457200" y="6035040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WSTS; company capex guidance; Counterpoint (foundry, HBM); TrendForce (DRAM); industry research (test equipment); J.P. Morgan AWM 2026 Outlook; Federal Reserve SEP (16 Sep 2026, dots read from chart); Herald / SBS (VKOSPI); FN News, BIT Research (KOSPI); Siblis (CAPE); case USD funding grid. Full list: deck/thesis_sources.md.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31582183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Strategy: our five-ETF basket sits at the low-risk edge of every possible mix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11274552" cy="0"/>
          </a:xfrm>
          <a:prstGeom prst="line">
            <a:avLst/>
          </a:prstGeom>
          <a:noFill/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6382512"/>
            <a:ext cx="11274552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457200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kern="0" spc="1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837176" y="6364224"/>
            <a:ext cx="2514600" cy="4572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4288536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129016" y="6446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kern="0" spc="1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969264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100mn across five Bloomberg-listed ETFs; our weights (red star) deliver ~26% expected return for only ~17% volatility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325880"/>
            <a:ext cx="3429000" cy="329184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457200" y="132588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Allocation</a:t>
            </a:r>
            <a:endParaRPr lang="en-US" sz="1150" dirty="0"/>
          </a:p>
        </p:txBody>
      </p:sp>
      <p:graphicFrame>
        <p:nvGraphicFramePr>
          <p:cNvPr id="12" name="Chart 0"/>
          <p:cNvGraphicFramePr/>
          <p:nvPr/>
        </p:nvGraphicFramePr>
        <p:xfrm>
          <a:off x="777240" y="1691640"/>
          <a:ext cx="1874520" cy="1874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1252728" y="23774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</a:t>
            </a:r>
            <a:endParaRPr lang="en-US" sz="12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100mn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2743200" y="1874520"/>
            <a:ext cx="1143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in the semiconductor core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3119 HK + 2644 JP = 50%; Korea adds memory, Taiwan the foundry, 00878 the ESG income.</a:t>
            </a:r>
            <a:endParaRPr lang="en-US" sz="8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/>
        </p:nvGraphicFramePr>
        <p:xfrm>
          <a:off x="457200" y="3703320"/>
          <a:ext cx="3429000" cy="1645920"/>
        </p:xfrm>
        <a:graphic>
          <a:graphicData uri="http://schemas.openxmlformats.org/drawingml/2006/table">
            <a:tbl>
              <a:tblPr/>
              <a:tblGrid>
                <a:gridCol w="274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3119 HK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Pan-Asian chip leaders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4F86A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EWY US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Korea: memory for AI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8DB3D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EWT US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Taiwan: the AI foundry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A6A6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2644 JP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Japan: chip-making tools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E9E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00878 TT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ESG dividend anchor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6" name="Shape 12"/>
          <p:cNvSpPr/>
          <p:nvPr/>
        </p:nvSpPr>
        <p:spPr>
          <a:xfrm>
            <a:off x="4069080" y="1325880"/>
            <a:ext cx="4572000" cy="329184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 txBox="1"/>
          <p:nvPr/>
        </p:nvSpPr>
        <p:spPr>
          <a:xfrm>
            <a:off x="4069080" y="132588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vs return: single ETFs and random mixes</a:t>
            </a:r>
            <a:endParaRPr lang="en-US" sz="1150" dirty="0"/>
          </a:p>
        </p:txBody>
      </p:sp>
      <p:pic>
        <p:nvPicPr>
          <p:cNvPr id="18" name="Image 0" descr="/home/user/natixis-case-comp/strategy/risk_return_clou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0" y="1719072"/>
            <a:ext cx="4480560" cy="3520835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8823960" y="1325880"/>
            <a:ext cx="2907792" cy="329184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5"/>
          <p:cNvSpPr txBox="1"/>
          <p:nvPr/>
        </p:nvSpPr>
        <p:spPr>
          <a:xfrm>
            <a:off x="8823960" y="132588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read it</a:t>
            </a:r>
            <a:endParaRPr lang="en-US" sz="1150" dirty="0"/>
          </a:p>
        </p:txBody>
      </p:sp>
      <p:sp>
        <p:nvSpPr>
          <p:cNvPr id="21" name="Text 16"/>
          <p:cNvSpPr txBox="1"/>
          <p:nvPr/>
        </p:nvSpPr>
        <p:spPr>
          <a:xfrm>
            <a:off x="8869680" y="1719072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Orange dots: </a:t>
            </a:r>
            <a:r>
              <a:rPr lang="en-US" sz="9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ETF on its own (2644 is the dot near 0.26, 0.25).</a:t>
            </a:r>
            <a:endParaRPr lang="en-US" sz="9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star: </a:t>
            </a:r>
            <a:r>
              <a:rPr lang="en-US" sz="9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basket (35 / 20 / 15 / 15 / 15).</a:t>
            </a:r>
            <a:endParaRPr lang="en-US" sz="9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dots: </a:t>
            </a:r>
            <a:r>
              <a:rPr lang="en-US" sz="9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thousands of random weightings of the five ETFs; lighter = more return per unit of risk.</a:t>
            </a:r>
            <a:endParaRPr lang="en-US" sz="9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Axes: </a:t>
            </a:r>
            <a:r>
              <a:rPr lang="en-US" sz="90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annualised volatility (risk) and expected return.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8823960" y="3108960"/>
            <a:ext cx="2907792" cy="2331720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8"/>
          <p:cNvSpPr txBox="1"/>
          <p:nvPr/>
        </p:nvSpPr>
        <p:spPr>
          <a:xfrm>
            <a:off x="8915400" y="3182112"/>
            <a:ext cx="2743200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Takeaways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basket (red star): ~26% return at ~17% volatility, the lowest risk of all the mixes shown.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random mixes need 22–32% volatility for the same 25–28% return: our weights get it with less risk.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risk than any single ETF, about a third of EWY's (~49%), while giving up only a few points versus EWT's ~31%.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Why: 3119 HK (35%) anchors the basket; the other four move differently enough to pull risk down.</a:t>
            </a:r>
            <a:endParaRPr lang="en-US" sz="950" dirty="0"/>
          </a:p>
        </p:txBody>
      </p:sp>
      <p:sp>
        <p:nvSpPr>
          <p:cNvPr id="24" name="Shape 19"/>
          <p:cNvSpPr/>
          <p:nvPr/>
        </p:nvSpPr>
        <p:spPr>
          <a:xfrm>
            <a:off x="457200" y="5577840"/>
            <a:ext cx="11274552" cy="45720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0"/>
          <p:cNvSpPr txBox="1"/>
          <p:nvPr/>
        </p:nvSpPr>
        <p:spPr>
          <a:xfrm>
            <a:off x="594360" y="5577840"/>
            <a:ext cx="11000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basket (red star): ~26% return for ~17% volatility, less risk than any single ETF or random mix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457200" y="6089904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Risk/return chart: team analysis app (annualised from historical data; red star = our basket at 35/20/15/15/15; values read from the chart). Liquidity: 3119 HK is borderline against the USD 5M/day rule, verify on Bloomberg.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1399</Words>
  <Application>Microsoft Macintosh PowerPoint</Application>
  <PresentationFormat>Widescreen</PresentationFormat>
  <Paragraphs>109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5" baseType="lpstr">
      <vt:lpstr>Arial</vt:lpstr>
      <vt:lpstr>Office Theme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Investment thesis on one page</dc:title>
  <dc:subject>PptxGenJS Presentation</dc:subject>
  <dc:creator>PptxGenJS</dc:creator>
  <cp:lastModifiedBy>LIU, Hon Leung</cp:lastModifiedBy>
  <cp:revision>9</cp:revision>
  <dcterms:created xsi:type="dcterms:W3CDTF">2026-10-08T11:42:15Z</dcterms:created>
  <dcterms:modified xsi:type="dcterms:W3CDTF">2026-10-08T12:34:08Z</dcterms:modified>
</cp:coreProperties>
</file>