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five Asian AI-hardware ETFs, simulated over five years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across five Bloomberg-listed ETFs; Monte Carlo per USD 100,000 invested (×1,000 for the mandate)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77240" y="1691640"/>
          <a:ext cx="1874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1252728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18745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342900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777240"/>
                <a:gridCol w="182880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69080" y="1325880"/>
            <a:ext cx="580644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1325880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Monte Carlo (value per USD 100,000)</a:t>
            </a:r>
            <a:endParaRPr lang="en-US" sz="1150" dirty="0"/>
          </a:p>
        </p:txBody>
      </p:sp>
      <p:pic>
        <p:nvPicPr>
          <p:cNvPr id="18" name="Image 0" descr="/home/user/natixis-case-comp/strategy/mc_checkpoi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719072"/>
            <a:ext cx="5806440" cy="330832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0058400" y="1325880"/>
            <a:ext cx="167335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0058400" y="1325880"/>
            <a:ext cx="54864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0168128" y="1371600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10168128" y="1764792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Median, Year 5 (2.8×, +22.8% a year)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10058400" y="2331720"/>
            <a:ext cx="167335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058400" y="2331720"/>
            <a:ext cx="54864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0168128" y="2377440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1700" dirty="0"/>
          </a:p>
        </p:txBody>
      </p:sp>
      <p:sp>
        <p:nvSpPr>
          <p:cNvPr id="26" name="Text 21"/>
          <p:cNvSpPr txBox="1"/>
          <p:nvPr/>
        </p:nvSpPr>
        <p:spPr>
          <a:xfrm>
            <a:off x="10168128" y="2770632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5th percentile: above the start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10058400" y="3337560"/>
            <a:ext cx="167335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0058400" y="3337560"/>
            <a:ext cx="54864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168128" y="3383280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1700" dirty="0"/>
          </a:p>
        </p:txBody>
      </p:sp>
      <p:sp>
        <p:nvSpPr>
          <p:cNvPr id="30" name="Text 25"/>
          <p:cNvSpPr txBox="1"/>
          <p:nvPr/>
        </p:nvSpPr>
        <p:spPr>
          <a:xfrm>
            <a:off x="10168128" y="3776472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95th percentile (7.7×)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10058400" y="4343400"/>
            <a:ext cx="167335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10058400" y="4343400"/>
            <a:ext cx="54864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10168128" y="4389120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10168128" y="4782312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≥ USD 70,000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five bottlenecks: the median grows 2.8× in five years, and even the bearish path ends above the start ($103.6k)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 (annual checkpoints; lines connect the yearly values; target USD 70,000 = 1st percentile). Liquidity: 3119 HK is borderline against the USD 5M/day rule, verify on Bloomberg.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checkpoints: the downside stays above the USD 70,000 target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portfolio value at each year-end, per USD 100,000 invested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value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Bearish 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 95th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≥ target (USD 70,000)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$122,798.06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$77,939.19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$189,886.46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$150,858.02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$79,780.84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$286,013.81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$186,215.83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$83,307.87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$406,264.32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$228,430.07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$92,823.04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$564,512.06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$279,609.52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$103,554.03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$770,498.81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14800"/>
            <a:ext cx="7498080" cy="457200"/>
          </a:xfrm>
          <a:prstGeom prst="rect">
            <a:avLst/>
          </a:prstGeom>
          <a:ln w="22225">
            <a:solidFill>
              <a:srgbClr val="2C5F8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71600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444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is the stress point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17373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5th percentile falls to $77.9k (−22%) before recovering every year after.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450592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2523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holds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16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97.5% of paths stay at or above USD 70,000 in every year, rising to 99.0% at Year 5.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183880" y="3529584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602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compounds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895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$279.6k at Year 5 (+22.8% a year); for the mandate, about USD 280mn.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growth portfolio whose bad years stay above the USD 70,000 line in 97–99% of simulated paths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app, Annual Portfolio Checkpoint Table. Probabilities are shares of simulated paths; they are model outputs, not guarantees.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Strategy: five-ETF Asian AI-hardware portfolio</dc:title>
  <dc:subject>PptxGenJS Presentation</dc:subject>
  <dc:creator>PptxGenJS</dc:creator>
  <cp:lastModifiedBy>PptxGenJS</cp:lastModifiedBy>
  <cp:revision>1</cp:revision>
  <dcterms:created xsi:type="dcterms:W3CDTF">2026-10-08T12:00:40Z</dcterms:created>
  <dcterms:modified xsi:type="dcterms:W3CDTF">2026-10-08T12:00:40Z</dcterms:modified>
</cp:coreProperties>
</file>