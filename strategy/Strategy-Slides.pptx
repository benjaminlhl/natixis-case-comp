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2"/>
              </a:solidFill>
              <a:effectLst/>
            </c:spPr>
          </c:dPt>
          <c:dPt>
            <c:idx val="1"/>
            <c:bubble3D val="0"/>
            <c:spPr>
              <a:solidFill>
                <a:srgbClr val="4F86AE"/>
              </a:solidFill>
              <a:effectLst/>
            </c:spPr>
          </c:dPt>
          <c:dPt>
            <c:idx val="2"/>
            <c:bubble3D val="0"/>
            <c:spPr>
              <a:solidFill>
                <a:srgbClr val="8DB3D1"/>
              </a:solidFill>
              <a:effectLst/>
            </c:spPr>
          </c:dPt>
          <c:dPt>
            <c:idx val="3"/>
            <c:bubble3D val="0"/>
            <c:spPr>
              <a:solidFill>
                <a:srgbClr val="A6A6A6"/>
              </a:solidFill>
              <a:effectLst/>
            </c:spPr>
          </c:dPt>
          <c:dPt>
            <c:idx val="4"/>
            <c:bubble3D val="0"/>
            <c:spPr>
              <a:solidFill>
                <a:srgbClr val="2E9E4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3119 HK</c:v>
                </c:pt>
                <c:pt idx="1">
                  <c:v>EWY US</c:v>
                </c:pt>
                <c:pt idx="2">
                  <c:v>EWT US</c:v>
                </c:pt>
                <c:pt idx="3">
                  <c:v>2644 JP</c:v>
                </c:pt>
                <c:pt idx="4">
                  <c:v>00878 TT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five Asian AI-hardware ETFs, combined to cut risk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3717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100mn across five Bloomberg-listed ETFs; mixing them gives most of the return with less volatility than the riskiest funds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3429000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3258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77240" y="1691640"/>
          <a:ext cx="1874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1252728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187452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in the semiconductor 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3119 HK + 2644 JP = 50%; Korea adds memory, Taiwan the foundry, 00878 the ESG income.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342900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777240"/>
                <a:gridCol w="1828800"/>
                <a:gridCol w="548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 HK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Pan-Asian chip leaders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F86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 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Korea: memory for AI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DB3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 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Taiwan: the AI foundry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 JP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Japan: chip-making tools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9E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TT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ESG dividend anchor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069080" y="1325880"/>
            <a:ext cx="4572000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069080" y="1325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vs return: single ETFs and random mixes</a:t>
            </a:r>
            <a:endParaRPr lang="en-US" sz="1150" dirty="0"/>
          </a:p>
        </p:txBody>
      </p:sp>
      <p:pic>
        <p:nvPicPr>
          <p:cNvPr id="18" name="Image 0" descr="/home/user/natixis-case-comp/strategy/risk_return_clou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19072"/>
            <a:ext cx="4480560" cy="352083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23960" y="1325880"/>
            <a:ext cx="2907792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23960" y="13258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869680" y="171907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dots: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ETF on its own (2644 is the dot near 0.26, 0.25).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dots: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random weightings of the five ETFs; lighter = more return per unit of risk.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volatility (risk) and expected return.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823960" y="3108960"/>
            <a:ext cx="2907792" cy="233172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915400" y="3182112"/>
            <a:ext cx="2743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cuts risk: most mixes sit at 22–32% volatility, far below EWY (~49%), while still returning 25–28%.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3119 HK has the best risk/return on its own, so it gets the largest weight (35%).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EWY is the riskiest for its return, so it is held for memory exposure at 20%, not more.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EWT has the highest return (~31%) and 2644 one of the lowest volatilities (~26%): 15% each rounds out the chain.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theme, five bottlenecks: weighted towards the best risk/return (3119 HK), diversified to keep volatility down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Risk/return chart: team analysis app (annualised from historical data; red star as marked in the app). Liquidity: 3119 HK is borderline against the USD 5M/day rule, verify on Bloomberg.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Carlo: the median portfolio grows 2.8× in five years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3717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simulation of the five-ETF portfolio, per USD 100,000 invested (×1,000 for the USD 100mn mandate)</a:t>
            </a:r>
            <a:endParaRPr lang="en-US" sz="1100" dirty="0"/>
          </a:p>
        </p:txBody>
      </p:sp>
      <p:pic>
        <p:nvPicPr>
          <p:cNvPr id="10" name="Image 0" descr="/home/user/natixis-case-comp/strategy/mc_check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7498080" cy="427216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325880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83880" y="1325880"/>
            <a:ext cx="64008" cy="9144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6760" y="1380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$279.6k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at Year 5: 2.8× the start, +22.8% a year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83880" y="2350008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3880" y="235000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$103.6k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862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Bearish (5th percentile): still above the start, +0.7% a year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183880" y="3374136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83880" y="3374136"/>
            <a:ext cx="64008" cy="914400"/>
          </a:xfrm>
          <a:prstGeom prst="rect">
            <a:avLst/>
          </a:prstGeom>
          <a:solidFill>
            <a:srgbClr val="2E9E44"/>
          </a:solidFill>
          <a:ln w="12700">
            <a:solidFill>
              <a:srgbClr val="2E9E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$770.5k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(95th percentile): 7.7× the start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83880" y="4398264"/>
            <a:ext cx="354787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83880" y="4398264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66760" y="4453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99.0%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4910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ending at or above the USD 70,000 target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the bearish path ends above the start ($103.6k); the USD 70,000 target is the 1st percentile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Monte Carlo app (annual checkpoints of the simulated paths). Lines connect the yearly values. Results depend on the app's return and volatility inputs; refresh with Bloomberg data at the 17 Sep 2026 trade date.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checkpoints: the downside stays above the USD 70,000 target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3717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portfolio value at each year-end, per USD 100,000 invested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value (USD)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Bearish 5th percentile (USD)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 95th percentile (USD)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≥ target (USD 70,000)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$122,798.06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$77,939.19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$189,886.46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$150,858.02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$79,780.84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$286,013.81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97.46%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$186,215.83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$83,307.87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$406,264.32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$228,430.07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$92,823.04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$564,512.06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98.28%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$279,609.52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$103,554.03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$770,498.81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114800"/>
            <a:ext cx="7498080" cy="457200"/>
          </a:xfrm>
          <a:prstGeom prst="rect">
            <a:avLst/>
          </a:prstGeom>
          <a:ln w="22225">
            <a:solidFill>
              <a:srgbClr val="2C5F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83880" y="1371600"/>
            <a:ext cx="3547872" cy="969264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is the stress point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5th percentile falls to $77.9k (−22%) before recovering every year after.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83880" y="2450592"/>
            <a:ext cx="3547872" cy="969264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523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holds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97.5% of paths stay at or above USD 70,000 in every year, rising to 99.0% at Year 5.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83880" y="3529584"/>
            <a:ext cx="3547872" cy="969264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3602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compounds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8953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$279.6k at Year 5 (+22.8% a year); for the mandate, about USD 280mn.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growth portfolio whose bad years stay above the USD 70,000 line in 97–99% of simulated paths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Monte Carlo app, Annual Portfolio Checkpoint Table. Probabilities are shares of simulated paths; they are model outputs, not guarantees.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Strategy: five-ETF Asian AI-hardware portfolio</dc:title>
  <dc:subject>PptxGenJS Presentation</dc:subject>
  <dc:creator>PptxGenJS</dc:creator>
  <cp:lastModifiedBy>PptxGenJS</cp:lastModifiedBy>
  <cp:revision>1</cp:revision>
  <dcterms:created xsi:type="dcterms:W3CDTF">2026-10-08T12:05:52Z</dcterms:created>
  <dcterms:modified xsi:type="dcterms:W3CDTF">2026-10-08T12:05:52Z</dcterms:modified>
</cp:coreProperties>
</file>