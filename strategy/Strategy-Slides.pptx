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charts/chart1.xml" ContentType="application/vnd.openxmlformats-officedocument.drawingml.chart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</p:sldIdLst>
  <p:notesMasterIdLst>
    <p:notesMasterId r:id="rId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notesMaster" Target="notesMasters/notesMaster1.xml"/><Relationship Id="rId6" Type="http://schemas.openxmlformats.org/officeDocument/2006/relationships/presProps" Target="presProps.xml"/><Relationship Id="rId7" Type="http://schemas.openxmlformats.org/officeDocument/2006/relationships/viewProps" Target="viewProps.xml"/><Relationship Id="rId8" Type="http://schemas.openxmlformats.org/officeDocument/2006/relationships/theme" Target="theme/theme1.xml"/><Relationship Id="rId9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Weight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2C5F82"/>
              </a:solidFill>
              <a:effectLst/>
            </c:spPr>
          </c:dPt>
          <c:dPt>
            <c:idx val="1"/>
            <c:bubble3D val="0"/>
            <c:spPr>
              <a:solidFill>
                <a:srgbClr val="4F86AE"/>
              </a:solidFill>
              <a:effectLst/>
            </c:spPr>
          </c:dPt>
          <c:dPt>
            <c:idx val="2"/>
            <c:bubble3D val="0"/>
            <c:spPr>
              <a:solidFill>
                <a:srgbClr val="8DB3D1"/>
              </a:solidFill>
              <a:effectLst/>
            </c:spPr>
          </c:dPt>
          <c:dPt>
            <c:idx val="3"/>
            <c:bubble3D val="0"/>
            <c:spPr>
              <a:solidFill>
                <a:srgbClr val="A6A6A6"/>
              </a:solidFill>
              <a:effectLst/>
            </c:spPr>
          </c:dPt>
          <c:dPt>
            <c:idx val="4"/>
            <c:bubble3D val="0"/>
            <c:spPr>
              <a:solidFill>
                <a:srgbClr val="2E9E44"/>
              </a:solidFill>
              <a:effectLst/>
            </c:spPr>
          </c:dPt>
          <c:dLbls>
            <c:dLbl>
              <c:idx val="0"/>
              <c:numFmt formatCode="General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"/>
              <c:numFmt formatCode="General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numFmt formatCode="General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3"/>
              <c:numFmt formatCode="General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4"/>
              <c:numFmt formatCode="General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0"/>
              <c:showBubbleSize val="0"/>
            </c:dLbl>
            <c:numFmt formatCode="General" sourceLinked="0"/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Sheet1!$A$2:$A$6</c:f>
              <c:strCache>
                <c:ptCount val="5"/>
                <c:pt idx="0">
                  <c:v>3119 HK</c:v>
                </c:pt>
                <c:pt idx="1">
                  <c:v>EWY US</c:v>
                </c:pt>
                <c:pt idx="2">
                  <c:v>EWT US</c:v>
                </c:pt>
                <c:pt idx="3">
                  <c:v>2644 JP</c:v>
                </c:pt>
                <c:pt idx="4">
                  <c:v>00878 TT</c:v>
                </c:pt>
              </c:strCache>
            </c:strRef>
          </c:cat>
          <c:val>
            <c:numRef>
              <c:f>Sheet1!$B$2:$B$6</c:f>
              <c:numCache>
                <c:ptCount val="5"/>
                <c:pt idx="0">
                  <c:v>35</c:v>
                </c:pt>
                <c:pt idx="1">
                  <c:v>20</c:v>
                </c:pt>
                <c:pt idx="2">
                  <c:v>15</c:v>
                </c:pt>
                <c:pt idx="3">
                  <c:v>15</c:v>
                </c:pt>
                <c:pt idx="4">
                  <c:v>15</c:v>
                </c:pt>
              </c:numCache>
            </c:numRef>
          </c:val>
        </c:ser>
        <c:firstSliceAng val="0"/>
        <c:holeSize val="52"/>
      </c:doughnutChart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image" Target="../media/image-1-1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26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Strategy: our five-ETF basket sits at the low-risk edge of every possible mix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457200" y="896112"/>
            <a:ext cx="11274552" cy="0"/>
          </a:xfrm>
          <a:prstGeom prst="line">
            <a:avLst/>
          </a:prstGeom>
          <a:noFill/>
          <a:ln w="12700">
            <a:solidFill>
              <a:srgbClr val="2C5F82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57200" y="6382512"/>
            <a:ext cx="11274552" cy="0"/>
          </a:xfrm>
          <a:prstGeom prst="line">
            <a:avLst/>
          </a:prstGeom>
          <a:noFill/>
          <a:ln w="9525">
            <a:solidFill>
              <a:srgbClr val="BFBFBF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457200" y="6446520"/>
            <a:ext cx="3611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spc="100" kern="0" dirty="0">
                <a:solidFill>
                  <a:srgbClr val="5959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ANALYSIS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4837176" y="6364224"/>
            <a:ext cx="2514600" cy="45720"/>
          </a:xfrm>
          <a:prstGeom prst="rect">
            <a:avLst/>
          </a:prstGeom>
          <a:solidFill>
            <a:srgbClr val="2C5F82"/>
          </a:solidFill>
          <a:ln w="12700">
            <a:solidFill>
              <a:srgbClr val="2C5F82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4288536" y="6446520"/>
            <a:ext cx="3611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2C5F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STRATEGY</a:t>
            </a:r>
            <a:endParaRPr lang="en-US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8129016" y="6446520"/>
            <a:ext cx="3611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spc="100" kern="0" dirty="0">
                <a:solidFill>
                  <a:srgbClr val="5959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APPENDIX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457200" y="969264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959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USD 100mn across five Bloomberg-listed ETFs; our weights (red star) deliver ~26% expected return for only ~17% volatility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57200" y="1325880"/>
            <a:ext cx="3429000" cy="329184"/>
          </a:xfrm>
          <a:prstGeom prst="rect">
            <a:avLst/>
          </a:prstGeom>
          <a:solidFill>
            <a:srgbClr val="2C5F82"/>
          </a:solidFill>
          <a:ln w="12700">
            <a:solidFill>
              <a:srgbClr val="2C5F82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457200" y="1325880"/>
            <a:ext cx="34290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Allocation</a:t>
            </a:r>
            <a:endParaRPr lang="en-US" sz="1150" dirty="0"/>
          </a:p>
        </p:txBody>
      </p:sp>
      <p:graphicFrame>
        <p:nvGraphicFramePr>
          <p:cNvPr id="12" name="Chart 0" descr=""/>
          <p:cNvGraphicFramePr/>
          <p:nvPr/>
        </p:nvGraphicFramePr>
        <p:xfrm>
          <a:off x="777240" y="1691640"/>
          <a:ext cx="1874520" cy="18745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3" name="Text 10"/>
          <p:cNvSpPr txBox="1"/>
          <p:nvPr/>
        </p:nvSpPr>
        <p:spPr>
          <a:xfrm>
            <a:off x="1252728" y="2377440"/>
            <a:ext cx="914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959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USD</a:t>
            </a:r>
            <a:endParaRPr lang="en-US" sz="1200" dirty="0"/>
          </a:p>
          <a:p>
            <a:pPr algn="ctr" indent="0" marL="0">
              <a:buNone/>
            </a:pPr>
            <a:r>
              <a:rPr lang="en-US" sz="1300" b="1" dirty="0">
                <a:solidFill>
                  <a:srgbClr val="2C5F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100mn</a:t>
            </a:r>
            <a:endParaRPr lang="en-US" sz="1200" dirty="0"/>
          </a:p>
        </p:txBody>
      </p:sp>
      <p:sp>
        <p:nvSpPr>
          <p:cNvPr id="14" name="Text 11"/>
          <p:cNvSpPr txBox="1"/>
          <p:nvPr/>
        </p:nvSpPr>
        <p:spPr>
          <a:xfrm>
            <a:off x="2743200" y="1874520"/>
            <a:ext cx="11430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b="1" dirty="0">
                <a:solidFill>
                  <a:srgbClr val="2C5F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Half in the semiconductor core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26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3119 HK + 2644 JP = 50%; Korea adds memory, Taiwan the foundry, 00878 the ESG income.</a:t>
            </a:r>
            <a:endParaRPr lang="en-US" sz="850" dirty="0"/>
          </a:p>
        </p:txBody>
      </p:sp>
      <p:graphicFrame>
        <p:nvGraphicFramePr>
          <p:cNvPr id="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3703320"/>
          <a:ext cx="3429000" cy="914400"/>
        </p:xfrm>
        <a:graphic>
          <a:graphicData uri="http://schemas.openxmlformats.org/drawingml/2006/table">
            <a:tbl>
              <a:tblPr/>
              <a:tblGrid>
                <a:gridCol w="274320"/>
                <a:gridCol w="777240"/>
                <a:gridCol w="1828800"/>
                <a:gridCol w="548640"/>
              </a:tblGrid>
              <a:tr h="3291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C5F8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■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3119 HK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Pan-Asian chip leaders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35%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4F86A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■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EWY US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Korea: memory for AI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20%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8DB3D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■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EWT US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Taiwan: the AI foundry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15%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A6A6A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■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2644 JP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Japan: chip-making tools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15%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E9E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■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00878 TT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ESG dividend anchor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15%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6" name="Shape 12"/>
          <p:cNvSpPr/>
          <p:nvPr/>
        </p:nvSpPr>
        <p:spPr>
          <a:xfrm>
            <a:off x="4069080" y="1325880"/>
            <a:ext cx="4572000" cy="329184"/>
          </a:xfrm>
          <a:prstGeom prst="rect">
            <a:avLst/>
          </a:prstGeom>
          <a:solidFill>
            <a:srgbClr val="2C5F82"/>
          </a:solidFill>
          <a:ln w="12700">
            <a:solidFill>
              <a:srgbClr val="2C5F82"/>
            </a:solidFill>
            <a:prstDash val="solid"/>
          </a:ln>
        </p:spPr>
      </p:sp>
      <p:sp>
        <p:nvSpPr>
          <p:cNvPr id="17" name="Text 13"/>
          <p:cNvSpPr txBox="1"/>
          <p:nvPr/>
        </p:nvSpPr>
        <p:spPr>
          <a:xfrm>
            <a:off x="4069080" y="1325880"/>
            <a:ext cx="45720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Risk vs return: single ETFs and random mixes</a:t>
            </a:r>
            <a:endParaRPr lang="en-US" sz="1150" dirty="0"/>
          </a:p>
        </p:txBody>
      </p:sp>
      <p:pic>
        <p:nvPicPr>
          <p:cNvPr id="18" name="Image 0" descr="/home/user/natixis-case-comp/strategy/risk_return_cloud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0" y="1719072"/>
            <a:ext cx="4480560" cy="3520835"/>
          </a:xfrm>
          <a:prstGeom prst="rect">
            <a:avLst/>
          </a:prstGeom>
        </p:spPr>
      </p:pic>
      <p:sp>
        <p:nvSpPr>
          <p:cNvPr id="19" name="Shape 14"/>
          <p:cNvSpPr/>
          <p:nvPr/>
        </p:nvSpPr>
        <p:spPr>
          <a:xfrm>
            <a:off x="8823960" y="1325880"/>
            <a:ext cx="2907792" cy="329184"/>
          </a:xfrm>
          <a:prstGeom prst="rect">
            <a:avLst/>
          </a:prstGeom>
          <a:solidFill>
            <a:srgbClr val="2C5F82"/>
          </a:solidFill>
          <a:ln w="12700">
            <a:solidFill>
              <a:srgbClr val="2C5F82"/>
            </a:solidFill>
            <a:prstDash val="solid"/>
          </a:ln>
        </p:spPr>
      </p:sp>
      <p:sp>
        <p:nvSpPr>
          <p:cNvPr id="20" name="Text 15"/>
          <p:cNvSpPr txBox="1"/>
          <p:nvPr/>
        </p:nvSpPr>
        <p:spPr>
          <a:xfrm>
            <a:off x="8823960" y="1325880"/>
            <a:ext cx="290779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How to read it</a:t>
            </a:r>
            <a:endParaRPr lang="en-US" sz="1150" dirty="0"/>
          </a:p>
        </p:txBody>
      </p:sp>
      <p:sp>
        <p:nvSpPr>
          <p:cNvPr id="21" name="Text 16"/>
          <p:cNvSpPr txBox="1"/>
          <p:nvPr/>
        </p:nvSpPr>
        <p:spPr>
          <a:xfrm>
            <a:off x="8869680" y="1719072"/>
            <a:ext cx="28346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900" b="1" dirty="0">
                <a:solidFill>
                  <a:srgbClr val="E67E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Orange dots: </a:t>
            </a:r>
            <a:pPr indent="0" marL="0">
              <a:spcAft>
                <a:spcPts val="300"/>
              </a:spcAft>
              <a:buNone/>
            </a:pPr>
            <a:r>
              <a:rPr lang="en-US" sz="900" dirty="0">
                <a:solidFill>
                  <a:srgbClr val="26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each ETF on its own (2644 is the dot near 0.26, 0.25).</a:t>
            </a:r>
            <a:endParaRPr lang="en-US" sz="9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90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star: </a:t>
            </a:r>
            <a:pPr indent="0" marL="0">
              <a:spcAft>
                <a:spcPts val="300"/>
              </a:spcAft>
              <a:buNone/>
            </a:pPr>
            <a:r>
              <a:rPr lang="en-US" sz="900" dirty="0">
                <a:solidFill>
                  <a:srgbClr val="26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our basket (35 / 20 / 15 / 15 / 15).</a:t>
            </a:r>
            <a:endParaRPr lang="en-US" sz="9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900" b="1" dirty="0">
                <a:solidFill>
                  <a:srgbClr val="2C5F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Small dots: </a:t>
            </a:r>
            <a:pPr indent="0" marL="0">
              <a:spcAft>
                <a:spcPts val="300"/>
              </a:spcAft>
              <a:buNone/>
            </a:pPr>
            <a:r>
              <a:rPr lang="en-US" sz="900" dirty="0">
                <a:solidFill>
                  <a:srgbClr val="26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thousands of random weightings of the five ETFs; lighter = more return per unit of risk.</a:t>
            </a:r>
            <a:endParaRPr lang="en-US" sz="9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900" b="1" dirty="0">
                <a:solidFill>
                  <a:srgbClr val="26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Axes: </a:t>
            </a:r>
            <a:pPr indent="0" marL="0">
              <a:spcAft>
                <a:spcPts val="300"/>
              </a:spcAft>
              <a:buNone/>
            </a:pPr>
            <a:r>
              <a:rPr lang="en-US" sz="900" dirty="0">
                <a:solidFill>
                  <a:srgbClr val="26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annualised volatility (risk) and expected return.</a:t>
            </a:r>
            <a:endParaRPr lang="en-US" sz="900" dirty="0"/>
          </a:p>
        </p:txBody>
      </p:sp>
      <p:sp>
        <p:nvSpPr>
          <p:cNvPr id="22" name="Shape 17"/>
          <p:cNvSpPr/>
          <p:nvPr/>
        </p:nvSpPr>
        <p:spPr>
          <a:xfrm>
            <a:off x="8823960" y="3108960"/>
            <a:ext cx="2907792" cy="2331720"/>
          </a:xfrm>
          <a:prstGeom prst="rect">
            <a:avLst/>
          </a:prstGeom>
          <a:solidFill>
            <a:srgbClr val="E8EFF5"/>
          </a:solidFill>
          <a:ln w="12700">
            <a:solidFill>
              <a:srgbClr val="E8EFF5"/>
            </a:solidFill>
            <a:prstDash val="solid"/>
          </a:ln>
        </p:spPr>
      </p:sp>
      <p:sp>
        <p:nvSpPr>
          <p:cNvPr id="23" name="Text 18"/>
          <p:cNvSpPr txBox="1"/>
          <p:nvPr/>
        </p:nvSpPr>
        <p:spPr>
          <a:xfrm>
            <a:off x="8915400" y="3182112"/>
            <a:ext cx="2743200" cy="22128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100" b="1" dirty="0">
                <a:solidFill>
                  <a:srgbClr val="2C5F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Takeaways</a:t>
            </a:r>
            <a:endParaRPr lang="en-US" sz="9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950" dirty="0">
                <a:solidFill>
                  <a:srgbClr val="26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Our basket (red star): ~26% return at ~17% volatility, the lowest risk of all the mixes shown.</a:t>
            </a:r>
            <a:endParaRPr lang="en-US" sz="9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950" dirty="0">
                <a:solidFill>
                  <a:srgbClr val="26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Most random mixes need 22–32% volatility for the same 25–28% return: our weights get it with less risk.</a:t>
            </a:r>
            <a:endParaRPr lang="en-US" sz="9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950" dirty="0">
                <a:solidFill>
                  <a:srgbClr val="26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Less risk than any single ETF, about a third of EWY's (~49%), while giving up only a few points versus EWT's ~31%.</a:t>
            </a:r>
            <a:endParaRPr lang="en-US" sz="9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950" dirty="0">
                <a:solidFill>
                  <a:srgbClr val="26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Why: 3119 HK (35%) anchors the basket; the other four move differently enough to pull risk down.</a:t>
            </a:r>
            <a:endParaRPr lang="en-US" sz="950" dirty="0"/>
          </a:p>
        </p:txBody>
      </p:sp>
      <p:sp>
        <p:nvSpPr>
          <p:cNvPr id="24" name="Shape 19"/>
          <p:cNvSpPr/>
          <p:nvPr/>
        </p:nvSpPr>
        <p:spPr>
          <a:xfrm>
            <a:off x="457200" y="5577840"/>
            <a:ext cx="11274552" cy="457200"/>
          </a:xfrm>
          <a:prstGeom prst="rect">
            <a:avLst/>
          </a:prstGeom>
          <a:solidFill>
            <a:srgbClr val="2C5F82"/>
          </a:solidFill>
          <a:ln w="12700">
            <a:solidFill>
              <a:srgbClr val="2C5F82"/>
            </a:solidFill>
            <a:prstDash val="solid"/>
          </a:ln>
        </p:spPr>
      </p:sp>
      <p:sp>
        <p:nvSpPr>
          <p:cNvPr id="25" name="Text 20"/>
          <p:cNvSpPr txBox="1"/>
          <p:nvPr/>
        </p:nvSpPr>
        <p:spPr>
          <a:xfrm>
            <a:off x="594360" y="5577840"/>
            <a:ext cx="110002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Our basket (red star): ~26% return for ~17% volatility, less risk than any single ETF or random mix</a:t>
            </a:r>
            <a:endParaRPr lang="en-US" sz="1200" dirty="0"/>
          </a:p>
        </p:txBody>
      </p:sp>
      <p:sp>
        <p:nvSpPr>
          <p:cNvPr id="26" name="Text 21"/>
          <p:cNvSpPr txBox="1"/>
          <p:nvPr/>
        </p:nvSpPr>
        <p:spPr>
          <a:xfrm>
            <a:off x="457200" y="6089904"/>
            <a:ext cx="1127455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i="1" dirty="0">
                <a:solidFill>
                  <a:srgbClr val="5959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Risk/return chart: team analysis app (annualised from historical data; red star = our basket at 35/20/15/15/15; values read from the chart). Liquidity: 3119 HK is borderline against the USD 5M/day rule, verify on Bloomberg.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26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Monte Carlo: the median portfolio grows 2.8× in five years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457200" y="896112"/>
            <a:ext cx="11274552" cy="0"/>
          </a:xfrm>
          <a:prstGeom prst="line">
            <a:avLst/>
          </a:prstGeom>
          <a:noFill/>
          <a:ln w="12700">
            <a:solidFill>
              <a:srgbClr val="2C5F82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57200" y="6382512"/>
            <a:ext cx="11274552" cy="0"/>
          </a:xfrm>
          <a:prstGeom prst="line">
            <a:avLst/>
          </a:prstGeom>
          <a:noFill/>
          <a:ln w="9525">
            <a:solidFill>
              <a:srgbClr val="BFBFBF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457200" y="6446520"/>
            <a:ext cx="3611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spc="100" kern="0" dirty="0">
                <a:solidFill>
                  <a:srgbClr val="5959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ANALYSIS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4837176" y="6364224"/>
            <a:ext cx="2514600" cy="45720"/>
          </a:xfrm>
          <a:prstGeom prst="rect">
            <a:avLst/>
          </a:prstGeom>
          <a:solidFill>
            <a:srgbClr val="2C5F82"/>
          </a:solidFill>
          <a:ln w="12700">
            <a:solidFill>
              <a:srgbClr val="2C5F82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4288536" y="6446520"/>
            <a:ext cx="3611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2C5F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STRATEGY</a:t>
            </a:r>
            <a:endParaRPr lang="en-US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8129016" y="6446520"/>
            <a:ext cx="3611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spc="100" kern="0" dirty="0">
                <a:solidFill>
                  <a:srgbClr val="5959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APPENDIX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457200" y="969264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959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5-year simulation of the five-ETF portfolio, per USD 100,000 invested (×1,000 for the USD 100mn mandate)</a:t>
            </a:r>
            <a:endParaRPr lang="en-US" sz="1100" dirty="0"/>
          </a:p>
        </p:txBody>
      </p:sp>
      <p:pic>
        <p:nvPicPr>
          <p:cNvPr id="10" name="Image 0" descr="/home/user/natixis-case-comp/strategy/mc_checkpoint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298448"/>
            <a:ext cx="7498080" cy="4272162"/>
          </a:xfrm>
          <a:prstGeom prst="rect">
            <a:avLst/>
          </a:prstGeom>
        </p:spPr>
      </p:pic>
      <p:sp>
        <p:nvSpPr>
          <p:cNvPr id="11" name="Shape 8"/>
          <p:cNvSpPr/>
          <p:nvPr/>
        </p:nvSpPr>
        <p:spPr>
          <a:xfrm>
            <a:off x="8183880" y="1325880"/>
            <a:ext cx="3547872" cy="914400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8183880" y="1325880"/>
            <a:ext cx="64008" cy="914400"/>
          </a:xfrm>
          <a:prstGeom prst="rect">
            <a:avLst/>
          </a:prstGeom>
          <a:solidFill>
            <a:srgbClr val="2C5F82"/>
          </a:solidFill>
          <a:ln w="12700">
            <a:solidFill>
              <a:srgbClr val="2C5F82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8366760" y="1380744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2C5F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$279.6k</a:t>
            </a:r>
            <a:endParaRPr lang="en-US" sz="2200" dirty="0"/>
          </a:p>
        </p:txBody>
      </p:sp>
      <p:sp>
        <p:nvSpPr>
          <p:cNvPr id="14" name="Text 11"/>
          <p:cNvSpPr txBox="1"/>
          <p:nvPr/>
        </p:nvSpPr>
        <p:spPr>
          <a:xfrm>
            <a:off x="8366760" y="1837944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Median at Year 5: 2.8× the start, +22.8% a year</a:t>
            </a:r>
            <a:endParaRPr lang="en-US" sz="950" dirty="0"/>
          </a:p>
        </p:txBody>
      </p:sp>
      <p:sp>
        <p:nvSpPr>
          <p:cNvPr id="15" name="Shape 12"/>
          <p:cNvSpPr/>
          <p:nvPr/>
        </p:nvSpPr>
        <p:spPr>
          <a:xfrm>
            <a:off x="8183880" y="2350008"/>
            <a:ext cx="3547872" cy="914400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8183880" y="2350008"/>
            <a:ext cx="64008" cy="914400"/>
          </a:xfrm>
          <a:prstGeom prst="rect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8366760" y="2404872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$103.6k</a:t>
            </a:r>
            <a:endParaRPr lang="en-US" sz="2200" dirty="0"/>
          </a:p>
        </p:txBody>
      </p:sp>
      <p:sp>
        <p:nvSpPr>
          <p:cNvPr id="18" name="Text 15"/>
          <p:cNvSpPr txBox="1"/>
          <p:nvPr/>
        </p:nvSpPr>
        <p:spPr>
          <a:xfrm>
            <a:off x="8366760" y="2862072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Bearish (5th percentile): still above the start, +0.7% a year</a:t>
            </a:r>
            <a:endParaRPr lang="en-US" sz="950" dirty="0"/>
          </a:p>
        </p:txBody>
      </p:sp>
      <p:sp>
        <p:nvSpPr>
          <p:cNvPr id="19" name="Shape 16"/>
          <p:cNvSpPr/>
          <p:nvPr/>
        </p:nvSpPr>
        <p:spPr>
          <a:xfrm>
            <a:off x="8183880" y="3374136"/>
            <a:ext cx="3547872" cy="914400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>
            <a:off x="8183880" y="3374136"/>
            <a:ext cx="64008" cy="914400"/>
          </a:xfrm>
          <a:prstGeom prst="rect">
            <a:avLst/>
          </a:prstGeom>
          <a:solidFill>
            <a:srgbClr val="2E9E44"/>
          </a:solidFill>
          <a:ln w="12700">
            <a:solidFill>
              <a:srgbClr val="2E9E44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8366760" y="3429000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2E9E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$770.5k</a:t>
            </a:r>
            <a:endParaRPr lang="en-US" sz="2200" dirty="0"/>
          </a:p>
        </p:txBody>
      </p:sp>
      <p:sp>
        <p:nvSpPr>
          <p:cNvPr id="22" name="Text 19"/>
          <p:cNvSpPr txBox="1"/>
          <p:nvPr/>
        </p:nvSpPr>
        <p:spPr>
          <a:xfrm>
            <a:off x="8366760" y="3886200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Bullish (95th percentile): 7.7× the start</a:t>
            </a:r>
            <a:endParaRPr lang="en-US" sz="950" dirty="0"/>
          </a:p>
        </p:txBody>
      </p:sp>
      <p:sp>
        <p:nvSpPr>
          <p:cNvPr id="23" name="Shape 20"/>
          <p:cNvSpPr/>
          <p:nvPr/>
        </p:nvSpPr>
        <p:spPr>
          <a:xfrm>
            <a:off x="8183880" y="4398264"/>
            <a:ext cx="3547872" cy="914400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8183880" y="4398264"/>
            <a:ext cx="64008" cy="914400"/>
          </a:xfrm>
          <a:prstGeom prst="rect">
            <a:avLst/>
          </a:prstGeom>
          <a:solidFill>
            <a:srgbClr val="E67E22"/>
          </a:solidFill>
          <a:ln w="12700">
            <a:solidFill>
              <a:srgbClr val="E67E22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8366760" y="4453128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E67E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99.0%</a:t>
            </a:r>
            <a:endParaRPr lang="en-US" sz="2200" dirty="0"/>
          </a:p>
        </p:txBody>
      </p:sp>
      <p:sp>
        <p:nvSpPr>
          <p:cNvPr id="26" name="Text 23"/>
          <p:cNvSpPr txBox="1"/>
          <p:nvPr/>
        </p:nvSpPr>
        <p:spPr>
          <a:xfrm>
            <a:off x="8366760" y="4910328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Chance of ending at or above the USD 70,000 target</a:t>
            </a:r>
            <a:endParaRPr lang="en-US" sz="950" dirty="0"/>
          </a:p>
        </p:txBody>
      </p:sp>
      <p:sp>
        <p:nvSpPr>
          <p:cNvPr id="27" name="Shape 24"/>
          <p:cNvSpPr/>
          <p:nvPr/>
        </p:nvSpPr>
        <p:spPr>
          <a:xfrm>
            <a:off x="457200" y="5577840"/>
            <a:ext cx="11274552" cy="457200"/>
          </a:xfrm>
          <a:prstGeom prst="rect">
            <a:avLst/>
          </a:prstGeom>
          <a:solidFill>
            <a:srgbClr val="2C5F82"/>
          </a:solidFill>
          <a:ln w="12700">
            <a:solidFill>
              <a:srgbClr val="2C5F82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594360" y="5577840"/>
            <a:ext cx="110002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Even the bearish path ends above the start ($103.6k); the USD 70,000 target is the 1st percentile</a:t>
            </a:r>
            <a:endParaRPr lang="en-US" sz="1200" dirty="0"/>
          </a:p>
        </p:txBody>
      </p:sp>
      <p:sp>
        <p:nvSpPr>
          <p:cNvPr id="29" name="Text 26"/>
          <p:cNvSpPr txBox="1"/>
          <p:nvPr/>
        </p:nvSpPr>
        <p:spPr>
          <a:xfrm>
            <a:off x="457200" y="6089904"/>
            <a:ext cx="1127455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i="1" dirty="0">
                <a:solidFill>
                  <a:srgbClr val="5959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Source: team Monte Carlo app (annual checkpoints of the simulated paths). Lines connect the yearly values. Results depend on the app's return and volatility inputs; refresh with Bloomberg data at the 17 Sep 2026 trade date.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26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Annual checkpoints: the downside stays above the USD 70,000 target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457200" y="896112"/>
            <a:ext cx="11274552" cy="0"/>
          </a:xfrm>
          <a:prstGeom prst="line">
            <a:avLst/>
          </a:prstGeom>
          <a:noFill/>
          <a:ln w="12700">
            <a:solidFill>
              <a:srgbClr val="2C5F82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57200" y="6382512"/>
            <a:ext cx="11274552" cy="0"/>
          </a:xfrm>
          <a:prstGeom prst="line">
            <a:avLst/>
          </a:prstGeom>
          <a:noFill/>
          <a:ln w="9525">
            <a:solidFill>
              <a:srgbClr val="BFBFBF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457200" y="6446520"/>
            <a:ext cx="3611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spc="100" kern="0" dirty="0">
                <a:solidFill>
                  <a:srgbClr val="5959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ANALYSIS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4837176" y="6364224"/>
            <a:ext cx="2514600" cy="45720"/>
          </a:xfrm>
          <a:prstGeom prst="rect">
            <a:avLst/>
          </a:prstGeom>
          <a:solidFill>
            <a:srgbClr val="2C5F82"/>
          </a:solidFill>
          <a:ln w="12700">
            <a:solidFill>
              <a:srgbClr val="2C5F82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4288536" y="6446520"/>
            <a:ext cx="3611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2C5F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STRATEGY</a:t>
            </a:r>
            <a:endParaRPr lang="en-US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8129016" y="6446520"/>
            <a:ext cx="3611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spc="100" kern="0" dirty="0">
                <a:solidFill>
                  <a:srgbClr val="5959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APPENDIX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457200" y="969264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959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Simulated portfolio value at each year-end, per USD 100,000 invested</a:t>
            </a:r>
            <a:endParaRPr lang="en-US" sz="11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371600"/>
          <a:ext cx="7498080" cy="914400"/>
        </p:xfrm>
        <a:graphic>
          <a:graphicData uri="http://schemas.openxmlformats.org/drawingml/2006/table">
            <a:tbl>
              <a:tblPr/>
              <a:tblGrid>
                <a:gridCol w="1005840"/>
                <a:gridCol w="1554480"/>
                <a:gridCol w="1645920"/>
                <a:gridCol w="1645920"/>
                <a:gridCol w="1645920"/>
              </a:tblGrid>
              <a:tr h="5029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Timeline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8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Median value (USD)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8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Bearish 5th percentile (USD)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0392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Bullish 95th percentile (USD)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9E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Probability ≥ target (USD 70,000)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7E22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Start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595959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$100,000.00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595959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$100,000.00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595959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$100,000.00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595959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–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Year 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$122,798.06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$77,939.19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$189,886.46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97.72%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Year 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$150,858.02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$79,780.84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$286,013.81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97.46%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Year 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$186,215.83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$83,307.87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$406,264.32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97.76%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Year 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$228,430.07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$92,823.04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$564,512.06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98.28%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Year 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$279,609.52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$103,554.03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$770,498.81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99.00%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8"/>
          <p:cNvSpPr/>
          <p:nvPr/>
        </p:nvSpPr>
        <p:spPr>
          <a:xfrm>
            <a:off x="457200" y="4114800"/>
            <a:ext cx="7498080" cy="457200"/>
          </a:xfrm>
          <a:prstGeom prst="rect">
            <a:avLst/>
          </a:prstGeom>
          <a:ln w="22225">
            <a:solidFill>
              <a:srgbClr val="2C5F82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8183880" y="1371600"/>
            <a:ext cx="3547872" cy="969264"/>
          </a:xfrm>
          <a:prstGeom prst="rect">
            <a:avLst/>
          </a:prstGeom>
          <a:solidFill>
            <a:srgbClr val="E8EFF5"/>
          </a:solidFill>
          <a:ln w="12700">
            <a:solidFill>
              <a:srgbClr val="E8EFF5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8321040" y="1444752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2C5F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Year 1 is the stress point</a:t>
            </a:r>
            <a:endParaRPr lang="en-US" sz="1150" dirty="0"/>
          </a:p>
        </p:txBody>
      </p:sp>
      <p:sp>
        <p:nvSpPr>
          <p:cNvPr id="14" name="Text 11"/>
          <p:cNvSpPr txBox="1"/>
          <p:nvPr/>
        </p:nvSpPr>
        <p:spPr>
          <a:xfrm>
            <a:off x="8321040" y="1737360"/>
            <a:ext cx="3291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26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5th percentile falls to $77.9k (−22%) before recovering every year after.</a:t>
            </a:r>
            <a:endParaRPr lang="en-US" sz="950" dirty="0"/>
          </a:p>
        </p:txBody>
      </p:sp>
      <p:sp>
        <p:nvSpPr>
          <p:cNvPr id="15" name="Shape 12"/>
          <p:cNvSpPr/>
          <p:nvPr/>
        </p:nvSpPr>
        <p:spPr>
          <a:xfrm>
            <a:off x="8183880" y="2450592"/>
            <a:ext cx="3547872" cy="969264"/>
          </a:xfrm>
          <a:prstGeom prst="rect">
            <a:avLst/>
          </a:prstGeom>
          <a:solidFill>
            <a:srgbClr val="E8EFF5"/>
          </a:solidFill>
          <a:ln w="12700">
            <a:solidFill>
              <a:srgbClr val="E8EFF5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8321040" y="2523744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2C5F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target holds</a:t>
            </a:r>
            <a:endParaRPr lang="en-US" sz="1150" dirty="0"/>
          </a:p>
        </p:txBody>
      </p:sp>
      <p:sp>
        <p:nvSpPr>
          <p:cNvPr id="17" name="Text 14"/>
          <p:cNvSpPr txBox="1"/>
          <p:nvPr/>
        </p:nvSpPr>
        <p:spPr>
          <a:xfrm>
            <a:off x="8321040" y="2816352"/>
            <a:ext cx="3291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26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 least 97.5% of paths stay at or above USD 70,000 in every year, rising to 99.0% at Year 5.</a:t>
            </a:r>
            <a:endParaRPr lang="en-US" sz="950" dirty="0"/>
          </a:p>
        </p:txBody>
      </p:sp>
      <p:sp>
        <p:nvSpPr>
          <p:cNvPr id="18" name="Shape 15"/>
          <p:cNvSpPr/>
          <p:nvPr/>
        </p:nvSpPr>
        <p:spPr>
          <a:xfrm>
            <a:off x="8183880" y="3529584"/>
            <a:ext cx="3547872" cy="969264"/>
          </a:xfrm>
          <a:prstGeom prst="rect">
            <a:avLst/>
          </a:prstGeom>
          <a:solidFill>
            <a:srgbClr val="E8EFF5"/>
          </a:solidFill>
          <a:ln w="12700">
            <a:solidFill>
              <a:srgbClr val="E8EFF5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8321040" y="3602736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2C5F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Upside compounds</a:t>
            </a:r>
            <a:endParaRPr lang="en-US" sz="1150" dirty="0"/>
          </a:p>
        </p:txBody>
      </p:sp>
      <p:sp>
        <p:nvSpPr>
          <p:cNvPr id="20" name="Text 17"/>
          <p:cNvSpPr txBox="1"/>
          <p:nvPr/>
        </p:nvSpPr>
        <p:spPr>
          <a:xfrm>
            <a:off x="8321040" y="3895344"/>
            <a:ext cx="3291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26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Median $279.6k at Year 5 (+22.8% a year); for the mandate, about USD 280mn.</a:t>
            </a:r>
            <a:endParaRPr lang="en-US" sz="950" dirty="0"/>
          </a:p>
        </p:txBody>
      </p:sp>
      <p:sp>
        <p:nvSpPr>
          <p:cNvPr id="21" name="Shape 18"/>
          <p:cNvSpPr/>
          <p:nvPr/>
        </p:nvSpPr>
        <p:spPr>
          <a:xfrm>
            <a:off x="457200" y="5577840"/>
            <a:ext cx="11274552" cy="457200"/>
          </a:xfrm>
          <a:prstGeom prst="rect">
            <a:avLst/>
          </a:prstGeom>
          <a:solidFill>
            <a:srgbClr val="2C5F82"/>
          </a:solidFill>
          <a:ln w="12700">
            <a:solidFill>
              <a:srgbClr val="2C5F82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594360" y="5577840"/>
            <a:ext cx="110002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growth portfolio whose bad years stay above the USD 70,000 line in 97–99% of simulated paths</a:t>
            </a:r>
            <a:endParaRPr lang="en-US" sz="1200" dirty="0"/>
          </a:p>
        </p:txBody>
      </p:sp>
      <p:sp>
        <p:nvSpPr>
          <p:cNvPr id="23" name="Text 20"/>
          <p:cNvSpPr txBox="1"/>
          <p:nvPr/>
        </p:nvSpPr>
        <p:spPr>
          <a:xfrm>
            <a:off x="457200" y="6089904"/>
            <a:ext cx="1127455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i="1" dirty="0">
                <a:solidFill>
                  <a:srgbClr val="5959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Source: team Monte Carlo app, Annual Portfolio Checkpoint Table. Probabilities are shares of simulated paths; they are model outputs, not guarantees.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6" baseType="lpstr">
      <vt:lpstr>Arial</vt:lpstr>
      <vt:lpstr>Calibri</vt:lpstr>
      <vt:lpstr>Office Theme</vt:lpstr>
      <vt:lpstr>Slide 1</vt:lpstr>
      <vt:lpstr>Slide 2</vt:lpstr>
      <vt:lpstr>Slide 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Strategy: five-ETF Asian AI-hardware portfolio</dc:title>
  <dc:subject>PptxGenJS Presentation</dc:subject>
  <dc:creator>PptxGenJS</dc:creator>
  <cp:lastModifiedBy>PptxGenJS</cp:lastModifiedBy>
  <cp:revision>1</cp:revision>
  <dcterms:created xsi:type="dcterms:W3CDTF">2026-10-08T12:13:31Z</dcterms:created>
  <dcterms:modified xsi:type="dcterms:W3CDTF">2026-10-08T12:13:31Z</dcterms:modified>
</cp:coreProperties>
</file>