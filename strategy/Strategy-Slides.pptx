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5F82"/>
              </a:solidFill>
              <a:effectLst/>
            </c:spPr>
          </c:dPt>
          <c:dPt>
            <c:idx val="1"/>
            <c:bubble3D val="0"/>
            <c:spPr>
              <a:solidFill>
                <a:srgbClr val="4F86AE"/>
              </a:solidFill>
              <a:effectLst/>
            </c:spPr>
          </c:dPt>
          <c:dPt>
            <c:idx val="2"/>
            <c:bubble3D val="0"/>
            <c:spPr>
              <a:solidFill>
                <a:srgbClr val="8DB3D1"/>
              </a:solidFill>
              <a:effectLst/>
            </c:spPr>
          </c:dPt>
          <c:dPt>
            <c:idx val="3"/>
            <c:bubble3D val="0"/>
            <c:spPr>
              <a:solidFill>
                <a:srgbClr val="A6A6A6"/>
              </a:solidFill>
              <a:effectLst/>
            </c:spPr>
          </c:dPt>
          <c:dPt>
            <c:idx val="4"/>
            <c:bubble3D val="0"/>
            <c:spPr>
              <a:solidFill>
                <a:srgbClr val="2E9E44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3119 HK</c:v>
                </c:pt>
                <c:pt idx="1">
                  <c:v>EWY US</c:v>
                </c:pt>
                <c:pt idx="2">
                  <c:v>EWT US</c:v>
                </c:pt>
                <c:pt idx="3">
                  <c:v>2644 JP</c:v>
                </c:pt>
                <c:pt idx="4">
                  <c:v>00878 TT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35</c:v>
                </c:pt>
                <c:pt idx="1">
                  <c:v>20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Strategy: our five-ETF basket sits at the low-risk edge of every possible mix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2C5F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37176" y="6364224"/>
            <a:ext cx="2514600" cy="4572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8853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12901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969264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100mn across five Bloomberg-listed ETFs; our weights (red star) deliver ~26% expected return for only ~17% volatility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325880"/>
            <a:ext cx="3429000" cy="329184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3258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Allocation</a:t>
            </a:r>
            <a:endParaRPr lang="en-US" sz="115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77240" y="1691640"/>
          <a:ext cx="187452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1252728" y="23774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</a:t>
            </a:r>
            <a:endParaRPr lang="en-US" sz="12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100mn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2743200" y="187452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in the semiconductor core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3119 HK + 2644 JP = 50%; Korea adds memory, Taiwan the foundry, 00878 the ESG income.</a:t>
            </a:r>
            <a:endParaRPr lang="en-US" sz="8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03320"/>
          <a:ext cx="342900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777240"/>
                <a:gridCol w="1828800"/>
                <a:gridCol w="54864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 HK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Pan-Asian chip leaders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F86A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 US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Korea: memory for AI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DB3D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 US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Taiwan: the AI foundry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6A6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 JP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Japan: chip-making tools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9E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TT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ESG dividend anchor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4069080" y="1325880"/>
            <a:ext cx="4572000" cy="329184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069080" y="13258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vs return: single ETFs and random mixes</a:t>
            </a:r>
            <a:endParaRPr lang="en-US" sz="1150" dirty="0"/>
          </a:p>
        </p:txBody>
      </p:sp>
      <p:pic>
        <p:nvPicPr>
          <p:cNvPr id="18" name="Image 0" descr="/home/user/natixis-case-comp/strategy/risk_return_clou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719072"/>
            <a:ext cx="4480560" cy="3520835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8823960" y="1325880"/>
            <a:ext cx="2907792" cy="329184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823960" y="132588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read it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8869680" y="1719072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Orange dots: </a:t>
            </a:r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ETF on its own (2644 is the dot near 0.26, 0.25).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star: </a:t>
            </a:r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basket (35 / 20 / 15 / 15 / 15).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dots: </a:t>
            </a:r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thousands of random weightings of the five ETFs; lighter = more return per unit of risk.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Axes: </a:t>
            </a:r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annualised volatility (risk) and expected return.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8823960" y="3108960"/>
            <a:ext cx="2907792" cy="2331720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915400" y="3182112"/>
            <a:ext cx="2743200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basket (red star): ~26% return at ~17% volatility, the lowest risk of all the mixes shown.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random mixes need 22–32% volatility for the same 25–28% return: our weights get it with less risk.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risk than any single ETF, about a third of EWY's (~49%), while giving up only a few points versus EWT's ~31%.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Why: 3119 HK (35%) anchors the basket; the other four move differently enough to pull risk down.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457200" y="5577840"/>
            <a:ext cx="11274552" cy="4572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94360" y="5577840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basket (red star): ~26% return for ~17% volatility, less risk than any single ETF or random mix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457200" y="6089904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Risk/return chart: team analysis app (annualised from historical data; red star = our basket at 35/20/15/15/15; values read from the chart). Liquidity: 3119 HK is borderline against the USD 5M/day rule, verify on Bloomberg.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Monte Carlo: the median portfolio grows 2.8× in five years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2C5F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37176" y="6364224"/>
            <a:ext cx="2514600" cy="4572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8853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12901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969264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5-year simulation of the five-ETF portfolio, per USD 100,000 invested (×1,000 for the USD 100mn mandate)</a:t>
            </a:r>
            <a:endParaRPr lang="en-US" sz="1100" dirty="0"/>
          </a:p>
        </p:txBody>
      </p:sp>
      <p:pic>
        <p:nvPicPr>
          <p:cNvPr id="10" name="Image 0" descr="/home/user/natixis-case-comp/strategy/mc_checkpo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98448"/>
            <a:ext cx="7498080" cy="427216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8183880" y="1325880"/>
            <a:ext cx="3547872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183880" y="1325880"/>
            <a:ext cx="64008" cy="9144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66760" y="138074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$279.6k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366760" y="18379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at Year 5: 2.8× the start, +22.8% a year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183880" y="2350008"/>
            <a:ext cx="3547872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83880" y="2350008"/>
            <a:ext cx="64008" cy="9144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66760" y="24048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$103.6k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66760" y="28620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Bearish (5th percentile): still above the start, +0.7% a year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183880" y="3374136"/>
            <a:ext cx="3547872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183880" y="3374136"/>
            <a:ext cx="64008" cy="914400"/>
          </a:xfrm>
          <a:prstGeom prst="rect">
            <a:avLst/>
          </a:prstGeom>
          <a:solidFill>
            <a:srgbClr val="2E9E44"/>
          </a:solidFill>
          <a:ln w="12700">
            <a:solidFill>
              <a:srgbClr val="2E9E4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366760" y="3429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E9E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$770.5k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8366760" y="3886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Bullish (95th percentile): 7.7× the start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183880" y="4398264"/>
            <a:ext cx="3547872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183880" y="4398264"/>
            <a:ext cx="64008" cy="91440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366760" y="44531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99.0%</a:t>
            </a:r>
            <a:endParaRPr lang="en-US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8366760" y="491032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Chance of ending at or above the USD 70,000 target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57200" y="5577840"/>
            <a:ext cx="11274552" cy="4572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5577840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the bearish path ends above the start ($103.6k); the USD 70,000 target is the 1st percentile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6089904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team Monte Carlo app (annual checkpoints of the simulated paths). Lines connect the yearly values. Results depend on the app's return and volatility inputs; refresh with Bloomberg data at the 17 Sep 2026 trade date.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checkpoints: the downside stays above the USD 70,000 target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2C5F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37176" y="6364224"/>
            <a:ext cx="2514600" cy="4572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8853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12901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969264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 portfolio value at each year-end, per USD 100,000 invested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74980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554480"/>
                <a:gridCol w="1645920"/>
                <a:gridCol w="164592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Timeline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value (USD)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Bearish 5th percentile (USD)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Bullish 95th percentile (USD)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Probability ≥ target (USD 70,000)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Start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$122,798.06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$77,939.19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$189,886.46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97.72%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$150,858.02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$79,780.84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$286,013.81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97.46%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$186,215.83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$83,307.87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$406,264.32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97.76%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$228,430.07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$92,823.04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$564,512.06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98.28%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$279,609.52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$103,554.03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$770,498.81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4114800"/>
            <a:ext cx="7498080" cy="457200"/>
          </a:xfrm>
          <a:prstGeom prst="rect">
            <a:avLst/>
          </a:prstGeom>
          <a:ln w="22225">
            <a:solidFill>
              <a:srgbClr val="2C5F8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183880" y="1371600"/>
            <a:ext cx="3547872" cy="969264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21040" y="14447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 is the stress point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173736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5th percentile falls to $77.9k (−22%) before recovering every year after.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183880" y="2450592"/>
            <a:ext cx="3547872" cy="969264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21040" y="25237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target holds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28163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least 97.5% of paths stay at or above USD 70,000 in every year, rising to 99.0% at Year 5.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183880" y="3529584"/>
            <a:ext cx="3547872" cy="969264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321040" y="360273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Upside compounds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321040" y="38953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$279.6k at Year 5 (+22.8% a year); for the mandate, about USD 280mn.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57200" y="5577840"/>
            <a:ext cx="11274552" cy="4572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94360" y="5577840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growth portfolio whose bad years stay above the USD 70,000 line in 97–99% of simulated paths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6089904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team Monte Carlo app, Annual Portfolio Checkpoint Table. Probabilities are shares of simulated paths; they are model outputs, not guarantees.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Strategy: five-ETF Asian AI-hardware portfolio</dc:title>
  <dc:subject>PptxGenJS Presentation</dc:subject>
  <dc:creator>PptxGenJS</dc:creator>
  <cp:lastModifiedBy>PptxGenJS</cp:lastModifiedBy>
  <cp:revision>1</cp:revision>
  <dcterms:created xsi:type="dcterms:W3CDTF">2026-10-08T12:48:45Z</dcterms:created>
  <dcterms:modified xsi:type="dcterms:W3CDTF">2026-10-08T12:48:45Z</dcterms:modified>
</cp:coreProperties>
</file>